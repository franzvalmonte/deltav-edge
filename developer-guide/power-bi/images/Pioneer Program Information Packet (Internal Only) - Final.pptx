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2"/>
  </p:notesMasterIdLst>
  <p:handoutMasterIdLst>
    <p:handoutMasterId r:id="rId33"/>
  </p:handoutMasterIdLst>
  <p:sldIdLst>
    <p:sldId id="259" r:id="rId5"/>
    <p:sldId id="265" r:id="rId6"/>
    <p:sldId id="262" r:id="rId7"/>
    <p:sldId id="257" r:id="rId8"/>
    <p:sldId id="276" r:id="rId9"/>
    <p:sldId id="263" r:id="rId10"/>
    <p:sldId id="277" r:id="rId11"/>
    <p:sldId id="258" r:id="rId12"/>
    <p:sldId id="282" r:id="rId13"/>
    <p:sldId id="292" r:id="rId14"/>
    <p:sldId id="281" r:id="rId15"/>
    <p:sldId id="266" r:id="rId16"/>
    <p:sldId id="261" r:id="rId17"/>
    <p:sldId id="275" r:id="rId18"/>
    <p:sldId id="2076137220" r:id="rId19"/>
    <p:sldId id="271" r:id="rId20"/>
    <p:sldId id="2147483544" r:id="rId21"/>
    <p:sldId id="270" r:id="rId22"/>
    <p:sldId id="272" r:id="rId23"/>
    <p:sldId id="268" r:id="rId24"/>
    <p:sldId id="267" r:id="rId25"/>
    <p:sldId id="283" r:id="rId26"/>
    <p:sldId id="2147483639" r:id="rId27"/>
    <p:sldId id="2147483615" r:id="rId28"/>
    <p:sldId id="273" r:id="rId29"/>
    <p:sldId id="285" r:id="rId30"/>
    <p:sldId id="286" r:id="rId31"/>
  </p:sldIdLst>
  <p:sldSz cx="14630400" cy="8229600"/>
  <p:notesSz cx="6858000" cy="9144000"/>
  <p:embeddedFontLst>
    <p:embeddedFont>
      <p:font typeface="Arial Black" panose="020B0A04020102020204" pitchFamily="34" charset="0"/>
      <p:bold r:id="rId34"/>
    </p:embeddedFont>
    <p:embeddedFont>
      <p:font typeface="Arial Narrow" panose="020B06060202020A0204" pitchFamily="34" charset="0"/>
      <p:regular r:id="rId35"/>
      <p:bold r:id="rId36"/>
      <p:italic r:id="rId37"/>
      <p:boldItalic r:id="rId38"/>
    </p:embeddedFont>
    <p:embeddedFont>
      <p:font typeface="Noto Sans" panose="020B0502040504020204" pitchFamily="34" charset="0"/>
      <p:regular r:id="rId39"/>
      <p:bold r:id="rId40"/>
      <p:italic r:id="rId41"/>
      <p:boldItalic r:id="rId42"/>
    </p:embeddedFont>
  </p:embeddedFontLst>
  <p:defaultTextStyle>
    <a:defPPr>
      <a:defRPr lang="en-US"/>
    </a:defPPr>
    <a:lvl1pPr marL="0" algn="l" defTabSz="1463040" rtl="0" eaLnBrk="1" latinLnBrk="0" hangingPunct="1">
      <a:defRPr sz="2900" kern="1200">
        <a:solidFill>
          <a:schemeClr val="tx1"/>
        </a:solidFill>
        <a:latin typeface="+mn-lt"/>
        <a:ea typeface="+mn-ea"/>
        <a:cs typeface="+mn-cs"/>
      </a:defRPr>
    </a:lvl1pPr>
    <a:lvl2pPr marL="731520" algn="l" defTabSz="1463040" rtl="0" eaLnBrk="1" latinLnBrk="0" hangingPunct="1">
      <a:defRPr sz="2900" kern="1200">
        <a:solidFill>
          <a:schemeClr val="tx1"/>
        </a:solidFill>
        <a:latin typeface="+mn-lt"/>
        <a:ea typeface="+mn-ea"/>
        <a:cs typeface="+mn-cs"/>
      </a:defRPr>
    </a:lvl2pPr>
    <a:lvl3pPr marL="1463040" algn="l" defTabSz="1463040" rtl="0" eaLnBrk="1" latinLnBrk="0" hangingPunct="1">
      <a:defRPr sz="2900" kern="1200">
        <a:solidFill>
          <a:schemeClr val="tx1"/>
        </a:solidFill>
        <a:latin typeface="+mn-lt"/>
        <a:ea typeface="+mn-ea"/>
        <a:cs typeface="+mn-cs"/>
      </a:defRPr>
    </a:lvl3pPr>
    <a:lvl4pPr marL="2194560" algn="l" defTabSz="1463040" rtl="0" eaLnBrk="1" latinLnBrk="0" hangingPunct="1">
      <a:defRPr sz="2900" kern="1200">
        <a:solidFill>
          <a:schemeClr val="tx1"/>
        </a:solidFill>
        <a:latin typeface="+mn-lt"/>
        <a:ea typeface="+mn-ea"/>
        <a:cs typeface="+mn-cs"/>
      </a:defRPr>
    </a:lvl4pPr>
    <a:lvl5pPr marL="2926080" algn="l" defTabSz="1463040" rtl="0" eaLnBrk="1" latinLnBrk="0" hangingPunct="1">
      <a:defRPr sz="2900" kern="1200">
        <a:solidFill>
          <a:schemeClr val="tx1"/>
        </a:solidFill>
        <a:latin typeface="+mn-lt"/>
        <a:ea typeface="+mn-ea"/>
        <a:cs typeface="+mn-cs"/>
      </a:defRPr>
    </a:lvl5pPr>
    <a:lvl6pPr marL="3657600" algn="l" defTabSz="1463040" rtl="0" eaLnBrk="1" latinLnBrk="0" hangingPunct="1">
      <a:defRPr sz="2900" kern="1200">
        <a:solidFill>
          <a:schemeClr val="tx1"/>
        </a:solidFill>
        <a:latin typeface="+mn-lt"/>
        <a:ea typeface="+mn-ea"/>
        <a:cs typeface="+mn-cs"/>
      </a:defRPr>
    </a:lvl6pPr>
    <a:lvl7pPr marL="4389120" algn="l" defTabSz="1463040" rtl="0" eaLnBrk="1" latinLnBrk="0" hangingPunct="1">
      <a:defRPr sz="2900" kern="1200">
        <a:solidFill>
          <a:schemeClr val="tx1"/>
        </a:solidFill>
        <a:latin typeface="+mn-lt"/>
        <a:ea typeface="+mn-ea"/>
        <a:cs typeface="+mn-cs"/>
      </a:defRPr>
    </a:lvl7pPr>
    <a:lvl8pPr marL="5120640" algn="l" defTabSz="1463040" rtl="0" eaLnBrk="1" latinLnBrk="0" hangingPunct="1">
      <a:defRPr sz="2900" kern="1200">
        <a:solidFill>
          <a:schemeClr val="tx1"/>
        </a:solidFill>
        <a:latin typeface="+mn-lt"/>
        <a:ea typeface="+mn-ea"/>
        <a:cs typeface="+mn-cs"/>
      </a:defRPr>
    </a:lvl8pPr>
    <a:lvl9pPr marL="5852160" algn="l" defTabSz="1463040" rtl="0" eaLnBrk="1" latinLnBrk="0" hangingPunct="1">
      <a:defRPr sz="29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AC156B-7F9D-4554-9CB0-FE175AE00F66}">
          <p14:sldIdLst>
            <p14:sldId id="259"/>
            <p14:sldId id="265"/>
            <p14:sldId id="262"/>
            <p14:sldId id="257"/>
            <p14:sldId id="276"/>
            <p14:sldId id="263"/>
            <p14:sldId id="277"/>
            <p14:sldId id="258"/>
            <p14:sldId id="282"/>
            <p14:sldId id="292"/>
            <p14:sldId id="281"/>
            <p14:sldId id="266"/>
            <p14:sldId id="261"/>
            <p14:sldId id="275"/>
            <p14:sldId id="2076137220"/>
            <p14:sldId id="271"/>
            <p14:sldId id="2147483544"/>
            <p14:sldId id="270"/>
            <p14:sldId id="272"/>
            <p14:sldId id="268"/>
            <p14:sldId id="267"/>
            <p14:sldId id="283"/>
            <p14:sldId id="2147483639"/>
            <p14:sldId id="2147483615"/>
            <p14:sldId id="273"/>
            <p14:sldId id="285"/>
            <p14:sldId id="286"/>
          </p14:sldIdLst>
        </p14:section>
      </p14:sectionLst>
    </p:ext>
    <p:ext uri="{EFAFB233-063F-42B5-8137-9DF3F51BA10A}">
      <p15:sldGuideLst xmlns:p15="http://schemas.microsoft.com/office/powerpoint/2012/main">
        <p15:guide id="1" orient="horz" pos="2365">
          <p15:clr>
            <a:srgbClr val="A4A3A4"/>
          </p15:clr>
        </p15:guide>
        <p15:guide id="2" orient="horz" pos="3450">
          <p15:clr>
            <a:srgbClr val="A4A3A4"/>
          </p15:clr>
        </p15:guide>
        <p15:guide id="3" orient="horz" pos="1006">
          <p15:clr>
            <a:srgbClr val="A4A3A4"/>
          </p15:clr>
        </p15:guide>
        <p15:guide id="4" orient="horz" pos="1640">
          <p15:clr>
            <a:srgbClr val="A4A3A4"/>
          </p15:clr>
        </p15:guide>
        <p15:guide id="5" pos="4608">
          <p15:clr>
            <a:srgbClr val="A4A3A4"/>
          </p15:clr>
        </p15:guide>
        <p15:guide id="6" pos="317">
          <p15:clr>
            <a:srgbClr val="A4A3A4"/>
          </p15:clr>
        </p15:guide>
        <p15:guide id="7" pos="889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E41603-981C-6D4D-73F0-7070AB0D0DA0}" name="VALMONTE, Francis John [EMR/SYSS/PSS/MAND]" initials="V[" userId="S::francisjohn.valmonte@emerson.com::061d2576-56cd-4c19-834d-90c506600408" providerId="AD"/>
  <p188:author id="{5369471B-0DCA-42C4-5A38-4A8367CA7DCE}" name="Tayefeh, Nousha [EMR/SYSS/PSS/AUS]" initials="NT" userId="S::Nousha.Tayefeh@Emerson.com::7a9531d5-a313-483e-b04a-c5d1254093cd" providerId="AD"/>
  <p188:author id="{D301FE2F-AE19-F758-1877-97488150E30A}" name="Ahuja, Simran [EMR/SYSS/PSS/AUS]" initials="AS" userId="S::simran.ahuja@emerson.com::2718b852-792c-4111-b67c-818c932786e7" providerId="AD"/>
  <p188:author id="{62AB8431-E948-2481-17EE-FB7ED4E23C10}" name="Whitaker, Andrew [EMR/SYSS/PSS/AUS]" initials="WA" userId="S::andrew.whitaker@emerson.com::ce37e24e-a3b3-49b1-9c5c-593fd7d18b25" providerId="AD"/>
  <p188:author id="{3B2E9356-CEFA-D276-DE6F-0F699FB90386}" name="VALMONTE, Francis John [EMR/SYSS/PSS/MAND]" initials="FV" userId="S::FrancisJohn.Valmonte@emerson.com::061d2576-56cd-4c19-834d-90c506600408" providerId="AD"/>
  <p188:author id="{B8BE1363-7411-480A-F165-2E6F0EDDFCF9}" name="Aslin, Taylor [EMR/SYSS/PSS/AUS]" initials="AT" userId="S::taylor.aslin@emerson.com::26b536cd-ea07-4c2d-97fe-c6542d212091" providerId="AD"/>
  <p188:author id="{2D239770-C26E-112A-18CC-860908EB33B9}" name="Dionisio, Mariana [EMR/SYSS/PSS/AUS]" initials="MD" userId="S::Mariana.Dionisio@Emerson.com::0c517c4c-c75b-47cf-b18f-f4d8eec8173a" providerId="AD"/>
  <p188:author id="{97777888-49F4-B84C-899A-EB5DFD4B3511}" name="Koth, Adam [EMR/SYSS/PSS/STL]" initials="AK" userId="S::Adam.Koth@emerson.com::ee96d5db-ffc3-4433-b668-a6628a3071ca" providerId="AD"/>
  <p188:author id="{0114018F-4F96-C806-9BD0-565B22464143}" name="Ronghe, Shruti [EMR/SYSS/PSS/PUNE]" initials="" userId="S::shruti.ronghe@emerson.com::95d0daa5-0960-4a26-9833-16d373c8eb01" providerId="AD"/>
  <p188:author id="{103A25CA-C02A-ADED-3232-5D2C3052B2E7}" name="Thompson, Curtis [EMR/SYSS/PSS/AUS]" initials="CT" userId="S::Curtis.Thompson@emerson.com::674908ee-40bd-478d-8cd1-ba8a914118f7" providerId="AD"/>
  <p188:author id="{B1634DDA-0F5A-41C5-816E-1DE2323612B4}" name="Megan Nord (FleishmanHillard)" initials="MN(" userId="S::megan.nord@fleishman.com::968c17fa-ddec-4a86-bcb3-4970d1dfb8cb" providerId="AD"/>
  <p188:author id="{402909F7-A48A-3F9F-3910-AF8FCE9CD564}" name="Tworzydlo, Michael [EMR/SYSS/PSS/AUS]" initials="MT" userId="S::michael.tworzydlo@emerson.com::7b47ec36-bbc0-4d60-ad95-2e951e36a44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Wiehle (FleishmanHillard)" initials="AW(" lastIdx="1" clrIdx="0">
    <p:extLst>
      <p:ext uri="{19B8F6BF-5375-455C-9EA6-DF929625EA0E}">
        <p15:presenceInfo xmlns:p15="http://schemas.microsoft.com/office/powerpoint/2012/main" userId="S::ashley.wiehle@fleishman.com::fd66be2d-aed6-41fa-99d1-ffa27a119585" providerId="AD"/>
      </p:ext>
    </p:extLst>
  </p:cmAuthor>
  <p:cmAuthor id="2" name="Judy Fansher (FleishmanHillard)" initials="JF(" lastIdx="7" clrIdx="1">
    <p:extLst>
      <p:ext uri="{19B8F6BF-5375-455C-9EA6-DF929625EA0E}">
        <p15:presenceInfo xmlns:p15="http://schemas.microsoft.com/office/powerpoint/2012/main" userId="S::judy.fansher@fleishman.com::b6008b70-01c2-4ce6-9bbd-8ffd05ccc5d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2E7"/>
    <a:srgbClr val="D9D9DB"/>
    <a:srgbClr val="FBD5AB"/>
    <a:srgbClr val="D5FFF2"/>
    <a:srgbClr val="004B8D"/>
    <a:srgbClr val="D1F0F9"/>
    <a:srgbClr val="1A305C"/>
    <a:srgbClr val="D9D9D9"/>
    <a:srgbClr val="186389"/>
    <a:srgbClr val="1891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4660"/>
  </p:normalViewPr>
  <p:slideViewPr>
    <p:cSldViewPr snapToGrid="0">
      <p:cViewPr varScale="1">
        <p:scale>
          <a:sx n="58" d="100"/>
          <a:sy n="58" d="100"/>
        </p:scale>
        <p:origin x="1267" y="274"/>
      </p:cViewPr>
      <p:guideLst>
        <p:guide orient="horz" pos="2365"/>
        <p:guide orient="horz" pos="3450"/>
        <p:guide orient="horz" pos="1006"/>
        <p:guide orient="horz" pos="1640"/>
        <p:guide pos="4608"/>
        <p:guide pos="317"/>
        <p:guide pos="8899"/>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commentAuthors" Target="commentAuthor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350579D-5412-4EB9-B8AE-311FD3997FBC}" type="datetimeFigureOut">
              <a:rPr lang="en-US" smtClean="0">
                <a:latin typeface="Arial" panose="020B0604020202020204" pitchFamily="34" charset="0"/>
              </a:rPr>
              <a:t>5/20/2026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C95AC85-F1B1-4669-8DB4-7B0070B084B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6417765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6EA5B416-5F0F-4485-8D14-92CEBB19703D}" type="datetimeFigureOut">
              <a:rPr lang="en-US" smtClean="0"/>
              <a:pPr/>
              <a:t>5/20/2026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D06B116C-1CAD-49E2-B44E-AB4A995DEB2E}" type="slidenum">
              <a:rPr lang="en-US" smtClean="0"/>
              <a:pPr/>
              <a:t>‹#›</a:t>
            </a:fld>
            <a:endParaRPr lang="en-US"/>
          </a:p>
        </p:txBody>
      </p:sp>
    </p:spTree>
    <p:extLst>
      <p:ext uri="{BB962C8B-B14F-4D97-AF65-F5344CB8AC3E}">
        <p14:creationId xmlns:p14="http://schemas.microsoft.com/office/powerpoint/2010/main" val="2194359158"/>
      </p:ext>
    </p:extLst>
  </p:cSld>
  <p:clrMap bg1="lt1" tx1="dk1" bg2="lt2" tx2="dk2" accent1="accent1" accent2="accent2" accent3="accent3" accent4="accent4" accent5="accent5" accent6="accent6" hlink="hlink" folHlink="folHlink"/>
  <p:notesStyle>
    <a:lvl1pPr marL="0" algn="l" defTabSz="1463040" rtl="0" eaLnBrk="1" latinLnBrk="0" hangingPunct="1">
      <a:defRPr sz="1900" kern="1200">
        <a:solidFill>
          <a:schemeClr val="tx1"/>
        </a:solidFill>
        <a:latin typeface="Arial" panose="020B0604020202020204" pitchFamily="34" charset="0"/>
        <a:ea typeface="+mn-ea"/>
        <a:cs typeface="+mn-cs"/>
      </a:defRPr>
    </a:lvl1pPr>
    <a:lvl2pPr marL="731520" algn="l" defTabSz="1463040" rtl="0" eaLnBrk="1" latinLnBrk="0" hangingPunct="1">
      <a:defRPr sz="1900" kern="1200">
        <a:solidFill>
          <a:schemeClr val="tx1"/>
        </a:solidFill>
        <a:latin typeface="Arial" panose="020B0604020202020204" pitchFamily="34" charset="0"/>
        <a:ea typeface="+mn-ea"/>
        <a:cs typeface="+mn-cs"/>
      </a:defRPr>
    </a:lvl2pPr>
    <a:lvl3pPr marL="1463040" algn="l" defTabSz="1463040" rtl="0" eaLnBrk="1" latinLnBrk="0" hangingPunct="1">
      <a:defRPr sz="1900" kern="1200">
        <a:solidFill>
          <a:schemeClr val="tx1"/>
        </a:solidFill>
        <a:latin typeface="Arial" panose="020B0604020202020204" pitchFamily="34" charset="0"/>
        <a:ea typeface="+mn-ea"/>
        <a:cs typeface="+mn-cs"/>
      </a:defRPr>
    </a:lvl3pPr>
    <a:lvl4pPr marL="2194560" algn="l" defTabSz="1463040" rtl="0" eaLnBrk="1" latinLnBrk="0" hangingPunct="1">
      <a:defRPr sz="1900" kern="1200">
        <a:solidFill>
          <a:schemeClr val="tx1"/>
        </a:solidFill>
        <a:latin typeface="Arial" panose="020B0604020202020204" pitchFamily="34" charset="0"/>
        <a:ea typeface="+mn-ea"/>
        <a:cs typeface="+mn-cs"/>
      </a:defRPr>
    </a:lvl4pPr>
    <a:lvl5pPr marL="2926080" algn="l" defTabSz="1463040" rtl="0" eaLnBrk="1" latinLnBrk="0" hangingPunct="1">
      <a:defRPr sz="1900" kern="1200">
        <a:solidFill>
          <a:schemeClr val="tx1"/>
        </a:solidFill>
        <a:latin typeface="Arial" panose="020B0604020202020204" pitchFamily="34" charset="0"/>
        <a:ea typeface="+mn-ea"/>
        <a:cs typeface="+mn-cs"/>
      </a:defRPr>
    </a:lvl5pPr>
    <a:lvl6pPr marL="3657600" algn="l" defTabSz="1463040" rtl="0" eaLnBrk="1" latinLnBrk="0" hangingPunct="1">
      <a:defRPr sz="1900" kern="1200">
        <a:solidFill>
          <a:schemeClr val="tx1"/>
        </a:solidFill>
        <a:latin typeface="+mn-lt"/>
        <a:ea typeface="+mn-ea"/>
        <a:cs typeface="+mn-cs"/>
      </a:defRPr>
    </a:lvl6pPr>
    <a:lvl7pPr marL="4389120" algn="l" defTabSz="1463040" rtl="0" eaLnBrk="1" latinLnBrk="0" hangingPunct="1">
      <a:defRPr sz="1900" kern="1200">
        <a:solidFill>
          <a:schemeClr val="tx1"/>
        </a:solidFill>
        <a:latin typeface="+mn-lt"/>
        <a:ea typeface="+mn-ea"/>
        <a:cs typeface="+mn-cs"/>
      </a:defRPr>
    </a:lvl7pPr>
    <a:lvl8pPr marL="5120640" algn="l" defTabSz="1463040" rtl="0" eaLnBrk="1" latinLnBrk="0" hangingPunct="1">
      <a:defRPr sz="1900" kern="1200">
        <a:solidFill>
          <a:schemeClr val="tx1"/>
        </a:solidFill>
        <a:latin typeface="+mn-lt"/>
        <a:ea typeface="+mn-ea"/>
        <a:cs typeface="+mn-cs"/>
      </a:defRPr>
    </a:lvl8pPr>
    <a:lvl9pPr marL="5852160" algn="l" defTabSz="1463040" rtl="0" eaLnBrk="1" latinLnBrk="0" hangingPunct="1">
      <a:defRPr sz="1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EE7F7-A381-BB9C-9AD9-BEEE6B758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8B3EC-AFAB-62E3-3724-3047AE6F1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F994E-F228-06DA-92F1-6B2DFEFC76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2F58C6-98F8-CA54-3845-8D794B9824A9}"/>
              </a:ext>
            </a:extLst>
          </p:cNvPr>
          <p:cNvSpPr>
            <a:spLocks noGrp="1"/>
          </p:cNvSpPr>
          <p:nvPr>
            <p:ph type="sldNum" sz="quarter" idx="5"/>
          </p:nvPr>
        </p:nvSpPr>
        <p:spPr/>
        <p:txBody>
          <a:bodyPr/>
          <a:lstStyle/>
          <a:p>
            <a:fld id="{D06B116C-1CAD-49E2-B44E-AB4A995DEB2E}" type="slidenum">
              <a:rPr lang="en-US" smtClean="0"/>
              <a:pPr/>
              <a:t>1</a:t>
            </a:fld>
            <a:endParaRPr lang="en-US"/>
          </a:p>
        </p:txBody>
      </p:sp>
    </p:spTree>
    <p:extLst>
      <p:ext uri="{BB962C8B-B14F-4D97-AF65-F5344CB8AC3E}">
        <p14:creationId xmlns:p14="http://schemas.microsoft.com/office/powerpoint/2010/main" val="134264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77A9D-DC55-7905-4433-61CF7201B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35ED5-1A57-D245-3FD3-89E27AB31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923ED-4940-D0CC-F923-9FFB65EF62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915548-751B-18C4-5726-41A656D20D4B}"/>
              </a:ext>
            </a:extLst>
          </p:cNvPr>
          <p:cNvSpPr>
            <a:spLocks noGrp="1"/>
          </p:cNvSpPr>
          <p:nvPr>
            <p:ph type="sldNum" sz="quarter" idx="5"/>
          </p:nvPr>
        </p:nvSpPr>
        <p:spPr/>
        <p:txBody>
          <a:bodyPr/>
          <a:lstStyle/>
          <a:p>
            <a:fld id="{D06B116C-1CAD-49E2-B44E-AB4A995DEB2E}" type="slidenum">
              <a:rPr lang="en-US" smtClean="0"/>
              <a:pPr/>
              <a:t>5</a:t>
            </a:fld>
            <a:endParaRPr lang="en-US"/>
          </a:p>
        </p:txBody>
      </p:sp>
    </p:spTree>
    <p:extLst>
      <p:ext uri="{BB962C8B-B14F-4D97-AF65-F5344CB8AC3E}">
        <p14:creationId xmlns:p14="http://schemas.microsoft.com/office/powerpoint/2010/main" val="100445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A1752-8136-BA6D-F902-5B6298405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B8555-4B8E-09A4-687C-67F762DFC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B3EE7-7D8E-8172-CC47-FBFF5E1D10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E11D7C-D268-2FBB-E293-C4B6D99FA9FB}"/>
              </a:ext>
            </a:extLst>
          </p:cNvPr>
          <p:cNvSpPr>
            <a:spLocks noGrp="1"/>
          </p:cNvSpPr>
          <p:nvPr>
            <p:ph type="sldNum" sz="quarter" idx="5"/>
          </p:nvPr>
        </p:nvSpPr>
        <p:spPr/>
        <p:txBody>
          <a:bodyPr/>
          <a:lstStyle/>
          <a:p>
            <a:fld id="{D06B116C-1CAD-49E2-B44E-AB4A995DEB2E}" type="slidenum">
              <a:rPr lang="en-US" smtClean="0"/>
              <a:pPr/>
              <a:t>6</a:t>
            </a:fld>
            <a:endParaRPr lang="en-US"/>
          </a:p>
        </p:txBody>
      </p:sp>
    </p:spTree>
    <p:extLst>
      <p:ext uri="{BB962C8B-B14F-4D97-AF65-F5344CB8AC3E}">
        <p14:creationId xmlns:p14="http://schemas.microsoft.com/office/powerpoint/2010/main" val="456445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8E9A9-7979-DDC7-3A1F-C936F9A1F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4F0D3-F6B5-7264-7076-D302113475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9EC6A-53CB-211F-0597-9EE3486CD40E}"/>
              </a:ext>
            </a:extLst>
          </p:cNvPr>
          <p:cNvSpPr>
            <a:spLocks noGrp="1"/>
          </p:cNvSpPr>
          <p:nvPr>
            <p:ph type="body" idx="1"/>
          </p:nvPr>
        </p:nvSpPr>
        <p:spPr/>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DEFCEC52-0C4F-415C-FB66-8AC301C44C29}"/>
              </a:ext>
            </a:extLst>
          </p:cNvPr>
          <p:cNvSpPr>
            <a:spLocks noGrp="1"/>
          </p:cNvSpPr>
          <p:nvPr>
            <p:ph type="sldNum" sz="quarter" idx="5"/>
          </p:nvPr>
        </p:nvSpPr>
        <p:spPr/>
        <p:txBody>
          <a:bodyPr/>
          <a:lstStyle/>
          <a:p>
            <a:fld id="{D06B116C-1CAD-49E2-B44E-AB4A995DEB2E}" type="slidenum">
              <a:rPr lang="en-US" smtClean="0"/>
              <a:pPr/>
              <a:t>7</a:t>
            </a:fld>
            <a:endParaRPr lang="en-US"/>
          </a:p>
        </p:txBody>
      </p:sp>
    </p:spTree>
    <p:extLst>
      <p:ext uri="{BB962C8B-B14F-4D97-AF65-F5344CB8AC3E}">
        <p14:creationId xmlns:p14="http://schemas.microsoft.com/office/powerpoint/2010/main" val="1807240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27926-F997-4FD3-A0C7-7A587BDA84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7130A0-6A38-23D5-9D79-7D65DFE082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EFDCC-0659-A643-81B1-BF8760D6B0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9B0312-1BF1-92B4-2A44-CB22393AAC1B}"/>
              </a:ext>
            </a:extLst>
          </p:cNvPr>
          <p:cNvSpPr>
            <a:spLocks noGrp="1"/>
          </p:cNvSpPr>
          <p:nvPr>
            <p:ph type="sldNum" sz="quarter" idx="5"/>
          </p:nvPr>
        </p:nvSpPr>
        <p:spPr/>
        <p:txBody>
          <a:bodyPr/>
          <a:lstStyle/>
          <a:p>
            <a:fld id="{D06B116C-1CAD-49E2-B44E-AB4A995DEB2E}" type="slidenum">
              <a:rPr lang="en-US" smtClean="0"/>
              <a:pPr/>
              <a:t>9</a:t>
            </a:fld>
            <a:endParaRPr lang="en-US"/>
          </a:p>
        </p:txBody>
      </p:sp>
    </p:spTree>
    <p:extLst>
      <p:ext uri="{BB962C8B-B14F-4D97-AF65-F5344CB8AC3E}">
        <p14:creationId xmlns:p14="http://schemas.microsoft.com/office/powerpoint/2010/main" val="672958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51ED8-87F2-6A44-6DBF-261C9F6F5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B2A74-4E78-2F80-5D6A-3AD746B6B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AAD3B-0694-D5DD-39DB-47375E5DFE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634CF6-EA82-20D1-6091-B75EF1E36568}"/>
              </a:ext>
            </a:extLst>
          </p:cNvPr>
          <p:cNvSpPr>
            <a:spLocks noGrp="1"/>
          </p:cNvSpPr>
          <p:nvPr>
            <p:ph type="sldNum" sz="quarter" idx="5"/>
          </p:nvPr>
        </p:nvSpPr>
        <p:spPr/>
        <p:txBody>
          <a:bodyPr/>
          <a:lstStyle/>
          <a:p>
            <a:fld id="{D06B116C-1CAD-49E2-B44E-AB4A995DEB2E}" type="slidenum">
              <a:rPr lang="en-US" smtClean="0"/>
              <a:pPr/>
              <a:t>10</a:t>
            </a:fld>
            <a:endParaRPr lang="en-US"/>
          </a:p>
        </p:txBody>
      </p:sp>
    </p:spTree>
    <p:extLst>
      <p:ext uri="{BB962C8B-B14F-4D97-AF65-F5344CB8AC3E}">
        <p14:creationId xmlns:p14="http://schemas.microsoft.com/office/powerpoint/2010/main" val="4001628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FCC9E-5094-A16F-275E-364350D31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779C2-CC2E-44C7-876E-B17750367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AF83F-D3CF-4088-D8C4-1EE77F4947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D1648F-E6E2-C847-2F45-41DD9FBFCA94}"/>
              </a:ext>
            </a:extLst>
          </p:cNvPr>
          <p:cNvSpPr>
            <a:spLocks noGrp="1"/>
          </p:cNvSpPr>
          <p:nvPr>
            <p:ph type="sldNum" sz="quarter" idx="5"/>
          </p:nvPr>
        </p:nvSpPr>
        <p:spPr/>
        <p:txBody>
          <a:bodyPr/>
          <a:lstStyle/>
          <a:p>
            <a:fld id="{D06B116C-1CAD-49E2-B44E-AB4A995DEB2E}" type="slidenum">
              <a:rPr lang="en-US" smtClean="0"/>
              <a:pPr/>
              <a:t>11</a:t>
            </a:fld>
            <a:endParaRPr lang="en-US"/>
          </a:p>
        </p:txBody>
      </p:sp>
    </p:spTree>
    <p:extLst>
      <p:ext uri="{BB962C8B-B14F-4D97-AF65-F5344CB8AC3E}">
        <p14:creationId xmlns:p14="http://schemas.microsoft.com/office/powerpoint/2010/main" val="47994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500F-E7C3-69FF-785C-9971A35D4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F27C3-77CB-B7FB-4C57-49778AB54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392AB-566B-3952-1F43-DE7EB6D007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7B45D1-DD5C-2F1A-7728-AB2EE6ABE1E6}"/>
              </a:ext>
            </a:extLst>
          </p:cNvPr>
          <p:cNvSpPr>
            <a:spLocks noGrp="1"/>
          </p:cNvSpPr>
          <p:nvPr>
            <p:ph type="sldNum" sz="quarter" idx="5"/>
          </p:nvPr>
        </p:nvSpPr>
        <p:spPr/>
        <p:txBody>
          <a:bodyPr/>
          <a:lstStyle/>
          <a:p>
            <a:fld id="{D06B116C-1CAD-49E2-B44E-AB4A995DEB2E}" type="slidenum">
              <a:rPr lang="en-US" smtClean="0"/>
              <a:pPr/>
              <a:t>13</a:t>
            </a:fld>
            <a:endParaRPr lang="en-US"/>
          </a:p>
        </p:txBody>
      </p:sp>
    </p:spTree>
    <p:extLst>
      <p:ext uri="{BB962C8B-B14F-4D97-AF65-F5344CB8AC3E}">
        <p14:creationId xmlns:p14="http://schemas.microsoft.com/office/powerpoint/2010/main" val="140814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E5067-54B2-CCAD-4A74-135FF6D7C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D0453E-F9D1-F965-28E6-ABD03C847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730B0-6958-CA25-5EB7-0D98754EB8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BEE98C-70D6-57F6-0D97-3EE8C8161444}"/>
              </a:ext>
            </a:extLst>
          </p:cNvPr>
          <p:cNvSpPr>
            <a:spLocks noGrp="1"/>
          </p:cNvSpPr>
          <p:nvPr>
            <p:ph type="sldNum" sz="quarter" idx="5"/>
          </p:nvPr>
        </p:nvSpPr>
        <p:spPr/>
        <p:txBody>
          <a:bodyPr/>
          <a:lstStyle/>
          <a:p>
            <a:fld id="{D06B116C-1CAD-49E2-B44E-AB4A995DEB2E}" type="slidenum">
              <a:rPr lang="en-US" smtClean="0"/>
              <a:pPr/>
              <a:t>14</a:t>
            </a:fld>
            <a:endParaRPr lang="en-US"/>
          </a:p>
        </p:txBody>
      </p:sp>
    </p:spTree>
    <p:extLst>
      <p:ext uri="{BB962C8B-B14F-4D97-AF65-F5344CB8AC3E}">
        <p14:creationId xmlns:p14="http://schemas.microsoft.com/office/powerpoint/2010/main" val="2556499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FC2B1-EA5E-B98A-28F3-FC80D7437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7283C-0A5A-6105-E427-95E3C97D5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AA9DD-1DB0-0B70-731A-ABED29DE20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2E29BE-A84E-7EB8-2A00-225FBD497C88}"/>
              </a:ext>
            </a:extLst>
          </p:cNvPr>
          <p:cNvSpPr>
            <a:spLocks noGrp="1"/>
          </p:cNvSpPr>
          <p:nvPr>
            <p:ph type="sldNum" sz="quarter" idx="5"/>
          </p:nvPr>
        </p:nvSpPr>
        <p:spPr/>
        <p:txBody>
          <a:bodyPr/>
          <a:lstStyle/>
          <a:p>
            <a:fld id="{D06B116C-1CAD-49E2-B44E-AB4A995DEB2E}" type="slidenum">
              <a:rPr lang="en-US" smtClean="0"/>
              <a:pPr/>
              <a:t>16</a:t>
            </a:fld>
            <a:endParaRPr lang="en-US"/>
          </a:p>
        </p:txBody>
      </p:sp>
    </p:spTree>
    <p:extLst>
      <p:ext uri="{BB962C8B-B14F-4D97-AF65-F5344CB8AC3E}">
        <p14:creationId xmlns:p14="http://schemas.microsoft.com/office/powerpoint/2010/main" val="235155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7A48-FD9D-D5D0-541A-1B44CFC91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98E5F-7054-24C3-E2BA-BD0AE9A87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8AB2F-AA02-BD8B-470C-2F66B972FE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202350-AE2B-3B9C-179D-349F1A0F2D25}"/>
              </a:ext>
            </a:extLst>
          </p:cNvPr>
          <p:cNvSpPr>
            <a:spLocks noGrp="1"/>
          </p:cNvSpPr>
          <p:nvPr>
            <p:ph type="sldNum" sz="quarter" idx="5"/>
          </p:nvPr>
        </p:nvSpPr>
        <p:spPr/>
        <p:txBody>
          <a:bodyPr/>
          <a:lstStyle/>
          <a:p>
            <a:fld id="{D06B116C-1CAD-49E2-B44E-AB4A995DEB2E}" type="slidenum">
              <a:rPr lang="en-US" smtClean="0"/>
              <a:pPr/>
              <a:t>18</a:t>
            </a:fld>
            <a:endParaRPr lang="en-US"/>
          </a:p>
        </p:txBody>
      </p:sp>
    </p:spTree>
    <p:extLst>
      <p:ext uri="{BB962C8B-B14F-4D97-AF65-F5344CB8AC3E}">
        <p14:creationId xmlns:p14="http://schemas.microsoft.com/office/powerpoint/2010/main" val="1531547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D0894-1B0B-AF9C-3DB0-3C85A060B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39B1F-B5B4-8E98-A53A-ABEDECE99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06455-6986-78D4-7C74-3C432B7F31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67BDED-F743-B727-8B44-B6E9BEF80453}"/>
              </a:ext>
            </a:extLst>
          </p:cNvPr>
          <p:cNvSpPr>
            <a:spLocks noGrp="1"/>
          </p:cNvSpPr>
          <p:nvPr>
            <p:ph type="sldNum" sz="quarter" idx="5"/>
          </p:nvPr>
        </p:nvSpPr>
        <p:spPr/>
        <p:txBody>
          <a:bodyPr/>
          <a:lstStyle/>
          <a:p>
            <a:fld id="{D06B116C-1CAD-49E2-B44E-AB4A995DEB2E}" type="slidenum">
              <a:rPr lang="en-US" smtClean="0"/>
              <a:pPr/>
              <a:t>19</a:t>
            </a:fld>
            <a:endParaRPr lang="en-US"/>
          </a:p>
        </p:txBody>
      </p:sp>
    </p:spTree>
    <p:extLst>
      <p:ext uri="{BB962C8B-B14F-4D97-AF65-F5344CB8AC3E}">
        <p14:creationId xmlns:p14="http://schemas.microsoft.com/office/powerpoint/2010/main" val="282225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59661-F05A-B395-79E4-3500D238E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67E30-8238-FDEE-B87A-DFF0C042F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50A5E-8475-003B-3E66-02F6230723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2DE80C-D836-5693-2794-2C2F811E9F97}"/>
              </a:ext>
            </a:extLst>
          </p:cNvPr>
          <p:cNvSpPr>
            <a:spLocks noGrp="1"/>
          </p:cNvSpPr>
          <p:nvPr>
            <p:ph type="sldNum" sz="quarter" idx="5"/>
          </p:nvPr>
        </p:nvSpPr>
        <p:spPr/>
        <p:txBody>
          <a:bodyPr/>
          <a:lstStyle/>
          <a:p>
            <a:fld id="{D06B116C-1CAD-49E2-B44E-AB4A995DEB2E}" type="slidenum">
              <a:rPr lang="en-US" smtClean="0"/>
              <a:pPr/>
              <a:t>20</a:t>
            </a:fld>
            <a:endParaRPr lang="en-US"/>
          </a:p>
        </p:txBody>
      </p:sp>
    </p:spTree>
    <p:extLst>
      <p:ext uri="{BB962C8B-B14F-4D97-AF65-F5344CB8AC3E}">
        <p14:creationId xmlns:p14="http://schemas.microsoft.com/office/powerpoint/2010/main" val="415284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15927-354F-619D-20A2-12FDDD912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134C2-A612-EB73-B1D1-9ABA86376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E0121-5622-CA67-E0EA-8C7C93E28F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78081A-8DDC-627A-A2C8-2D17E83D304D}"/>
              </a:ext>
            </a:extLst>
          </p:cNvPr>
          <p:cNvSpPr>
            <a:spLocks noGrp="1"/>
          </p:cNvSpPr>
          <p:nvPr>
            <p:ph type="sldNum" sz="quarter" idx="5"/>
          </p:nvPr>
        </p:nvSpPr>
        <p:spPr/>
        <p:txBody>
          <a:bodyPr/>
          <a:lstStyle/>
          <a:p>
            <a:fld id="{D06B116C-1CAD-49E2-B44E-AB4A995DEB2E}" type="slidenum">
              <a:rPr lang="en-US" smtClean="0"/>
              <a:pPr/>
              <a:t>22</a:t>
            </a:fld>
            <a:endParaRPr lang="en-US"/>
          </a:p>
        </p:txBody>
      </p:sp>
    </p:spTree>
    <p:extLst>
      <p:ext uri="{BB962C8B-B14F-4D97-AF65-F5344CB8AC3E}">
        <p14:creationId xmlns:p14="http://schemas.microsoft.com/office/powerpoint/2010/main" val="273834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E5A5-9444-A374-CED2-4987E6248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D39FD-9285-8987-2FA3-41B3E71F9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479FB-73C9-F14B-A27E-E9B0F33021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0053EE-160E-1C76-4FB8-5CD6C000AA93}"/>
              </a:ext>
            </a:extLst>
          </p:cNvPr>
          <p:cNvSpPr>
            <a:spLocks noGrp="1"/>
          </p:cNvSpPr>
          <p:nvPr>
            <p:ph type="sldNum" sz="quarter" idx="5"/>
          </p:nvPr>
        </p:nvSpPr>
        <p:spPr/>
        <p:txBody>
          <a:bodyPr/>
          <a:lstStyle/>
          <a:p>
            <a:fld id="{D06B116C-1CAD-49E2-B44E-AB4A995DEB2E}" type="slidenum">
              <a:rPr lang="en-US" smtClean="0"/>
              <a:pPr/>
              <a:t>23</a:t>
            </a:fld>
            <a:endParaRPr lang="en-US"/>
          </a:p>
        </p:txBody>
      </p:sp>
    </p:spTree>
    <p:extLst>
      <p:ext uri="{BB962C8B-B14F-4D97-AF65-F5344CB8AC3E}">
        <p14:creationId xmlns:p14="http://schemas.microsoft.com/office/powerpoint/2010/main" val="2035017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08D59-F455-FDEB-B08A-9A22A1F45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261A5-89D6-7EBD-6E6A-ABF932F6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80C59-3801-A074-A94C-4C98D60D612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3566A4-FDC7-61E1-FECD-CB4D33710029}"/>
              </a:ext>
            </a:extLst>
          </p:cNvPr>
          <p:cNvSpPr>
            <a:spLocks noGrp="1"/>
          </p:cNvSpPr>
          <p:nvPr>
            <p:ph type="sldNum" sz="quarter" idx="5"/>
          </p:nvPr>
        </p:nvSpPr>
        <p:spPr/>
        <p:txBody>
          <a:bodyPr/>
          <a:lstStyle/>
          <a:p>
            <a:fld id="{D06B116C-1CAD-49E2-B44E-AB4A995DEB2E}" type="slidenum">
              <a:rPr lang="en-US" smtClean="0"/>
              <a:pPr/>
              <a:t>24</a:t>
            </a:fld>
            <a:endParaRPr lang="en-US"/>
          </a:p>
        </p:txBody>
      </p:sp>
    </p:spTree>
    <p:extLst>
      <p:ext uri="{BB962C8B-B14F-4D97-AF65-F5344CB8AC3E}">
        <p14:creationId xmlns:p14="http://schemas.microsoft.com/office/powerpoint/2010/main" val="2333821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lstStyle>
            <a:lvl1pPr>
              <a:defRPr/>
            </a:lvl1pPr>
          </a:lstStyle>
          <a:p>
            <a:r>
              <a:rPr lang="en-US"/>
              <a:t>Slide Titles Should Use Initial Caps </a:t>
            </a:r>
          </a:p>
        </p:txBody>
      </p:sp>
      <p:sp>
        <p:nvSpPr>
          <p:cNvPr id="3" name="Content Placeholder 2"/>
          <p:cNvSpPr>
            <a:spLocks noGrp="1"/>
          </p:cNvSpPr>
          <p:nvPr>
            <p:ph idx="1"/>
          </p:nvPr>
        </p:nvSpPr>
        <p:spPr>
          <a:xfrm>
            <a:off x="503237" y="1597026"/>
            <a:ext cx="13623926" cy="562133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8">
            <a:extLst>
              <a:ext uri="{FF2B5EF4-FFF2-40B4-BE49-F238E27FC236}">
                <a16:creationId xmlns:a16="http://schemas.microsoft.com/office/drawing/2014/main" id="{C35E6205-0B46-4B10-81BB-565D871C7BFB}"/>
              </a:ext>
            </a:extLst>
          </p:cNvPr>
          <p:cNvSpPr>
            <a:spLocks noGrp="1"/>
          </p:cNvSpPr>
          <p:nvPr>
            <p:ph type="body" sz="quarter" idx="18"/>
          </p:nvPr>
        </p:nvSpPr>
        <p:spPr>
          <a:xfrm>
            <a:off x="503238"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697776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3" name="Content Placeholder 2"/>
          <p:cNvSpPr>
            <a:spLocks noGrp="1"/>
          </p:cNvSpPr>
          <p:nvPr>
            <p:ph idx="1"/>
          </p:nvPr>
        </p:nvSpPr>
        <p:spPr>
          <a:xfrm>
            <a:off x="5168899" y="2400300"/>
            <a:ext cx="8958263" cy="481806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3">
            <a:extLst>
              <a:ext uri="{FF2B5EF4-FFF2-40B4-BE49-F238E27FC236}">
                <a16:creationId xmlns:a16="http://schemas.microsoft.com/office/drawing/2014/main" id="{DC8117F6-BD25-498B-AC87-EC2FF3A4B3AD}"/>
              </a:ext>
            </a:extLst>
          </p:cNvPr>
          <p:cNvSpPr>
            <a:spLocks noGrp="1"/>
          </p:cNvSpPr>
          <p:nvPr>
            <p:ph type="pic" sz="quarter" idx="12"/>
          </p:nvPr>
        </p:nvSpPr>
        <p:spPr>
          <a:xfrm>
            <a:off x="-1331913" y="2883925"/>
            <a:ext cx="6161088" cy="6161087"/>
          </a:xfrm>
          <a:prstGeom prst="ellipse">
            <a:avLst/>
          </a:prstGeom>
          <a:solidFill>
            <a:schemeClr val="accent3"/>
          </a:solidFill>
        </p:spPr>
        <p:txBody>
          <a:bodyPr/>
          <a:lstStyle>
            <a:lvl1pPr>
              <a:defRPr/>
            </a:lvl1pPr>
          </a:lstStyle>
          <a:p>
            <a:r>
              <a:rPr lang="en-US"/>
              <a:t>Click icon to add picture</a:t>
            </a:r>
          </a:p>
        </p:txBody>
      </p:sp>
      <p:sp>
        <p:nvSpPr>
          <p:cNvPr id="9" name="Text Placeholder 8">
            <a:extLst>
              <a:ext uri="{FF2B5EF4-FFF2-40B4-BE49-F238E27FC236}">
                <a16:creationId xmlns:a16="http://schemas.microsoft.com/office/drawing/2014/main" id="{385A9C37-E843-4F85-9E0F-ACB5E8D2750C}"/>
              </a:ext>
            </a:extLst>
          </p:cNvPr>
          <p:cNvSpPr>
            <a:spLocks noGrp="1"/>
          </p:cNvSpPr>
          <p:nvPr>
            <p:ph type="body" sz="quarter" idx="18"/>
          </p:nvPr>
        </p:nvSpPr>
        <p:spPr>
          <a:xfrm>
            <a:off x="516889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2247260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7" y="329565"/>
            <a:ext cx="9847263" cy="1016350"/>
          </a:xfrm>
        </p:spPr>
        <p:txBody>
          <a:bodyPr/>
          <a:lstStyle>
            <a:lvl1pPr>
              <a:defRPr/>
            </a:lvl1pPr>
          </a:lstStyle>
          <a:p>
            <a:r>
              <a:rPr lang="en-US"/>
              <a:t>Slide Titles Should Use Initial Caps </a:t>
            </a:r>
          </a:p>
        </p:txBody>
      </p:sp>
      <p:sp>
        <p:nvSpPr>
          <p:cNvPr id="3" name="Content Placeholder 2"/>
          <p:cNvSpPr>
            <a:spLocks noGrp="1"/>
          </p:cNvSpPr>
          <p:nvPr>
            <p:ph idx="1"/>
          </p:nvPr>
        </p:nvSpPr>
        <p:spPr>
          <a:xfrm>
            <a:off x="503237" y="2400300"/>
            <a:ext cx="9847263" cy="481806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3">
            <a:extLst>
              <a:ext uri="{FF2B5EF4-FFF2-40B4-BE49-F238E27FC236}">
                <a16:creationId xmlns:a16="http://schemas.microsoft.com/office/drawing/2014/main" id="{DC8117F6-BD25-498B-AC87-EC2FF3A4B3AD}"/>
              </a:ext>
            </a:extLst>
          </p:cNvPr>
          <p:cNvSpPr>
            <a:spLocks noGrp="1"/>
          </p:cNvSpPr>
          <p:nvPr>
            <p:ph type="pic" sz="quarter" idx="12"/>
          </p:nvPr>
        </p:nvSpPr>
        <p:spPr>
          <a:xfrm>
            <a:off x="10796587" y="-836612"/>
            <a:ext cx="4951413" cy="4951412"/>
          </a:xfrm>
          <a:prstGeom prst="ellipse">
            <a:avLst/>
          </a:prstGeom>
          <a:solidFill>
            <a:schemeClr val="accent3"/>
          </a:solidFill>
        </p:spPr>
        <p:txBody>
          <a:bodyPr/>
          <a:lstStyle>
            <a:lvl1pPr>
              <a:defRPr/>
            </a:lvl1pPr>
          </a:lstStyle>
          <a:p>
            <a:r>
              <a:rPr lang="en-US"/>
              <a:t>Click icon to add picture</a:t>
            </a:r>
          </a:p>
        </p:txBody>
      </p:sp>
      <p:sp>
        <p:nvSpPr>
          <p:cNvPr id="9" name="Text Placeholder 8">
            <a:extLst>
              <a:ext uri="{FF2B5EF4-FFF2-40B4-BE49-F238E27FC236}">
                <a16:creationId xmlns:a16="http://schemas.microsoft.com/office/drawing/2014/main" id="{9E421DC5-ED25-4439-A01B-2AAD2F638705}"/>
              </a:ext>
            </a:extLst>
          </p:cNvPr>
          <p:cNvSpPr>
            <a:spLocks noGrp="1"/>
          </p:cNvSpPr>
          <p:nvPr>
            <p:ph type="body" sz="quarter" idx="18"/>
          </p:nvPr>
        </p:nvSpPr>
        <p:spPr>
          <a:xfrm>
            <a:off x="503238" y="7667162"/>
            <a:ext cx="9847261"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2800037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 and Image">
    <p:spTree>
      <p:nvGrpSpPr>
        <p:cNvPr id="1" name=""/>
        <p:cNvGrpSpPr/>
        <p:nvPr/>
      </p:nvGrpSpPr>
      <p:grpSpPr>
        <a:xfrm>
          <a:off x="0" y="0"/>
          <a:ext cx="0" cy="0"/>
          <a:chOff x="0" y="0"/>
          <a:chExt cx="0" cy="0"/>
        </a:xfrm>
      </p:grpSpPr>
      <p:sp>
        <p:nvSpPr>
          <p:cNvPr id="13" name="object 2">
            <a:extLst>
              <a:ext uri="{FF2B5EF4-FFF2-40B4-BE49-F238E27FC236}">
                <a16:creationId xmlns:a16="http://schemas.microsoft.com/office/drawing/2014/main" id="{6C10F033-310E-418B-9500-0A633CF0E529}"/>
              </a:ext>
            </a:extLst>
          </p:cNvPr>
          <p:cNvSpPr/>
          <p:nvPr userDrawn="1"/>
        </p:nvSpPr>
        <p:spPr>
          <a:xfrm>
            <a:off x="1" y="-14148"/>
            <a:ext cx="5800090" cy="349406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1"/>
          </a:solidFill>
        </p:spPr>
        <p:txBody>
          <a:bodyPr wrap="square" lIns="0" tIns="0" rIns="0" bIns="0" rtlCol="0"/>
          <a:lstStyle/>
          <a:p>
            <a:endParaRPr/>
          </a:p>
        </p:txBody>
      </p:sp>
      <p:sp>
        <p:nvSpPr>
          <p:cNvPr id="14" name="Title 1">
            <a:extLst>
              <a:ext uri="{FF2B5EF4-FFF2-40B4-BE49-F238E27FC236}">
                <a16:creationId xmlns:a16="http://schemas.microsoft.com/office/drawing/2014/main" id="{40D7DEA7-0BFF-4814-AC1C-96585540DA0C}"/>
              </a:ext>
            </a:extLst>
          </p:cNvPr>
          <p:cNvSpPr>
            <a:spLocks noGrp="1"/>
          </p:cNvSpPr>
          <p:nvPr>
            <p:ph type="title" hasCustomPrompt="1"/>
          </p:nvPr>
        </p:nvSpPr>
        <p:spPr>
          <a:xfrm>
            <a:off x="503237" y="1224708"/>
            <a:ext cx="4983163" cy="1016350"/>
          </a:xfrm>
        </p:spPr>
        <p:txBody>
          <a:bodyPr/>
          <a:lstStyle>
            <a:lvl1pPr>
              <a:defRPr>
                <a:solidFill>
                  <a:schemeClr val="bg1"/>
                </a:solidFill>
              </a:defRPr>
            </a:lvl1pPr>
          </a:lstStyle>
          <a:p>
            <a:r>
              <a:rPr lang="en-US"/>
              <a:t>Slide Titles Should Use Initial Caps </a:t>
            </a: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3780928"/>
            <a:ext cx="3897948" cy="34940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ECB40410-7BA7-41F0-88A6-2142F4DFFC8F}"/>
              </a:ext>
            </a:extLst>
          </p:cNvPr>
          <p:cNvSpPr>
            <a:spLocks noGrp="1"/>
          </p:cNvSpPr>
          <p:nvPr>
            <p:ph idx="12"/>
          </p:nvPr>
        </p:nvSpPr>
        <p:spPr>
          <a:xfrm>
            <a:off x="5366226" y="3780928"/>
            <a:ext cx="3897948" cy="34940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7067B3A5-954F-4A6B-82EA-00D1F5889635}"/>
              </a:ext>
            </a:extLst>
          </p:cNvPr>
          <p:cNvSpPr>
            <a:spLocks noGrp="1"/>
          </p:cNvSpPr>
          <p:nvPr>
            <p:ph type="pic" sz="quarter" idx="10"/>
          </p:nvPr>
        </p:nvSpPr>
        <p:spPr>
          <a:xfrm>
            <a:off x="5794624" y="-14148"/>
            <a:ext cx="8835775" cy="3494064"/>
          </a:xfrm>
        </p:spPr>
        <p:txBody>
          <a:bodyPr anchor="ctr"/>
          <a:lstStyle>
            <a:lvl1pPr marL="0" indent="0">
              <a:buNone/>
              <a:defRPr/>
            </a:lvl1pPr>
          </a:lstStyle>
          <a:p>
            <a:r>
              <a:rPr lang="en-US"/>
              <a:t>Click icon to add picture</a:t>
            </a:r>
          </a:p>
        </p:txBody>
      </p:sp>
      <p:sp>
        <p:nvSpPr>
          <p:cNvPr id="11" name="Content Placeholder 2">
            <a:extLst>
              <a:ext uri="{FF2B5EF4-FFF2-40B4-BE49-F238E27FC236}">
                <a16:creationId xmlns:a16="http://schemas.microsoft.com/office/drawing/2014/main" id="{491E77F9-EEAD-4FE4-A258-BFCA67C31708}"/>
              </a:ext>
            </a:extLst>
          </p:cNvPr>
          <p:cNvSpPr>
            <a:spLocks noGrp="1"/>
          </p:cNvSpPr>
          <p:nvPr>
            <p:ph idx="13"/>
          </p:nvPr>
        </p:nvSpPr>
        <p:spPr>
          <a:xfrm>
            <a:off x="10229215" y="3780928"/>
            <a:ext cx="3897948" cy="34940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8">
            <a:extLst>
              <a:ext uri="{FF2B5EF4-FFF2-40B4-BE49-F238E27FC236}">
                <a16:creationId xmlns:a16="http://schemas.microsoft.com/office/drawing/2014/main" id="{09F52B60-39B4-4504-BD29-985C137E5DC6}"/>
              </a:ext>
            </a:extLst>
          </p:cNvPr>
          <p:cNvSpPr>
            <a:spLocks noGrp="1"/>
          </p:cNvSpPr>
          <p:nvPr>
            <p:ph type="body" sz="quarter" idx="18"/>
          </p:nvPr>
        </p:nvSpPr>
        <p:spPr>
          <a:xfrm>
            <a:off x="503239" y="7667162"/>
            <a:ext cx="7412672"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964435186"/>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and Gray Bar">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BDB2C35E-028A-4CA9-8211-0524A31456D9}"/>
              </a:ext>
            </a:extLst>
          </p:cNvPr>
          <p:cNvSpPr/>
          <p:nvPr userDrawn="1"/>
        </p:nvSpPr>
        <p:spPr>
          <a:xfrm>
            <a:off x="9448800" y="0"/>
            <a:ext cx="5181600"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1587500"/>
            <a:ext cx="8760936" cy="56054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6FBE5F5-DC1F-4970-970F-F166CB0BAA87}"/>
              </a:ext>
            </a:extLst>
          </p:cNvPr>
          <p:cNvSpPr>
            <a:spLocks noGrp="1"/>
          </p:cNvSpPr>
          <p:nvPr>
            <p:ph type="title" hasCustomPrompt="1"/>
          </p:nvPr>
        </p:nvSpPr>
        <p:spPr>
          <a:xfrm>
            <a:off x="503237" y="329565"/>
            <a:ext cx="8760937" cy="1016350"/>
          </a:xfrm>
        </p:spPr>
        <p:txBody>
          <a:bodyPr/>
          <a:lstStyle>
            <a:lvl1pPr>
              <a:defRPr/>
            </a:lvl1pPr>
          </a:lstStyle>
          <a:p>
            <a:r>
              <a:rPr lang="en-US"/>
              <a:t>Slide Titles Should Use Initial Caps </a:t>
            </a:r>
          </a:p>
        </p:txBody>
      </p:sp>
      <p:sp>
        <p:nvSpPr>
          <p:cNvPr id="11" name="Text Placeholder 8">
            <a:extLst>
              <a:ext uri="{FF2B5EF4-FFF2-40B4-BE49-F238E27FC236}">
                <a16:creationId xmlns:a16="http://schemas.microsoft.com/office/drawing/2014/main" id="{A6B7166C-6242-4217-BF01-15A708C9A435}"/>
              </a:ext>
            </a:extLst>
          </p:cNvPr>
          <p:cNvSpPr>
            <a:spLocks noGrp="1"/>
          </p:cNvSpPr>
          <p:nvPr>
            <p:ph type="body" sz="quarter" idx="18"/>
          </p:nvPr>
        </p:nvSpPr>
        <p:spPr>
          <a:xfrm>
            <a:off x="503238" y="7667162"/>
            <a:ext cx="8760935"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8" name="TextBox 7">
            <a:extLst>
              <a:ext uri="{FF2B5EF4-FFF2-40B4-BE49-F238E27FC236}">
                <a16:creationId xmlns:a16="http://schemas.microsoft.com/office/drawing/2014/main" id="{EF0DAF1F-1AA7-4D14-B2A7-7EC09BBDE0E7}"/>
              </a:ext>
            </a:extLst>
          </p:cNvPr>
          <p:cNvSpPr txBox="1"/>
          <p:nvPr userDrawn="1"/>
        </p:nvSpPr>
        <p:spPr>
          <a:xfrm>
            <a:off x="13144818" y="7814641"/>
            <a:ext cx="1356043" cy="246221"/>
          </a:xfrm>
          <a:prstGeom prst="rect">
            <a:avLst/>
          </a:prstGeom>
        </p:spPr>
        <p:txBody>
          <a:bodyPr tIns="0" bIns="0" anchor="b">
            <a:noAutofit/>
          </a:bodyPr>
          <a:lstStyle>
            <a:defPPr>
              <a:defRPr lang="en-US"/>
            </a:defPPr>
            <a:lvl1pPr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815827039"/>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Subhead and Gray Bar">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BDB2C35E-028A-4CA9-8211-0524A31456D9}"/>
              </a:ext>
            </a:extLst>
          </p:cNvPr>
          <p:cNvSpPr/>
          <p:nvPr userDrawn="1"/>
        </p:nvSpPr>
        <p:spPr>
          <a:xfrm>
            <a:off x="9448800" y="0"/>
            <a:ext cx="5181600"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2480441"/>
            <a:ext cx="8760936" cy="4712522"/>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6FBE5F5-DC1F-4970-970F-F166CB0BAA87}"/>
              </a:ext>
            </a:extLst>
          </p:cNvPr>
          <p:cNvSpPr>
            <a:spLocks noGrp="1"/>
          </p:cNvSpPr>
          <p:nvPr>
            <p:ph type="title" hasCustomPrompt="1"/>
          </p:nvPr>
        </p:nvSpPr>
        <p:spPr>
          <a:xfrm>
            <a:off x="503237" y="329565"/>
            <a:ext cx="8760937" cy="1016350"/>
          </a:xfrm>
        </p:spPr>
        <p:txBody>
          <a:bodyPr/>
          <a:lstStyle>
            <a:lvl1pPr>
              <a:defRPr/>
            </a:lvl1pPr>
          </a:lstStyle>
          <a:p>
            <a:r>
              <a:rPr lang="en-US"/>
              <a:t>Slide Titles Should Use Initial Caps </a:t>
            </a:r>
          </a:p>
        </p:txBody>
      </p:sp>
      <p:sp>
        <p:nvSpPr>
          <p:cNvPr id="8" name="Text Placeholder 13">
            <a:extLst>
              <a:ext uri="{FF2B5EF4-FFF2-40B4-BE49-F238E27FC236}">
                <a16:creationId xmlns:a16="http://schemas.microsoft.com/office/drawing/2014/main" id="{E6907836-CBD9-4F8E-A7CC-15977D144F30}"/>
              </a:ext>
            </a:extLst>
          </p:cNvPr>
          <p:cNvSpPr>
            <a:spLocks noGrp="1"/>
          </p:cNvSpPr>
          <p:nvPr>
            <p:ph type="body" sz="quarter" idx="16" hasCustomPrompt="1"/>
          </p:nvPr>
        </p:nvSpPr>
        <p:spPr>
          <a:xfrm>
            <a:off x="503238" y="1587500"/>
            <a:ext cx="8760936" cy="762000"/>
          </a:xfrm>
        </p:spPr>
        <p:txBody>
          <a:bodyPr anchor="b"/>
          <a:lstStyle>
            <a:lvl1pPr marL="0" indent="0">
              <a:buNone/>
              <a:defRPr b="1">
                <a:solidFill>
                  <a:schemeClr val="tx1"/>
                </a:solidFill>
              </a:defRPr>
            </a:lvl1pPr>
          </a:lstStyle>
          <a:p>
            <a:pPr lvl="0"/>
            <a:r>
              <a:rPr lang="en-US"/>
              <a:t>Click to edit master text styles</a:t>
            </a:r>
          </a:p>
        </p:txBody>
      </p:sp>
      <p:sp>
        <p:nvSpPr>
          <p:cNvPr id="10" name="Text Placeholder 8">
            <a:extLst>
              <a:ext uri="{FF2B5EF4-FFF2-40B4-BE49-F238E27FC236}">
                <a16:creationId xmlns:a16="http://schemas.microsoft.com/office/drawing/2014/main" id="{4ABB7000-6085-4F34-A85F-467545E3EF6E}"/>
              </a:ext>
            </a:extLst>
          </p:cNvPr>
          <p:cNvSpPr>
            <a:spLocks noGrp="1"/>
          </p:cNvSpPr>
          <p:nvPr>
            <p:ph type="body" sz="quarter" idx="18"/>
          </p:nvPr>
        </p:nvSpPr>
        <p:spPr>
          <a:xfrm>
            <a:off x="503238" y="7667162"/>
            <a:ext cx="8760935"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9" name="TextBox 8">
            <a:extLst>
              <a:ext uri="{FF2B5EF4-FFF2-40B4-BE49-F238E27FC236}">
                <a16:creationId xmlns:a16="http://schemas.microsoft.com/office/drawing/2014/main" id="{D531BBAE-4525-4646-AC5B-0C1C0A53B514}"/>
              </a:ext>
            </a:extLst>
          </p:cNvPr>
          <p:cNvSpPr txBox="1"/>
          <p:nvPr userDrawn="1"/>
        </p:nvSpPr>
        <p:spPr>
          <a:xfrm>
            <a:off x="13144818" y="7814641"/>
            <a:ext cx="1356043" cy="246221"/>
          </a:xfrm>
          <a:prstGeom prst="rect">
            <a:avLst/>
          </a:prstGeom>
        </p:spPr>
        <p:txBody>
          <a:bodyPr vert="horz" lIns="91440" tIns="0" rIns="91440" bIns="0" rtlCol="0" anchor="b">
            <a:noAutofit/>
          </a:bodyPr>
          <a:lstStyle>
            <a:lvl1pPr lvl="0"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283923642"/>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 and Gray Bar ">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BDB2C35E-028A-4CA9-8211-0524A31456D9}"/>
              </a:ext>
            </a:extLst>
          </p:cNvPr>
          <p:cNvSpPr/>
          <p:nvPr userDrawn="1"/>
        </p:nvSpPr>
        <p:spPr>
          <a:xfrm>
            <a:off x="9448800" y="0"/>
            <a:ext cx="5181600"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1968500"/>
            <a:ext cx="4114800" cy="52244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ECB40410-7BA7-41F0-88A6-2142F4DFFC8F}"/>
              </a:ext>
            </a:extLst>
          </p:cNvPr>
          <p:cNvSpPr>
            <a:spLocks noGrp="1"/>
          </p:cNvSpPr>
          <p:nvPr>
            <p:ph idx="12"/>
          </p:nvPr>
        </p:nvSpPr>
        <p:spPr>
          <a:xfrm>
            <a:off x="5149374" y="1968500"/>
            <a:ext cx="4114800" cy="52244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6FBE5F5-DC1F-4970-970F-F166CB0BAA87}"/>
              </a:ext>
            </a:extLst>
          </p:cNvPr>
          <p:cNvSpPr>
            <a:spLocks noGrp="1"/>
          </p:cNvSpPr>
          <p:nvPr>
            <p:ph type="title" hasCustomPrompt="1"/>
          </p:nvPr>
        </p:nvSpPr>
        <p:spPr>
          <a:xfrm>
            <a:off x="503237" y="329565"/>
            <a:ext cx="8760937" cy="1016350"/>
          </a:xfrm>
        </p:spPr>
        <p:txBody>
          <a:bodyPr/>
          <a:lstStyle>
            <a:lvl1pPr>
              <a:defRPr/>
            </a:lvl1pPr>
          </a:lstStyle>
          <a:p>
            <a:r>
              <a:rPr lang="en-US"/>
              <a:t>Slide Titles Should Use Initial Caps </a:t>
            </a:r>
          </a:p>
        </p:txBody>
      </p:sp>
      <p:sp>
        <p:nvSpPr>
          <p:cNvPr id="8" name="Text Placeholder 8">
            <a:extLst>
              <a:ext uri="{FF2B5EF4-FFF2-40B4-BE49-F238E27FC236}">
                <a16:creationId xmlns:a16="http://schemas.microsoft.com/office/drawing/2014/main" id="{05DC85D1-C7D8-4552-AA80-A772461919DB}"/>
              </a:ext>
            </a:extLst>
          </p:cNvPr>
          <p:cNvSpPr>
            <a:spLocks noGrp="1"/>
          </p:cNvSpPr>
          <p:nvPr>
            <p:ph type="body" sz="quarter" idx="17"/>
          </p:nvPr>
        </p:nvSpPr>
        <p:spPr>
          <a:xfrm>
            <a:off x="503238" y="7667162"/>
            <a:ext cx="8760935"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9" name="TextBox 8">
            <a:extLst>
              <a:ext uri="{FF2B5EF4-FFF2-40B4-BE49-F238E27FC236}">
                <a16:creationId xmlns:a16="http://schemas.microsoft.com/office/drawing/2014/main" id="{595F4CCB-21C6-4F53-8DA5-3C6E6E4F9BDE}"/>
              </a:ext>
            </a:extLst>
          </p:cNvPr>
          <p:cNvSpPr txBox="1"/>
          <p:nvPr userDrawn="1"/>
        </p:nvSpPr>
        <p:spPr>
          <a:xfrm>
            <a:off x="13144818" y="7814641"/>
            <a:ext cx="1356043" cy="246221"/>
          </a:xfrm>
          <a:prstGeom prst="rect">
            <a:avLst/>
          </a:prstGeom>
        </p:spPr>
        <p:txBody>
          <a:bodyPr vert="horz" lIns="91440" tIns="0" rIns="91440" bIns="0" rtlCol="0" anchor="b">
            <a:noAutofit/>
          </a:bodyPr>
          <a:lstStyle>
            <a:lvl1pPr lvl="0"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2252970779"/>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503238" y="1597026"/>
            <a:ext cx="6629400" cy="563086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14" name="Text Placeholder 7"/>
          <p:cNvSpPr>
            <a:spLocks noGrp="1"/>
          </p:cNvSpPr>
          <p:nvPr>
            <p:ph type="body" sz="quarter" idx="20"/>
          </p:nvPr>
        </p:nvSpPr>
        <p:spPr>
          <a:xfrm>
            <a:off x="7480301" y="1597026"/>
            <a:ext cx="6629400" cy="563086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8">
            <a:extLst>
              <a:ext uri="{FF2B5EF4-FFF2-40B4-BE49-F238E27FC236}">
                <a16:creationId xmlns:a16="http://schemas.microsoft.com/office/drawing/2014/main" id="{23796CC4-07CE-4141-BACA-5DAD66D8907E}"/>
              </a:ext>
            </a:extLst>
          </p:cNvPr>
          <p:cNvSpPr>
            <a:spLocks noGrp="1"/>
          </p:cNvSpPr>
          <p:nvPr>
            <p:ph type="body" sz="quarter" idx="17"/>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777496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8" y="329565"/>
            <a:ext cx="13623925" cy="1016350"/>
          </a:xfrm>
        </p:spPr>
        <p:txBody>
          <a:bodyPr/>
          <a:lstStyle>
            <a:lvl1pPr>
              <a:defRPr/>
            </a:lvl1pPr>
          </a:lstStyle>
          <a:p>
            <a:r>
              <a:rPr lang="en-US"/>
              <a:t>Slide Titles Should Use Initial Caps </a:t>
            </a:r>
          </a:p>
        </p:txBody>
      </p:sp>
      <p:sp>
        <p:nvSpPr>
          <p:cNvPr id="19" name="Text Placeholder 13"/>
          <p:cNvSpPr>
            <a:spLocks noGrp="1"/>
          </p:cNvSpPr>
          <p:nvPr>
            <p:ph type="body" sz="quarter" idx="15" hasCustomPrompt="1"/>
          </p:nvPr>
        </p:nvSpPr>
        <p:spPr>
          <a:xfrm>
            <a:off x="503238" y="1587500"/>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20" name="Text Placeholder 13"/>
          <p:cNvSpPr>
            <a:spLocks noGrp="1"/>
          </p:cNvSpPr>
          <p:nvPr>
            <p:ph type="body" sz="quarter" idx="16" hasCustomPrompt="1"/>
          </p:nvPr>
        </p:nvSpPr>
        <p:spPr>
          <a:xfrm>
            <a:off x="7480301" y="1587500"/>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21" name="Content Placeholder 16"/>
          <p:cNvSpPr>
            <a:spLocks noGrp="1"/>
          </p:cNvSpPr>
          <p:nvPr>
            <p:ph sz="quarter" idx="17"/>
          </p:nvPr>
        </p:nvSpPr>
        <p:spPr>
          <a:xfrm>
            <a:off x="503238" y="2590800"/>
            <a:ext cx="6629400" cy="44069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7480301" y="2590800"/>
            <a:ext cx="6629400" cy="44069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FCD74593-D9EA-4EFA-9BB0-80D8B3F642DF}"/>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3909552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8" y="329565"/>
            <a:ext cx="13623925" cy="1016350"/>
          </a:xfrm>
        </p:spPr>
        <p:txBody>
          <a:bodyPr/>
          <a:lstStyle>
            <a:lvl1pPr>
              <a:defRPr/>
            </a:lvl1pPr>
          </a:lstStyle>
          <a:p>
            <a:r>
              <a:rPr lang="en-US"/>
              <a:t>Slide Titles Should Use Initial Caps </a:t>
            </a:r>
          </a:p>
        </p:txBody>
      </p:sp>
      <p:sp>
        <p:nvSpPr>
          <p:cNvPr id="6" name="Text Placeholder 5"/>
          <p:cNvSpPr>
            <a:spLocks noGrp="1"/>
          </p:cNvSpPr>
          <p:nvPr>
            <p:ph type="body" sz="quarter" idx="12" hasCustomPrompt="1"/>
          </p:nvPr>
        </p:nvSpPr>
        <p:spPr>
          <a:xfrm>
            <a:off x="503238" y="1587500"/>
            <a:ext cx="4206240" cy="758952"/>
          </a:xfrm>
        </p:spPr>
        <p:txBody>
          <a:bodyPr anchor="b"/>
          <a:lstStyle>
            <a:lvl1pPr marL="0" indent="0">
              <a:buNone/>
              <a:defRPr b="1">
                <a:solidFill>
                  <a:schemeClr val="tx1"/>
                </a:solidFill>
              </a:defRPr>
            </a:lvl1pPr>
          </a:lstStyle>
          <a:p>
            <a:pPr lvl="0"/>
            <a:r>
              <a:rPr lang="en-US"/>
              <a:t>Click to edit master text styles</a:t>
            </a:r>
          </a:p>
        </p:txBody>
      </p:sp>
      <p:sp>
        <p:nvSpPr>
          <p:cNvPr id="13" name="Text Placeholder 5"/>
          <p:cNvSpPr>
            <a:spLocks noGrp="1"/>
          </p:cNvSpPr>
          <p:nvPr>
            <p:ph type="body" sz="quarter" idx="13" hasCustomPrompt="1"/>
          </p:nvPr>
        </p:nvSpPr>
        <p:spPr>
          <a:xfrm>
            <a:off x="5212081" y="1587500"/>
            <a:ext cx="4206240" cy="758952"/>
          </a:xfrm>
        </p:spPr>
        <p:txBody>
          <a:bodyPr anchor="b"/>
          <a:lstStyle>
            <a:lvl1pPr marL="0" indent="0">
              <a:buNone/>
              <a:defRPr b="1">
                <a:solidFill>
                  <a:schemeClr val="tx1"/>
                </a:solidFill>
              </a:defRPr>
            </a:lvl1pPr>
          </a:lstStyle>
          <a:p>
            <a:pPr lvl="0"/>
            <a:r>
              <a:rPr lang="en-US"/>
              <a:t>Click to edit master text styles</a:t>
            </a:r>
          </a:p>
        </p:txBody>
      </p:sp>
      <p:sp>
        <p:nvSpPr>
          <p:cNvPr id="14" name="Text Placeholder 5"/>
          <p:cNvSpPr>
            <a:spLocks noGrp="1"/>
          </p:cNvSpPr>
          <p:nvPr>
            <p:ph type="body" sz="quarter" idx="14" hasCustomPrompt="1"/>
          </p:nvPr>
        </p:nvSpPr>
        <p:spPr>
          <a:xfrm>
            <a:off x="9920923" y="1587500"/>
            <a:ext cx="4206240" cy="758952"/>
          </a:xfrm>
        </p:spPr>
        <p:txBody>
          <a:bodyPr anchor="b"/>
          <a:lstStyle>
            <a:lvl1pPr marL="0" indent="0">
              <a:buNone/>
              <a:defRPr b="1">
                <a:solidFill>
                  <a:schemeClr val="tx1"/>
                </a:solidFill>
              </a:defRPr>
            </a:lvl1pPr>
          </a:lstStyle>
          <a:p>
            <a:pPr lvl="0"/>
            <a:r>
              <a:rPr lang="en-US"/>
              <a:t>Click to edit master text styles</a:t>
            </a:r>
          </a:p>
        </p:txBody>
      </p:sp>
      <p:sp>
        <p:nvSpPr>
          <p:cNvPr id="16" name="Content Placeholder 15"/>
          <p:cNvSpPr>
            <a:spLocks noGrp="1"/>
          </p:cNvSpPr>
          <p:nvPr>
            <p:ph sz="quarter" idx="15"/>
          </p:nvPr>
        </p:nvSpPr>
        <p:spPr>
          <a:xfrm>
            <a:off x="503238" y="2590800"/>
            <a:ext cx="4206240" cy="4406900"/>
          </a:xfrm>
        </p:spPr>
        <p:txBody>
          <a:bodyPr>
            <a:noAutofit/>
          </a:bodyPr>
          <a:lstStyle>
            <a:lvl1pPr>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p:cNvSpPr>
            <a:spLocks noGrp="1"/>
          </p:cNvSpPr>
          <p:nvPr>
            <p:ph sz="quarter" idx="16"/>
          </p:nvPr>
        </p:nvSpPr>
        <p:spPr>
          <a:xfrm>
            <a:off x="5211922" y="2590800"/>
            <a:ext cx="4206240" cy="4406900"/>
          </a:xfrm>
        </p:spPr>
        <p:txBody>
          <a:bodyPr>
            <a:noAutofit/>
          </a:bodyPr>
          <a:lstStyle>
            <a:lvl1pPr marL="225425" indent="-225425">
              <a:defRPr lang="en-US" sz="2000" kern="1200" dirty="0" smtClean="0">
                <a:solidFill>
                  <a:schemeClr val="tx1"/>
                </a:solidFill>
                <a:latin typeface="+mn-lt"/>
                <a:ea typeface="+mn-ea"/>
                <a:cs typeface="+mn-cs"/>
              </a:defRPr>
            </a:lvl1pPr>
            <a:lvl2pPr>
              <a:defRPr sz="1600"/>
            </a:lvl2pPr>
            <a:lvl3pPr>
              <a:defRPr sz="1600"/>
            </a:lvl3pPr>
            <a:lvl4pPr>
              <a:defRPr sz="1600"/>
            </a:lvl4pPr>
            <a:lvl5pPr>
              <a:defRPr sz="1600"/>
            </a:lvl5pPr>
          </a:lstStyle>
          <a:p>
            <a:pPr marL="225425" lvl="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Click to edit Master text styles</a:t>
            </a:r>
          </a:p>
          <a:p>
            <a:pPr marL="225425" lvl="1"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Second level</a:t>
            </a:r>
          </a:p>
          <a:p>
            <a:pPr marL="225425" lvl="2"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Third level</a:t>
            </a:r>
          </a:p>
          <a:p>
            <a:pPr marL="225425" lvl="3"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Fourth level</a:t>
            </a:r>
          </a:p>
          <a:p>
            <a:pPr marL="225425" lvl="4"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Fifth level</a:t>
            </a:r>
          </a:p>
        </p:txBody>
      </p:sp>
      <p:sp>
        <p:nvSpPr>
          <p:cNvPr id="18" name="Content Placeholder 15"/>
          <p:cNvSpPr>
            <a:spLocks noGrp="1"/>
          </p:cNvSpPr>
          <p:nvPr>
            <p:ph sz="quarter" idx="17"/>
          </p:nvPr>
        </p:nvSpPr>
        <p:spPr>
          <a:xfrm>
            <a:off x="9920606" y="2590800"/>
            <a:ext cx="4206240" cy="4406900"/>
          </a:xfrm>
        </p:spPr>
        <p:txBody>
          <a:bodyPr>
            <a:noAutofit/>
          </a:bodyPr>
          <a:lstStyle>
            <a:lvl1pPr marL="225425" indent="-225425">
              <a:defRPr lang="en-US" sz="2000" kern="1200" dirty="0" smtClean="0">
                <a:solidFill>
                  <a:schemeClr val="tx1"/>
                </a:solidFill>
                <a:latin typeface="+mn-lt"/>
                <a:ea typeface="+mn-ea"/>
                <a:cs typeface="+mn-cs"/>
              </a:defRPr>
            </a:lvl1pPr>
            <a:lvl2pPr>
              <a:defRPr sz="1600"/>
            </a:lvl2pPr>
            <a:lvl3pPr>
              <a:defRPr sz="1600"/>
            </a:lvl3pPr>
            <a:lvl4pPr>
              <a:defRPr sz="1600"/>
            </a:lvl4pPr>
            <a:lvl5pPr>
              <a:defRPr sz="1600"/>
            </a:lvl5pPr>
          </a:lstStyle>
          <a:p>
            <a:pPr marL="225425" lvl="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Click to edit Master text styles</a:t>
            </a:r>
          </a:p>
          <a:p>
            <a:pPr marL="225425" lvl="1"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Second level</a:t>
            </a:r>
          </a:p>
          <a:p>
            <a:pPr marL="225425" lvl="2"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Third level</a:t>
            </a:r>
          </a:p>
          <a:p>
            <a:pPr marL="225425" lvl="3"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Fourth level</a:t>
            </a:r>
          </a:p>
          <a:p>
            <a:pPr marL="225425" lvl="4"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Fifth level</a:t>
            </a:r>
          </a:p>
        </p:txBody>
      </p:sp>
      <p:sp>
        <p:nvSpPr>
          <p:cNvPr id="11" name="Text Placeholder 8">
            <a:extLst>
              <a:ext uri="{FF2B5EF4-FFF2-40B4-BE49-F238E27FC236}">
                <a16:creationId xmlns:a16="http://schemas.microsoft.com/office/drawing/2014/main" id="{241A5C9D-A1EC-4781-A68B-8DFC53160122}"/>
              </a:ext>
            </a:extLst>
          </p:cNvPr>
          <p:cNvSpPr>
            <a:spLocks noGrp="1"/>
          </p:cNvSpPr>
          <p:nvPr>
            <p:ph type="body" sz="quarter" idx="18"/>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576185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5"/>
          <p:cNvSpPr>
            <a:spLocks noGrp="1"/>
          </p:cNvSpPr>
          <p:nvPr>
            <p:ph type="body" sz="quarter" idx="12" hasCustomPrompt="1"/>
          </p:nvPr>
        </p:nvSpPr>
        <p:spPr>
          <a:xfrm>
            <a:off x="503238"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2" name="Text Placeholder 5"/>
          <p:cNvSpPr>
            <a:spLocks noGrp="1"/>
          </p:cNvSpPr>
          <p:nvPr>
            <p:ph type="body" sz="quarter" idx="13" hasCustomPrompt="1"/>
          </p:nvPr>
        </p:nvSpPr>
        <p:spPr>
          <a:xfrm>
            <a:off x="3977746"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3" name="Text Placeholder 5"/>
          <p:cNvSpPr>
            <a:spLocks noGrp="1"/>
          </p:cNvSpPr>
          <p:nvPr>
            <p:ph type="body" sz="quarter" idx="14" hasCustomPrompt="1"/>
          </p:nvPr>
        </p:nvSpPr>
        <p:spPr>
          <a:xfrm>
            <a:off x="7452254"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4" name="Text Placeholder 5"/>
          <p:cNvSpPr>
            <a:spLocks noGrp="1"/>
          </p:cNvSpPr>
          <p:nvPr>
            <p:ph type="body" sz="quarter" idx="15" hasCustomPrompt="1"/>
          </p:nvPr>
        </p:nvSpPr>
        <p:spPr>
          <a:xfrm>
            <a:off x="10926763"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5" name="Content Placeholder 15"/>
          <p:cNvSpPr>
            <a:spLocks noGrp="1"/>
          </p:cNvSpPr>
          <p:nvPr>
            <p:ph sz="quarter" idx="16"/>
          </p:nvPr>
        </p:nvSpPr>
        <p:spPr>
          <a:xfrm>
            <a:off x="503239" y="2590800"/>
            <a:ext cx="3200400" cy="4719639"/>
          </a:xfrm>
        </p:spPr>
        <p:txBody>
          <a:bodyPr>
            <a:noAutofit/>
          </a:bodyPr>
          <a:lstStyle>
            <a:lvl1pPr>
              <a:defRPr sz="2000"/>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7"/>
          </p:nvPr>
        </p:nvSpPr>
        <p:spPr>
          <a:xfrm>
            <a:off x="3977746" y="2590800"/>
            <a:ext cx="3200400" cy="4719639"/>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p:cNvSpPr>
            <a:spLocks noGrp="1"/>
          </p:cNvSpPr>
          <p:nvPr>
            <p:ph sz="quarter" idx="18"/>
          </p:nvPr>
        </p:nvSpPr>
        <p:spPr>
          <a:xfrm>
            <a:off x="7452254" y="2590800"/>
            <a:ext cx="3200400" cy="4719639"/>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5"/>
          <p:cNvSpPr>
            <a:spLocks noGrp="1"/>
          </p:cNvSpPr>
          <p:nvPr>
            <p:ph sz="quarter" idx="19"/>
          </p:nvPr>
        </p:nvSpPr>
        <p:spPr>
          <a:xfrm>
            <a:off x="10926763" y="2590800"/>
            <a:ext cx="3200400" cy="4719639"/>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8">
            <a:extLst>
              <a:ext uri="{FF2B5EF4-FFF2-40B4-BE49-F238E27FC236}">
                <a16:creationId xmlns:a16="http://schemas.microsoft.com/office/drawing/2014/main" id="{E775C7A0-4A71-4F8A-8275-5262AB682C6A}"/>
              </a:ext>
            </a:extLst>
          </p:cNvPr>
          <p:cNvSpPr>
            <a:spLocks noGrp="1"/>
          </p:cNvSpPr>
          <p:nvPr>
            <p:ph type="body" sz="quarter" idx="20"/>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40208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Photo and Text ">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10" name="Picture Placeholder 6">
            <a:extLst>
              <a:ext uri="{FF2B5EF4-FFF2-40B4-BE49-F238E27FC236}">
                <a16:creationId xmlns:a16="http://schemas.microsoft.com/office/drawing/2014/main" id="{2DFF9DA3-D697-4465-A41C-58D6D761B3E9}"/>
              </a:ext>
            </a:extLst>
          </p:cNvPr>
          <p:cNvSpPr>
            <a:spLocks noGrp="1"/>
          </p:cNvSpPr>
          <p:nvPr>
            <p:ph type="pic" sz="quarter" idx="16"/>
          </p:nvPr>
        </p:nvSpPr>
        <p:spPr>
          <a:xfrm>
            <a:off x="503237" y="1597025"/>
            <a:ext cx="4389437" cy="2743200"/>
          </a:xfrm>
        </p:spPr>
        <p:txBody>
          <a:bodyPr/>
          <a:lstStyle>
            <a:lvl1pPr>
              <a:defRPr/>
            </a:lvl1pPr>
          </a:lstStyle>
          <a:p>
            <a:r>
              <a:rPr lang="en-US"/>
              <a:t>Click icon to add picture</a:t>
            </a:r>
          </a:p>
        </p:txBody>
      </p:sp>
      <p:sp>
        <p:nvSpPr>
          <p:cNvPr id="11" name="Picture Placeholder 6">
            <a:extLst>
              <a:ext uri="{FF2B5EF4-FFF2-40B4-BE49-F238E27FC236}">
                <a16:creationId xmlns:a16="http://schemas.microsoft.com/office/drawing/2014/main" id="{D23DFB60-C9FF-47C2-BA4D-5FD016662338}"/>
              </a:ext>
            </a:extLst>
          </p:cNvPr>
          <p:cNvSpPr>
            <a:spLocks noGrp="1"/>
          </p:cNvSpPr>
          <p:nvPr>
            <p:ph type="pic" sz="quarter" idx="17"/>
          </p:nvPr>
        </p:nvSpPr>
        <p:spPr>
          <a:xfrm>
            <a:off x="5120482" y="1597025"/>
            <a:ext cx="4389437" cy="2743200"/>
          </a:xfrm>
        </p:spPr>
        <p:txBody>
          <a:bodyPr/>
          <a:lstStyle>
            <a:lvl1pPr>
              <a:defRPr/>
            </a:lvl1pPr>
          </a:lstStyle>
          <a:p>
            <a:r>
              <a:rPr lang="en-US"/>
              <a:t>Click icon to add picture</a:t>
            </a:r>
          </a:p>
        </p:txBody>
      </p:sp>
      <p:sp>
        <p:nvSpPr>
          <p:cNvPr id="14" name="Picture Placeholder 6">
            <a:extLst>
              <a:ext uri="{FF2B5EF4-FFF2-40B4-BE49-F238E27FC236}">
                <a16:creationId xmlns:a16="http://schemas.microsoft.com/office/drawing/2014/main" id="{163C17FC-9092-43B2-8BE0-7030673BF2AB}"/>
              </a:ext>
            </a:extLst>
          </p:cNvPr>
          <p:cNvSpPr>
            <a:spLocks noGrp="1"/>
          </p:cNvSpPr>
          <p:nvPr>
            <p:ph type="pic" sz="quarter" idx="18"/>
          </p:nvPr>
        </p:nvSpPr>
        <p:spPr>
          <a:xfrm>
            <a:off x="9737726" y="1597025"/>
            <a:ext cx="4389437" cy="2743200"/>
          </a:xfrm>
        </p:spPr>
        <p:txBody>
          <a:bodyPr/>
          <a:lstStyle>
            <a:lvl1pPr>
              <a:defRPr/>
            </a:lvl1pPr>
          </a:lstStyle>
          <a:p>
            <a:r>
              <a:rPr lang="en-US"/>
              <a:t>Click icon to add picture</a:t>
            </a:r>
          </a:p>
        </p:txBody>
      </p:sp>
      <p:sp>
        <p:nvSpPr>
          <p:cNvPr id="15" name="Text Placeholder 7">
            <a:extLst>
              <a:ext uri="{FF2B5EF4-FFF2-40B4-BE49-F238E27FC236}">
                <a16:creationId xmlns:a16="http://schemas.microsoft.com/office/drawing/2014/main" id="{24E0422B-46BE-4D90-9B6D-C08CC154B2F6}"/>
              </a:ext>
            </a:extLst>
          </p:cNvPr>
          <p:cNvSpPr>
            <a:spLocks noGrp="1"/>
          </p:cNvSpPr>
          <p:nvPr>
            <p:ph type="body" sz="quarter" idx="19"/>
          </p:nvPr>
        </p:nvSpPr>
        <p:spPr>
          <a:xfrm>
            <a:off x="503238" y="4591335"/>
            <a:ext cx="4389436"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DA89652B-ABEC-4CB1-B68C-6736FDEE9329}"/>
              </a:ext>
            </a:extLst>
          </p:cNvPr>
          <p:cNvSpPr>
            <a:spLocks noGrp="1"/>
          </p:cNvSpPr>
          <p:nvPr>
            <p:ph type="body" sz="quarter" idx="20"/>
          </p:nvPr>
        </p:nvSpPr>
        <p:spPr>
          <a:xfrm>
            <a:off x="5120483" y="4591335"/>
            <a:ext cx="4389436"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7">
            <a:extLst>
              <a:ext uri="{FF2B5EF4-FFF2-40B4-BE49-F238E27FC236}">
                <a16:creationId xmlns:a16="http://schemas.microsoft.com/office/drawing/2014/main" id="{29F97856-4AB2-4CCA-9674-C8C261120D91}"/>
              </a:ext>
            </a:extLst>
          </p:cNvPr>
          <p:cNvSpPr>
            <a:spLocks noGrp="1"/>
          </p:cNvSpPr>
          <p:nvPr>
            <p:ph type="body" sz="quarter" idx="21"/>
          </p:nvPr>
        </p:nvSpPr>
        <p:spPr>
          <a:xfrm>
            <a:off x="9737727" y="4591335"/>
            <a:ext cx="4389436"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8">
            <a:extLst>
              <a:ext uri="{FF2B5EF4-FFF2-40B4-BE49-F238E27FC236}">
                <a16:creationId xmlns:a16="http://schemas.microsoft.com/office/drawing/2014/main" id="{FD148075-ABF1-4F69-99C8-6A00AF416769}"/>
              </a:ext>
            </a:extLst>
          </p:cNvPr>
          <p:cNvSpPr>
            <a:spLocks noGrp="1"/>
          </p:cNvSpPr>
          <p:nvPr>
            <p:ph type="body" sz="quarter" idx="22"/>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862874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hoto and Tex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7" y="329565"/>
            <a:ext cx="13623925" cy="1016350"/>
          </a:xfrm>
        </p:spPr>
        <p:txBody>
          <a:bodyPr/>
          <a:lstStyle>
            <a:lvl1pPr>
              <a:defRPr/>
            </a:lvl1pPr>
          </a:lstStyle>
          <a:p>
            <a:r>
              <a:rPr lang="en-US"/>
              <a:t>Slide Titles Should Use Initial Caps </a:t>
            </a:r>
          </a:p>
        </p:txBody>
      </p:sp>
      <p:sp>
        <p:nvSpPr>
          <p:cNvPr id="7" name="Picture Placeholder 6"/>
          <p:cNvSpPr>
            <a:spLocks noGrp="1"/>
          </p:cNvSpPr>
          <p:nvPr>
            <p:ph type="pic" sz="quarter" idx="13"/>
          </p:nvPr>
        </p:nvSpPr>
        <p:spPr>
          <a:xfrm>
            <a:off x="503238" y="1597026"/>
            <a:ext cx="3200400" cy="2743200"/>
          </a:xfrm>
        </p:spPr>
        <p:txBody>
          <a:bodyPr/>
          <a:lstStyle>
            <a:lvl1pPr>
              <a:defRPr/>
            </a:lvl1pPr>
          </a:lstStyle>
          <a:p>
            <a:r>
              <a:rPr lang="en-US"/>
              <a:t>Click icon to add picture</a:t>
            </a:r>
          </a:p>
        </p:txBody>
      </p:sp>
      <p:sp>
        <p:nvSpPr>
          <p:cNvPr id="8" name="Picture Placeholder 6"/>
          <p:cNvSpPr>
            <a:spLocks noGrp="1"/>
          </p:cNvSpPr>
          <p:nvPr>
            <p:ph type="pic" sz="quarter" idx="14"/>
          </p:nvPr>
        </p:nvSpPr>
        <p:spPr>
          <a:xfrm>
            <a:off x="3977746" y="1597026"/>
            <a:ext cx="3200400" cy="2743200"/>
          </a:xfrm>
        </p:spPr>
        <p:txBody>
          <a:bodyPr/>
          <a:lstStyle>
            <a:lvl1pPr>
              <a:defRPr/>
            </a:lvl1pPr>
          </a:lstStyle>
          <a:p>
            <a:r>
              <a:rPr lang="en-US"/>
              <a:t>Click icon to add picture</a:t>
            </a:r>
          </a:p>
        </p:txBody>
      </p:sp>
      <p:sp>
        <p:nvSpPr>
          <p:cNvPr id="9" name="Picture Placeholder 6"/>
          <p:cNvSpPr>
            <a:spLocks noGrp="1"/>
          </p:cNvSpPr>
          <p:nvPr>
            <p:ph type="pic" sz="quarter" idx="15"/>
          </p:nvPr>
        </p:nvSpPr>
        <p:spPr>
          <a:xfrm>
            <a:off x="7452254" y="1597026"/>
            <a:ext cx="3200400" cy="2743200"/>
          </a:xfrm>
        </p:spPr>
        <p:txBody>
          <a:bodyPr/>
          <a:lstStyle>
            <a:lvl1pPr>
              <a:defRPr/>
            </a:lvl1pPr>
          </a:lstStyle>
          <a:p>
            <a:r>
              <a:rPr lang="en-US"/>
              <a:t>Click icon to add picture</a:t>
            </a:r>
          </a:p>
        </p:txBody>
      </p:sp>
      <p:sp>
        <p:nvSpPr>
          <p:cNvPr id="10" name="Picture Placeholder 6"/>
          <p:cNvSpPr>
            <a:spLocks noGrp="1"/>
          </p:cNvSpPr>
          <p:nvPr>
            <p:ph type="pic" sz="quarter" idx="16"/>
          </p:nvPr>
        </p:nvSpPr>
        <p:spPr>
          <a:xfrm>
            <a:off x="10926762" y="1597026"/>
            <a:ext cx="3200400" cy="2743200"/>
          </a:xfrm>
        </p:spPr>
        <p:txBody>
          <a:bodyPr/>
          <a:lstStyle>
            <a:lvl1pPr>
              <a:defRPr/>
            </a:lvl1pPr>
          </a:lstStyle>
          <a:p>
            <a:r>
              <a:rPr lang="en-US"/>
              <a:t>Click icon to add picture</a:t>
            </a:r>
          </a:p>
        </p:txBody>
      </p:sp>
      <p:sp>
        <p:nvSpPr>
          <p:cNvPr id="11" name="Text Placeholder 7">
            <a:extLst>
              <a:ext uri="{FF2B5EF4-FFF2-40B4-BE49-F238E27FC236}">
                <a16:creationId xmlns:a16="http://schemas.microsoft.com/office/drawing/2014/main" id="{468D4F1D-0F27-4B77-A1AD-D6B1A2ED750B}"/>
              </a:ext>
            </a:extLst>
          </p:cNvPr>
          <p:cNvSpPr>
            <a:spLocks noGrp="1"/>
          </p:cNvSpPr>
          <p:nvPr>
            <p:ph type="body" sz="quarter" idx="19"/>
          </p:nvPr>
        </p:nvSpPr>
        <p:spPr>
          <a:xfrm>
            <a:off x="503238"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99E04C37-E53A-4359-B169-443F8EABE790}"/>
              </a:ext>
            </a:extLst>
          </p:cNvPr>
          <p:cNvSpPr>
            <a:spLocks noGrp="1"/>
          </p:cNvSpPr>
          <p:nvPr>
            <p:ph type="body" sz="quarter" idx="20"/>
          </p:nvPr>
        </p:nvSpPr>
        <p:spPr>
          <a:xfrm>
            <a:off x="3977746"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7">
            <a:extLst>
              <a:ext uri="{FF2B5EF4-FFF2-40B4-BE49-F238E27FC236}">
                <a16:creationId xmlns:a16="http://schemas.microsoft.com/office/drawing/2014/main" id="{F4751435-9121-4884-A0C5-832C89A15226}"/>
              </a:ext>
            </a:extLst>
          </p:cNvPr>
          <p:cNvSpPr>
            <a:spLocks noGrp="1"/>
          </p:cNvSpPr>
          <p:nvPr>
            <p:ph type="body" sz="quarter" idx="21"/>
          </p:nvPr>
        </p:nvSpPr>
        <p:spPr>
          <a:xfrm>
            <a:off x="7452254"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1AC57ACD-1D66-4944-8F70-1A92F7D1F616}"/>
              </a:ext>
            </a:extLst>
          </p:cNvPr>
          <p:cNvSpPr>
            <a:spLocks noGrp="1"/>
          </p:cNvSpPr>
          <p:nvPr>
            <p:ph type="body" sz="quarter" idx="22"/>
          </p:nvPr>
        </p:nvSpPr>
        <p:spPr>
          <a:xfrm>
            <a:off x="10926762"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8">
            <a:extLst>
              <a:ext uri="{FF2B5EF4-FFF2-40B4-BE49-F238E27FC236}">
                <a16:creationId xmlns:a16="http://schemas.microsoft.com/office/drawing/2014/main" id="{01BA376E-E20C-4532-9267-AF661E8E44CB}"/>
              </a:ext>
            </a:extLst>
          </p:cNvPr>
          <p:cNvSpPr>
            <a:spLocks noGrp="1"/>
          </p:cNvSpPr>
          <p:nvPr>
            <p:ph type="body" sz="quarter" idx="23"/>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166407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 Full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j-lt"/>
              </a:defRPr>
            </a:lvl1pPr>
          </a:lstStyle>
          <a:p>
            <a:r>
              <a:rPr lang="en-US"/>
              <a:t>Slide Titles Should Use Initial Caps </a:t>
            </a:r>
          </a:p>
        </p:txBody>
      </p:sp>
      <p:sp>
        <p:nvSpPr>
          <p:cNvPr id="5" name="Text Placeholder 13"/>
          <p:cNvSpPr>
            <a:spLocks noGrp="1"/>
          </p:cNvSpPr>
          <p:nvPr>
            <p:ph type="body" sz="quarter" idx="15" hasCustomPrompt="1"/>
          </p:nvPr>
        </p:nvSpPr>
        <p:spPr>
          <a:xfrm>
            <a:off x="503237" y="1587499"/>
            <a:ext cx="13623926" cy="762000"/>
          </a:xfrm>
        </p:spPr>
        <p:txBody>
          <a:bodyPr anchor="b"/>
          <a:lstStyle>
            <a:lvl1pPr marL="0" indent="0">
              <a:buNone/>
              <a:defRPr b="1">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503238" y="2590800"/>
            <a:ext cx="13623925" cy="4627563"/>
          </a:xfrm>
        </p:spPr>
        <p:txBody>
          <a:bodyPr/>
          <a:lstStyle>
            <a:lvl1pPr>
              <a:defRPr>
                <a:latin typeface="+mn-lt"/>
              </a:defRPr>
            </a:lvl1pPr>
          </a:lstStyle>
          <a:p>
            <a:r>
              <a:rPr lang="en-US"/>
              <a:t>Click icon to add chart</a:t>
            </a:r>
          </a:p>
        </p:txBody>
      </p:sp>
      <p:sp>
        <p:nvSpPr>
          <p:cNvPr id="8" name="Text Placeholder 8">
            <a:extLst>
              <a:ext uri="{FF2B5EF4-FFF2-40B4-BE49-F238E27FC236}">
                <a16:creationId xmlns:a16="http://schemas.microsoft.com/office/drawing/2014/main" id="{7D190D05-7B95-492C-BEA9-BA6453AF1F07}"/>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843657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rt With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7" y="329565"/>
            <a:ext cx="13623925" cy="1016350"/>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503237" y="1587499"/>
            <a:ext cx="8338187" cy="762000"/>
          </a:xfrm>
        </p:spPr>
        <p:txBody>
          <a:bodyPr anchor="b"/>
          <a:lstStyle>
            <a:lvl1pPr marL="0" indent="0">
              <a:buNone/>
              <a:defRPr b="1">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503239" y="2590800"/>
            <a:ext cx="8338186" cy="4627563"/>
          </a:xfrm>
        </p:spPr>
        <p:txBody>
          <a:bodyPr/>
          <a:lstStyle>
            <a:lvl1pPr>
              <a:defRPr/>
            </a:lvl1pPr>
          </a:lstStyle>
          <a:p>
            <a:r>
              <a:rPr lang="en-US"/>
              <a:t>Click icon to add chart</a:t>
            </a:r>
          </a:p>
        </p:txBody>
      </p:sp>
      <p:sp>
        <p:nvSpPr>
          <p:cNvPr id="12" name="Table Placeholder 11">
            <a:extLst>
              <a:ext uri="{FF2B5EF4-FFF2-40B4-BE49-F238E27FC236}">
                <a16:creationId xmlns:a16="http://schemas.microsoft.com/office/drawing/2014/main" id="{123BC543-DA65-48BE-9A3C-CD6DFBD770FD}"/>
              </a:ext>
            </a:extLst>
          </p:cNvPr>
          <p:cNvSpPr>
            <a:spLocks noGrp="1"/>
          </p:cNvSpPr>
          <p:nvPr>
            <p:ph type="tbl" sz="quarter" idx="18"/>
          </p:nvPr>
        </p:nvSpPr>
        <p:spPr>
          <a:xfrm>
            <a:off x="9462510" y="2590800"/>
            <a:ext cx="4352925" cy="4602163"/>
          </a:xfrm>
        </p:spPr>
        <p:txBody>
          <a:bodyPr/>
          <a:lstStyle>
            <a:lvl1pPr>
              <a:defRPr/>
            </a:lvl1pPr>
          </a:lstStyle>
          <a:p>
            <a:r>
              <a:rPr lang="en-US"/>
              <a:t>Click icon to add table</a:t>
            </a:r>
          </a:p>
        </p:txBody>
      </p:sp>
      <p:sp>
        <p:nvSpPr>
          <p:cNvPr id="9" name="Text Placeholder 8">
            <a:extLst>
              <a:ext uri="{FF2B5EF4-FFF2-40B4-BE49-F238E27FC236}">
                <a16:creationId xmlns:a16="http://schemas.microsoft.com/office/drawing/2014/main" id="{52F8B5F1-FA0A-4FAA-AB2A-E5E1BEACC435}"/>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73371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503238" y="1587499"/>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6" name="Text Placeholder 13"/>
          <p:cNvSpPr>
            <a:spLocks noGrp="1"/>
          </p:cNvSpPr>
          <p:nvPr>
            <p:ph type="body" sz="quarter" idx="16" hasCustomPrompt="1"/>
          </p:nvPr>
        </p:nvSpPr>
        <p:spPr>
          <a:xfrm>
            <a:off x="7480301" y="1587499"/>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10" name="Chart Placeholder 9"/>
          <p:cNvSpPr>
            <a:spLocks noGrp="1"/>
          </p:cNvSpPr>
          <p:nvPr>
            <p:ph type="chart" sz="quarter" idx="17"/>
          </p:nvPr>
        </p:nvSpPr>
        <p:spPr>
          <a:xfrm>
            <a:off x="503238" y="2590800"/>
            <a:ext cx="6629400" cy="4627563"/>
          </a:xfrm>
        </p:spPr>
        <p:txBody>
          <a:bodyPr/>
          <a:lstStyle>
            <a:lvl1pPr>
              <a:defRPr/>
            </a:lvl1pPr>
          </a:lstStyle>
          <a:p>
            <a:r>
              <a:rPr lang="en-US"/>
              <a:t>Click icon to add chart</a:t>
            </a:r>
          </a:p>
        </p:txBody>
      </p:sp>
      <p:sp>
        <p:nvSpPr>
          <p:cNvPr id="11" name="Chart Placeholder 9"/>
          <p:cNvSpPr>
            <a:spLocks noGrp="1"/>
          </p:cNvSpPr>
          <p:nvPr>
            <p:ph type="chart" sz="quarter" idx="18"/>
          </p:nvPr>
        </p:nvSpPr>
        <p:spPr>
          <a:xfrm>
            <a:off x="7480301" y="2590800"/>
            <a:ext cx="6629400" cy="4627563"/>
          </a:xfrm>
        </p:spPr>
        <p:txBody>
          <a:bodyPr/>
          <a:lstStyle>
            <a:lvl1pPr>
              <a:defRPr/>
            </a:lvl1pPr>
          </a:lstStyle>
          <a:p>
            <a:r>
              <a:rPr lang="en-US"/>
              <a:t>Click icon to add chart</a:t>
            </a:r>
          </a:p>
        </p:txBody>
      </p:sp>
      <p:sp>
        <p:nvSpPr>
          <p:cNvPr id="14" name="Text Placeholder 8">
            <a:extLst>
              <a:ext uri="{FF2B5EF4-FFF2-40B4-BE49-F238E27FC236}">
                <a16:creationId xmlns:a16="http://schemas.microsoft.com/office/drawing/2014/main" id="{75D83FF7-EB9C-40BF-A935-8BD2CE421BBF}"/>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312913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5"/>
          <p:cNvSpPr>
            <a:spLocks noGrp="1"/>
          </p:cNvSpPr>
          <p:nvPr>
            <p:ph type="body" sz="quarter" idx="12" hasCustomPrompt="1"/>
          </p:nvPr>
        </p:nvSpPr>
        <p:spPr>
          <a:xfrm>
            <a:off x="503238" y="1587499"/>
            <a:ext cx="4389120" cy="762000"/>
          </a:xfrm>
        </p:spPr>
        <p:txBody>
          <a:bodyPr anchor="b"/>
          <a:lstStyle>
            <a:lvl1pPr marL="0" indent="0">
              <a:buNone/>
              <a:defRPr b="1">
                <a:solidFill>
                  <a:schemeClr val="tx1"/>
                </a:solidFill>
              </a:defRPr>
            </a:lvl1pPr>
          </a:lstStyle>
          <a:p>
            <a:pPr lvl="0"/>
            <a:r>
              <a:rPr lang="en-US"/>
              <a:t>Click to edit master text styles</a:t>
            </a:r>
          </a:p>
        </p:txBody>
      </p:sp>
      <p:sp>
        <p:nvSpPr>
          <p:cNvPr id="6" name="Text Placeholder 5"/>
          <p:cNvSpPr>
            <a:spLocks noGrp="1"/>
          </p:cNvSpPr>
          <p:nvPr>
            <p:ph type="body" sz="quarter" idx="13" hasCustomPrompt="1"/>
          </p:nvPr>
        </p:nvSpPr>
        <p:spPr>
          <a:xfrm>
            <a:off x="5120641" y="1587499"/>
            <a:ext cx="4389120" cy="762000"/>
          </a:xfrm>
        </p:spPr>
        <p:txBody>
          <a:bodyPr anchor="b"/>
          <a:lstStyle>
            <a:lvl1pPr marL="0" indent="0">
              <a:buNone/>
              <a:defRPr b="1">
                <a:solidFill>
                  <a:schemeClr val="tx1"/>
                </a:solidFill>
              </a:defRPr>
            </a:lvl1pPr>
          </a:lstStyle>
          <a:p>
            <a:pPr lvl="0"/>
            <a:r>
              <a:rPr lang="en-US"/>
              <a:t>Click to edit master text styles</a:t>
            </a:r>
          </a:p>
        </p:txBody>
      </p:sp>
      <p:sp>
        <p:nvSpPr>
          <p:cNvPr id="7" name="Text Placeholder 5"/>
          <p:cNvSpPr>
            <a:spLocks noGrp="1"/>
          </p:cNvSpPr>
          <p:nvPr>
            <p:ph type="body" sz="quarter" idx="14" hasCustomPrompt="1"/>
          </p:nvPr>
        </p:nvSpPr>
        <p:spPr>
          <a:xfrm>
            <a:off x="9738043" y="1587499"/>
            <a:ext cx="4389120" cy="762000"/>
          </a:xfrm>
        </p:spPr>
        <p:txBody>
          <a:bodyPr anchor="b"/>
          <a:lstStyle>
            <a:lvl1pPr marL="0" indent="0">
              <a:buNone/>
              <a:defRPr b="1">
                <a:solidFill>
                  <a:schemeClr val="tx1"/>
                </a:solidFill>
              </a:defRPr>
            </a:lvl1pPr>
          </a:lstStyle>
          <a:p>
            <a:pPr lvl="0"/>
            <a:r>
              <a:rPr lang="en-US"/>
              <a:t>Click to edit master text styles</a:t>
            </a:r>
          </a:p>
        </p:txBody>
      </p:sp>
      <p:sp>
        <p:nvSpPr>
          <p:cNvPr id="8" name="Chart Placeholder 9"/>
          <p:cNvSpPr>
            <a:spLocks noGrp="1"/>
          </p:cNvSpPr>
          <p:nvPr>
            <p:ph type="chart" sz="quarter" idx="17"/>
          </p:nvPr>
        </p:nvSpPr>
        <p:spPr>
          <a:xfrm>
            <a:off x="503238" y="2590800"/>
            <a:ext cx="4389120" cy="4627563"/>
          </a:xfrm>
        </p:spPr>
        <p:txBody>
          <a:bodyPr/>
          <a:lstStyle>
            <a:lvl1pPr>
              <a:defRPr/>
            </a:lvl1pPr>
          </a:lstStyle>
          <a:p>
            <a:r>
              <a:rPr lang="en-US"/>
              <a:t>Click icon to add chart</a:t>
            </a:r>
          </a:p>
        </p:txBody>
      </p:sp>
      <p:sp>
        <p:nvSpPr>
          <p:cNvPr id="9" name="Chart Placeholder 9"/>
          <p:cNvSpPr>
            <a:spLocks noGrp="1"/>
          </p:cNvSpPr>
          <p:nvPr>
            <p:ph type="chart" sz="quarter" idx="18"/>
          </p:nvPr>
        </p:nvSpPr>
        <p:spPr>
          <a:xfrm>
            <a:off x="5120640" y="2590800"/>
            <a:ext cx="4389120" cy="4627563"/>
          </a:xfrm>
        </p:spPr>
        <p:txBody>
          <a:bodyPr/>
          <a:lstStyle>
            <a:lvl1pPr>
              <a:defRPr/>
            </a:lvl1pPr>
          </a:lstStyle>
          <a:p>
            <a:r>
              <a:rPr lang="en-US"/>
              <a:t>Click icon to add chart</a:t>
            </a:r>
          </a:p>
        </p:txBody>
      </p:sp>
      <p:sp>
        <p:nvSpPr>
          <p:cNvPr id="10" name="Chart Placeholder 9"/>
          <p:cNvSpPr>
            <a:spLocks noGrp="1"/>
          </p:cNvSpPr>
          <p:nvPr>
            <p:ph type="chart" sz="quarter" idx="19"/>
          </p:nvPr>
        </p:nvSpPr>
        <p:spPr>
          <a:xfrm>
            <a:off x="9738043" y="2590800"/>
            <a:ext cx="4389120" cy="4627563"/>
          </a:xfrm>
        </p:spPr>
        <p:txBody>
          <a:bodyPr/>
          <a:lstStyle>
            <a:lvl1pPr>
              <a:defRPr/>
            </a:lvl1pPr>
          </a:lstStyle>
          <a:p>
            <a:r>
              <a:rPr lang="en-US"/>
              <a:t>Click icon to add chart</a:t>
            </a:r>
          </a:p>
        </p:txBody>
      </p:sp>
      <p:sp>
        <p:nvSpPr>
          <p:cNvPr id="14" name="Text Placeholder 8">
            <a:extLst>
              <a:ext uri="{FF2B5EF4-FFF2-40B4-BE49-F238E27FC236}">
                <a16:creationId xmlns:a16="http://schemas.microsoft.com/office/drawing/2014/main" id="{632EC63E-E2DC-41FB-8ADD-EC5BE284BB56}"/>
              </a:ext>
            </a:extLst>
          </p:cNvPr>
          <p:cNvSpPr>
            <a:spLocks noGrp="1"/>
          </p:cNvSpPr>
          <p:nvPr>
            <p:ph type="body" sz="quarter" idx="23"/>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3516595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8">
            <a:extLst>
              <a:ext uri="{FF2B5EF4-FFF2-40B4-BE49-F238E27FC236}">
                <a16:creationId xmlns:a16="http://schemas.microsoft.com/office/drawing/2014/main" id="{FA3D3C99-1807-4F76-B9C8-7AF7CF704C2B}"/>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2445029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3029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Black">
    <p:bg>
      <p:bgPr>
        <a:solidFill>
          <a:srgbClr val="000000"/>
        </a:solidFill>
        <a:effectLst/>
      </p:bgPr>
    </p:bg>
    <p:spTree>
      <p:nvGrpSpPr>
        <p:cNvPr id="1" name=""/>
        <p:cNvGrpSpPr/>
        <p:nvPr/>
      </p:nvGrpSpPr>
      <p:grpSpPr>
        <a:xfrm>
          <a:off x="0" y="0"/>
          <a:ext cx="0" cy="0"/>
          <a:chOff x="0" y="0"/>
          <a:chExt cx="0" cy="0"/>
        </a:xfrm>
      </p:grpSpPr>
      <p:sp>
        <p:nvSpPr>
          <p:cNvPr id="6" name="Rectangle 5"/>
          <p:cNvSpPr/>
          <p:nvPr userDrawn="1"/>
        </p:nvSpPr>
        <p:spPr>
          <a:xfrm>
            <a:off x="0" y="1117600"/>
            <a:ext cx="14338300" cy="889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0268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Slide_Blue Text">
    <p:spTree>
      <p:nvGrpSpPr>
        <p:cNvPr id="1" name=""/>
        <p:cNvGrpSpPr/>
        <p:nvPr/>
      </p:nvGrpSpPr>
      <p:grpSpPr>
        <a:xfrm>
          <a:off x="0" y="0"/>
          <a:ext cx="0" cy="0"/>
          <a:chOff x="0" y="0"/>
          <a:chExt cx="0" cy="0"/>
        </a:xfrm>
      </p:grpSpPr>
      <p:pic>
        <p:nvPicPr>
          <p:cNvPr id="18" name="Picture Placeholder 5" descr="A bridge over a body of water&#10;&#10;Description automatically generated">
            <a:extLst>
              <a:ext uri="{FF2B5EF4-FFF2-40B4-BE49-F238E27FC236}">
                <a16:creationId xmlns:a16="http://schemas.microsoft.com/office/drawing/2014/main" id="{D3E08688-E331-425F-8B80-1172303875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4630401" cy="8229600"/>
          </a:xfrm>
          <a:prstGeom prst="rect">
            <a:avLst/>
          </a:prstGeom>
        </p:spPr>
      </p:pic>
      <p:sp>
        <p:nvSpPr>
          <p:cNvPr id="8" name="Rectangle 7"/>
          <p:cNvSpPr/>
          <p:nvPr userDrawn="1"/>
        </p:nvSpPr>
        <p:spPr>
          <a:xfrm>
            <a:off x="-1" y="0"/>
            <a:ext cx="14630401"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EB6BC68D-D878-4CEF-A406-915483C78357}"/>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2" name="Title 1"/>
          <p:cNvSpPr>
            <a:spLocks noGrp="1"/>
          </p:cNvSpPr>
          <p:nvPr>
            <p:ph type="title" hasCustomPrompt="1"/>
          </p:nvPr>
        </p:nvSpPr>
        <p:spPr>
          <a:xfrm>
            <a:off x="322270" y="4997996"/>
            <a:ext cx="10476358" cy="1276437"/>
          </a:xfrm>
        </p:spPr>
        <p:txBody>
          <a:bodyPr lIns="91440">
            <a:noAutofit/>
          </a:bodyPr>
          <a:lstStyle>
            <a:lvl1pPr>
              <a:defRPr sz="4000" b="1" i="0" cap="none" baseline="0">
                <a:solidFill>
                  <a:schemeClr val="tx2"/>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4" name="Text Placeholder 13"/>
          <p:cNvSpPr>
            <a:spLocks noGrp="1"/>
          </p:cNvSpPr>
          <p:nvPr>
            <p:ph type="body" sz="quarter" idx="12" hasCustomPrompt="1"/>
          </p:nvPr>
        </p:nvSpPr>
        <p:spPr>
          <a:xfrm>
            <a:off x="322270" y="6424127"/>
            <a:ext cx="10476357" cy="910340"/>
          </a:xfrm>
        </p:spPr>
        <p:txBody>
          <a:bodyPr>
            <a:normAutofit/>
          </a:bodyPr>
          <a:lstStyle>
            <a:lvl1pPr marL="0" indent="0">
              <a:buNone/>
              <a:defRPr sz="2400">
                <a:solidFill>
                  <a:schemeClr val="tx2"/>
                </a:solidFill>
                <a:latin typeface="+mn-lt"/>
                <a:ea typeface="Noto Sans Medium" panose="020B0602040504020204" pitchFamily="34" charset="0"/>
                <a:cs typeface="Noto Sans Medium" panose="020B0602040504020204" pitchFamily="34" charset="0"/>
              </a:defRPr>
            </a:lvl1pPr>
          </a:lstStyle>
          <a:p>
            <a:pPr lvl="0"/>
            <a:r>
              <a:rPr lang="en-US"/>
              <a:t>Insert Subtitle Here</a:t>
            </a:r>
          </a:p>
        </p:txBody>
      </p:sp>
      <p:pic>
        <p:nvPicPr>
          <p:cNvPr id="11" name="Picture 10" descr="A close up of a sign&#10;&#10;Description automatically generated">
            <a:extLst>
              <a:ext uri="{FF2B5EF4-FFF2-40B4-BE49-F238E27FC236}">
                <a16:creationId xmlns:a16="http://schemas.microsoft.com/office/drawing/2014/main" id="{03006D6F-C8DF-AD40-B6D3-66C77DEC3F3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31228862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Slide_White Text">
    <p:spTree>
      <p:nvGrpSpPr>
        <p:cNvPr id="1" name=""/>
        <p:cNvGrpSpPr/>
        <p:nvPr/>
      </p:nvGrpSpPr>
      <p:grpSpPr>
        <a:xfrm>
          <a:off x="0" y="0"/>
          <a:ext cx="0" cy="0"/>
          <a:chOff x="0" y="0"/>
          <a:chExt cx="0" cy="0"/>
        </a:xfrm>
      </p:grpSpPr>
      <p:sp>
        <p:nvSpPr>
          <p:cNvPr id="8" name="Rectangle 7"/>
          <p:cNvSpPr/>
          <p:nvPr userDrawn="1"/>
        </p:nvSpPr>
        <p:spPr>
          <a:xfrm>
            <a:off x="-1" y="0"/>
            <a:ext cx="14630401"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EB6BC68D-D878-4CEF-A406-915483C78357}"/>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10" name="Title 1">
            <a:extLst>
              <a:ext uri="{FF2B5EF4-FFF2-40B4-BE49-F238E27FC236}">
                <a16:creationId xmlns:a16="http://schemas.microsoft.com/office/drawing/2014/main" id="{15AD002E-415A-4D73-8091-8E41D1B568F4}"/>
              </a:ext>
            </a:extLst>
          </p:cNvPr>
          <p:cNvSpPr>
            <a:spLocks noGrp="1"/>
          </p:cNvSpPr>
          <p:nvPr>
            <p:ph type="title" hasCustomPrompt="1"/>
          </p:nvPr>
        </p:nvSpPr>
        <p:spPr>
          <a:xfrm>
            <a:off x="322269" y="4999545"/>
            <a:ext cx="10476359" cy="1276437"/>
          </a:xfrm>
        </p:spPr>
        <p:txBody>
          <a:bodyPr lIns="91440">
            <a:no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1" name="Text Placeholder 13">
            <a:extLst>
              <a:ext uri="{FF2B5EF4-FFF2-40B4-BE49-F238E27FC236}">
                <a16:creationId xmlns:a16="http://schemas.microsoft.com/office/drawing/2014/main" id="{4D33A2EE-036C-4D53-9010-79F2A3C10DA0}"/>
              </a:ext>
            </a:extLst>
          </p:cNvPr>
          <p:cNvSpPr>
            <a:spLocks noGrp="1"/>
          </p:cNvSpPr>
          <p:nvPr>
            <p:ph type="body" sz="quarter" idx="12" hasCustomPrompt="1"/>
          </p:nvPr>
        </p:nvSpPr>
        <p:spPr>
          <a:xfrm>
            <a:off x="322270" y="6425676"/>
            <a:ext cx="10476358" cy="910340"/>
          </a:xfrm>
        </p:spPr>
        <p:txBody>
          <a:bodyPr>
            <a:normAutofit/>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pic>
        <p:nvPicPr>
          <p:cNvPr id="14" name="Picture 13" descr="A picture containing drawing&#10;&#10;Description automatically generated">
            <a:extLst>
              <a:ext uri="{FF2B5EF4-FFF2-40B4-BE49-F238E27FC236}">
                <a16:creationId xmlns:a16="http://schemas.microsoft.com/office/drawing/2014/main" id="{7A84952C-A31D-7D4D-9BA7-CDC6092F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368438" y="7018008"/>
            <a:ext cx="1839691" cy="1002044"/>
          </a:xfrm>
          <a:prstGeom prst="rect">
            <a:avLst/>
          </a:prstGeom>
        </p:spPr>
      </p:pic>
    </p:spTree>
    <p:extLst>
      <p:ext uri="{BB962C8B-B14F-4D97-AF65-F5344CB8AC3E}">
        <p14:creationId xmlns:p14="http://schemas.microsoft.com/office/powerpoint/2010/main" val="36101937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Slide_Blue">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14" name="Rectangle 13">
            <a:extLst>
              <a:ext uri="{FF2B5EF4-FFF2-40B4-BE49-F238E27FC236}">
                <a16:creationId xmlns:a16="http://schemas.microsoft.com/office/drawing/2014/main" id="{B6BAC84B-DB1F-4A2C-9962-2A96E9C5D801}"/>
              </a:ext>
            </a:extLst>
          </p:cNvPr>
          <p:cNvSpPr/>
          <p:nvPr userDrawn="1"/>
        </p:nvSpPr>
        <p:spPr bwMode="auto">
          <a:xfrm rot="10800000" flipH="1">
            <a:off x="8042633" y="-2"/>
            <a:ext cx="5484681" cy="4905831"/>
          </a:xfrm>
          <a:prstGeom prst="rect">
            <a:avLst/>
          </a:prstGeom>
          <a:solidFill>
            <a:schemeClr val="tx2">
              <a:alpha val="90000"/>
            </a:schemeClr>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17" name="Title 1">
            <a:extLst>
              <a:ext uri="{FF2B5EF4-FFF2-40B4-BE49-F238E27FC236}">
                <a16:creationId xmlns:a16="http://schemas.microsoft.com/office/drawing/2014/main" id="{8C88A2C2-4EC7-4208-A617-EC0D297E2C24}"/>
              </a:ext>
            </a:extLst>
          </p:cNvPr>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8" name="Text Placeholder 13">
            <a:extLst>
              <a:ext uri="{FF2B5EF4-FFF2-40B4-BE49-F238E27FC236}">
                <a16:creationId xmlns:a16="http://schemas.microsoft.com/office/drawing/2014/main" id="{A433C3C5-0A17-433E-8C19-7712AD842019}"/>
              </a:ext>
            </a:extLst>
          </p:cNvPr>
          <p:cNvSpPr>
            <a:spLocks noGrp="1"/>
          </p:cNvSpPr>
          <p:nvPr>
            <p:ph type="body" sz="quarter" idx="12" hasCustomPrompt="1"/>
          </p:nvPr>
        </p:nvSpPr>
        <p:spPr>
          <a:xfrm>
            <a:off x="8385532" y="3541035"/>
            <a:ext cx="4677325" cy="910340"/>
          </a:xfrm>
        </p:spPr>
        <p:txBody>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19" name="Straight Connector 18">
            <a:extLst>
              <a:ext uri="{FF2B5EF4-FFF2-40B4-BE49-F238E27FC236}">
                <a16:creationId xmlns:a16="http://schemas.microsoft.com/office/drawing/2014/main" id="{225BFFE4-305A-4D0D-9AC7-8F015A13EEFD}"/>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picture containing drawing&#10;&#10;Description automatically generated">
            <a:extLst>
              <a:ext uri="{FF2B5EF4-FFF2-40B4-BE49-F238E27FC236}">
                <a16:creationId xmlns:a16="http://schemas.microsoft.com/office/drawing/2014/main" id="{E686C519-79D5-4C46-9051-D6335F8F0F8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2369737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Slide_Dark Blue">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9" name="Rectangle 8">
            <a:extLst>
              <a:ext uri="{FF2B5EF4-FFF2-40B4-BE49-F238E27FC236}">
                <a16:creationId xmlns:a16="http://schemas.microsoft.com/office/drawing/2014/main" id="{0C6FE705-6D88-4A7E-A26B-64265FE8E421}"/>
              </a:ext>
            </a:extLst>
          </p:cNvPr>
          <p:cNvSpPr/>
          <p:nvPr userDrawn="1"/>
        </p:nvSpPr>
        <p:spPr bwMode="auto">
          <a:xfrm rot="10800000" flipH="1">
            <a:off x="8042633" y="-2"/>
            <a:ext cx="5484681" cy="4905831"/>
          </a:xfrm>
          <a:prstGeom prst="rect">
            <a:avLst/>
          </a:prstGeom>
          <a:solidFill>
            <a:schemeClr val="accent3">
              <a:alpha val="90000"/>
            </a:schemeClr>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12" name="Title 1">
            <a:extLst>
              <a:ext uri="{FF2B5EF4-FFF2-40B4-BE49-F238E27FC236}">
                <a16:creationId xmlns:a16="http://schemas.microsoft.com/office/drawing/2014/main" id="{99BA526C-2388-4B8E-9C82-99BF1B2E5E16}"/>
              </a:ext>
            </a:extLst>
          </p:cNvPr>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3" name="Text Placeholder 13">
            <a:extLst>
              <a:ext uri="{FF2B5EF4-FFF2-40B4-BE49-F238E27FC236}">
                <a16:creationId xmlns:a16="http://schemas.microsoft.com/office/drawing/2014/main" id="{F26B668D-B4AF-419C-A0B0-B6ED74C0EBF1}"/>
              </a:ext>
            </a:extLst>
          </p:cNvPr>
          <p:cNvSpPr>
            <a:spLocks noGrp="1"/>
          </p:cNvSpPr>
          <p:nvPr>
            <p:ph type="body" sz="quarter" idx="12" hasCustomPrompt="1"/>
          </p:nvPr>
        </p:nvSpPr>
        <p:spPr>
          <a:xfrm>
            <a:off x="8385532" y="3541035"/>
            <a:ext cx="4677325" cy="910340"/>
          </a:xfrm>
        </p:spPr>
        <p:txBody>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15" name="Straight Connector 14">
            <a:extLst>
              <a:ext uri="{FF2B5EF4-FFF2-40B4-BE49-F238E27FC236}">
                <a16:creationId xmlns:a16="http://schemas.microsoft.com/office/drawing/2014/main" id="{58104A71-A20C-43AF-A4BC-F6785475384E}"/>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14" name="Picture 13" descr="A picture containing drawing&#10;&#10;Description automatically generated">
            <a:extLst>
              <a:ext uri="{FF2B5EF4-FFF2-40B4-BE49-F238E27FC236}">
                <a16:creationId xmlns:a16="http://schemas.microsoft.com/office/drawing/2014/main" id="{B87FEC5B-2BAB-0145-AF69-7D9B7830F2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3224170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_Light Blue">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21" name="Rectangle 20">
            <a:extLst>
              <a:ext uri="{FF2B5EF4-FFF2-40B4-BE49-F238E27FC236}">
                <a16:creationId xmlns:a16="http://schemas.microsoft.com/office/drawing/2014/main" id="{D132A652-9016-4B4C-8E85-A218329D3F82}"/>
              </a:ext>
            </a:extLst>
          </p:cNvPr>
          <p:cNvSpPr/>
          <p:nvPr userDrawn="1"/>
        </p:nvSpPr>
        <p:spPr bwMode="auto">
          <a:xfrm rot="10800000" flipH="1">
            <a:off x="8042633" y="-2"/>
            <a:ext cx="5484681" cy="4905831"/>
          </a:xfrm>
          <a:prstGeom prst="rect">
            <a:avLst/>
          </a:prstGeom>
          <a:solidFill>
            <a:schemeClr val="accent4">
              <a:alpha val="90000"/>
            </a:schemeClr>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2" name="Title 1"/>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4" name="Text Placeholder 13"/>
          <p:cNvSpPr>
            <a:spLocks noGrp="1"/>
          </p:cNvSpPr>
          <p:nvPr>
            <p:ph type="body" sz="quarter" idx="12" hasCustomPrompt="1"/>
          </p:nvPr>
        </p:nvSpPr>
        <p:spPr>
          <a:xfrm>
            <a:off x="8385532" y="3541035"/>
            <a:ext cx="4677325" cy="910340"/>
          </a:xfrm>
        </p:spPr>
        <p:txBody>
          <a:bodyPr>
            <a:normAutofit/>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22" name="Straight Connector 21">
            <a:extLst>
              <a:ext uri="{FF2B5EF4-FFF2-40B4-BE49-F238E27FC236}">
                <a16:creationId xmlns:a16="http://schemas.microsoft.com/office/drawing/2014/main" id="{BBF88000-7B56-4D8D-A5F1-E902F2A80D1B}"/>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picture containing drawing&#10;&#10;Description automatically generated">
            <a:extLst>
              <a:ext uri="{FF2B5EF4-FFF2-40B4-BE49-F238E27FC236}">
                <a16:creationId xmlns:a16="http://schemas.microsoft.com/office/drawing/2014/main" id="{4DEDB0E8-686C-A344-A796-E7E7B8CD892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28433619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Slide_Green">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14" name="Rectangle 13">
            <a:extLst>
              <a:ext uri="{FF2B5EF4-FFF2-40B4-BE49-F238E27FC236}">
                <a16:creationId xmlns:a16="http://schemas.microsoft.com/office/drawing/2014/main" id="{B6BAC84B-DB1F-4A2C-9962-2A96E9C5D801}"/>
              </a:ext>
            </a:extLst>
          </p:cNvPr>
          <p:cNvSpPr/>
          <p:nvPr userDrawn="1"/>
        </p:nvSpPr>
        <p:spPr bwMode="auto">
          <a:xfrm rot="10800000" flipH="1">
            <a:off x="8042633" y="-2"/>
            <a:ext cx="5484681" cy="4905831"/>
          </a:xfrm>
          <a:prstGeom prst="rect">
            <a:avLst/>
          </a:prstGeom>
          <a:solidFill>
            <a:schemeClr val="accent2">
              <a:alpha val="9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7" name="Title 1">
            <a:extLst>
              <a:ext uri="{FF2B5EF4-FFF2-40B4-BE49-F238E27FC236}">
                <a16:creationId xmlns:a16="http://schemas.microsoft.com/office/drawing/2014/main" id="{8C88A2C2-4EC7-4208-A617-EC0D297E2C24}"/>
              </a:ext>
            </a:extLst>
          </p:cNvPr>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8" name="Text Placeholder 13">
            <a:extLst>
              <a:ext uri="{FF2B5EF4-FFF2-40B4-BE49-F238E27FC236}">
                <a16:creationId xmlns:a16="http://schemas.microsoft.com/office/drawing/2014/main" id="{A433C3C5-0A17-433E-8C19-7712AD842019}"/>
              </a:ext>
            </a:extLst>
          </p:cNvPr>
          <p:cNvSpPr>
            <a:spLocks noGrp="1"/>
          </p:cNvSpPr>
          <p:nvPr>
            <p:ph type="body" sz="quarter" idx="12" hasCustomPrompt="1"/>
          </p:nvPr>
        </p:nvSpPr>
        <p:spPr>
          <a:xfrm>
            <a:off x="8385532" y="3541035"/>
            <a:ext cx="4677325" cy="910340"/>
          </a:xfrm>
        </p:spPr>
        <p:txBody>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19" name="Straight Connector 18">
            <a:extLst>
              <a:ext uri="{FF2B5EF4-FFF2-40B4-BE49-F238E27FC236}">
                <a16:creationId xmlns:a16="http://schemas.microsoft.com/office/drawing/2014/main" id="{225BFFE4-305A-4D0D-9AC7-8F015A13EEFD}"/>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picture containing drawing&#10;&#10;Description automatically generated">
            <a:extLst>
              <a:ext uri="{FF2B5EF4-FFF2-40B4-BE49-F238E27FC236}">
                <a16:creationId xmlns:a16="http://schemas.microsoft.com/office/drawing/2014/main" id="{E686C519-79D5-4C46-9051-D6335F8F0F8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23570912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reaker_Blue ">
    <p:spTree>
      <p:nvGrpSpPr>
        <p:cNvPr id="1" name=""/>
        <p:cNvGrpSpPr/>
        <p:nvPr/>
      </p:nvGrpSpPr>
      <p:grpSpPr>
        <a:xfrm>
          <a:off x="0" y="0"/>
          <a:ext cx="0" cy="0"/>
          <a:chOff x="0" y="0"/>
          <a:chExt cx="0" cy="0"/>
        </a:xfrm>
      </p:grpSpPr>
      <p:sp>
        <p:nvSpPr>
          <p:cNvPr id="9" name="Rectangle 8"/>
          <p:cNvSpPr/>
          <p:nvPr userDrawn="1"/>
        </p:nvSpPr>
        <p:spPr>
          <a:xfrm>
            <a:off x="0" y="0"/>
            <a:ext cx="14630400" cy="6921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cxnSp>
        <p:nvCxnSpPr>
          <p:cNvPr id="8" name="Straight Connector 7">
            <a:extLst>
              <a:ext uri="{FF2B5EF4-FFF2-40B4-BE49-F238E27FC236}">
                <a16:creationId xmlns:a16="http://schemas.microsoft.com/office/drawing/2014/main" id="{622EDB0A-DB95-4C37-8ABE-0C8D25FCAA38}"/>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11" name="Picture 10" descr="A close up of a sign&#10;&#10;Description automatically generated">
            <a:extLst>
              <a:ext uri="{FF2B5EF4-FFF2-40B4-BE49-F238E27FC236}">
                <a16:creationId xmlns:a16="http://schemas.microsoft.com/office/drawing/2014/main" id="{BD749321-5D9D-6F43-8A4A-8D7137C70B3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37633668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reaker_Dark Blue">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cxnSp>
        <p:nvCxnSpPr>
          <p:cNvPr id="11" name="Straight Connector 10">
            <a:extLst>
              <a:ext uri="{FF2B5EF4-FFF2-40B4-BE49-F238E27FC236}">
                <a16:creationId xmlns:a16="http://schemas.microsoft.com/office/drawing/2014/main" id="{1F86874D-4DAC-4188-AEB5-C3C1D79EA49F}"/>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192F427E-8BD8-4545-9865-E2B462BF148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28118603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reaker_Light Blue">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cxnSp>
        <p:nvCxnSpPr>
          <p:cNvPr id="11" name="Straight Connector 10">
            <a:extLst>
              <a:ext uri="{FF2B5EF4-FFF2-40B4-BE49-F238E27FC236}">
                <a16:creationId xmlns:a16="http://schemas.microsoft.com/office/drawing/2014/main" id="{CC040347-CB71-417F-BB81-B855DAACD6EC}"/>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A659A996-5D23-BE42-AAB2-3E2C5F3FD48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16660483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reaker_Green">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kern="1200" cap="none" baseline="0" dirty="0">
                <a:solidFill>
                  <a:schemeClr val="bg1"/>
                </a:solidFill>
                <a:latin typeface="Arial Black" panose="020B0A04020102020204" pitchFamily="34" charset="0"/>
                <a:ea typeface="Noto Sans Black" panose="020B0A02040504020204" pitchFamily="34" charset="0"/>
                <a:cs typeface="Noto Sans Black" panose="020B0A02040504020204" pitchFamily="34" charset="0"/>
              </a:defRPr>
            </a:lvl1pPr>
          </a:lstStyle>
          <a:p>
            <a:r>
              <a:rPr lang="en-US"/>
              <a:t>Click To Edit Master Title</a:t>
            </a:r>
          </a:p>
        </p:txBody>
      </p:sp>
      <p:cxnSp>
        <p:nvCxnSpPr>
          <p:cNvPr id="11" name="Straight Connector 10">
            <a:extLst>
              <a:ext uri="{FF2B5EF4-FFF2-40B4-BE49-F238E27FC236}">
                <a16:creationId xmlns:a16="http://schemas.microsoft.com/office/drawing/2014/main" id="{CA47820C-7511-44BC-90BE-063594B9CBCF}"/>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CDB6C6DC-AD52-294B-B74E-E268D0A7EB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38641850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esign Guidelines">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503237" y="2652868"/>
            <a:ext cx="8827376" cy="2308324"/>
          </a:xfrm>
          <a:prstGeom prst="rect">
            <a:avLst/>
          </a:prstGeom>
        </p:spPr>
        <p:txBody>
          <a:bodyPr wrap="square">
            <a:spAutoFit/>
          </a:bodyPr>
          <a:lstStyle/>
          <a:p>
            <a:pPr marL="0" indent="0">
              <a:buFont typeface="+mj-lt"/>
              <a:buNone/>
            </a:pPr>
            <a:r>
              <a:rPr lang="en-US" sz="2000">
                <a:solidFill>
                  <a:schemeClr val="bg1"/>
                </a:solidFill>
              </a:rPr>
              <a:t>The following slides have</a:t>
            </a:r>
            <a:r>
              <a:rPr lang="en-US" sz="2000" baseline="0">
                <a:solidFill>
                  <a:schemeClr val="bg1"/>
                </a:solidFill>
              </a:rPr>
              <a:t> been built into the </a:t>
            </a:r>
            <a:r>
              <a:rPr lang="en-US" sz="2000" b="1" baseline="0">
                <a:solidFill>
                  <a:schemeClr val="bg1"/>
                </a:solidFill>
              </a:rPr>
              <a:t>Slide Master </a:t>
            </a:r>
            <a:r>
              <a:rPr lang="en-US" sz="2000" kern="1200" baseline="0">
                <a:solidFill>
                  <a:schemeClr val="bg1"/>
                </a:solidFill>
                <a:latin typeface="+mn-lt"/>
                <a:ea typeface="+mn-ea"/>
                <a:cs typeface="+mn-cs"/>
              </a:rPr>
              <a:t>for reference or to copy and paste for your own slides.</a:t>
            </a:r>
          </a:p>
          <a:p>
            <a:pPr marL="0" indent="0">
              <a:buFont typeface="+mj-lt"/>
              <a:buNone/>
            </a:pPr>
            <a:endParaRPr lang="en-US" sz="2400" kern="1200" baseline="0">
              <a:solidFill>
                <a:schemeClr val="bg1"/>
              </a:solidFill>
              <a:latin typeface="+mn-lt"/>
              <a:ea typeface="+mn-ea"/>
              <a:cs typeface="+mn-cs"/>
            </a:endParaRP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i="1" kern="1200" baseline="0">
                <a:solidFill>
                  <a:schemeClr val="bg1"/>
                </a:solidFill>
                <a:latin typeface="+mn-lt"/>
                <a:ea typeface="+mn-ea"/>
                <a:cs typeface="+mn-cs"/>
              </a:rPr>
              <a:t>To access the Slide Master:</a:t>
            </a: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a:solidFill>
                  <a:schemeClr val="bg1"/>
                </a:solidFill>
              </a:rPr>
              <a:t>Select the </a:t>
            </a:r>
            <a:r>
              <a:rPr lang="en-US" sz="1600" b="1">
                <a:solidFill>
                  <a:schemeClr val="bg1"/>
                </a:solidFill>
              </a:rPr>
              <a:t>View</a:t>
            </a:r>
            <a:r>
              <a:rPr lang="en-US" sz="1600">
                <a:solidFill>
                  <a:schemeClr val="bg1"/>
                </a:solidFill>
              </a:rPr>
              <a:t> tab, then click </a:t>
            </a:r>
            <a:r>
              <a:rPr lang="en-US" sz="1600" b="1">
                <a:solidFill>
                  <a:schemeClr val="bg1"/>
                </a:solidFill>
              </a:rPr>
              <a:t>Slide Master </a:t>
            </a:r>
            <a:r>
              <a:rPr lang="en-US" sz="1600">
                <a:solidFill>
                  <a:schemeClr val="bg1"/>
                </a:solidFill>
              </a:rPr>
              <a:t>in the </a:t>
            </a:r>
            <a:r>
              <a:rPr lang="en-US" sz="1600" b="1">
                <a:solidFill>
                  <a:schemeClr val="bg1"/>
                </a:solidFill>
              </a:rPr>
              <a:t>Master Views</a:t>
            </a:r>
            <a:r>
              <a:rPr lang="en-US" sz="1600">
                <a:solidFill>
                  <a:schemeClr val="bg1"/>
                </a:solidFill>
              </a:rPr>
              <a:t> group.</a:t>
            </a:r>
          </a:p>
          <a:p>
            <a:pPr marL="0" marR="0" lvl="1" indent="0" algn="l" defTabSz="1463040" rtl="0" eaLnBrk="1" fontAlgn="auto" latinLnBrk="0" hangingPunct="1">
              <a:lnSpc>
                <a:spcPct val="100000"/>
              </a:lnSpc>
              <a:spcBef>
                <a:spcPts val="0"/>
              </a:spcBef>
              <a:spcAft>
                <a:spcPts val="0"/>
              </a:spcAft>
              <a:buClrTx/>
              <a:buSzTx/>
              <a:buFont typeface="+mj-lt"/>
              <a:buNone/>
              <a:tabLst/>
              <a:defRPr/>
            </a:pPr>
            <a:endParaRPr lang="en-US" sz="1600">
              <a:solidFill>
                <a:schemeClr val="bg1"/>
              </a:solidFill>
            </a:endParaRP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i="1">
                <a:solidFill>
                  <a:schemeClr val="bg1"/>
                </a:solidFill>
              </a:rPr>
              <a:t>To exit</a:t>
            </a:r>
            <a:r>
              <a:rPr lang="en-US" sz="1600" i="1" baseline="0">
                <a:solidFill>
                  <a:schemeClr val="bg1"/>
                </a:solidFill>
              </a:rPr>
              <a:t> Slide Master View:</a:t>
            </a: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baseline="0">
                <a:solidFill>
                  <a:schemeClr val="bg1"/>
                </a:solidFill>
              </a:rPr>
              <a:t>Select the </a:t>
            </a:r>
            <a:r>
              <a:rPr lang="en-US" sz="1600" b="1" baseline="0">
                <a:solidFill>
                  <a:schemeClr val="bg1"/>
                </a:solidFill>
              </a:rPr>
              <a:t>Slide Master </a:t>
            </a:r>
            <a:r>
              <a:rPr lang="en-US" sz="1600" b="0" baseline="0">
                <a:solidFill>
                  <a:schemeClr val="bg1"/>
                </a:solidFill>
              </a:rPr>
              <a:t>tab, then click</a:t>
            </a:r>
            <a:r>
              <a:rPr lang="en-US" sz="1600" baseline="0">
                <a:solidFill>
                  <a:schemeClr val="bg1"/>
                </a:solidFill>
              </a:rPr>
              <a:t> </a:t>
            </a:r>
            <a:r>
              <a:rPr lang="en-US" sz="1600" b="1" baseline="0">
                <a:solidFill>
                  <a:schemeClr val="bg1"/>
                </a:solidFill>
              </a:rPr>
              <a:t>Close Master View </a:t>
            </a:r>
            <a:r>
              <a:rPr lang="en-US" sz="1600" b="0" baseline="0">
                <a:solidFill>
                  <a:schemeClr val="bg1"/>
                </a:solidFill>
              </a:rPr>
              <a:t>on the far right.</a:t>
            </a:r>
            <a:endParaRPr lang="en-US" sz="1600">
              <a:solidFill>
                <a:schemeClr val="bg1"/>
              </a:solidFill>
            </a:endParaRPr>
          </a:p>
        </p:txBody>
      </p:sp>
      <p:sp>
        <p:nvSpPr>
          <p:cNvPr id="10" name="Rectangle 9"/>
          <p:cNvSpPr/>
          <p:nvPr userDrawn="1"/>
        </p:nvSpPr>
        <p:spPr>
          <a:xfrm>
            <a:off x="503237" y="1622954"/>
            <a:ext cx="10786803" cy="584775"/>
          </a:xfrm>
          <a:prstGeom prst="rect">
            <a:avLst/>
          </a:prstGeom>
        </p:spPr>
        <p:txBody>
          <a:bodyPr wrap="square">
            <a:spAutoFit/>
          </a:bodyPr>
          <a:lstStyle/>
          <a:p>
            <a:r>
              <a:rPr kumimoji="0" lang="en-US" sz="3200" b="1" i="0" u="none" strike="noStrike" kern="1200" cap="none" spc="0" normalizeH="0" baseline="0" noProof="0">
                <a:ln>
                  <a:noFill/>
                </a:ln>
                <a:solidFill>
                  <a:schemeClr val="bg1"/>
                </a:solidFill>
                <a:effectLst/>
                <a:uLnTx/>
                <a:uFillTx/>
                <a:latin typeface="Arial Black" panose="020B0604020202020204" pitchFamily="34" charset="0"/>
                <a:ea typeface="+mj-ea"/>
                <a:cs typeface="Arial Black" panose="020B0604020202020204" pitchFamily="34" charset="0"/>
              </a:rPr>
              <a:t>Design Guidelines</a:t>
            </a:r>
            <a:endParaRPr lang="en-US" b="1" i="0">
              <a:solidFill>
                <a:schemeClr val="bg1"/>
              </a:solidFill>
              <a:latin typeface="Arial Black" panose="020B0604020202020204" pitchFamily="34" charset="0"/>
              <a:cs typeface="Arial Black" panose="020B0604020202020204" pitchFamily="34" charset="0"/>
            </a:endParaRPr>
          </a:p>
        </p:txBody>
      </p:sp>
      <p:cxnSp>
        <p:nvCxnSpPr>
          <p:cNvPr id="8" name="Straight Connector 7">
            <a:extLst>
              <a:ext uri="{FF2B5EF4-FFF2-40B4-BE49-F238E27FC236}">
                <a16:creationId xmlns:a16="http://schemas.microsoft.com/office/drawing/2014/main" id="{E89F975C-E5FE-40A0-AF0B-9D44473EEA2C}"/>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7AB37486-87D7-A448-824E-57CC477ED2E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42160805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you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E8EBC4B-4841-4144-914E-F5940E6DB640}"/>
              </a:ext>
            </a:extLst>
          </p:cNvPr>
          <p:cNvPicPr>
            <a:picLocks noChangeAspect="1"/>
          </p:cNvPicPr>
          <p:nvPr userDrawn="1"/>
        </p:nvPicPr>
        <p:blipFill rotWithShape="1">
          <a:blip r:embed="rId2"/>
          <a:srcRect b="28908"/>
          <a:stretch/>
        </p:blipFill>
        <p:spPr>
          <a:xfrm>
            <a:off x="5178418" y="0"/>
            <a:ext cx="9451981" cy="8229600"/>
          </a:xfrm>
          <a:prstGeom prst="rect">
            <a:avLst/>
          </a:prstGeom>
        </p:spPr>
      </p:pic>
      <p:sp>
        <p:nvSpPr>
          <p:cNvPr id="2" name="Title 1"/>
          <p:cNvSpPr>
            <a:spLocks noGrp="1"/>
          </p:cNvSpPr>
          <p:nvPr>
            <p:ph type="title" hasCustomPrompt="1"/>
          </p:nvPr>
        </p:nvSpPr>
        <p:spPr/>
        <p:txBody>
          <a:bodyPr/>
          <a:lstStyle>
            <a:lvl1pPr>
              <a:defRPr/>
            </a:lvl1pPr>
          </a:lstStyle>
          <a:p>
            <a:r>
              <a:rPr lang="en-US"/>
              <a:t>Layouts</a:t>
            </a:r>
          </a:p>
        </p:txBody>
      </p:sp>
      <p:cxnSp>
        <p:nvCxnSpPr>
          <p:cNvPr id="11" name="Straight Arrow Connector 10">
            <a:extLst>
              <a:ext uri="{FF2B5EF4-FFF2-40B4-BE49-F238E27FC236}">
                <a16:creationId xmlns:a16="http://schemas.microsoft.com/office/drawing/2014/main" id="{85490B67-1A61-44AA-9905-8C9E991C4A99}"/>
              </a:ext>
            </a:extLst>
          </p:cNvPr>
          <p:cNvCxnSpPr>
            <a:cxnSpLocks/>
          </p:cNvCxnSpPr>
          <p:nvPr userDrawn="1"/>
        </p:nvCxnSpPr>
        <p:spPr>
          <a:xfrm flipV="1">
            <a:off x="3900196" y="1440180"/>
            <a:ext cx="4397984" cy="922085"/>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7" name="TextBox 6">
            <a:extLst>
              <a:ext uri="{FF2B5EF4-FFF2-40B4-BE49-F238E27FC236}">
                <a16:creationId xmlns:a16="http://schemas.microsoft.com/office/drawing/2014/main" id="{7CEDAE55-87F3-4C9B-9DD7-9945AFAF7AEB}"/>
              </a:ext>
            </a:extLst>
          </p:cNvPr>
          <p:cNvSpPr txBox="1"/>
          <p:nvPr userDrawn="1"/>
        </p:nvSpPr>
        <p:spPr>
          <a:xfrm>
            <a:off x="503237" y="1655391"/>
            <a:ext cx="3396958" cy="1631216"/>
          </a:xfrm>
          <a:prstGeom prst="rect">
            <a:avLst/>
          </a:prstGeom>
          <a:noFill/>
        </p:spPr>
        <p:txBody>
          <a:bodyPr wrap="square" rtlCol="0">
            <a:spAutoFit/>
          </a:bodyPr>
          <a:lstStyle/>
          <a:p>
            <a:pPr marL="0" indent="0">
              <a:buNone/>
            </a:pPr>
            <a:r>
              <a:rPr lang="en-US" sz="2000"/>
              <a:t>Insert any layout option by clicking on the </a:t>
            </a:r>
            <a:r>
              <a:rPr lang="en-US" sz="2000" b="1"/>
              <a:t>New Slide </a:t>
            </a:r>
            <a:r>
              <a:rPr lang="en-US" sz="2000"/>
              <a:t>arrow under the </a:t>
            </a:r>
            <a:r>
              <a:rPr lang="en-US" sz="2000" b="1"/>
              <a:t>Home </a:t>
            </a:r>
            <a:r>
              <a:rPr lang="en-US" sz="2000"/>
              <a:t>tab and selecting one of the </a:t>
            </a:r>
            <a:r>
              <a:rPr lang="en-US" sz="2000" b="1"/>
              <a:t>Layouts</a:t>
            </a:r>
            <a:r>
              <a:rPr lang="en-US" sz="2000"/>
              <a:t>.</a:t>
            </a:r>
          </a:p>
        </p:txBody>
      </p:sp>
      <p:sp>
        <p:nvSpPr>
          <p:cNvPr id="15" name="Rounded Rectangle 5">
            <a:extLst>
              <a:ext uri="{FF2B5EF4-FFF2-40B4-BE49-F238E27FC236}">
                <a16:creationId xmlns:a16="http://schemas.microsoft.com/office/drawing/2014/main" id="{72972A9B-604E-496C-8394-1D4D7FF8B187}"/>
              </a:ext>
            </a:extLst>
          </p:cNvPr>
          <p:cNvSpPr/>
          <p:nvPr userDrawn="1"/>
        </p:nvSpPr>
        <p:spPr>
          <a:xfrm>
            <a:off x="8456084" y="1210733"/>
            <a:ext cx="620184" cy="410634"/>
          </a:xfrm>
          <a:prstGeom prst="roundRect">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spTree>
    <p:extLst>
      <p:ext uri="{BB962C8B-B14F-4D97-AF65-F5344CB8AC3E}">
        <p14:creationId xmlns:p14="http://schemas.microsoft.com/office/powerpoint/2010/main" val="7102026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age Number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Page Numbers</a:t>
            </a:r>
          </a:p>
        </p:txBody>
      </p:sp>
      <p:pic>
        <p:nvPicPr>
          <p:cNvPr id="36" name="Picture 35">
            <a:extLst>
              <a:ext uri="{FF2B5EF4-FFF2-40B4-BE49-F238E27FC236}">
                <a16:creationId xmlns:a16="http://schemas.microsoft.com/office/drawing/2014/main" id="{41E72BD6-1406-495E-952A-CF2DE70C51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555" t="1358" r="1345" b="1715"/>
          <a:stretch/>
        </p:blipFill>
        <p:spPr>
          <a:xfrm>
            <a:off x="5317351" y="3267634"/>
            <a:ext cx="4787153" cy="3363687"/>
          </a:xfrm>
          <a:prstGeom prst="rect">
            <a:avLst/>
          </a:prstGeom>
        </p:spPr>
      </p:pic>
      <p:cxnSp>
        <p:nvCxnSpPr>
          <p:cNvPr id="38" name="Straight Arrow Connector 37">
            <a:extLst>
              <a:ext uri="{FF2B5EF4-FFF2-40B4-BE49-F238E27FC236}">
                <a16:creationId xmlns:a16="http://schemas.microsoft.com/office/drawing/2014/main" id="{3511D3D5-96C3-47C3-B25E-057B31CF06FA}"/>
              </a:ext>
            </a:extLst>
          </p:cNvPr>
          <p:cNvCxnSpPr>
            <a:cxnSpLocks/>
          </p:cNvCxnSpPr>
          <p:nvPr userDrawn="1"/>
        </p:nvCxnSpPr>
        <p:spPr bwMode="auto">
          <a:xfrm>
            <a:off x="6320118" y="5371652"/>
            <a:ext cx="7660082" cy="2413702"/>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3" name="Rectangle 2">
            <a:extLst>
              <a:ext uri="{FF2B5EF4-FFF2-40B4-BE49-F238E27FC236}">
                <a16:creationId xmlns:a16="http://schemas.microsoft.com/office/drawing/2014/main" id="{AC3A50EC-247C-F54C-9F53-2DD348C6FA73}"/>
              </a:ext>
            </a:extLst>
          </p:cNvPr>
          <p:cNvSpPr/>
          <p:nvPr userDrawn="1"/>
        </p:nvSpPr>
        <p:spPr bwMode="auto">
          <a:xfrm>
            <a:off x="5553602" y="5458927"/>
            <a:ext cx="88900" cy="84667"/>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4" name="Rectangle 13">
            <a:extLst>
              <a:ext uri="{FF2B5EF4-FFF2-40B4-BE49-F238E27FC236}">
                <a16:creationId xmlns:a16="http://schemas.microsoft.com/office/drawing/2014/main" id="{B9D60A97-F581-1D46-AD0B-EE48CFE814ED}"/>
              </a:ext>
            </a:extLst>
          </p:cNvPr>
          <p:cNvSpPr/>
          <p:nvPr userDrawn="1"/>
        </p:nvSpPr>
        <p:spPr bwMode="auto">
          <a:xfrm>
            <a:off x="5730981" y="5640961"/>
            <a:ext cx="940220" cy="97366"/>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grpSp>
        <p:nvGrpSpPr>
          <p:cNvPr id="4" name="Group 3">
            <a:extLst>
              <a:ext uri="{FF2B5EF4-FFF2-40B4-BE49-F238E27FC236}">
                <a16:creationId xmlns:a16="http://schemas.microsoft.com/office/drawing/2014/main" id="{8F27A163-EBAF-3C80-89EB-D04FA8D22D4E}"/>
              </a:ext>
            </a:extLst>
          </p:cNvPr>
          <p:cNvGrpSpPr/>
          <p:nvPr userDrawn="1"/>
        </p:nvGrpSpPr>
        <p:grpSpPr>
          <a:xfrm>
            <a:off x="571501" y="1708437"/>
            <a:ext cx="9533004" cy="1073183"/>
            <a:chOff x="571501" y="2111848"/>
            <a:chExt cx="9533004" cy="1073183"/>
          </a:xfrm>
        </p:grpSpPr>
        <p:pic>
          <p:nvPicPr>
            <p:cNvPr id="5" name="Picture 4">
              <a:extLst>
                <a:ext uri="{FF2B5EF4-FFF2-40B4-BE49-F238E27FC236}">
                  <a16:creationId xmlns:a16="http://schemas.microsoft.com/office/drawing/2014/main" id="{3AABD534-E061-A8DD-FA21-BD84ED5EEA6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 r="691" b="6640"/>
            <a:stretch/>
          </p:blipFill>
          <p:spPr>
            <a:xfrm>
              <a:off x="571501" y="2111848"/>
              <a:ext cx="9533004" cy="1073183"/>
            </a:xfrm>
            <a:prstGeom prst="rect">
              <a:avLst/>
            </a:prstGeom>
          </p:spPr>
        </p:pic>
        <p:sp>
          <p:nvSpPr>
            <p:cNvPr id="6" name="Rounded Rectangle 60">
              <a:extLst>
                <a:ext uri="{FF2B5EF4-FFF2-40B4-BE49-F238E27FC236}">
                  <a16:creationId xmlns:a16="http://schemas.microsoft.com/office/drawing/2014/main" id="{39E9F5EF-2D28-0335-63A5-82462A029005}"/>
                </a:ext>
              </a:extLst>
            </p:cNvPr>
            <p:cNvSpPr/>
            <p:nvPr/>
          </p:nvSpPr>
          <p:spPr bwMode="auto">
            <a:xfrm>
              <a:off x="8938593" y="2290422"/>
              <a:ext cx="627653" cy="772818"/>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grpSp>
      <p:sp>
        <p:nvSpPr>
          <p:cNvPr id="10" name="Text Placeholder 3">
            <a:extLst>
              <a:ext uri="{FF2B5EF4-FFF2-40B4-BE49-F238E27FC236}">
                <a16:creationId xmlns:a16="http://schemas.microsoft.com/office/drawing/2014/main" id="{3E250C53-5C88-4233-A42F-A60829B6B712}"/>
              </a:ext>
            </a:extLst>
          </p:cNvPr>
          <p:cNvSpPr txBox="1">
            <a:spLocks/>
          </p:cNvSpPr>
          <p:nvPr userDrawn="1"/>
        </p:nvSpPr>
        <p:spPr>
          <a:xfrm>
            <a:off x="10668601" y="1597026"/>
            <a:ext cx="3602203" cy="3451004"/>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add page numbers on </a:t>
            </a:r>
            <a:br>
              <a:rPr lang="en-US" sz="2000"/>
            </a:br>
            <a:r>
              <a:rPr lang="en-US" sz="2000"/>
              <a:t>all slides, go to </a:t>
            </a:r>
            <a:r>
              <a:rPr lang="en-US" sz="2000" b="1"/>
              <a:t>Insert</a:t>
            </a:r>
            <a:r>
              <a:rPr lang="en-US" sz="2000"/>
              <a:t> &gt; </a:t>
            </a:r>
            <a:r>
              <a:rPr lang="en-US" sz="2000" b="1"/>
              <a:t>Header &amp; Footer</a:t>
            </a:r>
            <a:r>
              <a:rPr lang="en-US" sz="2000"/>
              <a:t>. Check the </a:t>
            </a:r>
            <a:r>
              <a:rPr lang="en-US" sz="2000" b="1"/>
              <a:t>Slide Number </a:t>
            </a:r>
            <a:r>
              <a:rPr lang="en-US" sz="2000"/>
              <a:t>line and click </a:t>
            </a:r>
            <a:r>
              <a:rPr lang="en-US" sz="2000" b="1"/>
              <a:t>Apply to All</a:t>
            </a:r>
            <a:r>
              <a:rPr lang="en-US" sz="2000"/>
              <a:t>.</a:t>
            </a:r>
          </a:p>
          <a:p>
            <a:pPr marL="0" indent="0">
              <a:spcBef>
                <a:spcPts val="600"/>
              </a:spcBef>
              <a:spcAft>
                <a:spcPts val="600"/>
              </a:spcAft>
              <a:buNone/>
            </a:pPr>
            <a:r>
              <a:rPr lang="en-US" sz="2000"/>
              <a:t>Page numbers should be Arial 10pt, black. When on top of a colored shape or photo, change the color of the page number to white. </a:t>
            </a:r>
            <a:endParaRPr lang="en-US" sz="2000" b="1"/>
          </a:p>
        </p:txBody>
      </p:sp>
    </p:spTree>
    <p:extLst>
      <p:ext uri="{BB962C8B-B14F-4D97-AF65-F5344CB8AC3E}">
        <p14:creationId xmlns:p14="http://schemas.microsoft.com/office/powerpoint/2010/main" val="17788942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Charts</a:t>
            </a:r>
          </a:p>
        </p:txBody>
      </p:sp>
      <p:sp>
        <p:nvSpPr>
          <p:cNvPr id="10" name="Text Placeholder 3">
            <a:extLst>
              <a:ext uri="{FF2B5EF4-FFF2-40B4-BE49-F238E27FC236}">
                <a16:creationId xmlns:a16="http://schemas.microsoft.com/office/drawing/2014/main" id="{3E250C53-5C88-4233-A42F-A60829B6B712}"/>
              </a:ext>
            </a:extLst>
          </p:cNvPr>
          <p:cNvSpPr txBox="1">
            <a:spLocks/>
          </p:cNvSpPr>
          <p:nvPr userDrawn="1"/>
        </p:nvSpPr>
        <p:spPr>
          <a:xfrm>
            <a:off x="6176602" y="1655391"/>
            <a:ext cx="3657600" cy="3485960"/>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import the Emerson chart templates into your local PowerPoint settings:</a:t>
            </a:r>
          </a:p>
          <a:p>
            <a:pPr marL="457200" indent="-457200">
              <a:spcBef>
                <a:spcPts val="600"/>
              </a:spcBef>
              <a:spcAft>
                <a:spcPts val="600"/>
              </a:spcAft>
              <a:buClr>
                <a:schemeClr val="accent1"/>
              </a:buClr>
              <a:buFont typeface="+mj-lt"/>
              <a:buAutoNum type="arabicPeriod"/>
            </a:pPr>
            <a:r>
              <a:rPr lang="en-US" sz="2000"/>
              <a:t>Go to </a:t>
            </a:r>
            <a:r>
              <a:rPr lang="en-US" sz="2000" b="1"/>
              <a:t>Insert</a:t>
            </a:r>
            <a:r>
              <a:rPr lang="en-US" sz="2000"/>
              <a:t> &gt; </a:t>
            </a:r>
            <a:r>
              <a:rPr lang="en-US" sz="2000" b="1"/>
              <a:t>Chart</a:t>
            </a:r>
            <a:r>
              <a:rPr lang="en-US" sz="2000"/>
              <a:t>. Navigate to the folder by selecting </a:t>
            </a:r>
            <a:r>
              <a:rPr lang="en-US" sz="2000" b="1"/>
              <a:t>Templates </a:t>
            </a:r>
            <a:r>
              <a:rPr lang="en-US" sz="2000"/>
              <a:t>and </a:t>
            </a:r>
            <a:r>
              <a:rPr lang="en-US" sz="2000" b="1"/>
              <a:t>Manage Templates</a:t>
            </a:r>
            <a:r>
              <a:rPr lang="en-US" sz="2000"/>
              <a:t>.</a:t>
            </a:r>
          </a:p>
          <a:p>
            <a:pPr marL="457200" indent="-457200">
              <a:spcBef>
                <a:spcPts val="600"/>
              </a:spcBef>
              <a:spcAft>
                <a:spcPts val="600"/>
              </a:spcAft>
              <a:buClr>
                <a:schemeClr val="accent1"/>
              </a:buClr>
              <a:buFont typeface="+mj-lt"/>
              <a:buAutoNum type="arabicPeriod"/>
            </a:pPr>
            <a:r>
              <a:rPr lang="en-US" sz="2000" b="0"/>
              <a:t>Save Emerson </a:t>
            </a:r>
            <a:r>
              <a:rPr lang="en-US" sz="2000" b="1"/>
              <a:t>.</a:t>
            </a:r>
            <a:r>
              <a:rPr lang="en-US" sz="2000" b="1" err="1"/>
              <a:t>crtx</a:t>
            </a:r>
            <a:r>
              <a:rPr lang="en-US" sz="2000" b="1"/>
              <a:t> chart template files </a:t>
            </a:r>
            <a:r>
              <a:rPr lang="en-US" sz="2000" b="0"/>
              <a:t>from the Marketing Hub to the resulting folder.</a:t>
            </a:r>
          </a:p>
        </p:txBody>
      </p:sp>
      <p:pic>
        <p:nvPicPr>
          <p:cNvPr id="11" name="Picture 10">
            <a:extLst>
              <a:ext uri="{FF2B5EF4-FFF2-40B4-BE49-F238E27FC236}">
                <a16:creationId xmlns:a16="http://schemas.microsoft.com/office/drawing/2014/main" id="{FE03A36D-47B8-4752-AD56-2FB1803E91EF}"/>
              </a:ext>
            </a:extLst>
          </p:cNvPr>
          <p:cNvPicPr>
            <a:picLocks noChangeAspect="1"/>
          </p:cNvPicPr>
          <p:nvPr userDrawn="1"/>
        </p:nvPicPr>
        <p:blipFill rotWithShape="1">
          <a:blip r:embed="rId2"/>
          <a:srcRect t="3441"/>
          <a:stretch/>
        </p:blipFill>
        <p:spPr>
          <a:xfrm>
            <a:off x="822245" y="1727886"/>
            <a:ext cx="4519114" cy="1044430"/>
          </a:xfrm>
          <a:prstGeom prst="rect">
            <a:avLst/>
          </a:prstGeom>
        </p:spPr>
      </p:pic>
      <p:sp>
        <p:nvSpPr>
          <p:cNvPr id="15" name="Rounded Rectangle 60">
            <a:extLst>
              <a:ext uri="{FF2B5EF4-FFF2-40B4-BE49-F238E27FC236}">
                <a16:creationId xmlns:a16="http://schemas.microsoft.com/office/drawing/2014/main" id="{B748D541-2692-4935-ACC5-10DC72BB123E}"/>
              </a:ext>
            </a:extLst>
          </p:cNvPr>
          <p:cNvSpPr/>
          <p:nvPr userDrawn="1"/>
        </p:nvSpPr>
        <p:spPr bwMode="auto">
          <a:xfrm>
            <a:off x="4358593" y="2338268"/>
            <a:ext cx="548640" cy="274320"/>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pic>
        <p:nvPicPr>
          <p:cNvPr id="18" name="Picture 17">
            <a:extLst>
              <a:ext uri="{FF2B5EF4-FFF2-40B4-BE49-F238E27FC236}">
                <a16:creationId xmlns:a16="http://schemas.microsoft.com/office/drawing/2014/main" id="{D3CAB2E6-2F67-4779-9812-265DC9FB3AF8}"/>
              </a:ext>
            </a:extLst>
          </p:cNvPr>
          <p:cNvPicPr>
            <a:picLocks noChangeAspect="1"/>
          </p:cNvPicPr>
          <p:nvPr userDrawn="1"/>
        </p:nvPicPr>
        <p:blipFill>
          <a:blip r:embed="rId3"/>
          <a:stretch>
            <a:fillRect/>
          </a:stretch>
        </p:blipFill>
        <p:spPr>
          <a:xfrm>
            <a:off x="503237" y="2005805"/>
            <a:ext cx="3025236" cy="2747720"/>
          </a:xfrm>
          <a:prstGeom prst="rect">
            <a:avLst/>
          </a:prstGeom>
        </p:spPr>
      </p:pic>
      <p:sp>
        <p:nvSpPr>
          <p:cNvPr id="25" name="Rounded Rectangle 60">
            <a:extLst>
              <a:ext uri="{FF2B5EF4-FFF2-40B4-BE49-F238E27FC236}">
                <a16:creationId xmlns:a16="http://schemas.microsoft.com/office/drawing/2014/main" id="{6E94200E-767A-4BFC-9C98-429297813A93}"/>
              </a:ext>
            </a:extLst>
          </p:cNvPr>
          <p:cNvSpPr/>
          <p:nvPr userDrawn="1"/>
        </p:nvSpPr>
        <p:spPr bwMode="auto">
          <a:xfrm>
            <a:off x="581404" y="2406595"/>
            <a:ext cx="548053" cy="132522"/>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pic>
        <p:nvPicPr>
          <p:cNvPr id="4" name="Picture 3">
            <a:extLst>
              <a:ext uri="{FF2B5EF4-FFF2-40B4-BE49-F238E27FC236}">
                <a16:creationId xmlns:a16="http://schemas.microsoft.com/office/drawing/2014/main" id="{7AB59E4B-FBB4-447B-9421-09BA1E895269}"/>
              </a:ext>
            </a:extLst>
          </p:cNvPr>
          <p:cNvPicPr>
            <a:picLocks noChangeAspect="1"/>
          </p:cNvPicPr>
          <p:nvPr userDrawn="1"/>
        </p:nvPicPr>
        <p:blipFill rotWithShape="1">
          <a:blip r:embed="rId4"/>
          <a:srcRect r="47172" b="35487"/>
          <a:stretch/>
        </p:blipFill>
        <p:spPr>
          <a:xfrm>
            <a:off x="1135484" y="4856854"/>
            <a:ext cx="4292028" cy="3289720"/>
          </a:xfrm>
          <a:prstGeom prst="rect">
            <a:avLst/>
          </a:prstGeom>
        </p:spPr>
      </p:pic>
      <p:sp>
        <p:nvSpPr>
          <p:cNvPr id="12" name="Rounded Rectangle 60">
            <a:extLst>
              <a:ext uri="{FF2B5EF4-FFF2-40B4-BE49-F238E27FC236}">
                <a16:creationId xmlns:a16="http://schemas.microsoft.com/office/drawing/2014/main" id="{2CC1AA24-9CF7-450E-8C22-98C3CA67F2A1}"/>
              </a:ext>
            </a:extLst>
          </p:cNvPr>
          <p:cNvSpPr/>
          <p:nvPr userDrawn="1"/>
        </p:nvSpPr>
        <p:spPr bwMode="auto">
          <a:xfrm>
            <a:off x="516260" y="4605468"/>
            <a:ext cx="548053" cy="132522"/>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sp>
        <p:nvSpPr>
          <p:cNvPr id="16" name="Rounded Rectangle 60">
            <a:extLst>
              <a:ext uri="{FF2B5EF4-FFF2-40B4-BE49-F238E27FC236}">
                <a16:creationId xmlns:a16="http://schemas.microsoft.com/office/drawing/2014/main" id="{2746F652-8843-47CF-BE63-6CB7752B9FD0}"/>
              </a:ext>
            </a:extLst>
          </p:cNvPr>
          <p:cNvSpPr/>
          <p:nvPr userDrawn="1"/>
        </p:nvSpPr>
        <p:spPr bwMode="auto">
          <a:xfrm>
            <a:off x="2265287" y="5339045"/>
            <a:ext cx="2926080" cy="274320"/>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cxnSp>
        <p:nvCxnSpPr>
          <p:cNvPr id="17" name="Straight Arrow Connector 16">
            <a:extLst>
              <a:ext uri="{FF2B5EF4-FFF2-40B4-BE49-F238E27FC236}">
                <a16:creationId xmlns:a16="http://schemas.microsoft.com/office/drawing/2014/main" id="{837EDF1A-57B8-4A25-BEDB-4D848B7C736A}"/>
              </a:ext>
            </a:extLst>
          </p:cNvPr>
          <p:cNvCxnSpPr>
            <a:cxnSpLocks/>
          </p:cNvCxnSpPr>
          <p:nvPr userDrawn="1"/>
        </p:nvCxnSpPr>
        <p:spPr bwMode="auto">
          <a:xfrm flipH="1">
            <a:off x="5341359" y="5190338"/>
            <a:ext cx="1222727" cy="263405"/>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19" name="Text Placeholder 3">
            <a:extLst>
              <a:ext uri="{FF2B5EF4-FFF2-40B4-BE49-F238E27FC236}">
                <a16:creationId xmlns:a16="http://schemas.microsoft.com/office/drawing/2014/main" id="{1C8F2065-7DF6-4B2D-9EFF-87DE030FEB6A}"/>
              </a:ext>
            </a:extLst>
          </p:cNvPr>
          <p:cNvSpPr txBox="1">
            <a:spLocks/>
          </p:cNvSpPr>
          <p:nvPr userDrawn="1"/>
        </p:nvSpPr>
        <p:spPr>
          <a:xfrm>
            <a:off x="10273619" y="1655391"/>
            <a:ext cx="4182120" cy="3485960"/>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use the Emerson .</a:t>
            </a:r>
            <a:r>
              <a:rPr lang="en-US" sz="2000" err="1"/>
              <a:t>crtx</a:t>
            </a:r>
            <a:r>
              <a:rPr lang="en-US" sz="2000"/>
              <a:t> chart templates once imported:</a:t>
            </a:r>
          </a:p>
          <a:p>
            <a:pPr marL="457200" indent="-457200">
              <a:spcBef>
                <a:spcPts val="600"/>
              </a:spcBef>
              <a:spcAft>
                <a:spcPts val="600"/>
              </a:spcAft>
              <a:buClr>
                <a:schemeClr val="accent1"/>
              </a:buClr>
              <a:buFont typeface="+mj-lt"/>
              <a:buAutoNum type="arabicPeriod"/>
            </a:pPr>
            <a:r>
              <a:rPr lang="en-US" sz="2000"/>
              <a:t>Create a chart or select </a:t>
            </a:r>
            <a:br>
              <a:rPr lang="en-US" sz="2000"/>
            </a:br>
            <a:r>
              <a:rPr lang="en-US" sz="2000"/>
              <a:t>a pre-existing chart.</a:t>
            </a:r>
          </a:p>
          <a:p>
            <a:pPr marL="457200" indent="-457200">
              <a:spcBef>
                <a:spcPts val="600"/>
              </a:spcBef>
              <a:spcAft>
                <a:spcPts val="600"/>
              </a:spcAft>
              <a:buClr>
                <a:schemeClr val="accent1"/>
              </a:buClr>
              <a:buFont typeface="+mj-lt"/>
              <a:buAutoNum type="arabicPeriod"/>
            </a:pPr>
            <a:r>
              <a:rPr lang="en-US" sz="2000" b="0"/>
              <a:t>Click on the </a:t>
            </a:r>
            <a:r>
              <a:rPr lang="en-US" sz="2000" b="1"/>
              <a:t>Chart Design </a:t>
            </a:r>
            <a:r>
              <a:rPr lang="en-US" sz="2000" b="0"/>
              <a:t>tab.</a:t>
            </a:r>
          </a:p>
          <a:p>
            <a:pPr marL="457200" indent="-457200">
              <a:spcBef>
                <a:spcPts val="600"/>
              </a:spcBef>
              <a:spcAft>
                <a:spcPts val="600"/>
              </a:spcAft>
              <a:buClr>
                <a:schemeClr val="accent1"/>
              </a:buClr>
              <a:buFont typeface="+mj-lt"/>
              <a:buAutoNum type="arabicPeriod"/>
            </a:pPr>
            <a:r>
              <a:rPr lang="en-US" sz="2000" b="0"/>
              <a:t>Click </a:t>
            </a:r>
            <a:r>
              <a:rPr lang="en-US" sz="2000" b="1"/>
              <a:t>Change Chart Type</a:t>
            </a:r>
            <a:r>
              <a:rPr lang="en-US" sz="2000" b="0"/>
              <a:t>.</a:t>
            </a:r>
          </a:p>
          <a:p>
            <a:pPr marL="457200" indent="-457200">
              <a:spcBef>
                <a:spcPts val="600"/>
              </a:spcBef>
              <a:spcAft>
                <a:spcPts val="600"/>
              </a:spcAft>
              <a:buClr>
                <a:schemeClr val="accent1"/>
              </a:buClr>
              <a:buFont typeface="+mj-lt"/>
              <a:buAutoNum type="arabicPeriod"/>
            </a:pPr>
            <a:r>
              <a:rPr lang="en-US" sz="2000" b="0"/>
              <a:t>In the dialogue window, select </a:t>
            </a:r>
            <a:r>
              <a:rPr lang="en-US" sz="2000" b="1"/>
              <a:t>Templates </a:t>
            </a:r>
            <a:r>
              <a:rPr lang="en-US" sz="2000" b="0"/>
              <a:t>from the left menu.</a:t>
            </a:r>
          </a:p>
          <a:p>
            <a:pPr marL="457200" indent="-457200">
              <a:spcBef>
                <a:spcPts val="600"/>
              </a:spcBef>
              <a:spcAft>
                <a:spcPts val="600"/>
              </a:spcAft>
              <a:buClr>
                <a:schemeClr val="accent1"/>
              </a:buClr>
              <a:buFont typeface="+mj-lt"/>
              <a:buAutoNum type="arabicPeriod"/>
            </a:pPr>
            <a:r>
              <a:rPr lang="en-US" sz="2000" b="0"/>
              <a:t>Select your desired Emerson chart template, and press </a:t>
            </a:r>
            <a:r>
              <a:rPr lang="en-US" sz="2000" b="1"/>
              <a:t>OK.</a:t>
            </a:r>
            <a:endParaRPr lang="en-US" sz="2000" b="0"/>
          </a:p>
        </p:txBody>
      </p:sp>
    </p:spTree>
    <p:extLst>
      <p:ext uri="{BB962C8B-B14F-4D97-AF65-F5344CB8AC3E}">
        <p14:creationId xmlns:p14="http://schemas.microsoft.com/office/powerpoint/2010/main" val="9320453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Clear Spac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Clear Space for Content </a:t>
            </a:r>
          </a:p>
        </p:txBody>
      </p:sp>
      <p:sp>
        <p:nvSpPr>
          <p:cNvPr id="5" name="Rectangle 4"/>
          <p:cNvSpPr/>
          <p:nvPr userDrawn="1"/>
        </p:nvSpPr>
        <p:spPr bwMode="auto">
          <a:xfrm>
            <a:off x="382687" y="1468876"/>
            <a:ext cx="13877749" cy="6391597"/>
          </a:xfrm>
          <a:prstGeom prst="rect">
            <a:avLst/>
          </a:prstGeom>
          <a:noFill/>
          <a:ln w="38100">
            <a:solidFill>
              <a:schemeClr val="tx2"/>
            </a:solidFill>
            <a:round/>
            <a:headEnd/>
            <a:tailEnd/>
          </a:ln>
          <a:effectLst/>
        </p:spPr>
        <p:txBody>
          <a:bodyPr wrap="square" rtlCol="0" anchor="ctr"/>
          <a:lstStyle/>
          <a:p>
            <a:pPr algn="ctr" eaLnBrk="0" fontAlgn="base" hangingPunct="0">
              <a:spcBef>
                <a:spcPct val="0"/>
              </a:spcBef>
              <a:spcAft>
                <a:spcPct val="0"/>
              </a:spcAft>
            </a:pPr>
            <a: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t>Keep content within this blue space </a:t>
            </a:r>
            <a:b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br>
            <a: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t>so that critical information </a:t>
            </a:r>
            <a:b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br>
            <a: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t>does not get cut off.</a:t>
            </a:r>
          </a:p>
          <a:p>
            <a:pPr algn="ctr" eaLnBrk="0" fontAlgn="base" hangingPunct="0">
              <a:spcBef>
                <a:spcPct val="0"/>
              </a:spcBef>
              <a:spcAft>
                <a:spcPct val="0"/>
              </a:spcAft>
            </a:pPr>
            <a:endParaRPr lang="en-US">
              <a:solidFill>
                <a:schemeClr val="accent1"/>
              </a:solidFill>
              <a:latin typeface="Arial" panose="020B0604020202020204" pitchFamily="34" charset="0"/>
              <a:ea typeface="Noto Sans" panose="020B0502040504020204" pitchFamily="34" charset="0"/>
              <a:cs typeface="Arial" panose="020B0604020202020204" pitchFamily="34" charset="0"/>
            </a:endParaRPr>
          </a:p>
          <a:p>
            <a:pPr algn="ctr" eaLnBrk="0" fontAlgn="base" hangingPunct="0">
              <a:spcBef>
                <a:spcPct val="0"/>
              </a:spcBef>
              <a:spcAft>
                <a:spcPct val="0"/>
              </a:spcAft>
            </a:pPr>
            <a:r>
              <a:rPr lang="en-US" sz="1600" i="1">
                <a:solidFill>
                  <a:schemeClr val="accent1"/>
                </a:solidFill>
                <a:latin typeface="Arial" panose="020B0604020202020204" pitchFamily="34" charset="0"/>
                <a:ea typeface="Noto Sans" panose="020B0502040504020204" pitchFamily="34" charset="0"/>
                <a:cs typeface="Arial" panose="020B0604020202020204" pitchFamily="34" charset="0"/>
              </a:rPr>
              <a:t>Graphics such as color blocks and images can go to the edge of the slide.</a:t>
            </a:r>
          </a:p>
        </p:txBody>
      </p:sp>
      <p:cxnSp>
        <p:nvCxnSpPr>
          <p:cNvPr id="6" name="Straight Arrow Connector 5"/>
          <p:cNvCxnSpPr/>
          <p:nvPr userDrawn="1"/>
        </p:nvCxnSpPr>
        <p:spPr bwMode="auto">
          <a:xfrm flipV="1">
            <a:off x="7315200" y="1633977"/>
            <a:ext cx="0" cy="1517514"/>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cxnSp>
        <p:nvCxnSpPr>
          <p:cNvPr id="7" name="Straight Arrow Connector 6"/>
          <p:cNvCxnSpPr/>
          <p:nvPr userDrawn="1"/>
        </p:nvCxnSpPr>
        <p:spPr bwMode="auto">
          <a:xfrm>
            <a:off x="7315200" y="6326367"/>
            <a:ext cx="0" cy="1324582"/>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cxnSp>
        <p:nvCxnSpPr>
          <p:cNvPr id="8" name="Straight Arrow Connector 7"/>
          <p:cNvCxnSpPr/>
          <p:nvPr userDrawn="1"/>
        </p:nvCxnSpPr>
        <p:spPr bwMode="auto">
          <a:xfrm rot="5400000" flipV="1">
            <a:off x="12412662" y="2248270"/>
            <a:ext cx="0" cy="3429000"/>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cxnSp>
        <p:nvCxnSpPr>
          <p:cNvPr id="9" name="Straight Arrow Connector 8"/>
          <p:cNvCxnSpPr/>
          <p:nvPr userDrawn="1"/>
        </p:nvCxnSpPr>
        <p:spPr bwMode="auto">
          <a:xfrm flipH="1">
            <a:off x="503238" y="4114800"/>
            <a:ext cx="3431764" cy="0"/>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grpSp>
        <p:nvGrpSpPr>
          <p:cNvPr id="13" name="Group 12"/>
          <p:cNvGrpSpPr/>
          <p:nvPr userDrawn="1"/>
        </p:nvGrpSpPr>
        <p:grpSpPr>
          <a:xfrm>
            <a:off x="14332217" y="3992291"/>
            <a:ext cx="218808" cy="245018"/>
            <a:chOff x="516181" y="5154456"/>
            <a:chExt cx="2213903" cy="511276"/>
          </a:xfrm>
        </p:grpSpPr>
        <p:cxnSp>
          <p:nvCxnSpPr>
            <p:cNvPr id="14" name="Straight Connector 13"/>
            <p:cNvCxnSpPr/>
            <p:nvPr/>
          </p:nvCxnSpPr>
          <p:spPr bwMode="auto">
            <a:xfrm>
              <a:off x="516181"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cxnSp>
          <p:nvCxnSpPr>
            <p:cNvPr id="15" name="Straight Connector 14"/>
            <p:cNvCxnSpPr/>
            <p:nvPr/>
          </p:nvCxnSpPr>
          <p:spPr bwMode="auto">
            <a:xfrm flipH="1">
              <a:off x="529418"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grpSp>
      <p:grpSp>
        <p:nvGrpSpPr>
          <p:cNvPr id="20" name="Group 19"/>
          <p:cNvGrpSpPr/>
          <p:nvPr userDrawn="1"/>
        </p:nvGrpSpPr>
        <p:grpSpPr>
          <a:xfrm>
            <a:off x="92480" y="3992291"/>
            <a:ext cx="218808" cy="245018"/>
            <a:chOff x="516181" y="5154456"/>
            <a:chExt cx="2213903" cy="511276"/>
          </a:xfrm>
        </p:grpSpPr>
        <p:cxnSp>
          <p:nvCxnSpPr>
            <p:cNvPr id="21" name="Straight Connector 20"/>
            <p:cNvCxnSpPr/>
            <p:nvPr/>
          </p:nvCxnSpPr>
          <p:spPr bwMode="auto">
            <a:xfrm>
              <a:off x="516181"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cxnSp>
          <p:nvCxnSpPr>
            <p:cNvPr id="22" name="Straight Connector 21"/>
            <p:cNvCxnSpPr/>
            <p:nvPr/>
          </p:nvCxnSpPr>
          <p:spPr bwMode="auto">
            <a:xfrm flipH="1">
              <a:off x="529418"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grpSp>
      <p:grpSp>
        <p:nvGrpSpPr>
          <p:cNvPr id="24" name="Group 23"/>
          <p:cNvGrpSpPr/>
          <p:nvPr userDrawn="1"/>
        </p:nvGrpSpPr>
        <p:grpSpPr>
          <a:xfrm>
            <a:off x="7212157" y="7926707"/>
            <a:ext cx="218808" cy="245018"/>
            <a:chOff x="516181" y="5154456"/>
            <a:chExt cx="2213903" cy="511276"/>
          </a:xfrm>
        </p:grpSpPr>
        <p:cxnSp>
          <p:nvCxnSpPr>
            <p:cNvPr id="25" name="Straight Connector 24"/>
            <p:cNvCxnSpPr/>
            <p:nvPr/>
          </p:nvCxnSpPr>
          <p:spPr bwMode="auto">
            <a:xfrm>
              <a:off x="516181"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cxnSp>
          <p:nvCxnSpPr>
            <p:cNvPr id="26" name="Straight Connector 25"/>
            <p:cNvCxnSpPr/>
            <p:nvPr/>
          </p:nvCxnSpPr>
          <p:spPr bwMode="auto">
            <a:xfrm flipH="1">
              <a:off x="529418"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grpSp>
    </p:spTree>
    <p:extLst>
      <p:ext uri="{BB962C8B-B14F-4D97-AF65-F5344CB8AC3E}">
        <p14:creationId xmlns:p14="http://schemas.microsoft.com/office/powerpoint/2010/main" val="765601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06482AF4-527C-4615-8297-87FD6E7501E5}"/>
              </a:ext>
            </a:extLst>
          </p:cNvPr>
          <p:cNvSpPr/>
          <p:nvPr userDrawn="1"/>
        </p:nvSpPr>
        <p:spPr bwMode="auto">
          <a:xfrm>
            <a:off x="358695" y="5023244"/>
            <a:ext cx="8235152" cy="514430"/>
          </a:xfrm>
          <a:prstGeom prst="rect">
            <a:avLst/>
          </a:prstGeom>
          <a:solidFill>
            <a:schemeClr val="bg2"/>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69" name="Rectangle 68">
            <a:extLst>
              <a:ext uri="{FF2B5EF4-FFF2-40B4-BE49-F238E27FC236}">
                <a16:creationId xmlns:a16="http://schemas.microsoft.com/office/drawing/2014/main" id="{33E1EE33-F89F-4060-BD65-6636E0B9CDE8}"/>
              </a:ext>
            </a:extLst>
          </p:cNvPr>
          <p:cNvSpPr/>
          <p:nvPr userDrawn="1"/>
        </p:nvSpPr>
        <p:spPr bwMode="auto">
          <a:xfrm>
            <a:off x="358694" y="3859773"/>
            <a:ext cx="2826418" cy="23316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2" name="Title 1"/>
          <p:cNvSpPr>
            <a:spLocks noGrp="1"/>
          </p:cNvSpPr>
          <p:nvPr>
            <p:ph type="title" hasCustomPrompt="1"/>
          </p:nvPr>
        </p:nvSpPr>
        <p:spPr/>
        <p:txBody>
          <a:bodyPr lIns="91440"/>
          <a:lstStyle>
            <a:lvl1pPr>
              <a:defRPr/>
            </a:lvl1pPr>
          </a:lstStyle>
          <a:p>
            <a:r>
              <a:rPr lang="en-US"/>
              <a:t>Color Palette</a:t>
            </a:r>
          </a:p>
        </p:txBody>
      </p:sp>
      <p:pic>
        <p:nvPicPr>
          <p:cNvPr id="72" name="Picture 71">
            <a:extLst>
              <a:ext uri="{FF2B5EF4-FFF2-40B4-BE49-F238E27FC236}">
                <a16:creationId xmlns:a16="http://schemas.microsoft.com/office/drawing/2014/main" id="{C92EDB82-70F9-425E-882E-542343B8A68F}"/>
              </a:ext>
            </a:extLst>
          </p:cNvPr>
          <p:cNvPicPr>
            <a:picLocks noChangeAspect="1"/>
          </p:cNvPicPr>
          <p:nvPr userDrawn="1"/>
        </p:nvPicPr>
        <p:blipFill>
          <a:blip r:embed="rId2"/>
          <a:stretch>
            <a:fillRect/>
          </a:stretch>
        </p:blipFill>
        <p:spPr>
          <a:xfrm>
            <a:off x="10609967" y="789936"/>
            <a:ext cx="1848988" cy="4814480"/>
          </a:xfrm>
          <a:prstGeom prst="rect">
            <a:avLst/>
          </a:prstGeom>
        </p:spPr>
      </p:pic>
      <p:sp>
        <p:nvSpPr>
          <p:cNvPr id="73" name="Rectangle 72">
            <a:extLst>
              <a:ext uri="{FF2B5EF4-FFF2-40B4-BE49-F238E27FC236}">
                <a16:creationId xmlns:a16="http://schemas.microsoft.com/office/drawing/2014/main" id="{5CDF6216-7CCE-47CD-B711-2E3B30E75A18}"/>
              </a:ext>
            </a:extLst>
          </p:cNvPr>
          <p:cNvSpPr/>
          <p:nvPr userDrawn="1"/>
        </p:nvSpPr>
        <p:spPr bwMode="auto">
          <a:xfrm>
            <a:off x="2461047" y="1589215"/>
            <a:ext cx="6136853" cy="1408201"/>
          </a:xfrm>
          <a:prstGeom prst="rect">
            <a:avLst/>
          </a:prstGeom>
          <a:noFill/>
          <a:ln w="9525">
            <a:solidFill>
              <a:schemeClr val="bg2"/>
            </a:solid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80" name="Rectangle 79">
            <a:extLst>
              <a:ext uri="{FF2B5EF4-FFF2-40B4-BE49-F238E27FC236}">
                <a16:creationId xmlns:a16="http://schemas.microsoft.com/office/drawing/2014/main" id="{6DFF33E0-55C5-4CE0-9743-9AC476568375}"/>
              </a:ext>
            </a:extLst>
          </p:cNvPr>
          <p:cNvSpPr/>
          <p:nvPr userDrawn="1"/>
        </p:nvSpPr>
        <p:spPr>
          <a:xfrm>
            <a:off x="2556745" y="1445084"/>
            <a:ext cx="2491505" cy="261610"/>
          </a:xfrm>
          <a:prstGeom prst="rect">
            <a:avLst/>
          </a:prstGeom>
          <a:solidFill>
            <a:schemeClr val="bg1"/>
          </a:solidFill>
        </p:spPr>
        <p:txBody>
          <a:bodyPr wrap="square">
            <a:spAutoFit/>
          </a:bodyPr>
          <a:lstStyle/>
          <a:p>
            <a:r>
              <a:rPr lang="en-US" sz="1100" b="1" kern="0">
                <a:solidFill>
                  <a:schemeClr val="bg2"/>
                </a:solidFill>
              </a:rPr>
              <a:t>DEFAULT CHART COLOR ORDER</a:t>
            </a:r>
          </a:p>
        </p:txBody>
      </p:sp>
      <p:sp>
        <p:nvSpPr>
          <p:cNvPr id="81" name="Rectangle 80">
            <a:extLst>
              <a:ext uri="{FF2B5EF4-FFF2-40B4-BE49-F238E27FC236}">
                <a16:creationId xmlns:a16="http://schemas.microsoft.com/office/drawing/2014/main" id="{E93F987A-E4DA-44E0-9062-02B931B2E39B}"/>
              </a:ext>
            </a:extLst>
          </p:cNvPr>
          <p:cNvSpPr>
            <a:spLocks noChangeAspect="1"/>
          </p:cNvSpPr>
          <p:nvPr userDrawn="1"/>
        </p:nvSpPr>
        <p:spPr bwMode="auto">
          <a:xfrm>
            <a:off x="2517605" y="1733470"/>
            <a:ext cx="893404" cy="893404"/>
          </a:xfrm>
          <a:prstGeom prst="rect">
            <a:avLst/>
          </a:prstGeom>
          <a:solidFill>
            <a:schemeClr val="tx2"/>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1</a:t>
            </a:r>
          </a:p>
        </p:txBody>
      </p:sp>
      <p:sp>
        <p:nvSpPr>
          <p:cNvPr id="82" name="Rectangle 81">
            <a:extLst>
              <a:ext uri="{FF2B5EF4-FFF2-40B4-BE49-F238E27FC236}">
                <a16:creationId xmlns:a16="http://schemas.microsoft.com/office/drawing/2014/main" id="{747F50BE-16A6-4967-991C-7E20D0B217CA}"/>
              </a:ext>
            </a:extLst>
          </p:cNvPr>
          <p:cNvSpPr>
            <a:spLocks noChangeAspect="1"/>
          </p:cNvSpPr>
          <p:nvPr userDrawn="1"/>
        </p:nvSpPr>
        <p:spPr bwMode="auto">
          <a:xfrm>
            <a:off x="4533556" y="1733470"/>
            <a:ext cx="893404" cy="893404"/>
          </a:xfrm>
          <a:prstGeom prst="rect">
            <a:avLst/>
          </a:prstGeom>
          <a:solidFill>
            <a:schemeClr val="accent3"/>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3</a:t>
            </a:r>
          </a:p>
        </p:txBody>
      </p:sp>
      <p:sp>
        <p:nvSpPr>
          <p:cNvPr id="83" name="Rectangle 82">
            <a:extLst>
              <a:ext uri="{FF2B5EF4-FFF2-40B4-BE49-F238E27FC236}">
                <a16:creationId xmlns:a16="http://schemas.microsoft.com/office/drawing/2014/main" id="{46805B24-F5D8-42CD-8C75-4702179C0DAB}"/>
              </a:ext>
            </a:extLst>
          </p:cNvPr>
          <p:cNvSpPr>
            <a:spLocks noChangeAspect="1"/>
          </p:cNvSpPr>
          <p:nvPr userDrawn="1"/>
        </p:nvSpPr>
        <p:spPr bwMode="auto">
          <a:xfrm>
            <a:off x="3525580" y="1733470"/>
            <a:ext cx="893404" cy="893404"/>
          </a:xfrm>
          <a:prstGeom prst="rect">
            <a:avLst/>
          </a:prstGeom>
          <a:solidFill>
            <a:schemeClr val="accent2"/>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2</a:t>
            </a:r>
          </a:p>
        </p:txBody>
      </p:sp>
      <p:sp>
        <p:nvSpPr>
          <p:cNvPr id="99" name="Rectangle 98">
            <a:extLst>
              <a:ext uri="{FF2B5EF4-FFF2-40B4-BE49-F238E27FC236}">
                <a16:creationId xmlns:a16="http://schemas.microsoft.com/office/drawing/2014/main" id="{CA06011D-C43E-452C-AB8F-8D05F545337E}"/>
              </a:ext>
            </a:extLst>
          </p:cNvPr>
          <p:cNvSpPr>
            <a:spLocks noChangeAspect="1"/>
          </p:cNvSpPr>
          <p:nvPr userDrawn="1"/>
        </p:nvSpPr>
        <p:spPr bwMode="auto">
          <a:xfrm>
            <a:off x="6549508" y="1733470"/>
            <a:ext cx="893404" cy="893404"/>
          </a:xfrm>
          <a:prstGeom prst="rect">
            <a:avLst/>
          </a:prstGeom>
          <a:solidFill>
            <a:schemeClr val="accent5"/>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5</a:t>
            </a:r>
          </a:p>
        </p:txBody>
      </p:sp>
      <p:sp>
        <p:nvSpPr>
          <p:cNvPr id="100" name="Rectangle 99">
            <a:extLst>
              <a:ext uri="{FF2B5EF4-FFF2-40B4-BE49-F238E27FC236}">
                <a16:creationId xmlns:a16="http://schemas.microsoft.com/office/drawing/2014/main" id="{76372045-96C3-43E1-983D-652881D76515}"/>
              </a:ext>
            </a:extLst>
          </p:cNvPr>
          <p:cNvSpPr>
            <a:spLocks noChangeAspect="1"/>
          </p:cNvSpPr>
          <p:nvPr userDrawn="1"/>
        </p:nvSpPr>
        <p:spPr bwMode="auto">
          <a:xfrm>
            <a:off x="5541532" y="1733470"/>
            <a:ext cx="893404" cy="893404"/>
          </a:xfrm>
          <a:prstGeom prst="rect">
            <a:avLst/>
          </a:prstGeom>
          <a:solidFill>
            <a:schemeClr val="accent4"/>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4</a:t>
            </a:r>
          </a:p>
        </p:txBody>
      </p:sp>
      <p:sp>
        <p:nvSpPr>
          <p:cNvPr id="105" name="Rectangle 104">
            <a:extLst>
              <a:ext uri="{FF2B5EF4-FFF2-40B4-BE49-F238E27FC236}">
                <a16:creationId xmlns:a16="http://schemas.microsoft.com/office/drawing/2014/main" id="{14121563-28E5-4E98-84B0-B02CCF5AC85F}"/>
              </a:ext>
            </a:extLst>
          </p:cNvPr>
          <p:cNvSpPr>
            <a:spLocks noChangeAspect="1"/>
          </p:cNvSpPr>
          <p:nvPr userDrawn="1"/>
        </p:nvSpPr>
        <p:spPr bwMode="auto">
          <a:xfrm>
            <a:off x="1509629" y="1733470"/>
            <a:ext cx="893404" cy="893404"/>
          </a:xfrm>
          <a:prstGeom prst="rect">
            <a:avLst/>
          </a:prstGeom>
          <a:solidFill>
            <a:srgbClr val="9FA1A4"/>
          </a:solidFill>
          <a:ln w="9525">
            <a:noFill/>
            <a:round/>
            <a:headEnd/>
            <a:tailEnd/>
          </a:ln>
          <a:effectLst/>
        </p:spPr>
        <p:txBody>
          <a:bodyPr wrap="none" rtlCol="0" anchor="ctr"/>
          <a:lstStyle/>
          <a:p>
            <a:pPr algn="ctr" eaLnBrk="0" fontAlgn="base" hangingPunct="0">
              <a:spcBef>
                <a:spcPct val="0"/>
              </a:spcBef>
              <a:spcAft>
                <a:spcPct val="0"/>
              </a:spcAft>
            </a:pPr>
            <a:endParaRPr lang="en-US" sz="2400">
              <a:solidFill>
                <a:srgbClr val="FFFFFF"/>
              </a:solidFill>
            </a:endParaRPr>
          </a:p>
        </p:txBody>
      </p:sp>
      <p:sp>
        <p:nvSpPr>
          <p:cNvPr id="108" name="Content Placeholder 6">
            <a:extLst>
              <a:ext uri="{FF2B5EF4-FFF2-40B4-BE49-F238E27FC236}">
                <a16:creationId xmlns:a16="http://schemas.microsoft.com/office/drawing/2014/main" id="{3918247D-EE16-4173-897F-FECD624553CA}"/>
              </a:ext>
            </a:extLst>
          </p:cNvPr>
          <p:cNvSpPr txBox="1">
            <a:spLocks/>
          </p:cNvSpPr>
          <p:nvPr userDrawn="1"/>
        </p:nvSpPr>
        <p:spPr bwMode="auto">
          <a:xfrm>
            <a:off x="2512418" y="2723070"/>
            <a:ext cx="897307"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Font typeface="Arial" panose="020B0604020202020204" pitchFamily="34" charset="0"/>
              <a:buNone/>
            </a:pPr>
            <a:r>
              <a:rPr lang="en-US" sz="1050" b="1">
                <a:solidFill>
                  <a:schemeClr val="tx2"/>
                </a:solidFill>
              </a:rPr>
              <a:t>0/75/141</a:t>
            </a:r>
          </a:p>
        </p:txBody>
      </p:sp>
      <p:sp>
        <p:nvSpPr>
          <p:cNvPr id="109" name="Content Placeholder 6">
            <a:extLst>
              <a:ext uri="{FF2B5EF4-FFF2-40B4-BE49-F238E27FC236}">
                <a16:creationId xmlns:a16="http://schemas.microsoft.com/office/drawing/2014/main" id="{362B6E23-F289-42FD-AECC-8F9479214763}"/>
              </a:ext>
            </a:extLst>
          </p:cNvPr>
          <p:cNvSpPr txBox="1">
            <a:spLocks/>
          </p:cNvSpPr>
          <p:nvPr userDrawn="1"/>
        </p:nvSpPr>
        <p:spPr bwMode="auto">
          <a:xfrm>
            <a:off x="4529652" y="2723070"/>
            <a:ext cx="897307"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3"/>
                </a:solidFill>
              </a:rPr>
              <a:t>27/37/82</a:t>
            </a:r>
          </a:p>
        </p:txBody>
      </p:sp>
      <p:sp>
        <p:nvSpPr>
          <p:cNvPr id="112" name="Content Placeholder 6">
            <a:extLst>
              <a:ext uri="{FF2B5EF4-FFF2-40B4-BE49-F238E27FC236}">
                <a16:creationId xmlns:a16="http://schemas.microsoft.com/office/drawing/2014/main" id="{988DF7FA-1E1D-4D96-9D4C-867CDFA8579F}"/>
              </a:ext>
            </a:extLst>
          </p:cNvPr>
          <p:cNvSpPr txBox="1">
            <a:spLocks/>
          </p:cNvSpPr>
          <p:nvPr userDrawn="1"/>
        </p:nvSpPr>
        <p:spPr bwMode="auto">
          <a:xfrm>
            <a:off x="3484917" y="2735025"/>
            <a:ext cx="974729" cy="184146"/>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2"/>
                </a:solidFill>
              </a:rPr>
              <a:t>0/87/61</a:t>
            </a:r>
          </a:p>
        </p:txBody>
      </p:sp>
      <p:sp>
        <p:nvSpPr>
          <p:cNvPr id="113" name="Content Placeholder 6">
            <a:extLst>
              <a:ext uri="{FF2B5EF4-FFF2-40B4-BE49-F238E27FC236}">
                <a16:creationId xmlns:a16="http://schemas.microsoft.com/office/drawing/2014/main" id="{3F1F8BD4-911F-42EA-9E4D-7BF2A089E7A2}"/>
              </a:ext>
            </a:extLst>
          </p:cNvPr>
          <p:cNvSpPr txBox="1">
            <a:spLocks/>
          </p:cNvSpPr>
          <p:nvPr userDrawn="1"/>
        </p:nvSpPr>
        <p:spPr bwMode="auto">
          <a:xfrm>
            <a:off x="1431386" y="2723070"/>
            <a:ext cx="1005840"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Font typeface="Arial" panose="020B0604020202020204" pitchFamily="34" charset="0"/>
              <a:buNone/>
            </a:pPr>
            <a:r>
              <a:rPr lang="en-US" sz="1050" b="1">
                <a:solidFill>
                  <a:srgbClr val="959797"/>
                </a:solidFill>
              </a:rPr>
              <a:t>159/161/164</a:t>
            </a:r>
          </a:p>
        </p:txBody>
      </p:sp>
      <p:sp>
        <p:nvSpPr>
          <p:cNvPr id="114" name="Content Placeholder 6">
            <a:extLst>
              <a:ext uri="{FF2B5EF4-FFF2-40B4-BE49-F238E27FC236}">
                <a16:creationId xmlns:a16="http://schemas.microsoft.com/office/drawing/2014/main" id="{40968EE8-38E5-4836-A48B-EF654FD7608E}"/>
              </a:ext>
            </a:extLst>
          </p:cNvPr>
          <p:cNvSpPr txBox="1">
            <a:spLocks/>
          </p:cNvSpPr>
          <p:nvPr userDrawn="1"/>
        </p:nvSpPr>
        <p:spPr bwMode="auto">
          <a:xfrm>
            <a:off x="6481624" y="2723070"/>
            <a:ext cx="1005840"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5"/>
                </a:solidFill>
              </a:rPr>
              <a:t>124/207/139</a:t>
            </a:r>
          </a:p>
        </p:txBody>
      </p:sp>
      <p:sp>
        <p:nvSpPr>
          <p:cNvPr id="115" name="Content Placeholder 6">
            <a:extLst>
              <a:ext uri="{FF2B5EF4-FFF2-40B4-BE49-F238E27FC236}">
                <a16:creationId xmlns:a16="http://schemas.microsoft.com/office/drawing/2014/main" id="{BE1C2106-AE85-4D36-A0E8-FC51A045A2D0}"/>
              </a:ext>
            </a:extLst>
          </p:cNvPr>
          <p:cNvSpPr txBox="1">
            <a:spLocks/>
          </p:cNvSpPr>
          <p:nvPr userDrawn="1"/>
        </p:nvSpPr>
        <p:spPr bwMode="auto">
          <a:xfrm>
            <a:off x="5500442" y="2723070"/>
            <a:ext cx="1005840"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4"/>
                </a:solidFill>
              </a:rPr>
              <a:t>29/177/222</a:t>
            </a:r>
          </a:p>
        </p:txBody>
      </p:sp>
      <p:sp>
        <p:nvSpPr>
          <p:cNvPr id="116" name="Content Placeholder 6">
            <a:extLst>
              <a:ext uri="{FF2B5EF4-FFF2-40B4-BE49-F238E27FC236}">
                <a16:creationId xmlns:a16="http://schemas.microsoft.com/office/drawing/2014/main" id="{282C157A-650B-43ED-AB74-F9912DFE685D}"/>
              </a:ext>
            </a:extLst>
          </p:cNvPr>
          <p:cNvSpPr txBox="1">
            <a:spLocks/>
          </p:cNvSpPr>
          <p:nvPr userDrawn="1"/>
        </p:nvSpPr>
        <p:spPr bwMode="auto">
          <a:xfrm>
            <a:off x="499087" y="2723070"/>
            <a:ext cx="893404" cy="208057"/>
          </a:xfrm>
          <a:prstGeom prst="rect">
            <a:avLst/>
          </a:prstGeom>
          <a:solidFill>
            <a:schemeClr val="bg1"/>
          </a:solidFill>
          <a:ln w="9525">
            <a:noFill/>
            <a:miter lim="800000"/>
            <a:headEnd/>
            <a:tailEnd/>
          </a:ln>
        </p:spPr>
        <p:txBody>
          <a:bodyPr vert="horz" wrap="square" lIns="45720" tIns="45720" rIns="4572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Font typeface="Arial" panose="020B0604020202020204" pitchFamily="34" charset="0"/>
              <a:buNone/>
            </a:pPr>
            <a:r>
              <a:rPr lang="en-US" sz="1050" b="1">
                <a:solidFill>
                  <a:schemeClr val="tx1"/>
                </a:solidFill>
              </a:rPr>
              <a:t>0/0/0</a:t>
            </a:r>
          </a:p>
        </p:txBody>
      </p:sp>
      <p:sp>
        <p:nvSpPr>
          <p:cNvPr id="117" name="Rectangle 116">
            <a:extLst>
              <a:ext uri="{FF2B5EF4-FFF2-40B4-BE49-F238E27FC236}">
                <a16:creationId xmlns:a16="http://schemas.microsoft.com/office/drawing/2014/main" id="{60C72F04-A70F-4DC1-AAC7-B66F8C5FE7C6}"/>
              </a:ext>
            </a:extLst>
          </p:cNvPr>
          <p:cNvSpPr>
            <a:spLocks noChangeAspect="1"/>
          </p:cNvSpPr>
          <p:nvPr userDrawn="1"/>
        </p:nvSpPr>
        <p:spPr bwMode="auto">
          <a:xfrm>
            <a:off x="7557483" y="1733470"/>
            <a:ext cx="893404" cy="893404"/>
          </a:xfrm>
          <a:prstGeom prst="rect">
            <a:avLst/>
          </a:prstGeom>
          <a:solidFill>
            <a:schemeClr val="accent6"/>
          </a:solidFill>
          <a:ln w="9525">
            <a:noFill/>
            <a:round/>
            <a:headEnd/>
            <a:tailEnd/>
          </a:ln>
          <a:effectLst/>
        </p:spPr>
        <p:txBody>
          <a:bodyPr wrap="none" rtlCol="0" anchor="t"/>
          <a:lstStyle/>
          <a:p>
            <a:pPr eaLnBrk="0" hangingPunct="0">
              <a:lnSpc>
                <a:spcPct val="105000"/>
              </a:lnSpc>
            </a:pPr>
            <a:r>
              <a:rPr lang="en-US" sz="1100" b="1">
                <a:solidFill>
                  <a:srgbClr val="FFFFFF"/>
                </a:solidFill>
              </a:rPr>
              <a:t>6</a:t>
            </a:r>
          </a:p>
        </p:txBody>
      </p:sp>
      <p:sp>
        <p:nvSpPr>
          <p:cNvPr id="118" name="Content Placeholder 6">
            <a:extLst>
              <a:ext uri="{FF2B5EF4-FFF2-40B4-BE49-F238E27FC236}">
                <a16:creationId xmlns:a16="http://schemas.microsoft.com/office/drawing/2014/main" id="{F6A8AF13-6138-42F5-AB75-DDAF22346211}"/>
              </a:ext>
            </a:extLst>
          </p:cNvPr>
          <p:cNvSpPr txBox="1">
            <a:spLocks/>
          </p:cNvSpPr>
          <p:nvPr userDrawn="1"/>
        </p:nvSpPr>
        <p:spPr bwMode="auto">
          <a:xfrm>
            <a:off x="7516471" y="2723070"/>
            <a:ext cx="975428"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rgbClr val="00AA7E"/>
                </a:solidFill>
              </a:rPr>
              <a:t>0/173/124</a:t>
            </a:r>
          </a:p>
        </p:txBody>
      </p:sp>
      <p:sp>
        <p:nvSpPr>
          <p:cNvPr id="119" name="Rectangle 118">
            <a:extLst>
              <a:ext uri="{FF2B5EF4-FFF2-40B4-BE49-F238E27FC236}">
                <a16:creationId xmlns:a16="http://schemas.microsoft.com/office/drawing/2014/main" id="{39ECFE69-9C57-4EC8-B344-D4DB450D3DD2}"/>
              </a:ext>
            </a:extLst>
          </p:cNvPr>
          <p:cNvSpPr>
            <a:spLocks noChangeAspect="1"/>
          </p:cNvSpPr>
          <p:nvPr userDrawn="1"/>
        </p:nvSpPr>
        <p:spPr bwMode="auto">
          <a:xfrm>
            <a:off x="501653" y="1733470"/>
            <a:ext cx="893404" cy="893404"/>
          </a:xfrm>
          <a:prstGeom prst="rect">
            <a:avLst/>
          </a:prstGeom>
          <a:solidFill>
            <a:schemeClr val="tx1"/>
          </a:solidFill>
          <a:ln w="9525">
            <a:noFill/>
            <a:round/>
            <a:headEnd/>
            <a:tailEnd/>
          </a:ln>
          <a:effectLst/>
        </p:spPr>
        <p:txBody>
          <a:bodyPr wrap="none" rtlCol="0" anchor="b"/>
          <a:lstStyle/>
          <a:p>
            <a:pPr algn="ctr" eaLnBrk="0" fontAlgn="base" hangingPunct="0">
              <a:spcBef>
                <a:spcPct val="0"/>
              </a:spcBef>
              <a:spcAft>
                <a:spcPct val="0"/>
              </a:spcAft>
            </a:pPr>
            <a:r>
              <a:rPr lang="en-US" sz="1200">
                <a:solidFill>
                  <a:srgbClr val="FFFFFF"/>
                </a:solidFill>
              </a:rPr>
              <a:t>Body Text</a:t>
            </a:r>
          </a:p>
        </p:txBody>
      </p:sp>
      <p:sp>
        <p:nvSpPr>
          <p:cNvPr id="120" name="Rectangle 119">
            <a:extLst>
              <a:ext uri="{FF2B5EF4-FFF2-40B4-BE49-F238E27FC236}">
                <a16:creationId xmlns:a16="http://schemas.microsoft.com/office/drawing/2014/main" id="{425C2DEF-C7B3-44DF-B37B-13549AB71C2F}"/>
              </a:ext>
            </a:extLst>
          </p:cNvPr>
          <p:cNvSpPr/>
          <p:nvPr userDrawn="1"/>
        </p:nvSpPr>
        <p:spPr>
          <a:xfrm>
            <a:off x="2512418" y="2346154"/>
            <a:ext cx="897307" cy="276999"/>
          </a:xfrm>
          <a:prstGeom prst="rect">
            <a:avLst/>
          </a:prstGeom>
        </p:spPr>
        <p:txBody>
          <a:bodyPr wrap="square">
            <a:spAutoFit/>
          </a:bodyPr>
          <a:lstStyle/>
          <a:p>
            <a:pPr lvl="0" algn="ctr" eaLnBrk="0" fontAlgn="base" hangingPunct="0">
              <a:spcBef>
                <a:spcPct val="0"/>
              </a:spcBef>
              <a:spcAft>
                <a:spcPct val="0"/>
              </a:spcAft>
            </a:pPr>
            <a:r>
              <a:rPr lang="en-US" sz="1200">
                <a:solidFill>
                  <a:srgbClr val="FFFFFF"/>
                </a:solidFill>
              </a:rPr>
              <a:t>Title Text</a:t>
            </a:r>
          </a:p>
        </p:txBody>
      </p:sp>
      <p:grpSp>
        <p:nvGrpSpPr>
          <p:cNvPr id="121" name="Group 120">
            <a:extLst>
              <a:ext uri="{FF2B5EF4-FFF2-40B4-BE49-F238E27FC236}">
                <a16:creationId xmlns:a16="http://schemas.microsoft.com/office/drawing/2014/main" id="{BD9FA86D-3D99-4FBC-B5F1-F3174C39185C}"/>
              </a:ext>
            </a:extLst>
          </p:cNvPr>
          <p:cNvGrpSpPr/>
          <p:nvPr userDrawn="1"/>
        </p:nvGrpSpPr>
        <p:grpSpPr>
          <a:xfrm>
            <a:off x="501654" y="4000308"/>
            <a:ext cx="1240587" cy="2051796"/>
            <a:chOff x="501653" y="3600370"/>
            <a:chExt cx="1447917" cy="2051796"/>
          </a:xfrm>
        </p:grpSpPr>
        <p:sp>
          <p:nvSpPr>
            <p:cNvPr id="122" name="Rectangle 121">
              <a:extLst>
                <a:ext uri="{FF2B5EF4-FFF2-40B4-BE49-F238E27FC236}">
                  <a16:creationId xmlns:a16="http://schemas.microsoft.com/office/drawing/2014/main" id="{D37E019D-F8FF-41DA-8884-C125A0414C46}"/>
                </a:ext>
              </a:extLst>
            </p:cNvPr>
            <p:cNvSpPr>
              <a:spLocks noChangeAspect="1"/>
            </p:cNvSpPr>
            <p:nvPr/>
          </p:nvSpPr>
          <p:spPr bwMode="auto">
            <a:xfrm>
              <a:off x="501653" y="3600370"/>
              <a:ext cx="1447917" cy="514430"/>
            </a:xfrm>
            <a:prstGeom prst="rect">
              <a:avLst/>
            </a:prstGeom>
            <a:solidFill>
              <a:srgbClr val="75D3E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117/211/235</a:t>
              </a:r>
            </a:p>
          </p:txBody>
        </p:sp>
        <p:sp>
          <p:nvSpPr>
            <p:cNvPr id="123" name="Rectangle 122">
              <a:extLst>
                <a:ext uri="{FF2B5EF4-FFF2-40B4-BE49-F238E27FC236}">
                  <a16:creationId xmlns:a16="http://schemas.microsoft.com/office/drawing/2014/main" id="{B6E8475D-286B-495F-A539-A4B198DD3EAE}"/>
                </a:ext>
              </a:extLst>
            </p:cNvPr>
            <p:cNvSpPr>
              <a:spLocks noChangeAspect="1"/>
            </p:cNvSpPr>
            <p:nvPr/>
          </p:nvSpPr>
          <p:spPr bwMode="auto">
            <a:xfrm>
              <a:off x="501653" y="4112825"/>
              <a:ext cx="1447917" cy="514430"/>
            </a:xfrm>
            <a:prstGeom prst="rect">
              <a:avLst/>
            </a:prstGeom>
            <a:solidFill>
              <a:srgbClr val="1DB1D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29/177/222</a:t>
              </a:r>
            </a:p>
          </p:txBody>
        </p:sp>
        <p:sp>
          <p:nvSpPr>
            <p:cNvPr id="124" name="Rectangle 123">
              <a:extLst>
                <a:ext uri="{FF2B5EF4-FFF2-40B4-BE49-F238E27FC236}">
                  <a16:creationId xmlns:a16="http://schemas.microsoft.com/office/drawing/2014/main" id="{434DD6E1-38A9-4079-AC0F-6B6019C4767B}"/>
                </a:ext>
              </a:extLst>
            </p:cNvPr>
            <p:cNvSpPr>
              <a:spLocks noChangeAspect="1"/>
            </p:cNvSpPr>
            <p:nvPr/>
          </p:nvSpPr>
          <p:spPr bwMode="auto">
            <a:xfrm>
              <a:off x="501653" y="4625280"/>
              <a:ext cx="1447917" cy="514430"/>
            </a:xfrm>
            <a:prstGeom prst="rect">
              <a:avLst/>
            </a:prstGeom>
            <a:solidFill>
              <a:srgbClr val="004B8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0/75/141</a:t>
              </a:r>
            </a:p>
          </p:txBody>
        </p:sp>
        <p:sp>
          <p:nvSpPr>
            <p:cNvPr id="125" name="Rectangle 124">
              <a:extLst>
                <a:ext uri="{FF2B5EF4-FFF2-40B4-BE49-F238E27FC236}">
                  <a16:creationId xmlns:a16="http://schemas.microsoft.com/office/drawing/2014/main" id="{3EC37A1A-1572-449D-87C6-844AB14418CF}"/>
                </a:ext>
              </a:extLst>
            </p:cNvPr>
            <p:cNvSpPr>
              <a:spLocks noChangeAspect="1"/>
            </p:cNvSpPr>
            <p:nvPr/>
          </p:nvSpPr>
          <p:spPr bwMode="auto">
            <a:xfrm>
              <a:off x="501653" y="5137736"/>
              <a:ext cx="1447917" cy="514430"/>
            </a:xfrm>
            <a:prstGeom prst="rect">
              <a:avLst/>
            </a:prstGeom>
            <a:solidFill>
              <a:srgbClr val="1B255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27/37/82</a:t>
              </a:r>
            </a:p>
          </p:txBody>
        </p:sp>
      </p:grpSp>
      <p:grpSp>
        <p:nvGrpSpPr>
          <p:cNvPr id="126" name="Group 125">
            <a:extLst>
              <a:ext uri="{FF2B5EF4-FFF2-40B4-BE49-F238E27FC236}">
                <a16:creationId xmlns:a16="http://schemas.microsoft.com/office/drawing/2014/main" id="{81A39D3C-38BA-4936-A5B2-F3D5132A07BC}"/>
              </a:ext>
            </a:extLst>
          </p:cNvPr>
          <p:cNvGrpSpPr/>
          <p:nvPr userDrawn="1"/>
        </p:nvGrpSpPr>
        <p:grpSpPr>
          <a:xfrm>
            <a:off x="1843383" y="4000308"/>
            <a:ext cx="1240587" cy="2051796"/>
            <a:chOff x="501653" y="3600370"/>
            <a:chExt cx="1447917" cy="2051796"/>
          </a:xfrm>
        </p:grpSpPr>
        <p:sp>
          <p:nvSpPr>
            <p:cNvPr id="127" name="Rectangle 126">
              <a:extLst>
                <a:ext uri="{FF2B5EF4-FFF2-40B4-BE49-F238E27FC236}">
                  <a16:creationId xmlns:a16="http://schemas.microsoft.com/office/drawing/2014/main" id="{6F7BFD73-DE94-4AE6-9358-4EC7ADCFF285}"/>
                </a:ext>
              </a:extLst>
            </p:cNvPr>
            <p:cNvSpPr>
              <a:spLocks noChangeAspect="1"/>
            </p:cNvSpPr>
            <p:nvPr/>
          </p:nvSpPr>
          <p:spPr bwMode="auto">
            <a:xfrm>
              <a:off x="501653" y="3600370"/>
              <a:ext cx="1447917" cy="514430"/>
            </a:xfrm>
            <a:prstGeom prst="rect">
              <a:avLst/>
            </a:prstGeom>
            <a:solidFill>
              <a:srgbClr val="7CCF8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124/207/139</a:t>
              </a:r>
            </a:p>
          </p:txBody>
        </p:sp>
        <p:sp>
          <p:nvSpPr>
            <p:cNvPr id="128" name="Rectangle 127">
              <a:extLst>
                <a:ext uri="{FF2B5EF4-FFF2-40B4-BE49-F238E27FC236}">
                  <a16:creationId xmlns:a16="http://schemas.microsoft.com/office/drawing/2014/main" id="{9A02DEFB-C364-4FFD-9F42-AA63DB92D061}"/>
                </a:ext>
              </a:extLst>
            </p:cNvPr>
            <p:cNvSpPr>
              <a:spLocks noChangeAspect="1"/>
            </p:cNvSpPr>
            <p:nvPr/>
          </p:nvSpPr>
          <p:spPr bwMode="auto">
            <a:xfrm>
              <a:off x="501653" y="4112825"/>
              <a:ext cx="1447917" cy="514430"/>
            </a:xfrm>
            <a:prstGeom prst="rect">
              <a:avLst/>
            </a:prstGeom>
            <a:solidFill>
              <a:srgbClr val="00AD7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0/173/124</a:t>
              </a:r>
            </a:p>
          </p:txBody>
        </p:sp>
        <p:sp>
          <p:nvSpPr>
            <p:cNvPr id="129" name="Rectangle 128">
              <a:extLst>
                <a:ext uri="{FF2B5EF4-FFF2-40B4-BE49-F238E27FC236}">
                  <a16:creationId xmlns:a16="http://schemas.microsoft.com/office/drawing/2014/main" id="{BD91A554-5D6F-49AD-9587-30998BFA2D92}"/>
                </a:ext>
              </a:extLst>
            </p:cNvPr>
            <p:cNvSpPr>
              <a:spLocks noChangeAspect="1"/>
            </p:cNvSpPr>
            <p:nvPr/>
          </p:nvSpPr>
          <p:spPr bwMode="auto">
            <a:xfrm>
              <a:off x="501653" y="4625280"/>
              <a:ext cx="1447917" cy="514430"/>
            </a:xfrm>
            <a:prstGeom prst="rect">
              <a:avLst/>
            </a:prstGeom>
            <a:solidFill>
              <a:srgbClr val="00573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0/87/61</a:t>
              </a:r>
            </a:p>
          </p:txBody>
        </p:sp>
        <p:sp>
          <p:nvSpPr>
            <p:cNvPr id="130" name="Rectangle 129">
              <a:extLst>
                <a:ext uri="{FF2B5EF4-FFF2-40B4-BE49-F238E27FC236}">
                  <a16:creationId xmlns:a16="http://schemas.microsoft.com/office/drawing/2014/main" id="{ADD0AD69-94E7-4CFB-94AC-D19A75471357}"/>
                </a:ext>
              </a:extLst>
            </p:cNvPr>
            <p:cNvSpPr>
              <a:spLocks noChangeAspect="1"/>
            </p:cNvSpPr>
            <p:nvPr/>
          </p:nvSpPr>
          <p:spPr bwMode="auto">
            <a:xfrm>
              <a:off x="501653" y="5137736"/>
              <a:ext cx="1447917" cy="514430"/>
            </a:xfrm>
            <a:prstGeom prst="rect">
              <a:avLst/>
            </a:prstGeom>
            <a:solidFill>
              <a:srgbClr val="00332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0/51/37</a:t>
              </a:r>
            </a:p>
          </p:txBody>
        </p:sp>
      </p:grpSp>
      <p:grpSp>
        <p:nvGrpSpPr>
          <p:cNvPr id="131" name="Group 130">
            <a:extLst>
              <a:ext uri="{FF2B5EF4-FFF2-40B4-BE49-F238E27FC236}">
                <a16:creationId xmlns:a16="http://schemas.microsoft.com/office/drawing/2014/main" id="{04931BE2-3EFF-4EEE-9014-4544EBCF8651}"/>
              </a:ext>
            </a:extLst>
          </p:cNvPr>
          <p:cNvGrpSpPr/>
          <p:nvPr userDrawn="1"/>
        </p:nvGrpSpPr>
        <p:grpSpPr>
          <a:xfrm>
            <a:off x="3185112" y="4000308"/>
            <a:ext cx="1240587" cy="2051796"/>
            <a:chOff x="501653" y="3600370"/>
            <a:chExt cx="1447917" cy="2051796"/>
          </a:xfrm>
        </p:grpSpPr>
        <p:sp>
          <p:nvSpPr>
            <p:cNvPr id="132" name="Rectangle 131">
              <a:extLst>
                <a:ext uri="{FF2B5EF4-FFF2-40B4-BE49-F238E27FC236}">
                  <a16:creationId xmlns:a16="http://schemas.microsoft.com/office/drawing/2014/main" id="{648EC76E-5002-4852-9079-F151F1307B32}"/>
                </a:ext>
              </a:extLst>
            </p:cNvPr>
            <p:cNvSpPr>
              <a:spLocks noChangeAspect="1"/>
            </p:cNvSpPr>
            <p:nvPr/>
          </p:nvSpPr>
          <p:spPr bwMode="auto">
            <a:xfrm>
              <a:off x="501653" y="3600370"/>
              <a:ext cx="1447917" cy="514430"/>
            </a:xfrm>
            <a:prstGeom prst="rect">
              <a:avLst/>
            </a:prstGeom>
            <a:solidFill>
              <a:srgbClr val="B485C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180/133/204</a:t>
              </a:r>
            </a:p>
          </p:txBody>
        </p:sp>
        <p:sp>
          <p:nvSpPr>
            <p:cNvPr id="133" name="Rectangle 132">
              <a:extLst>
                <a:ext uri="{FF2B5EF4-FFF2-40B4-BE49-F238E27FC236}">
                  <a16:creationId xmlns:a16="http://schemas.microsoft.com/office/drawing/2014/main" id="{280C1EAD-CC71-4EAA-AC4F-910E9013D818}"/>
                </a:ext>
              </a:extLst>
            </p:cNvPr>
            <p:cNvSpPr>
              <a:spLocks noChangeAspect="1"/>
            </p:cNvSpPr>
            <p:nvPr/>
          </p:nvSpPr>
          <p:spPr bwMode="auto">
            <a:xfrm>
              <a:off x="501653" y="4112825"/>
              <a:ext cx="1447917" cy="514430"/>
            </a:xfrm>
            <a:prstGeom prst="rect">
              <a:avLst/>
            </a:prstGeom>
            <a:solidFill>
              <a:srgbClr val="8B56A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139/86/166</a:t>
              </a:r>
            </a:p>
          </p:txBody>
        </p:sp>
        <p:sp>
          <p:nvSpPr>
            <p:cNvPr id="134" name="Rectangle 133">
              <a:extLst>
                <a:ext uri="{FF2B5EF4-FFF2-40B4-BE49-F238E27FC236}">
                  <a16:creationId xmlns:a16="http://schemas.microsoft.com/office/drawing/2014/main" id="{5500E83F-3B41-4D0E-9492-A8EAF607A47A}"/>
                </a:ext>
              </a:extLst>
            </p:cNvPr>
            <p:cNvSpPr>
              <a:spLocks noChangeAspect="1"/>
            </p:cNvSpPr>
            <p:nvPr/>
          </p:nvSpPr>
          <p:spPr bwMode="auto">
            <a:xfrm>
              <a:off x="501653" y="4625280"/>
              <a:ext cx="1447917" cy="514430"/>
            </a:xfrm>
            <a:prstGeom prst="rect">
              <a:avLst/>
            </a:prstGeom>
            <a:solidFill>
              <a:srgbClr val="4B2161"/>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75/33/97</a:t>
              </a:r>
            </a:p>
          </p:txBody>
        </p:sp>
        <p:sp>
          <p:nvSpPr>
            <p:cNvPr id="135" name="Rectangle 134">
              <a:extLst>
                <a:ext uri="{FF2B5EF4-FFF2-40B4-BE49-F238E27FC236}">
                  <a16:creationId xmlns:a16="http://schemas.microsoft.com/office/drawing/2014/main" id="{2644254E-D096-4854-8511-4DB0ABD0EC19}"/>
                </a:ext>
              </a:extLst>
            </p:cNvPr>
            <p:cNvSpPr>
              <a:spLocks noChangeAspect="1"/>
            </p:cNvSpPr>
            <p:nvPr/>
          </p:nvSpPr>
          <p:spPr bwMode="auto">
            <a:xfrm>
              <a:off x="501653" y="5137736"/>
              <a:ext cx="1447917" cy="514430"/>
            </a:xfrm>
            <a:prstGeom prst="rect">
              <a:avLst/>
            </a:prstGeom>
            <a:solidFill>
              <a:srgbClr val="311340"/>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49/19/64</a:t>
              </a:r>
            </a:p>
          </p:txBody>
        </p:sp>
      </p:grpSp>
      <p:grpSp>
        <p:nvGrpSpPr>
          <p:cNvPr id="136" name="Group 135">
            <a:extLst>
              <a:ext uri="{FF2B5EF4-FFF2-40B4-BE49-F238E27FC236}">
                <a16:creationId xmlns:a16="http://schemas.microsoft.com/office/drawing/2014/main" id="{2D421246-C49C-4077-8CA7-5827A3128B04}"/>
              </a:ext>
            </a:extLst>
          </p:cNvPr>
          <p:cNvGrpSpPr/>
          <p:nvPr userDrawn="1"/>
        </p:nvGrpSpPr>
        <p:grpSpPr>
          <a:xfrm>
            <a:off x="4526841" y="4000308"/>
            <a:ext cx="1240587" cy="2051796"/>
            <a:chOff x="501653" y="3600370"/>
            <a:chExt cx="1447917" cy="2051796"/>
          </a:xfrm>
        </p:grpSpPr>
        <p:sp>
          <p:nvSpPr>
            <p:cNvPr id="137" name="Rectangle 136">
              <a:extLst>
                <a:ext uri="{FF2B5EF4-FFF2-40B4-BE49-F238E27FC236}">
                  <a16:creationId xmlns:a16="http://schemas.microsoft.com/office/drawing/2014/main" id="{06D107C3-9DF6-480B-A1A7-C97138495A0B}"/>
                </a:ext>
              </a:extLst>
            </p:cNvPr>
            <p:cNvSpPr>
              <a:spLocks noChangeAspect="1"/>
            </p:cNvSpPr>
            <p:nvPr/>
          </p:nvSpPr>
          <p:spPr bwMode="auto">
            <a:xfrm>
              <a:off x="501653" y="3600370"/>
              <a:ext cx="1447917" cy="514430"/>
            </a:xfrm>
            <a:prstGeom prst="rect">
              <a:avLst/>
            </a:prstGeom>
            <a:solidFill>
              <a:srgbClr val="FF7A9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255/122/158</a:t>
              </a:r>
            </a:p>
          </p:txBody>
        </p:sp>
        <p:sp>
          <p:nvSpPr>
            <p:cNvPr id="138" name="Rectangle 137">
              <a:extLst>
                <a:ext uri="{FF2B5EF4-FFF2-40B4-BE49-F238E27FC236}">
                  <a16:creationId xmlns:a16="http://schemas.microsoft.com/office/drawing/2014/main" id="{202619C4-799E-4233-B5C2-D1137DBE2103}"/>
                </a:ext>
              </a:extLst>
            </p:cNvPr>
            <p:cNvSpPr>
              <a:spLocks noChangeAspect="1"/>
            </p:cNvSpPr>
            <p:nvPr/>
          </p:nvSpPr>
          <p:spPr bwMode="auto">
            <a:xfrm>
              <a:off x="501653" y="4112825"/>
              <a:ext cx="1447917" cy="514430"/>
            </a:xfrm>
            <a:prstGeom prst="rect">
              <a:avLst/>
            </a:prstGeom>
            <a:solidFill>
              <a:srgbClr val="E0436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224/67/109</a:t>
              </a:r>
            </a:p>
          </p:txBody>
        </p:sp>
        <p:sp>
          <p:nvSpPr>
            <p:cNvPr id="139" name="Rectangle 138">
              <a:extLst>
                <a:ext uri="{FF2B5EF4-FFF2-40B4-BE49-F238E27FC236}">
                  <a16:creationId xmlns:a16="http://schemas.microsoft.com/office/drawing/2014/main" id="{FE7334EA-0A8F-4BE0-9449-1D752018B2ED}"/>
                </a:ext>
              </a:extLst>
            </p:cNvPr>
            <p:cNvSpPr>
              <a:spLocks noChangeAspect="1"/>
            </p:cNvSpPr>
            <p:nvPr/>
          </p:nvSpPr>
          <p:spPr bwMode="auto">
            <a:xfrm>
              <a:off x="501653" y="4625280"/>
              <a:ext cx="1447917" cy="514430"/>
            </a:xfrm>
            <a:prstGeom prst="rect">
              <a:avLst/>
            </a:prstGeom>
            <a:solidFill>
              <a:srgbClr val="B81D47"/>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184/29/71</a:t>
              </a:r>
            </a:p>
          </p:txBody>
        </p:sp>
        <p:sp>
          <p:nvSpPr>
            <p:cNvPr id="140" name="Rectangle 139">
              <a:extLst>
                <a:ext uri="{FF2B5EF4-FFF2-40B4-BE49-F238E27FC236}">
                  <a16:creationId xmlns:a16="http://schemas.microsoft.com/office/drawing/2014/main" id="{EEBF886B-3545-47AE-869F-29F7050E7321}"/>
                </a:ext>
              </a:extLst>
            </p:cNvPr>
            <p:cNvSpPr>
              <a:spLocks noChangeAspect="1"/>
            </p:cNvSpPr>
            <p:nvPr/>
          </p:nvSpPr>
          <p:spPr bwMode="auto">
            <a:xfrm>
              <a:off x="501653" y="5137736"/>
              <a:ext cx="1447917" cy="514430"/>
            </a:xfrm>
            <a:prstGeom prst="rect">
              <a:avLst/>
            </a:prstGeom>
            <a:solidFill>
              <a:srgbClr val="941C3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148/28/60</a:t>
              </a:r>
            </a:p>
          </p:txBody>
        </p:sp>
      </p:grpSp>
      <p:grpSp>
        <p:nvGrpSpPr>
          <p:cNvPr id="141" name="Group 140">
            <a:extLst>
              <a:ext uri="{FF2B5EF4-FFF2-40B4-BE49-F238E27FC236}">
                <a16:creationId xmlns:a16="http://schemas.microsoft.com/office/drawing/2014/main" id="{ABBF547A-06FC-44E0-8C13-1E7B0C408133}"/>
              </a:ext>
            </a:extLst>
          </p:cNvPr>
          <p:cNvGrpSpPr/>
          <p:nvPr userDrawn="1"/>
        </p:nvGrpSpPr>
        <p:grpSpPr>
          <a:xfrm>
            <a:off x="5868570" y="4000308"/>
            <a:ext cx="1240587" cy="2051796"/>
            <a:chOff x="501653" y="3600370"/>
            <a:chExt cx="1447917" cy="2051796"/>
          </a:xfrm>
        </p:grpSpPr>
        <p:sp>
          <p:nvSpPr>
            <p:cNvPr id="142" name="Rectangle 141">
              <a:extLst>
                <a:ext uri="{FF2B5EF4-FFF2-40B4-BE49-F238E27FC236}">
                  <a16:creationId xmlns:a16="http://schemas.microsoft.com/office/drawing/2014/main" id="{01E26C27-3D4B-469D-A90B-3B62980A011C}"/>
                </a:ext>
              </a:extLst>
            </p:cNvPr>
            <p:cNvSpPr>
              <a:spLocks noChangeAspect="1"/>
            </p:cNvSpPr>
            <p:nvPr/>
          </p:nvSpPr>
          <p:spPr bwMode="auto">
            <a:xfrm>
              <a:off x="501653" y="3600370"/>
              <a:ext cx="1447917" cy="514430"/>
            </a:xfrm>
            <a:prstGeom prst="rect">
              <a:avLst/>
            </a:prstGeom>
            <a:solidFill>
              <a:srgbClr val="FFC2B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255/194/178</a:t>
              </a:r>
            </a:p>
          </p:txBody>
        </p:sp>
        <p:sp>
          <p:nvSpPr>
            <p:cNvPr id="143" name="Rectangle 142">
              <a:extLst>
                <a:ext uri="{FF2B5EF4-FFF2-40B4-BE49-F238E27FC236}">
                  <a16:creationId xmlns:a16="http://schemas.microsoft.com/office/drawing/2014/main" id="{72C03AB4-DE0B-4F6E-B649-D61C35DB0701}"/>
                </a:ext>
              </a:extLst>
            </p:cNvPr>
            <p:cNvSpPr>
              <a:spLocks noChangeAspect="1"/>
            </p:cNvSpPr>
            <p:nvPr/>
          </p:nvSpPr>
          <p:spPr bwMode="auto">
            <a:xfrm>
              <a:off x="501653" y="4112825"/>
              <a:ext cx="1447917" cy="514430"/>
            </a:xfrm>
            <a:prstGeom prst="rect">
              <a:avLst/>
            </a:prstGeom>
            <a:solidFill>
              <a:srgbClr val="FC9E8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252/158/134</a:t>
              </a:r>
            </a:p>
          </p:txBody>
        </p:sp>
        <p:sp>
          <p:nvSpPr>
            <p:cNvPr id="144" name="Rectangle 143">
              <a:extLst>
                <a:ext uri="{FF2B5EF4-FFF2-40B4-BE49-F238E27FC236}">
                  <a16:creationId xmlns:a16="http://schemas.microsoft.com/office/drawing/2014/main" id="{F9DB178A-2BEE-4264-9033-D493038520DB}"/>
                </a:ext>
              </a:extLst>
            </p:cNvPr>
            <p:cNvSpPr>
              <a:spLocks noChangeAspect="1"/>
            </p:cNvSpPr>
            <p:nvPr/>
          </p:nvSpPr>
          <p:spPr bwMode="auto">
            <a:xfrm>
              <a:off x="501653" y="4625280"/>
              <a:ext cx="1447917" cy="514430"/>
            </a:xfrm>
            <a:prstGeom prst="rect">
              <a:avLst/>
            </a:prstGeom>
            <a:solidFill>
              <a:srgbClr val="FA7857"/>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250/120/87</a:t>
              </a:r>
            </a:p>
          </p:txBody>
        </p:sp>
        <p:sp>
          <p:nvSpPr>
            <p:cNvPr id="145" name="Rectangle 144">
              <a:extLst>
                <a:ext uri="{FF2B5EF4-FFF2-40B4-BE49-F238E27FC236}">
                  <a16:creationId xmlns:a16="http://schemas.microsoft.com/office/drawing/2014/main" id="{038DD40F-1F0E-44ED-82F7-4F056588E673}"/>
                </a:ext>
              </a:extLst>
            </p:cNvPr>
            <p:cNvSpPr>
              <a:spLocks noChangeAspect="1"/>
            </p:cNvSpPr>
            <p:nvPr/>
          </p:nvSpPr>
          <p:spPr bwMode="auto">
            <a:xfrm>
              <a:off x="501653" y="5137736"/>
              <a:ext cx="1447917" cy="514430"/>
            </a:xfrm>
            <a:prstGeom prst="rect">
              <a:avLst/>
            </a:prstGeom>
            <a:solidFill>
              <a:srgbClr val="E35B39"/>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227/91/57</a:t>
              </a:r>
            </a:p>
          </p:txBody>
        </p:sp>
      </p:grpSp>
      <p:grpSp>
        <p:nvGrpSpPr>
          <p:cNvPr id="146" name="Group 145">
            <a:extLst>
              <a:ext uri="{FF2B5EF4-FFF2-40B4-BE49-F238E27FC236}">
                <a16:creationId xmlns:a16="http://schemas.microsoft.com/office/drawing/2014/main" id="{8531F7A1-8281-4B36-9DD2-202AE9B396F3}"/>
              </a:ext>
            </a:extLst>
          </p:cNvPr>
          <p:cNvGrpSpPr/>
          <p:nvPr userDrawn="1"/>
        </p:nvGrpSpPr>
        <p:grpSpPr>
          <a:xfrm>
            <a:off x="7210300" y="4000308"/>
            <a:ext cx="1240587" cy="2051796"/>
            <a:chOff x="501653" y="3600370"/>
            <a:chExt cx="1447917" cy="2051796"/>
          </a:xfrm>
        </p:grpSpPr>
        <p:sp>
          <p:nvSpPr>
            <p:cNvPr id="147" name="Rectangle 146">
              <a:extLst>
                <a:ext uri="{FF2B5EF4-FFF2-40B4-BE49-F238E27FC236}">
                  <a16:creationId xmlns:a16="http://schemas.microsoft.com/office/drawing/2014/main" id="{6391F156-4092-478B-A90F-2CC2F162B33C}"/>
                </a:ext>
              </a:extLst>
            </p:cNvPr>
            <p:cNvSpPr>
              <a:spLocks noChangeAspect="1"/>
            </p:cNvSpPr>
            <p:nvPr/>
          </p:nvSpPr>
          <p:spPr bwMode="auto">
            <a:xfrm>
              <a:off x="501653" y="3600370"/>
              <a:ext cx="1447917" cy="514430"/>
            </a:xfrm>
            <a:prstGeom prst="rect">
              <a:avLst/>
            </a:prstGeom>
            <a:solidFill>
              <a:srgbClr val="FFF5B5"/>
            </a:solidFill>
            <a:ln w="9525">
              <a:noFill/>
              <a:round/>
              <a:headEnd/>
              <a:tailEnd/>
            </a:ln>
            <a:effectLst/>
          </p:spPr>
          <p:txBody>
            <a:bodyPr wrap="none" rtlCol="0" anchor="b"/>
            <a:lstStyle/>
            <a:p>
              <a:pPr marL="0" marR="0" lvl="0" indent="0" algn="ctr" defTabSz="1463040" rtl="0" eaLnBrk="0" fontAlgn="base" latinLnBrk="0" hangingPunct="0">
                <a:lnSpc>
                  <a:spcPct val="90000"/>
                </a:lnSpc>
                <a:spcBef>
                  <a:spcPts val="600"/>
                </a:spcBef>
                <a:spcAft>
                  <a:spcPts val="600"/>
                </a:spcAft>
                <a:buClr>
                  <a:srgbClr val="00AA7E"/>
                </a:buClr>
                <a:buSzPct val="85000"/>
                <a:buFontTx/>
                <a:buNone/>
                <a:tabLst/>
                <a:defRPr/>
              </a:pPr>
              <a:r>
                <a:rPr lang="en-US" sz="1050" b="1">
                  <a:solidFill>
                    <a:schemeClr val="tx1"/>
                  </a:solidFill>
                </a:rPr>
                <a:t>255/245/181</a:t>
              </a:r>
            </a:p>
          </p:txBody>
        </p:sp>
        <p:sp>
          <p:nvSpPr>
            <p:cNvPr id="148" name="Rectangle 147">
              <a:extLst>
                <a:ext uri="{FF2B5EF4-FFF2-40B4-BE49-F238E27FC236}">
                  <a16:creationId xmlns:a16="http://schemas.microsoft.com/office/drawing/2014/main" id="{8FF4676D-55D5-478F-810D-4C20A5AC3660}"/>
                </a:ext>
              </a:extLst>
            </p:cNvPr>
            <p:cNvSpPr>
              <a:spLocks noChangeAspect="1"/>
            </p:cNvSpPr>
            <p:nvPr/>
          </p:nvSpPr>
          <p:spPr bwMode="auto">
            <a:xfrm>
              <a:off x="501653" y="4112825"/>
              <a:ext cx="1447917" cy="514430"/>
            </a:xfrm>
            <a:prstGeom prst="rect">
              <a:avLst/>
            </a:prstGeom>
            <a:solidFill>
              <a:srgbClr val="FFEE80"/>
            </a:solidFill>
            <a:ln w="9525">
              <a:noFill/>
              <a:round/>
              <a:headEnd/>
              <a:tailEnd/>
            </a:ln>
            <a:effectLst/>
          </p:spPr>
          <p:txBody>
            <a:bodyPr wrap="none" rtlCol="0" anchor="b"/>
            <a:lstStyle/>
            <a:p>
              <a:pPr marL="0" marR="0" lvl="0" indent="0" algn="ctr" defTabSz="1463040" rtl="0" eaLnBrk="0" fontAlgn="base" latinLnBrk="0" hangingPunct="0">
                <a:lnSpc>
                  <a:spcPct val="90000"/>
                </a:lnSpc>
                <a:spcBef>
                  <a:spcPts val="600"/>
                </a:spcBef>
                <a:spcAft>
                  <a:spcPts val="600"/>
                </a:spcAft>
                <a:buClr>
                  <a:srgbClr val="00AA7E"/>
                </a:buClr>
                <a:buSzPct val="85000"/>
                <a:buFontTx/>
                <a:buNone/>
                <a:tabLst/>
                <a:defRPr/>
              </a:pPr>
              <a:r>
                <a:rPr lang="en-US" sz="1050" b="1">
                  <a:solidFill>
                    <a:schemeClr val="tx1"/>
                  </a:solidFill>
                </a:rPr>
                <a:t>255/238/128</a:t>
              </a:r>
            </a:p>
          </p:txBody>
        </p:sp>
        <p:sp>
          <p:nvSpPr>
            <p:cNvPr id="149" name="Rectangle 148">
              <a:extLst>
                <a:ext uri="{FF2B5EF4-FFF2-40B4-BE49-F238E27FC236}">
                  <a16:creationId xmlns:a16="http://schemas.microsoft.com/office/drawing/2014/main" id="{D8B8B116-E809-4899-95B0-F726E81A41CA}"/>
                </a:ext>
              </a:extLst>
            </p:cNvPr>
            <p:cNvSpPr>
              <a:spLocks noChangeAspect="1"/>
            </p:cNvSpPr>
            <p:nvPr/>
          </p:nvSpPr>
          <p:spPr bwMode="auto">
            <a:xfrm>
              <a:off x="501653" y="4625280"/>
              <a:ext cx="1447917" cy="514430"/>
            </a:xfrm>
            <a:prstGeom prst="rect">
              <a:avLst/>
            </a:prstGeom>
            <a:solidFill>
              <a:srgbClr val="FAE34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tx1"/>
                  </a:solidFill>
                </a:rPr>
                <a:t>250/227/75</a:t>
              </a:r>
            </a:p>
          </p:txBody>
        </p:sp>
        <p:sp>
          <p:nvSpPr>
            <p:cNvPr id="150" name="Rectangle 149">
              <a:extLst>
                <a:ext uri="{FF2B5EF4-FFF2-40B4-BE49-F238E27FC236}">
                  <a16:creationId xmlns:a16="http://schemas.microsoft.com/office/drawing/2014/main" id="{A1E7213E-07D4-4F29-9E72-0DCF5880BCFE}"/>
                </a:ext>
              </a:extLst>
            </p:cNvPr>
            <p:cNvSpPr>
              <a:spLocks noChangeAspect="1"/>
            </p:cNvSpPr>
            <p:nvPr/>
          </p:nvSpPr>
          <p:spPr bwMode="auto">
            <a:xfrm>
              <a:off x="501653" y="5137736"/>
              <a:ext cx="1447917" cy="514430"/>
            </a:xfrm>
            <a:prstGeom prst="rect">
              <a:avLst/>
            </a:prstGeom>
            <a:solidFill>
              <a:srgbClr val="F5D400"/>
            </a:solidFill>
            <a:ln w="9525">
              <a:noFill/>
              <a:round/>
              <a:headEnd/>
              <a:tailEnd/>
            </a:ln>
            <a:effectLst/>
          </p:spPr>
          <p:txBody>
            <a:bodyPr wrap="none" rtlCol="0" anchor="b"/>
            <a:lstStyle/>
            <a:p>
              <a:pPr marL="0" marR="0" lvl="0" indent="0" algn="ctr" defTabSz="1463040" rtl="0" eaLnBrk="0" fontAlgn="base" latinLnBrk="0" hangingPunct="0">
                <a:lnSpc>
                  <a:spcPct val="90000"/>
                </a:lnSpc>
                <a:spcBef>
                  <a:spcPts val="600"/>
                </a:spcBef>
                <a:spcAft>
                  <a:spcPts val="600"/>
                </a:spcAft>
                <a:buClr>
                  <a:srgbClr val="00AA7E"/>
                </a:buClr>
                <a:buSzPct val="85000"/>
                <a:buFontTx/>
                <a:buNone/>
                <a:tabLst/>
                <a:defRPr/>
              </a:pPr>
              <a:r>
                <a:rPr lang="en-US" sz="1050" b="1">
                  <a:solidFill>
                    <a:schemeClr val="tx1"/>
                  </a:solidFill>
                </a:rPr>
                <a:t>245/212/0</a:t>
              </a:r>
            </a:p>
          </p:txBody>
        </p:sp>
      </p:grpSp>
      <p:sp>
        <p:nvSpPr>
          <p:cNvPr id="151" name="Rectangle 150">
            <a:extLst>
              <a:ext uri="{FF2B5EF4-FFF2-40B4-BE49-F238E27FC236}">
                <a16:creationId xmlns:a16="http://schemas.microsoft.com/office/drawing/2014/main" id="{4B35F870-73B6-4029-892B-736FACFA88CF}"/>
              </a:ext>
            </a:extLst>
          </p:cNvPr>
          <p:cNvSpPr/>
          <p:nvPr userDrawn="1"/>
        </p:nvSpPr>
        <p:spPr>
          <a:xfrm>
            <a:off x="503238" y="3494996"/>
            <a:ext cx="1208318" cy="338554"/>
          </a:xfrm>
          <a:prstGeom prst="rect">
            <a:avLst/>
          </a:prstGeom>
        </p:spPr>
        <p:txBody>
          <a:bodyPr wrap="square">
            <a:spAutoFit/>
          </a:bodyPr>
          <a:lstStyle/>
          <a:p>
            <a:pPr>
              <a:spcBef>
                <a:spcPts val="600"/>
              </a:spcBef>
            </a:pPr>
            <a:r>
              <a:rPr lang="en-US" sz="1600" b="1">
                <a:solidFill>
                  <a:schemeClr val="tx2"/>
                </a:solidFill>
              </a:rPr>
              <a:t>Color 1</a:t>
            </a:r>
            <a:endParaRPr lang="en-US" sz="1600">
              <a:solidFill>
                <a:schemeClr val="tx2"/>
              </a:solidFill>
            </a:endParaRPr>
          </a:p>
        </p:txBody>
      </p:sp>
      <p:sp>
        <p:nvSpPr>
          <p:cNvPr id="152" name="Rectangle 151">
            <a:extLst>
              <a:ext uri="{FF2B5EF4-FFF2-40B4-BE49-F238E27FC236}">
                <a16:creationId xmlns:a16="http://schemas.microsoft.com/office/drawing/2014/main" id="{410AA8F7-6882-425A-8CBA-6FC9DA798219}"/>
              </a:ext>
            </a:extLst>
          </p:cNvPr>
          <p:cNvSpPr/>
          <p:nvPr userDrawn="1"/>
        </p:nvSpPr>
        <p:spPr>
          <a:xfrm>
            <a:off x="1849900" y="3494996"/>
            <a:ext cx="1208318" cy="338554"/>
          </a:xfrm>
          <a:prstGeom prst="rect">
            <a:avLst/>
          </a:prstGeom>
        </p:spPr>
        <p:txBody>
          <a:bodyPr wrap="square">
            <a:spAutoFit/>
          </a:bodyPr>
          <a:lstStyle/>
          <a:p>
            <a:pPr>
              <a:spcBef>
                <a:spcPts val="600"/>
              </a:spcBef>
            </a:pPr>
            <a:r>
              <a:rPr lang="en-US" sz="1600" b="1">
                <a:solidFill>
                  <a:schemeClr val="tx2"/>
                </a:solidFill>
              </a:rPr>
              <a:t>Color 2</a:t>
            </a:r>
            <a:endParaRPr lang="en-US" sz="1600">
              <a:solidFill>
                <a:schemeClr val="tx2"/>
              </a:solidFill>
            </a:endParaRPr>
          </a:p>
        </p:txBody>
      </p:sp>
      <p:sp>
        <p:nvSpPr>
          <p:cNvPr id="153" name="Rectangle 152">
            <a:extLst>
              <a:ext uri="{FF2B5EF4-FFF2-40B4-BE49-F238E27FC236}">
                <a16:creationId xmlns:a16="http://schemas.microsoft.com/office/drawing/2014/main" id="{94642054-4EA9-4B8B-87C1-6BD81178E4C2}"/>
              </a:ext>
            </a:extLst>
          </p:cNvPr>
          <p:cNvSpPr/>
          <p:nvPr userDrawn="1"/>
        </p:nvSpPr>
        <p:spPr>
          <a:xfrm>
            <a:off x="3196562" y="3494996"/>
            <a:ext cx="1208318" cy="338554"/>
          </a:xfrm>
          <a:prstGeom prst="rect">
            <a:avLst/>
          </a:prstGeom>
        </p:spPr>
        <p:txBody>
          <a:bodyPr wrap="square">
            <a:spAutoFit/>
          </a:bodyPr>
          <a:lstStyle/>
          <a:p>
            <a:pPr>
              <a:spcBef>
                <a:spcPts val="600"/>
              </a:spcBef>
            </a:pPr>
            <a:r>
              <a:rPr lang="en-US" sz="1600" b="1">
                <a:solidFill>
                  <a:schemeClr val="tx2"/>
                </a:solidFill>
              </a:rPr>
              <a:t>Accent A</a:t>
            </a:r>
            <a:endParaRPr lang="en-US" sz="1600">
              <a:solidFill>
                <a:schemeClr val="tx2"/>
              </a:solidFill>
            </a:endParaRPr>
          </a:p>
        </p:txBody>
      </p:sp>
      <p:sp>
        <p:nvSpPr>
          <p:cNvPr id="154" name="Rectangle 153">
            <a:extLst>
              <a:ext uri="{FF2B5EF4-FFF2-40B4-BE49-F238E27FC236}">
                <a16:creationId xmlns:a16="http://schemas.microsoft.com/office/drawing/2014/main" id="{279F151D-1651-4DFC-ACB5-7CF43D35365C}"/>
              </a:ext>
            </a:extLst>
          </p:cNvPr>
          <p:cNvSpPr/>
          <p:nvPr userDrawn="1"/>
        </p:nvSpPr>
        <p:spPr>
          <a:xfrm>
            <a:off x="4526598" y="3494996"/>
            <a:ext cx="1208318" cy="338554"/>
          </a:xfrm>
          <a:prstGeom prst="rect">
            <a:avLst/>
          </a:prstGeom>
        </p:spPr>
        <p:txBody>
          <a:bodyPr wrap="square">
            <a:spAutoFit/>
          </a:bodyPr>
          <a:lstStyle/>
          <a:p>
            <a:pPr>
              <a:spcBef>
                <a:spcPts val="600"/>
              </a:spcBef>
            </a:pPr>
            <a:r>
              <a:rPr lang="en-US" sz="1600" b="1">
                <a:solidFill>
                  <a:schemeClr val="tx2"/>
                </a:solidFill>
              </a:rPr>
              <a:t>Accent B</a:t>
            </a:r>
            <a:endParaRPr lang="en-US" sz="1600">
              <a:solidFill>
                <a:schemeClr val="tx2"/>
              </a:solidFill>
            </a:endParaRPr>
          </a:p>
        </p:txBody>
      </p:sp>
      <p:sp>
        <p:nvSpPr>
          <p:cNvPr id="155" name="Rectangle 154">
            <a:extLst>
              <a:ext uri="{FF2B5EF4-FFF2-40B4-BE49-F238E27FC236}">
                <a16:creationId xmlns:a16="http://schemas.microsoft.com/office/drawing/2014/main" id="{3C9773B6-8D59-4D47-AB32-9162F3EEECC6}"/>
              </a:ext>
            </a:extLst>
          </p:cNvPr>
          <p:cNvSpPr/>
          <p:nvPr userDrawn="1"/>
        </p:nvSpPr>
        <p:spPr>
          <a:xfrm>
            <a:off x="5873259" y="3494996"/>
            <a:ext cx="1208318" cy="338554"/>
          </a:xfrm>
          <a:prstGeom prst="rect">
            <a:avLst/>
          </a:prstGeom>
        </p:spPr>
        <p:txBody>
          <a:bodyPr wrap="square">
            <a:spAutoFit/>
          </a:bodyPr>
          <a:lstStyle/>
          <a:p>
            <a:pPr>
              <a:spcBef>
                <a:spcPts val="600"/>
              </a:spcBef>
            </a:pPr>
            <a:r>
              <a:rPr lang="en-US" sz="1600" b="1">
                <a:solidFill>
                  <a:schemeClr val="tx2"/>
                </a:solidFill>
              </a:rPr>
              <a:t>Accent C</a:t>
            </a:r>
            <a:endParaRPr lang="en-US" sz="1600">
              <a:solidFill>
                <a:schemeClr val="tx2"/>
              </a:solidFill>
            </a:endParaRPr>
          </a:p>
        </p:txBody>
      </p:sp>
      <p:sp>
        <p:nvSpPr>
          <p:cNvPr id="156" name="Rectangle 155">
            <a:extLst>
              <a:ext uri="{FF2B5EF4-FFF2-40B4-BE49-F238E27FC236}">
                <a16:creationId xmlns:a16="http://schemas.microsoft.com/office/drawing/2014/main" id="{DD3A0C33-0705-4E49-9A52-D708CA79192A}"/>
              </a:ext>
            </a:extLst>
          </p:cNvPr>
          <p:cNvSpPr/>
          <p:nvPr userDrawn="1"/>
        </p:nvSpPr>
        <p:spPr>
          <a:xfrm>
            <a:off x="7219921" y="3494996"/>
            <a:ext cx="1208318" cy="338554"/>
          </a:xfrm>
          <a:prstGeom prst="rect">
            <a:avLst/>
          </a:prstGeom>
        </p:spPr>
        <p:txBody>
          <a:bodyPr wrap="square">
            <a:spAutoFit/>
          </a:bodyPr>
          <a:lstStyle/>
          <a:p>
            <a:pPr>
              <a:spcBef>
                <a:spcPts val="600"/>
              </a:spcBef>
            </a:pPr>
            <a:r>
              <a:rPr lang="en-US" sz="1600" b="1">
                <a:solidFill>
                  <a:schemeClr val="tx2"/>
                </a:solidFill>
              </a:rPr>
              <a:t>Accent D</a:t>
            </a:r>
            <a:endParaRPr lang="en-US" sz="1600">
              <a:solidFill>
                <a:schemeClr val="tx2"/>
              </a:solidFill>
            </a:endParaRPr>
          </a:p>
        </p:txBody>
      </p:sp>
      <p:sp>
        <p:nvSpPr>
          <p:cNvPr id="157" name="Text Placeholder 3">
            <a:extLst>
              <a:ext uri="{FF2B5EF4-FFF2-40B4-BE49-F238E27FC236}">
                <a16:creationId xmlns:a16="http://schemas.microsoft.com/office/drawing/2014/main" id="{70E065F9-1B64-4E10-8015-166105F154BE}"/>
              </a:ext>
            </a:extLst>
          </p:cNvPr>
          <p:cNvSpPr txBox="1">
            <a:spLocks/>
          </p:cNvSpPr>
          <p:nvPr userDrawn="1"/>
        </p:nvSpPr>
        <p:spPr>
          <a:xfrm>
            <a:off x="503238" y="6358068"/>
            <a:ext cx="7925001" cy="994598"/>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keep each presentation to a </a:t>
            </a:r>
            <a:r>
              <a:rPr lang="en-US" sz="2000" b="1"/>
              <a:t>maximum of three colors</a:t>
            </a:r>
            <a:r>
              <a:rPr lang="en-US" sz="2000"/>
              <a:t>, select up to one additional accent color band along with the first two blue and green bands.</a:t>
            </a:r>
            <a:endParaRPr lang="en-US" sz="2000" b="1"/>
          </a:p>
        </p:txBody>
      </p:sp>
      <p:sp>
        <p:nvSpPr>
          <p:cNvPr id="158" name="Rectangle 157">
            <a:extLst>
              <a:ext uri="{FF2B5EF4-FFF2-40B4-BE49-F238E27FC236}">
                <a16:creationId xmlns:a16="http://schemas.microsoft.com/office/drawing/2014/main" id="{82D53F98-D4CB-4D83-A3A3-CAA1C95402B6}"/>
              </a:ext>
            </a:extLst>
          </p:cNvPr>
          <p:cNvSpPr/>
          <p:nvPr userDrawn="1"/>
        </p:nvSpPr>
        <p:spPr>
          <a:xfrm>
            <a:off x="10578757" y="5904855"/>
            <a:ext cx="3091523" cy="1323439"/>
          </a:xfrm>
          <a:prstGeom prst="rect">
            <a:avLst/>
          </a:prstGeom>
        </p:spPr>
        <p:txBody>
          <a:bodyPr wrap="square">
            <a:spAutoFit/>
          </a:bodyPr>
          <a:lstStyle/>
          <a:p>
            <a:pPr marL="0" algn="l" defTabSz="1463040" rtl="0" eaLnBrk="1" latinLnBrk="0" hangingPunct="1">
              <a:spcAft>
                <a:spcPts val="600"/>
              </a:spcAft>
            </a:pPr>
            <a:r>
              <a:rPr lang="en-US" sz="1600" i="1" kern="0">
                <a:solidFill>
                  <a:schemeClr val="tx2"/>
                </a:solidFill>
                <a:latin typeface="+mn-lt"/>
                <a:ea typeface="+mn-ea"/>
                <a:cs typeface="+mn-cs"/>
              </a:rPr>
              <a:t>To use colors from the left, </a:t>
            </a:r>
            <a:r>
              <a:rPr lang="en-US" sz="1600" b="0" i="1" kern="0">
                <a:solidFill>
                  <a:schemeClr val="tx2"/>
                </a:solidFill>
                <a:latin typeface="+mn-lt"/>
                <a:ea typeface="+mn-ea"/>
                <a:cs typeface="+mn-cs"/>
              </a:rPr>
              <a:t>select your object, then click the drop-down menu under </a:t>
            </a:r>
            <a:r>
              <a:rPr lang="en-US" sz="1600" b="1" i="1" kern="0">
                <a:solidFill>
                  <a:schemeClr val="tx2"/>
                </a:solidFill>
                <a:latin typeface="+mn-lt"/>
                <a:ea typeface="+mn-ea"/>
                <a:cs typeface="+mn-cs"/>
              </a:rPr>
              <a:t>Shape Fill. </a:t>
            </a:r>
            <a:r>
              <a:rPr lang="en-US" sz="1600" b="0" i="1" kern="0">
                <a:solidFill>
                  <a:schemeClr val="tx2"/>
                </a:solidFill>
                <a:latin typeface="+mn-lt"/>
                <a:ea typeface="+mn-ea"/>
                <a:cs typeface="+mn-cs"/>
              </a:rPr>
              <a:t>Use the </a:t>
            </a:r>
            <a:r>
              <a:rPr lang="en-US" sz="1600" b="1" i="1" kern="0">
                <a:solidFill>
                  <a:schemeClr val="tx2"/>
                </a:solidFill>
                <a:latin typeface="+mn-lt"/>
                <a:ea typeface="+mn-ea"/>
                <a:cs typeface="+mn-cs"/>
              </a:rPr>
              <a:t>Eyedropper</a:t>
            </a:r>
            <a:r>
              <a:rPr lang="en-US" sz="1600" b="0" i="1" kern="0">
                <a:solidFill>
                  <a:schemeClr val="tx2"/>
                </a:solidFill>
                <a:latin typeface="+mn-lt"/>
                <a:ea typeface="+mn-ea"/>
                <a:cs typeface="+mn-cs"/>
              </a:rPr>
              <a:t> and click your desired color to apply.</a:t>
            </a:r>
          </a:p>
        </p:txBody>
      </p:sp>
      <p:sp>
        <p:nvSpPr>
          <p:cNvPr id="159" name="Rounded Rectangle 60">
            <a:extLst>
              <a:ext uri="{FF2B5EF4-FFF2-40B4-BE49-F238E27FC236}">
                <a16:creationId xmlns:a16="http://schemas.microsoft.com/office/drawing/2014/main" id="{BB1E9377-16A3-425E-B04C-553F6EDA5B17}"/>
              </a:ext>
            </a:extLst>
          </p:cNvPr>
          <p:cNvSpPr/>
          <p:nvPr userDrawn="1"/>
        </p:nvSpPr>
        <p:spPr bwMode="auto">
          <a:xfrm>
            <a:off x="10578757" y="4338689"/>
            <a:ext cx="1926202" cy="329859"/>
          </a:xfrm>
          <a:prstGeom prst="roundRect">
            <a:avLst>
              <a:gd name="adj" fmla="val 50000"/>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cxnSp>
        <p:nvCxnSpPr>
          <p:cNvPr id="160" name="Straight Arrow Connector 159">
            <a:extLst>
              <a:ext uri="{FF2B5EF4-FFF2-40B4-BE49-F238E27FC236}">
                <a16:creationId xmlns:a16="http://schemas.microsoft.com/office/drawing/2014/main" id="{BB7920BA-0484-4540-B6C1-8A77682625A6}"/>
              </a:ext>
            </a:extLst>
          </p:cNvPr>
          <p:cNvCxnSpPr>
            <a:cxnSpLocks/>
          </p:cNvCxnSpPr>
          <p:nvPr userDrawn="1"/>
        </p:nvCxnSpPr>
        <p:spPr bwMode="auto">
          <a:xfrm flipV="1">
            <a:off x="11782718" y="4707494"/>
            <a:ext cx="0" cy="1100797"/>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68" name="Rectangle 67">
            <a:extLst>
              <a:ext uri="{FF2B5EF4-FFF2-40B4-BE49-F238E27FC236}">
                <a16:creationId xmlns:a16="http://schemas.microsoft.com/office/drawing/2014/main" id="{B7E8DDA5-D516-4337-A292-1FA906079A60}"/>
              </a:ext>
            </a:extLst>
          </p:cNvPr>
          <p:cNvSpPr/>
          <p:nvPr userDrawn="1"/>
        </p:nvSpPr>
        <p:spPr>
          <a:xfrm>
            <a:off x="8593157" y="5065016"/>
            <a:ext cx="918801" cy="430887"/>
          </a:xfrm>
          <a:prstGeom prst="rect">
            <a:avLst/>
          </a:prstGeom>
          <a:solidFill>
            <a:schemeClr val="bg1"/>
          </a:solidFill>
        </p:spPr>
        <p:txBody>
          <a:bodyPr wrap="square">
            <a:spAutoFit/>
          </a:bodyPr>
          <a:lstStyle/>
          <a:p>
            <a:r>
              <a:rPr lang="en-US" sz="1100" b="1" kern="0">
                <a:solidFill>
                  <a:schemeClr val="bg2"/>
                </a:solidFill>
              </a:rPr>
              <a:t>BASE COLORS</a:t>
            </a:r>
          </a:p>
        </p:txBody>
      </p:sp>
    </p:spTree>
    <p:extLst>
      <p:ext uri="{BB962C8B-B14F-4D97-AF65-F5344CB8AC3E}">
        <p14:creationId xmlns:p14="http://schemas.microsoft.com/office/powerpoint/2010/main" val="370966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lor Gradi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i="0">
                <a:latin typeface="+mj-lt"/>
                <a:cs typeface="Arial Black" panose="020B0604020202020204" pitchFamily="34" charset="0"/>
              </a:defRPr>
            </a:lvl1pPr>
          </a:lstStyle>
          <a:p>
            <a:r>
              <a:rPr lang="en-US"/>
              <a:t>Color Gradients</a:t>
            </a:r>
          </a:p>
        </p:txBody>
      </p:sp>
      <p:sp>
        <p:nvSpPr>
          <p:cNvPr id="40" name="Text Placeholder 3">
            <a:extLst>
              <a:ext uri="{FF2B5EF4-FFF2-40B4-BE49-F238E27FC236}">
                <a16:creationId xmlns:a16="http://schemas.microsoft.com/office/drawing/2014/main" id="{7C55ECBC-0A1A-4733-9240-9C81AFBB800C}"/>
              </a:ext>
            </a:extLst>
          </p:cNvPr>
          <p:cNvSpPr txBox="1">
            <a:spLocks/>
          </p:cNvSpPr>
          <p:nvPr userDrawn="1"/>
        </p:nvSpPr>
        <p:spPr>
          <a:xfrm>
            <a:off x="503238" y="6358068"/>
            <a:ext cx="13306891" cy="994598"/>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In some instances, such as in charts, it is helpful to use a monochromatic color gradient of the same color tone. </a:t>
            </a:r>
            <a:br>
              <a:rPr lang="en-US" sz="2000"/>
            </a:br>
            <a:r>
              <a:rPr lang="en-US" sz="2000"/>
              <a:t>Pull from the colors above.</a:t>
            </a:r>
            <a:endParaRPr lang="en-US" sz="2000" b="1"/>
          </a:p>
        </p:txBody>
      </p:sp>
      <p:grpSp>
        <p:nvGrpSpPr>
          <p:cNvPr id="41" name="Group 40">
            <a:extLst>
              <a:ext uri="{FF2B5EF4-FFF2-40B4-BE49-F238E27FC236}">
                <a16:creationId xmlns:a16="http://schemas.microsoft.com/office/drawing/2014/main" id="{A769554B-AEC7-4F08-9540-4C9A3A3B0B00}"/>
              </a:ext>
            </a:extLst>
          </p:cNvPr>
          <p:cNvGrpSpPr/>
          <p:nvPr userDrawn="1"/>
        </p:nvGrpSpPr>
        <p:grpSpPr>
          <a:xfrm>
            <a:off x="501654" y="1733470"/>
            <a:ext cx="4449819" cy="4318634"/>
            <a:chOff x="501654" y="1942908"/>
            <a:chExt cx="1240587" cy="5131172"/>
          </a:xfrm>
        </p:grpSpPr>
        <p:sp>
          <p:nvSpPr>
            <p:cNvPr id="42" name="Rectangle 41">
              <a:extLst>
                <a:ext uri="{FF2B5EF4-FFF2-40B4-BE49-F238E27FC236}">
                  <a16:creationId xmlns:a16="http://schemas.microsoft.com/office/drawing/2014/main" id="{FFCC8477-2ED2-4F14-B2C5-DF26EBDCD122}"/>
                </a:ext>
              </a:extLst>
            </p:cNvPr>
            <p:cNvSpPr>
              <a:spLocks noChangeAspect="1"/>
            </p:cNvSpPr>
            <p:nvPr/>
          </p:nvSpPr>
          <p:spPr bwMode="auto">
            <a:xfrm>
              <a:off x="501654" y="3994792"/>
              <a:ext cx="1240587" cy="514430"/>
            </a:xfrm>
            <a:prstGeom prst="rect">
              <a:avLst/>
            </a:prstGeom>
            <a:solidFill>
              <a:srgbClr val="1594C7"/>
            </a:solidFill>
            <a:ln w="9525">
              <a:noFill/>
              <a:round/>
              <a:headEnd/>
              <a:tailEnd/>
            </a:ln>
            <a:effectLst/>
          </p:spPr>
          <p:txBody>
            <a:bodyPr wrap="none" rtlCol="0" anchor="b"/>
            <a:lstStyle/>
            <a:p>
              <a:pPr lvl="0" algn="ctr" eaLnBrk="0" fontAlgn="base" hangingPunct="0">
                <a:lnSpc>
                  <a:spcPct val="90000"/>
                </a:lnSpc>
                <a:spcBef>
                  <a:spcPts val="600"/>
                </a:spcBef>
                <a:spcAft>
                  <a:spcPts val="600"/>
                </a:spcAft>
                <a:buClr>
                  <a:srgbClr val="00AA7E"/>
                </a:buClr>
                <a:buSzPct val="85000"/>
              </a:pPr>
              <a:r>
                <a:rPr lang="en-US" sz="1050" b="1">
                  <a:solidFill>
                    <a:schemeClr val="bg1"/>
                  </a:solidFill>
                </a:rPr>
                <a:t>21/148/199</a:t>
              </a:r>
            </a:p>
          </p:txBody>
        </p:sp>
        <p:sp>
          <p:nvSpPr>
            <p:cNvPr id="43" name="Rectangle 42">
              <a:extLst>
                <a:ext uri="{FF2B5EF4-FFF2-40B4-BE49-F238E27FC236}">
                  <a16:creationId xmlns:a16="http://schemas.microsoft.com/office/drawing/2014/main" id="{9044B95D-A0BF-4A47-A5A1-3CFBEFDECB4D}"/>
                </a:ext>
              </a:extLst>
            </p:cNvPr>
            <p:cNvSpPr>
              <a:spLocks noChangeAspect="1"/>
            </p:cNvSpPr>
            <p:nvPr/>
          </p:nvSpPr>
          <p:spPr bwMode="auto">
            <a:xfrm>
              <a:off x="501654" y="4507763"/>
              <a:ext cx="1240587" cy="514430"/>
            </a:xfrm>
            <a:prstGeom prst="rect">
              <a:avLst/>
            </a:prstGeom>
            <a:solidFill>
              <a:srgbClr val="0A6EA8"/>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11/114/172</a:t>
              </a:r>
            </a:p>
          </p:txBody>
        </p:sp>
        <p:sp>
          <p:nvSpPr>
            <p:cNvPr id="48" name="Rectangle 47">
              <a:extLst>
                <a:ext uri="{FF2B5EF4-FFF2-40B4-BE49-F238E27FC236}">
                  <a16:creationId xmlns:a16="http://schemas.microsoft.com/office/drawing/2014/main" id="{0167F7E6-DB94-4A57-990B-3E826403B265}"/>
                </a:ext>
              </a:extLst>
            </p:cNvPr>
            <p:cNvSpPr>
              <a:spLocks noChangeAspect="1"/>
            </p:cNvSpPr>
            <p:nvPr/>
          </p:nvSpPr>
          <p:spPr bwMode="auto">
            <a:xfrm>
              <a:off x="501654" y="5020734"/>
              <a:ext cx="1240587" cy="514430"/>
            </a:xfrm>
            <a:prstGeom prst="rect">
              <a:avLst/>
            </a:prstGeom>
            <a:solidFill>
              <a:srgbClr val="004B8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0/75/141</a:t>
              </a:r>
            </a:p>
          </p:txBody>
        </p:sp>
        <p:sp>
          <p:nvSpPr>
            <p:cNvPr id="49" name="Rectangle 48">
              <a:extLst>
                <a:ext uri="{FF2B5EF4-FFF2-40B4-BE49-F238E27FC236}">
                  <a16:creationId xmlns:a16="http://schemas.microsoft.com/office/drawing/2014/main" id="{A3092321-A32B-4615-9B3D-E696DEE932C6}"/>
                </a:ext>
              </a:extLst>
            </p:cNvPr>
            <p:cNvSpPr>
              <a:spLocks noChangeAspect="1"/>
            </p:cNvSpPr>
            <p:nvPr/>
          </p:nvSpPr>
          <p:spPr bwMode="auto">
            <a:xfrm>
              <a:off x="501654" y="5533705"/>
              <a:ext cx="1240587" cy="514430"/>
            </a:xfrm>
            <a:prstGeom prst="rect">
              <a:avLst/>
            </a:prstGeom>
            <a:solidFill>
              <a:srgbClr val="003A7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0/58/117</a:t>
              </a:r>
            </a:p>
          </p:txBody>
        </p:sp>
        <p:sp>
          <p:nvSpPr>
            <p:cNvPr id="50" name="Rectangle 49">
              <a:extLst>
                <a:ext uri="{FF2B5EF4-FFF2-40B4-BE49-F238E27FC236}">
                  <a16:creationId xmlns:a16="http://schemas.microsoft.com/office/drawing/2014/main" id="{07A4B975-B5C7-4F16-92DB-B92ADCF7006B}"/>
                </a:ext>
              </a:extLst>
            </p:cNvPr>
            <p:cNvSpPr>
              <a:spLocks noChangeAspect="1"/>
            </p:cNvSpPr>
            <p:nvPr/>
          </p:nvSpPr>
          <p:spPr bwMode="auto">
            <a:xfrm>
              <a:off x="501654" y="1942908"/>
              <a:ext cx="1240587" cy="514430"/>
            </a:xfrm>
            <a:prstGeom prst="rect">
              <a:avLst/>
            </a:prstGeom>
            <a:solidFill>
              <a:srgbClr val="75D3E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117/211/235</a:t>
              </a:r>
            </a:p>
          </p:txBody>
        </p:sp>
        <p:sp>
          <p:nvSpPr>
            <p:cNvPr id="79" name="Rectangle 78">
              <a:extLst>
                <a:ext uri="{FF2B5EF4-FFF2-40B4-BE49-F238E27FC236}">
                  <a16:creationId xmlns:a16="http://schemas.microsoft.com/office/drawing/2014/main" id="{1C6435CA-D92D-4A87-A0E3-A11C94877485}"/>
                </a:ext>
              </a:extLst>
            </p:cNvPr>
            <p:cNvSpPr>
              <a:spLocks noChangeAspect="1"/>
            </p:cNvSpPr>
            <p:nvPr/>
          </p:nvSpPr>
          <p:spPr bwMode="auto">
            <a:xfrm>
              <a:off x="501654" y="2455879"/>
              <a:ext cx="1240587" cy="514430"/>
            </a:xfrm>
            <a:prstGeom prst="rect">
              <a:avLst/>
            </a:prstGeom>
            <a:solidFill>
              <a:srgbClr val="55C6E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85/198/230</a:t>
              </a:r>
            </a:p>
          </p:txBody>
        </p:sp>
        <p:sp>
          <p:nvSpPr>
            <p:cNvPr id="80" name="Rectangle 79">
              <a:extLst>
                <a:ext uri="{FF2B5EF4-FFF2-40B4-BE49-F238E27FC236}">
                  <a16:creationId xmlns:a16="http://schemas.microsoft.com/office/drawing/2014/main" id="{F703BE3F-485D-44CA-98F3-B81332649C0B}"/>
                </a:ext>
              </a:extLst>
            </p:cNvPr>
            <p:cNvSpPr>
              <a:spLocks noChangeAspect="1"/>
            </p:cNvSpPr>
            <p:nvPr/>
          </p:nvSpPr>
          <p:spPr bwMode="auto">
            <a:xfrm>
              <a:off x="501654" y="2968850"/>
              <a:ext cx="1240587" cy="514430"/>
            </a:xfrm>
            <a:prstGeom prst="rect">
              <a:avLst/>
            </a:prstGeom>
            <a:solidFill>
              <a:srgbClr val="35BAE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53/186/226</a:t>
              </a:r>
            </a:p>
          </p:txBody>
        </p:sp>
        <p:sp>
          <p:nvSpPr>
            <p:cNvPr id="84" name="Rectangle 83">
              <a:extLst>
                <a:ext uri="{FF2B5EF4-FFF2-40B4-BE49-F238E27FC236}">
                  <a16:creationId xmlns:a16="http://schemas.microsoft.com/office/drawing/2014/main" id="{97C12A38-61FD-4D10-9DD6-C15384055EE4}"/>
                </a:ext>
              </a:extLst>
            </p:cNvPr>
            <p:cNvSpPr>
              <a:spLocks noChangeAspect="1"/>
            </p:cNvSpPr>
            <p:nvPr/>
          </p:nvSpPr>
          <p:spPr bwMode="auto">
            <a:xfrm>
              <a:off x="501654" y="3481821"/>
              <a:ext cx="1240587" cy="514430"/>
            </a:xfrm>
            <a:prstGeom prst="rect">
              <a:avLst/>
            </a:prstGeom>
            <a:solidFill>
              <a:srgbClr val="1DB1D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29/177/222</a:t>
              </a:r>
            </a:p>
          </p:txBody>
        </p:sp>
        <p:sp>
          <p:nvSpPr>
            <p:cNvPr id="85" name="Rectangle 84">
              <a:extLst>
                <a:ext uri="{FF2B5EF4-FFF2-40B4-BE49-F238E27FC236}">
                  <a16:creationId xmlns:a16="http://schemas.microsoft.com/office/drawing/2014/main" id="{C2C409B2-D8FF-4A98-AC29-A64B1EA28E01}"/>
                </a:ext>
              </a:extLst>
            </p:cNvPr>
            <p:cNvSpPr>
              <a:spLocks noChangeAspect="1"/>
            </p:cNvSpPr>
            <p:nvPr/>
          </p:nvSpPr>
          <p:spPr bwMode="auto">
            <a:xfrm>
              <a:off x="501654" y="6046676"/>
              <a:ext cx="1240587" cy="514430"/>
            </a:xfrm>
            <a:prstGeom prst="rect">
              <a:avLst/>
            </a:prstGeom>
            <a:solidFill>
              <a:srgbClr val="152D5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21/45/94</a:t>
              </a:r>
            </a:p>
          </p:txBody>
        </p:sp>
        <p:sp>
          <p:nvSpPr>
            <p:cNvPr id="86" name="Rectangle 85">
              <a:extLst>
                <a:ext uri="{FF2B5EF4-FFF2-40B4-BE49-F238E27FC236}">
                  <a16:creationId xmlns:a16="http://schemas.microsoft.com/office/drawing/2014/main" id="{A5A3A25D-0083-4486-85B1-2A22E5732EDC}"/>
                </a:ext>
              </a:extLst>
            </p:cNvPr>
            <p:cNvSpPr>
              <a:spLocks noChangeAspect="1"/>
            </p:cNvSpPr>
            <p:nvPr/>
          </p:nvSpPr>
          <p:spPr bwMode="auto">
            <a:xfrm>
              <a:off x="501654" y="6559650"/>
              <a:ext cx="1240587" cy="514430"/>
            </a:xfrm>
            <a:prstGeom prst="rect">
              <a:avLst/>
            </a:prstGeom>
            <a:solidFill>
              <a:srgbClr val="1B2552"/>
            </a:solidFill>
            <a:ln w="9525">
              <a:noFill/>
              <a:round/>
              <a:headEnd/>
              <a:tailEnd/>
            </a:ln>
            <a:effectLst/>
          </p:spPr>
          <p:txBody>
            <a:bodyPr wrap="none" rtlCol="0" anchor="b"/>
            <a:lstStyle/>
            <a:p>
              <a:pPr lvl="0" algn="ctr" eaLnBrk="0" fontAlgn="base" hangingPunct="0">
                <a:lnSpc>
                  <a:spcPct val="90000"/>
                </a:lnSpc>
                <a:spcBef>
                  <a:spcPts val="600"/>
                </a:spcBef>
                <a:spcAft>
                  <a:spcPts val="600"/>
                </a:spcAft>
                <a:buClr>
                  <a:srgbClr val="00AA7E"/>
                </a:buClr>
                <a:buSzPct val="85000"/>
              </a:pPr>
              <a:r>
                <a:rPr lang="en-US" sz="1050" b="1">
                  <a:solidFill>
                    <a:schemeClr val="bg1"/>
                  </a:solidFill>
                </a:rPr>
                <a:t>27/37/82</a:t>
              </a:r>
            </a:p>
          </p:txBody>
        </p:sp>
      </p:grpSp>
      <p:grpSp>
        <p:nvGrpSpPr>
          <p:cNvPr id="87" name="Group 86">
            <a:extLst>
              <a:ext uri="{FF2B5EF4-FFF2-40B4-BE49-F238E27FC236}">
                <a16:creationId xmlns:a16="http://schemas.microsoft.com/office/drawing/2014/main" id="{FDE47714-66E4-49A7-9DEF-544A7B9C6191}"/>
              </a:ext>
            </a:extLst>
          </p:cNvPr>
          <p:cNvGrpSpPr/>
          <p:nvPr userDrawn="1"/>
        </p:nvGrpSpPr>
        <p:grpSpPr>
          <a:xfrm>
            <a:off x="5088707" y="1733470"/>
            <a:ext cx="4449819" cy="4318634"/>
            <a:chOff x="501654" y="1942908"/>
            <a:chExt cx="1240587" cy="5131172"/>
          </a:xfrm>
        </p:grpSpPr>
        <p:sp>
          <p:nvSpPr>
            <p:cNvPr id="88" name="Rectangle 87">
              <a:extLst>
                <a:ext uri="{FF2B5EF4-FFF2-40B4-BE49-F238E27FC236}">
                  <a16:creationId xmlns:a16="http://schemas.microsoft.com/office/drawing/2014/main" id="{C4867EC1-C90A-4C98-A2BD-90102584018F}"/>
                </a:ext>
              </a:extLst>
            </p:cNvPr>
            <p:cNvSpPr>
              <a:spLocks noChangeAspect="1"/>
            </p:cNvSpPr>
            <p:nvPr/>
          </p:nvSpPr>
          <p:spPr bwMode="auto">
            <a:xfrm>
              <a:off x="501654" y="3994792"/>
              <a:ext cx="1240587" cy="514430"/>
            </a:xfrm>
            <a:prstGeom prst="rect">
              <a:avLst/>
            </a:prstGeom>
            <a:solidFill>
              <a:srgbClr val="018F68"/>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1/143/104</a:t>
              </a:r>
            </a:p>
          </p:txBody>
        </p:sp>
        <p:sp>
          <p:nvSpPr>
            <p:cNvPr id="89" name="Rectangle 88">
              <a:extLst>
                <a:ext uri="{FF2B5EF4-FFF2-40B4-BE49-F238E27FC236}">
                  <a16:creationId xmlns:a16="http://schemas.microsoft.com/office/drawing/2014/main" id="{4B5981B6-E68F-42B8-8936-CDA6052D2108}"/>
                </a:ext>
              </a:extLst>
            </p:cNvPr>
            <p:cNvSpPr>
              <a:spLocks noChangeAspect="1"/>
            </p:cNvSpPr>
            <p:nvPr/>
          </p:nvSpPr>
          <p:spPr bwMode="auto">
            <a:xfrm>
              <a:off x="501654" y="4507763"/>
              <a:ext cx="1240587" cy="514430"/>
            </a:xfrm>
            <a:prstGeom prst="rect">
              <a:avLst/>
            </a:prstGeom>
            <a:solidFill>
              <a:srgbClr val="00725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0/114/82</a:t>
              </a:r>
            </a:p>
          </p:txBody>
        </p:sp>
        <p:sp>
          <p:nvSpPr>
            <p:cNvPr id="90" name="Rectangle 89">
              <a:extLst>
                <a:ext uri="{FF2B5EF4-FFF2-40B4-BE49-F238E27FC236}">
                  <a16:creationId xmlns:a16="http://schemas.microsoft.com/office/drawing/2014/main" id="{F3691384-535F-415B-A4A9-E03E8F63825E}"/>
                </a:ext>
              </a:extLst>
            </p:cNvPr>
            <p:cNvSpPr>
              <a:spLocks noChangeAspect="1"/>
            </p:cNvSpPr>
            <p:nvPr/>
          </p:nvSpPr>
          <p:spPr bwMode="auto">
            <a:xfrm>
              <a:off x="501654" y="5020734"/>
              <a:ext cx="1240587" cy="514430"/>
            </a:xfrm>
            <a:prstGeom prst="rect">
              <a:avLst/>
            </a:prstGeom>
            <a:solidFill>
              <a:srgbClr val="00573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0/87/61</a:t>
              </a:r>
            </a:p>
          </p:txBody>
        </p:sp>
        <p:sp>
          <p:nvSpPr>
            <p:cNvPr id="91" name="Rectangle 90">
              <a:extLst>
                <a:ext uri="{FF2B5EF4-FFF2-40B4-BE49-F238E27FC236}">
                  <a16:creationId xmlns:a16="http://schemas.microsoft.com/office/drawing/2014/main" id="{E9FA6B05-1E59-4311-B1ED-01BE9D45E25A}"/>
                </a:ext>
              </a:extLst>
            </p:cNvPr>
            <p:cNvSpPr>
              <a:spLocks noChangeAspect="1"/>
            </p:cNvSpPr>
            <p:nvPr/>
          </p:nvSpPr>
          <p:spPr bwMode="auto">
            <a:xfrm>
              <a:off x="501654" y="5533705"/>
              <a:ext cx="1240587" cy="514430"/>
            </a:xfrm>
            <a:prstGeom prst="rect">
              <a:avLst/>
            </a:prstGeom>
            <a:solidFill>
              <a:srgbClr val="02493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2/73/53</a:t>
              </a:r>
            </a:p>
          </p:txBody>
        </p:sp>
        <p:sp>
          <p:nvSpPr>
            <p:cNvPr id="92" name="Rectangle 91">
              <a:extLst>
                <a:ext uri="{FF2B5EF4-FFF2-40B4-BE49-F238E27FC236}">
                  <a16:creationId xmlns:a16="http://schemas.microsoft.com/office/drawing/2014/main" id="{5D8B5FDA-0AA8-49B2-BB74-5F625A29748E}"/>
                </a:ext>
              </a:extLst>
            </p:cNvPr>
            <p:cNvSpPr>
              <a:spLocks noChangeAspect="1"/>
            </p:cNvSpPr>
            <p:nvPr/>
          </p:nvSpPr>
          <p:spPr bwMode="auto">
            <a:xfrm>
              <a:off x="501654" y="1942908"/>
              <a:ext cx="1240587" cy="514430"/>
            </a:xfrm>
            <a:prstGeom prst="rect">
              <a:avLst/>
            </a:prstGeom>
            <a:solidFill>
              <a:srgbClr val="7DCF8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125/207/139</a:t>
              </a:r>
            </a:p>
          </p:txBody>
        </p:sp>
        <p:sp>
          <p:nvSpPr>
            <p:cNvPr id="93" name="Rectangle 92">
              <a:extLst>
                <a:ext uri="{FF2B5EF4-FFF2-40B4-BE49-F238E27FC236}">
                  <a16:creationId xmlns:a16="http://schemas.microsoft.com/office/drawing/2014/main" id="{C875A860-3189-4C80-BCBE-FC167ED4607A}"/>
                </a:ext>
              </a:extLst>
            </p:cNvPr>
            <p:cNvSpPr>
              <a:spLocks noChangeAspect="1"/>
            </p:cNvSpPr>
            <p:nvPr/>
          </p:nvSpPr>
          <p:spPr bwMode="auto">
            <a:xfrm>
              <a:off x="501654" y="2455879"/>
              <a:ext cx="1240587" cy="514430"/>
            </a:xfrm>
            <a:prstGeom prst="rect">
              <a:avLst/>
            </a:prstGeom>
            <a:solidFill>
              <a:srgbClr val="52C587"/>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82/197/135</a:t>
              </a:r>
            </a:p>
          </p:txBody>
        </p:sp>
        <p:sp>
          <p:nvSpPr>
            <p:cNvPr id="94" name="Rectangle 93">
              <a:extLst>
                <a:ext uri="{FF2B5EF4-FFF2-40B4-BE49-F238E27FC236}">
                  <a16:creationId xmlns:a16="http://schemas.microsoft.com/office/drawing/2014/main" id="{3FD10A61-1D4A-45BE-885A-B3296A626B20}"/>
                </a:ext>
              </a:extLst>
            </p:cNvPr>
            <p:cNvSpPr>
              <a:spLocks noChangeAspect="1"/>
            </p:cNvSpPr>
            <p:nvPr/>
          </p:nvSpPr>
          <p:spPr bwMode="auto">
            <a:xfrm>
              <a:off x="501654" y="2968850"/>
              <a:ext cx="1240587" cy="514430"/>
            </a:xfrm>
            <a:prstGeom prst="rect">
              <a:avLst/>
            </a:prstGeom>
            <a:solidFill>
              <a:srgbClr val="27B983"/>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39/185/131</a:t>
              </a:r>
            </a:p>
          </p:txBody>
        </p:sp>
        <p:sp>
          <p:nvSpPr>
            <p:cNvPr id="95" name="Rectangle 94">
              <a:extLst>
                <a:ext uri="{FF2B5EF4-FFF2-40B4-BE49-F238E27FC236}">
                  <a16:creationId xmlns:a16="http://schemas.microsoft.com/office/drawing/2014/main" id="{E3BDD043-8CC3-4E28-B521-782AD36524BD}"/>
                </a:ext>
              </a:extLst>
            </p:cNvPr>
            <p:cNvSpPr>
              <a:spLocks noChangeAspect="1"/>
            </p:cNvSpPr>
            <p:nvPr/>
          </p:nvSpPr>
          <p:spPr bwMode="auto">
            <a:xfrm>
              <a:off x="501654" y="3481821"/>
              <a:ext cx="1240587" cy="514430"/>
            </a:xfrm>
            <a:prstGeom prst="rect">
              <a:avLst/>
            </a:prstGeom>
            <a:solidFill>
              <a:srgbClr val="00AD7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0/173/124</a:t>
              </a:r>
            </a:p>
          </p:txBody>
        </p:sp>
        <p:sp>
          <p:nvSpPr>
            <p:cNvPr id="96" name="Rectangle 95">
              <a:extLst>
                <a:ext uri="{FF2B5EF4-FFF2-40B4-BE49-F238E27FC236}">
                  <a16:creationId xmlns:a16="http://schemas.microsoft.com/office/drawing/2014/main" id="{33B1875A-A503-4503-A2B0-A0840A36AB92}"/>
                </a:ext>
              </a:extLst>
            </p:cNvPr>
            <p:cNvSpPr>
              <a:spLocks noChangeAspect="1"/>
            </p:cNvSpPr>
            <p:nvPr/>
          </p:nvSpPr>
          <p:spPr bwMode="auto">
            <a:xfrm>
              <a:off x="501654" y="6046676"/>
              <a:ext cx="1240587" cy="514430"/>
            </a:xfrm>
            <a:prstGeom prst="rect">
              <a:avLst/>
            </a:prstGeom>
            <a:solidFill>
              <a:srgbClr val="003E2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0/62/45</a:t>
              </a:r>
            </a:p>
          </p:txBody>
        </p:sp>
        <p:sp>
          <p:nvSpPr>
            <p:cNvPr id="97" name="Rectangle 96">
              <a:extLst>
                <a:ext uri="{FF2B5EF4-FFF2-40B4-BE49-F238E27FC236}">
                  <a16:creationId xmlns:a16="http://schemas.microsoft.com/office/drawing/2014/main" id="{28F43AA6-4549-43AE-9E25-A0EB863E2268}"/>
                </a:ext>
              </a:extLst>
            </p:cNvPr>
            <p:cNvSpPr>
              <a:spLocks noChangeAspect="1"/>
            </p:cNvSpPr>
            <p:nvPr/>
          </p:nvSpPr>
          <p:spPr bwMode="auto">
            <a:xfrm>
              <a:off x="501654" y="6559650"/>
              <a:ext cx="1240587" cy="514430"/>
            </a:xfrm>
            <a:prstGeom prst="rect">
              <a:avLst/>
            </a:prstGeom>
            <a:solidFill>
              <a:srgbClr val="00332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0/51/37</a:t>
              </a:r>
            </a:p>
          </p:txBody>
        </p:sp>
      </p:grpSp>
      <p:grpSp>
        <p:nvGrpSpPr>
          <p:cNvPr id="98" name="Group 97">
            <a:extLst>
              <a:ext uri="{FF2B5EF4-FFF2-40B4-BE49-F238E27FC236}">
                <a16:creationId xmlns:a16="http://schemas.microsoft.com/office/drawing/2014/main" id="{BE98DDB4-6EED-48DB-8EF6-47F18B15B7C4}"/>
              </a:ext>
            </a:extLst>
          </p:cNvPr>
          <p:cNvGrpSpPr/>
          <p:nvPr userDrawn="1"/>
        </p:nvGrpSpPr>
        <p:grpSpPr>
          <a:xfrm>
            <a:off x="9659065" y="1731014"/>
            <a:ext cx="4449819" cy="4318634"/>
            <a:chOff x="501654" y="1942908"/>
            <a:chExt cx="1240587" cy="5131172"/>
          </a:xfrm>
        </p:grpSpPr>
        <p:sp>
          <p:nvSpPr>
            <p:cNvPr id="99" name="Rectangle 98">
              <a:extLst>
                <a:ext uri="{FF2B5EF4-FFF2-40B4-BE49-F238E27FC236}">
                  <a16:creationId xmlns:a16="http://schemas.microsoft.com/office/drawing/2014/main" id="{5BF3BFE6-8950-4516-A21A-80459A147F4E}"/>
                </a:ext>
              </a:extLst>
            </p:cNvPr>
            <p:cNvSpPr>
              <a:spLocks noChangeAspect="1"/>
            </p:cNvSpPr>
            <p:nvPr/>
          </p:nvSpPr>
          <p:spPr bwMode="auto">
            <a:xfrm>
              <a:off x="501654" y="3994792"/>
              <a:ext cx="1240587" cy="514430"/>
            </a:xfrm>
            <a:prstGeom prst="rect">
              <a:avLst/>
            </a:prstGeom>
            <a:solidFill>
              <a:srgbClr val="6E6F6F"/>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110/111/111</a:t>
              </a:r>
            </a:p>
          </p:txBody>
        </p:sp>
        <p:sp>
          <p:nvSpPr>
            <p:cNvPr id="100" name="Rectangle 99">
              <a:extLst>
                <a:ext uri="{FF2B5EF4-FFF2-40B4-BE49-F238E27FC236}">
                  <a16:creationId xmlns:a16="http://schemas.microsoft.com/office/drawing/2014/main" id="{34E17B92-D2F0-40C2-813B-C8996B2CF500}"/>
                </a:ext>
              </a:extLst>
            </p:cNvPr>
            <p:cNvSpPr>
              <a:spLocks noChangeAspect="1"/>
            </p:cNvSpPr>
            <p:nvPr/>
          </p:nvSpPr>
          <p:spPr bwMode="auto">
            <a:xfrm>
              <a:off x="501654" y="4507763"/>
              <a:ext cx="1240587" cy="514430"/>
            </a:xfrm>
            <a:prstGeom prst="rect">
              <a:avLst/>
            </a:prstGeom>
            <a:solidFill>
              <a:srgbClr val="575859"/>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87/88/89</a:t>
              </a:r>
            </a:p>
          </p:txBody>
        </p:sp>
        <p:sp>
          <p:nvSpPr>
            <p:cNvPr id="101" name="Rectangle 100">
              <a:extLst>
                <a:ext uri="{FF2B5EF4-FFF2-40B4-BE49-F238E27FC236}">
                  <a16:creationId xmlns:a16="http://schemas.microsoft.com/office/drawing/2014/main" id="{0226CFEB-4304-4434-A8E6-86D5F2BCEB8D}"/>
                </a:ext>
              </a:extLst>
            </p:cNvPr>
            <p:cNvSpPr>
              <a:spLocks noChangeAspect="1"/>
            </p:cNvSpPr>
            <p:nvPr/>
          </p:nvSpPr>
          <p:spPr bwMode="auto">
            <a:xfrm>
              <a:off x="501654" y="5020734"/>
              <a:ext cx="1240587" cy="514430"/>
            </a:xfrm>
            <a:prstGeom prst="rect">
              <a:avLst/>
            </a:prstGeom>
            <a:solidFill>
              <a:srgbClr val="424243"/>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66/66/67</a:t>
              </a:r>
            </a:p>
          </p:txBody>
        </p:sp>
        <p:sp>
          <p:nvSpPr>
            <p:cNvPr id="102" name="Rectangle 101">
              <a:extLst>
                <a:ext uri="{FF2B5EF4-FFF2-40B4-BE49-F238E27FC236}">
                  <a16:creationId xmlns:a16="http://schemas.microsoft.com/office/drawing/2014/main" id="{C50B61B4-09A0-4F3F-9432-0FEC4688E9CB}"/>
                </a:ext>
              </a:extLst>
            </p:cNvPr>
            <p:cNvSpPr>
              <a:spLocks noChangeAspect="1"/>
            </p:cNvSpPr>
            <p:nvPr/>
          </p:nvSpPr>
          <p:spPr bwMode="auto">
            <a:xfrm>
              <a:off x="501654" y="5533705"/>
              <a:ext cx="1240587" cy="514430"/>
            </a:xfrm>
            <a:prstGeom prst="rect">
              <a:avLst/>
            </a:prstGeom>
            <a:solidFill>
              <a:srgbClr val="2C2C2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44/44/45</a:t>
              </a:r>
            </a:p>
          </p:txBody>
        </p:sp>
        <p:sp>
          <p:nvSpPr>
            <p:cNvPr id="103" name="Rectangle 102">
              <a:extLst>
                <a:ext uri="{FF2B5EF4-FFF2-40B4-BE49-F238E27FC236}">
                  <a16:creationId xmlns:a16="http://schemas.microsoft.com/office/drawing/2014/main" id="{6DE05C7A-C029-4EA1-A1B3-2F51416D90D4}"/>
                </a:ext>
              </a:extLst>
            </p:cNvPr>
            <p:cNvSpPr>
              <a:spLocks noChangeAspect="1"/>
            </p:cNvSpPr>
            <p:nvPr/>
          </p:nvSpPr>
          <p:spPr bwMode="auto">
            <a:xfrm>
              <a:off x="501654" y="1942908"/>
              <a:ext cx="1240587" cy="514430"/>
            </a:xfrm>
            <a:prstGeom prst="rect">
              <a:avLst/>
            </a:prstGeom>
            <a:solidFill>
              <a:srgbClr val="C5C7C8"/>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197/199/200</a:t>
              </a:r>
            </a:p>
          </p:txBody>
        </p:sp>
        <p:sp>
          <p:nvSpPr>
            <p:cNvPr id="104" name="Rectangle 103">
              <a:extLst>
                <a:ext uri="{FF2B5EF4-FFF2-40B4-BE49-F238E27FC236}">
                  <a16:creationId xmlns:a16="http://schemas.microsoft.com/office/drawing/2014/main" id="{6765D8C5-6319-48EE-928C-BFADBA87B89E}"/>
                </a:ext>
              </a:extLst>
            </p:cNvPr>
            <p:cNvSpPr>
              <a:spLocks noChangeAspect="1"/>
            </p:cNvSpPr>
            <p:nvPr/>
          </p:nvSpPr>
          <p:spPr bwMode="auto">
            <a:xfrm>
              <a:off x="501654" y="2455879"/>
              <a:ext cx="1240587" cy="514430"/>
            </a:xfrm>
            <a:prstGeom prst="rect">
              <a:avLst/>
            </a:prstGeom>
            <a:solidFill>
              <a:srgbClr val="AFB1B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175/177/178</a:t>
              </a:r>
            </a:p>
          </p:txBody>
        </p:sp>
        <p:sp>
          <p:nvSpPr>
            <p:cNvPr id="105" name="Rectangle 104">
              <a:extLst>
                <a:ext uri="{FF2B5EF4-FFF2-40B4-BE49-F238E27FC236}">
                  <a16:creationId xmlns:a16="http://schemas.microsoft.com/office/drawing/2014/main" id="{5DA91A3E-2B26-4E3A-96C9-4C1DF3243B8F}"/>
                </a:ext>
              </a:extLst>
            </p:cNvPr>
            <p:cNvSpPr>
              <a:spLocks noChangeAspect="1"/>
            </p:cNvSpPr>
            <p:nvPr/>
          </p:nvSpPr>
          <p:spPr bwMode="auto">
            <a:xfrm>
              <a:off x="501654" y="2968850"/>
              <a:ext cx="1240587" cy="514430"/>
            </a:xfrm>
            <a:prstGeom prst="rect">
              <a:avLst/>
            </a:prstGeom>
            <a:solidFill>
              <a:srgbClr val="999B9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153/155/155</a:t>
              </a:r>
            </a:p>
          </p:txBody>
        </p:sp>
        <p:sp>
          <p:nvSpPr>
            <p:cNvPr id="106" name="Rectangle 105">
              <a:extLst>
                <a:ext uri="{FF2B5EF4-FFF2-40B4-BE49-F238E27FC236}">
                  <a16:creationId xmlns:a16="http://schemas.microsoft.com/office/drawing/2014/main" id="{8CA7E8BE-C3D3-4558-B69A-2A6F36622C68}"/>
                </a:ext>
              </a:extLst>
            </p:cNvPr>
            <p:cNvSpPr>
              <a:spLocks noChangeAspect="1"/>
            </p:cNvSpPr>
            <p:nvPr/>
          </p:nvSpPr>
          <p:spPr bwMode="auto">
            <a:xfrm>
              <a:off x="501654" y="3481821"/>
              <a:ext cx="1240587" cy="514430"/>
            </a:xfrm>
            <a:prstGeom prst="rect">
              <a:avLst/>
            </a:prstGeom>
            <a:solidFill>
              <a:srgbClr val="83858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131/133/133</a:t>
              </a:r>
            </a:p>
          </p:txBody>
        </p:sp>
        <p:sp>
          <p:nvSpPr>
            <p:cNvPr id="107" name="Rectangle 106">
              <a:extLst>
                <a:ext uri="{FF2B5EF4-FFF2-40B4-BE49-F238E27FC236}">
                  <a16:creationId xmlns:a16="http://schemas.microsoft.com/office/drawing/2014/main" id="{BED196BC-1C1A-47FD-9D69-123FC8FE186A}"/>
                </a:ext>
              </a:extLst>
            </p:cNvPr>
            <p:cNvSpPr>
              <a:spLocks noChangeAspect="1"/>
            </p:cNvSpPr>
            <p:nvPr/>
          </p:nvSpPr>
          <p:spPr bwMode="auto">
            <a:xfrm>
              <a:off x="501654" y="6046676"/>
              <a:ext cx="1240587" cy="514430"/>
            </a:xfrm>
            <a:prstGeom prst="rect">
              <a:avLst/>
            </a:prstGeom>
            <a:solidFill>
              <a:srgbClr val="16161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22/22/22</a:t>
              </a:r>
            </a:p>
          </p:txBody>
        </p:sp>
        <p:sp>
          <p:nvSpPr>
            <p:cNvPr id="108" name="Rectangle 107">
              <a:extLst>
                <a:ext uri="{FF2B5EF4-FFF2-40B4-BE49-F238E27FC236}">
                  <a16:creationId xmlns:a16="http://schemas.microsoft.com/office/drawing/2014/main" id="{89D86955-CBC1-4E6B-A496-3731E75C37F3}"/>
                </a:ext>
              </a:extLst>
            </p:cNvPr>
            <p:cNvSpPr>
              <a:spLocks noChangeAspect="1"/>
            </p:cNvSpPr>
            <p:nvPr/>
          </p:nvSpPr>
          <p:spPr bwMode="auto">
            <a:xfrm>
              <a:off x="501654" y="6559650"/>
              <a:ext cx="1240587" cy="514430"/>
            </a:xfrm>
            <a:prstGeom prst="rect">
              <a:avLst/>
            </a:prstGeom>
            <a:solidFill>
              <a:srgbClr val="000000"/>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0/0/0</a:t>
              </a:r>
            </a:p>
          </p:txBody>
        </p:sp>
      </p:grpSp>
    </p:spTree>
    <p:extLst>
      <p:ext uri="{BB962C8B-B14F-4D97-AF65-F5344CB8AC3E}">
        <p14:creationId xmlns:p14="http://schemas.microsoft.com/office/powerpoint/2010/main" val="10796121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nes, Arrows, Call Ou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Lines, Arrows and Call Outs to Copy/Paste</a:t>
            </a:r>
          </a:p>
        </p:txBody>
      </p:sp>
      <p:cxnSp>
        <p:nvCxnSpPr>
          <p:cNvPr id="15" name="Straight Arrow Connector 14"/>
          <p:cNvCxnSpPr/>
          <p:nvPr userDrawn="1"/>
        </p:nvCxnSpPr>
        <p:spPr bwMode="auto">
          <a:xfrm>
            <a:off x="2035145" y="4977922"/>
            <a:ext cx="1163370" cy="0"/>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cxnSp>
        <p:nvCxnSpPr>
          <p:cNvPr id="16" name="Straight Arrow Connector 15"/>
          <p:cNvCxnSpPr/>
          <p:nvPr userDrawn="1"/>
        </p:nvCxnSpPr>
        <p:spPr bwMode="auto">
          <a:xfrm>
            <a:off x="649965" y="4977922"/>
            <a:ext cx="1163370" cy="0"/>
          </a:xfrm>
          <a:prstGeom prst="straightConnector1">
            <a:avLst/>
          </a:prstGeom>
          <a:solidFill>
            <a:schemeClr val="accent1"/>
          </a:solidFill>
          <a:ln w="19050" cap="flat" cmpd="sng" algn="ctr">
            <a:solidFill>
              <a:schemeClr val="tx1"/>
            </a:solidFill>
            <a:prstDash val="solid"/>
            <a:round/>
            <a:headEnd type="none" w="med" len="med"/>
            <a:tailEnd type="arrow" w="lg" len="med"/>
          </a:ln>
          <a:effectLst/>
        </p:spPr>
      </p:cxnSp>
      <p:cxnSp>
        <p:nvCxnSpPr>
          <p:cNvPr id="17" name="Straight Arrow Connector 16"/>
          <p:cNvCxnSpPr/>
          <p:nvPr userDrawn="1"/>
        </p:nvCxnSpPr>
        <p:spPr bwMode="auto">
          <a:xfrm>
            <a:off x="3556128" y="4977922"/>
            <a:ext cx="1163370" cy="0"/>
          </a:xfrm>
          <a:prstGeom prst="straightConnector1">
            <a:avLst/>
          </a:prstGeom>
          <a:solidFill>
            <a:schemeClr val="accent1"/>
          </a:solidFill>
          <a:ln w="57150" cap="flat" cmpd="sng" algn="ctr">
            <a:solidFill>
              <a:schemeClr val="tx1"/>
            </a:solidFill>
            <a:prstDash val="solid"/>
            <a:round/>
            <a:headEnd type="none" w="med" len="med"/>
            <a:tailEnd type="arrow" w="lg" len="med"/>
          </a:ln>
          <a:effectLst/>
        </p:spPr>
      </p:cxnSp>
      <p:grpSp>
        <p:nvGrpSpPr>
          <p:cNvPr id="66" name="Group 65">
            <a:extLst>
              <a:ext uri="{FF2B5EF4-FFF2-40B4-BE49-F238E27FC236}">
                <a16:creationId xmlns:a16="http://schemas.microsoft.com/office/drawing/2014/main" id="{6128CE07-FE88-400A-8B1B-8C8969AE7343}"/>
              </a:ext>
            </a:extLst>
          </p:cNvPr>
          <p:cNvGrpSpPr/>
          <p:nvPr userDrawn="1"/>
        </p:nvGrpSpPr>
        <p:grpSpPr>
          <a:xfrm>
            <a:off x="565086" y="3214541"/>
            <a:ext cx="4737164" cy="113656"/>
            <a:chOff x="565086" y="2500760"/>
            <a:chExt cx="4737164" cy="113656"/>
          </a:xfrm>
        </p:grpSpPr>
        <p:cxnSp>
          <p:nvCxnSpPr>
            <p:cNvPr id="31" name="Straight Connector 30">
              <a:extLst>
                <a:ext uri="{FF2B5EF4-FFF2-40B4-BE49-F238E27FC236}">
                  <a16:creationId xmlns:a16="http://schemas.microsoft.com/office/drawing/2014/main" id="{1E1DE40F-E8A0-4044-9CDA-9DCC869D3D30}"/>
                </a:ext>
              </a:extLst>
            </p:cNvPr>
            <p:cNvCxnSpPr>
              <a:cxnSpLocks/>
            </p:cNvCxnSpPr>
            <p:nvPr userDrawn="1"/>
          </p:nvCxnSpPr>
          <p:spPr bwMode="auto">
            <a:xfrm flipV="1">
              <a:off x="565086" y="2614415"/>
              <a:ext cx="4737164" cy="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33" name="Isosceles Triangle 32">
              <a:extLst>
                <a:ext uri="{FF2B5EF4-FFF2-40B4-BE49-F238E27FC236}">
                  <a16:creationId xmlns:a16="http://schemas.microsoft.com/office/drawing/2014/main" id="{B5CDF467-DC85-4433-B593-AD17228CFFE1}"/>
                </a:ext>
              </a:extLst>
            </p:cNvPr>
            <p:cNvSpPr/>
            <p:nvPr userDrawn="1"/>
          </p:nvSpPr>
          <p:spPr bwMode="auto">
            <a:xfrm>
              <a:off x="2867748" y="2500760"/>
              <a:ext cx="131840" cy="113655"/>
            </a:xfrm>
            <a:prstGeom prst="triangle">
              <a:avLst/>
            </a:prstGeom>
            <a:solidFill>
              <a:schemeClr val="tx1"/>
            </a:solidFill>
            <a:ln w="9525">
              <a:noFill/>
              <a:round/>
              <a:headEnd/>
              <a:tailEnd/>
            </a:ln>
            <a:effectLst/>
          </p:spPr>
          <p:txBody>
            <a:bodyPr wrap="square" rtlCol="0" anchor="ctr"/>
            <a:lstStyle>
              <a:defPPr>
                <a:defRPr lang="en-US"/>
              </a:defPPr>
              <a:lvl1pPr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1pPr>
              <a:lvl2pPr marL="730250" indent="-273050"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2pPr>
              <a:lvl3pPr marL="1462088" indent="-547688"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3pPr>
              <a:lvl4pPr marL="2193925" indent="-822325"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4pPr>
              <a:lvl5pPr marL="2925763" indent="-1096963"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5pPr>
              <a:lvl6pPr marL="2286000" algn="l" defTabSz="914400" rtl="0" eaLnBrk="1" latinLnBrk="0" hangingPunct="1">
                <a:defRPr sz="2900" kern="1200">
                  <a:solidFill>
                    <a:schemeClr val="tx1"/>
                  </a:solidFill>
                  <a:latin typeface="Arial" panose="020B0604020202020204" pitchFamily="34" charset="0"/>
                  <a:ea typeface="+mn-ea"/>
                  <a:cs typeface="+mn-cs"/>
                </a:defRPr>
              </a:lvl6pPr>
              <a:lvl7pPr marL="2743200" algn="l" defTabSz="914400" rtl="0" eaLnBrk="1" latinLnBrk="0" hangingPunct="1">
                <a:defRPr sz="2900" kern="1200">
                  <a:solidFill>
                    <a:schemeClr val="tx1"/>
                  </a:solidFill>
                  <a:latin typeface="Arial" panose="020B0604020202020204" pitchFamily="34" charset="0"/>
                  <a:ea typeface="+mn-ea"/>
                  <a:cs typeface="+mn-cs"/>
                </a:defRPr>
              </a:lvl7pPr>
              <a:lvl8pPr marL="3200400" algn="l" defTabSz="914400" rtl="0" eaLnBrk="1" latinLnBrk="0" hangingPunct="1">
                <a:defRPr sz="2900" kern="1200">
                  <a:solidFill>
                    <a:schemeClr val="tx1"/>
                  </a:solidFill>
                  <a:latin typeface="Arial" panose="020B0604020202020204" pitchFamily="34" charset="0"/>
                  <a:ea typeface="+mn-ea"/>
                  <a:cs typeface="+mn-cs"/>
                </a:defRPr>
              </a:lvl8pPr>
              <a:lvl9pPr marL="3657600" algn="l" defTabSz="914400" rtl="0" eaLnBrk="1" latinLnBrk="0" hangingPunct="1">
                <a:defRPr sz="2900" kern="1200">
                  <a:solidFill>
                    <a:schemeClr val="tx1"/>
                  </a:solidFill>
                  <a:latin typeface="Arial" panose="020B0604020202020204" pitchFamily="34" charset="0"/>
                  <a:ea typeface="+mn-ea"/>
                  <a:cs typeface="+mn-cs"/>
                </a:defRPr>
              </a:lvl9pPr>
            </a:lstStyle>
            <a:p>
              <a:pPr algn="ctr" eaLnBrk="0" fontAlgn="base" hangingPunct="0">
                <a:spcBef>
                  <a:spcPct val="0"/>
                </a:spcBef>
                <a:spcAft>
                  <a:spcPct val="0"/>
                </a:spcAft>
              </a:pPr>
              <a:endParaRPr lang="en-US" b="1">
                <a:solidFill>
                  <a:srgbClr val="FFFFFF"/>
                </a:solidFill>
                <a:latin typeface="Arial" panose="020B0604020202020204" pitchFamily="34" charset="0"/>
              </a:endParaRPr>
            </a:p>
          </p:txBody>
        </p:sp>
      </p:grpSp>
      <p:sp>
        <p:nvSpPr>
          <p:cNvPr id="38" name="Rectangle 37">
            <a:extLst>
              <a:ext uri="{FF2B5EF4-FFF2-40B4-BE49-F238E27FC236}">
                <a16:creationId xmlns:a16="http://schemas.microsoft.com/office/drawing/2014/main" id="{8D137E2E-0A23-4BD8-B648-B5B59C59DA01}"/>
              </a:ext>
            </a:extLst>
          </p:cNvPr>
          <p:cNvSpPr/>
          <p:nvPr/>
        </p:nvSpPr>
        <p:spPr>
          <a:xfrm>
            <a:off x="7135287" y="2662058"/>
            <a:ext cx="3422619" cy="861774"/>
          </a:xfrm>
          <a:prstGeom prst="rect">
            <a:avLst/>
          </a:prstGeom>
        </p:spPr>
        <p:txBody>
          <a:bodyPr wrap="square">
            <a:spAutoFit/>
          </a:bodyPr>
          <a:lstStyle/>
          <a:p>
            <a:pPr>
              <a:spcBef>
                <a:spcPts val="1200"/>
              </a:spcBef>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Noto Sans Light" panose="020B0402040504020204" pitchFamily="34" charset="0"/>
                <a:cs typeface="Arial" panose="020B0604020202020204" pitchFamily="34" charset="0"/>
              </a:rPr>
              <a:t>Increasing Fact – </a:t>
            </a:r>
            <a:r>
              <a:rPr lang="en-US" sz="1400" b="0" kern="1200">
                <a:solidFill>
                  <a:schemeClr val="tx1"/>
                </a:solidFill>
                <a:latin typeface="Arial" panose="020B0604020202020204" pitchFamily="34" charset="0"/>
                <a:ea typeface="Noto Sans Light" panose="020B0402040504020204" pitchFamily="34" charset="0"/>
                <a:cs typeface="Arial" panose="020B0604020202020204" pitchFamily="34" charset="0"/>
              </a:rPr>
              <a:t>14pt</a:t>
            </a:r>
            <a:br>
              <a:rPr lang="en-US" sz="1400" b="1" kern="120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Details, 12pt,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consectetur</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adipiscing</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elit</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b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sed do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eiusmod</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tempor</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incididunt</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ut</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labore </a:t>
            </a:r>
            <a:b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et dolore magna</a:t>
            </a:r>
          </a:p>
        </p:txBody>
      </p:sp>
      <p:grpSp>
        <p:nvGrpSpPr>
          <p:cNvPr id="39" name="Group 38">
            <a:extLst>
              <a:ext uri="{FF2B5EF4-FFF2-40B4-BE49-F238E27FC236}">
                <a16:creationId xmlns:a16="http://schemas.microsoft.com/office/drawing/2014/main" id="{59AFD202-CBA1-4170-A618-FD68DB56BF04}"/>
              </a:ext>
            </a:extLst>
          </p:cNvPr>
          <p:cNvGrpSpPr/>
          <p:nvPr/>
        </p:nvGrpSpPr>
        <p:grpSpPr>
          <a:xfrm>
            <a:off x="6296501" y="2659897"/>
            <a:ext cx="778938" cy="866905"/>
            <a:chOff x="5295358" y="3742681"/>
            <a:chExt cx="778938" cy="866905"/>
          </a:xfrm>
        </p:grpSpPr>
        <p:grpSp>
          <p:nvGrpSpPr>
            <p:cNvPr id="40" name="Group 39">
              <a:extLst>
                <a:ext uri="{FF2B5EF4-FFF2-40B4-BE49-F238E27FC236}">
                  <a16:creationId xmlns:a16="http://schemas.microsoft.com/office/drawing/2014/main" id="{F8587EA4-25E3-48D9-A00E-BF26C4ED90EA}"/>
                </a:ext>
              </a:extLst>
            </p:cNvPr>
            <p:cNvGrpSpPr/>
            <p:nvPr/>
          </p:nvGrpSpPr>
          <p:grpSpPr>
            <a:xfrm>
              <a:off x="5295358" y="3830648"/>
              <a:ext cx="778938" cy="778938"/>
              <a:chOff x="8260553" y="5005529"/>
              <a:chExt cx="778938" cy="778938"/>
            </a:xfrm>
          </p:grpSpPr>
          <p:sp>
            <p:nvSpPr>
              <p:cNvPr id="42" name="Arc 41">
                <a:extLst>
                  <a:ext uri="{FF2B5EF4-FFF2-40B4-BE49-F238E27FC236}">
                    <a16:creationId xmlns:a16="http://schemas.microsoft.com/office/drawing/2014/main" id="{BFABE957-D67B-473A-A9C9-7A20D2BDBFDB}"/>
                  </a:ext>
                </a:extLst>
              </p:cNvPr>
              <p:cNvSpPr/>
              <p:nvPr/>
            </p:nvSpPr>
            <p:spPr bwMode="auto">
              <a:xfrm>
                <a:off x="8260553" y="5005529"/>
                <a:ext cx="778938" cy="778938"/>
              </a:xfrm>
              <a:prstGeom prst="arc">
                <a:avLst>
                  <a:gd name="adj1" fmla="val 17901948"/>
                  <a:gd name="adj2" fmla="val 14486585"/>
                </a:avLst>
              </a:prstGeom>
              <a:noFill/>
              <a:ln w="19050">
                <a:solidFill>
                  <a:schemeClr val="tx1"/>
                </a:solidFill>
                <a:round/>
                <a:headEnd/>
                <a:tailEnd/>
              </a:ln>
              <a:effectLst/>
            </p:spPr>
            <p:txBody>
              <a:bodyPr wrap="square" rtlCol="0" anchor="ctr"/>
              <a:lstStyle/>
              <a:p>
                <a:pPr marL="0" marR="0" lvl="0" indent="0" algn="ctr" defTabSz="1463040" rtl="0" eaLnBrk="0" fontAlgn="base" latinLnBrk="0" hangingPunct="0">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chemeClr val="bg1"/>
                  </a:solidFill>
                  <a:effectLst/>
                  <a:uLnTx/>
                  <a:uFillTx/>
                  <a:latin typeface="Arial" panose="020B0604020202020204" pitchFamily="34" charset="0"/>
                  <a:ea typeface="Noto Sans Light" panose="020B0402040504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C817F525-1B5F-46FB-8E6E-1750B3E153DC}"/>
                  </a:ext>
                </a:extLst>
              </p:cNvPr>
              <p:cNvSpPr/>
              <p:nvPr/>
            </p:nvSpPr>
            <p:spPr>
              <a:xfrm>
                <a:off x="8343815" y="5195618"/>
                <a:ext cx="611065" cy="400110"/>
              </a:xfrm>
              <a:prstGeom prst="rect">
                <a:avLst/>
              </a:prstGeom>
            </p:spPr>
            <p:txBody>
              <a:bodyPr wrap="none">
                <a:spAutoFit/>
              </a:bodyPr>
              <a:lstStyle/>
              <a:p>
                <a:pPr algn="ctr"/>
                <a:r>
                  <a:rPr lang="en-US" sz="2000" b="0">
                    <a:latin typeface="+mj-lt"/>
                    <a:ea typeface="Noto Sans Light" panose="020B0402040504020204" pitchFamily="34" charset="0"/>
                    <a:cs typeface="Arial" panose="020B0604020202020204" pitchFamily="34" charset="0"/>
                  </a:rPr>
                  <a:t>#%</a:t>
                </a:r>
              </a:p>
            </p:txBody>
          </p:sp>
        </p:grpSp>
        <p:sp>
          <p:nvSpPr>
            <p:cNvPr id="41" name="Freeform 19">
              <a:extLst>
                <a:ext uri="{FF2B5EF4-FFF2-40B4-BE49-F238E27FC236}">
                  <a16:creationId xmlns:a16="http://schemas.microsoft.com/office/drawing/2014/main" id="{D1F46B9E-54B2-4B8A-B19A-32DC592A6763}"/>
                </a:ext>
              </a:extLst>
            </p:cNvPr>
            <p:cNvSpPr>
              <a:spLocks/>
            </p:cNvSpPr>
            <p:nvPr/>
          </p:nvSpPr>
          <p:spPr bwMode="auto">
            <a:xfrm rot="10800000">
              <a:off x="5556799" y="3742681"/>
              <a:ext cx="254702" cy="254700"/>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a typeface="Noto Sans Light" panose="020B0402040504020204" pitchFamily="34" charset="0"/>
                <a:cs typeface="Arial" panose="020B0604020202020204" pitchFamily="34" charset="0"/>
              </a:endParaRPr>
            </a:p>
          </p:txBody>
        </p:sp>
      </p:grpSp>
      <p:grpSp>
        <p:nvGrpSpPr>
          <p:cNvPr id="3" name="Group 2">
            <a:extLst>
              <a:ext uri="{FF2B5EF4-FFF2-40B4-BE49-F238E27FC236}">
                <a16:creationId xmlns:a16="http://schemas.microsoft.com/office/drawing/2014/main" id="{B1120649-00CB-5AF6-2DFA-C150EC3F9C95}"/>
              </a:ext>
            </a:extLst>
          </p:cNvPr>
          <p:cNvGrpSpPr/>
          <p:nvPr userDrawn="1"/>
        </p:nvGrpSpPr>
        <p:grpSpPr>
          <a:xfrm>
            <a:off x="6296501" y="5793387"/>
            <a:ext cx="4261405" cy="861774"/>
            <a:chOff x="6296501" y="5793387"/>
            <a:chExt cx="4261405" cy="861774"/>
          </a:xfrm>
        </p:grpSpPr>
        <p:sp>
          <p:nvSpPr>
            <p:cNvPr id="45" name="Rectangle 44">
              <a:extLst>
                <a:ext uri="{FF2B5EF4-FFF2-40B4-BE49-F238E27FC236}">
                  <a16:creationId xmlns:a16="http://schemas.microsoft.com/office/drawing/2014/main" id="{59F2A062-E9D1-4DC0-B6A4-E109D00871C5}"/>
                </a:ext>
              </a:extLst>
            </p:cNvPr>
            <p:cNvSpPr/>
            <p:nvPr/>
          </p:nvSpPr>
          <p:spPr>
            <a:xfrm>
              <a:off x="7138328" y="5793387"/>
              <a:ext cx="3419578" cy="861774"/>
            </a:xfrm>
            <a:prstGeom prst="rect">
              <a:avLst/>
            </a:prstGeom>
          </p:spPr>
          <p:txBody>
            <a:bodyPr wrap="square">
              <a:spAutoFit/>
            </a:bodyPr>
            <a:lstStyle/>
            <a:p>
              <a:pPr marL="0" marR="0" lvl="0" indent="0" algn="l" defTabSz="1463040" rtl="0" eaLnBrk="1" fontAlgn="auto" latinLnBrk="0" hangingPunct="1">
                <a:lnSpc>
                  <a:spcPct val="100000"/>
                </a:lnSpc>
                <a:spcBef>
                  <a:spcPts val="1200"/>
                </a:spcBef>
                <a:spcAft>
                  <a:spcPts val="0"/>
                </a:spcAft>
                <a:buClrTx/>
                <a:buSzTx/>
                <a:buFontTx/>
                <a:buNone/>
                <a:tabLst/>
                <a:defRPr/>
              </a:pPr>
              <a:r>
                <a:rPr lang="en-US" sz="1400" b="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Simple # Fact – 14pt</a:t>
              </a:r>
              <a:br>
                <a:rPr kumimoji="0" lang="en-US" sz="1400" b="1" i="0" u="none" strike="noStrike" kern="1200" cap="none" spc="0" normalizeH="0" baseline="0" noProof="0">
                  <a:ln>
                    <a:noFill/>
                  </a:ln>
                  <a:solidFill>
                    <a:schemeClr val="tx1"/>
                  </a:solidFill>
                  <a:effectLst/>
                  <a:uLnTx/>
                  <a:uFillTx/>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Details, 12pt,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consectetur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adipiscing</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elit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sed do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eiusmod</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tempor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incididunt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ut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labore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et dolore magna</a:t>
              </a:r>
            </a:p>
          </p:txBody>
        </p:sp>
        <p:sp>
          <p:nvSpPr>
            <p:cNvPr id="46" name="Oval 45">
              <a:extLst>
                <a:ext uri="{FF2B5EF4-FFF2-40B4-BE49-F238E27FC236}">
                  <a16:creationId xmlns:a16="http://schemas.microsoft.com/office/drawing/2014/main" id="{5E6317F2-76D4-4713-B32A-4C9257E324E5}"/>
                </a:ext>
              </a:extLst>
            </p:cNvPr>
            <p:cNvSpPr/>
            <p:nvPr/>
          </p:nvSpPr>
          <p:spPr bwMode="auto">
            <a:xfrm>
              <a:off x="6296501" y="5819461"/>
              <a:ext cx="777240" cy="777240"/>
            </a:xfrm>
            <a:prstGeom prst="ellipse">
              <a:avLst/>
            </a:prstGeom>
            <a:noFill/>
            <a:ln w="19050">
              <a:solidFill>
                <a:schemeClr val="tx1"/>
              </a:solidFill>
              <a:round/>
              <a:headEnd/>
              <a:tailEnd/>
            </a:ln>
            <a:effectLst/>
          </p:spPr>
          <p:txBody>
            <a:bodyPr wrap="square" lIns="0" tIns="0" rIns="0" bIns="0" rtlCol="0" anchor="ctr"/>
            <a:lstStyle/>
            <a:p>
              <a:pPr algn="ctr"/>
              <a:r>
                <a:rPr lang="en-US" sz="1800" b="1">
                  <a:latin typeface="+mj-lt"/>
                  <a:ea typeface="Noto Sans Light" panose="020B0402040504020204" pitchFamily="34" charset="0"/>
                  <a:cs typeface="Arial" panose="020B0604020202020204" pitchFamily="34" charset="0"/>
                </a:rPr>
                <a:t>50%</a:t>
              </a:r>
            </a:p>
          </p:txBody>
        </p:sp>
      </p:grpSp>
      <p:sp>
        <p:nvSpPr>
          <p:cNvPr id="47" name="Freeform 19">
            <a:extLst>
              <a:ext uri="{FF2B5EF4-FFF2-40B4-BE49-F238E27FC236}">
                <a16:creationId xmlns:a16="http://schemas.microsoft.com/office/drawing/2014/main" id="{31EA9EE8-FDC0-4D88-B82D-C70C137FC3C1}"/>
              </a:ext>
            </a:extLst>
          </p:cNvPr>
          <p:cNvSpPr>
            <a:spLocks/>
          </p:cNvSpPr>
          <p:nvPr userDrawn="1"/>
        </p:nvSpPr>
        <p:spPr bwMode="auto">
          <a:xfrm rot="10800000">
            <a:off x="699781" y="5758356"/>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Rectangle 52">
            <a:extLst>
              <a:ext uri="{FF2B5EF4-FFF2-40B4-BE49-F238E27FC236}">
                <a16:creationId xmlns:a16="http://schemas.microsoft.com/office/drawing/2014/main" id="{C391EE23-C2FF-41E2-BEC1-BE073BE18B36}"/>
              </a:ext>
            </a:extLst>
          </p:cNvPr>
          <p:cNvSpPr/>
          <p:nvPr/>
        </p:nvSpPr>
        <p:spPr>
          <a:xfrm>
            <a:off x="7135287" y="4235577"/>
            <a:ext cx="3422619" cy="861774"/>
          </a:xfrm>
          <a:prstGeom prst="rect">
            <a:avLst/>
          </a:prstGeom>
        </p:spPr>
        <p:txBody>
          <a:bodyPr wrap="square">
            <a:spAutoFit/>
          </a:bodyPr>
          <a:lstStyle/>
          <a:p>
            <a:pPr marL="0" marR="0" lvl="0" indent="0" algn="l" defTabSz="1463040" rtl="0" eaLnBrk="1" fontAlgn="auto" latinLnBrk="0" hangingPunct="1">
              <a:lnSpc>
                <a:spcPct val="100000"/>
              </a:lnSpc>
              <a:spcBef>
                <a:spcPts val="1200"/>
              </a:spcBef>
              <a:spcAft>
                <a:spcPts val="0"/>
              </a:spcAft>
              <a:buClrTx/>
              <a:buSzTx/>
              <a:buFontTx/>
              <a:buNone/>
              <a:tabLst/>
              <a:defRPr/>
            </a:pPr>
            <a:r>
              <a:rPr lang="en-US" sz="1400" b="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Decreasing Fact – 14pt</a:t>
            </a:r>
            <a:br>
              <a:rPr kumimoji="0" lang="en-US" sz="1400" b="1" i="0" u="none" strike="noStrike" kern="1200" cap="none" spc="0" normalizeH="0" baseline="0" noProof="0">
                <a:ln>
                  <a:noFill/>
                </a:ln>
                <a:solidFill>
                  <a:schemeClr val="tx1"/>
                </a:solidFill>
                <a:effectLst/>
                <a:uLnTx/>
                <a:uFillTx/>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Details, 12pt,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consectetur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adipiscing</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elit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sed do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eiusmod</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tempor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incididunt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ut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labore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et dolore magna</a:t>
            </a:r>
          </a:p>
        </p:txBody>
      </p:sp>
      <p:grpSp>
        <p:nvGrpSpPr>
          <p:cNvPr id="54" name="Group 53">
            <a:extLst>
              <a:ext uri="{FF2B5EF4-FFF2-40B4-BE49-F238E27FC236}">
                <a16:creationId xmlns:a16="http://schemas.microsoft.com/office/drawing/2014/main" id="{101C6D1A-0D42-4581-9747-3E616F0E9056}"/>
              </a:ext>
            </a:extLst>
          </p:cNvPr>
          <p:cNvGrpSpPr/>
          <p:nvPr/>
        </p:nvGrpSpPr>
        <p:grpSpPr>
          <a:xfrm>
            <a:off x="6296501" y="4242966"/>
            <a:ext cx="778938" cy="866905"/>
            <a:chOff x="5295358" y="3742681"/>
            <a:chExt cx="778938" cy="866905"/>
          </a:xfrm>
        </p:grpSpPr>
        <p:grpSp>
          <p:nvGrpSpPr>
            <p:cNvPr id="55" name="Group 54">
              <a:extLst>
                <a:ext uri="{FF2B5EF4-FFF2-40B4-BE49-F238E27FC236}">
                  <a16:creationId xmlns:a16="http://schemas.microsoft.com/office/drawing/2014/main" id="{6F12BED1-E127-4A61-ACD4-4C0BC6C9A76F}"/>
                </a:ext>
              </a:extLst>
            </p:cNvPr>
            <p:cNvGrpSpPr/>
            <p:nvPr/>
          </p:nvGrpSpPr>
          <p:grpSpPr>
            <a:xfrm>
              <a:off x="5295358" y="3830648"/>
              <a:ext cx="778938" cy="778938"/>
              <a:chOff x="8260553" y="5005529"/>
              <a:chExt cx="778938" cy="778938"/>
            </a:xfrm>
          </p:grpSpPr>
          <p:sp>
            <p:nvSpPr>
              <p:cNvPr id="57" name="Arc 56">
                <a:extLst>
                  <a:ext uri="{FF2B5EF4-FFF2-40B4-BE49-F238E27FC236}">
                    <a16:creationId xmlns:a16="http://schemas.microsoft.com/office/drawing/2014/main" id="{1B326B67-C8BC-4731-AF2A-A12BCE8DFC10}"/>
                  </a:ext>
                </a:extLst>
              </p:cNvPr>
              <p:cNvSpPr/>
              <p:nvPr/>
            </p:nvSpPr>
            <p:spPr bwMode="auto">
              <a:xfrm>
                <a:off x="8260553" y="5005529"/>
                <a:ext cx="778938" cy="778938"/>
              </a:xfrm>
              <a:prstGeom prst="arc">
                <a:avLst>
                  <a:gd name="adj1" fmla="val 17901948"/>
                  <a:gd name="adj2" fmla="val 14486585"/>
                </a:avLst>
              </a:prstGeom>
              <a:noFill/>
              <a:ln w="19050">
                <a:solidFill>
                  <a:schemeClr val="tx1"/>
                </a:solidFill>
                <a:round/>
                <a:headEnd/>
                <a:tailEnd/>
              </a:ln>
              <a:effectLst/>
            </p:spPr>
            <p:txBody>
              <a:bodyPr wrap="square" rtlCol="0" anchor="ctr"/>
              <a:lstStyle/>
              <a:p>
                <a:pPr marL="0" marR="0" lvl="0" indent="0" algn="ctr" defTabSz="1463040" rtl="0" eaLnBrk="0" fontAlgn="base" latinLnBrk="0" hangingPunct="0">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chemeClr val="bg1"/>
                  </a:solidFill>
                  <a:effectLst/>
                  <a:uLnTx/>
                  <a:uFillTx/>
                  <a:latin typeface="Arial" panose="020B0604020202020204" pitchFamily="34" charset="0"/>
                  <a:ea typeface="Noto Sans Light" panose="020B0402040504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40D66438-4E8B-4CFD-80BD-67438055A28C}"/>
                  </a:ext>
                </a:extLst>
              </p:cNvPr>
              <p:cNvSpPr/>
              <p:nvPr/>
            </p:nvSpPr>
            <p:spPr>
              <a:xfrm>
                <a:off x="8343815" y="5195618"/>
                <a:ext cx="611065" cy="400110"/>
              </a:xfrm>
              <a:prstGeom prst="rect">
                <a:avLst/>
              </a:prstGeom>
            </p:spPr>
            <p:txBody>
              <a:bodyPr wrap="none">
                <a:spAutoFit/>
              </a:bodyPr>
              <a:lstStyle/>
              <a:p>
                <a:pPr algn="ctr"/>
                <a:r>
                  <a:rPr lang="en-US" sz="2000" b="0">
                    <a:latin typeface="+mj-lt"/>
                    <a:ea typeface="Noto Sans Light" panose="020B0402040504020204" pitchFamily="34" charset="0"/>
                    <a:cs typeface="Arial" panose="020B0604020202020204" pitchFamily="34" charset="0"/>
                  </a:rPr>
                  <a:t>#%</a:t>
                </a:r>
              </a:p>
            </p:txBody>
          </p:sp>
        </p:grpSp>
        <p:sp>
          <p:nvSpPr>
            <p:cNvPr id="56" name="Freeform 19">
              <a:extLst>
                <a:ext uri="{FF2B5EF4-FFF2-40B4-BE49-F238E27FC236}">
                  <a16:creationId xmlns:a16="http://schemas.microsoft.com/office/drawing/2014/main" id="{529EB714-FA38-42FE-9A86-B53F39602072}"/>
                </a:ext>
              </a:extLst>
            </p:cNvPr>
            <p:cNvSpPr>
              <a:spLocks/>
            </p:cNvSpPr>
            <p:nvPr/>
          </p:nvSpPr>
          <p:spPr bwMode="auto">
            <a:xfrm>
              <a:off x="5556799" y="3742681"/>
              <a:ext cx="254702" cy="254700"/>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a typeface="Noto Sans Light" panose="020B0402040504020204" pitchFamily="34" charset="0"/>
                <a:cs typeface="Arial" panose="020B0604020202020204" pitchFamily="34" charset="0"/>
              </a:endParaRPr>
            </a:p>
          </p:txBody>
        </p:sp>
      </p:grpSp>
      <p:sp>
        <p:nvSpPr>
          <p:cNvPr id="59" name="Freeform 19">
            <a:extLst>
              <a:ext uri="{FF2B5EF4-FFF2-40B4-BE49-F238E27FC236}">
                <a16:creationId xmlns:a16="http://schemas.microsoft.com/office/drawing/2014/main" id="{22C5860A-49EE-4CC4-9522-23E702238F47}"/>
              </a:ext>
            </a:extLst>
          </p:cNvPr>
          <p:cNvSpPr>
            <a:spLocks/>
          </p:cNvSpPr>
          <p:nvPr userDrawn="1"/>
        </p:nvSpPr>
        <p:spPr bwMode="auto">
          <a:xfrm>
            <a:off x="1231650" y="5758356"/>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cxnSp>
        <p:nvCxnSpPr>
          <p:cNvPr id="60" name="Straight Connector 59">
            <a:extLst>
              <a:ext uri="{FF2B5EF4-FFF2-40B4-BE49-F238E27FC236}">
                <a16:creationId xmlns:a16="http://schemas.microsoft.com/office/drawing/2014/main" id="{FB462493-4D7D-492B-B539-7D622B2B0977}"/>
              </a:ext>
            </a:extLst>
          </p:cNvPr>
          <p:cNvCxnSpPr>
            <a:cxnSpLocks/>
          </p:cNvCxnSpPr>
          <p:nvPr userDrawn="1"/>
        </p:nvCxnSpPr>
        <p:spPr bwMode="auto">
          <a:xfrm flipV="1">
            <a:off x="565086" y="2751592"/>
            <a:ext cx="4737164" cy="1"/>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65" name="Group 64">
            <a:extLst>
              <a:ext uri="{FF2B5EF4-FFF2-40B4-BE49-F238E27FC236}">
                <a16:creationId xmlns:a16="http://schemas.microsoft.com/office/drawing/2014/main" id="{56B4EDE5-44A5-48CB-B37D-B648D3052753}"/>
              </a:ext>
            </a:extLst>
          </p:cNvPr>
          <p:cNvGrpSpPr/>
          <p:nvPr userDrawn="1"/>
        </p:nvGrpSpPr>
        <p:grpSpPr>
          <a:xfrm>
            <a:off x="565086" y="3791145"/>
            <a:ext cx="4737164" cy="113656"/>
            <a:chOff x="565086" y="3608678"/>
            <a:chExt cx="4737164" cy="113656"/>
          </a:xfrm>
        </p:grpSpPr>
        <p:cxnSp>
          <p:nvCxnSpPr>
            <p:cNvPr id="62" name="Straight Connector 61">
              <a:extLst>
                <a:ext uri="{FF2B5EF4-FFF2-40B4-BE49-F238E27FC236}">
                  <a16:creationId xmlns:a16="http://schemas.microsoft.com/office/drawing/2014/main" id="{11E95463-23AA-457B-BBFF-DEBBAF717521}"/>
                </a:ext>
              </a:extLst>
            </p:cNvPr>
            <p:cNvCxnSpPr>
              <a:cxnSpLocks/>
            </p:cNvCxnSpPr>
            <p:nvPr userDrawn="1"/>
          </p:nvCxnSpPr>
          <p:spPr bwMode="auto">
            <a:xfrm rot="10800000" flipV="1">
              <a:off x="565086" y="3608678"/>
              <a:ext cx="4737164" cy="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63" name="Isosceles Triangle 62">
              <a:extLst>
                <a:ext uri="{FF2B5EF4-FFF2-40B4-BE49-F238E27FC236}">
                  <a16:creationId xmlns:a16="http://schemas.microsoft.com/office/drawing/2014/main" id="{88398F06-CA25-4826-BB76-95D10F72C8FB}"/>
                </a:ext>
              </a:extLst>
            </p:cNvPr>
            <p:cNvSpPr/>
            <p:nvPr userDrawn="1"/>
          </p:nvSpPr>
          <p:spPr bwMode="auto">
            <a:xfrm rot="10800000">
              <a:off x="2867749" y="3608679"/>
              <a:ext cx="131840" cy="113655"/>
            </a:xfrm>
            <a:prstGeom prst="triangle">
              <a:avLst/>
            </a:prstGeom>
            <a:solidFill>
              <a:schemeClr val="tx1"/>
            </a:solidFill>
            <a:ln w="9525">
              <a:noFill/>
              <a:round/>
              <a:headEnd/>
              <a:tailEnd/>
            </a:ln>
            <a:effectLst/>
          </p:spPr>
          <p:txBody>
            <a:bodyPr wrap="square" rtlCol="0" anchor="ctr"/>
            <a:lstStyle>
              <a:defPPr>
                <a:defRPr lang="en-US"/>
              </a:defPPr>
              <a:lvl1pPr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1pPr>
              <a:lvl2pPr marL="730250" indent="-273050"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2pPr>
              <a:lvl3pPr marL="1462088" indent="-547688"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3pPr>
              <a:lvl4pPr marL="2193925" indent="-822325"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4pPr>
              <a:lvl5pPr marL="2925763" indent="-1096963"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5pPr>
              <a:lvl6pPr marL="2286000" algn="l" defTabSz="914400" rtl="0" eaLnBrk="1" latinLnBrk="0" hangingPunct="1">
                <a:defRPr sz="2900" kern="1200">
                  <a:solidFill>
                    <a:schemeClr val="tx1"/>
                  </a:solidFill>
                  <a:latin typeface="Arial" panose="020B0604020202020204" pitchFamily="34" charset="0"/>
                  <a:ea typeface="+mn-ea"/>
                  <a:cs typeface="+mn-cs"/>
                </a:defRPr>
              </a:lvl6pPr>
              <a:lvl7pPr marL="2743200" algn="l" defTabSz="914400" rtl="0" eaLnBrk="1" latinLnBrk="0" hangingPunct="1">
                <a:defRPr sz="2900" kern="1200">
                  <a:solidFill>
                    <a:schemeClr val="tx1"/>
                  </a:solidFill>
                  <a:latin typeface="Arial" panose="020B0604020202020204" pitchFamily="34" charset="0"/>
                  <a:ea typeface="+mn-ea"/>
                  <a:cs typeface="+mn-cs"/>
                </a:defRPr>
              </a:lvl7pPr>
              <a:lvl8pPr marL="3200400" algn="l" defTabSz="914400" rtl="0" eaLnBrk="1" latinLnBrk="0" hangingPunct="1">
                <a:defRPr sz="2900" kern="1200">
                  <a:solidFill>
                    <a:schemeClr val="tx1"/>
                  </a:solidFill>
                  <a:latin typeface="Arial" panose="020B0604020202020204" pitchFamily="34" charset="0"/>
                  <a:ea typeface="+mn-ea"/>
                  <a:cs typeface="+mn-cs"/>
                </a:defRPr>
              </a:lvl8pPr>
              <a:lvl9pPr marL="3657600" algn="l" defTabSz="914400" rtl="0" eaLnBrk="1" latinLnBrk="0" hangingPunct="1">
                <a:defRPr sz="2900" kern="1200">
                  <a:solidFill>
                    <a:schemeClr val="tx1"/>
                  </a:solidFill>
                  <a:latin typeface="Arial" panose="020B0604020202020204" pitchFamily="34" charset="0"/>
                  <a:ea typeface="+mn-ea"/>
                  <a:cs typeface="+mn-cs"/>
                </a:defRPr>
              </a:lvl9pPr>
            </a:lstStyle>
            <a:p>
              <a:pPr algn="ctr" eaLnBrk="0" fontAlgn="base" hangingPunct="0">
                <a:spcBef>
                  <a:spcPct val="0"/>
                </a:spcBef>
                <a:spcAft>
                  <a:spcPct val="0"/>
                </a:spcAft>
              </a:pPr>
              <a:endParaRPr lang="en-US" b="1">
                <a:solidFill>
                  <a:srgbClr val="FFFFFF"/>
                </a:solidFill>
                <a:latin typeface="Arial" panose="020B0604020202020204" pitchFamily="34" charset="0"/>
              </a:endParaRPr>
            </a:p>
          </p:txBody>
        </p:sp>
      </p:grpSp>
      <p:sp>
        <p:nvSpPr>
          <p:cNvPr id="67" name="Freeform 19">
            <a:extLst>
              <a:ext uri="{FF2B5EF4-FFF2-40B4-BE49-F238E27FC236}">
                <a16:creationId xmlns:a16="http://schemas.microsoft.com/office/drawing/2014/main" id="{899D04F0-241D-4D6B-9864-9D2D29F1AAD5}"/>
              </a:ext>
            </a:extLst>
          </p:cNvPr>
          <p:cNvSpPr>
            <a:spLocks/>
          </p:cNvSpPr>
          <p:nvPr userDrawn="1"/>
        </p:nvSpPr>
        <p:spPr bwMode="auto">
          <a:xfrm rot="13500000">
            <a:off x="1778008" y="5758356"/>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8" name="Freeform 19">
            <a:extLst>
              <a:ext uri="{FF2B5EF4-FFF2-40B4-BE49-F238E27FC236}">
                <a16:creationId xmlns:a16="http://schemas.microsoft.com/office/drawing/2014/main" id="{1B860F4A-C3BE-4901-B420-44CFC7831B59}"/>
              </a:ext>
            </a:extLst>
          </p:cNvPr>
          <p:cNvSpPr>
            <a:spLocks/>
          </p:cNvSpPr>
          <p:nvPr userDrawn="1"/>
        </p:nvSpPr>
        <p:spPr bwMode="auto">
          <a:xfrm rot="18000000">
            <a:off x="2296581" y="5758355"/>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nvGrpSpPr>
          <p:cNvPr id="36" name="Group 35">
            <a:extLst>
              <a:ext uri="{FF2B5EF4-FFF2-40B4-BE49-F238E27FC236}">
                <a16:creationId xmlns:a16="http://schemas.microsoft.com/office/drawing/2014/main" id="{3BD914CC-D7C7-4B70-845A-AD3663B9469F}"/>
              </a:ext>
            </a:extLst>
          </p:cNvPr>
          <p:cNvGrpSpPr/>
          <p:nvPr userDrawn="1"/>
        </p:nvGrpSpPr>
        <p:grpSpPr>
          <a:xfrm>
            <a:off x="3437245" y="5645244"/>
            <a:ext cx="1121106" cy="1110493"/>
            <a:chOff x="10019372" y="5383332"/>
            <a:chExt cx="2152284" cy="2131913"/>
          </a:xfrm>
        </p:grpSpPr>
        <p:sp>
          <p:nvSpPr>
            <p:cNvPr id="48" name="Arc 47">
              <a:extLst>
                <a:ext uri="{FF2B5EF4-FFF2-40B4-BE49-F238E27FC236}">
                  <a16:creationId xmlns:a16="http://schemas.microsoft.com/office/drawing/2014/main" id="{B3638777-CE23-4C5A-AFA2-331696C2D485}"/>
                </a:ext>
              </a:extLst>
            </p:cNvPr>
            <p:cNvSpPr/>
            <p:nvPr/>
          </p:nvSpPr>
          <p:spPr bwMode="auto">
            <a:xfrm>
              <a:off x="10056139" y="5383332"/>
              <a:ext cx="2112860" cy="2112864"/>
            </a:xfrm>
            <a:prstGeom prst="arc">
              <a:avLst>
                <a:gd name="adj1" fmla="val 16200000"/>
                <a:gd name="adj2" fmla="val 1726514"/>
              </a:avLst>
            </a:prstGeom>
            <a:noFill/>
            <a:ln w="25400" cap="flat" cmpd="sng" algn="ctr">
              <a:solidFill>
                <a:schemeClr val="tx1"/>
              </a:solidFill>
              <a:prstDash val="solid"/>
              <a:round/>
              <a:headEnd type="none" w="med" len="med"/>
              <a:tailEnd type="arrow" w="lg" len="sm"/>
            </a:ln>
            <a:effectLst/>
          </p:spPr>
          <p:txBody>
            <a:bodyPr rtlCol="0" anchor="ctr"/>
            <a:lstStyle/>
            <a:p>
              <a:pPr algn="ctr"/>
              <a:endParaRPr lang="en-US"/>
            </a:p>
          </p:txBody>
        </p:sp>
        <p:sp>
          <p:nvSpPr>
            <p:cNvPr id="49" name="Arc 48">
              <a:extLst>
                <a:ext uri="{FF2B5EF4-FFF2-40B4-BE49-F238E27FC236}">
                  <a16:creationId xmlns:a16="http://schemas.microsoft.com/office/drawing/2014/main" id="{469D92B2-DA86-4E5E-8C59-823B75D89AB6}"/>
                </a:ext>
              </a:extLst>
            </p:cNvPr>
            <p:cNvSpPr/>
            <p:nvPr/>
          </p:nvSpPr>
          <p:spPr bwMode="auto">
            <a:xfrm flipH="1">
              <a:off x="10019372" y="5383332"/>
              <a:ext cx="2112862" cy="2112864"/>
            </a:xfrm>
            <a:prstGeom prst="arc">
              <a:avLst>
                <a:gd name="adj1" fmla="val 16200000"/>
                <a:gd name="adj2" fmla="val 1726514"/>
              </a:avLst>
            </a:prstGeom>
            <a:noFill/>
            <a:ln w="25400" cap="flat" cmpd="sng" algn="ctr">
              <a:solidFill>
                <a:schemeClr val="tx1"/>
              </a:solidFill>
              <a:prstDash val="solid"/>
              <a:round/>
              <a:headEnd type="arrow" w="lg" len="sm"/>
              <a:tailEnd type="none" w="lg" len="sm"/>
            </a:ln>
            <a:effectLst/>
          </p:spPr>
          <p:txBody>
            <a:bodyPr rtlCol="0" anchor="ctr"/>
            <a:lstStyle/>
            <a:p>
              <a:pPr algn="ctr"/>
              <a:endParaRPr lang="en-US"/>
            </a:p>
          </p:txBody>
        </p:sp>
        <p:sp>
          <p:nvSpPr>
            <p:cNvPr id="50" name="Arc 49">
              <a:extLst>
                <a:ext uri="{FF2B5EF4-FFF2-40B4-BE49-F238E27FC236}">
                  <a16:creationId xmlns:a16="http://schemas.microsoft.com/office/drawing/2014/main" id="{5CFD725C-0F87-4EF9-839C-CEDB6514D95A}"/>
                </a:ext>
              </a:extLst>
            </p:cNvPr>
            <p:cNvSpPr/>
            <p:nvPr/>
          </p:nvSpPr>
          <p:spPr bwMode="auto">
            <a:xfrm rot="7241160">
              <a:off x="10058795" y="5402383"/>
              <a:ext cx="2112860" cy="2112863"/>
            </a:xfrm>
            <a:prstGeom prst="arc">
              <a:avLst>
                <a:gd name="adj1" fmla="val 16200000"/>
                <a:gd name="adj2" fmla="val 1726514"/>
              </a:avLst>
            </a:prstGeom>
            <a:noFill/>
            <a:ln w="25400" cap="flat" cmpd="sng" algn="ctr">
              <a:solidFill>
                <a:schemeClr val="tx1"/>
              </a:solidFill>
              <a:prstDash val="solid"/>
              <a:round/>
              <a:headEnd type="none" w="med" len="med"/>
              <a:tailEnd type="arrow" w="lg" len="sm"/>
            </a:ln>
            <a:effectLst/>
          </p:spPr>
          <p:txBody>
            <a:bodyPr rtlCol="0" anchor="ctr"/>
            <a:lstStyle/>
            <a:p>
              <a:pPr algn="ctr"/>
              <a:endParaRPr lang="en-US"/>
            </a:p>
          </p:txBody>
        </p:sp>
      </p:grpSp>
    </p:spTree>
    <p:extLst>
      <p:ext uri="{BB962C8B-B14F-4D97-AF65-F5344CB8AC3E}">
        <p14:creationId xmlns:p14="http://schemas.microsoft.com/office/powerpoint/2010/main" val="327302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Library 1">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Icon Library to Copy/Paste, Fill Color Can Be Changed as Needed</a:t>
            </a:r>
          </a:p>
        </p:txBody>
      </p:sp>
      <p:sp>
        <p:nvSpPr>
          <p:cNvPr id="134" name="Rectangle 133"/>
          <p:cNvSpPr/>
          <p:nvPr userDrawn="1"/>
        </p:nvSpPr>
        <p:spPr>
          <a:xfrm>
            <a:off x="506947" y="1658372"/>
            <a:ext cx="1742785"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Office/Technology</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sp>
        <p:nvSpPr>
          <p:cNvPr id="475" name="Freeform 43"/>
          <p:cNvSpPr>
            <a:spLocks/>
          </p:cNvSpPr>
          <p:nvPr userDrawn="1"/>
        </p:nvSpPr>
        <p:spPr bwMode="auto">
          <a:xfrm>
            <a:off x="4366586" y="3281937"/>
            <a:ext cx="275695" cy="172206"/>
          </a:xfrm>
          <a:custGeom>
            <a:avLst/>
            <a:gdLst>
              <a:gd name="T0" fmla="*/ 231 w 410"/>
              <a:gd name="T1" fmla="*/ 0 h 257"/>
              <a:gd name="T2" fmla="*/ 139 w 410"/>
              <a:gd name="T3" fmla="*/ 57 h 257"/>
              <a:gd name="T4" fmla="*/ 116 w 410"/>
              <a:gd name="T5" fmla="*/ 52 h 257"/>
              <a:gd name="T6" fmla="*/ 64 w 410"/>
              <a:gd name="T7" fmla="*/ 103 h 257"/>
              <a:gd name="T8" fmla="*/ 64 w 410"/>
              <a:gd name="T9" fmla="*/ 104 h 257"/>
              <a:gd name="T10" fmla="*/ 0 w 410"/>
              <a:gd name="T11" fmla="*/ 180 h 257"/>
              <a:gd name="T12" fmla="*/ 77 w 410"/>
              <a:gd name="T13" fmla="*/ 257 h 257"/>
              <a:gd name="T14" fmla="*/ 321 w 410"/>
              <a:gd name="T15" fmla="*/ 257 h 257"/>
              <a:gd name="T16" fmla="*/ 321 w 410"/>
              <a:gd name="T17" fmla="*/ 257 h 257"/>
              <a:gd name="T18" fmla="*/ 410 w 410"/>
              <a:gd name="T19" fmla="*/ 167 h 257"/>
              <a:gd name="T20" fmla="*/ 330 w 410"/>
              <a:gd name="T21" fmla="*/ 78 h 257"/>
              <a:gd name="T22" fmla="*/ 231 w 410"/>
              <a:gd name="T23"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0" h="257">
                <a:moveTo>
                  <a:pt x="231" y="0"/>
                </a:moveTo>
                <a:cubicBezTo>
                  <a:pt x="191" y="0"/>
                  <a:pt x="156" y="24"/>
                  <a:pt x="139" y="57"/>
                </a:cubicBezTo>
                <a:cubicBezTo>
                  <a:pt x="132" y="54"/>
                  <a:pt x="124" y="52"/>
                  <a:pt x="116" y="52"/>
                </a:cubicBezTo>
                <a:cubicBezTo>
                  <a:pt x="87" y="52"/>
                  <a:pt x="64" y="75"/>
                  <a:pt x="64" y="103"/>
                </a:cubicBezTo>
                <a:cubicBezTo>
                  <a:pt x="64" y="103"/>
                  <a:pt x="64" y="104"/>
                  <a:pt x="64" y="104"/>
                </a:cubicBezTo>
                <a:cubicBezTo>
                  <a:pt x="28" y="110"/>
                  <a:pt x="0" y="142"/>
                  <a:pt x="0" y="180"/>
                </a:cubicBezTo>
                <a:cubicBezTo>
                  <a:pt x="0" y="222"/>
                  <a:pt x="35" y="257"/>
                  <a:pt x="77" y="257"/>
                </a:cubicBezTo>
                <a:cubicBezTo>
                  <a:pt x="321" y="257"/>
                  <a:pt x="321" y="257"/>
                  <a:pt x="321" y="257"/>
                </a:cubicBezTo>
                <a:cubicBezTo>
                  <a:pt x="321" y="257"/>
                  <a:pt x="321" y="257"/>
                  <a:pt x="321" y="257"/>
                </a:cubicBezTo>
                <a:cubicBezTo>
                  <a:pt x="370" y="257"/>
                  <a:pt x="410" y="217"/>
                  <a:pt x="410" y="167"/>
                </a:cubicBezTo>
                <a:cubicBezTo>
                  <a:pt x="410" y="121"/>
                  <a:pt x="375" y="83"/>
                  <a:pt x="330" y="78"/>
                </a:cubicBezTo>
                <a:cubicBezTo>
                  <a:pt x="319" y="33"/>
                  <a:pt x="279" y="0"/>
                  <a:pt x="23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60" name="Group 2059"/>
          <p:cNvGrpSpPr/>
          <p:nvPr userDrawn="1"/>
        </p:nvGrpSpPr>
        <p:grpSpPr>
          <a:xfrm>
            <a:off x="5024712" y="6760693"/>
            <a:ext cx="262157" cy="261790"/>
            <a:chOff x="7118350" y="3086100"/>
            <a:chExt cx="1135063" cy="1133475"/>
          </a:xfrm>
          <a:solidFill>
            <a:schemeClr val="tx1"/>
          </a:solidFill>
        </p:grpSpPr>
        <p:sp>
          <p:nvSpPr>
            <p:cNvPr id="661" name="Freeform 51"/>
            <p:cNvSpPr>
              <a:spLocks noEditPoints="1"/>
            </p:cNvSpPr>
            <p:nvPr/>
          </p:nvSpPr>
          <p:spPr bwMode="auto">
            <a:xfrm>
              <a:off x="7296150" y="3260725"/>
              <a:ext cx="779463" cy="781050"/>
            </a:xfrm>
            <a:custGeom>
              <a:avLst/>
              <a:gdLst>
                <a:gd name="T0" fmla="*/ 152 w 303"/>
                <a:gd name="T1" fmla="*/ 0 h 303"/>
                <a:gd name="T2" fmla="*/ 0 w 303"/>
                <a:gd name="T3" fmla="*/ 152 h 303"/>
                <a:gd name="T4" fmla="*/ 152 w 303"/>
                <a:gd name="T5" fmla="*/ 303 h 303"/>
                <a:gd name="T6" fmla="*/ 303 w 303"/>
                <a:gd name="T7" fmla="*/ 152 h 303"/>
                <a:gd name="T8" fmla="*/ 152 w 303"/>
                <a:gd name="T9" fmla="*/ 0 h 303"/>
                <a:gd name="T10" fmla="*/ 214 w 303"/>
                <a:gd name="T11" fmla="*/ 172 h 303"/>
                <a:gd name="T12" fmla="*/ 152 w 303"/>
                <a:gd name="T13" fmla="*/ 172 h 303"/>
                <a:gd name="T14" fmla="*/ 131 w 303"/>
                <a:gd name="T15" fmla="*/ 152 h 303"/>
                <a:gd name="T16" fmla="*/ 131 w 303"/>
                <a:gd name="T17" fmla="*/ 62 h 303"/>
                <a:gd name="T18" fmla="*/ 152 w 303"/>
                <a:gd name="T19" fmla="*/ 42 h 303"/>
                <a:gd name="T20" fmla="*/ 172 w 303"/>
                <a:gd name="T21" fmla="*/ 62 h 303"/>
                <a:gd name="T22" fmla="*/ 172 w 303"/>
                <a:gd name="T23" fmla="*/ 131 h 303"/>
                <a:gd name="T24" fmla="*/ 214 w 303"/>
                <a:gd name="T25" fmla="*/ 131 h 303"/>
                <a:gd name="T26" fmla="*/ 234 w 303"/>
                <a:gd name="T27" fmla="*/ 152 h 303"/>
                <a:gd name="T28" fmla="*/ 214 w 303"/>
                <a:gd name="T29" fmla="*/ 172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3" h="303">
                  <a:moveTo>
                    <a:pt x="152" y="0"/>
                  </a:moveTo>
                  <a:cubicBezTo>
                    <a:pt x="68" y="0"/>
                    <a:pt x="0" y="68"/>
                    <a:pt x="0" y="152"/>
                  </a:cubicBezTo>
                  <a:cubicBezTo>
                    <a:pt x="0" y="235"/>
                    <a:pt x="68" y="303"/>
                    <a:pt x="152" y="303"/>
                  </a:cubicBezTo>
                  <a:cubicBezTo>
                    <a:pt x="235" y="303"/>
                    <a:pt x="303" y="235"/>
                    <a:pt x="303" y="152"/>
                  </a:cubicBezTo>
                  <a:cubicBezTo>
                    <a:pt x="303" y="68"/>
                    <a:pt x="235" y="0"/>
                    <a:pt x="152" y="0"/>
                  </a:cubicBezTo>
                  <a:close/>
                  <a:moveTo>
                    <a:pt x="214" y="172"/>
                  </a:moveTo>
                  <a:cubicBezTo>
                    <a:pt x="152" y="172"/>
                    <a:pt x="152" y="172"/>
                    <a:pt x="152" y="172"/>
                  </a:cubicBezTo>
                  <a:cubicBezTo>
                    <a:pt x="140" y="172"/>
                    <a:pt x="131" y="163"/>
                    <a:pt x="131" y="152"/>
                  </a:cubicBezTo>
                  <a:cubicBezTo>
                    <a:pt x="131" y="62"/>
                    <a:pt x="131" y="62"/>
                    <a:pt x="131" y="62"/>
                  </a:cubicBezTo>
                  <a:cubicBezTo>
                    <a:pt x="131" y="51"/>
                    <a:pt x="140" y="42"/>
                    <a:pt x="152" y="42"/>
                  </a:cubicBezTo>
                  <a:cubicBezTo>
                    <a:pt x="163" y="42"/>
                    <a:pt x="172" y="51"/>
                    <a:pt x="172" y="62"/>
                  </a:cubicBezTo>
                  <a:cubicBezTo>
                    <a:pt x="172" y="131"/>
                    <a:pt x="172" y="131"/>
                    <a:pt x="172" y="131"/>
                  </a:cubicBezTo>
                  <a:cubicBezTo>
                    <a:pt x="214" y="131"/>
                    <a:pt x="214" y="131"/>
                    <a:pt x="214" y="131"/>
                  </a:cubicBezTo>
                  <a:cubicBezTo>
                    <a:pt x="225" y="131"/>
                    <a:pt x="234" y="140"/>
                    <a:pt x="234" y="152"/>
                  </a:cubicBezTo>
                  <a:cubicBezTo>
                    <a:pt x="234" y="163"/>
                    <a:pt x="225" y="172"/>
                    <a:pt x="214" y="17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2" name="Freeform 52"/>
            <p:cNvSpPr>
              <a:spLocks noEditPoints="1"/>
            </p:cNvSpPr>
            <p:nvPr/>
          </p:nvSpPr>
          <p:spPr bwMode="auto">
            <a:xfrm>
              <a:off x="7118350" y="3086100"/>
              <a:ext cx="1135063" cy="1133475"/>
            </a:xfrm>
            <a:custGeom>
              <a:avLst/>
              <a:gdLst>
                <a:gd name="T0" fmla="*/ 221 w 441"/>
                <a:gd name="T1" fmla="*/ 0 h 440"/>
                <a:gd name="T2" fmla="*/ 0 w 441"/>
                <a:gd name="T3" fmla="*/ 220 h 440"/>
                <a:gd name="T4" fmla="*/ 221 w 441"/>
                <a:gd name="T5" fmla="*/ 440 h 440"/>
                <a:gd name="T6" fmla="*/ 441 w 441"/>
                <a:gd name="T7" fmla="*/ 220 h 440"/>
                <a:gd name="T8" fmla="*/ 221 w 441"/>
                <a:gd name="T9" fmla="*/ 0 h 440"/>
                <a:gd name="T10" fmla="*/ 221 w 441"/>
                <a:gd name="T11" fmla="*/ 399 h 440"/>
                <a:gd name="T12" fmla="*/ 42 w 441"/>
                <a:gd name="T13" fmla="*/ 220 h 440"/>
                <a:gd name="T14" fmla="*/ 221 w 441"/>
                <a:gd name="T15" fmla="*/ 41 h 440"/>
                <a:gd name="T16" fmla="*/ 400 w 441"/>
                <a:gd name="T17" fmla="*/ 220 h 440"/>
                <a:gd name="T18" fmla="*/ 221 w 441"/>
                <a:gd name="T19" fmla="*/ 39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1" h="440">
                  <a:moveTo>
                    <a:pt x="221" y="0"/>
                  </a:moveTo>
                  <a:cubicBezTo>
                    <a:pt x="99" y="0"/>
                    <a:pt x="0" y="98"/>
                    <a:pt x="0" y="220"/>
                  </a:cubicBezTo>
                  <a:cubicBezTo>
                    <a:pt x="0" y="341"/>
                    <a:pt x="99" y="440"/>
                    <a:pt x="221" y="440"/>
                  </a:cubicBezTo>
                  <a:cubicBezTo>
                    <a:pt x="342" y="440"/>
                    <a:pt x="441" y="341"/>
                    <a:pt x="441" y="220"/>
                  </a:cubicBezTo>
                  <a:cubicBezTo>
                    <a:pt x="441" y="98"/>
                    <a:pt x="342" y="0"/>
                    <a:pt x="221" y="0"/>
                  </a:cubicBezTo>
                  <a:close/>
                  <a:moveTo>
                    <a:pt x="221" y="399"/>
                  </a:moveTo>
                  <a:cubicBezTo>
                    <a:pt x="122" y="399"/>
                    <a:pt x="42" y="319"/>
                    <a:pt x="42" y="220"/>
                  </a:cubicBezTo>
                  <a:cubicBezTo>
                    <a:pt x="42" y="121"/>
                    <a:pt x="122" y="41"/>
                    <a:pt x="221" y="41"/>
                  </a:cubicBezTo>
                  <a:cubicBezTo>
                    <a:pt x="319" y="41"/>
                    <a:pt x="400" y="121"/>
                    <a:pt x="400" y="220"/>
                  </a:cubicBezTo>
                  <a:cubicBezTo>
                    <a:pt x="400" y="319"/>
                    <a:pt x="319" y="399"/>
                    <a:pt x="221" y="3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2" name="Freeform 47"/>
          <p:cNvSpPr>
            <a:spLocks noEditPoints="1"/>
          </p:cNvSpPr>
          <p:nvPr userDrawn="1"/>
        </p:nvSpPr>
        <p:spPr bwMode="auto">
          <a:xfrm>
            <a:off x="4479617" y="2088084"/>
            <a:ext cx="167504" cy="266959"/>
          </a:xfrm>
          <a:custGeom>
            <a:avLst/>
            <a:gdLst>
              <a:gd name="T0" fmla="*/ 41 w 276"/>
              <a:gd name="T1" fmla="*/ 0 h 440"/>
              <a:gd name="T2" fmla="*/ 234 w 276"/>
              <a:gd name="T3" fmla="*/ 0 h 440"/>
              <a:gd name="T4" fmla="*/ 276 w 276"/>
              <a:gd name="T5" fmla="*/ 41 h 440"/>
              <a:gd name="T6" fmla="*/ 276 w 276"/>
              <a:gd name="T7" fmla="*/ 399 h 440"/>
              <a:gd name="T8" fmla="*/ 234 w 276"/>
              <a:gd name="T9" fmla="*/ 440 h 440"/>
              <a:gd name="T10" fmla="*/ 193 w 276"/>
              <a:gd name="T11" fmla="*/ 440 h 440"/>
              <a:gd name="T12" fmla="*/ 83 w 276"/>
              <a:gd name="T13" fmla="*/ 440 h 440"/>
              <a:gd name="T14" fmla="*/ 41 w 276"/>
              <a:gd name="T15" fmla="*/ 440 h 440"/>
              <a:gd name="T16" fmla="*/ 0 w 276"/>
              <a:gd name="T17" fmla="*/ 399 h 440"/>
              <a:gd name="T18" fmla="*/ 0 w 276"/>
              <a:gd name="T19" fmla="*/ 41 h 440"/>
              <a:gd name="T20" fmla="*/ 41 w 276"/>
              <a:gd name="T21" fmla="*/ 0 h 440"/>
              <a:gd name="T22" fmla="*/ 55 w 276"/>
              <a:gd name="T23" fmla="*/ 41 h 440"/>
              <a:gd name="T24" fmla="*/ 41 w 276"/>
              <a:gd name="T25" fmla="*/ 55 h 440"/>
              <a:gd name="T26" fmla="*/ 41 w 276"/>
              <a:gd name="T27" fmla="*/ 317 h 440"/>
              <a:gd name="T28" fmla="*/ 55 w 276"/>
              <a:gd name="T29" fmla="*/ 330 h 440"/>
              <a:gd name="T30" fmla="*/ 220 w 276"/>
              <a:gd name="T31" fmla="*/ 330 h 440"/>
              <a:gd name="T32" fmla="*/ 234 w 276"/>
              <a:gd name="T33" fmla="*/ 317 h 440"/>
              <a:gd name="T34" fmla="*/ 234 w 276"/>
              <a:gd name="T35" fmla="*/ 55 h 440"/>
              <a:gd name="T36" fmla="*/ 220 w 276"/>
              <a:gd name="T37" fmla="*/ 41 h 440"/>
              <a:gd name="T38" fmla="*/ 55 w 276"/>
              <a:gd name="T39" fmla="*/ 41 h 440"/>
              <a:gd name="T40" fmla="*/ 138 w 276"/>
              <a:gd name="T41" fmla="*/ 365 h 440"/>
              <a:gd name="T42" fmla="*/ 117 w 276"/>
              <a:gd name="T43" fmla="*/ 385 h 440"/>
              <a:gd name="T44" fmla="*/ 138 w 276"/>
              <a:gd name="T45" fmla="*/ 406 h 440"/>
              <a:gd name="T46" fmla="*/ 159 w 276"/>
              <a:gd name="T47" fmla="*/ 385 h 440"/>
              <a:gd name="T48" fmla="*/ 138 w 276"/>
              <a:gd name="T49" fmla="*/ 365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 h="440">
                <a:moveTo>
                  <a:pt x="41" y="0"/>
                </a:moveTo>
                <a:cubicBezTo>
                  <a:pt x="234" y="0"/>
                  <a:pt x="234" y="0"/>
                  <a:pt x="234" y="0"/>
                </a:cubicBezTo>
                <a:cubicBezTo>
                  <a:pt x="257" y="0"/>
                  <a:pt x="276" y="18"/>
                  <a:pt x="276" y="41"/>
                </a:cubicBezTo>
                <a:cubicBezTo>
                  <a:pt x="276" y="399"/>
                  <a:pt x="276" y="399"/>
                  <a:pt x="276" y="399"/>
                </a:cubicBezTo>
                <a:cubicBezTo>
                  <a:pt x="276" y="422"/>
                  <a:pt x="257" y="440"/>
                  <a:pt x="234" y="440"/>
                </a:cubicBezTo>
                <a:cubicBezTo>
                  <a:pt x="193" y="440"/>
                  <a:pt x="193" y="440"/>
                  <a:pt x="193" y="440"/>
                </a:cubicBezTo>
                <a:cubicBezTo>
                  <a:pt x="83" y="440"/>
                  <a:pt x="83" y="440"/>
                  <a:pt x="83" y="440"/>
                </a:cubicBezTo>
                <a:cubicBezTo>
                  <a:pt x="41" y="440"/>
                  <a:pt x="41" y="440"/>
                  <a:pt x="41" y="440"/>
                </a:cubicBezTo>
                <a:cubicBezTo>
                  <a:pt x="19" y="440"/>
                  <a:pt x="0" y="422"/>
                  <a:pt x="0" y="399"/>
                </a:cubicBezTo>
                <a:cubicBezTo>
                  <a:pt x="0" y="41"/>
                  <a:pt x="0" y="41"/>
                  <a:pt x="0" y="41"/>
                </a:cubicBezTo>
                <a:cubicBezTo>
                  <a:pt x="0" y="18"/>
                  <a:pt x="19" y="0"/>
                  <a:pt x="41" y="0"/>
                </a:cubicBezTo>
                <a:close/>
                <a:moveTo>
                  <a:pt x="55" y="41"/>
                </a:moveTo>
                <a:cubicBezTo>
                  <a:pt x="48" y="41"/>
                  <a:pt x="41" y="47"/>
                  <a:pt x="41" y="55"/>
                </a:cubicBezTo>
                <a:cubicBezTo>
                  <a:pt x="41" y="317"/>
                  <a:pt x="41" y="317"/>
                  <a:pt x="41" y="317"/>
                </a:cubicBezTo>
                <a:cubicBezTo>
                  <a:pt x="41" y="324"/>
                  <a:pt x="48" y="330"/>
                  <a:pt x="55" y="330"/>
                </a:cubicBezTo>
                <a:cubicBezTo>
                  <a:pt x="220" y="330"/>
                  <a:pt x="220" y="330"/>
                  <a:pt x="220" y="330"/>
                </a:cubicBezTo>
                <a:cubicBezTo>
                  <a:pt x="228" y="330"/>
                  <a:pt x="234" y="324"/>
                  <a:pt x="234" y="317"/>
                </a:cubicBezTo>
                <a:cubicBezTo>
                  <a:pt x="234" y="55"/>
                  <a:pt x="234" y="55"/>
                  <a:pt x="234" y="55"/>
                </a:cubicBezTo>
                <a:cubicBezTo>
                  <a:pt x="234" y="47"/>
                  <a:pt x="228" y="41"/>
                  <a:pt x="220" y="41"/>
                </a:cubicBezTo>
                <a:cubicBezTo>
                  <a:pt x="55" y="41"/>
                  <a:pt x="55" y="41"/>
                  <a:pt x="55" y="41"/>
                </a:cubicBezTo>
                <a:close/>
                <a:moveTo>
                  <a:pt x="138" y="365"/>
                </a:moveTo>
                <a:cubicBezTo>
                  <a:pt x="126" y="365"/>
                  <a:pt x="117" y="374"/>
                  <a:pt x="117" y="385"/>
                </a:cubicBezTo>
                <a:cubicBezTo>
                  <a:pt x="117" y="397"/>
                  <a:pt x="126" y="406"/>
                  <a:pt x="138" y="406"/>
                </a:cubicBezTo>
                <a:cubicBezTo>
                  <a:pt x="149" y="406"/>
                  <a:pt x="159" y="397"/>
                  <a:pt x="159" y="385"/>
                </a:cubicBezTo>
                <a:cubicBezTo>
                  <a:pt x="159" y="374"/>
                  <a:pt x="149" y="365"/>
                  <a:pt x="138" y="36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47"/>
          <p:cNvSpPr>
            <a:spLocks noEditPoints="1"/>
          </p:cNvSpPr>
          <p:nvPr userDrawn="1"/>
        </p:nvSpPr>
        <p:spPr bwMode="auto">
          <a:xfrm>
            <a:off x="4380294" y="2630666"/>
            <a:ext cx="286759" cy="287621"/>
          </a:xfrm>
          <a:custGeom>
            <a:avLst/>
            <a:gdLst>
              <a:gd name="T0" fmla="*/ 149 w 406"/>
              <a:gd name="T1" fmla="*/ 339 h 407"/>
              <a:gd name="T2" fmla="*/ 85 w 406"/>
              <a:gd name="T3" fmla="*/ 403 h 407"/>
              <a:gd name="T4" fmla="*/ 76 w 406"/>
              <a:gd name="T5" fmla="*/ 407 h 407"/>
              <a:gd name="T6" fmla="*/ 67 w 406"/>
              <a:gd name="T7" fmla="*/ 403 h 407"/>
              <a:gd name="T8" fmla="*/ 4 w 406"/>
              <a:gd name="T9" fmla="*/ 339 h 407"/>
              <a:gd name="T10" fmla="*/ 0 w 406"/>
              <a:gd name="T11" fmla="*/ 330 h 407"/>
              <a:gd name="T12" fmla="*/ 4 w 406"/>
              <a:gd name="T13" fmla="*/ 321 h 407"/>
              <a:gd name="T14" fmla="*/ 67 w 406"/>
              <a:gd name="T15" fmla="*/ 258 h 407"/>
              <a:gd name="T16" fmla="*/ 76 w 406"/>
              <a:gd name="T17" fmla="*/ 254 h 407"/>
              <a:gd name="T18" fmla="*/ 85 w 406"/>
              <a:gd name="T19" fmla="*/ 258 h 407"/>
              <a:gd name="T20" fmla="*/ 149 w 406"/>
              <a:gd name="T21" fmla="*/ 321 h 407"/>
              <a:gd name="T22" fmla="*/ 152 w 406"/>
              <a:gd name="T23" fmla="*/ 330 h 407"/>
              <a:gd name="T24" fmla="*/ 149 w 406"/>
              <a:gd name="T25" fmla="*/ 339 h 407"/>
              <a:gd name="T26" fmla="*/ 274 w 406"/>
              <a:gd name="T27" fmla="*/ 7 h 407"/>
              <a:gd name="T28" fmla="*/ 243 w 406"/>
              <a:gd name="T29" fmla="*/ 28 h 407"/>
              <a:gd name="T30" fmla="*/ 243 w 406"/>
              <a:gd name="T31" fmla="*/ 28 h 407"/>
              <a:gd name="T32" fmla="*/ 72 w 406"/>
              <a:gd name="T33" fmla="*/ 199 h 407"/>
              <a:gd name="T34" fmla="*/ 68 w 406"/>
              <a:gd name="T35" fmla="*/ 209 h 407"/>
              <a:gd name="T36" fmla="*/ 72 w 406"/>
              <a:gd name="T37" fmla="*/ 218 h 407"/>
              <a:gd name="T38" fmla="*/ 189 w 406"/>
              <a:gd name="T39" fmla="*/ 334 h 407"/>
              <a:gd name="T40" fmla="*/ 198 w 406"/>
              <a:gd name="T41" fmla="*/ 338 h 407"/>
              <a:gd name="T42" fmla="*/ 207 w 406"/>
              <a:gd name="T43" fmla="*/ 334 h 407"/>
              <a:gd name="T44" fmla="*/ 378 w 406"/>
              <a:gd name="T45" fmla="*/ 163 h 407"/>
              <a:gd name="T46" fmla="*/ 378 w 406"/>
              <a:gd name="T47" fmla="*/ 163 h 407"/>
              <a:gd name="T48" fmla="*/ 399 w 406"/>
              <a:gd name="T49" fmla="*/ 132 h 407"/>
              <a:gd name="T50" fmla="*/ 406 w 406"/>
              <a:gd name="T51" fmla="*/ 95 h 407"/>
              <a:gd name="T52" fmla="*/ 378 w 406"/>
              <a:gd name="T53" fmla="*/ 28 h 407"/>
              <a:gd name="T54" fmla="*/ 311 w 406"/>
              <a:gd name="T55" fmla="*/ 0 h 407"/>
              <a:gd name="T56" fmla="*/ 274 w 406"/>
              <a:gd name="T57" fmla="*/ 7 h 407"/>
              <a:gd name="T58" fmla="*/ 41 w 406"/>
              <a:gd name="T59" fmla="*/ 313 h 407"/>
              <a:gd name="T60" fmla="*/ 59 w 406"/>
              <a:gd name="T61" fmla="*/ 331 h 407"/>
              <a:gd name="T62" fmla="*/ 77 w 406"/>
              <a:gd name="T63" fmla="*/ 313 h 407"/>
              <a:gd name="T64" fmla="*/ 59 w 406"/>
              <a:gd name="T65" fmla="*/ 295 h 407"/>
              <a:gd name="T66" fmla="*/ 41 w 406"/>
              <a:gd name="T67" fmla="*/ 313 h 407"/>
              <a:gd name="T68" fmla="*/ 75 w 406"/>
              <a:gd name="T69" fmla="*/ 348 h 407"/>
              <a:gd name="T70" fmla="*/ 93 w 406"/>
              <a:gd name="T71" fmla="*/ 366 h 407"/>
              <a:gd name="T72" fmla="*/ 111 w 406"/>
              <a:gd name="T73" fmla="*/ 348 h 407"/>
              <a:gd name="T74" fmla="*/ 93 w 406"/>
              <a:gd name="T75" fmla="*/ 330 h 407"/>
              <a:gd name="T76" fmla="*/ 75 w 406"/>
              <a:gd name="T77" fmla="*/ 34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6" h="407">
                <a:moveTo>
                  <a:pt x="149" y="339"/>
                </a:moveTo>
                <a:cubicBezTo>
                  <a:pt x="85" y="403"/>
                  <a:pt x="85" y="403"/>
                  <a:pt x="85" y="403"/>
                </a:cubicBezTo>
                <a:cubicBezTo>
                  <a:pt x="83" y="405"/>
                  <a:pt x="80" y="407"/>
                  <a:pt x="76" y="407"/>
                </a:cubicBezTo>
                <a:cubicBezTo>
                  <a:pt x="72" y="407"/>
                  <a:pt x="69" y="405"/>
                  <a:pt x="67" y="403"/>
                </a:cubicBezTo>
                <a:cubicBezTo>
                  <a:pt x="4" y="339"/>
                  <a:pt x="4" y="339"/>
                  <a:pt x="4" y="339"/>
                </a:cubicBezTo>
                <a:cubicBezTo>
                  <a:pt x="1" y="337"/>
                  <a:pt x="0" y="334"/>
                  <a:pt x="0" y="330"/>
                </a:cubicBezTo>
                <a:cubicBezTo>
                  <a:pt x="0" y="327"/>
                  <a:pt x="1" y="324"/>
                  <a:pt x="4" y="321"/>
                </a:cubicBezTo>
                <a:cubicBezTo>
                  <a:pt x="67" y="258"/>
                  <a:pt x="67" y="258"/>
                  <a:pt x="67" y="258"/>
                </a:cubicBezTo>
                <a:cubicBezTo>
                  <a:pt x="69" y="256"/>
                  <a:pt x="73" y="254"/>
                  <a:pt x="76" y="254"/>
                </a:cubicBezTo>
                <a:cubicBezTo>
                  <a:pt x="80" y="254"/>
                  <a:pt x="83" y="256"/>
                  <a:pt x="85" y="258"/>
                </a:cubicBezTo>
                <a:cubicBezTo>
                  <a:pt x="149" y="321"/>
                  <a:pt x="149" y="321"/>
                  <a:pt x="149" y="321"/>
                </a:cubicBezTo>
                <a:cubicBezTo>
                  <a:pt x="151" y="324"/>
                  <a:pt x="152" y="327"/>
                  <a:pt x="152" y="330"/>
                </a:cubicBezTo>
                <a:cubicBezTo>
                  <a:pt x="152" y="334"/>
                  <a:pt x="151" y="337"/>
                  <a:pt x="149" y="339"/>
                </a:cubicBezTo>
                <a:close/>
                <a:moveTo>
                  <a:pt x="274" y="7"/>
                </a:moveTo>
                <a:cubicBezTo>
                  <a:pt x="263" y="12"/>
                  <a:pt x="252" y="19"/>
                  <a:pt x="243" y="28"/>
                </a:cubicBezTo>
                <a:cubicBezTo>
                  <a:pt x="243" y="28"/>
                  <a:pt x="243" y="28"/>
                  <a:pt x="243" y="28"/>
                </a:cubicBezTo>
                <a:cubicBezTo>
                  <a:pt x="72" y="199"/>
                  <a:pt x="72" y="199"/>
                  <a:pt x="72" y="199"/>
                </a:cubicBezTo>
                <a:cubicBezTo>
                  <a:pt x="70" y="202"/>
                  <a:pt x="68" y="205"/>
                  <a:pt x="68" y="209"/>
                </a:cubicBezTo>
                <a:cubicBezTo>
                  <a:pt x="68" y="212"/>
                  <a:pt x="70" y="215"/>
                  <a:pt x="72" y="218"/>
                </a:cubicBezTo>
                <a:cubicBezTo>
                  <a:pt x="189" y="334"/>
                  <a:pt x="189" y="334"/>
                  <a:pt x="189" y="334"/>
                </a:cubicBezTo>
                <a:cubicBezTo>
                  <a:pt x="191" y="337"/>
                  <a:pt x="194" y="338"/>
                  <a:pt x="198" y="338"/>
                </a:cubicBezTo>
                <a:cubicBezTo>
                  <a:pt x="201" y="338"/>
                  <a:pt x="205" y="337"/>
                  <a:pt x="207" y="334"/>
                </a:cubicBezTo>
                <a:cubicBezTo>
                  <a:pt x="378" y="163"/>
                  <a:pt x="378" y="163"/>
                  <a:pt x="378" y="163"/>
                </a:cubicBezTo>
                <a:cubicBezTo>
                  <a:pt x="378" y="163"/>
                  <a:pt x="378" y="163"/>
                  <a:pt x="378" y="163"/>
                </a:cubicBezTo>
                <a:cubicBezTo>
                  <a:pt x="387" y="154"/>
                  <a:pt x="394" y="144"/>
                  <a:pt x="399" y="132"/>
                </a:cubicBezTo>
                <a:cubicBezTo>
                  <a:pt x="404" y="121"/>
                  <a:pt x="406" y="108"/>
                  <a:pt x="406" y="95"/>
                </a:cubicBezTo>
                <a:cubicBezTo>
                  <a:pt x="406" y="69"/>
                  <a:pt x="396" y="45"/>
                  <a:pt x="378" y="28"/>
                </a:cubicBezTo>
                <a:cubicBezTo>
                  <a:pt x="361" y="11"/>
                  <a:pt x="337" y="0"/>
                  <a:pt x="311" y="0"/>
                </a:cubicBezTo>
                <a:cubicBezTo>
                  <a:pt x="298" y="0"/>
                  <a:pt x="286" y="3"/>
                  <a:pt x="274" y="7"/>
                </a:cubicBezTo>
                <a:close/>
                <a:moveTo>
                  <a:pt x="41" y="313"/>
                </a:moveTo>
                <a:cubicBezTo>
                  <a:pt x="59" y="331"/>
                  <a:pt x="59" y="331"/>
                  <a:pt x="59" y="331"/>
                </a:cubicBezTo>
                <a:cubicBezTo>
                  <a:pt x="77" y="313"/>
                  <a:pt x="77" y="313"/>
                  <a:pt x="77" y="313"/>
                </a:cubicBezTo>
                <a:cubicBezTo>
                  <a:pt x="59" y="295"/>
                  <a:pt x="59" y="295"/>
                  <a:pt x="59" y="295"/>
                </a:cubicBezTo>
                <a:cubicBezTo>
                  <a:pt x="41" y="313"/>
                  <a:pt x="41" y="313"/>
                  <a:pt x="41" y="313"/>
                </a:cubicBezTo>
                <a:close/>
                <a:moveTo>
                  <a:pt x="75" y="348"/>
                </a:moveTo>
                <a:cubicBezTo>
                  <a:pt x="93" y="366"/>
                  <a:pt x="93" y="366"/>
                  <a:pt x="93" y="366"/>
                </a:cubicBezTo>
                <a:cubicBezTo>
                  <a:pt x="111" y="348"/>
                  <a:pt x="111" y="348"/>
                  <a:pt x="111" y="348"/>
                </a:cubicBezTo>
                <a:cubicBezTo>
                  <a:pt x="93" y="330"/>
                  <a:pt x="93" y="330"/>
                  <a:pt x="93" y="330"/>
                </a:cubicBezTo>
                <a:lnTo>
                  <a:pt x="75" y="34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51"/>
          <p:cNvSpPr>
            <a:spLocks noEditPoints="1"/>
          </p:cNvSpPr>
          <p:nvPr userDrawn="1"/>
        </p:nvSpPr>
        <p:spPr bwMode="auto">
          <a:xfrm>
            <a:off x="4408711" y="3749198"/>
            <a:ext cx="252640" cy="278983"/>
          </a:xfrm>
          <a:custGeom>
            <a:avLst/>
            <a:gdLst>
              <a:gd name="T0" fmla="*/ 102 w 411"/>
              <a:gd name="T1" fmla="*/ 70 h 453"/>
              <a:gd name="T2" fmla="*/ 141 w 411"/>
              <a:gd name="T3" fmla="*/ 80 h 453"/>
              <a:gd name="T4" fmla="*/ 131 w 411"/>
              <a:gd name="T5" fmla="*/ 119 h 453"/>
              <a:gd name="T6" fmla="*/ 77 w 411"/>
              <a:gd name="T7" fmla="*/ 173 h 453"/>
              <a:gd name="T8" fmla="*/ 57 w 411"/>
              <a:gd name="T9" fmla="*/ 247 h 453"/>
              <a:gd name="T10" fmla="*/ 101 w 411"/>
              <a:gd name="T11" fmla="*/ 352 h 453"/>
              <a:gd name="T12" fmla="*/ 206 w 411"/>
              <a:gd name="T13" fmla="*/ 396 h 453"/>
              <a:gd name="T14" fmla="*/ 311 w 411"/>
              <a:gd name="T15" fmla="*/ 352 h 453"/>
              <a:gd name="T16" fmla="*/ 354 w 411"/>
              <a:gd name="T17" fmla="*/ 247 h 453"/>
              <a:gd name="T18" fmla="*/ 335 w 411"/>
              <a:gd name="T19" fmla="*/ 173 h 453"/>
              <a:gd name="T20" fmla="*/ 281 w 411"/>
              <a:gd name="T21" fmla="*/ 119 h 453"/>
              <a:gd name="T22" fmla="*/ 270 w 411"/>
              <a:gd name="T23" fmla="*/ 80 h 453"/>
              <a:gd name="T24" fmla="*/ 309 w 411"/>
              <a:gd name="T25" fmla="*/ 70 h 453"/>
              <a:gd name="T26" fmla="*/ 384 w 411"/>
              <a:gd name="T27" fmla="*/ 145 h 453"/>
              <a:gd name="T28" fmla="*/ 411 w 411"/>
              <a:gd name="T29" fmla="*/ 247 h 453"/>
              <a:gd name="T30" fmla="*/ 351 w 411"/>
              <a:gd name="T31" fmla="*/ 392 h 453"/>
              <a:gd name="T32" fmla="*/ 206 w 411"/>
              <a:gd name="T33" fmla="*/ 453 h 453"/>
              <a:gd name="T34" fmla="*/ 61 w 411"/>
              <a:gd name="T35" fmla="*/ 392 h 453"/>
              <a:gd name="T36" fmla="*/ 0 w 411"/>
              <a:gd name="T37" fmla="*/ 247 h 453"/>
              <a:gd name="T38" fmla="*/ 28 w 411"/>
              <a:gd name="T39" fmla="*/ 145 h 453"/>
              <a:gd name="T40" fmla="*/ 102 w 411"/>
              <a:gd name="T41" fmla="*/ 70 h 453"/>
              <a:gd name="T42" fmla="*/ 206 w 411"/>
              <a:gd name="T43" fmla="*/ 254 h 453"/>
              <a:gd name="T44" fmla="*/ 234 w 411"/>
              <a:gd name="T45" fmla="*/ 226 h 453"/>
              <a:gd name="T46" fmla="*/ 234 w 411"/>
              <a:gd name="T47" fmla="*/ 28 h 453"/>
              <a:gd name="T48" fmla="*/ 206 w 411"/>
              <a:gd name="T49" fmla="*/ 0 h 453"/>
              <a:gd name="T50" fmla="*/ 177 w 411"/>
              <a:gd name="T51" fmla="*/ 28 h 453"/>
              <a:gd name="T52" fmla="*/ 177 w 411"/>
              <a:gd name="T53" fmla="*/ 226 h 453"/>
              <a:gd name="T54" fmla="*/ 206 w 411"/>
              <a:gd name="T55" fmla="*/ 254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1" h="453">
                <a:moveTo>
                  <a:pt x="102" y="70"/>
                </a:moveTo>
                <a:cubicBezTo>
                  <a:pt x="116" y="62"/>
                  <a:pt x="133" y="67"/>
                  <a:pt x="141" y="80"/>
                </a:cubicBezTo>
                <a:cubicBezTo>
                  <a:pt x="149" y="94"/>
                  <a:pt x="144" y="111"/>
                  <a:pt x="131" y="119"/>
                </a:cubicBezTo>
                <a:cubicBezTo>
                  <a:pt x="108" y="132"/>
                  <a:pt x="90" y="151"/>
                  <a:pt x="77" y="173"/>
                </a:cubicBezTo>
                <a:cubicBezTo>
                  <a:pt x="64" y="195"/>
                  <a:pt x="57" y="220"/>
                  <a:pt x="57" y="247"/>
                </a:cubicBezTo>
                <a:cubicBezTo>
                  <a:pt x="57" y="288"/>
                  <a:pt x="74" y="326"/>
                  <a:pt x="101" y="352"/>
                </a:cubicBezTo>
                <a:cubicBezTo>
                  <a:pt x="128" y="379"/>
                  <a:pt x="165" y="396"/>
                  <a:pt x="206" y="396"/>
                </a:cubicBezTo>
                <a:cubicBezTo>
                  <a:pt x="247" y="396"/>
                  <a:pt x="284" y="379"/>
                  <a:pt x="311" y="352"/>
                </a:cubicBezTo>
                <a:cubicBezTo>
                  <a:pt x="338" y="326"/>
                  <a:pt x="354" y="288"/>
                  <a:pt x="354" y="247"/>
                </a:cubicBezTo>
                <a:cubicBezTo>
                  <a:pt x="354" y="220"/>
                  <a:pt x="347" y="195"/>
                  <a:pt x="335" y="173"/>
                </a:cubicBezTo>
                <a:cubicBezTo>
                  <a:pt x="322" y="151"/>
                  <a:pt x="303" y="132"/>
                  <a:pt x="281" y="119"/>
                </a:cubicBezTo>
                <a:cubicBezTo>
                  <a:pt x="267" y="111"/>
                  <a:pt x="263" y="94"/>
                  <a:pt x="270" y="80"/>
                </a:cubicBezTo>
                <a:cubicBezTo>
                  <a:pt x="278" y="67"/>
                  <a:pt x="296" y="62"/>
                  <a:pt x="309" y="70"/>
                </a:cubicBezTo>
                <a:cubicBezTo>
                  <a:pt x="340" y="88"/>
                  <a:pt x="366" y="114"/>
                  <a:pt x="384" y="145"/>
                </a:cubicBezTo>
                <a:cubicBezTo>
                  <a:pt x="401" y="176"/>
                  <a:pt x="411" y="210"/>
                  <a:pt x="411" y="247"/>
                </a:cubicBezTo>
                <a:cubicBezTo>
                  <a:pt x="411" y="304"/>
                  <a:pt x="388" y="355"/>
                  <a:pt x="351" y="392"/>
                </a:cubicBezTo>
                <a:cubicBezTo>
                  <a:pt x="314" y="430"/>
                  <a:pt x="262" y="453"/>
                  <a:pt x="206" y="453"/>
                </a:cubicBezTo>
                <a:cubicBezTo>
                  <a:pt x="149" y="453"/>
                  <a:pt x="98" y="430"/>
                  <a:pt x="61" y="392"/>
                </a:cubicBezTo>
                <a:cubicBezTo>
                  <a:pt x="23" y="355"/>
                  <a:pt x="0" y="304"/>
                  <a:pt x="0" y="247"/>
                </a:cubicBezTo>
                <a:cubicBezTo>
                  <a:pt x="0" y="210"/>
                  <a:pt x="10" y="176"/>
                  <a:pt x="28" y="145"/>
                </a:cubicBezTo>
                <a:cubicBezTo>
                  <a:pt x="46" y="114"/>
                  <a:pt x="71" y="88"/>
                  <a:pt x="102" y="70"/>
                </a:cubicBezTo>
                <a:close/>
                <a:moveTo>
                  <a:pt x="206" y="254"/>
                </a:moveTo>
                <a:cubicBezTo>
                  <a:pt x="221" y="254"/>
                  <a:pt x="234" y="242"/>
                  <a:pt x="234" y="226"/>
                </a:cubicBezTo>
                <a:cubicBezTo>
                  <a:pt x="234" y="28"/>
                  <a:pt x="234" y="28"/>
                  <a:pt x="234" y="28"/>
                </a:cubicBezTo>
                <a:cubicBezTo>
                  <a:pt x="234" y="12"/>
                  <a:pt x="221" y="0"/>
                  <a:pt x="206" y="0"/>
                </a:cubicBezTo>
                <a:cubicBezTo>
                  <a:pt x="190" y="0"/>
                  <a:pt x="177" y="13"/>
                  <a:pt x="177" y="28"/>
                </a:cubicBezTo>
                <a:cubicBezTo>
                  <a:pt x="177" y="226"/>
                  <a:pt x="177" y="226"/>
                  <a:pt x="177" y="226"/>
                </a:cubicBezTo>
                <a:cubicBezTo>
                  <a:pt x="177" y="242"/>
                  <a:pt x="190" y="254"/>
                  <a:pt x="206" y="2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4" name="Group 123"/>
          <p:cNvGrpSpPr/>
          <p:nvPr userDrawn="1"/>
        </p:nvGrpSpPr>
        <p:grpSpPr>
          <a:xfrm>
            <a:off x="5036640" y="3251373"/>
            <a:ext cx="238300" cy="233335"/>
            <a:chOff x="3654425" y="1606550"/>
            <a:chExt cx="457201" cy="447676"/>
          </a:xfrm>
          <a:solidFill>
            <a:schemeClr val="tx1"/>
          </a:solidFill>
        </p:grpSpPr>
        <p:sp>
          <p:nvSpPr>
            <p:cNvPr id="125" name="Freeform 69"/>
            <p:cNvSpPr>
              <a:spLocks noEditPoints="1"/>
            </p:cNvSpPr>
            <p:nvPr/>
          </p:nvSpPr>
          <p:spPr bwMode="auto">
            <a:xfrm>
              <a:off x="3897313" y="1833563"/>
              <a:ext cx="214313" cy="220663"/>
            </a:xfrm>
            <a:custGeom>
              <a:avLst/>
              <a:gdLst>
                <a:gd name="T0" fmla="*/ 48 w 95"/>
                <a:gd name="T1" fmla="*/ 5 h 97"/>
                <a:gd name="T2" fmla="*/ 27 w 95"/>
                <a:gd name="T3" fmla="*/ 10 h 97"/>
                <a:gd name="T4" fmla="*/ 19 w 95"/>
                <a:gd name="T5" fmla="*/ 0 h 97"/>
                <a:gd name="T6" fmla="*/ 0 w 95"/>
                <a:gd name="T7" fmla="*/ 32 h 97"/>
                <a:gd name="T8" fmla="*/ 4 w 95"/>
                <a:gd name="T9" fmla="*/ 39 h 97"/>
                <a:gd name="T10" fmla="*/ 2 w 95"/>
                <a:gd name="T11" fmla="*/ 51 h 97"/>
                <a:gd name="T12" fmla="*/ 48 w 95"/>
                <a:gd name="T13" fmla="*/ 97 h 97"/>
                <a:gd name="T14" fmla="*/ 95 w 95"/>
                <a:gd name="T15" fmla="*/ 51 h 97"/>
                <a:gd name="T16" fmla="*/ 48 w 95"/>
                <a:gd name="T17" fmla="*/ 5 h 97"/>
                <a:gd name="T18" fmla="*/ 48 w 95"/>
                <a:gd name="T19" fmla="*/ 78 h 97"/>
                <a:gd name="T20" fmla="*/ 22 w 95"/>
                <a:gd name="T21" fmla="*/ 51 h 97"/>
                <a:gd name="T22" fmla="*/ 48 w 95"/>
                <a:gd name="T23" fmla="*/ 24 h 97"/>
                <a:gd name="T24" fmla="*/ 75 w 95"/>
                <a:gd name="T25" fmla="*/ 51 h 97"/>
                <a:gd name="T26" fmla="*/ 48 w 95"/>
                <a:gd name="T27" fmla="*/ 7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5" h="97">
                  <a:moveTo>
                    <a:pt x="48" y="5"/>
                  </a:moveTo>
                  <a:cubicBezTo>
                    <a:pt x="41" y="5"/>
                    <a:pt x="33" y="7"/>
                    <a:pt x="27" y="10"/>
                  </a:cubicBezTo>
                  <a:cubicBezTo>
                    <a:pt x="19" y="0"/>
                    <a:pt x="19" y="0"/>
                    <a:pt x="19" y="0"/>
                  </a:cubicBezTo>
                  <a:cubicBezTo>
                    <a:pt x="0" y="32"/>
                    <a:pt x="0" y="32"/>
                    <a:pt x="0" y="32"/>
                  </a:cubicBezTo>
                  <a:cubicBezTo>
                    <a:pt x="4" y="39"/>
                    <a:pt x="4" y="39"/>
                    <a:pt x="4" y="39"/>
                  </a:cubicBezTo>
                  <a:cubicBezTo>
                    <a:pt x="3" y="43"/>
                    <a:pt x="2" y="47"/>
                    <a:pt x="2" y="51"/>
                  </a:cubicBezTo>
                  <a:cubicBezTo>
                    <a:pt x="2" y="76"/>
                    <a:pt x="23" y="97"/>
                    <a:pt x="48" y="97"/>
                  </a:cubicBezTo>
                  <a:cubicBezTo>
                    <a:pt x="74" y="97"/>
                    <a:pt x="95" y="76"/>
                    <a:pt x="95" y="51"/>
                  </a:cubicBezTo>
                  <a:cubicBezTo>
                    <a:pt x="95" y="26"/>
                    <a:pt x="74" y="5"/>
                    <a:pt x="48" y="5"/>
                  </a:cubicBezTo>
                  <a:close/>
                  <a:moveTo>
                    <a:pt x="48" y="78"/>
                  </a:moveTo>
                  <a:cubicBezTo>
                    <a:pt x="34" y="78"/>
                    <a:pt x="22" y="66"/>
                    <a:pt x="22" y="51"/>
                  </a:cubicBezTo>
                  <a:cubicBezTo>
                    <a:pt x="22" y="36"/>
                    <a:pt x="34" y="24"/>
                    <a:pt x="48" y="24"/>
                  </a:cubicBezTo>
                  <a:cubicBezTo>
                    <a:pt x="63" y="24"/>
                    <a:pt x="75" y="36"/>
                    <a:pt x="75" y="51"/>
                  </a:cubicBezTo>
                  <a:cubicBezTo>
                    <a:pt x="75" y="66"/>
                    <a:pt x="63" y="78"/>
                    <a:pt x="48" y="7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70"/>
            <p:cNvSpPr>
              <a:spLocks/>
            </p:cNvSpPr>
            <p:nvPr/>
          </p:nvSpPr>
          <p:spPr bwMode="auto">
            <a:xfrm>
              <a:off x="3757613" y="1606550"/>
              <a:ext cx="111125" cy="184150"/>
            </a:xfrm>
            <a:custGeom>
              <a:avLst/>
              <a:gdLst>
                <a:gd name="T0" fmla="*/ 1 w 49"/>
                <a:gd name="T1" fmla="*/ 19 h 81"/>
                <a:gd name="T2" fmla="*/ 2 w 49"/>
                <a:gd name="T3" fmla="*/ 33 h 81"/>
                <a:gd name="T4" fmla="*/ 31 w 49"/>
                <a:gd name="T5" fmla="*/ 81 h 81"/>
                <a:gd name="T6" fmla="*/ 49 w 49"/>
                <a:gd name="T7" fmla="*/ 55 h 81"/>
                <a:gd name="T8" fmla="*/ 10 w 49"/>
                <a:gd name="T9" fmla="*/ 0 h 81"/>
                <a:gd name="T10" fmla="*/ 1 w 49"/>
                <a:gd name="T11" fmla="*/ 19 h 81"/>
              </a:gdLst>
              <a:ahLst/>
              <a:cxnLst>
                <a:cxn ang="0">
                  <a:pos x="T0" y="T1"/>
                </a:cxn>
                <a:cxn ang="0">
                  <a:pos x="T2" y="T3"/>
                </a:cxn>
                <a:cxn ang="0">
                  <a:pos x="T4" y="T5"/>
                </a:cxn>
                <a:cxn ang="0">
                  <a:pos x="T6" y="T7"/>
                </a:cxn>
                <a:cxn ang="0">
                  <a:pos x="T8" y="T9"/>
                </a:cxn>
                <a:cxn ang="0">
                  <a:pos x="T10" y="T11"/>
                </a:cxn>
              </a:cxnLst>
              <a:rect l="0" t="0" r="r" b="b"/>
              <a:pathLst>
                <a:path w="49" h="81">
                  <a:moveTo>
                    <a:pt x="1" y="19"/>
                  </a:moveTo>
                  <a:cubicBezTo>
                    <a:pt x="0" y="23"/>
                    <a:pt x="0" y="29"/>
                    <a:pt x="2" y="33"/>
                  </a:cubicBezTo>
                  <a:cubicBezTo>
                    <a:pt x="31" y="81"/>
                    <a:pt x="31" y="81"/>
                    <a:pt x="31" y="81"/>
                  </a:cubicBezTo>
                  <a:cubicBezTo>
                    <a:pt x="49" y="55"/>
                    <a:pt x="49" y="55"/>
                    <a:pt x="49" y="55"/>
                  </a:cubicBezTo>
                  <a:cubicBezTo>
                    <a:pt x="10" y="0"/>
                    <a:pt x="10" y="0"/>
                    <a:pt x="10" y="0"/>
                  </a:cubicBezTo>
                  <a:lnTo>
                    <a:pt x="1" y="1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71"/>
            <p:cNvSpPr>
              <a:spLocks noEditPoints="1"/>
            </p:cNvSpPr>
            <p:nvPr/>
          </p:nvSpPr>
          <p:spPr bwMode="auto">
            <a:xfrm>
              <a:off x="3654425" y="1606550"/>
              <a:ext cx="354013" cy="447675"/>
            </a:xfrm>
            <a:custGeom>
              <a:avLst/>
              <a:gdLst>
                <a:gd name="T0" fmla="*/ 155 w 156"/>
                <a:gd name="T1" fmla="*/ 19 h 197"/>
                <a:gd name="T2" fmla="*/ 146 w 156"/>
                <a:gd name="T3" fmla="*/ 0 h 197"/>
                <a:gd name="T4" fmla="*/ 68 w 156"/>
                <a:gd name="T5" fmla="*/ 110 h 197"/>
                <a:gd name="T6" fmla="*/ 46 w 156"/>
                <a:gd name="T7" fmla="*/ 105 h 197"/>
                <a:gd name="T8" fmla="*/ 0 w 156"/>
                <a:gd name="T9" fmla="*/ 151 h 197"/>
                <a:gd name="T10" fmla="*/ 46 w 156"/>
                <a:gd name="T11" fmla="*/ 197 h 197"/>
                <a:gd name="T12" fmla="*/ 93 w 156"/>
                <a:gd name="T13" fmla="*/ 151 h 197"/>
                <a:gd name="T14" fmla="*/ 91 w 156"/>
                <a:gd name="T15" fmla="*/ 139 h 197"/>
                <a:gd name="T16" fmla="*/ 154 w 156"/>
                <a:gd name="T17" fmla="*/ 33 h 197"/>
                <a:gd name="T18" fmla="*/ 155 w 156"/>
                <a:gd name="T19" fmla="*/ 19 h 197"/>
                <a:gd name="T20" fmla="*/ 46 w 156"/>
                <a:gd name="T21" fmla="*/ 178 h 197"/>
                <a:gd name="T22" fmla="*/ 20 w 156"/>
                <a:gd name="T23" fmla="*/ 151 h 197"/>
                <a:gd name="T24" fmla="*/ 46 w 156"/>
                <a:gd name="T25" fmla="*/ 124 h 197"/>
                <a:gd name="T26" fmla="*/ 73 w 156"/>
                <a:gd name="T27" fmla="*/ 151 h 197"/>
                <a:gd name="T28" fmla="*/ 46 w 156"/>
                <a:gd name="T29" fmla="*/ 178 h 197"/>
                <a:gd name="T30" fmla="*/ 101 w 156"/>
                <a:gd name="T31" fmla="*/ 100 h 197"/>
                <a:gd name="T32" fmla="*/ 93 w 156"/>
                <a:gd name="T33" fmla="*/ 92 h 197"/>
                <a:gd name="T34" fmla="*/ 101 w 156"/>
                <a:gd name="T35" fmla="*/ 84 h 197"/>
                <a:gd name="T36" fmla="*/ 109 w 156"/>
                <a:gd name="T37" fmla="*/ 92 h 197"/>
                <a:gd name="T38" fmla="*/ 101 w 156"/>
                <a:gd name="T39" fmla="*/ 10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6" h="197">
                  <a:moveTo>
                    <a:pt x="155" y="19"/>
                  </a:moveTo>
                  <a:cubicBezTo>
                    <a:pt x="146" y="0"/>
                    <a:pt x="146" y="0"/>
                    <a:pt x="146" y="0"/>
                  </a:cubicBezTo>
                  <a:cubicBezTo>
                    <a:pt x="68" y="110"/>
                    <a:pt x="68" y="110"/>
                    <a:pt x="68" y="110"/>
                  </a:cubicBezTo>
                  <a:cubicBezTo>
                    <a:pt x="62" y="107"/>
                    <a:pt x="54" y="105"/>
                    <a:pt x="46" y="105"/>
                  </a:cubicBezTo>
                  <a:cubicBezTo>
                    <a:pt x="21" y="105"/>
                    <a:pt x="0" y="126"/>
                    <a:pt x="0" y="151"/>
                  </a:cubicBezTo>
                  <a:cubicBezTo>
                    <a:pt x="0" y="176"/>
                    <a:pt x="21" y="197"/>
                    <a:pt x="46" y="197"/>
                  </a:cubicBezTo>
                  <a:cubicBezTo>
                    <a:pt x="72" y="197"/>
                    <a:pt x="93" y="176"/>
                    <a:pt x="93" y="151"/>
                  </a:cubicBezTo>
                  <a:cubicBezTo>
                    <a:pt x="93" y="147"/>
                    <a:pt x="92" y="143"/>
                    <a:pt x="91" y="139"/>
                  </a:cubicBezTo>
                  <a:cubicBezTo>
                    <a:pt x="154" y="33"/>
                    <a:pt x="154" y="33"/>
                    <a:pt x="154" y="33"/>
                  </a:cubicBezTo>
                  <a:cubicBezTo>
                    <a:pt x="156" y="29"/>
                    <a:pt x="156" y="23"/>
                    <a:pt x="155" y="19"/>
                  </a:cubicBezTo>
                  <a:close/>
                  <a:moveTo>
                    <a:pt x="46" y="178"/>
                  </a:moveTo>
                  <a:cubicBezTo>
                    <a:pt x="32" y="178"/>
                    <a:pt x="20" y="166"/>
                    <a:pt x="20" y="151"/>
                  </a:cubicBezTo>
                  <a:cubicBezTo>
                    <a:pt x="20" y="136"/>
                    <a:pt x="32" y="124"/>
                    <a:pt x="46" y="124"/>
                  </a:cubicBezTo>
                  <a:cubicBezTo>
                    <a:pt x="61" y="124"/>
                    <a:pt x="73" y="136"/>
                    <a:pt x="73" y="151"/>
                  </a:cubicBezTo>
                  <a:cubicBezTo>
                    <a:pt x="73" y="166"/>
                    <a:pt x="61" y="178"/>
                    <a:pt x="46" y="178"/>
                  </a:cubicBezTo>
                  <a:close/>
                  <a:moveTo>
                    <a:pt x="101" y="100"/>
                  </a:moveTo>
                  <a:cubicBezTo>
                    <a:pt x="96" y="100"/>
                    <a:pt x="93" y="97"/>
                    <a:pt x="93" y="92"/>
                  </a:cubicBezTo>
                  <a:cubicBezTo>
                    <a:pt x="93" y="87"/>
                    <a:pt x="96" y="84"/>
                    <a:pt x="101" y="84"/>
                  </a:cubicBezTo>
                  <a:cubicBezTo>
                    <a:pt x="106" y="84"/>
                    <a:pt x="109" y="87"/>
                    <a:pt x="109" y="92"/>
                  </a:cubicBezTo>
                  <a:cubicBezTo>
                    <a:pt x="109" y="97"/>
                    <a:pt x="106" y="100"/>
                    <a:pt x="101" y="10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653" name="Freeform 47"/>
          <p:cNvSpPr>
            <a:spLocks noEditPoints="1"/>
          </p:cNvSpPr>
          <p:nvPr userDrawn="1"/>
        </p:nvSpPr>
        <p:spPr bwMode="auto">
          <a:xfrm>
            <a:off x="4455409" y="5031659"/>
            <a:ext cx="196570" cy="262557"/>
          </a:xfrm>
          <a:custGeom>
            <a:avLst/>
            <a:gdLst>
              <a:gd name="T0" fmla="*/ 22 w 352"/>
              <a:gd name="T1" fmla="*/ 0 h 470"/>
              <a:gd name="T2" fmla="*/ 330 w 352"/>
              <a:gd name="T3" fmla="*/ 0 h 470"/>
              <a:gd name="T4" fmla="*/ 352 w 352"/>
              <a:gd name="T5" fmla="*/ 22 h 470"/>
              <a:gd name="T6" fmla="*/ 330 w 352"/>
              <a:gd name="T7" fmla="*/ 44 h 470"/>
              <a:gd name="T8" fmla="*/ 322 w 352"/>
              <a:gd name="T9" fmla="*/ 44 h 470"/>
              <a:gd name="T10" fmla="*/ 29 w 352"/>
              <a:gd name="T11" fmla="*/ 44 h 470"/>
              <a:gd name="T12" fmla="*/ 22 w 352"/>
              <a:gd name="T13" fmla="*/ 44 h 470"/>
              <a:gd name="T14" fmla="*/ 0 w 352"/>
              <a:gd name="T15" fmla="*/ 22 h 470"/>
              <a:gd name="T16" fmla="*/ 22 w 352"/>
              <a:gd name="T17" fmla="*/ 0 h 470"/>
              <a:gd name="T18" fmla="*/ 322 w 352"/>
              <a:gd name="T19" fmla="*/ 74 h 470"/>
              <a:gd name="T20" fmla="*/ 322 w 352"/>
              <a:gd name="T21" fmla="*/ 118 h 470"/>
              <a:gd name="T22" fmla="*/ 318 w 352"/>
              <a:gd name="T23" fmla="*/ 128 h 470"/>
              <a:gd name="T24" fmla="*/ 211 w 352"/>
              <a:gd name="T25" fmla="*/ 235 h 470"/>
              <a:gd name="T26" fmla="*/ 318 w 352"/>
              <a:gd name="T27" fmla="*/ 342 h 470"/>
              <a:gd name="T28" fmla="*/ 322 w 352"/>
              <a:gd name="T29" fmla="*/ 352 h 470"/>
              <a:gd name="T30" fmla="*/ 322 w 352"/>
              <a:gd name="T31" fmla="*/ 396 h 470"/>
              <a:gd name="T32" fmla="*/ 29 w 352"/>
              <a:gd name="T33" fmla="*/ 396 h 470"/>
              <a:gd name="T34" fmla="*/ 29 w 352"/>
              <a:gd name="T35" fmla="*/ 352 h 470"/>
              <a:gd name="T36" fmla="*/ 33 w 352"/>
              <a:gd name="T37" fmla="*/ 342 h 470"/>
              <a:gd name="T38" fmla="*/ 140 w 352"/>
              <a:gd name="T39" fmla="*/ 235 h 470"/>
              <a:gd name="T40" fmla="*/ 33 w 352"/>
              <a:gd name="T41" fmla="*/ 128 h 470"/>
              <a:gd name="T42" fmla="*/ 29 w 352"/>
              <a:gd name="T43" fmla="*/ 118 h 470"/>
              <a:gd name="T44" fmla="*/ 29 w 352"/>
              <a:gd name="T45" fmla="*/ 74 h 470"/>
              <a:gd name="T46" fmla="*/ 322 w 352"/>
              <a:gd name="T47" fmla="*/ 74 h 470"/>
              <a:gd name="T48" fmla="*/ 322 w 352"/>
              <a:gd name="T49" fmla="*/ 426 h 470"/>
              <a:gd name="T50" fmla="*/ 330 w 352"/>
              <a:gd name="T51" fmla="*/ 426 h 470"/>
              <a:gd name="T52" fmla="*/ 352 w 352"/>
              <a:gd name="T53" fmla="*/ 448 h 470"/>
              <a:gd name="T54" fmla="*/ 330 w 352"/>
              <a:gd name="T55" fmla="*/ 470 h 470"/>
              <a:gd name="T56" fmla="*/ 22 w 352"/>
              <a:gd name="T57" fmla="*/ 470 h 470"/>
              <a:gd name="T58" fmla="*/ 0 w 352"/>
              <a:gd name="T59" fmla="*/ 448 h 470"/>
              <a:gd name="T60" fmla="*/ 22 w 352"/>
              <a:gd name="T61" fmla="*/ 426 h 470"/>
              <a:gd name="T62" fmla="*/ 29 w 352"/>
              <a:gd name="T63" fmla="*/ 426 h 470"/>
              <a:gd name="T64" fmla="*/ 322 w 352"/>
              <a:gd name="T65" fmla="*/ 42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470">
                <a:moveTo>
                  <a:pt x="22" y="0"/>
                </a:moveTo>
                <a:cubicBezTo>
                  <a:pt x="330" y="0"/>
                  <a:pt x="330" y="0"/>
                  <a:pt x="330" y="0"/>
                </a:cubicBezTo>
                <a:cubicBezTo>
                  <a:pt x="342" y="0"/>
                  <a:pt x="352" y="10"/>
                  <a:pt x="352" y="22"/>
                </a:cubicBezTo>
                <a:cubicBezTo>
                  <a:pt x="352" y="34"/>
                  <a:pt x="342" y="44"/>
                  <a:pt x="330" y="44"/>
                </a:cubicBezTo>
                <a:cubicBezTo>
                  <a:pt x="322" y="44"/>
                  <a:pt x="322" y="44"/>
                  <a:pt x="322" y="44"/>
                </a:cubicBezTo>
                <a:cubicBezTo>
                  <a:pt x="29" y="44"/>
                  <a:pt x="29" y="44"/>
                  <a:pt x="29" y="44"/>
                </a:cubicBezTo>
                <a:cubicBezTo>
                  <a:pt x="22" y="44"/>
                  <a:pt x="22" y="44"/>
                  <a:pt x="22" y="44"/>
                </a:cubicBezTo>
                <a:cubicBezTo>
                  <a:pt x="10" y="44"/>
                  <a:pt x="0" y="34"/>
                  <a:pt x="0" y="22"/>
                </a:cubicBezTo>
                <a:cubicBezTo>
                  <a:pt x="0" y="10"/>
                  <a:pt x="10" y="0"/>
                  <a:pt x="22" y="0"/>
                </a:cubicBezTo>
                <a:close/>
                <a:moveTo>
                  <a:pt x="322" y="74"/>
                </a:moveTo>
                <a:cubicBezTo>
                  <a:pt x="322" y="118"/>
                  <a:pt x="322" y="118"/>
                  <a:pt x="322" y="118"/>
                </a:cubicBezTo>
                <a:cubicBezTo>
                  <a:pt x="322" y="121"/>
                  <a:pt x="321" y="125"/>
                  <a:pt x="318" y="128"/>
                </a:cubicBezTo>
                <a:cubicBezTo>
                  <a:pt x="211" y="235"/>
                  <a:pt x="211" y="235"/>
                  <a:pt x="211" y="235"/>
                </a:cubicBezTo>
                <a:cubicBezTo>
                  <a:pt x="318" y="342"/>
                  <a:pt x="318" y="342"/>
                  <a:pt x="318" y="342"/>
                </a:cubicBezTo>
                <a:cubicBezTo>
                  <a:pt x="321" y="345"/>
                  <a:pt x="322" y="348"/>
                  <a:pt x="322" y="352"/>
                </a:cubicBezTo>
                <a:cubicBezTo>
                  <a:pt x="322" y="396"/>
                  <a:pt x="322" y="396"/>
                  <a:pt x="322" y="396"/>
                </a:cubicBezTo>
                <a:cubicBezTo>
                  <a:pt x="29" y="396"/>
                  <a:pt x="29" y="396"/>
                  <a:pt x="29" y="396"/>
                </a:cubicBezTo>
                <a:cubicBezTo>
                  <a:pt x="29" y="352"/>
                  <a:pt x="29" y="352"/>
                  <a:pt x="29" y="352"/>
                </a:cubicBezTo>
                <a:cubicBezTo>
                  <a:pt x="29" y="348"/>
                  <a:pt x="31" y="344"/>
                  <a:pt x="33" y="342"/>
                </a:cubicBezTo>
                <a:cubicBezTo>
                  <a:pt x="140" y="235"/>
                  <a:pt x="140" y="235"/>
                  <a:pt x="140" y="235"/>
                </a:cubicBezTo>
                <a:cubicBezTo>
                  <a:pt x="33" y="128"/>
                  <a:pt x="33" y="128"/>
                  <a:pt x="33" y="128"/>
                </a:cubicBezTo>
                <a:cubicBezTo>
                  <a:pt x="31" y="125"/>
                  <a:pt x="29" y="122"/>
                  <a:pt x="29" y="118"/>
                </a:cubicBezTo>
                <a:cubicBezTo>
                  <a:pt x="29" y="74"/>
                  <a:pt x="29" y="74"/>
                  <a:pt x="29" y="74"/>
                </a:cubicBezTo>
                <a:cubicBezTo>
                  <a:pt x="322" y="74"/>
                  <a:pt x="322" y="74"/>
                  <a:pt x="322" y="74"/>
                </a:cubicBezTo>
                <a:close/>
                <a:moveTo>
                  <a:pt x="322" y="426"/>
                </a:moveTo>
                <a:cubicBezTo>
                  <a:pt x="330" y="426"/>
                  <a:pt x="330" y="426"/>
                  <a:pt x="330" y="426"/>
                </a:cubicBezTo>
                <a:cubicBezTo>
                  <a:pt x="342" y="426"/>
                  <a:pt x="352" y="435"/>
                  <a:pt x="352" y="448"/>
                </a:cubicBezTo>
                <a:cubicBezTo>
                  <a:pt x="352" y="460"/>
                  <a:pt x="342" y="470"/>
                  <a:pt x="330" y="470"/>
                </a:cubicBezTo>
                <a:cubicBezTo>
                  <a:pt x="22" y="470"/>
                  <a:pt x="22" y="470"/>
                  <a:pt x="22" y="470"/>
                </a:cubicBezTo>
                <a:cubicBezTo>
                  <a:pt x="10" y="470"/>
                  <a:pt x="0" y="460"/>
                  <a:pt x="0" y="448"/>
                </a:cubicBezTo>
                <a:cubicBezTo>
                  <a:pt x="0" y="435"/>
                  <a:pt x="10" y="426"/>
                  <a:pt x="22" y="426"/>
                </a:cubicBezTo>
                <a:cubicBezTo>
                  <a:pt x="29" y="426"/>
                  <a:pt x="29" y="426"/>
                  <a:pt x="29" y="426"/>
                </a:cubicBezTo>
                <a:lnTo>
                  <a:pt x="322" y="42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5" name="Freeform 27"/>
          <p:cNvSpPr>
            <a:spLocks noEditPoints="1"/>
          </p:cNvSpPr>
          <p:nvPr userDrawn="1"/>
        </p:nvSpPr>
        <p:spPr bwMode="auto">
          <a:xfrm>
            <a:off x="4410145" y="6766308"/>
            <a:ext cx="250916" cy="250560"/>
          </a:xfrm>
          <a:custGeom>
            <a:avLst/>
            <a:gdLst>
              <a:gd name="T0" fmla="*/ 372 w 427"/>
              <a:gd name="T1" fmla="*/ 55 h 426"/>
              <a:gd name="T2" fmla="*/ 427 w 427"/>
              <a:gd name="T3" fmla="*/ 186 h 426"/>
              <a:gd name="T4" fmla="*/ 413 w 427"/>
              <a:gd name="T5" fmla="*/ 200 h 426"/>
              <a:gd name="T6" fmla="*/ 240 w 427"/>
              <a:gd name="T7" fmla="*/ 200 h 426"/>
              <a:gd name="T8" fmla="*/ 227 w 427"/>
              <a:gd name="T9" fmla="*/ 187 h 426"/>
              <a:gd name="T10" fmla="*/ 227 w 427"/>
              <a:gd name="T11" fmla="*/ 14 h 426"/>
              <a:gd name="T12" fmla="*/ 240 w 427"/>
              <a:gd name="T13" fmla="*/ 0 h 426"/>
              <a:gd name="T14" fmla="*/ 372 w 427"/>
              <a:gd name="T15" fmla="*/ 55 h 426"/>
              <a:gd name="T16" fmla="*/ 55 w 427"/>
              <a:gd name="T17" fmla="*/ 108 h 426"/>
              <a:gd name="T18" fmla="*/ 0 w 427"/>
              <a:gd name="T19" fmla="*/ 239 h 426"/>
              <a:gd name="T20" fmla="*/ 55 w 427"/>
              <a:gd name="T21" fmla="*/ 371 h 426"/>
              <a:gd name="T22" fmla="*/ 187 w 427"/>
              <a:gd name="T23" fmla="*/ 426 h 426"/>
              <a:gd name="T24" fmla="*/ 319 w 427"/>
              <a:gd name="T25" fmla="*/ 371 h 426"/>
              <a:gd name="T26" fmla="*/ 373 w 427"/>
              <a:gd name="T27" fmla="*/ 239 h 426"/>
              <a:gd name="T28" fmla="*/ 360 w 427"/>
              <a:gd name="T29" fmla="*/ 226 h 426"/>
              <a:gd name="T30" fmla="*/ 200 w 427"/>
              <a:gd name="T31" fmla="*/ 226 h 426"/>
              <a:gd name="T32" fmla="*/ 200 w 427"/>
              <a:gd name="T33" fmla="*/ 66 h 426"/>
              <a:gd name="T34" fmla="*/ 187 w 427"/>
              <a:gd name="T35" fmla="*/ 53 h 426"/>
              <a:gd name="T36" fmla="*/ 55 w 427"/>
              <a:gd name="T37" fmla="*/ 108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7" h="426">
                <a:moveTo>
                  <a:pt x="372" y="55"/>
                </a:moveTo>
                <a:cubicBezTo>
                  <a:pt x="406" y="89"/>
                  <a:pt x="427" y="135"/>
                  <a:pt x="427" y="186"/>
                </a:cubicBezTo>
                <a:cubicBezTo>
                  <a:pt x="427" y="194"/>
                  <a:pt x="421" y="200"/>
                  <a:pt x="413" y="200"/>
                </a:cubicBezTo>
                <a:cubicBezTo>
                  <a:pt x="240" y="200"/>
                  <a:pt x="240" y="200"/>
                  <a:pt x="240" y="200"/>
                </a:cubicBezTo>
                <a:cubicBezTo>
                  <a:pt x="233" y="200"/>
                  <a:pt x="227" y="194"/>
                  <a:pt x="227" y="187"/>
                </a:cubicBezTo>
                <a:cubicBezTo>
                  <a:pt x="227" y="14"/>
                  <a:pt x="227" y="14"/>
                  <a:pt x="227" y="14"/>
                </a:cubicBezTo>
                <a:cubicBezTo>
                  <a:pt x="227" y="6"/>
                  <a:pt x="233" y="0"/>
                  <a:pt x="240" y="0"/>
                </a:cubicBezTo>
                <a:cubicBezTo>
                  <a:pt x="292" y="0"/>
                  <a:pt x="338" y="21"/>
                  <a:pt x="372" y="55"/>
                </a:cubicBezTo>
                <a:close/>
                <a:moveTo>
                  <a:pt x="55" y="108"/>
                </a:moveTo>
                <a:cubicBezTo>
                  <a:pt x="21" y="141"/>
                  <a:pt x="0" y="188"/>
                  <a:pt x="0" y="239"/>
                </a:cubicBezTo>
                <a:cubicBezTo>
                  <a:pt x="0" y="291"/>
                  <a:pt x="21" y="338"/>
                  <a:pt x="55" y="371"/>
                </a:cubicBezTo>
                <a:cubicBezTo>
                  <a:pt x="89" y="405"/>
                  <a:pt x="135" y="426"/>
                  <a:pt x="187" y="426"/>
                </a:cubicBezTo>
                <a:cubicBezTo>
                  <a:pt x="238" y="426"/>
                  <a:pt x="285" y="405"/>
                  <a:pt x="319" y="371"/>
                </a:cubicBezTo>
                <a:cubicBezTo>
                  <a:pt x="352" y="338"/>
                  <a:pt x="373" y="291"/>
                  <a:pt x="373" y="239"/>
                </a:cubicBezTo>
                <a:cubicBezTo>
                  <a:pt x="373" y="232"/>
                  <a:pt x="367" y="226"/>
                  <a:pt x="360" y="226"/>
                </a:cubicBezTo>
                <a:cubicBezTo>
                  <a:pt x="200" y="226"/>
                  <a:pt x="200" y="226"/>
                  <a:pt x="200" y="226"/>
                </a:cubicBezTo>
                <a:cubicBezTo>
                  <a:pt x="200" y="66"/>
                  <a:pt x="200" y="66"/>
                  <a:pt x="200" y="66"/>
                </a:cubicBezTo>
                <a:cubicBezTo>
                  <a:pt x="200" y="59"/>
                  <a:pt x="194" y="53"/>
                  <a:pt x="187" y="53"/>
                </a:cubicBezTo>
                <a:cubicBezTo>
                  <a:pt x="135" y="53"/>
                  <a:pt x="89" y="74"/>
                  <a:pt x="55" y="10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6" name="Freeform 49"/>
          <p:cNvSpPr>
            <a:spLocks noEditPoints="1"/>
          </p:cNvSpPr>
          <p:nvPr userDrawn="1"/>
        </p:nvSpPr>
        <p:spPr bwMode="auto">
          <a:xfrm>
            <a:off x="4448142" y="5541618"/>
            <a:ext cx="205295" cy="253170"/>
          </a:xfrm>
          <a:custGeom>
            <a:avLst/>
            <a:gdLst>
              <a:gd name="T0" fmla="*/ 132 w 362"/>
              <a:gd name="T1" fmla="*/ 0 h 446"/>
              <a:gd name="T2" fmla="*/ 229 w 362"/>
              <a:gd name="T3" fmla="*/ 0 h 446"/>
              <a:gd name="T4" fmla="*/ 250 w 362"/>
              <a:gd name="T5" fmla="*/ 21 h 446"/>
              <a:gd name="T6" fmla="*/ 229 w 362"/>
              <a:gd name="T7" fmla="*/ 42 h 446"/>
              <a:gd name="T8" fmla="*/ 222 w 362"/>
              <a:gd name="T9" fmla="*/ 42 h 446"/>
              <a:gd name="T10" fmla="*/ 222 w 362"/>
              <a:gd name="T11" fmla="*/ 88 h 446"/>
              <a:gd name="T12" fmla="*/ 362 w 362"/>
              <a:gd name="T13" fmla="*/ 265 h 446"/>
              <a:gd name="T14" fmla="*/ 181 w 362"/>
              <a:gd name="T15" fmla="*/ 446 h 446"/>
              <a:gd name="T16" fmla="*/ 0 w 362"/>
              <a:gd name="T17" fmla="*/ 265 h 446"/>
              <a:gd name="T18" fmla="*/ 139 w 362"/>
              <a:gd name="T19" fmla="*/ 88 h 446"/>
              <a:gd name="T20" fmla="*/ 139 w 362"/>
              <a:gd name="T21" fmla="*/ 42 h 446"/>
              <a:gd name="T22" fmla="*/ 132 w 362"/>
              <a:gd name="T23" fmla="*/ 42 h 446"/>
              <a:gd name="T24" fmla="*/ 111 w 362"/>
              <a:gd name="T25" fmla="*/ 21 h 446"/>
              <a:gd name="T26" fmla="*/ 132 w 362"/>
              <a:gd name="T27" fmla="*/ 0 h 446"/>
              <a:gd name="T28" fmla="*/ 163 w 362"/>
              <a:gd name="T29" fmla="*/ 235 h 446"/>
              <a:gd name="T30" fmla="*/ 156 w 362"/>
              <a:gd name="T31" fmla="*/ 240 h 446"/>
              <a:gd name="T32" fmla="*/ 146 w 362"/>
              <a:gd name="T33" fmla="*/ 265 h 446"/>
              <a:gd name="T34" fmla="*/ 156 w 362"/>
              <a:gd name="T35" fmla="*/ 289 h 446"/>
              <a:gd name="T36" fmla="*/ 181 w 362"/>
              <a:gd name="T37" fmla="*/ 299 h 446"/>
              <a:gd name="T38" fmla="*/ 205 w 362"/>
              <a:gd name="T39" fmla="*/ 289 h 446"/>
              <a:gd name="T40" fmla="*/ 210 w 362"/>
              <a:gd name="T41" fmla="*/ 283 h 446"/>
              <a:gd name="T42" fmla="*/ 213 w 362"/>
              <a:gd name="T43" fmla="*/ 277 h 446"/>
              <a:gd name="T44" fmla="*/ 252 w 362"/>
              <a:gd name="T45" fmla="*/ 213 h 446"/>
              <a:gd name="T46" fmla="*/ 247 w 362"/>
              <a:gd name="T47" fmla="*/ 194 h 446"/>
              <a:gd name="T48" fmla="*/ 232 w 362"/>
              <a:gd name="T49" fmla="*/ 194 h 446"/>
              <a:gd name="T50" fmla="*/ 169 w 362"/>
              <a:gd name="T51" fmla="*/ 232 h 446"/>
              <a:gd name="T52" fmla="*/ 163 w 362"/>
              <a:gd name="T53" fmla="*/ 235 h 446"/>
              <a:gd name="T54" fmla="*/ 181 w 362"/>
              <a:gd name="T55" fmla="*/ 125 h 446"/>
              <a:gd name="T56" fmla="*/ 41 w 362"/>
              <a:gd name="T57" fmla="*/ 265 h 446"/>
              <a:gd name="T58" fmla="*/ 181 w 362"/>
              <a:gd name="T59" fmla="*/ 404 h 446"/>
              <a:gd name="T60" fmla="*/ 320 w 362"/>
              <a:gd name="T61" fmla="*/ 265 h 446"/>
              <a:gd name="T62" fmla="*/ 181 w 362"/>
              <a:gd name="T63" fmla="*/ 125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2" h="446">
                <a:moveTo>
                  <a:pt x="132" y="0"/>
                </a:moveTo>
                <a:cubicBezTo>
                  <a:pt x="229" y="0"/>
                  <a:pt x="229" y="0"/>
                  <a:pt x="229" y="0"/>
                </a:cubicBezTo>
                <a:cubicBezTo>
                  <a:pt x="241" y="0"/>
                  <a:pt x="250" y="9"/>
                  <a:pt x="250" y="21"/>
                </a:cubicBezTo>
                <a:cubicBezTo>
                  <a:pt x="250" y="32"/>
                  <a:pt x="241" y="42"/>
                  <a:pt x="229" y="42"/>
                </a:cubicBezTo>
                <a:cubicBezTo>
                  <a:pt x="222" y="42"/>
                  <a:pt x="222" y="42"/>
                  <a:pt x="222" y="42"/>
                </a:cubicBezTo>
                <a:cubicBezTo>
                  <a:pt x="222" y="88"/>
                  <a:pt x="222" y="88"/>
                  <a:pt x="222" y="88"/>
                </a:cubicBezTo>
                <a:cubicBezTo>
                  <a:pt x="302" y="107"/>
                  <a:pt x="362" y="179"/>
                  <a:pt x="362" y="265"/>
                </a:cubicBezTo>
                <a:cubicBezTo>
                  <a:pt x="362" y="365"/>
                  <a:pt x="281" y="446"/>
                  <a:pt x="181" y="446"/>
                </a:cubicBezTo>
                <a:cubicBezTo>
                  <a:pt x="81" y="446"/>
                  <a:pt x="0" y="365"/>
                  <a:pt x="0" y="265"/>
                </a:cubicBezTo>
                <a:cubicBezTo>
                  <a:pt x="0" y="179"/>
                  <a:pt x="59" y="107"/>
                  <a:pt x="139" y="88"/>
                </a:cubicBezTo>
                <a:cubicBezTo>
                  <a:pt x="139" y="42"/>
                  <a:pt x="139" y="42"/>
                  <a:pt x="139" y="42"/>
                </a:cubicBezTo>
                <a:cubicBezTo>
                  <a:pt x="132" y="42"/>
                  <a:pt x="132" y="42"/>
                  <a:pt x="132" y="42"/>
                </a:cubicBezTo>
                <a:cubicBezTo>
                  <a:pt x="120" y="42"/>
                  <a:pt x="111" y="32"/>
                  <a:pt x="111" y="21"/>
                </a:cubicBezTo>
                <a:cubicBezTo>
                  <a:pt x="111" y="9"/>
                  <a:pt x="120" y="0"/>
                  <a:pt x="132" y="0"/>
                </a:cubicBezTo>
                <a:close/>
                <a:moveTo>
                  <a:pt x="163" y="235"/>
                </a:moveTo>
                <a:cubicBezTo>
                  <a:pt x="160" y="236"/>
                  <a:pt x="158" y="238"/>
                  <a:pt x="156" y="240"/>
                </a:cubicBezTo>
                <a:cubicBezTo>
                  <a:pt x="149" y="247"/>
                  <a:pt x="146" y="256"/>
                  <a:pt x="146" y="265"/>
                </a:cubicBezTo>
                <a:cubicBezTo>
                  <a:pt x="146" y="274"/>
                  <a:pt x="149" y="282"/>
                  <a:pt x="156" y="289"/>
                </a:cubicBezTo>
                <a:cubicBezTo>
                  <a:pt x="163" y="296"/>
                  <a:pt x="172" y="299"/>
                  <a:pt x="181" y="299"/>
                </a:cubicBezTo>
                <a:cubicBezTo>
                  <a:pt x="190" y="299"/>
                  <a:pt x="198" y="296"/>
                  <a:pt x="205" y="289"/>
                </a:cubicBezTo>
                <a:cubicBezTo>
                  <a:pt x="207" y="287"/>
                  <a:pt x="209" y="285"/>
                  <a:pt x="210" y="283"/>
                </a:cubicBezTo>
                <a:cubicBezTo>
                  <a:pt x="212" y="281"/>
                  <a:pt x="213" y="279"/>
                  <a:pt x="213" y="277"/>
                </a:cubicBezTo>
                <a:cubicBezTo>
                  <a:pt x="252" y="213"/>
                  <a:pt x="252" y="213"/>
                  <a:pt x="252" y="213"/>
                </a:cubicBezTo>
                <a:cubicBezTo>
                  <a:pt x="256" y="206"/>
                  <a:pt x="253" y="198"/>
                  <a:pt x="247" y="194"/>
                </a:cubicBezTo>
                <a:cubicBezTo>
                  <a:pt x="242" y="191"/>
                  <a:pt x="237" y="191"/>
                  <a:pt x="232" y="194"/>
                </a:cubicBezTo>
                <a:cubicBezTo>
                  <a:pt x="169" y="232"/>
                  <a:pt x="169" y="232"/>
                  <a:pt x="169" y="232"/>
                </a:cubicBezTo>
                <a:cubicBezTo>
                  <a:pt x="167" y="233"/>
                  <a:pt x="165" y="234"/>
                  <a:pt x="163" y="235"/>
                </a:cubicBezTo>
                <a:close/>
                <a:moveTo>
                  <a:pt x="181" y="125"/>
                </a:moveTo>
                <a:cubicBezTo>
                  <a:pt x="104" y="125"/>
                  <a:pt x="41" y="188"/>
                  <a:pt x="41" y="265"/>
                </a:cubicBezTo>
                <a:cubicBezTo>
                  <a:pt x="41" y="342"/>
                  <a:pt x="104" y="404"/>
                  <a:pt x="181" y="404"/>
                </a:cubicBezTo>
                <a:cubicBezTo>
                  <a:pt x="258" y="404"/>
                  <a:pt x="320" y="342"/>
                  <a:pt x="320" y="265"/>
                </a:cubicBezTo>
                <a:cubicBezTo>
                  <a:pt x="320" y="188"/>
                  <a:pt x="258" y="125"/>
                  <a:pt x="181" y="12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9" name="Freeform 43"/>
          <p:cNvSpPr>
            <a:spLocks noEditPoints="1"/>
          </p:cNvSpPr>
          <p:nvPr userDrawn="1"/>
        </p:nvSpPr>
        <p:spPr bwMode="auto">
          <a:xfrm>
            <a:off x="4412427" y="6149406"/>
            <a:ext cx="248177" cy="247841"/>
          </a:xfrm>
          <a:custGeom>
            <a:avLst/>
            <a:gdLst>
              <a:gd name="T0" fmla="*/ 223 w 447"/>
              <a:gd name="T1" fmla="*/ 0 h 447"/>
              <a:gd name="T2" fmla="*/ 0 w 447"/>
              <a:gd name="T3" fmla="*/ 223 h 447"/>
              <a:gd name="T4" fmla="*/ 223 w 447"/>
              <a:gd name="T5" fmla="*/ 447 h 447"/>
              <a:gd name="T6" fmla="*/ 447 w 447"/>
              <a:gd name="T7" fmla="*/ 223 h 447"/>
              <a:gd name="T8" fmla="*/ 223 w 447"/>
              <a:gd name="T9" fmla="*/ 0 h 447"/>
              <a:gd name="T10" fmla="*/ 223 w 447"/>
              <a:gd name="T11" fmla="*/ 84 h 447"/>
              <a:gd name="T12" fmla="*/ 251 w 447"/>
              <a:gd name="T13" fmla="*/ 112 h 447"/>
              <a:gd name="T14" fmla="*/ 251 w 447"/>
              <a:gd name="T15" fmla="*/ 195 h 447"/>
              <a:gd name="T16" fmla="*/ 335 w 447"/>
              <a:gd name="T17" fmla="*/ 195 h 447"/>
              <a:gd name="T18" fmla="*/ 363 w 447"/>
              <a:gd name="T19" fmla="*/ 223 h 447"/>
              <a:gd name="T20" fmla="*/ 335 w 447"/>
              <a:gd name="T21" fmla="*/ 251 h 447"/>
              <a:gd name="T22" fmla="*/ 251 w 447"/>
              <a:gd name="T23" fmla="*/ 251 h 447"/>
              <a:gd name="T24" fmla="*/ 251 w 447"/>
              <a:gd name="T25" fmla="*/ 335 h 447"/>
              <a:gd name="T26" fmla="*/ 223 w 447"/>
              <a:gd name="T27" fmla="*/ 363 h 447"/>
              <a:gd name="T28" fmla="*/ 196 w 447"/>
              <a:gd name="T29" fmla="*/ 335 h 447"/>
              <a:gd name="T30" fmla="*/ 196 w 447"/>
              <a:gd name="T31" fmla="*/ 251 h 447"/>
              <a:gd name="T32" fmla="*/ 112 w 447"/>
              <a:gd name="T33" fmla="*/ 251 h 447"/>
              <a:gd name="T34" fmla="*/ 84 w 447"/>
              <a:gd name="T35" fmla="*/ 223 h 447"/>
              <a:gd name="T36" fmla="*/ 112 w 447"/>
              <a:gd name="T37" fmla="*/ 195 h 447"/>
              <a:gd name="T38" fmla="*/ 196 w 447"/>
              <a:gd name="T39" fmla="*/ 195 h 447"/>
              <a:gd name="T40" fmla="*/ 196 w 447"/>
              <a:gd name="T41" fmla="*/ 112 h 447"/>
              <a:gd name="T42" fmla="*/ 223 w 447"/>
              <a:gd name="T43" fmla="*/ 8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7" h="447">
                <a:moveTo>
                  <a:pt x="223" y="0"/>
                </a:moveTo>
                <a:cubicBezTo>
                  <a:pt x="100" y="0"/>
                  <a:pt x="0" y="100"/>
                  <a:pt x="0" y="223"/>
                </a:cubicBezTo>
                <a:cubicBezTo>
                  <a:pt x="0" y="346"/>
                  <a:pt x="100" y="447"/>
                  <a:pt x="223" y="447"/>
                </a:cubicBezTo>
                <a:cubicBezTo>
                  <a:pt x="347" y="447"/>
                  <a:pt x="447" y="346"/>
                  <a:pt x="447" y="223"/>
                </a:cubicBezTo>
                <a:cubicBezTo>
                  <a:pt x="447" y="100"/>
                  <a:pt x="347" y="0"/>
                  <a:pt x="223" y="0"/>
                </a:cubicBezTo>
                <a:close/>
                <a:moveTo>
                  <a:pt x="223" y="84"/>
                </a:moveTo>
                <a:cubicBezTo>
                  <a:pt x="239" y="84"/>
                  <a:pt x="251" y="96"/>
                  <a:pt x="251" y="112"/>
                </a:cubicBezTo>
                <a:cubicBezTo>
                  <a:pt x="251" y="195"/>
                  <a:pt x="251" y="195"/>
                  <a:pt x="251" y="195"/>
                </a:cubicBezTo>
                <a:cubicBezTo>
                  <a:pt x="335" y="195"/>
                  <a:pt x="335" y="195"/>
                  <a:pt x="335" y="195"/>
                </a:cubicBezTo>
                <a:cubicBezTo>
                  <a:pt x="350" y="195"/>
                  <a:pt x="363" y="208"/>
                  <a:pt x="363" y="223"/>
                </a:cubicBezTo>
                <a:cubicBezTo>
                  <a:pt x="363" y="238"/>
                  <a:pt x="350" y="251"/>
                  <a:pt x="335" y="251"/>
                </a:cubicBezTo>
                <a:cubicBezTo>
                  <a:pt x="251" y="251"/>
                  <a:pt x="251" y="251"/>
                  <a:pt x="251" y="251"/>
                </a:cubicBezTo>
                <a:cubicBezTo>
                  <a:pt x="251" y="335"/>
                  <a:pt x="251" y="335"/>
                  <a:pt x="251" y="335"/>
                </a:cubicBezTo>
                <a:cubicBezTo>
                  <a:pt x="251" y="350"/>
                  <a:pt x="239" y="363"/>
                  <a:pt x="223" y="363"/>
                </a:cubicBezTo>
                <a:cubicBezTo>
                  <a:pt x="208" y="363"/>
                  <a:pt x="196" y="350"/>
                  <a:pt x="196" y="335"/>
                </a:cubicBezTo>
                <a:cubicBezTo>
                  <a:pt x="196" y="251"/>
                  <a:pt x="196" y="251"/>
                  <a:pt x="196" y="251"/>
                </a:cubicBezTo>
                <a:cubicBezTo>
                  <a:pt x="112" y="251"/>
                  <a:pt x="112" y="251"/>
                  <a:pt x="112" y="251"/>
                </a:cubicBezTo>
                <a:cubicBezTo>
                  <a:pt x="96" y="251"/>
                  <a:pt x="84" y="239"/>
                  <a:pt x="84" y="223"/>
                </a:cubicBezTo>
                <a:cubicBezTo>
                  <a:pt x="84" y="208"/>
                  <a:pt x="96" y="195"/>
                  <a:pt x="112" y="195"/>
                </a:cubicBezTo>
                <a:cubicBezTo>
                  <a:pt x="196" y="195"/>
                  <a:pt x="196" y="195"/>
                  <a:pt x="196" y="195"/>
                </a:cubicBezTo>
                <a:cubicBezTo>
                  <a:pt x="196" y="112"/>
                  <a:pt x="196" y="112"/>
                  <a:pt x="196" y="112"/>
                </a:cubicBezTo>
                <a:cubicBezTo>
                  <a:pt x="196" y="96"/>
                  <a:pt x="208" y="84"/>
                  <a:pt x="223" y="8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5"/>
          <p:cNvSpPr>
            <a:spLocks noEditPoints="1"/>
          </p:cNvSpPr>
          <p:nvPr userDrawn="1"/>
        </p:nvSpPr>
        <p:spPr bwMode="auto">
          <a:xfrm>
            <a:off x="2580737" y="3741741"/>
            <a:ext cx="219923" cy="293897"/>
          </a:xfrm>
          <a:custGeom>
            <a:avLst/>
            <a:gdLst>
              <a:gd name="T0" fmla="*/ 226 w 339"/>
              <a:gd name="T1" fmla="*/ 0 h 453"/>
              <a:gd name="T2" fmla="*/ 339 w 339"/>
              <a:gd name="T3" fmla="*/ 113 h 453"/>
              <a:gd name="T4" fmla="*/ 269 w 339"/>
              <a:gd name="T5" fmla="*/ 113 h 453"/>
              <a:gd name="T6" fmla="*/ 226 w 339"/>
              <a:gd name="T7" fmla="*/ 70 h 453"/>
              <a:gd name="T8" fmla="*/ 226 w 339"/>
              <a:gd name="T9" fmla="*/ 0 h 453"/>
              <a:gd name="T10" fmla="*/ 42 w 339"/>
              <a:gd name="T11" fmla="*/ 0 h 453"/>
              <a:gd name="T12" fmla="*/ 0 w 339"/>
              <a:gd name="T13" fmla="*/ 42 h 453"/>
              <a:gd name="T14" fmla="*/ 0 w 339"/>
              <a:gd name="T15" fmla="*/ 410 h 453"/>
              <a:gd name="T16" fmla="*/ 42 w 339"/>
              <a:gd name="T17" fmla="*/ 453 h 453"/>
              <a:gd name="T18" fmla="*/ 297 w 339"/>
              <a:gd name="T19" fmla="*/ 453 h 453"/>
              <a:gd name="T20" fmla="*/ 339 w 339"/>
              <a:gd name="T21" fmla="*/ 410 h 453"/>
              <a:gd name="T22" fmla="*/ 339 w 339"/>
              <a:gd name="T23" fmla="*/ 141 h 453"/>
              <a:gd name="T24" fmla="*/ 269 w 339"/>
              <a:gd name="T25" fmla="*/ 141 h 453"/>
              <a:gd name="T26" fmla="*/ 198 w 339"/>
              <a:gd name="T27" fmla="*/ 70 h 453"/>
              <a:gd name="T28" fmla="*/ 198 w 339"/>
              <a:gd name="T29" fmla="*/ 0 h 453"/>
              <a:gd name="T30" fmla="*/ 42 w 339"/>
              <a:gd name="T3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9" h="453">
                <a:moveTo>
                  <a:pt x="226" y="0"/>
                </a:moveTo>
                <a:cubicBezTo>
                  <a:pt x="339" y="113"/>
                  <a:pt x="339" y="113"/>
                  <a:pt x="339" y="113"/>
                </a:cubicBezTo>
                <a:cubicBezTo>
                  <a:pt x="269" y="113"/>
                  <a:pt x="269" y="113"/>
                  <a:pt x="269" y="113"/>
                </a:cubicBezTo>
                <a:cubicBezTo>
                  <a:pt x="245" y="113"/>
                  <a:pt x="226" y="94"/>
                  <a:pt x="226" y="70"/>
                </a:cubicBezTo>
                <a:cubicBezTo>
                  <a:pt x="226" y="0"/>
                  <a:pt x="226" y="0"/>
                  <a:pt x="226" y="0"/>
                </a:cubicBezTo>
                <a:close/>
                <a:moveTo>
                  <a:pt x="42" y="0"/>
                </a:moveTo>
                <a:cubicBezTo>
                  <a:pt x="19" y="0"/>
                  <a:pt x="0" y="19"/>
                  <a:pt x="0" y="42"/>
                </a:cubicBezTo>
                <a:cubicBezTo>
                  <a:pt x="0" y="410"/>
                  <a:pt x="0" y="410"/>
                  <a:pt x="0" y="410"/>
                </a:cubicBezTo>
                <a:cubicBezTo>
                  <a:pt x="0" y="433"/>
                  <a:pt x="19" y="453"/>
                  <a:pt x="42" y="453"/>
                </a:cubicBezTo>
                <a:cubicBezTo>
                  <a:pt x="297" y="453"/>
                  <a:pt x="297" y="453"/>
                  <a:pt x="297" y="453"/>
                </a:cubicBezTo>
                <a:cubicBezTo>
                  <a:pt x="320" y="453"/>
                  <a:pt x="339" y="433"/>
                  <a:pt x="339" y="410"/>
                </a:cubicBezTo>
                <a:cubicBezTo>
                  <a:pt x="339" y="141"/>
                  <a:pt x="339" y="141"/>
                  <a:pt x="339" y="141"/>
                </a:cubicBezTo>
                <a:cubicBezTo>
                  <a:pt x="269" y="141"/>
                  <a:pt x="269" y="141"/>
                  <a:pt x="269" y="141"/>
                </a:cubicBezTo>
                <a:cubicBezTo>
                  <a:pt x="230" y="141"/>
                  <a:pt x="198" y="109"/>
                  <a:pt x="198" y="70"/>
                </a:cubicBezTo>
                <a:cubicBezTo>
                  <a:pt x="198" y="0"/>
                  <a:pt x="198" y="0"/>
                  <a:pt x="198" y="0"/>
                </a:cubicBezTo>
                <a:lnTo>
                  <a:pt x="42"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98"/>
          <p:cNvSpPr>
            <a:spLocks noEditPoints="1"/>
          </p:cNvSpPr>
          <p:nvPr userDrawn="1"/>
        </p:nvSpPr>
        <p:spPr bwMode="auto">
          <a:xfrm>
            <a:off x="2525789" y="3260879"/>
            <a:ext cx="285898" cy="214323"/>
          </a:xfrm>
          <a:custGeom>
            <a:avLst/>
            <a:gdLst>
              <a:gd name="T0" fmla="*/ 432 w 432"/>
              <a:gd name="T1" fmla="*/ 101 h 324"/>
              <a:gd name="T2" fmla="*/ 432 w 432"/>
              <a:gd name="T3" fmla="*/ 297 h 324"/>
              <a:gd name="T4" fmla="*/ 405 w 432"/>
              <a:gd name="T5" fmla="*/ 324 h 324"/>
              <a:gd name="T6" fmla="*/ 27 w 432"/>
              <a:gd name="T7" fmla="*/ 324 h 324"/>
              <a:gd name="T8" fmla="*/ 0 w 432"/>
              <a:gd name="T9" fmla="*/ 297 h 324"/>
              <a:gd name="T10" fmla="*/ 0 w 432"/>
              <a:gd name="T11" fmla="*/ 101 h 324"/>
              <a:gd name="T12" fmla="*/ 2 w 432"/>
              <a:gd name="T13" fmla="*/ 102 h 324"/>
              <a:gd name="T14" fmla="*/ 189 w 432"/>
              <a:gd name="T15" fmla="*/ 209 h 324"/>
              <a:gd name="T16" fmla="*/ 216 w 432"/>
              <a:gd name="T17" fmla="*/ 216 h 324"/>
              <a:gd name="T18" fmla="*/ 243 w 432"/>
              <a:gd name="T19" fmla="*/ 209 h 324"/>
              <a:gd name="T20" fmla="*/ 430 w 432"/>
              <a:gd name="T21" fmla="*/ 102 h 324"/>
              <a:gd name="T22" fmla="*/ 432 w 432"/>
              <a:gd name="T23" fmla="*/ 101 h 324"/>
              <a:gd name="T24" fmla="*/ 216 w 432"/>
              <a:gd name="T25" fmla="*/ 189 h 324"/>
              <a:gd name="T26" fmla="*/ 229 w 432"/>
              <a:gd name="T27" fmla="*/ 186 h 324"/>
              <a:gd name="T28" fmla="*/ 417 w 432"/>
              <a:gd name="T29" fmla="*/ 78 h 324"/>
              <a:gd name="T30" fmla="*/ 432 w 432"/>
              <a:gd name="T31" fmla="*/ 54 h 324"/>
              <a:gd name="T32" fmla="*/ 432 w 432"/>
              <a:gd name="T33" fmla="*/ 27 h 324"/>
              <a:gd name="T34" fmla="*/ 405 w 432"/>
              <a:gd name="T35" fmla="*/ 0 h 324"/>
              <a:gd name="T36" fmla="*/ 216 w 432"/>
              <a:gd name="T37" fmla="*/ 0 h 324"/>
              <a:gd name="T38" fmla="*/ 27 w 432"/>
              <a:gd name="T39" fmla="*/ 0 h 324"/>
              <a:gd name="T40" fmla="*/ 0 w 432"/>
              <a:gd name="T41" fmla="*/ 27 h 324"/>
              <a:gd name="T42" fmla="*/ 0 w 432"/>
              <a:gd name="T43" fmla="*/ 54 h 324"/>
              <a:gd name="T44" fmla="*/ 15 w 432"/>
              <a:gd name="T45" fmla="*/ 78 h 324"/>
              <a:gd name="T46" fmla="*/ 203 w 432"/>
              <a:gd name="T47" fmla="*/ 186 h 324"/>
              <a:gd name="T48" fmla="*/ 216 w 432"/>
              <a:gd name="T49" fmla="*/ 189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2" h="324">
                <a:moveTo>
                  <a:pt x="432" y="101"/>
                </a:moveTo>
                <a:cubicBezTo>
                  <a:pt x="432" y="297"/>
                  <a:pt x="432" y="297"/>
                  <a:pt x="432" y="297"/>
                </a:cubicBezTo>
                <a:cubicBezTo>
                  <a:pt x="432" y="312"/>
                  <a:pt x="420" y="324"/>
                  <a:pt x="405" y="324"/>
                </a:cubicBezTo>
                <a:cubicBezTo>
                  <a:pt x="27" y="324"/>
                  <a:pt x="27" y="324"/>
                  <a:pt x="27" y="324"/>
                </a:cubicBezTo>
                <a:cubicBezTo>
                  <a:pt x="12" y="324"/>
                  <a:pt x="0" y="312"/>
                  <a:pt x="0" y="297"/>
                </a:cubicBezTo>
                <a:cubicBezTo>
                  <a:pt x="0" y="101"/>
                  <a:pt x="0" y="101"/>
                  <a:pt x="0" y="101"/>
                </a:cubicBezTo>
                <a:cubicBezTo>
                  <a:pt x="1" y="101"/>
                  <a:pt x="1" y="102"/>
                  <a:pt x="2" y="102"/>
                </a:cubicBezTo>
                <a:cubicBezTo>
                  <a:pt x="189" y="209"/>
                  <a:pt x="189" y="209"/>
                  <a:pt x="189" y="209"/>
                </a:cubicBezTo>
                <a:cubicBezTo>
                  <a:pt x="197" y="214"/>
                  <a:pt x="207" y="216"/>
                  <a:pt x="216" y="216"/>
                </a:cubicBezTo>
                <a:cubicBezTo>
                  <a:pt x="225" y="216"/>
                  <a:pt x="235" y="214"/>
                  <a:pt x="243" y="209"/>
                </a:cubicBezTo>
                <a:cubicBezTo>
                  <a:pt x="430" y="102"/>
                  <a:pt x="430" y="102"/>
                  <a:pt x="430" y="102"/>
                </a:cubicBezTo>
                <a:cubicBezTo>
                  <a:pt x="431" y="102"/>
                  <a:pt x="431" y="101"/>
                  <a:pt x="432" y="101"/>
                </a:cubicBezTo>
                <a:close/>
                <a:moveTo>
                  <a:pt x="216" y="189"/>
                </a:moveTo>
                <a:cubicBezTo>
                  <a:pt x="221" y="189"/>
                  <a:pt x="225" y="188"/>
                  <a:pt x="229" y="186"/>
                </a:cubicBezTo>
                <a:cubicBezTo>
                  <a:pt x="417" y="78"/>
                  <a:pt x="417" y="78"/>
                  <a:pt x="417" y="78"/>
                </a:cubicBezTo>
                <a:cubicBezTo>
                  <a:pt x="426" y="74"/>
                  <a:pt x="432" y="65"/>
                  <a:pt x="432" y="54"/>
                </a:cubicBezTo>
                <a:cubicBezTo>
                  <a:pt x="432" y="27"/>
                  <a:pt x="432" y="27"/>
                  <a:pt x="432" y="27"/>
                </a:cubicBezTo>
                <a:cubicBezTo>
                  <a:pt x="432" y="12"/>
                  <a:pt x="420" y="0"/>
                  <a:pt x="405" y="0"/>
                </a:cubicBezTo>
                <a:cubicBezTo>
                  <a:pt x="216" y="0"/>
                  <a:pt x="216" y="0"/>
                  <a:pt x="216" y="0"/>
                </a:cubicBezTo>
                <a:cubicBezTo>
                  <a:pt x="27" y="0"/>
                  <a:pt x="27" y="0"/>
                  <a:pt x="27" y="0"/>
                </a:cubicBezTo>
                <a:cubicBezTo>
                  <a:pt x="12" y="0"/>
                  <a:pt x="0" y="12"/>
                  <a:pt x="0" y="27"/>
                </a:cubicBezTo>
                <a:cubicBezTo>
                  <a:pt x="0" y="54"/>
                  <a:pt x="0" y="54"/>
                  <a:pt x="0" y="54"/>
                </a:cubicBezTo>
                <a:cubicBezTo>
                  <a:pt x="0" y="65"/>
                  <a:pt x="6" y="74"/>
                  <a:pt x="15" y="78"/>
                </a:cubicBezTo>
                <a:cubicBezTo>
                  <a:pt x="203" y="186"/>
                  <a:pt x="203" y="186"/>
                  <a:pt x="203" y="186"/>
                </a:cubicBezTo>
                <a:cubicBezTo>
                  <a:pt x="207" y="188"/>
                  <a:pt x="211" y="189"/>
                  <a:pt x="216" y="18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39"/>
          <p:cNvSpPr>
            <a:spLocks noEditPoints="1"/>
          </p:cNvSpPr>
          <p:nvPr userDrawn="1"/>
        </p:nvSpPr>
        <p:spPr bwMode="auto">
          <a:xfrm>
            <a:off x="2516800" y="2063286"/>
            <a:ext cx="296690" cy="316555"/>
          </a:xfrm>
          <a:custGeom>
            <a:avLst/>
            <a:gdLst>
              <a:gd name="T0" fmla="*/ 42 w 424"/>
              <a:gd name="T1" fmla="*/ 0 h 452"/>
              <a:gd name="T2" fmla="*/ 382 w 424"/>
              <a:gd name="T3" fmla="*/ 0 h 452"/>
              <a:gd name="T4" fmla="*/ 424 w 424"/>
              <a:gd name="T5" fmla="*/ 42 h 452"/>
              <a:gd name="T6" fmla="*/ 424 w 424"/>
              <a:gd name="T7" fmla="*/ 325 h 452"/>
              <a:gd name="T8" fmla="*/ 382 w 424"/>
              <a:gd name="T9" fmla="*/ 368 h 452"/>
              <a:gd name="T10" fmla="*/ 269 w 424"/>
              <a:gd name="T11" fmla="*/ 368 h 452"/>
              <a:gd name="T12" fmla="*/ 269 w 424"/>
              <a:gd name="T13" fmla="*/ 389 h 452"/>
              <a:gd name="T14" fmla="*/ 290 w 424"/>
              <a:gd name="T15" fmla="*/ 410 h 452"/>
              <a:gd name="T16" fmla="*/ 318 w 424"/>
              <a:gd name="T17" fmla="*/ 410 h 452"/>
              <a:gd name="T18" fmla="*/ 339 w 424"/>
              <a:gd name="T19" fmla="*/ 431 h 452"/>
              <a:gd name="T20" fmla="*/ 318 w 424"/>
              <a:gd name="T21" fmla="*/ 452 h 452"/>
              <a:gd name="T22" fmla="*/ 106 w 424"/>
              <a:gd name="T23" fmla="*/ 452 h 452"/>
              <a:gd name="T24" fmla="*/ 85 w 424"/>
              <a:gd name="T25" fmla="*/ 431 h 452"/>
              <a:gd name="T26" fmla="*/ 106 w 424"/>
              <a:gd name="T27" fmla="*/ 410 h 452"/>
              <a:gd name="T28" fmla="*/ 134 w 424"/>
              <a:gd name="T29" fmla="*/ 410 h 452"/>
              <a:gd name="T30" fmla="*/ 156 w 424"/>
              <a:gd name="T31" fmla="*/ 389 h 452"/>
              <a:gd name="T32" fmla="*/ 156 w 424"/>
              <a:gd name="T33" fmla="*/ 368 h 452"/>
              <a:gd name="T34" fmla="*/ 42 w 424"/>
              <a:gd name="T35" fmla="*/ 368 h 452"/>
              <a:gd name="T36" fmla="*/ 0 w 424"/>
              <a:gd name="T37" fmla="*/ 325 h 452"/>
              <a:gd name="T38" fmla="*/ 0 w 424"/>
              <a:gd name="T39" fmla="*/ 42 h 452"/>
              <a:gd name="T40" fmla="*/ 42 w 424"/>
              <a:gd name="T41" fmla="*/ 0 h 452"/>
              <a:gd name="T42" fmla="*/ 57 w 424"/>
              <a:gd name="T43" fmla="*/ 42 h 452"/>
              <a:gd name="T44" fmla="*/ 42 w 424"/>
              <a:gd name="T45" fmla="*/ 56 h 452"/>
              <a:gd name="T46" fmla="*/ 42 w 424"/>
              <a:gd name="T47" fmla="*/ 240 h 452"/>
              <a:gd name="T48" fmla="*/ 57 w 424"/>
              <a:gd name="T49" fmla="*/ 254 h 452"/>
              <a:gd name="T50" fmla="*/ 368 w 424"/>
              <a:gd name="T51" fmla="*/ 254 h 452"/>
              <a:gd name="T52" fmla="*/ 382 w 424"/>
              <a:gd name="T53" fmla="*/ 240 h 452"/>
              <a:gd name="T54" fmla="*/ 382 w 424"/>
              <a:gd name="T55" fmla="*/ 56 h 452"/>
              <a:gd name="T56" fmla="*/ 368 w 424"/>
              <a:gd name="T57" fmla="*/ 42 h 452"/>
              <a:gd name="T58" fmla="*/ 57 w 424"/>
              <a:gd name="T59" fmla="*/ 42 h 452"/>
              <a:gd name="T60" fmla="*/ 212 w 424"/>
              <a:gd name="T61" fmla="*/ 290 h 452"/>
              <a:gd name="T62" fmla="*/ 191 w 424"/>
              <a:gd name="T63" fmla="*/ 311 h 452"/>
              <a:gd name="T64" fmla="*/ 212 w 424"/>
              <a:gd name="T65" fmla="*/ 332 h 452"/>
              <a:gd name="T66" fmla="*/ 233 w 424"/>
              <a:gd name="T67" fmla="*/ 311 h 452"/>
              <a:gd name="T68" fmla="*/ 212 w 424"/>
              <a:gd name="T69" fmla="*/ 290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4" h="452">
                <a:moveTo>
                  <a:pt x="42" y="0"/>
                </a:moveTo>
                <a:cubicBezTo>
                  <a:pt x="382" y="0"/>
                  <a:pt x="382" y="0"/>
                  <a:pt x="382" y="0"/>
                </a:cubicBezTo>
                <a:cubicBezTo>
                  <a:pt x="405" y="0"/>
                  <a:pt x="424" y="19"/>
                  <a:pt x="424" y="42"/>
                </a:cubicBezTo>
                <a:cubicBezTo>
                  <a:pt x="424" y="325"/>
                  <a:pt x="424" y="325"/>
                  <a:pt x="424" y="325"/>
                </a:cubicBezTo>
                <a:cubicBezTo>
                  <a:pt x="424" y="348"/>
                  <a:pt x="405" y="368"/>
                  <a:pt x="382" y="368"/>
                </a:cubicBezTo>
                <a:cubicBezTo>
                  <a:pt x="269" y="368"/>
                  <a:pt x="269" y="368"/>
                  <a:pt x="269" y="368"/>
                </a:cubicBezTo>
                <a:cubicBezTo>
                  <a:pt x="269" y="389"/>
                  <a:pt x="269" y="389"/>
                  <a:pt x="269" y="389"/>
                </a:cubicBezTo>
                <a:cubicBezTo>
                  <a:pt x="269" y="400"/>
                  <a:pt x="278" y="410"/>
                  <a:pt x="290" y="410"/>
                </a:cubicBezTo>
                <a:cubicBezTo>
                  <a:pt x="318" y="410"/>
                  <a:pt x="318" y="410"/>
                  <a:pt x="318" y="410"/>
                </a:cubicBezTo>
                <a:cubicBezTo>
                  <a:pt x="330" y="410"/>
                  <a:pt x="339" y="419"/>
                  <a:pt x="339" y="431"/>
                </a:cubicBezTo>
                <a:cubicBezTo>
                  <a:pt x="339" y="443"/>
                  <a:pt x="330" y="452"/>
                  <a:pt x="318" y="452"/>
                </a:cubicBezTo>
                <a:cubicBezTo>
                  <a:pt x="106" y="452"/>
                  <a:pt x="106" y="452"/>
                  <a:pt x="106" y="452"/>
                </a:cubicBezTo>
                <a:cubicBezTo>
                  <a:pt x="94" y="452"/>
                  <a:pt x="85" y="443"/>
                  <a:pt x="85" y="431"/>
                </a:cubicBezTo>
                <a:cubicBezTo>
                  <a:pt x="85" y="419"/>
                  <a:pt x="94" y="410"/>
                  <a:pt x="106" y="410"/>
                </a:cubicBezTo>
                <a:cubicBezTo>
                  <a:pt x="134" y="410"/>
                  <a:pt x="134" y="410"/>
                  <a:pt x="134" y="410"/>
                </a:cubicBezTo>
                <a:cubicBezTo>
                  <a:pt x="146" y="410"/>
                  <a:pt x="156" y="400"/>
                  <a:pt x="156" y="389"/>
                </a:cubicBezTo>
                <a:cubicBezTo>
                  <a:pt x="156" y="368"/>
                  <a:pt x="156" y="368"/>
                  <a:pt x="156" y="368"/>
                </a:cubicBezTo>
                <a:cubicBezTo>
                  <a:pt x="42" y="368"/>
                  <a:pt x="42" y="368"/>
                  <a:pt x="42" y="368"/>
                </a:cubicBezTo>
                <a:cubicBezTo>
                  <a:pt x="19" y="368"/>
                  <a:pt x="0" y="348"/>
                  <a:pt x="0" y="325"/>
                </a:cubicBezTo>
                <a:cubicBezTo>
                  <a:pt x="0" y="42"/>
                  <a:pt x="0" y="42"/>
                  <a:pt x="0" y="42"/>
                </a:cubicBezTo>
                <a:cubicBezTo>
                  <a:pt x="0" y="19"/>
                  <a:pt x="19" y="0"/>
                  <a:pt x="42" y="0"/>
                </a:cubicBezTo>
                <a:close/>
                <a:moveTo>
                  <a:pt x="57" y="42"/>
                </a:moveTo>
                <a:cubicBezTo>
                  <a:pt x="49" y="42"/>
                  <a:pt x="42" y="49"/>
                  <a:pt x="42" y="56"/>
                </a:cubicBezTo>
                <a:cubicBezTo>
                  <a:pt x="42" y="240"/>
                  <a:pt x="42" y="240"/>
                  <a:pt x="42" y="240"/>
                </a:cubicBezTo>
                <a:cubicBezTo>
                  <a:pt x="42" y="248"/>
                  <a:pt x="49" y="254"/>
                  <a:pt x="57" y="254"/>
                </a:cubicBezTo>
                <a:cubicBezTo>
                  <a:pt x="368" y="254"/>
                  <a:pt x="368" y="254"/>
                  <a:pt x="368" y="254"/>
                </a:cubicBezTo>
                <a:cubicBezTo>
                  <a:pt x="375" y="254"/>
                  <a:pt x="382" y="248"/>
                  <a:pt x="382" y="240"/>
                </a:cubicBezTo>
                <a:cubicBezTo>
                  <a:pt x="382" y="56"/>
                  <a:pt x="382" y="56"/>
                  <a:pt x="382" y="56"/>
                </a:cubicBezTo>
                <a:cubicBezTo>
                  <a:pt x="382" y="49"/>
                  <a:pt x="375" y="42"/>
                  <a:pt x="368" y="42"/>
                </a:cubicBezTo>
                <a:cubicBezTo>
                  <a:pt x="57" y="42"/>
                  <a:pt x="57" y="42"/>
                  <a:pt x="57" y="42"/>
                </a:cubicBezTo>
                <a:close/>
                <a:moveTo>
                  <a:pt x="212" y="290"/>
                </a:moveTo>
                <a:cubicBezTo>
                  <a:pt x="200" y="290"/>
                  <a:pt x="191" y="299"/>
                  <a:pt x="191" y="311"/>
                </a:cubicBezTo>
                <a:cubicBezTo>
                  <a:pt x="191" y="323"/>
                  <a:pt x="200" y="332"/>
                  <a:pt x="212" y="332"/>
                </a:cubicBezTo>
                <a:cubicBezTo>
                  <a:pt x="224" y="332"/>
                  <a:pt x="233" y="323"/>
                  <a:pt x="233" y="311"/>
                </a:cubicBezTo>
                <a:cubicBezTo>
                  <a:pt x="233" y="299"/>
                  <a:pt x="224" y="290"/>
                  <a:pt x="212" y="29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9"/>
          <p:cNvSpPr>
            <a:spLocks noEditPoints="1"/>
          </p:cNvSpPr>
          <p:nvPr userDrawn="1"/>
        </p:nvSpPr>
        <p:spPr bwMode="auto">
          <a:xfrm>
            <a:off x="2536088" y="2654823"/>
            <a:ext cx="273531" cy="239307"/>
          </a:xfrm>
          <a:custGeom>
            <a:avLst/>
            <a:gdLst>
              <a:gd name="T0" fmla="*/ 27 w 431"/>
              <a:gd name="T1" fmla="*/ 0 h 377"/>
              <a:gd name="T2" fmla="*/ 404 w 431"/>
              <a:gd name="T3" fmla="*/ 0 h 377"/>
              <a:gd name="T4" fmla="*/ 431 w 431"/>
              <a:gd name="T5" fmla="*/ 27 h 377"/>
              <a:gd name="T6" fmla="*/ 431 w 431"/>
              <a:gd name="T7" fmla="*/ 350 h 377"/>
              <a:gd name="T8" fmla="*/ 404 w 431"/>
              <a:gd name="T9" fmla="*/ 377 h 377"/>
              <a:gd name="T10" fmla="*/ 27 w 431"/>
              <a:gd name="T11" fmla="*/ 377 h 377"/>
              <a:gd name="T12" fmla="*/ 0 w 431"/>
              <a:gd name="T13" fmla="*/ 350 h 377"/>
              <a:gd name="T14" fmla="*/ 0 w 431"/>
              <a:gd name="T15" fmla="*/ 27 h 377"/>
              <a:gd name="T16" fmla="*/ 27 w 431"/>
              <a:gd name="T17" fmla="*/ 0 h 377"/>
              <a:gd name="T18" fmla="*/ 323 w 431"/>
              <a:gd name="T19" fmla="*/ 40 h 377"/>
              <a:gd name="T20" fmla="*/ 309 w 431"/>
              <a:gd name="T21" fmla="*/ 54 h 377"/>
              <a:gd name="T22" fmla="*/ 323 w 431"/>
              <a:gd name="T23" fmla="*/ 67 h 377"/>
              <a:gd name="T24" fmla="*/ 336 w 431"/>
              <a:gd name="T25" fmla="*/ 54 h 377"/>
              <a:gd name="T26" fmla="*/ 323 w 431"/>
              <a:gd name="T27" fmla="*/ 40 h 377"/>
              <a:gd name="T28" fmla="*/ 269 w 431"/>
              <a:gd name="T29" fmla="*/ 40 h 377"/>
              <a:gd name="T30" fmla="*/ 256 w 431"/>
              <a:gd name="T31" fmla="*/ 54 h 377"/>
              <a:gd name="T32" fmla="*/ 269 w 431"/>
              <a:gd name="T33" fmla="*/ 67 h 377"/>
              <a:gd name="T34" fmla="*/ 283 w 431"/>
              <a:gd name="T35" fmla="*/ 54 h 377"/>
              <a:gd name="T36" fmla="*/ 269 w 431"/>
              <a:gd name="T37" fmla="*/ 40 h 377"/>
              <a:gd name="T38" fmla="*/ 377 w 431"/>
              <a:gd name="T39" fmla="*/ 40 h 377"/>
              <a:gd name="T40" fmla="*/ 363 w 431"/>
              <a:gd name="T41" fmla="*/ 54 h 377"/>
              <a:gd name="T42" fmla="*/ 377 w 431"/>
              <a:gd name="T43" fmla="*/ 67 h 377"/>
              <a:gd name="T44" fmla="*/ 390 w 431"/>
              <a:gd name="T45" fmla="*/ 54 h 377"/>
              <a:gd name="T46" fmla="*/ 377 w 431"/>
              <a:gd name="T47" fmla="*/ 40 h 377"/>
              <a:gd name="T48" fmla="*/ 390 w 431"/>
              <a:gd name="T49" fmla="*/ 107 h 377"/>
              <a:gd name="T50" fmla="*/ 40 w 431"/>
              <a:gd name="T51" fmla="*/ 107 h 377"/>
              <a:gd name="T52" fmla="*/ 40 w 431"/>
              <a:gd name="T53" fmla="*/ 336 h 377"/>
              <a:gd name="T54" fmla="*/ 390 w 431"/>
              <a:gd name="T55" fmla="*/ 336 h 377"/>
              <a:gd name="T56" fmla="*/ 390 w 431"/>
              <a:gd name="T57" fmla="*/ 107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1" h="377">
                <a:moveTo>
                  <a:pt x="27" y="0"/>
                </a:moveTo>
                <a:cubicBezTo>
                  <a:pt x="404" y="0"/>
                  <a:pt x="404" y="0"/>
                  <a:pt x="404" y="0"/>
                </a:cubicBezTo>
                <a:cubicBezTo>
                  <a:pt x="418" y="0"/>
                  <a:pt x="431" y="12"/>
                  <a:pt x="431" y="27"/>
                </a:cubicBezTo>
                <a:cubicBezTo>
                  <a:pt x="431" y="350"/>
                  <a:pt x="431" y="350"/>
                  <a:pt x="431" y="350"/>
                </a:cubicBezTo>
                <a:cubicBezTo>
                  <a:pt x="431" y="365"/>
                  <a:pt x="418" y="377"/>
                  <a:pt x="404" y="377"/>
                </a:cubicBezTo>
                <a:cubicBezTo>
                  <a:pt x="27" y="377"/>
                  <a:pt x="27" y="377"/>
                  <a:pt x="27" y="377"/>
                </a:cubicBezTo>
                <a:cubicBezTo>
                  <a:pt x="12" y="377"/>
                  <a:pt x="0" y="365"/>
                  <a:pt x="0" y="350"/>
                </a:cubicBezTo>
                <a:cubicBezTo>
                  <a:pt x="0" y="27"/>
                  <a:pt x="0" y="27"/>
                  <a:pt x="0" y="27"/>
                </a:cubicBezTo>
                <a:cubicBezTo>
                  <a:pt x="0" y="12"/>
                  <a:pt x="12" y="0"/>
                  <a:pt x="27" y="0"/>
                </a:cubicBezTo>
                <a:close/>
                <a:moveTo>
                  <a:pt x="323" y="40"/>
                </a:moveTo>
                <a:cubicBezTo>
                  <a:pt x="315" y="40"/>
                  <a:pt x="309" y="46"/>
                  <a:pt x="309" y="54"/>
                </a:cubicBezTo>
                <a:cubicBezTo>
                  <a:pt x="309" y="61"/>
                  <a:pt x="315" y="67"/>
                  <a:pt x="323" y="67"/>
                </a:cubicBezTo>
                <a:cubicBezTo>
                  <a:pt x="330" y="67"/>
                  <a:pt x="336" y="61"/>
                  <a:pt x="336" y="54"/>
                </a:cubicBezTo>
                <a:cubicBezTo>
                  <a:pt x="336" y="46"/>
                  <a:pt x="330" y="40"/>
                  <a:pt x="323" y="40"/>
                </a:cubicBezTo>
                <a:close/>
                <a:moveTo>
                  <a:pt x="269" y="40"/>
                </a:moveTo>
                <a:cubicBezTo>
                  <a:pt x="262" y="40"/>
                  <a:pt x="256" y="46"/>
                  <a:pt x="256" y="54"/>
                </a:cubicBezTo>
                <a:cubicBezTo>
                  <a:pt x="256" y="61"/>
                  <a:pt x="262" y="67"/>
                  <a:pt x="269" y="67"/>
                </a:cubicBezTo>
                <a:cubicBezTo>
                  <a:pt x="277" y="67"/>
                  <a:pt x="283" y="61"/>
                  <a:pt x="283" y="54"/>
                </a:cubicBezTo>
                <a:cubicBezTo>
                  <a:pt x="283" y="46"/>
                  <a:pt x="277" y="40"/>
                  <a:pt x="269" y="40"/>
                </a:cubicBezTo>
                <a:close/>
                <a:moveTo>
                  <a:pt x="377" y="40"/>
                </a:moveTo>
                <a:cubicBezTo>
                  <a:pt x="369" y="40"/>
                  <a:pt x="363" y="46"/>
                  <a:pt x="363" y="54"/>
                </a:cubicBezTo>
                <a:cubicBezTo>
                  <a:pt x="363" y="61"/>
                  <a:pt x="369" y="67"/>
                  <a:pt x="377" y="67"/>
                </a:cubicBezTo>
                <a:cubicBezTo>
                  <a:pt x="384" y="67"/>
                  <a:pt x="390" y="61"/>
                  <a:pt x="390" y="54"/>
                </a:cubicBezTo>
                <a:cubicBezTo>
                  <a:pt x="390" y="46"/>
                  <a:pt x="384" y="40"/>
                  <a:pt x="377" y="40"/>
                </a:cubicBezTo>
                <a:close/>
                <a:moveTo>
                  <a:pt x="390" y="107"/>
                </a:moveTo>
                <a:cubicBezTo>
                  <a:pt x="40" y="107"/>
                  <a:pt x="40" y="107"/>
                  <a:pt x="40" y="107"/>
                </a:cubicBezTo>
                <a:cubicBezTo>
                  <a:pt x="40" y="336"/>
                  <a:pt x="40" y="336"/>
                  <a:pt x="40" y="336"/>
                </a:cubicBezTo>
                <a:cubicBezTo>
                  <a:pt x="390" y="336"/>
                  <a:pt x="390" y="336"/>
                  <a:pt x="390" y="336"/>
                </a:cubicBezTo>
                <a:lnTo>
                  <a:pt x="390" y="10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4" name="Freeform 15"/>
          <p:cNvSpPr>
            <a:spLocks noEditPoints="1"/>
          </p:cNvSpPr>
          <p:nvPr userDrawn="1"/>
        </p:nvSpPr>
        <p:spPr bwMode="auto">
          <a:xfrm>
            <a:off x="2548995" y="6144511"/>
            <a:ext cx="258036" cy="257631"/>
          </a:xfrm>
          <a:custGeom>
            <a:avLst/>
            <a:gdLst>
              <a:gd name="T0" fmla="*/ 0 w 398"/>
              <a:gd name="T1" fmla="*/ 19 h 397"/>
              <a:gd name="T2" fmla="*/ 19 w 398"/>
              <a:gd name="T3" fmla="*/ 0 h 397"/>
              <a:gd name="T4" fmla="*/ 38 w 398"/>
              <a:gd name="T5" fmla="*/ 19 h 397"/>
              <a:gd name="T6" fmla="*/ 38 w 398"/>
              <a:gd name="T7" fmla="*/ 360 h 397"/>
              <a:gd name="T8" fmla="*/ 379 w 398"/>
              <a:gd name="T9" fmla="*/ 360 h 397"/>
              <a:gd name="T10" fmla="*/ 398 w 398"/>
              <a:gd name="T11" fmla="*/ 379 h 397"/>
              <a:gd name="T12" fmla="*/ 379 w 398"/>
              <a:gd name="T13" fmla="*/ 397 h 397"/>
              <a:gd name="T14" fmla="*/ 19 w 398"/>
              <a:gd name="T15" fmla="*/ 397 h 397"/>
              <a:gd name="T16" fmla="*/ 0 w 398"/>
              <a:gd name="T17" fmla="*/ 379 h 397"/>
              <a:gd name="T18" fmla="*/ 0 w 398"/>
              <a:gd name="T19" fmla="*/ 19 h 397"/>
              <a:gd name="T20" fmla="*/ 361 w 398"/>
              <a:gd name="T21" fmla="*/ 335 h 397"/>
              <a:gd name="T22" fmla="*/ 373 w 398"/>
              <a:gd name="T23" fmla="*/ 323 h 397"/>
              <a:gd name="T24" fmla="*/ 373 w 398"/>
              <a:gd name="T25" fmla="*/ 50 h 397"/>
              <a:gd name="T26" fmla="*/ 371 w 398"/>
              <a:gd name="T27" fmla="*/ 43 h 397"/>
              <a:gd name="T28" fmla="*/ 361 w 398"/>
              <a:gd name="T29" fmla="*/ 37 h 397"/>
              <a:gd name="T30" fmla="*/ 352 w 398"/>
              <a:gd name="T31" fmla="*/ 41 h 397"/>
              <a:gd name="T32" fmla="*/ 174 w 398"/>
              <a:gd name="T33" fmla="*/ 219 h 397"/>
              <a:gd name="T34" fmla="*/ 146 w 398"/>
              <a:gd name="T35" fmla="*/ 190 h 397"/>
              <a:gd name="T36" fmla="*/ 128 w 398"/>
              <a:gd name="T37" fmla="*/ 190 h 397"/>
              <a:gd name="T38" fmla="*/ 66 w 398"/>
              <a:gd name="T39" fmla="*/ 252 h 397"/>
              <a:gd name="T40" fmla="*/ 63 w 398"/>
              <a:gd name="T41" fmla="*/ 261 h 397"/>
              <a:gd name="T42" fmla="*/ 63 w 398"/>
              <a:gd name="T43" fmla="*/ 323 h 397"/>
              <a:gd name="T44" fmla="*/ 75 w 398"/>
              <a:gd name="T45" fmla="*/ 335 h 397"/>
              <a:gd name="T46" fmla="*/ 361 w 398"/>
              <a:gd name="T47" fmla="*/ 335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8" h="397">
                <a:moveTo>
                  <a:pt x="0" y="19"/>
                </a:moveTo>
                <a:cubicBezTo>
                  <a:pt x="0" y="8"/>
                  <a:pt x="9" y="0"/>
                  <a:pt x="19" y="0"/>
                </a:cubicBezTo>
                <a:cubicBezTo>
                  <a:pt x="29" y="0"/>
                  <a:pt x="38" y="8"/>
                  <a:pt x="38" y="19"/>
                </a:cubicBezTo>
                <a:cubicBezTo>
                  <a:pt x="38" y="360"/>
                  <a:pt x="38" y="360"/>
                  <a:pt x="38" y="360"/>
                </a:cubicBezTo>
                <a:cubicBezTo>
                  <a:pt x="379" y="360"/>
                  <a:pt x="379" y="360"/>
                  <a:pt x="379" y="360"/>
                </a:cubicBezTo>
                <a:cubicBezTo>
                  <a:pt x="389" y="360"/>
                  <a:pt x="398" y="369"/>
                  <a:pt x="398" y="379"/>
                </a:cubicBezTo>
                <a:cubicBezTo>
                  <a:pt x="398" y="389"/>
                  <a:pt x="389" y="397"/>
                  <a:pt x="379" y="397"/>
                </a:cubicBezTo>
                <a:cubicBezTo>
                  <a:pt x="19" y="397"/>
                  <a:pt x="19" y="397"/>
                  <a:pt x="19" y="397"/>
                </a:cubicBezTo>
                <a:cubicBezTo>
                  <a:pt x="9" y="397"/>
                  <a:pt x="0" y="389"/>
                  <a:pt x="0" y="379"/>
                </a:cubicBezTo>
                <a:cubicBezTo>
                  <a:pt x="0" y="19"/>
                  <a:pt x="0" y="19"/>
                  <a:pt x="0" y="19"/>
                </a:cubicBezTo>
                <a:close/>
                <a:moveTo>
                  <a:pt x="361" y="335"/>
                </a:moveTo>
                <a:cubicBezTo>
                  <a:pt x="367" y="335"/>
                  <a:pt x="373" y="330"/>
                  <a:pt x="373" y="323"/>
                </a:cubicBezTo>
                <a:cubicBezTo>
                  <a:pt x="373" y="50"/>
                  <a:pt x="373" y="50"/>
                  <a:pt x="373" y="50"/>
                </a:cubicBezTo>
                <a:cubicBezTo>
                  <a:pt x="373" y="47"/>
                  <a:pt x="372" y="45"/>
                  <a:pt x="371" y="43"/>
                </a:cubicBezTo>
                <a:cubicBezTo>
                  <a:pt x="369" y="40"/>
                  <a:pt x="364" y="37"/>
                  <a:pt x="361" y="37"/>
                </a:cubicBezTo>
                <a:cubicBezTo>
                  <a:pt x="357" y="37"/>
                  <a:pt x="354" y="39"/>
                  <a:pt x="352" y="41"/>
                </a:cubicBezTo>
                <a:cubicBezTo>
                  <a:pt x="174" y="219"/>
                  <a:pt x="174" y="219"/>
                  <a:pt x="174" y="219"/>
                </a:cubicBezTo>
                <a:cubicBezTo>
                  <a:pt x="146" y="190"/>
                  <a:pt x="146" y="190"/>
                  <a:pt x="146" y="190"/>
                </a:cubicBezTo>
                <a:cubicBezTo>
                  <a:pt x="141" y="185"/>
                  <a:pt x="133" y="185"/>
                  <a:pt x="128" y="190"/>
                </a:cubicBezTo>
                <a:cubicBezTo>
                  <a:pt x="66" y="252"/>
                  <a:pt x="66" y="252"/>
                  <a:pt x="66" y="252"/>
                </a:cubicBezTo>
                <a:cubicBezTo>
                  <a:pt x="64" y="254"/>
                  <a:pt x="63" y="257"/>
                  <a:pt x="63" y="261"/>
                </a:cubicBezTo>
                <a:cubicBezTo>
                  <a:pt x="63" y="323"/>
                  <a:pt x="63" y="323"/>
                  <a:pt x="63" y="323"/>
                </a:cubicBezTo>
                <a:cubicBezTo>
                  <a:pt x="63" y="330"/>
                  <a:pt x="68" y="335"/>
                  <a:pt x="75" y="335"/>
                </a:cubicBezTo>
                <a:lnTo>
                  <a:pt x="361" y="3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4" name="Freeform 8"/>
          <p:cNvSpPr>
            <a:spLocks noEditPoints="1"/>
          </p:cNvSpPr>
          <p:nvPr userDrawn="1"/>
        </p:nvSpPr>
        <p:spPr bwMode="auto">
          <a:xfrm>
            <a:off x="2539401" y="5585240"/>
            <a:ext cx="269555" cy="210572"/>
          </a:xfrm>
          <a:custGeom>
            <a:avLst/>
            <a:gdLst>
              <a:gd name="T0" fmla="*/ 267 w 280"/>
              <a:gd name="T1" fmla="*/ 131 h 219"/>
              <a:gd name="T2" fmla="*/ 213 w 280"/>
              <a:gd name="T3" fmla="*/ 160 h 219"/>
              <a:gd name="T4" fmla="*/ 209 w 280"/>
              <a:gd name="T5" fmla="*/ 161 h 219"/>
              <a:gd name="T6" fmla="*/ 204 w 280"/>
              <a:gd name="T7" fmla="*/ 160 h 219"/>
              <a:gd name="T8" fmla="*/ 146 w 280"/>
              <a:gd name="T9" fmla="*/ 130 h 219"/>
              <a:gd name="T10" fmla="*/ 119 w 280"/>
              <a:gd name="T11" fmla="*/ 146 h 219"/>
              <a:gd name="T12" fmla="*/ 109 w 280"/>
              <a:gd name="T13" fmla="*/ 146 h 219"/>
              <a:gd name="T14" fmla="*/ 60 w 280"/>
              <a:gd name="T15" fmla="*/ 110 h 219"/>
              <a:gd name="T16" fmla="*/ 10 w 280"/>
              <a:gd name="T17" fmla="*/ 153 h 219"/>
              <a:gd name="T18" fmla="*/ 10 w 280"/>
              <a:gd name="T19" fmla="*/ 185 h 219"/>
              <a:gd name="T20" fmla="*/ 267 w 280"/>
              <a:gd name="T21" fmla="*/ 185 h 219"/>
              <a:gd name="T22" fmla="*/ 267 w 280"/>
              <a:gd name="T23" fmla="*/ 131 h 219"/>
              <a:gd name="T24" fmla="*/ 115 w 280"/>
              <a:gd name="T25" fmla="*/ 128 h 219"/>
              <a:gd name="T26" fmla="*/ 142 w 280"/>
              <a:gd name="T27" fmla="*/ 112 h 219"/>
              <a:gd name="T28" fmla="*/ 150 w 280"/>
              <a:gd name="T29" fmla="*/ 112 h 219"/>
              <a:gd name="T30" fmla="*/ 208 w 280"/>
              <a:gd name="T31" fmla="*/ 142 h 219"/>
              <a:gd name="T32" fmla="*/ 267 w 280"/>
              <a:gd name="T33" fmla="*/ 110 h 219"/>
              <a:gd name="T34" fmla="*/ 267 w 280"/>
              <a:gd name="T35" fmla="*/ 81 h 219"/>
              <a:gd name="T36" fmla="*/ 216 w 280"/>
              <a:gd name="T37" fmla="*/ 99 h 219"/>
              <a:gd name="T38" fmla="*/ 200 w 280"/>
              <a:gd name="T39" fmla="*/ 98 h 219"/>
              <a:gd name="T40" fmla="*/ 180 w 280"/>
              <a:gd name="T41" fmla="*/ 89 h 219"/>
              <a:gd name="T42" fmla="*/ 166 w 280"/>
              <a:gd name="T43" fmla="*/ 79 h 219"/>
              <a:gd name="T44" fmla="*/ 130 w 280"/>
              <a:gd name="T45" fmla="*/ 36 h 219"/>
              <a:gd name="T46" fmla="*/ 118 w 280"/>
              <a:gd name="T47" fmla="*/ 35 h 219"/>
              <a:gd name="T48" fmla="*/ 95 w 280"/>
              <a:gd name="T49" fmla="*/ 55 h 219"/>
              <a:gd name="T50" fmla="*/ 81 w 280"/>
              <a:gd name="T51" fmla="*/ 55 h 219"/>
              <a:gd name="T52" fmla="*/ 10 w 280"/>
              <a:gd name="T53" fmla="*/ 0 h 219"/>
              <a:gd name="T54" fmla="*/ 10 w 280"/>
              <a:gd name="T55" fmla="*/ 130 h 219"/>
              <a:gd name="T56" fmla="*/ 54 w 280"/>
              <a:gd name="T57" fmla="*/ 92 h 219"/>
              <a:gd name="T58" fmla="*/ 65 w 280"/>
              <a:gd name="T59" fmla="*/ 92 h 219"/>
              <a:gd name="T60" fmla="*/ 115 w 280"/>
              <a:gd name="T61" fmla="*/ 128 h 219"/>
              <a:gd name="T62" fmla="*/ 271 w 280"/>
              <a:gd name="T63" fmla="*/ 201 h 219"/>
              <a:gd name="T64" fmla="*/ 8 w 280"/>
              <a:gd name="T65" fmla="*/ 201 h 219"/>
              <a:gd name="T66" fmla="*/ 0 w 280"/>
              <a:gd name="T67" fmla="*/ 210 h 219"/>
              <a:gd name="T68" fmla="*/ 8 w 280"/>
              <a:gd name="T69" fmla="*/ 219 h 219"/>
              <a:gd name="T70" fmla="*/ 271 w 280"/>
              <a:gd name="T71" fmla="*/ 219 h 219"/>
              <a:gd name="T72" fmla="*/ 280 w 280"/>
              <a:gd name="T73" fmla="*/ 210 h 219"/>
              <a:gd name="T74" fmla="*/ 271 w 280"/>
              <a:gd name="T75" fmla="*/ 20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0" h="219">
                <a:moveTo>
                  <a:pt x="267" y="131"/>
                </a:moveTo>
                <a:cubicBezTo>
                  <a:pt x="213" y="160"/>
                  <a:pt x="213" y="160"/>
                  <a:pt x="213" y="160"/>
                </a:cubicBezTo>
                <a:cubicBezTo>
                  <a:pt x="211" y="161"/>
                  <a:pt x="210" y="161"/>
                  <a:pt x="209" y="161"/>
                </a:cubicBezTo>
                <a:cubicBezTo>
                  <a:pt x="207" y="161"/>
                  <a:pt x="206" y="161"/>
                  <a:pt x="204" y="160"/>
                </a:cubicBezTo>
                <a:cubicBezTo>
                  <a:pt x="146" y="130"/>
                  <a:pt x="146" y="130"/>
                  <a:pt x="146" y="130"/>
                </a:cubicBezTo>
                <a:cubicBezTo>
                  <a:pt x="119" y="146"/>
                  <a:pt x="119" y="146"/>
                  <a:pt x="119" y="146"/>
                </a:cubicBezTo>
                <a:cubicBezTo>
                  <a:pt x="116" y="148"/>
                  <a:pt x="112" y="148"/>
                  <a:pt x="109" y="146"/>
                </a:cubicBezTo>
                <a:cubicBezTo>
                  <a:pt x="60" y="110"/>
                  <a:pt x="60" y="110"/>
                  <a:pt x="60" y="110"/>
                </a:cubicBezTo>
                <a:cubicBezTo>
                  <a:pt x="10" y="153"/>
                  <a:pt x="10" y="153"/>
                  <a:pt x="10" y="153"/>
                </a:cubicBezTo>
                <a:cubicBezTo>
                  <a:pt x="10" y="185"/>
                  <a:pt x="10" y="185"/>
                  <a:pt x="10" y="185"/>
                </a:cubicBezTo>
                <a:cubicBezTo>
                  <a:pt x="267" y="185"/>
                  <a:pt x="267" y="185"/>
                  <a:pt x="267" y="185"/>
                </a:cubicBezTo>
                <a:lnTo>
                  <a:pt x="267" y="131"/>
                </a:lnTo>
                <a:close/>
                <a:moveTo>
                  <a:pt x="115" y="128"/>
                </a:moveTo>
                <a:cubicBezTo>
                  <a:pt x="142" y="112"/>
                  <a:pt x="142" y="112"/>
                  <a:pt x="142" y="112"/>
                </a:cubicBezTo>
                <a:cubicBezTo>
                  <a:pt x="144" y="110"/>
                  <a:pt x="148" y="110"/>
                  <a:pt x="150" y="112"/>
                </a:cubicBezTo>
                <a:cubicBezTo>
                  <a:pt x="208" y="142"/>
                  <a:pt x="208" y="142"/>
                  <a:pt x="208" y="142"/>
                </a:cubicBezTo>
                <a:cubicBezTo>
                  <a:pt x="267" y="110"/>
                  <a:pt x="267" y="110"/>
                  <a:pt x="267" y="110"/>
                </a:cubicBezTo>
                <a:cubicBezTo>
                  <a:pt x="267" y="81"/>
                  <a:pt x="267" y="81"/>
                  <a:pt x="267" y="81"/>
                </a:cubicBezTo>
                <a:cubicBezTo>
                  <a:pt x="216" y="99"/>
                  <a:pt x="216" y="99"/>
                  <a:pt x="216" y="99"/>
                </a:cubicBezTo>
                <a:cubicBezTo>
                  <a:pt x="212" y="101"/>
                  <a:pt x="204" y="100"/>
                  <a:pt x="200" y="98"/>
                </a:cubicBezTo>
                <a:cubicBezTo>
                  <a:pt x="180" y="89"/>
                  <a:pt x="180" y="89"/>
                  <a:pt x="180" y="89"/>
                </a:cubicBezTo>
                <a:cubicBezTo>
                  <a:pt x="176" y="87"/>
                  <a:pt x="169" y="82"/>
                  <a:pt x="166" y="79"/>
                </a:cubicBezTo>
                <a:cubicBezTo>
                  <a:pt x="130" y="36"/>
                  <a:pt x="130" y="36"/>
                  <a:pt x="130" y="36"/>
                </a:cubicBezTo>
                <a:cubicBezTo>
                  <a:pt x="127" y="32"/>
                  <a:pt x="121" y="32"/>
                  <a:pt x="118" y="35"/>
                </a:cubicBezTo>
                <a:cubicBezTo>
                  <a:pt x="95" y="55"/>
                  <a:pt x="95" y="55"/>
                  <a:pt x="95" y="55"/>
                </a:cubicBezTo>
                <a:cubicBezTo>
                  <a:pt x="91" y="58"/>
                  <a:pt x="85" y="58"/>
                  <a:pt x="81" y="55"/>
                </a:cubicBezTo>
                <a:cubicBezTo>
                  <a:pt x="10" y="0"/>
                  <a:pt x="10" y="0"/>
                  <a:pt x="10" y="0"/>
                </a:cubicBezTo>
                <a:cubicBezTo>
                  <a:pt x="10" y="130"/>
                  <a:pt x="10" y="130"/>
                  <a:pt x="10" y="130"/>
                </a:cubicBezTo>
                <a:cubicBezTo>
                  <a:pt x="54" y="92"/>
                  <a:pt x="54" y="92"/>
                  <a:pt x="54" y="92"/>
                </a:cubicBezTo>
                <a:cubicBezTo>
                  <a:pt x="57" y="90"/>
                  <a:pt x="61" y="89"/>
                  <a:pt x="65" y="92"/>
                </a:cubicBezTo>
                <a:lnTo>
                  <a:pt x="115" y="128"/>
                </a:lnTo>
                <a:close/>
                <a:moveTo>
                  <a:pt x="271" y="201"/>
                </a:moveTo>
                <a:cubicBezTo>
                  <a:pt x="8" y="201"/>
                  <a:pt x="8" y="201"/>
                  <a:pt x="8" y="201"/>
                </a:cubicBezTo>
                <a:cubicBezTo>
                  <a:pt x="3" y="201"/>
                  <a:pt x="0" y="205"/>
                  <a:pt x="0" y="210"/>
                </a:cubicBezTo>
                <a:cubicBezTo>
                  <a:pt x="0" y="215"/>
                  <a:pt x="3" y="219"/>
                  <a:pt x="8" y="219"/>
                </a:cubicBezTo>
                <a:cubicBezTo>
                  <a:pt x="271" y="219"/>
                  <a:pt x="271" y="219"/>
                  <a:pt x="271" y="219"/>
                </a:cubicBezTo>
                <a:cubicBezTo>
                  <a:pt x="276" y="219"/>
                  <a:pt x="280" y="215"/>
                  <a:pt x="280" y="210"/>
                </a:cubicBezTo>
                <a:cubicBezTo>
                  <a:pt x="280" y="205"/>
                  <a:pt x="276" y="201"/>
                  <a:pt x="271" y="20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8" name="Freeform 14"/>
          <p:cNvSpPr>
            <a:spLocks noEditPoints="1"/>
          </p:cNvSpPr>
          <p:nvPr userDrawn="1"/>
        </p:nvSpPr>
        <p:spPr bwMode="auto">
          <a:xfrm>
            <a:off x="2549960" y="5070932"/>
            <a:ext cx="256876" cy="199547"/>
          </a:xfrm>
          <a:custGeom>
            <a:avLst/>
            <a:gdLst>
              <a:gd name="T0" fmla="*/ 1 w 267"/>
              <a:gd name="T1" fmla="*/ 207 h 207"/>
              <a:gd name="T2" fmla="*/ 63 w 267"/>
              <a:gd name="T3" fmla="*/ 207 h 207"/>
              <a:gd name="T4" fmla="*/ 63 w 267"/>
              <a:gd name="T5" fmla="*/ 105 h 207"/>
              <a:gd name="T6" fmla="*/ 1 w 267"/>
              <a:gd name="T7" fmla="*/ 50 h 207"/>
              <a:gd name="T8" fmla="*/ 1 w 267"/>
              <a:gd name="T9" fmla="*/ 207 h 207"/>
              <a:gd name="T10" fmla="*/ 82 w 267"/>
              <a:gd name="T11" fmla="*/ 106 h 207"/>
              <a:gd name="T12" fmla="*/ 82 w 267"/>
              <a:gd name="T13" fmla="*/ 207 h 207"/>
              <a:gd name="T14" fmla="*/ 144 w 267"/>
              <a:gd name="T15" fmla="*/ 207 h 207"/>
              <a:gd name="T16" fmla="*/ 144 w 267"/>
              <a:gd name="T17" fmla="*/ 85 h 207"/>
              <a:gd name="T18" fmla="*/ 123 w 267"/>
              <a:gd name="T19" fmla="*/ 65 h 207"/>
              <a:gd name="T20" fmla="*/ 82 w 267"/>
              <a:gd name="T21" fmla="*/ 106 h 207"/>
              <a:gd name="T22" fmla="*/ 179 w 267"/>
              <a:gd name="T23" fmla="*/ 136 h 207"/>
              <a:gd name="T24" fmla="*/ 188 w 267"/>
              <a:gd name="T25" fmla="*/ 126 h 207"/>
              <a:gd name="T26" fmla="*/ 163 w 267"/>
              <a:gd name="T27" fmla="*/ 102 h 207"/>
              <a:gd name="T28" fmla="*/ 163 w 267"/>
              <a:gd name="T29" fmla="*/ 207 h 207"/>
              <a:gd name="T30" fmla="*/ 225 w 267"/>
              <a:gd name="T31" fmla="*/ 207 h 207"/>
              <a:gd name="T32" fmla="*/ 225 w 267"/>
              <a:gd name="T33" fmla="*/ 161 h 207"/>
              <a:gd name="T34" fmla="*/ 196 w 267"/>
              <a:gd name="T35" fmla="*/ 153 h 207"/>
              <a:gd name="T36" fmla="*/ 179 w 267"/>
              <a:gd name="T37" fmla="*/ 136 h 207"/>
              <a:gd name="T38" fmla="*/ 265 w 267"/>
              <a:gd name="T39" fmla="*/ 139 h 207"/>
              <a:gd name="T40" fmla="*/ 255 w 267"/>
              <a:gd name="T41" fmla="*/ 102 h 207"/>
              <a:gd name="T42" fmla="*/ 241 w 267"/>
              <a:gd name="T43" fmla="*/ 95 h 207"/>
              <a:gd name="T44" fmla="*/ 232 w 267"/>
              <a:gd name="T45" fmla="*/ 104 h 207"/>
              <a:gd name="T46" fmla="*/ 122 w 267"/>
              <a:gd name="T47" fmla="*/ 2 h 207"/>
              <a:gd name="T48" fmla="*/ 72 w 267"/>
              <a:gd name="T49" fmla="*/ 51 h 207"/>
              <a:gd name="T50" fmla="*/ 15 w 267"/>
              <a:gd name="T51" fmla="*/ 0 h 207"/>
              <a:gd name="T52" fmla="*/ 0 w 267"/>
              <a:gd name="T53" fmla="*/ 17 h 207"/>
              <a:gd name="T54" fmla="*/ 73 w 267"/>
              <a:gd name="T55" fmla="*/ 82 h 207"/>
              <a:gd name="T56" fmla="*/ 123 w 267"/>
              <a:gd name="T57" fmla="*/ 33 h 207"/>
              <a:gd name="T58" fmla="*/ 216 w 267"/>
              <a:gd name="T59" fmla="*/ 120 h 207"/>
              <a:gd name="T60" fmla="*/ 208 w 267"/>
              <a:gd name="T61" fmla="*/ 128 h 207"/>
              <a:gd name="T62" fmla="*/ 216 w 267"/>
              <a:gd name="T63" fmla="*/ 141 h 207"/>
              <a:gd name="T64" fmla="*/ 252 w 267"/>
              <a:gd name="T65" fmla="*/ 151 h 207"/>
              <a:gd name="T66" fmla="*/ 265 w 267"/>
              <a:gd name="T67" fmla="*/ 13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7" h="207">
                <a:moveTo>
                  <a:pt x="1" y="207"/>
                </a:moveTo>
                <a:cubicBezTo>
                  <a:pt x="63" y="207"/>
                  <a:pt x="63" y="207"/>
                  <a:pt x="63" y="207"/>
                </a:cubicBezTo>
                <a:cubicBezTo>
                  <a:pt x="63" y="105"/>
                  <a:pt x="63" y="105"/>
                  <a:pt x="63" y="105"/>
                </a:cubicBezTo>
                <a:cubicBezTo>
                  <a:pt x="1" y="50"/>
                  <a:pt x="1" y="50"/>
                  <a:pt x="1" y="50"/>
                </a:cubicBezTo>
                <a:lnTo>
                  <a:pt x="1" y="207"/>
                </a:lnTo>
                <a:close/>
                <a:moveTo>
                  <a:pt x="82" y="106"/>
                </a:moveTo>
                <a:cubicBezTo>
                  <a:pt x="82" y="207"/>
                  <a:pt x="82" y="207"/>
                  <a:pt x="82" y="207"/>
                </a:cubicBezTo>
                <a:cubicBezTo>
                  <a:pt x="144" y="207"/>
                  <a:pt x="144" y="207"/>
                  <a:pt x="144" y="207"/>
                </a:cubicBezTo>
                <a:cubicBezTo>
                  <a:pt x="144" y="85"/>
                  <a:pt x="144" y="85"/>
                  <a:pt x="144" y="85"/>
                </a:cubicBezTo>
                <a:cubicBezTo>
                  <a:pt x="123" y="65"/>
                  <a:pt x="123" y="65"/>
                  <a:pt x="123" y="65"/>
                </a:cubicBezTo>
                <a:lnTo>
                  <a:pt x="82" y="106"/>
                </a:lnTo>
                <a:close/>
                <a:moveTo>
                  <a:pt x="179" y="136"/>
                </a:moveTo>
                <a:cubicBezTo>
                  <a:pt x="188" y="126"/>
                  <a:pt x="188" y="126"/>
                  <a:pt x="188" y="126"/>
                </a:cubicBezTo>
                <a:cubicBezTo>
                  <a:pt x="163" y="102"/>
                  <a:pt x="163" y="102"/>
                  <a:pt x="163" y="102"/>
                </a:cubicBezTo>
                <a:cubicBezTo>
                  <a:pt x="163" y="207"/>
                  <a:pt x="163" y="207"/>
                  <a:pt x="163" y="207"/>
                </a:cubicBezTo>
                <a:cubicBezTo>
                  <a:pt x="225" y="207"/>
                  <a:pt x="225" y="207"/>
                  <a:pt x="225" y="207"/>
                </a:cubicBezTo>
                <a:cubicBezTo>
                  <a:pt x="225" y="161"/>
                  <a:pt x="225" y="161"/>
                  <a:pt x="225" y="161"/>
                </a:cubicBezTo>
                <a:cubicBezTo>
                  <a:pt x="196" y="153"/>
                  <a:pt x="196" y="153"/>
                  <a:pt x="196" y="153"/>
                </a:cubicBezTo>
                <a:cubicBezTo>
                  <a:pt x="182" y="149"/>
                  <a:pt x="174" y="141"/>
                  <a:pt x="179" y="136"/>
                </a:cubicBezTo>
                <a:close/>
                <a:moveTo>
                  <a:pt x="265" y="139"/>
                </a:moveTo>
                <a:cubicBezTo>
                  <a:pt x="255" y="102"/>
                  <a:pt x="255" y="102"/>
                  <a:pt x="255" y="102"/>
                </a:cubicBezTo>
                <a:cubicBezTo>
                  <a:pt x="253" y="93"/>
                  <a:pt x="247" y="89"/>
                  <a:pt x="241" y="95"/>
                </a:cubicBezTo>
                <a:cubicBezTo>
                  <a:pt x="232" y="104"/>
                  <a:pt x="232" y="104"/>
                  <a:pt x="232" y="104"/>
                </a:cubicBezTo>
                <a:cubicBezTo>
                  <a:pt x="122" y="2"/>
                  <a:pt x="122" y="2"/>
                  <a:pt x="122" y="2"/>
                </a:cubicBezTo>
                <a:cubicBezTo>
                  <a:pt x="72" y="51"/>
                  <a:pt x="72" y="51"/>
                  <a:pt x="72" y="51"/>
                </a:cubicBezTo>
                <a:cubicBezTo>
                  <a:pt x="15" y="0"/>
                  <a:pt x="15" y="0"/>
                  <a:pt x="15" y="0"/>
                </a:cubicBezTo>
                <a:cubicBezTo>
                  <a:pt x="0" y="17"/>
                  <a:pt x="0" y="17"/>
                  <a:pt x="0" y="17"/>
                </a:cubicBezTo>
                <a:cubicBezTo>
                  <a:pt x="73" y="82"/>
                  <a:pt x="73" y="82"/>
                  <a:pt x="73" y="82"/>
                </a:cubicBezTo>
                <a:cubicBezTo>
                  <a:pt x="123" y="33"/>
                  <a:pt x="123" y="33"/>
                  <a:pt x="123" y="33"/>
                </a:cubicBezTo>
                <a:cubicBezTo>
                  <a:pt x="216" y="120"/>
                  <a:pt x="216" y="120"/>
                  <a:pt x="216" y="120"/>
                </a:cubicBezTo>
                <a:cubicBezTo>
                  <a:pt x="216" y="120"/>
                  <a:pt x="212" y="123"/>
                  <a:pt x="208" y="128"/>
                </a:cubicBezTo>
                <a:cubicBezTo>
                  <a:pt x="203" y="133"/>
                  <a:pt x="207" y="139"/>
                  <a:pt x="216" y="141"/>
                </a:cubicBezTo>
                <a:cubicBezTo>
                  <a:pt x="252" y="151"/>
                  <a:pt x="252" y="151"/>
                  <a:pt x="252" y="151"/>
                </a:cubicBezTo>
                <a:cubicBezTo>
                  <a:pt x="262" y="154"/>
                  <a:pt x="267" y="148"/>
                  <a:pt x="265" y="1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5"/>
          <p:cNvSpPr>
            <a:spLocks noEditPoints="1"/>
          </p:cNvSpPr>
          <p:nvPr userDrawn="1"/>
        </p:nvSpPr>
        <p:spPr bwMode="auto">
          <a:xfrm>
            <a:off x="1938957" y="3251482"/>
            <a:ext cx="233517" cy="233116"/>
          </a:xfrm>
          <a:custGeom>
            <a:avLst/>
            <a:gdLst>
              <a:gd name="T0" fmla="*/ 359 w 410"/>
              <a:gd name="T1" fmla="*/ 197 h 409"/>
              <a:gd name="T2" fmla="*/ 359 w 410"/>
              <a:gd name="T3" fmla="*/ 38 h 409"/>
              <a:gd name="T4" fmla="*/ 321 w 410"/>
              <a:gd name="T5" fmla="*/ 0 h 409"/>
              <a:gd name="T6" fmla="*/ 90 w 410"/>
              <a:gd name="T7" fmla="*/ 0 h 409"/>
              <a:gd name="T8" fmla="*/ 52 w 410"/>
              <a:gd name="T9" fmla="*/ 38 h 409"/>
              <a:gd name="T10" fmla="*/ 52 w 410"/>
              <a:gd name="T11" fmla="*/ 197 h 409"/>
              <a:gd name="T12" fmla="*/ 193 w 410"/>
              <a:gd name="T13" fmla="*/ 278 h 409"/>
              <a:gd name="T14" fmla="*/ 205 w 410"/>
              <a:gd name="T15" fmla="*/ 281 h 409"/>
              <a:gd name="T16" fmla="*/ 218 w 410"/>
              <a:gd name="T17" fmla="*/ 278 h 409"/>
              <a:gd name="T18" fmla="*/ 359 w 410"/>
              <a:gd name="T19" fmla="*/ 197 h 409"/>
              <a:gd name="T20" fmla="*/ 410 w 410"/>
              <a:gd name="T21" fmla="*/ 198 h 409"/>
              <a:gd name="T22" fmla="*/ 410 w 410"/>
              <a:gd name="T23" fmla="*/ 384 h 409"/>
              <a:gd name="T24" fmla="*/ 385 w 410"/>
              <a:gd name="T25" fmla="*/ 409 h 409"/>
              <a:gd name="T26" fmla="*/ 26 w 410"/>
              <a:gd name="T27" fmla="*/ 409 h 409"/>
              <a:gd name="T28" fmla="*/ 0 w 410"/>
              <a:gd name="T29" fmla="*/ 384 h 409"/>
              <a:gd name="T30" fmla="*/ 0 w 410"/>
              <a:gd name="T31" fmla="*/ 198 h 409"/>
              <a:gd name="T32" fmla="*/ 2 w 410"/>
              <a:gd name="T33" fmla="*/ 199 h 409"/>
              <a:gd name="T34" fmla="*/ 180 w 410"/>
              <a:gd name="T35" fmla="*/ 300 h 409"/>
              <a:gd name="T36" fmla="*/ 205 w 410"/>
              <a:gd name="T37" fmla="*/ 307 h 409"/>
              <a:gd name="T38" fmla="*/ 231 w 410"/>
              <a:gd name="T39" fmla="*/ 300 h 409"/>
              <a:gd name="T40" fmla="*/ 409 w 410"/>
              <a:gd name="T41" fmla="*/ 199 h 409"/>
              <a:gd name="T42" fmla="*/ 410 w 410"/>
              <a:gd name="T43" fmla="*/ 198 h 409"/>
              <a:gd name="T44" fmla="*/ 162 w 410"/>
              <a:gd name="T45" fmla="*/ 141 h 409"/>
              <a:gd name="T46" fmla="*/ 183 w 410"/>
              <a:gd name="T47" fmla="*/ 136 h 409"/>
              <a:gd name="T48" fmla="*/ 205 w 410"/>
              <a:gd name="T49" fmla="*/ 134 h 409"/>
              <a:gd name="T50" fmla="*/ 228 w 410"/>
              <a:gd name="T51" fmla="*/ 136 h 409"/>
              <a:gd name="T52" fmla="*/ 249 w 410"/>
              <a:gd name="T53" fmla="*/ 141 h 409"/>
              <a:gd name="T54" fmla="*/ 261 w 410"/>
              <a:gd name="T55" fmla="*/ 146 h 409"/>
              <a:gd name="T56" fmla="*/ 271 w 410"/>
              <a:gd name="T57" fmla="*/ 153 h 409"/>
              <a:gd name="T58" fmla="*/ 276 w 410"/>
              <a:gd name="T59" fmla="*/ 163 h 409"/>
              <a:gd name="T60" fmla="*/ 276 w 410"/>
              <a:gd name="T61" fmla="*/ 179 h 409"/>
              <a:gd name="T62" fmla="*/ 263 w 410"/>
              <a:gd name="T63" fmla="*/ 192 h 409"/>
              <a:gd name="T64" fmla="*/ 148 w 410"/>
              <a:gd name="T65" fmla="*/ 192 h 409"/>
              <a:gd name="T66" fmla="*/ 135 w 410"/>
              <a:gd name="T67" fmla="*/ 179 h 409"/>
              <a:gd name="T68" fmla="*/ 135 w 410"/>
              <a:gd name="T69" fmla="*/ 163 h 409"/>
              <a:gd name="T70" fmla="*/ 140 w 410"/>
              <a:gd name="T71" fmla="*/ 152 h 409"/>
              <a:gd name="T72" fmla="*/ 150 w 410"/>
              <a:gd name="T73" fmla="*/ 146 h 409"/>
              <a:gd name="T74" fmla="*/ 162 w 410"/>
              <a:gd name="T75" fmla="*/ 141 h 409"/>
              <a:gd name="T76" fmla="*/ 205 w 410"/>
              <a:gd name="T77" fmla="*/ 38 h 409"/>
              <a:gd name="T78" fmla="*/ 237 w 410"/>
              <a:gd name="T79" fmla="*/ 75 h 409"/>
              <a:gd name="T80" fmla="*/ 205 w 410"/>
              <a:gd name="T81" fmla="*/ 121 h 409"/>
              <a:gd name="T82" fmla="*/ 173 w 410"/>
              <a:gd name="T83" fmla="*/ 75 h 409"/>
              <a:gd name="T84" fmla="*/ 205 w 410"/>
              <a:gd name="T85" fmla="*/ 38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0" h="409">
                <a:moveTo>
                  <a:pt x="359" y="197"/>
                </a:moveTo>
                <a:cubicBezTo>
                  <a:pt x="359" y="38"/>
                  <a:pt x="359" y="38"/>
                  <a:pt x="359" y="38"/>
                </a:cubicBezTo>
                <a:cubicBezTo>
                  <a:pt x="359" y="17"/>
                  <a:pt x="342" y="0"/>
                  <a:pt x="321" y="0"/>
                </a:cubicBezTo>
                <a:cubicBezTo>
                  <a:pt x="90" y="0"/>
                  <a:pt x="90" y="0"/>
                  <a:pt x="90" y="0"/>
                </a:cubicBezTo>
                <a:cubicBezTo>
                  <a:pt x="69" y="0"/>
                  <a:pt x="52" y="17"/>
                  <a:pt x="52" y="38"/>
                </a:cubicBezTo>
                <a:cubicBezTo>
                  <a:pt x="52" y="197"/>
                  <a:pt x="52" y="197"/>
                  <a:pt x="52" y="197"/>
                </a:cubicBezTo>
                <a:cubicBezTo>
                  <a:pt x="193" y="278"/>
                  <a:pt x="193" y="278"/>
                  <a:pt x="193" y="278"/>
                </a:cubicBezTo>
                <a:cubicBezTo>
                  <a:pt x="197" y="280"/>
                  <a:pt x="201" y="281"/>
                  <a:pt x="205" y="281"/>
                </a:cubicBezTo>
                <a:cubicBezTo>
                  <a:pt x="210" y="281"/>
                  <a:pt x="214" y="280"/>
                  <a:pt x="218" y="278"/>
                </a:cubicBezTo>
                <a:cubicBezTo>
                  <a:pt x="359" y="197"/>
                  <a:pt x="359" y="197"/>
                  <a:pt x="359" y="197"/>
                </a:cubicBezTo>
                <a:close/>
                <a:moveTo>
                  <a:pt x="410" y="198"/>
                </a:moveTo>
                <a:cubicBezTo>
                  <a:pt x="410" y="384"/>
                  <a:pt x="410" y="384"/>
                  <a:pt x="410" y="384"/>
                </a:cubicBezTo>
                <a:cubicBezTo>
                  <a:pt x="410" y="398"/>
                  <a:pt x="399" y="409"/>
                  <a:pt x="385" y="409"/>
                </a:cubicBezTo>
                <a:cubicBezTo>
                  <a:pt x="26" y="409"/>
                  <a:pt x="26" y="409"/>
                  <a:pt x="26" y="409"/>
                </a:cubicBezTo>
                <a:cubicBezTo>
                  <a:pt x="12" y="409"/>
                  <a:pt x="0" y="398"/>
                  <a:pt x="0" y="384"/>
                </a:cubicBezTo>
                <a:cubicBezTo>
                  <a:pt x="0" y="198"/>
                  <a:pt x="0" y="198"/>
                  <a:pt x="0" y="198"/>
                </a:cubicBezTo>
                <a:cubicBezTo>
                  <a:pt x="1" y="198"/>
                  <a:pt x="1" y="198"/>
                  <a:pt x="2" y="199"/>
                </a:cubicBezTo>
                <a:cubicBezTo>
                  <a:pt x="180" y="300"/>
                  <a:pt x="180" y="300"/>
                  <a:pt x="180" y="300"/>
                </a:cubicBezTo>
                <a:cubicBezTo>
                  <a:pt x="188" y="305"/>
                  <a:pt x="196" y="307"/>
                  <a:pt x="205" y="307"/>
                </a:cubicBezTo>
                <a:cubicBezTo>
                  <a:pt x="214" y="307"/>
                  <a:pt x="223" y="305"/>
                  <a:pt x="231" y="300"/>
                </a:cubicBezTo>
                <a:cubicBezTo>
                  <a:pt x="409" y="199"/>
                  <a:pt x="409" y="199"/>
                  <a:pt x="409" y="199"/>
                </a:cubicBezTo>
                <a:cubicBezTo>
                  <a:pt x="409" y="198"/>
                  <a:pt x="410" y="198"/>
                  <a:pt x="410" y="198"/>
                </a:cubicBezTo>
                <a:close/>
                <a:moveTo>
                  <a:pt x="162" y="141"/>
                </a:moveTo>
                <a:cubicBezTo>
                  <a:pt x="168" y="139"/>
                  <a:pt x="175" y="137"/>
                  <a:pt x="183" y="136"/>
                </a:cubicBezTo>
                <a:cubicBezTo>
                  <a:pt x="191" y="135"/>
                  <a:pt x="198" y="134"/>
                  <a:pt x="205" y="134"/>
                </a:cubicBezTo>
                <a:cubicBezTo>
                  <a:pt x="212" y="134"/>
                  <a:pt x="220" y="135"/>
                  <a:pt x="228" y="136"/>
                </a:cubicBezTo>
                <a:cubicBezTo>
                  <a:pt x="235" y="137"/>
                  <a:pt x="242" y="139"/>
                  <a:pt x="249" y="141"/>
                </a:cubicBezTo>
                <a:cubicBezTo>
                  <a:pt x="253" y="142"/>
                  <a:pt x="257" y="144"/>
                  <a:pt x="261" y="146"/>
                </a:cubicBezTo>
                <a:cubicBezTo>
                  <a:pt x="264" y="148"/>
                  <a:pt x="268" y="150"/>
                  <a:pt x="271" y="153"/>
                </a:cubicBezTo>
                <a:cubicBezTo>
                  <a:pt x="274" y="156"/>
                  <a:pt x="276" y="159"/>
                  <a:pt x="276" y="163"/>
                </a:cubicBezTo>
                <a:cubicBezTo>
                  <a:pt x="276" y="179"/>
                  <a:pt x="276" y="179"/>
                  <a:pt x="276" y="179"/>
                </a:cubicBezTo>
                <a:cubicBezTo>
                  <a:pt x="276" y="186"/>
                  <a:pt x="270" y="192"/>
                  <a:pt x="263" y="192"/>
                </a:cubicBezTo>
                <a:cubicBezTo>
                  <a:pt x="148" y="192"/>
                  <a:pt x="148" y="192"/>
                  <a:pt x="148" y="192"/>
                </a:cubicBezTo>
                <a:cubicBezTo>
                  <a:pt x="141" y="192"/>
                  <a:pt x="135" y="186"/>
                  <a:pt x="135" y="179"/>
                </a:cubicBezTo>
                <a:cubicBezTo>
                  <a:pt x="135" y="163"/>
                  <a:pt x="135" y="163"/>
                  <a:pt x="135" y="163"/>
                </a:cubicBezTo>
                <a:cubicBezTo>
                  <a:pt x="135" y="159"/>
                  <a:pt x="137" y="155"/>
                  <a:pt x="140" y="152"/>
                </a:cubicBezTo>
                <a:cubicBezTo>
                  <a:pt x="143" y="150"/>
                  <a:pt x="147" y="148"/>
                  <a:pt x="150" y="146"/>
                </a:cubicBezTo>
                <a:cubicBezTo>
                  <a:pt x="154" y="144"/>
                  <a:pt x="158" y="142"/>
                  <a:pt x="162" y="141"/>
                </a:cubicBezTo>
                <a:close/>
                <a:moveTo>
                  <a:pt x="205" y="38"/>
                </a:moveTo>
                <a:cubicBezTo>
                  <a:pt x="223" y="38"/>
                  <a:pt x="237" y="50"/>
                  <a:pt x="237" y="75"/>
                </a:cubicBezTo>
                <a:cubicBezTo>
                  <a:pt x="237" y="100"/>
                  <a:pt x="223" y="121"/>
                  <a:pt x="205" y="121"/>
                </a:cubicBezTo>
                <a:cubicBezTo>
                  <a:pt x="188" y="121"/>
                  <a:pt x="173" y="100"/>
                  <a:pt x="173" y="75"/>
                </a:cubicBezTo>
                <a:cubicBezTo>
                  <a:pt x="173" y="50"/>
                  <a:pt x="188" y="38"/>
                  <a:pt x="205" y="3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27"/>
          <p:cNvSpPr>
            <a:spLocks noEditPoints="1"/>
          </p:cNvSpPr>
          <p:nvPr userDrawn="1"/>
        </p:nvSpPr>
        <p:spPr bwMode="auto">
          <a:xfrm>
            <a:off x="1904021" y="3759710"/>
            <a:ext cx="275465" cy="257959"/>
          </a:xfrm>
          <a:custGeom>
            <a:avLst/>
            <a:gdLst>
              <a:gd name="T0" fmla="*/ 53 w 424"/>
              <a:gd name="T1" fmla="*/ 40 h 397"/>
              <a:gd name="T2" fmla="*/ 80 w 424"/>
              <a:gd name="T3" fmla="*/ 20 h 397"/>
              <a:gd name="T4" fmla="*/ 119 w 424"/>
              <a:gd name="T5" fmla="*/ 20 h 397"/>
              <a:gd name="T6" fmla="*/ 146 w 424"/>
              <a:gd name="T7" fmla="*/ 40 h 397"/>
              <a:gd name="T8" fmla="*/ 278 w 424"/>
              <a:gd name="T9" fmla="*/ 40 h 397"/>
              <a:gd name="T10" fmla="*/ 305 w 424"/>
              <a:gd name="T11" fmla="*/ 20 h 397"/>
              <a:gd name="T12" fmla="*/ 345 w 424"/>
              <a:gd name="T13" fmla="*/ 20 h 397"/>
              <a:gd name="T14" fmla="*/ 371 w 424"/>
              <a:gd name="T15" fmla="*/ 40 h 397"/>
              <a:gd name="T16" fmla="*/ 424 w 424"/>
              <a:gd name="T17" fmla="*/ 79 h 397"/>
              <a:gd name="T18" fmla="*/ 384 w 424"/>
              <a:gd name="T19" fmla="*/ 397 h 397"/>
              <a:gd name="T20" fmla="*/ 40 w 424"/>
              <a:gd name="T21" fmla="*/ 397 h 397"/>
              <a:gd name="T22" fmla="*/ 0 w 424"/>
              <a:gd name="T23" fmla="*/ 79 h 397"/>
              <a:gd name="T24" fmla="*/ 305 w 424"/>
              <a:gd name="T25" fmla="*/ 291 h 397"/>
              <a:gd name="T26" fmla="*/ 358 w 424"/>
              <a:gd name="T27" fmla="*/ 331 h 397"/>
              <a:gd name="T28" fmla="*/ 305 w 424"/>
              <a:gd name="T29" fmla="*/ 291 h 397"/>
              <a:gd name="T30" fmla="*/ 225 w 424"/>
              <a:gd name="T31" fmla="*/ 331 h 397"/>
              <a:gd name="T32" fmla="*/ 278 w 424"/>
              <a:gd name="T33" fmla="*/ 291 h 397"/>
              <a:gd name="T34" fmla="*/ 146 w 424"/>
              <a:gd name="T35" fmla="*/ 291 h 397"/>
              <a:gd name="T36" fmla="*/ 199 w 424"/>
              <a:gd name="T37" fmla="*/ 331 h 397"/>
              <a:gd name="T38" fmla="*/ 146 w 424"/>
              <a:gd name="T39" fmla="*/ 291 h 397"/>
              <a:gd name="T40" fmla="*/ 66 w 424"/>
              <a:gd name="T41" fmla="*/ 331 h 397"/>
              <a:gd name="T42" fmla="*/ 119 w 424"/>
              <a:gd name="T43" fmla="*/ 291 h 397"/>
              <a:gd name="T44" fmla="*/ 305 w 424"/>
              <a:gd name="T45" fmla="*/ 225 h 397"/>
              <a:gd name="T46" fmla="*/ 358 w 424"/>
              <a:gd name="T47" fmla="*/ 265 h 397"/>
              <a:gd name="T48" fmla="*/ 305 w 424"/>
              <a:gd name="T49" fmla="*/ 225 h 397"/>
              <a:gd name="T50" fmla="*/ 225 w 424"/>
              <a:gd name="T51" fmla="*/ 265 h 397"/>
              <a:gd name="T52" fmla="*/ 278 w 424"/>
              <a:gd name="T53" fmla="*/ 225 h 397"/>
              <a:gd name="T54" fmla="*/ 146 w 424"/>
              <a:gd name="T55" fmla="*/ 225 h 397"/>
              <a:gd name="T56" fmla="*/ 199 w 424"/>
              <a:gd name="T57" fmla="*/ 265 h 397"/>
              <a:gd name="T58" fmla="*/ 146 w 424"/>
              <a:gd name="T59" fmla="*/ 225 h 397"/>
              <a:gd name="T60" fmla="*/ 66 w 424"/>
              <a:gd name="T61" fmla="*/ 265 h 397"/>
              <a:gd name="T62" fmla="*/ 119 w 424"/>
              <a:gd name="T63" fmla="*/ 225 h 397"/>
              <a:gd name="T64" fmla="*/ 305 w 424"/>
              <a:gd name="T65" fmla="*/ 159 h 397"/>
              <a:gd name="T66" fmla="*/ 358 w 424"/>
              <a:gd name="T67" fmla="*/ 198 h 397"/>
              <a:gd name="T68" fmla="*/ 305 w 424"/>
              <a:gd name="T69" fmla="*/ 159 h 397"/>
              <a:gd name="T70" fmla="*/ 225 w 424"/>
              <a:gd name="T71" fmla="*/ 198 h 397"/>
              <a:gd name="T72" fmla="*/ 278 w 424"/>
              <a:gd name="T73" fmla="*/ 159 h 397"/>
              <a:gd name="T74" fmla="*/ 146 w 424"/>
              <a:gd name="T75" fmla="*/ 159 h 397"/>
              <a:gd name="T76" fmla="*/ 199 w 424"/>
              <a:gd name="T77" fmla="*/ 198 h 397"/>
              <a:gd name="T78" fmla="*/ 146 w 424"/>
              <a:gd name="T79" fmla="*/ 159 h 397"/>
              <a:gd name="T80" fmla="*/ 66 w 424"/>
              <a:gd name="T81" fmla="*/ 198 h 397"/>
              <a:gd name="T82" fmla="*/ 119 w 424"/>
              <a:gd name="T83" fmla="*/ 159 h 397"/>
              <a:gd name="T84" fmla="*/ 212 w 424"/>
              <a:gd name="T85" fmla="*/ 132 h 397"/>
              <a:gd name="T86" fmla="*/ 40 w 424"/>
              <a:gd name="T87" fmla="*/ 357 h 397"/>
              <a:gd name="T88" fmla="*/ 384 w 424"/>
              <a:gd name="T89" fmla="*/ 357 h 397"/>
              <a:gd name="T90" fmla="*/ 212 w 424"/>
              <a:gd name="T91" fmla="*/ 132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4" h="397">
                <a:moveTo>
                  <a:pt x="40" y="40"/>
                </a:moveTo>
                <a:cubicBezTo>
                  <a:pt x="53" y="40"/>
                  <a:pt x="53" y="40"/>
                  <a:pt x="53" y="40"/>
                </a:cubicBezTo>
                <a:cubicBezTo>
                  <a:pt x="80" y="40"/>
                  <a:pt x="80" y="40"/>
                  <a:pt x="80" y="40"/>
                </a:cubicBezTo>
                <a:cubicBezTo>
                  <a:pt x="80" y="20"/>
                  <a:pt x="80" y="20"/>
                  <a:pt x="80" y="20"/>
                </a:cubicBezTo>
                <a:cubicBezTo>
                  <a:pt x="80" y="9"/>
                  <a:pt x="89" y="0"/>
                  <a:pt x="100" y="0"/>
                </a:cubicBezTo>
                <a:cubicBezTo>
                  <a:pt x="110" y="0"/>
                  <a:pt x="119" y="9"/>
                  <a:pt x="119" y="20"/>
                </a:cubicBezTo>
                <a:cubicBezTo>
                  <a:pt x="119" y="40"/>
                  <a:pt x="119" y="40"/>
                  <a:pt x="119" y="40"/>
                </a:cubicBezTo>
                <a:cubicBezTo>
                  <a:pt x="146" y="40"/>
                  <a:pt x="146" y="40"/>
                  <a:pt x="146" y="40"/>
                </a:cubicBezTo>
                <a:cubicBezTo>
                  <a:pt x="212" y="40"/>
                  <a:pt x="212" y="40"/>
                  <a:pt x="212" y="40"/>
                </a:cubicBezTo>
                <a:cubicBezTo>
                  <a:pt x="278" y="40"/>
                  <a:pt x="278" y="40"/>
                  <a:pt x="278" y="40"/>
                </a:cubicBezTo>
                <a:cubicBezTo>
                  <a:pt x="305" y="40"/>
                  <a:pt x="305" y="40"/>
                  <a:pt x="305" y="40"/>
                </a:cubicBezTo>
                <a:cubicBezTo>
                  <a:pt x="305" y="20"/>
                  <a:pt x="305" y="20"/>
                  <a:pt x="305" y="20"/>
                </a:cubicBezTo>
                <a:cubicBezTo>
                  <a:pt x="305" y="9"/>
                  <a:pt x="314" y="0"/>
                  <a:pt x="325" y="0"/>
                </a:cubicBezTo>
                <a:cubicBezTo>
                  <a:pt x="336" y="0"/>
                  <a:pt x="345" y="9"/>
                  <a:pt x="345" y="20"/>
                </a:cubicBezTo>
                <a:cubicBezTo>
                  <a:pt x="345" y="40"/>
                  <a:pt x="345" y="40"/>
                  <a:pt x="345" y="40"/>
                </a:cubicBezTo>
                <a:cubicBezTo>
                  <a:pt x="371" y="40"/>
                  <a:pt x="371" y="40"/>
                  <a:pt x="371" y="40"/>
                </a:cubicBezTo>
                <a:cubicBezTo>
                  <a:pt x="384" y="40"/>
                  <a:pt x="384" y="40"/>
                  <a:pt x="384" y="40"/>
                </a:cubicBezTo>
                <a:cubicBezTo>
                  <a:pt x="406" y="40"/>
                  <a:pt x="424" y="57"/>
                  <a:pt x="424" y="79"/>
                </a:cubicBezTo>
                <a:cubicBezTo>
                  <a:pt x="424" y="357"/>
                  <a:pt x="424" y="357"/>
                  <a:pt x="424" y="357"/>
                </a:cubicBezTo>
                <a:cubicBezTo>
                  <a:pt x="424" y="379"/>
                  <a:pt x="406" y="397"/>
                  <a:pt x="384" y="397"/>
                </a:cubicBezTo>
                <a:cubicBezTo>
                  <a:pt x="212" y="397"/>
                  <a:pt x="212" y="397"/>
                  <a:pt x="212" y="397"/>
                </a:cubicBezTo>
                <a:cubicBezTo>
                  <a:pt x="40" y="397"/>
                  <a:pt x="40" y="397"/>
                  <a:pt x="40" y="397"/>
                </a:cubicBezTo>
                <a:cubicBezTo>
                  <a:pt x="18" y="397"/>
                  <a:pt x="0" y="379"/>
                  <a:pt x="0" y="357"/>
                </a:cubicBezTo>
                <a:cubicBezTo>
                  <a:pt x="0" y="79"/>
                  <a:pt x="0" y="79"/>
                  <a:pt x="0" y="79"/>
                </a:cubicBezTo>
                <a:cubicBezTo>
                  <a:pt x="0" y="57"/>
                  <a:pt x="18" y="40"/>
                  <a:pt x="40" y="40"/>
                </a:cubicBezTo>
                <a:close/>
                <a:moveTo>
                  <a:pt x="305" y="291"/>
                </a:moveTo>
                <a:cubicBezTo>
                  <a:pt x="305" y="331"/>
                  <a:pt x="305" y="331"/>
                  <a:pt x="305" y="331"/>
                </a:cubicBezTo>
                <a:cubicBezTo>
                  <a:pt x="358" y="331"/>
                  <a:pt x="358" y="331"/>
                  <a:pt x="358" y="331"/>
                </a:cubicBezTo>
                <a:cubicBezTo>
                  <a:pt x="358" y="291"/>
                  <a:pt x="358" y="291"/>
                  <a:pt x="358" y="291"/>
                </a:cubicBezTo>
                <a:cubicBezTo>
                  <a:pt x="305" y="291"/>
                  <a:pt x="305" y="291"/>
                  <a:pt x="305" y="291"/>
                </a:cubicBezTo>
                <a:close/>
                <a:moveTo>
                  <a:pt x="225" y="291"/>
                </a:moveTo>
                <a:cubicBezTo>
                  <a:pt x="225" y="331"/>
                  <a:pt x="225" y="331"/>
                  <a:pt x="225" y="331"/>
                </a:cubicBezTo>
                <a:cubicBezTo>
                  <a:pt x="278" y="331"/>
                  <a:pt x="278" y="331"/>
                  <a:pt x="278" y="331"/>
                </a:cubicBezTo>
                <a:cubicBezTo>
                  <a:pt x="278" y="291"/>
                  <a:pt x="278" y="291"/>
                  <a:pt x="278" y="291"/>
                </a:cubicBezTo>
                <a:cubicBezTo>
                  <a:pt x="225" y="291"/>
                  <a:pt x="225" y="291"/>
                  <a:pt x="225" y="291"/>
                </a:cubicBezTo>
                <a:close/>
                <a:moveTo>
                  <a:pt x="146" y="291"/>
                </a:moveTo>
                <a:cubicBezTo>
                  <a:pt x="146" y="331"/>
                  <a:pt x="146" y="331"/>
                  <a:pt x="146" y="331"/>
                </a:cubicBezTo>
                <a:cubicBezTo>
                  <a:pt x="199" y="331"/>
                  <a:pt x="199" y="331"/>
                  <a:pt x="199" y="331"/>
                </a:cubicBezTo>
                <a:cubicBezTo>
                  <a:pt x="199" y="291"/>
                  <a:pt x="199" y="291"/>
                  <a:pt x="199" y="291"/>
                </a:cubicBezTo>
                <a:cubicBezTo>
                  <a:pt x="146" y="291"/>
                  <a:pt x="146" y="291"/>
                  <a:pt x="146" y="291"/>
                </a:cubicBezTo>
                <a:close/>
                <a:moveTo>
                  <a:pt x="66" y="291"/>
                </a:moveTo>
                <a:cubicBezTo>
                  <a:pt x="66" y="331"/>
                  <a:pt x="66" y="331"/>
                  <a:pt x="66" y="331"/>
                </a:cubicBezTo>
                <a:cubicBezTo>
                  <a:pt x="119" y="331"/>
                  <a:pt x="119" y="331"/>
                  <a:pt x="119" y="331"/>
                </a:cubicBezTo>
                <a:cubicBezTo>
                  <a:pt x="119" y="291"/>
                  <a:pt x="119" y="291"/>
                  <a:pt x="119" y="291"/>
                </a:cubicBezTo>
                <a:cubicBezTo>
                  <a:pt x="66" y="291"/>
                  <a:pt x="66" y="291"/>
                  <a:pt x="66" y="291"/>
                </a:cubicBezTo>
                <a:close/>
                <a:moveTo>
                  <a:pt x="305" y="225"/>
                </a:moveTo>
                <a:cubicBezTo>
                  <a:pt x="305" y="265"/>
                  <a:pt x="305" y="265"/>
                  <a:pt x="305" y="265"/>
                </a:cubicBezTo>
                <a:cubicBezTo>
                  <a:pt x="358" y="265"/>
                  <a:pt x="358" y="265"/>
                  <a:pt x="358" y="265"/>
                </a:cubicBezTo>
                <a:cubicBezTo>
                  <a:pt x="358" y="225"/>
                  <a:pt x="358" y="225"/>
                  <a:pt x="358" y="225"/>
                </a:cubicBezTo>
                <a:cubicBezTo>
                  <a:pt x="305" y="225"/>
                  <a:pt x="305" y="225"/>
                  <a:pt x="305" y="225"/>
                </a:cubicBezTo>
                <a:close/>
                <a:moveTo>
                  <a:pt x="225" y="225"/>
                </a:moveTo>
                <a:cubicBezTo>
                  <a:pt x="225" y="265"/>
                  <a:pt x="225" y="265"/>
                  <a:pt x="225" y="265"/>
                </a:cubicBezTo>
                <a:cubicBezTo>
                  <a:pt x="278" y="265"/>
                  <a:pt x="278" y="265"/>
                  <a:pt x="278" y="265"/>
                </a:cubicBezTo>
                <a:cubicBezTo>
                  <a:pt x="278" y="225"/>
                  <a:pt x="278" y="225"/>
                  <a:pt x="278" y="225"/>
                </a:cubicBezTo>
                <a:cubicBezTo>
                  <a:pt x="225" y="225"/>
                  <a:pt x="225" y="225"/>
                  <a:pt x="225" y="225"/>
                </a:cubicBezTo>
                <a:close/>
                <a:moveTo>
                  <a:pt x="146" y="225"/>
                </a:moveTo>
                <a:cubicBezTo>
                  <a:pt x="146" y="265"/>
                  <a:pt x="146" y="265"/>
                  <a:pt x="146" y="265"/>
                </a:cubicBezTo>
                <a:cubicBezTo>
                  <a:pt x="199" y="265"/>
                  <a:pt x="199" y="265"/>
                  <a:pt x="199" y="265"/>
                </a:cubicBezTo>
                <a:cubicBezTo>
                  <a:pt x="199" y="225"/>
                  <a:pt x="199" y="225"/>
                  <a:pt x="199" y="225"/>
                </a:cubicBezTo>
                <a:cubicBezTo>
                  <a:pt x="146" y="225"/>
                  <a:pt x="146" y="225"/>
                  <a:pt x="146" y="225"/>
                </a:cubicBezTo>
                <a:close/>
                <a:moveTo>
                  <a:pt x="66" y="225"/>
                </a:moveTo>
                <a:cubicBezTo>
                  <a:pt x="66" y="265"/>
                  <a:pt x="66" y="265"/>
                  <a:pt x="66" y="265"/>
                </a:cubicBezTo>
                <a:cubicBezTo>
                  <a:pt x="119" y="265"/>
                  <a:pt x="119" y="265"/>
                  <a:pt x="119" y="265"/>
                </a:cubicBezTo>
                <a:cubicBezTo>
                  <a:pt x="119" y="225"/>
                  <a:pt x="119" y="225"/>
                  <a:pt x="119" y="225"/>
                </a:cubicBezTo>
                <a:cubicBezTo>
                  <a:pt x="66" y="225"/>
                  <a:pt x="66" y="225"/>
                  <a:pt x="66" y="225"/>
                </a:cubicBezTo>
                <a:close/>
                <a:moveTo>
                  <a:pt x="305" y="159"/>
                </a:moveTo>
                <a:cubicBezTo>
                  <a:pt x="305" y="198"/>
                  <a:pt x="305" y="198"/>
                  <a:pt x="305" y="198"/>
                </a:cubicBezTo>
                <a:cubicBezTo>
                  <a:pt x="358" y="198"/>
                  <a:pt x="358" y="198"/>
                  <a:pt x="358" y="198"/>
                </a:cubicBezTo>
                <a:cubicBezTo>
                  <a:pt x="358" y="159"/>
                  <a:pt x="358" y="159"/>
                  <a:pt x="358" y="159"/>
                </a:cubicBezTo>
                <a:cubicBezTo>
                  <a:pt x="305" y="159"/>
                  <a:pt x="305" y="159"/>
                  <a:pt x="305" y="159"/>
                </a:cubicBezTo>
                <a:close/>
                <a:moveTo>
                  <a:pt x="225" y="159"/>
                </a:moveTo>
                <a:cubicBezTo>
                  <a:pt x="225" y="198"/>
                  <a:pt x="225" y="198"/>
                  <a:pt x="225" y="198"/>
                </a:cubicBezTo>
                <a:cubicBezTo>
                  <a:pt x="278" y="198"/>
                  <a:pt x="278" y="198"/>
                  <a:pt x="278" y="198"/>
                </a:cubicBezTo>
                <a:cubicBezTo>
                  <a:pt x="278" y="159"/>
                  <a:pt x="278" y="159"/>
                  <a:pt x="278" y="159"/>
                </a:cubicBezTo>
                <a:cubicBezTo>
                  <a:pt x="225" y="159"/>
                  <a:pt x="225" y="159"/>
                  <a:pt x="225" y="159"/>
                </a:cubicBezTo>
                <a:close/>
                <a:moveTo>
                  <a:pt x="146" y="159"/>
                </a:moveTo>
                <a:cubicBezTo>
                  <a:pt x="146" y="198"/>
                  <a:pt x="146" y="198"/>
                  <a:pt x="146" y="198"/>
                </a:cubicBezTo>
                <a:cubicBezTo>
                  <a:pt x="199" y="198"/>
                  <a:pt x="199" y="198"/>
                  <a:pt x="199" y="198"/>
                </a:cubicBezTo>
                <a:cubicBezTo>
                  <a:pt x="199" y="159"/>
                  <a:pt x="199" y="159"/>
                  <a:pt x="199" y="159"/>
                </a:cubicBezTo>
                <a:cubicBezTo>
                  <a:pt x="146" y="159"/>
                  <a:pt x="146" y="159"/>
                  <a:pt x="146" y="159"/>
                </a:cubicBezTo>
                <a:close/>
                <a:moveTo>
                  <a:pt x="66" y="159"/>
                </a:moveTo>
                <a:cubicBezTo>
                  <a:pt x="66" y="198"/>
                  <a:pt x="66" y="198"/>
                  <a:pt x="66" y="198"/>
                </a:cubicBezTo>
                <a:cubicBezTo>
                  <a:pt x="119" y="198"/>
                  <a:pt x="119" y="198"/>
                  <a:pt x="119" y="198"/>
                </a:cubicBezTo>
                <a:cubicBezTo>
                  <a:pt x="119" y="159"/>
                  <a:pt x="119" y="159"/>
                  <a:pt x="119" y="159"/>
                </a:cubicBezTo>
                <a:cubicBezTo>
                  <a:pt x="66" y="159"/>
                  <a:pt x="66" y="159"/>
                  <a:pt x="66" y="159"/>
                </a:cubicBezTo>
                <a:close/>
                <a:moveTo>
                  <a:pt x="212" y="132"/>
                </a:moveTo>
                <a:cubicBezTo>
                  <a:pt x="40" y="132"/>
                  <a:pt x="40" y="132"/>
                  <a:pt x="40" y="132"/>
                </a:cubicBezTo>
                <a:cubicBezTo>
                  <a:pt x="40" y="357"/>
                  <a:pt x="40" y="357"/>
                  <a:pt x="40" y="357"/>
                </a:cubicBezTo>
                <a:cubicBezTo>
                  <a:pt x="212" y="357"/>
                  <a:pt x="212" y="357"/>
                  <a:pt x="212" y="357"/>
                </a:cubicBezTo>
                <a:cubicBezTo>
                  <a:pt x="384" y="357"/>
                  <a:pt x="384" y="357"/>
                  <a:pt x="384" y="357"/>
                </a:cubicBezTo>
                <a:cubicBezTo>
                  <a:pt x="384" y="132"/>
                  <a:pt x="384" y="132"/>
                  <a:pt x="384" y="132"/>
                </a:cubicBezTo>
                <a:lnTo>
                  <a:pt x="212" y="13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20"/>
          <p:cNvSpPr>
            <a:spLocks noEditPoints="1"/>
          </p:cNvSpPr>
          <p:nvPr userDrawn="1"/>
        </p:nvSpPr>
        <p:spPr bwMode="auto">
          <a:xfrm>
            <a:off x="1889535" y="2109035"/>
            <a:ext cx="292859" cy="225056"/>
          </a:xfrm>
          <a:custGeom>
            <a:avLst/>
            <a:gdLst>
              <a:gd name="T0" fmla="*/ 218 w 436"/>
              <a:gd name="T1" fmla="*/ 251 h 335"/>
              <a:gd name="T2" fmla="*/ 176 w 436"/>
              <a:gd name="T3" fmla="*/ 293 h 335"/>
              <a:gd name="T4" fmla="*/ 218 w 436"/>
              <a:gd name="T5" fmla="*/ 335 h 335"/>
              <a:gd name="T6" fmla="*/ 260 w 436"/>
              <a:gd name="T7" fmla="*/ 293 h 335"/>
              <a:gd name="T8" fmla="*/ 218 w 436"/>
              <a:gd name="T9" fmla="*/ 251 h 335"/>
              <a:gd name="T10" fmla="*/ 307 w 436"/>
              <a:gd name="T11" fmla="*/ 204 h 335"/>
              <a:gd name="T12" fmla="*/ 307 w 436"/>
              <a:gd name="T13" fmla="*/ 244 h 335"/>
              <a:gd name="T14" fmla="*/ 267 w 436"/>
              <a:gd name="T15" fmla="*/ 244 h 335"/>
              <a:gd name="T16" fmla="*/ 245 w 436"/>
              <a:gd name="T17" fmla="*/ 229 h 335"/>
              <a:gd name="T18" fmla="*/ 218 w 436"/>
              <a:gd name="T19" fmla="*/ 223 h 335"/>
              <a:gd name="T20" fmla="*/ 191 w 436"/>
              <a:gd name="T21" fmla="*/ 229 h 335"/>
              <a:gd name="T22" fmla="*/ 169 w 436"/>
              <a:gd name="T23" fmla="*/ 244 h 335"/>
              <a:gd name="T24" fmla="*/ 129 w 436"/>
              <a:gd name="T25" fmla="*/ 244 h 335"/>
              <a:gd name="T26" fmla="*/ 129 w 436"/>
              <a:gd name="T27" fmla="*/ 204 h 335"/>
              <a:gd name="T28" fmla="*/ 170 w 436"/>
              <a:gd name="T29" fmla="*/ 177 h 335"/>
              <a:gd name="T30" fmla="*/ 218 w 436"/>
              <a:gd name="T31" fmla="*/ 167 h 335"/>
              <a:gd name="T32" fmla="*/ 266 w 436"/>
              <a:gd name="T33" fmla="*/ 177 h 335"/>
              <a:gd name="T34" fmla="*/ 307 w 436"/>
              <a:gd name="T35" fmla="*/ 204 h 335"/>
              <a:gd name="T36" fmla="*/ 366 w 436"/>
              <a:gd name="T37" fmla="*/ 145 h 335"/>
              <a:gd name="T38" fmla="*/ 298 w 436"/>
              <a:gd name="T39" fmla="*/ 100 h 335"/>
              <a:gd name="T40" fmla="*/ 218 w 436"/>
              <a:gd name="T41" fmla="*/ 84 h 335"/>
              <a:gd name="T42" fmla="*/ 138 w 436"/>
              <a:gd name="T43" fmla="*/ 100 h 335"/>
              <a:gd name="T44" fmla="*/ 70 w 436"/>
              <a:gd name="T45" fmla="*/ 145 h 335"/>
              <a:gd name="T46" fmla="*/ 70 w 436"/>
              <a:gd name="T47" fmla="*/ 185 h 335"/>
              <a:gd name="T48" fmla="*/ 109 w 436"/>
              <a:gd name="T49" fmla="*/ 185 h 335"/>
              <a:gd name="T50" fmla="*/ 159 w 436"/>
              <a:gd name="T51" fmla="*/ 151 h 335"/>
              <a:gd name="T52" fmla="*/ 218 w 436"/>
              <a:gd name="T53" fmla="*/ 140 h 335"/>
              <a:gd name="T54" fmla="*/ 277 w 436"/>
              <a:gd name="T55" fmla="*/ 151 h 335"/>
              <a:gd name="T56" fmla="*/ 327 w 436"/>
              <a:gd name="T57" fmla="*/ 185 h 335"/>
              <a:gd name="T58" fmla="*/ 366 w 436"/>
              <a:gd name="T59" fmla="*/ 185 h 335"/>
              <a:gd name="T60" fmla="*/ 366 w 436"/>
              <a:gd name="T61" fmla="*/ 145 h 335"/>
              <a:gd name="T62" fmla="*/ 425 w 436"/>
              <a:gd name="T63" fmla="*/ 86 h 335"/>
              <a:gd name="T64" fmla="*/ 425 w 436"/>
              <a:gd name="T65" fmla="*/ 125 h 335"/>
              <a:gd name="T66" fmla="*/ 386 w 436"/>
              <a:gd name="T67" fmla="*/ 125 h 335"/>
              <a:gd name="T68" fmla="*/ 309 w 436"/>
              <a:gd name="T69" fmla="*/ 74 h 335"/>
              <a:gd name="T70" fmla="*/ 218 w 436"/>
              <a:gd name="T71" fmla="*/ 56 h 335"/>
              <a:gd name="T72" fmla="*/ 127 w 436"/>
              <a:gd name="T73" fmla="*/ 74 h 335"/>
              <a:gd name="T74" fmla="*/ 50 w 436"/>
              <a:gd name="T75" fmla="*/ 125 h 335"/>
              <a:gd name="T76" fmla="*/ 11 w 436"/>
              <a:gd name="T77" fmla="*/ 125 h 335"/>
              <a:gd name="T78" fmla="*/ 11 w 436"/>
              <a:gd name="T79" fmla="*/ 86 h 335"/>
              <a:gd name="T80" fmla="*/ 106 w 436"/>
              <a:gd name="T81" fmla="*/ 22 h 335"/>
              <a:gd name="T82" fmla="*/ 218 w 436"/>
              <a:gd name="T83" fmla="*/ 0 h 335"/>
              <a:gd name="T84" fmla="*/ 330 w 436"/>
              <a:gd name="T85" fmla="*/ 22 h 335"/>
              <a:gd name="T86" fmla="*/ 425 w 436"/>
              <a:gd name="T87" fmla="*/ 8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6" h="335">
                <a:moveTo>
                  <a:pt x="218" y="251"/>
                </a:moveTo>
                <a:cubicBezTo>
                  <a:pt x="195" y="251"/>
                  <a:pt x="176" y="270"/>
                  <a:pt x="176" y="293"/>
                </a:cubicBezTo>
                <a:cubicBezTo>
                  <a:pt x="176" y="316"/>
                  <a:pt x="195" y="335"/>
                  <a:pt x="218" y="335"/>
                </a:cubicBezTo>
                <a:cubicBezTo>
                  <a:pt x="241" y="335"/>
                  <a:pt x="260" y="316"/>
                  <a:pt x="260" y="293"/>
                </a:cubicBezTo>
                <a:cubicBezTo>
                  <a:pt x="260" y="270"/>
                  <a:pt x="241" y="251"/>
                  <a:pt x="218" y="251"/>
                </a:cubicBezTo>
                <a:close/>
                <a:moveTo>
                  <a:pt x="307" y="204"/>
                </a:moveTo>
                <a:cubicBezTo>
                  <a:pt x="318" y="215"/>
                  <a:pt x="318" y="233"/>
                  <a:pt x="307" y="244"/>
                </a:cubicBezTo>
                <a:cubicBezTo>
                  <a:pt x="296" y="255"/>
                  <a:pt x="278" y="255"/>
                  <a:pt x="267" y="244"/>
                </a:cubicBezTo>
                <a:cubicBezTo>
                  <a:pt x="261" y="237"/>
                  <a:pt x="253" y="232"/>
                  <a:pt x="245" y="229"/>
                </a:cubicBezTo>
                <a:cubicBezTo>
                  <a:pt x="237" y="225"/>
                  <a:pt x="228" y="223"/>
                  <a:pt x="218" y="223"/>
                </a:cubicBezTo>
                <a:cubicBezTo>
                  <a:pt x="208" y="223"/>
                  <a:pt x="199" y="225"/>
                  <a:pt x="191" y="229"/>
                </a:cubicBezTo>
                <a:cubicBezTo>
                  <a:pt x="183" y="232"/>
                  <a:pt x="175" y="237"/>
                  <a:pt x="169" y="244"/>
                </a:cubicBezTo>
                <a:cubicBezTo>
                  <a:pt x="158" y="255"/>
                  <a:pt x="140" y="255"/>
                  <a:pt x="129" y="244"/>
                </a:cubicBezTo>
                <a:cubicBezTo>
                  <a:pt x="118" y="233"/>
                  <a:pt x="118" y="215"/>
                  <a:pt x="129" y="204"/>
                </a:cubicBezTo>
                <a:cubicBezTo>
                  <a:pt x="141" y="193"/>
                  <a:pt x="155" y="184"/>
                  <a:pt x="170" y="177"/>
                </a:cubicBezTo>
                <a:cubicBezTo>
                  <a:pt x="185" y="171"/>
                  <a:pt x="201" y="167"/>
                  <a:pt x="218" y="167"/>
                </a:cubicBezTo>
                <a:cubicBezTo>
                  <a:pt x="235" y="167"/>
                  <a:pt x="251" y="171"/>
                  <a:pt x="266" y="177"/>
                </a:cubicBezTo>
                <a:cubicBezTo>
                  <a:pt x="282" y="184"/>
                  <a:pt x="295" y="193"/>
                  <a:pt x="307" y="204"/>
                </a:cubicBezTo>
                <a:close/>
                <a:moveTo>
                  <a:pt x="366" y="145"/>
                </a:moveTo>
                <a:cubicBezTo>
                  <a:pt x="347" y="126"/>
                  <a:pt x="324" y="110"/>
                  <a:pt x="298" y="100"/>
                </a:cubicBezTo>
                <a:cubicBezTo>
                  <a:pt x="273" y="89"/>
                  <a:pt x="246" y="84"/>
                  <a:pt x="218" y="84"/>
                </a:cubicBezTo>
                <a:cubicBezTo>
                  <a:pt x="190" y="84"/>
                  <a:pt x="163" y="89"/>
                  <a:pt x="138" y="100"/>
                </a:cubicBezTo>
                <a:cubicBezTo>
                  <a:pt x="112" y="110"/>
                  <a:pt x="89" y="126"/>
                  <a:pt x="70" y="145"/>
                </a:cubicBezTo>
                <a:cubicBezTo>
                  <a:pt x="59" y="156"/>
                  <a:pt x="59" y="174"/>
                  <a:pt x="70" y="185"/>
                </a:cubicBezTo>
                <a:cubicBezTo>
                  <a:pt x="81" y="195"/>
                  <a:pt x="99" y="195"/>
                  <a:pt x="109" y="185"/>
                </a:cubicBezTo>
                <a:cubicBezTo>
                  <a:pt x="124" y="170"/>
                  <a:pt x="141" y="159"/>
                  <a:pt x="159" y="151"/>
                </a:cubicBezTo>
                <a:cubicBezTo>
                  <a:pt x="177" y="144"/>
                  <a:pt x="197" y="140"/>
                  <a:pt x="218" y="140"/>
                </a:cubicBezTo>
                <a:cubicBezTo>
                  <a:pt x="239" y="140"/>
                  <a:pt x="259" y="144"/>
                  <a:pt x="277" y="151"/>
                </a:cubicBezTo>
                <a:cubicBezTo>
                  <a:pt x="295" y="159"/>
                  <a:pt x="312" y="170"/>
                  <a:pt x="327" y="185"/>
                </a:cubicBezTo>
                <a:cubicBezTo>
                  <a:pt x="337" y="195"/>
                  <a:pt x="355" y="195"/>
                  <a:pt x="366" y="185"/>
                </a:cubicBezTo>
                <a:cubicBezTo>
                  <a:pt x="377" y="174"/>
                  <a:pt x="377" y="156"/>
                  <a:pt x="366" y="145"/>
                </a:cubicBezTo>
                <a:close/>
                <a:moveTo>
                  <a:pt x="425" y="86"/>
                </a:moveTo>
                <a:cubicBezTo>
                  <a:pt x="436" y="97"/>
                  <a:pt x="436" y="114"/>
                  <a:pt x="425" y="125"/>
                </a:cubicBezTo>
                <a:cubicBezTo>
                  <a:pt x="414" y="136"/>
                  <a:pt x="397" y="136"/>
                  <a:pt x="386" y="125"/>
                </a:cubicBezTo>
                <a:cubicBezTo>
                  <a:pt x="364" y="103"/>
                  <a:pt x="338" y="86"/>
                  <a:pt x="309" y="74"/>
                </a:cubicBezTo>
                <a:cubicBezTo>
                  <a:pt x="281" y="62"/>
                  <a:pt x="250" y="56"/>
                  <a:pt x="218" y="56"/>
                </a:cubicBezTo>
                <a:cubicBezTo>
                  <a:pt x="186" y="56"/>
                  <a:pt x="155" y="62"/>
                  <a:pt x="127" y="74"/>
                </a:cubicBezTo>
                <a:cubicBezTo>
                  <a:pt x="98" y="86"/>
                  <a:pt x="72" y="103"/>
                  <a:pt x="50" y="125"/>
                </a:cubicBezTo>
                <a:cubicBezTo>
                  <a:pt x="39" y="136"/>
                  <a:pt x="22" y="136"/>
                  <a:pt x="11" y="125"/>
                </a:cubicBezTo>
                <a:cubicBezTo>
                  <a:pt x="0" y="114"/>
                  <a:pt x="0" y="97"/>
                  <a:pt x="11" y="86"/>
                </a:cubicBezTo>
                <a:cubicBezTo>
                  <a:pt x="38" y="59"/>
                  <a:pt x="70" y="37"/>
                  <a:pt x="106" y="22"/>
                </a:cubicBezTo>
                <a:cubicBezTo>
                  <a:pt x="141" y="8"/>
                  <a:pt x="178" y="0"/>
                  <a:pt x="218" y="0"/>
                </a:cubicBezTo>
                <a:cubicBezTo>
                  <a:pt x="258" y="0"/>
                  <a:pt x="295" y="8"/>
                  <a:pt x="330" y="22"/>
                </a:cubicBezTo>
                <a:cubicBezTo>
                  <a:pt x="366" y="37"/>
                  <a:pt x="398" y="59"/>
                  <a:pt x="425" y="8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9"/>
          <p:cNvSpPr>
            <a:spLocks noEditPoints="1"/>
          </p:cNvSpPr>
          <p:nvPr userDrawn="1"/>
        </p:nvSpPr>
        <p:spPr bwMode="auto">
          <a:xfrm>
            <a:off x="1884545" y="2625052"/>
            <a:ext cx="298849" cy="298849"/>
          </a:xfrm>
          <a:custGeom>
            <a:avLst/>
            <a:gdLst>
              <a:gd name="T0" fmla="*/ 250 w 433"/>
              <a:gd name="T1" fmla="*/ 267 h 433"/>
              <a:gd name="T2" fmla="*/ 262 w 433"/>
              <a:gd name="T3" fmla="*/ 305 h 433"/>
              <a:gd name="T4" fmla="*/ 242 w 433"/>
              <a:gd name="T5" fmla="*/ 352 h 433"/>
              <a:gd name="T6" fmla="*/ 242 w 433"/>
              <a:gd name="T7" fmla="*/ 352 h 433"/>
              <a:gd name="T8" fmla="*/ 181 w 433"/>
              <a:gd name="T9" fmla="*/ 413 h 433"/>
              <a:gd name="T10" fmla="*/ 134 w 433"/>
              <a:gd name="T11" fmla="*/ 433 h 433"/>
              <a:gd name="T12" fmla="*/ 87 w 433"/>
              <a:gd name="T13" fmla="*/ 413 h 433"/>
              <a:gd name="T14" fmla="*/ 19 w 433"/>
              <a:gd name="T15" fmla="*/ 345 h 433"/>
              <a:gd name="T16" fmla="*/ 0 w 433"/>
              <a:gd name="T17" fmla="*/ 298 h 433"/>
              <a:gd name="T18" fmla="*/ 19 w 433"/>
              <a:gd name="T19" fmla="*/ 252 h 433"/>
              <a:gd name="T20" fmla="*/ 80 w 433"/>
              <a:gd name="T21" fmla="*/ 190 h 433"/>
              <a:gd name="T22" fmla="*/ 80 w 433"/>
              <a:gd name="T23" fmla="*/ 190 h 433"/>
              <a:gd name="T24" fmla="*/ 127 w 433"/>
              <a:gd name="T25" fmla="*/ 171 h 433"/>
              <a:gd name="T26" fmla="*/ 165 w 433"/>
              <a:gd name="T27" fmla="*/ 183 h 433"/>
              <a:gd name="T28" fmla="*/ 119 w 433"/>
              <a:gd name="T29" fmla="*/ 229 h 433"/>
              <a:gd name="T30" fmla="*/ 119 w 433"/>
              <a:gd name="T31" fmla="*/ 229 h 433"/>
              <a:gd name="T32" fmla="*/ 58 w 433"/>
              <a:gd name="T33" fmla="*/ 290 h 433"/>
              <a:gd name="T34" fmla="*/ 54 w 433"/>
              <a:gd name="T35" fmla="*/ 298 h 433"/>
              <a:gd name="T36" fmla="*/ 58 w 433"/>
              <a:gd name="T37" fmla="*/ 306 h 433"/>
              <a:gd name="T38" fmla="*/ 126 w 433"/>
              <a:gd name="T39" fmla="*/ 375 h 433"/>
              <a:gd name="T40" fmla="*/ 134 w 433"/>
              <a:gd name="T41" fmla="*/ 378 h 433"/>
              <a:gd name="T42" fmla="*/ 142 w 433"/>
              <a:gd name="T43" fmla="*/ 375 h 433"/>
              <a:gd name="T44" fmla="*/ 204 w 433"/>
              <a:gd name="T45" fmla="*/ 313 h 433"/>
              <a:gd name="T46" fmla="*/ 204 w 433"/>
              <a:gd name="T47" fmla="*/ 313 h 433"/>
              <a:gd name="T48" fmla="*/ 250 w 433"/>
              <a:gd name="T49" fmla="*/ 267 h 433"/>
              <a:gd name="T50" fmla="*/ 251 w 433"/>
              <a:gd name="T51" fmla="*/ 142 h 433"/>
              <a:gd name="T52" fmla="*/ 142 w 433"/>
              <a:gd name="T53" fmla="*/ 252 h 433"/>
              <a:gd name="T54" fmla="*/ 142 w 433"/>
              <a:gd name="T55" fmla="*/ 290 h 433"/>
              <a:gd name="T56" fmla="*/ 181 w 433"/>
              <a:gd name="T57" fmla="*/ 290 h 433"/>
              <a:gd name="T58" fmla="*/ 290 w 433"/>
              <a:gd name="T59" fmla="*/ 181 h 433"/>
              <a:gd name="T60" fmla="*/ 290 w 433"/>
              <a:gd name="T61" fmla="*/ 142 h 433"/>
              <a:gd name="T62" fmla="*/ 251 w 433"/>
              <a:gd name="T63" fmla="*/ 142 h 433"/>
              <a:gd name="T64" fmla="*/ 345 w 433"/>
              <a:gd name="T65" fmla="*/ 19 h 433"/>
              <a:gd name="T66" fmla="*/ 298 w 433"/>
              <a:gd name="T67" fmla="*/ 0 h 433"/>
              <a:gd name="T68" fmla="*/ 251 w 433"/>
              <a:gd name="T69" fmla="*/ 19 h 433"/>
              <a:gd name="T70" fmla="*/ 190 w 433"/>
              <a:gd name="T71" fmla="*/ 81 h 433"/>
              <a:gd name="T72" fmla="*/ 190 w 433"/>
              <a:gd name="T73" fmla="*/ 81 h 433"/>
              <a:gd name="T74" fmla="*/ 171 w 433"/>
              <a:gd name="T75" fmla="*/ 127 h 433"/>
              <a:gd name="T76" fmla="*/ 183 w 433"/>
              <a:gd name="T77" fmla="*/ 165 h 433"/>
              <a:gd name="T78" fmla="*/ 290 w 433"/>
              <a:gd name="T79" fmla="*/ 58 h 433"/>
              <a:gd name="T80" fmla="*/ 298 w 433"/>
              <a:gd name="T81" fmla="*/ 54 h 433"/>
              <a:gd name="T82" fmla="*/ 306 w 433"/>
              <a:gd name="T83" fmla="*/ 58 h 433"/>
              <a:gd name="T84" fmla="*/ 375 w 433"/>
              <a:gd name="T85" fmla="*/ 126 h 433"/>
              <a:gd name="T86" fmla="*/ 378 w 433"/>
              <a:gd name="T87" fmla="*/ 134 h 433"/>
              <a:gd name="T88" fmla="*/ 375 w 433"/>
              <a:gd name="T89" fmla="*/ 142 h 433"/>
              <a:gd name="T90" fmla="*/ 313 w 433"/>
              <a:gd name="T91" fmla="*/ 204 h 433"/>
              <a:gd name="T92" fmla="*/ 313 w 433"/>
              <a:gd name="T93" fmla="*/ 204 h 433"/>
              <a:gd name="T94" fmla="*/ 267 w 433"/>
              <a:gd name="T95" fmla="*/ 250 h 433"/>
              <a:gd name="T96" fmla="*/ 305 w 433"/>
              <a:gd name="T97" fmla="*/ 262 h 433"/>
              <a:gd name="T98" fmla="*/ 352 w 433"/>
              <a:gd name="T99" fmla="*/ 242 h 433"/>
              <a:gd name="T100" fmla="*/ 352 w 433"/>
              <a:gd name="T101" fmla="*/ 242 h 433"/>
              <a:gd name="T102" fmla="*/ 413 w 433"/>
              <a:gd name="T103" fmla="*/ 181 h 433"/>
              <a:gd name="T104" fmla="*/ 433 w 433"/>
              <a:gd name="T105" fmla="*/ 134 h 433"/>
              <a:gd name="T106" fmla="*/ 413 w 433"/>
              <a:gd name="T107" fmla="*/ 87 h 433"/>
              <a:gd name="T108" fmla="*/ 345 w 433"/>
              <a:gd name="T109" fmla="*/ 19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33" h="433">
                <a:moveTo>
                  <a:pt x="250" y="267"/>
                </a:moveTo>
                <a:cubicBezTo>
                  <a:pt x="258" y="278"/>
                  <a:pt x="262" y="292"/>
                  <a:pt x="262" y="305"/>
                </a:cubicBezTo>
                <a:cubicBezTo>
                  <a:pt x="262" y="322"/>
                  <a:pt x="255" y="339"/>
                  <a:pt x="242" y="352"/>
                </a:cubicBezTo>
                <a:cubicBezTo>
                  <a:pt x="242" y="352"/>
                  <a:pt x="242" y="352"/>
                  <a:pt x="242" y="352"/>
                </a:cubicBezTo>
                <a:cubicBezTo>
                  <a:pt x="181" y="413"/>
                  <a:pt x="181" y="413"/>
                  <a:pt x="181" y="413"/>
                </a:cubicBezTo>
                <a:cubicBezTo>
                  <a:pt x="168" y="426"/>
                  <a:pt x="151" y="433"/>
                  <a:pt x="134" y="433"/>
                </a:cubicBezTo>
                <a:cubicBezTo>
                  <a:pt x="117" y="433"/>
                  <a:pt x="100" y="426"/>
                  <a:pt x="87" y="413"/>
                </a:cubicBezTo>
                <a:cubicBezTo>
                  <a:pt x="19" y="345"/>
                  <a:pt x="19" y="345"/>
                  <a:pt x="19" y="345"/>
                </a:cubicBezTo>
                <a:cubicBezTo>
                  <a:pt x="6" y="332"/>
                  <a:pt x="0" y="315"/>
                  <a:pt x="0" y="298"/>
                </a:cubicBezTo>
                <a:cubicBezTo>
                  <a:pt x="0" y="281"/>
                  <a:pt x="6" y="264"/>
                  <a:pt x="19" y="252"/>
                </a:cubicBezTo>
                <a:cubicBezTo>
                  <a:pt x="80" y="190"/>
                  <a:pt x="80" y="190"/>
                  <a:pt x="80" y="190"/>
                </a:cubicBezTo>
                <a:cubicBezTo>
                  <a:pt x="80" y="190"/>
                  <a:pt x="80" y="190"/>
                  <a:pt x="80" y="190"/>
                </a:cubicBezTo>
                <a:cubicBezTo>
                  <a:pt x="93" y="177"/>
                  <a:pt x="110" y="171"/>
                  <a:pt x="127" y="171"/>
                </a:cubicBezTo>
                <a:cubicBezTo>
                  <a:pt x="140" y="171"/>
                  <a:pt x="154" y="175"/>
                  <a:pt x="165" y="183"/>
                </a:cubicBezTo>
                <a:cubicBezTo>
                  <a:pt x="119" y="229"/>
                  <a:pt x="119" y="229"/>
                  <a:pt x="119" y="229"/>
                </a:cubicBezTo>
                <a:cubicBezTo>
                  <a:pt x="119" y="229"/>
                  <a:pt x="119" y="229"/>
                  <a:pt x="119" y="229"/>
                </a:cubicBezTo>
                <a:cubicBezTo>
                  <a:pt x="58" y="290"/>
                  <a:pt x="58" y="290"/>
                  <a:pt x="58" y="290"/>
                </a:cubicBezTo>
                <a:cubicBezTo>
                  <a:pt x="55" y="292"/>
                  <a:pt x="54" y="295"/>
                  <a:pt x="54" y="298"/>
                </a:cubicBezTo>
                <a:cubicBezTo>
                  <a:pt x="54" y="301"/>
                  <a:pt x="55" y="304"/>
                  <a:pt x="58" y="306"/>
                </a:cubicBezTo>
                <a:cubicBezTo>
                  <a:pt x="126" y="375"/>
                  <a:pt x="126" y="375"/>
                  <a:pt x="126" y="375"/>
                </a:cubicBezTo>
                <a:cubicBezTo>
                  <a:pt x="128" y="377"/>
                  <a:pt x="131" y="378"/>
                  <a:pt x="134" y="378"/>
                </a:cubicBezTo>
                <a:cubicBezTo>
                  <a:pt x="137" y="378"/>
                  <a:pt x="140" y="377"/>
                  <a:pt x="142" y="375"/>
                </a:cubicBezTo>
                <a:cubicBezTo>
                  <a:pt x="204" y="313"/>
                  <a:pt x="204" y="313"/>
                  <a:pt x="204" y="313"/>
                </a:cubicBezTo>
                <a:cubicBezTo>
                  <a:pt x="204" y="313"/>
                  <a:pt x="204" y="313"/>
                  <a:pt x="204" y="313"/>
                </a:cubicBezTo>
                <a:cubicBezTo>
                  <a:pt x="250" y="267"/>
                  <a:pt x="250" y="267"/>
                  <a:pt x="250" y="267"/>
                </a:cubicBezTo>
                <a:close/>
                <a:moveTo>
                  <a:pt x="251" y="142"/>
                </a:moveTo>
                <a:cubicBezTo>
                  <a:pt x="142" y="252"/>
                  <a:pt x="142" y="252"/>
                  <a:pt x="142" y="252"/>
                </a:cubicBezTo>
                <a:cubicBezTo>
                  <a:pt x="131" y="262"/>
                  <a:pt x="131" y="280"/>
                  <a:pt x="142" y="290"/>
                </a:cubicBezTo>
                <a:cubicBezTo>
                  <a:pt x="153" y="301"/>
                  <a:pt x="170" y="301"/>
                  <a:pt x="181" y="290"/>
                </a:cubicBezTo>
                <a:cubicBezTo>
                  <a:pt x="290" y="181"/>
                  <a:pt x="290" y="181"/>
                  <a:pt x="290" y="181"/>
                </a:cubicBezTo>
                <a:cubicBezTo>
                  <a:pt x="301" y="170"/>
                  <a:pt x="301" y="153"/>
                  <a:pt x="290" y="142"/>
                </a:cubicBezTo>
                <a:cubicBezTo>
                  <a:pt x="279" y="131"/>
                  <a:pt x="262" y="131"/>
                  <a:pt x="251" y="142"/>
                </a:cubicBezTo>
                <a:close/>
                <a:moveTo>
                  <a:pt x="345" y="19"/>
                </a:moveTo>
                <a:cubicBezTo>
                  <a:pt x="332" y="6"/>
                  <a:pt x="315" y="0"/>
                  <a:pt x="298" y="0"/>
                </a:cubicBezTo>
                <a:cubicBezTo>
                  <a:pt x="281" y="0"/>
                  <a:pt x="264" y="6"/>
                  <a:pt x="251" y="19"/>
                </a:cubicBezTo>
                <a:cubicBezTo>
                  <a:pt x="190" y="81"/>
                  <a:pt x="190" y="81"/>
                  <a:pt x="190" y="81"/>
                </a:cubicBezTo>
                <a:cubicBezTo>
                  <a:pt x="190" y="81"/>
                  <a:pt x="190" y="81"/>
                  <a:pt x="190" y="81"/>
                </a:cubicBezTo>
                <a:cubicBezTo>
                  <a:pt x="177" y="93"/>
                  <a:pt x="171" y="110"/>
                  <a:pt x="171" y="127"/>
                </a:cubicBezTo>
                <a:cubicBezTo>
                  <a:pt x="171" y="141"/>
                  <a:pt x="175" y="154"/>
                  <a:pt x="183" y="165"/>
                </a:cubicBezTo>
                <a:cubicBezTo>
                  <a:pt x="290" y="58"/>
                  <a:pt x="290" y="58"/>
                  <a:pt x="290" y="58"/>
                </a:cubicBezTo>
                <a:cubicBezTo>
                  <a:pt x="292" y="55"/>
                  <a:pt x="295" y="54"/>
                  <a:pt x="298" y="54"/>
                </a:cubicBezTo>
                <a:cubicBezTo>
                  <a:pt x="301" y="54"/>
                  <a:pt x="304" y="55"/>
                  <a:pt x="306" y="58"/>
                </a:cubicBezTo>
                <a:cubicBezTo>
                  <a:pt x="375" y="126"/>
                  <a:pt x="375" y="126"/>
                  <a:pt x="375" y="126"/>
                </a:cubicBezTo>
                <a:cubicBezTo>
                  <a:pt x="377" y="128"/>
                  <a:pt x="378" y="131"/>
                  <a:pt x="378" y="134"/>
                </a:cubicBezTo>
                <a:cubicBezTo>
                  <a:pt x="378" y="137"/>
                  <a:pt x="377" y="140"/>
                  <a:pt x="375" y="142"/>
                </a:cubicBezTo>
                <a:cubicBezTo>
                  <a:pt x="313" y="204"/>
                  <a:pt x="313" y="204"/>
                  <a:pt x="313" y="204"/>
                </a:cubicBezTo>
                <a:cubicBezTo>
                  <a:pt x="313" y="204"/>
                  <a:pt x="313" y="204"/>
                  <a:pt x="313" y="204"/>
                </a:cubicBezTo>
                <a:cubicBezTo>
                  <a:pt x="267" y="250"/>
                  <a:pt x="267" y="250"/>
                  <a:pt x="267" y="250"/>
                </a:cubicBezTo>
                <a:cubicBezTo>
                  <a:pt x="278" y="258"/>
                  <a:pt x="292" y="262"/>
                  <a:pt x="305" y="262"/>
                </a:cubicBezTo>
                <a:cubicBezTo>
                  <a:pt x="322" y="262"/>
                  <a:pt x="339" y="255"/>
                  <a:pt x="352" y="242"/>
                </a:cubicBezTo>
                <a:cubicBezTo>
                  <a:pt x="352" y="242"/>
                  <a:pt x="352" y="242"/>
                  <a:pt x="352" y="242"/>
                </a:cubicBezTo>
                <a:cubicBezTo>
                  <a:pt x="413" y="181"/>
                  <a:pt x="413" y="181"/>
                  <a:pt x="413" y="181"/>
                </a:cubicBezTo>
                <a:cubicBezTo>
                  <a:pt x="426" y="168"/>
                  <a:pt x="433" y="151"/>
                  <a:pt x="433" y="134"/>
                </a:cubicBezTo>
                <a:cubicBezTo>
                  <a:pt x="433" y="117"/>
                  <a:pt x="426" y="100"/>
                  <a:pt x="413" y="87"/>
                </a:cubicBezTo>
                <a:lnTo>
                  <a:pt x="345" y="1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5" name="Freeform 9"/>
          <p:cNvSpPr>
            <a:spLocks noEditPoints="1"/>
          </p:cNvSpPr>
          <p:nvPr userDrawn="1"/>
        </p:nvSpPr>
        <p:spPr bwMode="auto">
          <a:xfrm>
            <a:off x="1930064" y="5563657"/>
            <a:ext cx="244197" cy="243646"/>
          </a:xfrm>
          <a:custGeom>
            <a:avLst/>
            <a:gdLst>
              <a:gd name="T0" fmla="*/ 146 w 254"/>
              <a:gd name="T1" fmla="*/ 65 h 253"/>
              <a:gd name="T2" fmla="*/ 148 w 254"/>
              <a:gd name="T3" fmla="*/ 65 h 253"/>
              <a:gd name="T4" fmla="*/ 162 w 254"/>
              <a:gd name="T5" fmla="*/ 62 h 253"/>
              <a:gd name="T6" fmla="*/ 190 w 254"/>
              <a:gd name="T7" fmla="*/ 27 h 253"/>
              <a:gd name="T8" fmla="*/ 188 w 254"/>
              <a:gd name="T9" fmla="*/ 16 h 253"/>
              <a:gd name="T10" fmla="*/ 146 w 254"/>
              <a:gd name="T11" fmla="*/ 1 h 253"/>
              <a:gd name="T12" fmla="*/ 138 w 254"/>
              <a:gd name="T13" fmla="*/ 9 h 253"/>
              <a:gd name="T14" fmla="*/ 138 w 254"/>
              <a:gd name="T15" fmla="*/ 54 h 253"/>
              <a:gd name="T16" fmla="*/ 146 w 254"/>
              <a:gd name="T17" fmla="*/ 65 h 253"/>
              <a:gd name="T18" fmla="*/ 26 w 254"/>
              <a:gd name="T19" fmla="*/ 65 h 253"/>
              <a:gd name="T20" fmla="*/ 67 w 254"/>
              <a:gd name="T21" fmla="*/ 84 h 253"/>
              <a:gd name="T22" fmla="*/ 81 w 254"/>
              <a:gd name="T23" fmla="*/ 81 h 253"/>
              <a:gd name="T24" fmla="*/ 107 w 254"/>
              <a:gd name="T25" fmla="*/ 65 h 253"/>
              <a:gd name="T26" fmla="*/ 115 w 254"/>
              <a:gd name="T27" fmla="*/ 54 h 253"/>
              <a:gd name="T28" fmla="*/ 115 w 254"/>
              <a:gd name="T29" fmla="*/ 9 h 253"/>
              <a:gd name="T30" fmla="*/ 106 w 254"/>
              <a:gd name="T31" fmla="*/ 1 h 253"/>
              <a:gd name="T32" fmla="*/ 23 w 254"/>
              <a:gd name="T33" fmla="*/ 54 h 253"/>
              <a:gd name="T34" fmla="*/ 26 w 254"/>
              <a:gd name="T35" fmla="*/ 65 h 253"/>
              <a:gd name="T36" fmla="*/ 173 w 254"/>
              <a:gd name="T37" fmla="*/ 184 h 253"/>
              <a:gd name="T38" fmla="*/ 159 w 254"/>
              <a:gd name="T39" fmla="*/ 182 h 253"/>
              <a:gd name="T40" fmla="*/ 127 w 254"/>
              <a:gd name="T41" fmla="*/ 191 h 253"/>
              <a:gd name="T42" fmla="*/ 62 w 254"/>
              <a:gd name="T43" fmla="*/ 126 h 253"/>
              <a:gd name="T44" fmla="*/ 63 w 254"/>
              <a:gd name="T45" fmla="*/ 116 h 253"/>
              <a:gd name="T46" fmla="*/ 57 w 254"/>
              <a:gd name="T47" fmla="*/ 104 h 253"/>
              <a:gd name="T48" fmla="*/ 16 w 254"/>
              <a:gd name="T49" fmla="*/ 85 h 253"/>
              <a:gd name="T50" fmla="*/ 5 w 254"/>
              <a:gd name="T51" fmla="*/ 90 h 253"/>
              <a:gd name="T52" fmla="*/ 0 w 254"/>
              <a:gd name="T53" fmla="*/ 126 h 253"/>
              <a:gd name="T54" fmla="*/ 127 w 254"/>
              <a:gd name="T55" fmla="*/ 253 h 253"/>
              <a:gd name="T56" fmla="*/ 205 w 254"/>
              <a:gd name="T57" fmla="*/ 226 h 253"/>
              <a:gd name="T58" fmla="*/ 205 w 254"/>
              <a:gd name="T59" fmla="*/ 215 h 253"/>
              <a:gd name="T60" fmla="*/ 173 w 254"/>
              <a:gd name="T61" fmla="*/ 184 h 253"/>
              <a:gd name="T62" fmla="*/ 220 w 254"/>
              <a:gd name="T63" fmla="*/ 40 h 253"/>
              <a:gd name="T64" fmla="*/ 208 w 254"/>
              <a:gd name="T65" fmla="*/ 41 h 253"/>
              <a:gd name="T66" fmla="*/ 180 w 254"/>
              <a:gd name="T67" fmla="*/ 76 h 253"/>
              <a:gd name="T68" fmla="*/ 180 w 254"/>
              <a:gd name="T69" fmla="*/ 89 h 253"/>
              <a:gd name="T70" fmla="*/ 192 w 254"/>
              <a:gd name="T71" fmla="*/ 126 h 253"/>
              <a:gd name="T72" fmla="*/ 186 w 254"/>
              <a:gd name="T73" fmla="*/ 153 h 253"/>
              <a:gd name="T74" fmla="*/ 188 w 254"/>
              <a:gd name="T75" fmla="*/ 167 h 253"/>
              <a:gd name="T76" fmla="*/ 220 w 254"/>
              <a:gd name="T77" fmla="*/ 198 h 253"/>
              <a:gd name="T78" fmla="*/ 232 w 254"/>
              <a:gd name="T79" fmla="*/ 197 h 253"/>
              <a:gd name="T80" fmla="*/ 254 w 254"/>
              <a:gd name="T81" fmla="*/ 126 h 253"/>
              <a:gd name="T82" fmla="*/ 220 w 254"/>
              <a:gd name="T83" fmla="*/ 4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4" h="253">
                <a:moveTo>
                  <a:pt x="146" y="65"/>
                </a:moveTo>
                <a:cubicBezTo>
                  <a:pt x="147" y="65"/>
                  <a:pt x="148" y="65"/>
                  <a:pt x="148" y="65"/>
                </a:cubicBezTo>
                <a:cubicBezTo>
                  <a:pt x="153" y="67"/>
                  <a:pt x="159" y="66"/>
                  <a:pt x="162" y="62"/>
                </a:cubicBezTo>
                <a:cubicBezTo>
                  <a:pt x="190" y="27"/>
                  <a:pt x="190" y="27"/>
                  <a:pt x="190" y="27"/>
                </a:cubicBezTo>
                <a:cubicBezTo>
                  <a:pt x="194" y="23"/>
                  <a:pt x="193" y="18"/>
                  <a:pt x="188" y="16"/>
                </a:cubicBezTo>
                <a:cubicBezTo>
                  <a:pt x="176" y="8"/>
                  <a:pt x="161" y="3"/>
                  <a:pt x="146" y="1"/>
                </a:cubicBezTo>
                <a:cubicBezTo>
                  <a:pt x="142" y="0"/>
                  <a:pt x="138" y="4"/>
                  <a:pt x="138" y="9"/>
                </a:cubicBezTo>
                <a:cubicBezTo>
                  <a:pt x="138" y="54"/>
                  <a:pt x="138" y="54"/>
                  <a:pt x="138" y="54"/>
                </a:cubicBezTo>
                <a:cubicBezTo>
                  <a:pt x="138" y="59"/>
                  <a:pt x="142" y="63"/>
                  <a:pt x="146" y="65"/>
                </a:cubicBezTo>
                <a:close/>
                <a:moveTo>
                  <a:pt x="26" y="65"/>
                </a:moveTo>
                <a:cubicBezTo>
                  <a:pt x="67" y="84"/>
                  <a:pt x="67" y="84"/>
                  <a:pt x="67" y="84"/>
                </a:cubicBezTo>
                <a:cubicBezTo>
                  <a:pt x="72" y="86"/>
                  <a:pt x="77" y="85"/>
                  <a:pt x="81" y="81"/>
                </a:cubicBezTo>
                <a:cubicBezTo>
                  <a:pt x="88" y="74"/>
                  <a:pt x="97" y="68"/>
                  <a:pt x="107" y="65"/>
                </a:cubicBezTo>
                <a:cubicBezTo>
                  <a:pt x="111" y="64"/>
                  <a:pt x="115" y="59"/>
                  <a:pt x="115" y="54"/>
                </a:cubicBezTo>
                <a:cubicBezTo>
                  <a:pt x="115" y="9"/>
                  <a:pt x="115" y="9"/>
                  <a:pt x="115" y="9"/>
                </a:cubicBezTo>
                <a:cubicBezTo>
                  <a:pt x="115" y="4"/>
                  <a:pt x="111" y="0"/>
                  <a:pt x="106" y="1"/>
                </a:cubicBezTo>
                <a:cubicBezTo>
                  <a:pt x="72" y="7"/>
                  <a:pt x="42" y="27"/>
                  <a:pt x="23" y="54"/>
                </a:cubicBezTo>
                <a:cubicBezTo>
                  <a:pt x="20" y="58"/>
                  <a:pt x="21" y="63"/>
                  <a:pt x="26" y="65"/>
                </a:cubicBezTo>
                <a:close/>
                <a:moveTo>
                  <a:pt x="173" y="184"/>
                </a:moveTo>
                <a:cubicBezTo>
                  <a:pt x="169" y="180"/>
                  <a:pt x="163" y="180"/>
                  <a:pt x="159" y="182"/>
                </a:cubicBezTo>
                <a:cubicBezTo>
                  <a:pt x="150" y="188"/>
                  <a:pt x="139" y="191"/>
                  <a:pt x="127" y="191"/>
                </a:cubicBezTo>
                <a:cubicBezTo>
                  <a:pt x="91" y="191"/>
                  <a:pt x="62" y="162"/>
                  <a:pt x="62" y="126"/>
                </a:cubicBezTo>
                <a:cubicBezTo>
                  <a:pt x="62" y="123"/>
                  <a:pt x="63" y="120"/>
                  <a:pt x="63" y="116"/>
                </a:cubicBezTo>
                <a:cubicBezTo>
                  <a:pt x="64" y="112"/>
                  <a:pt x="61" y="106"/>
                  <a:pt x="57" y="104"/>
                </a:cubicBezTo>
                <a:cubicBezTo>
                  <a:pt x="16" y="85"/>
                  <a:pt x="16" y="85"/>
                  <a:pt x="16" y="85"/>
                </a:cubicBezTo>
                <a:cubicBezTo>
                  <a:pt x="12" y="83"/>
                  <a:pt x="7" y="86"/>
                  <a:pt x="5" y="90"/>
                </a:cubicBezTo>
                <a:cubicBezTo>
                  <a:pt x="2" y="102"/>
                  <a:pt x="0" y="114"/>
                  <a:pt x="0" y="126"/>
                </a:cubicBezTo>
                <a:cubicBezTo>
                  <a:pt x="0" y="196"/>
                  <a:pt x="57" y="253"/>
                  <a:pt x="127" y="253"/>
                </a:cubicBezTo>
                <a:cubicBezTo>
                  <a:pt x="156" y="253"/>
                  <a:pt x="183" y="243"/>
                  <a:pt x="205" y="226"/>
                </a:cubicBezTo>
                <a:cubicBezTo>
                  <a:pt x="209" y="223"/>
                  <a:pt x="209" y="218"/>
                  <a:pt x="205" y="215"/>
                </a:cubicBezTo>
                <a:lnTo>
                  <a:pt x="173" y="184"/>
                </a:lnTo>
                <a:close/>
                <a:moveTo>
                  <a:pt x="220" y="40"/>
                </a:moveTo>
                <a:cubicBezTo>
                  <a:pt x="216" y="37"/>
                  <a:pt x="211" y="37"/>
                  <a:pt x="208" y="41"/>
                </a:cubicBezTo>
                <a:cubicBezTo>
                  <a:pt x="180" y="76"/>
                  <a:pt x="180" y="76"/>
                  <a:pt x="180" y="76"/>
                </a:cubicBezTo>
                <a:cubicBezTo>
                  <a:pt x="177" y="79"/>
                  <a:pt x="177" y="85"/>
                  <a:pt x="180" y="89"/>
                </a:cubicBezTo>
                <a:cubicBezTo>
                  <a:pt x="187" y="100"/>
                  <a:pt x="192" y="113"/>
                  <a:pt x="192" y="126"/>
                </a:cubicBezTo>
                <a:cubicBezTo>
                  <a:pt x="192" y="136"/>
                  <a:pt x="189" y="145"/>
                  <a:pt x="186" y="153"/>
                </a:cubicBezTo>
                <a:cubicBezTo>
                  <a:pt x="184" y="158"/>
                  <a:pt x="184" y="164"/>
                  <a:pt x="188" y="167"/>
                </a:cubicBezTo>
                <a:cubicBezTo>
                  <a:pt x="220" y="198"/>
                  <a:pt x="220" y="198"/>
                  <a:pt x="220" y="198"/>
                </a:cubicBezTo>
                <a:cubicBezTo>
                  <a:pt x="224" y="202"/>
                  <a:pt x="229" y="201"/>
                  <a:pt x="232" y="197"/>
                </a:cubicBezTo>
                <a:cubicBezTo>
                  <a:pt x="246" y="177"/>
                  <a:pt x="254" y="153"/>
                  <a:pt x="254" y="126"/>
                </a:cubicBezTo>
                <a:cubicBezTo>
                  <a:pt x="254" y="93"/>
                  <a:pt x="241" y="63"/>
                  <a:pt x="220" y="4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7" name="Freeform 13"/>
          <p:cNvSpPr>
            <a:spLocks noEditPoints="1"/>
          </p:cNvSpPr>
          <p:nvPr userDrawn="1"/>
        </p:nvSpPr>
        <p:spPr bwMode="auto">
          <a:xfrm>
            <a:off x="1920422" y="5026039"/>
            <a:ext cx="255774" cy="229865"/>
          </a:xfrm>
          <a:custGeom>
            <a:avLst/>
            <a:gdLst>
              <a:gd name="T0" fmla="*/ 15 w 266"/>
              <a:gd name="T1" fmla="*/ 185 h 239"/>
              <a:gd name="T2" fmla="*/ 15 w 266"/>
              <a:gd name="T3" fmla="*/ 239 h 239"/>
              <a:gd name="T4" fmla="*/ 77 w 266"/>
              <a:gd name="T5" fmla="*/ 239 h 239"/>
              <a:gd name="T6" fmla="*/ 77 w 266"/>
              <a:gd name="T7" fmla="*/ 138 h 239"/>
              <a:gd name="T8" fmla="*/ 72 w 266"/>
              <a:gd name="T9" fmla="*/ 133 h 239"/>
              <a:gd name="T10" fmla="*/ 15 w 266"/>
              <a:gd name="T11" fmla="*/ 185 h 239"/>
              <a:gd name="T12" fmla="*/ 95 w 266"/>
              <a:gd name="T13" fmla="*/ 156 h 239"/>
              <a:gd name="T14" fmla="*/ 95 w 266"/>
              <a:gd name="T15" fmla="*/ 239 h 239"/>
              <a:gd name="T16" fmla="*/ 157 w 266"/>
              <a:gd name="T17" fmla="*/ 239 h 239"/>
              <a:gd name="T18" fmla="*/ 157 w 266"/>
              <a:gd name="T19" fmla="*/ 150 h 239"/>
              <a:gd name="T20" fmla="*/ 122 w 266"/>
              <a:gd name="T21" fmla="*/ 183 h 239"/>
              <a:gd name="T22" fmla="*/ 95 w 266"/>
              <a:gd name="T23" fmla="*/ 156 h 239"/>
              <a:gd name="T24" fmla="*/ 251 w 266"/>
              <a:gd name="T25" fmla="*/ 3 h 239"/>
              <a:gd name="T26" fmla="*/ 215 w 266"/>
              <a:gd name="T27" fmla="*/ 12 h 239"/>
              <a:gd name="T28" fmla="*/ 206 w 266"/>
              <a:gd name="T29" fmla="*/ 26 h 239"/>
              <a:gd name="T30" fmla="*/ 215 w 266"/>
              <a:gd name="T31" fmla="*/ 34 h 239"/>
              <a:gd name="T32" fmla="*/ 122 w 266"/>
              <a:gd name="T33" fmla="*/ 121 h 239"/>
              <a:gd name="T34" fmla="*/ 72 w 266"/>
              <a:gd name="T35" fmla="*/ 72 h 239"/>
              <a:gd name="T36" fmla="*/ 0 w 266"/>
              <a:gd name="T37" fmla="*/ 137 h 239"/>
              <a:gd name="T38" fmla="*/ 15 w 266"/>
              <a:gd name="T39" fmla="*/ 153 h 239"/>
              <a:gd name="T40" fmla="*/ 72 w 266"/>
              <a:gd name="T41" fmla="*/ 102 h 239"/>
              <a:gd name="T42" fmla="*/ 121 w 266"/>
              <a:gd name="T43" fmla="*/ 152 h 239"/>
              <a:gd name="T44" fmla="*/ 231 w 266"/>
              <a:gd name="T45" fmla="*/ 50 h 239"/>
              <a:gd name="T46" fmla="*/ 240 w 266"/>
              <a:gd name="T47" fmla="*/ 59 h 239"/>
              <a:gd name="T48" fmla="*/ 254 w 266"/>
              <a:gd name="T49" fmla="*/ 51 h 239"/>
              <a:gd name="T50" fmla="*/ 264 w 266"/>
              <a:gd name="T51" fmla="*/ 15 h 239"/>
              <a:gd name="T52" fmla="*/ 251 w 266"/>
              <a:gd name="T53" fmla="*/ 3 h 239"/>
              <a:gd name="T54" fmla="*/ 176 w 266"/>
              <a:gd name="T55" fmla="*/ 132 h 239"/>
              <a:gd name="T56" fmla="*/ 176 w 266"/>
              <a:gd name="T57" fmla="*/ 239 h 239"/>
              <a:gd name="T58" fmla="*/ 238 w 266"/>
              <a:gd name="T59" fmla="*/ 239 h 239"/>
              <a:gd name="T60" fmla="*/ 238 w 266"/>
              <a:gd name="T61" fmla="*/ 82 h 239"/>
              <a:gd name="T62" fmla="*/ 234 w 266"/>
              <a:gd name="T63" fmla="*/ 78 h 239"/>
              <a:gd name="T64" fmla="*/ 176 w 266"/>
              <a:gd name="T65" fmla="*/ 13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6" h="239">
                <a:moveTo>
                  <a:pt x="15" y="185"/>
                </a:moveTo>
                <a:cubicBezTo>
                  <a:pt x="15" y="239"/>
                  <a:pt x="15" y="239"/>
                  <a:pt x="15" y="239"/>
                </a:cubicBezTo>
                <a:cubicBezTo>
                  <a:pt x="77" y="239"/>
                  <a:pt x="77" y="239"/>
                  <a:pt x="77" y="239"/>
                </a:cubicBezTo>
                <a:cubicBezTo>
                  <a:pt x="77" y="138"/>
                  <a:pt x="77" y="138"/>
                  <a:pt x="77" y="138"/>
                </a:cubicBezTo>
                <a:cubicBezTo>
                  <a:pt x="72" y="133"/>
                  <a:pt x="72" y="133"/>
                  <a:pt x="72" y="133"/>
                </a:cubicBezTo>
                <a:lnTo>
                  <a:pt x="15" y="185"/>
                </a:lnTo>
                <a:close/>
                <a:moveTo>
                  <a:pt x="95" y="156"/>
                </a:moveTo>
                <a:cubicBezTo>
                  <a:pt x="95" y="239"/>
                  <a:pt x="95" y="239"/>
                  <a:pt x="95" y="239"/>
                </a:cubicBezTo>
                <a:cubicBezTo>
                  <a:pt x="157" y="239"/>
                  <a:pt x="157" y="239"/>
                  <a:pt x="157" y="239"/>
                </a:cubicBezTo>
                <a:cubicBezTo>
                  <a:pt x="157" y="150"/>
                  <a:pt x="157" y="150"/>
                  <a:pt x="157" y="150"/>
                </a:cubicBezTo>
                <a:cubicBezTo>
                  <a:pt x="122" y="183"/>
                  <a:pt x="122" y="183"/>
                  <a:pt x="122" y="183"/>
                </a:cubicBezTo>
                <a:lnTo>
                  <a:pt x="95" y="156"/>
                </a:lnTo>
                <a:close/>
                <a:moveTo>
                  <a:pt x="251" y="3"/>
                </a:moveTo>
                <a:cubicBezTo>
                  <a:pt x="215" y="12"/>
                  <a:pt x="215" y="12"/>
                  <a:pt x="215" y="12"/>
                </a:cubicBezTo>
                <a:cubicBezTo>
                  <a:pt x="205" y="15"/>
                  <a:pt x="202" y="21"/>
                  <a:pt x="206" y="26"/>
                </a:cubicBezTo>
                <a:cubicBezTo>
                  <a:pt x="215" y="34"/>
                  <a:pt x="215" y="34"/>
                  <a:pt x="215" y="34"/>
                </a:cubicBezTo>
                <a:cubicBezTo>
                  <a:pt x="122" y="121"/>
                  <a:pt x="122" y="121"/>
                  <a:pt x="122" y="121"/>
                </a:cubicBezTo>
                <a:cubicBezTo>
                  <a:pt x="72" y="72"/>
                  <a:pt x="72" y="72"/>
                  <a:pt x="72" y="72"/>
                </a:cubicBezTo>
                <a:cubicBezTo>
                  <a:pt x="0" y="137"/>
                  <a:pt x="0" y="137"/>
                  <a:pt x="0" y="137"/>
                </a:cubicBezTo>
                <a:cubicBezTo>
                  <a:pt x="15" y="153"/>
                  <a:pt x="15" y="153"/>
                  <a:pt x="15" y="153"/>
                </a:cubicBezTo>
                <a:cubicBezTo>
                  <a:pt x="72" y="102"/>
                  <a:pt x="72" y="102"/>
                  <a:pt x="72" y="102"/>
                </a:cubicBezTo>
                <a:cubicBezTo>
                  <a:pt x="121" y="152"/>
                  <a:pt x="121" y="152"/>
                  <a:pt x="121" y="152"/>
                </a:cubicBezTo>
                <a:cubicBezTo>
                  <a:pt x="231" y="50"/>
                  <a:pt x="231" y="50"/>
                  <a:pt x="231" y="50"/>
                </a:cubicBezTo>
                <a:cubicBezTo>
                  <a:pt x="231" y="50"/>
                  <a:pt x="235" y="54"/>
                  <a:pt x="240" y="59"/>
                </a:cubicBezTo>
                <a:cubicBezTo>
                  <a:pt x="245" y="64"/>
                  <a:pt x="252" y="61"/>
                  <a:pt x="254" y="51"/>
                </a:cubicBezTo>
                <a:cubicBezTo>
                  <a:pt x="264" y="15"/>
                  <a:pt x="264" y="15"/>
                  <a:pt x="264" y="15"/>
                </a:cubicBezTo>
                <a:cubicBezTo>
                  <a:pt x="266" y="6"/>
                  <a:pt x="260" y="0"/>
                  <a:pt x="251" y="3"/>
                </a:cubicBezTo>
                <a:close/>
                <a:moveTo>
                  <a:pt x="176" y="132"/>
                </a:moveTo>
                <a:cubicBezTo>
                  <a:pt x="176" y="239"/>
                  <a:pt x="176" y="239"/>
                  <a:pt x="176" y="239"/>
                </a:cubicBezTo>
                <a:cubicBezTo>
                  <a:pt x="238" y="239"/>
                  <a:pt x="238" y="239"/>
                  <a:pt x="238" y="239"/>
                </a:cubicBezTo>
                <a:cubicBezTo>
                  <a:pt x="238" y="82"/>
                  <a:pt x="238" y="82"/>
                  <a:pt x="238" y="82"/>
                </a:cubicBezTo>
                <a:cubicBezTo>
                  <a:pt x="234" y="78"/>
                  <a:pt x="234" y="78"/>
                  <a:pt x="234" y="78"/>
                </a:cubicBezTo>
                <a:lnTo>
                  <a:pt x="176" y="13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0" name="Freeform 18"/>
          <p:cNvSpPr>
            <a:spLocks noEditPoints="1"/>
          </p:cNvSpPr>
          <p:nvPr userDrawn="1"/>
        </p:nvSpPr>
        <p:spPr bwMode="auto">
          <a:xfrm>
            <a:off x="1950723" y="6161977"/>
            <a:ext cx="219392" cy="222699"/>
          </a:xfrm>
          <a:custGeom>
            <a:avLst/>
            <a:gdLst>
              <a:gd name="T0" fmla="*/ 136 w 228"/>
              <a:gd name="T1" fmla="*/ 103 h 231"/>
              <a:gd name="T2" fmla="*/ 212 w 228"/>
              <a:gd name="T3" fmla="*/ 81 h 231"/>
              <a:gd name="T4" fmla="*/ 219 w 228"/>
              <a:gd name="T5" fmla="*/ 64 h 231"/>
              <a:gd name="T6" fmla="*/ 161 w 228"/>
              <a:gd name="T7" fmla="*/ 9 h 231"/>
              <a:gd name="T8" fmla="*/ 145 w 228"/>
              <a:gd name="T9" fmla="*/ 18 h 231"/>
              <a:gd name="T10" fmla="*/ 126 w 228"/>
              <a:gd name="T11" fmla="*/ 94 h 231"/>
              <a:gd name="T12" fmla="*/ 136 w 228"/>
              <a:gd name="T13" fmla="*/ 103 h 231"/>
              <a:gd name="T14" fmla="*/ 97 w 228"/>
              <a:gd name="T15" fmla="*/ 87 h 231"/>
              <a:gd name="T16" fmla="*/ 103 w 228"/>
              <a:gd name="T17" fmla="*/ 91 h 231"/>
              <a:gd name="T18" fmla="*/ 110 w 228"/>
              <a:gd name="T19" fmla="*/ 72 h 231"/>
              <a:gd name="T20" fmla="*/ 122 w 228"/>
              <a:gd name="T21" fmla="*/ 15 h 231"/>
              <a:gd name="T22" fmla="*/ 117 w 228"/>
              <a:gd name="T23" fmla="*/ 1 h 231"/>
              <a:gd name="T24" fmla="*/ 111 w 228"/>
              <a:gd name="T25" fmla="*/ 1 h 231"/>
              <a:gd name="T26" fmla="*/ 60 w 228"/>
              <a:gd name="T27" fmla="*/ 11 h 231"/>
              <a:gd name="T28" fmla="*/ 56 w 228"/>
              <a:gd name="T29" fmla="*/ 28 h 231"/>
              <a:gd name="T30" fmla="*/ 97 w 228"/>
              <a:gd name="T31" fmla="*/ 87 h 231"/>
              <a:gd name="T32" fmla="*/ 199 w 228"/>
              <a:gd name="T33" fmla="*/ 159 h 231"/>
              <a:gd name="T34" fmla="*/ 109 w 228"/>
              <a:gd name="T35" fmla="*/ 135 h 231"/>
              <a:gd name="T36" fmla="*/ 100 w 228"/>
              <a:gd name="T37" fmla="*/ 130 h 231"/>
              <a:gd name="T38" fmla="*/ 44 w 228"/>
              <a:gd name="T39" fmla="*/ 50 h 231"/>
              <a:gd name="T40" fmla="*/ 27 w 228"/>
              <a:gd name="T41" fmla="*/ 49 h 231"/>
              <a:gd name="T42" fmla="*/ 0 w 228"/>
              <a:gd name="T43" fmla="*/ 121 h 231"/>
              <a:gd name="T44" fmla="*/ 110 w 228"/>
              <a:gd name="T45" fmla="*/ 231 h 231"/>
              <a:gd name="T46" fmla="*/ 206 w 228"/>
              <a:gd name="T47" fmla="*/ 174 h 231"/>
              <a:gd name="T48" fmla="*/ 199 w 228"/>
              <a:gd name="T49" fmla="*/ 159 h 231"/>
              <a:gd name="T50" fmla="*/ 215 w 228"/>
              <a:gd name="T51" fmla="*/ 108 h 231"/>
              <a:gd name="T52" fmla="*/ 160 w 228"/>
              <a:gd name="T53" fmla="*/ 118 h 231"/>
              <a:gd name="T54" fmla="*/ 141 w 228"/>
              <a:gd name="T55" fmla="*/ 124 h 231"/>
              <a:gd name="T56" fmla="*/ 160 w 228"/>
              <a:gd name="T57" fmla="*/ 129 h 231"/>
              <a:gd name="T58" fmla="*/ 214 w 228"/>
              <a:gd name="T59" fmla="*/ 138 h 231"/>
              <a:gd name="T60" fmla="*/ 228 w 228"/>
              <a:gd name="T61" fmla="*/ 127 h 231"/>
              <a:gd name="T62" fmla="*/ 228 w 228"/>
              <a:gd name="T63" fmla="*/ 119 h 231"/>
              <a:gd name="T64" fmla="*/ 215 w 228"/>
              <a:gd name="T65" fmla="*/ 108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8" h="231">
                <a:moveTo>
                  <a:pt x="136" y="103"/>
                </a:moveTo>
                <a:cubicBezTo>
                  <a:pt x="155" y="98"/>
                  <a:pt x="192" y="86"/>
                  <a:pt x="212" y="81"/>
                </a:cubicBezTo>
                <a:cubicBezTo>
                  <a:pt x="219" y="78"/>
                  <a:pt x="223" y="71"/>
                  <a:pt x="219" y="64"/>
                </a:cubicBezTo>
                <a:cubicBezTo>
                  <a:pt x="207" y="39"/>
                  <a:pt x="186" y="19"/>
                  <a:pt x="161" y="9"/>
                </a:cubicBezTo>
                <a:cubicBezTo>
                  <a:pt x="154" y="6"/>
                  <a:pt x="146" y="11"/>
                  <a:pt x="145" y="18"/>
                </a:cubicBezTo>
                <a:cubicBezTo>
                  <a:pt x="126" y="94"/>
                  <a:pt x="126" y="94"/>
                  <a:pt x="126" y="94"/>
                </a:cubicBezTo>
                <a:cubicBezTo>
                  <a:pt x="125" y="101"/>
                  <a:pt x="129" y="105"/>
                  <a:pt x="136" y="103"/>
                </a:cubicBezTo>
                <a:close/>
                <a:moveTo>
                  <a:pt x="97" y="87"/>
                </a:moveTo>
                <a:cubicBezTo>
                  <a:pt x="99" y="90"/>
                  <a:pt x="101" y="91"/>
                  <a:pt x="103" y="91"/>
                </a:cubicBezTo>
                <a:cubicBezTo>
                  <a:pt x="107" y="90"/>
                  <a:pt x="108" y="79"/>
                  <a:pt x="110" y="72"/>
                </a:cubicBezTo>
                <a:cubicBezTo>
                  <a:pt x="122" y="15"/>
                  <a:pt x="122" y="15"/>
                  <a:pt x="122" y="15"/>
                </a:cubicBezTo>
                <a:cubicBezTo>
                  <a:pt x="123" y="8"/>
                  <a:pt x="122" y="2"/>
                  <a:pt x="117" y="1"/>
                </a:cubicBezTo>
                <a:cubicBezTo>
                  <a:pt x="114" y="1"/>
                  <a:pt x="113" y="1"/>
                  <a:pt x="111" y="1"/>
                </a:cubicBezTo>
                <a:cubicBezTo>
                  <a:pt x="93" y="0"/>
                  <a:pt x="75" y="4"/>
                  <a:pt x="60" y="11"/>
                </a:cubicBezTo>
                <a:cubicBezTo>
                  <a:pt x="53" y="14"/>
                  <a:pt x="52" y="22"/>
                  <a:pt x="56" y="28"/>
                </a:cubicBezTo>
                <a:lnTo>
                  <a:pt x="97" y="87"/>
                </a:lnTo>
                <a:close/>
                <a:moveTo>
                  <a:pt x="199" y="159"/>
                </a:moveTo>
                <a:cubicBezTo>
                  <a:pt x="173" y="152"/>
                  <a:pt x="126" y="140"/>
                  <a:pt x="109" y="135"/>
                </a:cubicBezTo>
                <a:cubicBezTo>
                  <a:pt x="104" y="134"/>
                  <a:pt x="101" y="131"/>
                  <a:pt x="100" y="130"/>
                </a:cubicBezTo>
                <a:cubicBezTo>
                  <a:pt x="93" y="119"/>
                  <a:pt x="65" y="80"/>
                  <a:pt x="44" y="50"/>
                </a:cubicBezTo>
                <a:cubicBezTo>
                  <a:pt x="40" y="44"/>
                  <a:pt x="32" y="43"/>
                  <a:pt x="27" y="49"/>
                </a:cubicBezTo>
                <a:cubicBezTo>
                  <a:pt x="10" y="68"/>
                  <a:pt x="0" y="93"/>
                  <a:pt x="0" y="121"/>
                </a:cubicBezTo>
                <a:cubicBezTo>
                  <a:pt x="0" y="182"/>
                  <a:pt x="49" y="231"/>
                  <a:pt x="110" y="231"/>
                </a:cubicBezTo>
                <a:cubicBezTo>
                  <a:pt x="152" y="231"/>
                  <a:pt x="188" y="208"/>
                  <a:pt x="206" y="174"/>
                </a:cubicBezTo>
                <a:cubicBezTo>
                  <a:pt x="210" y="168"/>
                  <a:pt x="206" y="161"/>
                  <a:pt x="199" y="159"/>
                </a:cubicBezTo>
                <a:close/>
                <a:moveTo>
                  <a:pt x="215" y="108"/>
                </a:moveTo>
                <a:cubicBezTo>
                  <a:pt x="160" y="118"/>
                  <a:pt x="160" y="118"/>
                  <a:pt x="160" y="118"/>
                </a:cubicBezTo>
                <a:cubicBezTo>
                  <a:pt x="152" y="120"/>
                  <a:pt x="141" y="120"/>
                  <a:pt x="141" y="124"/>
                </a:cubicBezTo>
                <a:cubicBezTo>
                  <a:pt x="141" y="127"/>
                  <a:pt x="153" y="128"/>
                  <a:pt x="160" y="129"/>
                </a:cubicBezTo>
                <a:cubicBezTo>
                  <a:pt x="214" y="138"/>
                  <a:pt x="214" y="138"/>
                  <a:pt x="214" y="138"/>
                </a:cubicBezTo>
                <a:cubicBezTo>
                  <a:pt x="221" y="140"/>
                  <a:pt x="228" y="135"/>
                  <a:pt x="228" y="127"/>
                </a:cubicBezTo>
                <a:cubicBezTo>
                  <a:pt x="228" y="124"/>
                  <a:pt x="228" y="122"/>
                  <a:pt x="228" y="119"/>
                </a:cubicBezTo>
                <a:cubicBezTo>
                  <a:pt x="228" y="112"/>
                  <a:pt x="222" y="107"/>
                  <a:pt x="215" y="10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07" name="Group 24"/>
          <p:cNvGrpSpPr/>
          <p:nvPr userDrawn="1"/>
        </p:nvGrpSpPr>
        <p:grpSpPr>
          <a:xfrm>
            <a:off x="657455" y="2084230"/>
            <a:ext cx="231910" cy="274667"/>
            <a:chOff x="1981200" y="1947862"/>
            <a:chExt cx="852488" cy="1009649"/>
          </a:xfrm>
          <a:solidFill>
            <a:schemeClr val="tx1"/>
          </a:solidFill>
        </p:grpSpPr>
        <p:sp>
          <p:nvSpPr>
            <p:cNvPr id="108" name="Freeform 15"/>
            <p:cNvSpPr>
              <a:spLocks noEditPoints="1"/>
            </p:cNvSpPr>
            <p:nvPr/>
          </p:nvSpPr>
          <p:spPr bwMode="auto">
            <a:xfrm>
              <a:off x="1981200" y="1947862"/>
              <a:ext cx="852488" cy="1009649"/>
            </a:xfrm>
            <a:custGeom>
              <a:avLst/>
              <a:gdLst>
                <a:gd name="T0" fmla="*/ 271 w 384"/>
                <a:gd name="T1" fmla="*/ 382 h 455"/>
                <a:gd name="T2" fmla="*/ 247 w 384"/>
                <a:gd name="T3" fmla="*/ 376 h 455"/>
                <a:gd name="T4" fmla="*/ 384 w 384"/>
                <a:gd name="T5" fmla="*/ 192 h 455"/>
                <a:gd name="T6" fmla="*/ 192 w 384"/>
                <a:gd name="T7" fmla="*/ 0 h 455"/>
                <a:gd name="T8" fmla="*/ 0 w 384"/>
                <a:gd name="T9" fmla="*/ 192 h 455"/>
                <a:gd name="T10" fmla="*/ 137 w 384"/>
                <a:gd name="T11" fmla="*/ 376 h 455"/>
                <a:gd name="T12" fmla="*/ 113 w 384"/>
                <a:gd name="T13" fmla="*/ 382 h 455"/>
                <a:gd name="T14" fmla="*/ 42 w 384"/>
                <a:gd name="T15" fmla="*/ 415 h 455"/>
                <a:gd name="T16" fmla="*/ 35 w 384"/>
                <a:gd name="T17" fmla="*/ 427 h 455"/>
                <a:gd name="T18" fmla="*/ 35 w 384"/>
                <a:gd name="T19" fmla="*/ 441 h 455"/>
                <a:gd name="T20" fmla="*/ 50 w 384"/>
                <a:gd name="T21" fmla="*/ 455 h 455"/>
                <a:gd name="T22" fmla="*/ 192 w 384"/>
                <a:gd name="T23" fmla="*/ 455 h 455"/>
                <a:gd name="T24" fmla="*/ 334 w 384"/>
                <a:gd name="T25" fmla="*/ 455 h 455"/>
                <a:gd name="T26" fmla="*/ 349 w 384"/>
                <a:gd name="T27" fmla="*/ 441 h 455"/>
                <a:gd name="T28" fmla="*/ 349 w 384"/>
                <a:gd name="T29" fmla="*/ 427 h 455"/>
                <a:gd name="T30" fmla="*/ 342 w 384"/>
                <a:gd name="T31" fmla="*/ 415 h 455"/>
                <a:gd name="T32" fmla="*/ 271 w 384"/>
                <a:gd name="T33" fmla="*/ 382 h 455"/>
                <a:gd name="T34" fmla="*/ 42 w 384"/>
                <a:gd name="T35" fmla="*/ 192 h 455"/>
                <a:gd name="T36" fmla="*/ 192 w 384"/>
                <a:gd name="T37" fmla="*/ 42 h 455"/>
                <a:gd name="T38" fmla="*/ 342 w 384"/>
                <a:gd name="T39" fmla="*/ 192 h 455"/>
                <a:gd name="T40" fmla="*/ 192 w 384"/>
                <a:gd name="T41" fmla="*/ 341 h 455"/>
                <a:gd name="T42" fmla="*/ 42 w 384"/>
                <a:gd name="T43" fmla="*/ 192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4" h="455">
                  <a:moveTo>
                    <a:pt x="271" y="382"/>
                  </a:moveTo>
                  <a:cubicBezTo>
                    <a:pt x="263" y="380"/>
                    <a:pt x="255" y="378"/>
                    <a:pt x="247" y="376"/>
                  </a:cubicBezTo>
                  <a:cubicBezTo>
                    <a:pt x="326" y="353"/>
                    <a:pt x="384" y="279"/>
                    <a:pt x="384" y="192"/>
                  </a:cubicBezTo>
                  <a:cubicBezTo>
                    <a:pt x="384" y="86"/>
                    <a:pt x="298" y="0"/>
                    <a:pt x="192" y="0"/>
                  </a:cubicBezTo>
                  <a:cubicBezTo>
                    <a:pt x="86" y="0"/>
                    <a:pt x="0" y="86"/>
                    <a:pt x="0" y="192"/>
                  </a:cubicBezTo>
                  <a:cubicBezTo>
                    <a:pt x="0" y="279"/>
                    <a:pt x="58" y="353"/>
                    <a:pt x="137" y="376"/>
                  </a:cubicBezTo>
                  <a:cubicBezTo>
                    <a:pt x="129" y="378"/>
                    <a:pt x="121" y="380"/>
                    <a:pt x="113" y="382"/>
                  </a:cubicBezTo>
                  <a:cubicBezTo>
                    <a:pt x="88" y="390"/>
                    <a:pt x="63" y="401"/>
                    <a:pt x="42" y="415"/>
                  </a:cubicBezTo>
                  <a:cubicBezTo>
                    <a:pt x="38" y="417"/>
                    <a:pt x="35" y="422"/>
                    <a:pt x="35" y="427"/>
                  </a:cubicBezTo>
                  <a:cubicBezTo>
                    <a:pt x="35" y="441"/>
                    <a:pt x="35" y="441"/>
                    <a:pt x="35" y="441"/>
                  </a:cubicBezTo>
                  <a:cubicBezTo>
                    <a:pt x="35" y="449"/>
                    <a:pt x="42" y="455"/>
                    <a:pt x="50" y="455"/>
                  </a:cubicBezTo>
                  <a:cubicBezTo>
                    <a:pt x="192" y="455"/>
                    <a:pt x="192" y="455"/>
                    <a:pt x="192" y="455"/>
                  </a:cubicBezTo>
                  <a:cubicBezTo>
                    <a:pt x="334" y="455"/>
                    <a:pt x="334" y="455"/>
                    <a:pt x="334" y="455"/>
                  </a:cubicBezTo>
                  <a:cubicBezTo>
                    <a:pt x="342" y="455"/>
                    <a:pt x="349" y="449"/>
                    <a:pt x="349" y="441"/>
                  </a:cubicBezTo>
                  <a:cubicBezTo>
                    <a:pt x="349" y="427"/>
                    <a:pt x="349" y="427"/>
                    <a:pt x="349" y="427"/>
                  </a:cubicBezTo>
                  <a:cubicBezTo>
                    <a:pt x="349" y="422"/>
                    <a:pt x="346" y="417"/>
                    <a:pt x="342" y="415"/>
                  </a:cubicBezTo>
                  <a:cubicBezTo>
                    <a:pt x="321" y="401"/>
                    <a:pt x="296" y="390"/>
                    <a:pt x="271" y="382"/>
                  </a:cubicBezTo>
                  <a:close/>
                  <a:moveTo>
                    <a:pt x="42" y="192"/>
                  </a:moveTo>
                  <a:cubicBezTo>
                    <a:pt x="42" y="109"/>
                    <a:pt x="109" y="42"/>
                    <a:pt x="192" y="42"/>
                  </a:cubicBezTo>
                  <a:cubicBezTo>
                    <a:pt x="275" y="42"/>
                    <a:pt x="342" y="109"/>
                    <a:pt x="342" y="192"/>
                  </a:cubicBezTo>
                  <a:cubicBezTo>
                    <a:pt x="342" y="274"/>
                    <a:pt x="275" y="341"/>
                    <a:pt x="192" y="341"/>
                  </a:cubicBezTo>
                  <a:cubicBezTo>
                    <a:pt x="109" y="341"/>
                    <a:pt x="42" y="274"/>
                    <a:pt x="42" y="19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 name="Freeform 16"/>
            <p:cNvSpPr>
              <a:spLocks noEditPoints="1"/>
            </p:cNvSpPr>
            <p:nvPr/>
          </p:nvSpPr>
          <p:spPr bwMode="auto">
            <a:xfrm>
              <a:off x="2138364" y="2105026"/>
              <a:ext cx="538162" cy="538164"/>
            </a:xfrm>
            <a:custGeom>
              <a:avLst/>
              <a:gdLst>
                <a:gd name="T0" fmla="*/ 121 w 242"/>
                <a:gd name="T1" fmla="*/ 0 h 242"/>
                <a:gd name="T2" fmla="*/ 0 w 242"/>
                <a:gd name="T3" fmla="*/ 121 h 242"/>
                <a:gd name="T4" fmla="*/ 121 w 242"/>
                <a:gd name="T5" fmla="*/ 242 h 242"/>
                <a:gd name="T6" fmla="*/ 242 w 242"/>
                <a:gd name="T7" fmla="*/ 121 h 242"/>
                <a:gd name="T8" fmla="*/ 121 w 242"/>
                <a:gd name="T9" fmla="*/ 0 h 242"/>
                <a:gd name="T10" fmla="*/ 121 w 242"/>
                <a:gd name="T11" fmla="*/ 149 h 242"/>
                <a:gd name="T12" fmla="*/ 92 w 242"/>
                <a:gd name="T13" fmla="*/ 121 h 242"/>
                <a:gd name="T14" fmla="*/ 121 w 242"/>
                <a:gd name="T15" fmla="*/ 92 h 242"/>
                <a:gd name="T16" fmla="*/ 149 w 242"/>
                <a:gd name="T17" fmla="*/ 121 h 242"/>
                <a:gd name="T18" fmla="*/ 121 w 242"/>
                <a:gd name="T19" fmla="*/ 149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2" h="242">
                  <a:moveTo>
                    <a:pt x="121" y="0"/>
                  </a:moveTo>
                  <a:cubicBezTo>
                    <a:pt x="54" y="0"/>
                    <a:pt x="0" y="54"/>
                    <a:pt x="0" y="121"/>
                  </a:cubicBezTo>
                  <a:cubicBezTo>
                    <a:pt x="0" y="188"/>
                    <a:pt x="54" y="242"/>
                    <a:pt x="121" y="242"/>
                  </a:cubicBezTo>
                  <a:cubicBezTo>
                    <a:pt x="188" y="242"/>
                    <a:pt x="242" y="188"/>
                    <a:pt x="242" y="121"/>
                  </a:cubicBezTo>
                  <a:cubicBezTo>
                    <a:pt x="242" y="54"/>
                    <a:pt x="188" y="0"/>
                    <a:pt x="121" y="0"/>
                  </a:cubicBezTo>
                  <a:close/>
                  <a:moveTo>
                    <a:pt x="121" y="149"/>
                  </a:moveTo>
                  <a:cubicBezTo>
                    <a:pt x="105" y="149"/>
                    <a:pt x="92" y="137"/>
                    <a:pt x="92" y="121"/>
                  </a:cubicBezTo>
                  <a:cubicBezTo>
                    <a:pt x="92" y="105"/>
                    <a:pt x="105" y="92"/>
                    <a:pt x="121" y="92"/>
                  </a:cubicBezTo>
                  <a:cubicBezTo>
                    <a:pt x="137" y="92"/>
                    <a:pt x="149" y="105"/>
                    <a:pt x="149" y="121"/>
                  </a:cubicBezTo>
                  <a:cubicBezTo>
                    <a:pt x="149" y="137"/>
                    <a:pt x="137" y="149"/>
                    <a:pt x="121" y="14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7" name="Freeform 23"/>
          <p:cNvSpPr>
            <a:spLocks noEditPoints="1"/>
          </p:cNvSpPr>
          <p:nvPr userDrawn="1"/>
        </p:nvSpPr>
        <p:spPr bwMode="auto">
          <a:xfrm>
            <a:off x="622691" y="2637651"/>
            <a:ext cx="273651" cy="273651"/>
          </a:xfrm>
          <a:custGeom>
            <a:avLst/>
            <a:gdLst>
              <a:gd name="T0" fmla="*/ 0 w 432"/>
              <a:gd name="T1" fmla="*/ 216 h 432"/>
              <a:gd name="T2" fmla="*/ 432 w 432"/>
              <a:gd name="T3" fmla="*/ 216 h 432"/>
              <a:gd name="T4" fmla="*/ 371 w 432"/>
              <a:gd name="T5" fmla="*/ 297 h 432"/>
              <a:gd name="T6" fmla="*/ 310 w 432"/>
              <a:gd name="T7" fmla="*/ 364 h 432"/>
              <a:gd name="T8" fmla="*/ 371 w 432"/>
              <a:gd name="T9" fmla="*/ 297 h 432"/>
              <a:gd name="T10" fmla="*/ 274 w 432"/>
              <a:gd name="T11" fmla="*/ 345 h 432"/>
              <a:gd name="T12" fmla="*/ 236 w 432"/>
              <a:gd name="T13" fmla="*/ 297 h 432"/>
              <a:gd name="T14" fmla="*/ 196 w 432"/>
              <a:gd name="T15" fmla="*/ 297 h 432"/>
              <a:gd name="T16" fmla="*/ 157 w 432"/>
              <a:gd name="T17" fmla="*/ 345 h 432"/>
              <a:gd name="T18" fmla="*/ 196 w 432"/>
              <a:gd name="T19" fmla="*/ 297 h 432"/>
              <a:gd name="T20" fmla="*/ 122 w 432"/>
              <a:gd name="T21" fmla="*/ 364 h 432"/>
              <a:gd name="T22" fmla="*/ 60 w 432"/>
              <a:gd name="T23" fmla="*/ 297 h 432"/>
              <a:gd name="T24" fmla="*/ 45 w 432"/>
              <a:gd name="T25" fmla="*/ 257 h 432"/>
              <a:gd name="T26" fmla="*/ 45 w 432"/>
              <a:gd name="T27" fmla="*/ 176 h 432"/>
              <a:gd name="T28" fmla="*/ 88 w 432"/>
              <a:gd name="T29" fmla="*/ 216 h 432"/>
              <a:gd name="T30" fmla="*/ 45 w 432"/>
              <a:gd name="T31" fmla="*/ 257 h 432"/>
              <a:gd name="T32" fmla="*/ 128 w 432"/>
              <a:gd name="T33" fmla="*/ 216 h 432"/>
              <a:gd name="T34" fmla="*/ 196 w 432"/>
              <a:gd name="T35" fmla="*/ 176 h 432"/>
              <a:gd name="T36" fmla="*/ 131 w 432"/>
              <a:gd name="T37" fmla="*/ 257 h 432"/>
              <a:gd name="T38" fmla="*/ 236 w 432"/>
              <a:gd name="T39" fmla="*/ 176 h 432"/>
              <a:gd name="T40" fmla="*/ 303 w 432"/>
              <a:gd name="T41" fmla="*/ 216 h 432"/>
              <a:gd name="T42" fmla="*/ 236 w 432"/>
              <a:gd name="T43" fmla="*/ 257 h 432"/>
              <a:gd name="T44" fmla="*/ 344 w 432"/>
              <a:gd name="T45" fmla="*/ 216 h 432"/>
              <a:gd name="T46" fmla="*/ 386 w 432"/>
              <a:gd name="T47" fmla="*/ 176 h 432"/>
              <a:gd name="T48" fmla="*/ 386 w 432"/>
              <a:gd name="T49" fmla="*/ 257 h 432"/>
              <a:gd name="T50" fmla="*/ 60 w 432"/>
              <a:gd name="T51" fmla="*/ 135 h 432"/>
              <a:gd name="T52" fmla="*/ 122 w 432"/>
              <a:gd name="T53" fmla="*/ 68 h 432"/>
              <a:gd name="T54" fmla="*/ 60 w 432"/>
              <a:gd name="T55" fmla="*/ 135 h 432"/>
              <a:gd name="T56" fmla="*/ 157 w 432"/>
              <a:gd name="T57" fmla="*/ 88 h 432"/>
              <a:gd name="T58" fmla="*/ 196 w 432"/>
              <a:gd name="T59" fmla="*/ 135 h 432"/>
              <a:gd name="T60" fmla="*/ 236 w 432"/>
              <a:gd name="T61" fmla="*/ 135 h 432"/>
              <a:gd name="T62" fmla="*/ 274 w 432"/>
              <a:gd name="T63" fmla="*/ 88 h 432"/>
              <a:gd name="T64" fmla="*/ 236 w 432"/>
              <a:gd name="T65" fmla="*/ 135 h 432"/>
              <a:gd name="T66" fmla="*/ 310 w 432"/>
              <a:gd name="T67" fmla="*/ 68 h 432"/>
              <a:gd name="T68" fmla="*/ 371 w 432"/>
              <a:gd name="T69" fmla="*/ 13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2" h="432">
                <a:moveTo>
                  <a:pt x="216" y="0"/>
                </a:moveTo>
                <a:cubicBezTo>
                  <a:pt x="97" y="0"/>
                  <a:pt x="0" y="97"/>
                  <a:pt x="0" y="216"/>
                </a:cubicBezTo>
                <a:cubicBezTo>
                  <a:pt x="0" y="335"/>
                  <a:pt x="97" y="432"/>
                  <a:pt x="216" y="432"/>
                </a:cubicBezTo>
                <a:cubicBezTo>
                  <a:pt x="335" y="432"/>
                  <a:pt x="432" y="335"/>
                  <a:pt x="432" y="216"/>
                </a:cubicBezTo>
                <a:cubicBezTo>
                  <a:pt x="432" y="97"/>
                  <a:pt x="335" y="0"/>
                  <a:pt x="216" y="0"/>
                </a:cubicBezTo>
                <a:close/>
                <a:moveTo>
                  <a:pt x="371" y="297"/>
                </a:moveTo>
                <a:cubicBezTo>
                  <a:pt x="357" y="324"/>
                  <a:pt x="336" y="348"/>
                  <a:pt x="310" y="364"/>
                </a:cubicBezTo>
                <a:cubicBezTo>
                  <a:pt x="310" y="364"/>
                  <a:pt x="310" y="364"/>
                  <a:pt x="310" y="364"/>
                </a:cubicBezTo>
                <a:cubicBezTo>
                  <a:pt x="320" y="345"/>
                  <a:pt x="329" y="322"/>
                  <a:pt x="335" y="297"/>
                </a:cubicBezTo>
                <a:cubicBezTo>
                  <a:pt x="371" y="297"/>
                  <a:pt x="371" y="297"/>
                  <a:pt x="371" y="297"/>
                </a:cubicBezTo>
                <a:close/>
                <a:moveTo>
                  <a:pt x="293" y="297"/>
                </a:moveTo>
                <a:cubicBezTo>
                  <a:pt x="288" y="315"/>
                  <a:pt x="282" y="331"/>
                  <a:pt x="274" y="345"/>
                </a:cubicBezTo>
                <a:cubicBezTo>
                  <a:pt x="263" y="364"/>
                  <a:pt x="250" y="379"/>
                  <a:pt x="236" y="386"/>
                </a:cubicBezTo>
                <a:cubicBezTo>
                  <a:pt x="236" y="297"/>
                  <a:pt x="236" y="297"/>
                  <a:pt x="236" y="297"/>
                </a:cubicBezTo>
                <a:cubicBezTo>
                  <a:pt x="293" y="297"/>
                  <a:pt x="293" y="297"/>
                  <a:pt x="293" y="297"/>
                </a:cubicBezTo>
                <a:close/>
                <a:moveTo>
                  <a:pt x="196" y="297"/>
                </a:moveTo>
                <a:cubicBezTo>
                  <a:pt x="196" y="386"/>
                  <a:pt x="196" y="386"/>
                  <a:pt x="196" y="386"/>
                </a:cubicBezTo>
                <a:cubicBezTo>
                  <a:pt x="181" y="379"/>
                  <a:pt x="168" y="364"/>
                  <a:pt x="157" y="345"/>
                </a:cubicBezTo>
                <a:cubicBezTo>
                  <a:pt x="150" y="331"/>
                  <a:pt x="143" y="315"/>
                  <a:pt x="138" y="297"/>
                </a:cubicBezTo>
                <a:cubicBezTo>
                  <a:pt x="196" y="297"/>
                  <a:pt x="196" y="297"/>
                  <a:pt x="196" y="297"/>
                </a:cubicBezTo>
                <a:close/>
                <a:moveTo>
                  <a:pt x="97" y="297"/>
                </a:moveTo>
                <a:cubicBezTo>
                  <a:pt x="103" y="322"/>
                  <a:pt x="111" y="345"/>
                  <a:pt x="122" y="364"/>
                </a:cubicBezTo>
                <a:cubicBezTo>
                  <a:pt x="122" y="364"/>
                  <a:pt x="122" y="364"/>
                  <a:pt x="122" y="364"/>
                </a:cubicBezTo>
                <a:cubicBezTo>
                  <a:pt x="96" y="348"/>
                  <a:pt x="75" y="324"/>
                  <a:pt x="60" y="297"/>
                </a:cubicBezTo>
                <a:cubicBezTo>
                  <a:pt x="97" y="297"/>
                  <a:pt x="97" y="297"/>
                  <a:pt x="97" y="297"/>
                </a:cubicBezTo>
                <a:close/>
                <a:moveTo>
                  <a:pt x="45" y="257"/>
                </a:moveTo>
                <a:cubicBezTo>
                  <a:pt x="42" y="244"/>
                  <a:pt x="41" y="230"/>
                  <a:pt x="41" y="216"/>
                </a:cubicBezTo>
                <a:cubicBezTo>
                  <a:pt x="41" y="202"/>
                  <a:pt x="42" y="189"/>
                  <a:pt x="45" y="176"/>
                </a:cubicBezTo>
                <a:cubicBezTo>
                  <a:pt x="90" y="176"/>
                  <a:pt x="90" y="176"/>
                  <a:pt x="90" y="176"/>
                </a:cubicBezTo>
                <a:cubicBezTo>
                  <a:pt x="88" y="189"/>
                  <a:pt x="88" y="202"/>
                  <a:pt x="88" y="216"/>
                </a:cubicBezTo>
                <a:cubicBezTo>
                  <a:pt x="88" y="230"/>
                  <a:pt x="88" y="243"/>
                  <a:pt x="90" y="257"/>
                </a:cubicBezTo>
                <a:cubicBezTo>
                  <a:pt x="45" y="257"/>
                  <a:pt x="45" y="257"/>
                  <a:pt x="45" y="257"/>
                </a:cubicBezTo>
                <a:close/>
                <a:moveTo>
                  <a:pt x="131" y="257"/>
                </a:moveTo>
                <a:cubicBezTo>
                  <a:pt x="129" y="244"/>
                  <a:pt x="128" y="230"/>
                  <a:pt x="128" y="216"/>
                </a:cubicBezTo>
                <a:cubicBezTo>
                  <a:pt x="128" y="202"/>
                  <a:pt x="129" y="189"/>
                  <a:pt x="131" y="176"/>
                </a:cubicBezTo>
                <a:cubicBezTo>
                  <a:pt x="196" y="176"/>
                  <a:pt x="196" y="176"/>
                  <a:pt x="196" y="176"/>
                </a:cubicBezTo>
                <a:cubicBezTo>
                  <a:pt x="196" y="257"/>
                  <a:pt x="196" y="257"/>
                  <a:pt x="196" y="257"/>
                </a:cubicBezTo>
                <a:cubicBezTo>
                  <a:pt x="131" y="257"/>
                  <a:pt x="131" y="257"/>
                  <a:pt x="131" y="257"/>
                </a:cubicBezTo>
                <a:close/>
                <a:moveTo>
                  <a:pt x="236" y="257"/>
                </a:moveTo>
                <a:cubicBezTo>
                  <a:pt x="236" y="176"/>
                  <a:pt x="236" y="176"/>
                  <a:pt x="236" y="176"/>
                </a:cubicBezTo>
                <a:cubicBezTo>
                  <a:pt x="301" y="176"/>
                  <a:pt x="301" y="176"/>
                  <a:pt x="301" y="176"/>
                </a:cubicBezTo>
                <a:cubicBezTo>
                  <a:pt x="303" y="189"/>
                  <a:pt x="303" y="202"/>
                  <a:pt x="303" y="216"/>
                </a:cubicBezTo>
                <a:cubicBezTo>
                  <a:pt x="303" y="230"/>
                  <a:pt x="303" y="244"/>
                  <a:pt x="301" y="257"/>
                </a:cubicBezTo>
                <a:cubicBezTo>
                  <a:pt x="236" y="257"/>
                  <a:pt x="236" y="257"/>
                  <a:pt x="236" y="257"/>
                </a:cubicBezTo>
                <a:close/>
                <a:moveTo>
                  <a:pt x="342" y="257"/>
                </a:moveTo>
                <a:cubicBezTo>
                  <a:pt x="343" y="243"/>
                  <a:pt x="344" y="230"/>
                  <a:pt x="344" y="216"/>
                </a:cubicBezTo>
                <a:cubicBezTo>
                  <a:pt x="344" y="202"/>
                  <a:pt x="343" y="189"/>
                  <a:pt x="342" y="176"/>
                </a:cubicBezTo>
                <a:cubicBezTo>
                  <a:pt x="386" y="176"/>
                  <a:pt x="386" y="176"/>
                  <a:pt x="386" y="176"/>
                </a:cubicBezTo>
                <a:cubicBezTo>
                  <a:pt x="390" y="189"/>
                  <a:pt x="391" y="202"/>
                  <a:pt x="391" y="216"/>
                </a:cubicBezTo>
                <a:cubicBezTo>
                  <a:pt x="391" y="230"/>
                  <a:pt x="390" y="244"/>
                  <a:pt x="386" y="257"/>
                </a:cubicBezTo>
                <a:cubicBezTo>
                  <a:pt x="342" y="257"/>
                  <a:pt x="342" y="257"/>
                  <a:pt x="342" y="257"/>
                </a:cubicBezTo>
                <a:close/>
                <a:moveTo>
                  <a:pt x="60" y="135"/>
                </a:moveTo>
                <a:cubicBezTo>
                  <a:pt x="75" y="108"/>
                  <a:pt x="96" y="85"/>
                  <a:pt x="122" y="68"/>
                </a:cubicBezTo>
                <a:cubicBezTo>
                  <a:pt x="122" y="68"/>
                  <a:pt x="122" y="68"/>
                  <a:pt x="122" y="68"/>
                </a:cubicBezTo>
                <a:cubicBezTo>
                  <a:pt x="111" y="87"/>
                  <a:pt x="103" y="110"/>
                  <a:pt x="97" y="135"/>
                </a:cubicBezTo>
                <a:cubicBezTo>
                  <a:pt x="60" y="135"/>
                  <a:pt x="60" y="135"/>
                  <a:pt x="60" y="135"/>
                </a:cubicBezTo>
                <a:close/>
                <a:moveTo>
                  <a:pt x="138" y="135"/>
                </a:moveTo>
                <a:cubicBezTo>
                  <a:pt x="143" y="117"/>
                  <a:pt x="150" y="101"/>
                  <a:pt x="157" y="88"/>
                </a:cubicBezTo>
                <a:cubicBezTo>
                  <a:pt x="168" y="68"/>
                  <a:pt x="181" y="53"/>
                  <a:pt x="196" y="46"/>
                </a:cubicBezTo>
                <a:cubicBezTo>
                  <a:pt x="196" y="135"/>
                  <a:pt x="196" y="135"/>
                  <a:pt x="196" y="135"/>
                </a:cubicBezTo>
                <a:cubicBezTo>
                  <a:pt x="138" y="135"/>
                  <a:pt x="138" y="135"/>
                  <a:pt x="138" y="135"/>
                </a:cubicBezTo>
                <a:close/>
                <a:moveTo>
                  <a:pt x="236" y="135"/>
                </a:moveTo>
                <a:cubicBezTo>
                  <a:pt x="236" y="46"/>
                  <a:pt x="236" y="46"/>
                  <a:pt x="236" y="46"/>
                </a:cubicBezTo>
                <a:cubicBezTo>
                  <a:pt x="250" y="53"/>
                  <a:pt x="263" y="68"/>
                  <a:pt x="274" y="88"/>
                </a:cubicBezTo>
                <a:cubicBezTo>
                  <a:pt x="282" y="101"/>
                  <a:pt x="288" y="117"/>
                  <a:pt x="293" y="135"/>
                </a:cubicBezTo>
                <a:cubicBezTo>
                  <a:pt x="236" y="135"/>
                  <a:pt x="236" y="135"/>
                  <a:pt x="236" y="135"/>
                </a:cubicBezTo>
                <a:close/>
                <a:moveTo>
                  <a:pt x="335" y="135"/>
                </a:moveTo>
                <a:cubicBezTo>
                  <a:pt x="329" y="110"/>
                  <a:pt x="320" y="87"/>
                  <a:pt x="310" y="68"/>
                </a:cubicBezTo>
                <a:cubicBezTo>
                  <a:pt x="310" y="68"/>
                  <a:pt x="310" y="68"/>
                  <a:pt x="310" y="68"/>
                </a:cubicBezTo>
                <a:cubicBezTo>
                  <a:pt x="336" y="85"/>
                  <a:pt x="357" y="108"/>
                  <a:pt x="371" y="135"/>
                </a:cubicBezTo>
                <a:lnTo>
                  <a:pt x="335" y="1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7"/>
          <p:cNvSpPr>
            <a:spLocks noEditPoints="1"/>
          </p:cNvSpPr>
          <p:nvPr userDrawn="1"/>
        </p:nvSpPr>
        <p:spPr bwMode="auto">
          <a:xfrm>
            <a:off x="630117" y="3756754"/>
            <a:ext cx="264733" cy="263870"/>
          </a:xfrm>
          <a:custGeom>
            <a:avLst/>
            <a:gdLst>
              <a:gd name="T0" fmla="*/ 121 w 430"/>
              <a:gd name="T1" fmla="*/ 0 h 429"/>
              <a:gd name="T2" fmla="*/ 295 w 430"/>
              <a:gd name="T3" fmla="*/ 0 h 429"/>
              <a:gd name="T4" fmla="*/ 322 w 430"/>
              <a:gd name="T5" fmla="*/ 27 h 429"/>
              <a:gd name="T6" fmla="*/ 322 w 430"/>
              <a:gd name="T7" fmla="*/ 41 h 429"/>
              <a:gd name="T8" fmla="*/ 322 w 430"/>
              <a:gd name="T9" fmla="*/ 215 h 429"/>
              <a:gd name="T10" fmla="*/ 295 w 430"/>
              <a:gd name="T11" fmla="*/ 242 h 429"/>
              <a:gd name="T12" fmla="*/ 121 w 430"/>
              <a:gd name="T13" fmla="*/ 242 h 429"/>
              <a:gd name="T14" fmla="*/ 94 w 430"/>
              <a:gd name="T15" fmla="*/ 215 h 429"/>
              <a:gd name="T16" fmla="*/ 94 w 430"/>
              <a:gd name="T17" fmla="*/ 27 h 429"/>
              <a:gd name="T18" fmla="*/ 121 w 430"/>
              <a:gd name="T19" fmla="*/ 0 h 429"/>
              <a:gd name="T20" fmla="*/ 121 w 430"/>
              <a:gd name="T21" fmla="*/ 362 h 429"/>
              <a:gd name="T22" fmla="*/ 295 w 430"/>
              <a:gd name="T23" fmla="*/ 362 h 429"/>
              <a:gd name="T24" fmla="*/ 322 w 430"/>
              <a:gd name="T25" fmla="*/ 389 h 429"/>
              <a:gd name="T26" fmla="*/ 322 w 430"/>
              <a:gd name="T27" fmla="*/ 403 h 429"/>
              <a:gd name="T28" fmla="*/ 295 w 430"/>
              <a:gd name="T29" fmla="*/ 429 h 429"/>
              <a:gd name="T30" fmla="*/ 121 w 430"/>
              <a:gd name="T31" fmla="*/ 429 h 429"/>
              <a:gd name="T32" fmla="*/ 94 w 430"/>
              <a:gd name="T33" fmla="*/ 403 h 429"/>
              <a:gd name="T34" fmla="*/ 94 w 430"/>
              <a:gd name="T35" fmla="*/ 389 h 429"/>
              <a:gd name="T36" fmla="*/ 121 w 430"/>
              <a:gd name="T37" fmla="*/ 362 h 429"/>
              <a:gd name="T38" fmla="*/ 349 w 430"/>
              <a:gd name="T39" fmla="*/ 148 h 429"/>
              <a:gd name="T40" fmla="*/ 349 w 430"/>
              <a:gd name="T41" fmla="*/ 215 h 429"/>
              <a:gd name="T42" fmla="*/ 295 w 430"/>
              <a:gd name="T43" fmla="*/ 268 h 429"/>
              <a:gd name="T44" fmla="*/ 121 w 430"/>
              <a:gd name="T45" fmla="*/ 268 h 429"/>
              <a:gd name="T46" fmla="*/ 67 w 430"/>
              <a:gd name="T47" fmla="*/ 215 h 429"/>
              <a:gd name="T48" fmla="*/ 67 w 430"/>
              <a:gd name="T49" fmla="*/ 148 h 429"/>
              <a:gd name="T50" fmla="*/ 41 w 430"/>
              <a:gd name="T51" fmla="*/ 148 h 429"/>
              <a:gd name="T52" fmla="*/ 0 w 430"/>
              <a:gd name="T53" fmla="*/ 188 h 429"/>
              <a:gd name="T54" fmla="*/ 0 w 430"/>
              <a:gd name="T55" fmla="*/ 362 h 429"/>
              <a:gd name="T56" fmla="*/ 41 w 430"/>
              <a:gd name="T57" fmla="*/ 403 h 429"/>
              <a:gd name="T58" fmla="*/ 67 w 430"/>
              <a:gd name="T59" fmla="*/ 403 h 429"/>
              <a:gd name="T60" fmla="*/ 67 w 430"/>
              <a:gd name="T61" fmla="*/ 389 h 429"/>
              <a:gd name="T62" fmla="*/ 121 w 430"/>
              <a:gd name="T63" fmla="*/ 336 h 429"/>
              <a:gd name="T64" fmla="*/ 295 w 430"/>
              <a:gd name="T65" fmla="*/ 336 h 429"/>
              <a:gd name="T66" fmla="*/ 349 w 430"/>
              <a:gd name="T67" fmla="*/ 389 h 429"/>
              <a:gd name="T68" fmla="*/ 349 w 430"/>
              <a:gd name="T69" fmla="*/ 403 h 429"/>
              <a:gd name="T70" fmla="*/ 389 w 430"/>
              <a:gd name="T71" fmla="*/ 403 h 429"/>
              <a:gd name="T72" fmla="*/ 430 w 430"/>
              <a:gd name="T73" fmla="*/ 362 h 429"/>
              <a:gd name="T74" fmla="*/ 430 w 430"/>
              <a:gd name="T75" fmla="*/ 188 h 429"/>
              <a:gd name="T76" fmla="*/ 389 w 430"/>
              <a:gd name="T77" fmla="*/ 148 h 429"/>
              <a:gd name="T78" fmla="*/ 349 w 430"/>
              <a:gd name="T79" fmla="*/ 148 h 429"/>
              <a:gd name="T80" fmla="*/ 148 w 430"/>
              <a:gd name="T81" fmla="*/ 41 h 429"/>
              <a:gd name="T82" fmla="*/ 135 w 430"/>
              <a:gd name="T83" fmla="*/ 54 h 429"/>
              <a:gd name="T84" fmla="*/ 148 w 430"/>
              <a:gd name="T85" fmla="*/ 67 h 429"/>
              <a:gd name="T86" fmla="*/ 269 w 430"/>
              <a:gd name="T87" fmla="*/ 67 h 429"/>
              <a:gd name="T88" fmla="*/ 282 w 430"/>
              <a:gd name="T89" fmla="*/ 54 h 429"/>
              <a:gd name="T90" fmla="*/ 269 w 430"/>
              <a:gd name="T91" fmla="*/ 41 h 429"/>
              <a:gd name="T92" fmla="*/ 148 w 430"/>
              <a:gd name="T93" fmla="*/ 41 h 429"/>
              <a:gd name="T94" fmla="*/ 148 w 430"/>
              <a:gd name="T95" fmla="*/ 108 h 429"/>
              <a:gd name="T96" fmla="*/ 135 w 430"/>
              <a:gd name="T97" fmla="*/ 121 h 429"/>
              <a:gd name="T98" fmla="*/ 148 w 430"/>
              <a:gd name="T99" fmla="*/ 134 h 429"/>
              <a:gd name="T100" fmla="*/ 269 w 430"/>
              <a:gd name="T101" fmla="*/ 134 h 429"/>
              <a:gd name="T102" fmla="*/ 282 w 430"/>
              <a:gd name="T103" fmla="*/ 121 h 429"/>
              <a:gd name="T104" fmla="*/ 269 w 430"/>
              <a:gd name="T105" fmla="*/ 108 h 429"/>
              <a:gd name="T106" fmla="*/ 148 w 430"/>
              <a:gd name="T107" fmla="*/ 108 h 429"/>
              <a:gd name="T108" fmla="*/ 148 w 430"/>
              <a:gd name="T109" fmla="*/ 175 h 429"/>
              <a:gd name="T110" fmla="*/ 135 w 430"/>
              <a:gd name="T111" fmla="*/ 188 h 429"/>
              <a:gd name="T112" fmla="*/ 148 w 430"/>
              <a:gd name="T113" fmla="*/ 201 h 429"/>
              <a:gd name="T114" fmla="*/ 269 w 430"/>
              <a:gd name="T115" fmla="*/ 201 h 429"/>
              <a:gd name="T116" fmla="*/ 282 w 430"/>
              <a:gd name="T117" fmla="*/ 188 h 429"/>
              <a:gd name="T118" fmla="*/ 269 w 430"/>
              <a:gd name="T119" fmla="*/ 175 h 429"/>
              <a:gd name="T120" fmla="*/ 148 w 430"/>
              <a:gd name="T121" fmla="*/ 175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0" h="429">
                <a:moveTo>
                  <a:pt x="121" y="0"/>
                </a:moveTo>
                <a:cubicBezTo>
                  <a:pt x="295" y="0"/>
                  <a:pt x="295" y="0"/>
                  <a:pt x="295" y="0"/>
                </a:cubicBezTo>
                <a:cubicBezTo>
                  <a:pt x="310" y="0"/>
                  <a:pt x="322" y="12"/>
                  <a:pt x="322" y="27"/>
                </a:cubicBezTo>
                <a:cubicBezTo>
                  <a:pt x="322" y="41"/>
                  <a:pt x="322" y="41"/>
                  <a:pt x="322" y="41"/>
                </a:cubicBezTo>
                <a:cubicBezTo>
                  <a:pt x="322" y="215"/>
                  <a:pt x="322" y="215"/>
                  <a:pt x="322" y="215"/>
                </a:cubicBezTo>
                <a:cubicBezTo>
                  <a:pt x="322" y="230"/>
                  <a:pt x="310" y="242"/>
                  <a:pt x="295" y="242"/>
                </a:cubicBezTo>
                <a:cubicBezTo>
                  <a:pt x="121" y="242"/>
                  <a:pt x="121" y="242"/>
                  <a:pt x="121" y="242"/>
                </a:cubicBezTo>
                <a:cubicBezTo>
                  <a:pt x="106" y="242"/>
                  <a:pt x="94" y="230"/>
                  <a:pt x="94" y="215"/>
                </a:cubicBezTo>
                <a:cubicBezTo>
                  <a:pt x="94" y="27"/>
                  <a:pt x="94" y="27"/>
                  <a:pt x="94" y="27"/>
                </a:cubicBezTo>
                <a:cubicBezTo>
                  <a:pt x="94" y="12"/>
                  <a:pt x="106" y="0"/>
                  <a:pt x="121" y="0"/>
                </a:cubicBezTo>
                <a:close/>
                <a:moveTo>
                  <a:pt x="121" y="362"/>
                </a:moveTo>
                <a:cubicBezTo>
                  <a:pt x="295" y="362"/>
                  <a:pt x="295" y="362"/>
                  <a:pt x="295" y="362"/>
                </a:cubicBezTo>
                <a:cubicBezTo>
                  <a:pt x="310" y="362"/>
                  <a:pt x="322" y="374"/>
                  <a:pt x="322" y="389"/>
                </a:cubicBezTo>
                <a:cubicBezTo>
                  <a:pt x="322" y="403"/>
                  <a:pt x="322" y="403"/>
                  <a:pt x="322" y="403"/>
                </a:cubicBezTo>
                <a:cubicBezTo>
                  <a:pt x="322" y="417"/>
                  <a:pt x="310" y="429"/>
                  <a:pt x="295" y="429"/>
                </a:cubicBezTo>
                <a:cubicBezTo>
                  <a:pt x="121" y="429"/>
                  <a:pt x="121" y="429"/>
                  <a:pt x="121" y="429"/>
                </a:cubicBezTo>
                <a:cubicBezTo>
                  <a:pt x="106" y="429"/>
                  <a:pt x="94" y="417"/>
                  <a:pt x="94" y="403"/>
                </a:cubicBezTo>
                <a:cubicBezTo>
                  <a:pt x="94" y="389"/>
                  <a:pt x="94" y="389"/>
                  <a:pt x="94" y="389"/>
                </a:cubicBezTo>
                <a:cubicBezTo>
                  <a:pt x="94" y="374"/>
                  <a:pt x="106" y="362"/>
                  <a:pt x="121" y="362"/>
                </a:cubicBezTo>
                <a:close/>
                <a:moveTo>
                  <a:pt x="349" y="148"/>
                </a:moveTo>
                <a:cubicBezTo>
                  <a:pt x="349" y="215"/>
                  <a:pt x="349" y="215"/>
                  <a:pt x="349" y="215"/>
                </a:cubicBezTo>
                <a:cubicBezTo>
                  <a:pt x="349" y="244"/>
                  <a:pt x="325" y="268"/>
                  <a:pt x="295" y="268"/>
                </a:cubicBezTo>
                <a:cubicBezTo>
                  <a:pt x="121" y="268"/>
                  <a:pt x="121" y="268"/>
                  <a:pt x="121" y="268"/>
                </a:cubicBezTo>
                <a:cubicBezTo>
                  <a:pt x="92" y="268"/>
                  <a:pt x="67" y="244"/>
                  <a:pt x="67" y="215"/>
                </a:cubicBezTo>
                <a:cubicBezTo>
                  <a:pt x="67" y="148"/>
                  <a:pt x="67" y="148"/>
                  <a:pt x="67" y="148"/>
                </a:cubicBezTo>
                <a:cubicBezTo>
                  <a:pt x="41" y="148"/>
                  <a:pt x="41" y="148"/>
                  <a:pt x="41" y="148"/>
                </a:cubicBezTo>
                <a:cubicBezTo>
                  <a:pt x="19" y="148"/>
                  <a:pt x="0" y="166"/>
                  <a:pt x="0" y="188"/>
                </a:cubicBezTo>
                <a:cubicBezTo>
                  <a:pt x="0" y="362"/>
                  <a:pt x="0" y="362"/>
                  <a:pt x="0" y="362"/>
                </a:cubicBezTo>
                <a:cubicBezTo>
                  <a:pt x="0" y="385"/>
                  <a:pt x="19" y="403"/>
                  <a:pt x="41" y="403"/>
                </a:cubicBezTo>
                <a:cubicBezTo>
                  <a:pt x="67" y="403"/>
                  <a:pt x="67" y="403"/>
                  <a:pt x="67" y="403"/>
                </a:cubicBezTo>
                <a:cubicBezTo>
                  <a:pt x="67" y="389"/>
                  <a:pt x="67" y="389"/>
                  <a:pt x="67" y="389"/>
                </a:cubicBezTo>
                <a:cubicBezTo>
                  <a:pt x="67" y="360"/>
                  <a:pt x="92" y="336"/>
                  <a:pt x="121" y="336"/>
                </a:cubicBezTo>
                <a:cubicBezTo>
                  <a:pt x="295" y="336"/>
                  <a:pt x="295" y="336"/>
                  <a:pt x="295" y="336"/>
                </a:cubicBezTo>
                <a:cubicBezTo>
                  <a:pt x="325" y="336"/>
                  <a:pt x="349" y="360"/>
                  <a:pt x="349" y="389"/>
                </a:cubicBezTo>
                <a:cubicBezTo>
                  <a:pt x="349" y="403"/>
                  <a:pt x="349" y="403"/>
                  <a:pt x="349" y="403"/>
                </a:cubicBezTo>
                <a:cubicBezTo>
                  <a:pt x="389" y="403"/>
                  <a:pt x="389" y="403"/>
                  <a:pt x="389" y="403"/>
                </a:cubicBezTo>
                <a:cubicBezTo>
                  <a:pt x="411" y="403"/>
                  <a:pt x="430" y="385"/>
                  <a:pt x="430" y="362"/>
                </a:cubicBezTo>
                <a:cubicBezTo>
                  <a:pt x="430" y="188"/>
                  <a:pt x="430" y="188"/>
                  <a:pt x="430" y="188"/>
                </a:cubicBezTo>
                <a:cubicBezTo>
                  <a:pt x="430" y="166"/>
                  <a:pt x="411" y="148"/>
                  <a:pt x="389" y="148"/>
                </a:cubicBezTo>
                <a:cubicBezTo>
                  <a:pt x="349" y="148"/>
                  <a:pt x="349" y="148"/>
                  <a:pt x="349" y="148"/>
                </a:cubicBezTo>
                <a:close/>
                <a:moveTo>
                  <a:pt x="148" y="41"/>
                </a:moveTo>
                <a:cubicBezTo>
                  <a:pt x="141" y="41"/>
                  <a:pt x="135" y="47"/>
                  <a:pt x="135" y="54"/>
                </a:cubicBezTo>
                <a:cubicBezTo>
                  <a:pt x="135" y="61"/>
                  <a:pt x="141" y="67"/>
                  <a:pt x="148" y="67"/>
                </a:cubicBezTo>
                <a:cubicBezTo>
                  <a:pt x="269" y="67"/>
                  <a:pt x="269" y="67"/>
                  <a:pt x="269" y="67"/>
                </a:cubicBezTo>
                <a:cubicBezTo>
                  <a:pt x="276" y="67"/>
                  <a:pt x="282" y="61"/>
                  <a:pt x="282" y="54"/>
                </a:cubicBezTo>
                <a:cubicBezTo>
                  <a:pt x="282" y="47"/>
                  <a:pt x="276" y="41"/>
                  <a:pt x="269" y="41"/>
                </a:cubicBezTo>
                <a:cubicBezTo>
                  <a:pt x="148" y="41"/>
                  <a:pt x="148" y="41"/>
                  <a:pt x="148" y="41"/>
                </a:cubicBezTo>
                <a:close/>
                <a:moveTo>
                  <a:pt x="148" y="108"/>
                </a:moveTo>
                <a:cubicBezTo>
                  <a:pt x="141" y="108"/>
                  <a:pt x="135" y="114"/>
                  <a:pt x="135" y="121"/>
                </a:cubicBezTo>
                <a:cubicBezTo>
                  <a:pt x="135" y="128"/>
                  <a:pt x="141" y="134"/>
                  <a:pt x="148" y="134"/>
                </a:cubicBezTo>
                <a:cubicBezTo>
                  <a:pt x="269" y="134"/>
                  <a:pt x="269" y="134"/>
                  <a:pt x="269" y="134"/>
                </a:cubicBezTo>
                <a:cubicBezTo>
                  <a:pt x="276" y="134"/>
                  <a:pt x="282" y="128"/>
                  <a:pt x="282" y="121"/>
                </a:cubicBezTo>
                <a:cubicBezTo>
                  <a:pt x="282" y="114"/>
                  <a:pt x="276" y="108"/>
                  <a:pt x="269" y="108"/>
                </a:cubicBezTo>
                <a:cubicBezTo>
                  <a:pt x="148" y="108"/>
                  <a:pt x="148" y="108"/>
                  <a:pt x="148" y="108"/>
                </a:cubicBezTo>
                <a:close/>
                <a:moveTo>
                  <a:pt x="148" y="175"/>
                </a:moveTo>
                <a:cubicBezTo>
                  <a:pt x="141" y="175"/>
                  <a:pt x="135" y="181"/>
                  <a:pt x="135" y="188"/>
                </a:cubicBezTo>
                <a:cubicBezTo>
                  <a:pt x="135" y="195"/>
                  <a:pt x="141" y="201"/>
                  <a:pt x="148" y="201"/>
                </a:cubicBezTo>
                <a:cubicBezTo>
                  <a:pt x="269" y="201"/>
                  <a:pt x="269" y="201"/>
                  <a:pt x="269" y="201"/>
                </a:cubicBezTo>
                <a:cubicBezTo>
                  <a:pt x="276" y="201"/>
                  <a:pt x="282" y="195"/>
                  <a:pt x="282" y="188"/>
                </a:cubicBezTo>
                <a:cubicBezTo>
                  <a:pt x="282" y="181"/>
                  <a:pt x="276" y="175"/>
                  <a:pt x="269" y="175"/>
                </a:cubicBezTo>
                <a:lnTo>
                  <a:pt x="148" y="17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47"/>
          <p:cNvSpPr>
            <a:spLocks noEditPoints="1"/>
          </p:cNvSpPr>
          <p:nvPr userDrawn="1"/>
        </p:nvSpPr>
        <p:spPr bwMode="auto">
          <a:xfrm>
            <a:off x="635760" y="3239061"/>
            <a:ext cx="257959" cy="257958"/>
          </a:xfrm>
          <a:custGeom>
            <a:avLst/>
            <a:gdLst>
              <a:gd name="T0" fmla="*/ 70 w 430"/>
              <a:gd name="T1" fmla="*/ 417 h 430"/>
              <a:gd name="T2" fmla="*/ 41 w 430"/>
              <a:gd name="T3" fmla="*/ 430 h 430"/>
              <a:gd name="T4" fmla="*/ 0 w 430"/>
              <a:gd name="T5" fmla="*/ 389 h 430"/>
              <a:gd name="T6" fmla="*/ 15 w 430"/>
              <a:gd name="T7" fmla="*/ 358 h 430"/>
              <a:gd name="T8" fmla="*/ 122 w 430"/>
              <a:gd name="T9" fmla="*/ 260 h 430"/>
              <a:gd name="T10" fmla="*/ 94 w 430"/>
              <a:gd name="T11" fmla="*/ 168 h 430"/>
              <a:gd name="T12" fmla="*/ 262 w 430"/>
              <a:gd name="T13" fmla="*/ 0 h 430"/>
              <a:gd name="T14" fmla="*/ 430 w 430"/>
              <a:gd name="T15" fmla="*/ 168 h 430"/>
              <a:gd name="T16" fmla="*/ 262 w 430"/>
              <a:gd name="T17" fmla="*/ 336 h 430"/>
              <a:gd name="T18" fmla="*/ 181 w 430"/>
              <a:gd name="T19" fmla="*/ 315 h 430"/>
              <a:gd name="T20" fmla="*/ 70 w 430"/>
              <a:gd name="T21" fmla="*/ 417 h 430"/>
              <a:gd name="T22" fmla="*/ 262 w 430"/>
              <a:gd name="T23" fmla="*/ 54 h 430"/>
              <a:gd name="T24" fmla="*/ 148 w 430"/>
              <a:gd name="T25" fmla="*/ 168 h 430"/>
              <a:gd name="T26" fmla="*/ 262 w 430"/>
              <a:gd name="T27" fmla="*/ 282 h 430"/>
              <a:gd name="T28" fmla="*/ 376 w 430"/>
              <a:gd name="T29" fmla="*/ 168 h 430"/>
              <a:gd name="T30" fmla="*/ 262 w 430"/>
              <a:gd name="T31" fmla="*/ 5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0" h="430">
                <a:moveTo>
                  <a:pt x="70" y="417"/>
                </a:moveTo>
                <a:cubicBezTo>
                  <a:pt x="62" y="425"/>
                  <a:pt x="52" y="430"/>
                  <a:pt x="41" y="430"/>
                </a:cubicBezTo>
                <a:cubicBezTo>
                  <a:pt x="18" y="430"/>
                  <a:pt x="0" y="412"/>
                  <a:pt x="0" y="389"/>
                </a:cubicBezTo>
                <a:cubicBezTo>
                  <a:pt x="0" y="377"/>
                  <a:pt x="6" y="366"/>
                  <a:pt x="15" y="358"/>
                </a:cubicBezTo>
                <a:cubicBezTo>
                  <a:pt x="122" y="260"/>
                  <a:pt x="122" y="260"/>
                  <a:pt x="122" y="260"/>
                </a:cubicBezTo>
                <a:cubicBezTo>
                  <a:pt x="104" y="233"/>
                  <a:pt x="94" y="202"/>
                  <a:pt x="94" y="168"/>
                </a:cubicBezTo>
                <a:cubicBezTo>
                  <a:pt x="94" y="75"/>
                  <a:pt x="169" y="0"/>
                  <a:pt x="262" y="0"/>
                </a:cubicBezTo>
                <a:cubicBezTo>
                  <a:pt x="355" y="0"/>
                  <a:pt x="430" y="75"/>
                  <a:pt x="430" y="168"/>
                </a:cubicBezTo>
                <a:cubicBezTo>
                  <a:pt x="430" y="261"/>
                  <a:pt x="355" y="336"/>
                  <a:pt x="262" y="336"/>
                </a:cubicBezTo>
                <a:cubicBezTo>
                  <a:pt x="233" y="336"/>
                  <a:pt x="205" y="328"/>
                  <a:pt x="181" y="315"/>
                </a:cubicBezTo>
                <a:cubicBezTo>
                  <a:pt x="70" y="417"/>
                  <a:pt x="70" y="417"/>
                  <a:pt x="70" y="417"/>
                </a:cubicBezTo>
                <a:close/>
                <a:moveTo>
                  <a:pt x="262" y="54"/>
                </a:moveTo>
                <a:cubicBezTo>
                  <a:pt x="199" y="54"/>
                  <a:pt x="148" y="105"/>
                  <a:pt x="148" y="168"/>
                </a:cubicBezTo>
                <a:cubicBezTo>
                  <a:pt x="148" y="231"/>
                  <a:pt x="199" y="282"/>
                  <a:pt x="262" y="282"/>
                </a:cubicBezTo>
                <a:cubicBezTo>
                  <a:pt x="325" y="282"/>
                  <a:pt x="376" y="231"/>
                  <a:pt x="376" y="168"/>
                </a:cubicBezTo>
                <a:cubicBezTo>
                  <a:pt x="376" y="105"/>
                  <a:pt x="325" y="54"/>
                  <a:pt x="262"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2" name="Freeform 43"/>
          <p:cNvSpPr>
            <a:spLocks noEditPoints="1"/>
          </p:cNvSpPr>
          <p:nvPr userDrawn="1"/>
        </p:nvSpPr>
        <p:spPr bwMode="auto">
          <a:xfrm>
            <a:off x="694041" y="6748595"/>
            <a:ext cx="187984" cy="285986"/>
          </a:xfrm>
          <a:custGeom>
            <a:avLst/>
            <a:gdLst>
              <a:gd name="T0" fmla="*/ 44 w 306"/>
              <a:gd name="T1" fmla="*/ 466 h 466"/>
              <a:gd name="T2" fmla="*/ 262 w 306"/>
              <a:gd name="T3" fmla="*/ 466 h 466"/>
              <a:gd name="T4" fmla="*/ 306 w 306"/>
              <a:gd name="T5" fmla="*/ 422 h 466"/>
              <a:gd name="T6" fmla="*/ 306 w 306"/>
              <a:gd name="T7" fmla="*/ 44 h 466"/>
              <a:gd name="T8" fmla="*/ 262 w 306"/>
              <a:gd name="T9" fmla="*/ 0 h 466"/>
              <a:gd name="T10" fmla="*/ 44 w 306"/>
              <a:gd name="T11" fmla="*/ 0 h 466"/>
              <a:gd name="T12" fmla="*/ 0 w 306"/>
              <a:gd name="T13" fmla="*/ 44 h 466"/>
              <a:gd name="T14" fmla="*/ 0 w 306"/>
              <a:gd name="T15" fmla="*/ 422 h 466"/>
              <a:gd name="T16" fmla="*/ 44 w 306"/>
              <a:gd name="T17" fmla="*/ 466 h 466"/>
              <a:gd name="T18" fmla="*/ 66 w 306"/>
              <a:gd name="T19" fmla="*/ 204 h 466"/>
              <a:gd name="T20" fmla="*/ 88 w 306"/>
              <a:gd name="T21" fmla="*/ 226 h 466"/>
              <a:gd name="T22" fmla="*/ 66 w 306"/>
              <a:gd name="T23" fmla="*/ 247 h 466"/>
              <a:gd name="T24" fmla="*/ 44 w 306"/>
              <a:gd name="T25" fmla="*/ 226 h 466"/>
              <a:gd name="T26" fmla="*/ 66 w 306"/>
              <a:gd name="T27" fmla="*/ 204 h 466"/>
              <a:gd name="T28" fmla="*/ 153 w 306"/>
              <a:gd name="T29" fmla="*/ 204 h 466"/>
              <a:gd name="T30" fmla="*/ 175 w 306"/>
              <a:gd name="T31" fmla="*/ 226 h 466"/>
              <a:gd name="T32" fmla="*/ 153 w 306"/>
              <a:gd name="T33" fmla="*/ 247 h 466"/>
              <a:gd name="T34" fmla="*/ 131 w 306"/>
              <a:gd name="T35" fmla="*/ 226 h 466"/>
              <a:gd name="T36" fmla="*/ 153 w 306"/>
              <a:gd name="T37" fmla="*/ 204 h 466"/>
              <a:gd name="T38" fmla="*/ 59 w 306"/>
              <a:gd name="T39" fmla="*/ 44 h 466"/>
              <a:gd name="T40" fmla="*/ 248 w 306"/>
              <a:gd name="T41" fmla="*/ 44 h 466"/>
              <a:gd name="T42" fmla="*/ 262 w 306"/>
              <a:gd name="T43" fmla="*/ 58 h 466"/>
              <a:gd name="T44" fmla="*/ 262 w 306"/>
              <a:gd name="T45" fmla="*/ 145 h 466"/>
              <a:gd name="T46" fmla="*/ 248 w 306"/>
              <a:gd name="T47" fmla="*/ 160 h 466"/>
              <a:gd name="T48" fmla="*/ 59 w 306"/>
              <a:gd name="T49" fmla="*/ 160 h 466"/>
              <a:gd name="T50" fmla="*/ 44 w 306"/>
              <a:gd name="T51" fmla="*/ 145 h 466"/>
              <a:gd name="T52" fmla="*/ 44 w 306"/>
              <a:gd name="T53" fmla="*/ 58 h 466"/>
              <a:gd name="T54" fmla="*/ 59 w 306"/>
              <a:gd name="T55" fmla="*/ 44 h 466"/>
              <a:gd name="T56" fmla="*/ 240 w 306"/>
              <a:gd name="T57" fmla="*/ 378 h 466"/>
              <a:gd name="T58" fmla="*/ 262 w 306"/>
              <a:gd name="T59" fmla="*/ 400 h 466"/>
              <a:gd name="T60" fmla="*/ 240 w 306"/>
              <a:gd name="T61" fmla="*/ 422 h 466"/>
              <a:gd name="T62" fmla="*/ 219 w 306"/>
              <a:gd name="T63" fmla="*/ 400 h 466"/>
              <a:gd name="T64" fmla="*/ 240 w 306"/>
              <a:gd name="T65" fmla="*/ 378 h 466"/>
              <a:gd name="T66" fmla="*/ 66 w 306"/>
              <a:gd name="T67" fmla="*/ 378 h 466"/>
              <a:gd name="T68" fmla="*/ 88 w 306"/>
              <a:gd name="T69" fmla="*/ 400 h 466"/>
              <a:gd name="T70" fmla="*/ 66 w 306"/>
              <a:gd name="T71" fmla="*/ 422 h 466"/>
              <a:gd name="T72" fmla="*/ 44 w 306"/>
              <a:gd name="T73" fmla="*/ 400 h 466"/>
              <a:gd name="T74" fmla="*/ 66 w 306"/>
              <a:gd name="T75" fmla="*/ 378 h 466"/>
              <a:gd name="T76" fmla="*/ 153 w 306"/>
              <a:gd name="T77" fmla="*/ 378 h 466"/>
              <a:gd name="T78" fmla="*/ 175 w 306"/>
              <a:gd name="T79" fmla="*/ 400 h 466"/>
              <a:gd name="T80" fmla="*/ 153 w 306"/>
              <a:gd name="T81" fmla="*/ 422 h 466"/>
              <a:gd name="T82" fmla="*/ 131 w 306"/>
              <a:gd name="T83" fmla="*/ 400 h 466"/>
              <a:gd name="T84" fmla="*/ 153 w 306"/>
              <a:gd name="T85" fmla="*/ 378 h 466"/>
              <a:gd name="T86" fmla="*/ 240 w 306"/>
              <a:gd name="T87" fmla="*/ 291 h 466"/>
              <a:gd name="T88" fmla="*/ 262 w 306"/>
              <a:gd name="T89" fmla="*/ 313 h 466"/>
              <a:gd name="T90" fmla="*/ 240 w 306"/>
              <a:gd name="T91" fmla="*/ 335 h 466"/>
              <a:gd name="T92" fmla="*/ 219 w 306"/>
              <a:gd name="T93" fmla="*/ 313 h 466"/>
              <a:gd name="T94" fmla="*/ 240 w 306"/>
              <a:gd name="T95" fmla="*/ 291 h 466"/>
              <a:gd name="T96" fmla="*/ 66 w 306"/>
              <a:gd name="T97" fmla="*/ 291 h 466"/>
              <a:gd name="T98" fmla="*/ 88 w 306"/>
              <a:gd name="T99" fmla="*/ 313 h 466"/>
              <a:gd name="T100" fmla="*/ 66 w 306"/>
              <a:gd name="T101" fmla="*/ 335 h 466"/>
              <a:gd name="T102" fmla="*/ 44 w 306"/>
              <a:gd name="T103" fmla="*/ 313 h 466"/>
              <a:gd name="T104" fmla="*/ 66 w 306"/>
              <a:gd name="T105" fmla="*/ 291 h 466"/>
              <a:gd name="T106" fmla="*/ 153 w 306"/>
              <a:gd name="T107" fmla="*/ 291 h 466"/>
              <a:gd name="T108" fmla="*/ 175 w 306"/>
              <a:gd name="T109" fmla="*/ 313 h 466"/>
              <a:gd name="T110" fmla="*/ 153 w 306"/>
              <a:gd name="T111" fmla="*/ 335 h 466"/>
              <a:gd name="T112" fmla="*/ 131 w 306"/>
              <a:gd name="T113" fmla="*/ 313 h 466"/>
              <a:gd name="T114" fmla="*/ 153 w 306"/>
              <a:gd name="T115" fmla="*/ 291 h 466"/>
              <a:gd name="T116" fmla="*/ 240 w 306"/>
              <a:gd name="T117" fmla="*/ 204 h 466"/>
              <a:gd name="T118" fmla="*/ 262 w 306"/>
              <a:gd name="T119" fmla="*/ 226 h 466"/>
              <a:gd name="T120" fmla="*/ 240 w 306"/>
              <a:gd name="T121" fmla="*/ 247 h 466"/>
              <a:gd name="T122" fmla="*/ 219 w 306"/>
              <a:gd name="T123" fmla="*/ 226 h 466"/>
              <a:gd name="T124" fmla="*/ 240 w 306"/>
              <a:gd name="T125" fmla="*/ 204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6" h="466">
                <a:moveTo>
                  <a:pt x="44" y="466"/>
                </a:moveTo>
                <a:cubicBezTo>
                  <a:pt x="262" y="466"/>
                  <a:pt x="262" y="466"/>
                  <a:pt x="262" y="466"/>
                </a:cubicBezTo>
                <a:cubicBezTo>
                  <a:pt x="286" y="466"/>
                  <a:pt x="306" y="446"/>
                  <a:pt x="306" y="422"/>
                </a:cubicBezTo>
                <a:cubicBezTo>
                  <a:pt x="306" y="44"/>
                  <a:pt x="306" y="44"/>
                  <a:pt x="306" y="44"/>
                </a:cubicBezTo>
                <a:cubicBezTo>
                  <a:pt x="306" y="20"/>
                  <a:pt x="286" y="0"/>
                  <a:pt x="262" y="0"/>
                </a:cubicBezTo>
                <a:cubicBezTo>
                  <a:pt x="44" y="0"/>
                  <a:pt x="44" y="0"/>
                  <a:pt x="44" y="0"/>
                </a:cubicBezTo>
                <a:cubicBezTo>
                  <a:pt x="20" y="0"/>
                  <a:pt x="0" y="20"/>
                  <a:pt x="0" y="44"/>
                </a:cubicBezTo>
                <a:cubicBezTo>
                  <a:pt x="0" y="422"/>
                  <a:pt x="0" y="422"/>
                  <a:pt x="0" y="422"/>
                </a:cubicBezTo>
                <a:cubicBezTo>
                  <a:pt x="0" y="446"/>
                  <a:pt x="20" y="466"/>
                  <a:pt x="44" y="466"/>
                </a:cubicBezTo>
                <a:close/>
                <a:moveTo>
                  <a:pt x="66" y="204"/>
                </a:moveTo>
                <a:cubicBezTo>
                  <a:pt x="78" y="204"/>
                  <a:pt x="88" y="213"/>
                  <a:pt x="88" y="226"/>
                </a:cubicBezTo>
                <a:cubicBezTo>
                  <a:pt x="88" y="238"/>
                  <a:pt x="78" y="247"/>
                  <a:pt x="66" y="247"/>
                </a:cubicBezTo>
                <a:cubicBezTo>
                  <a:pt x="54" y="247"/>
                  <a:pt x="44" y="238"/>
                  <a:pt x="44" y="226"/>
                </a:cubicBezTo>
                <a:cubicBezTo>
                  <a:pt x="44" y="213"/>
                  <a:pt x="54" y="204"/>
                  <a:pt x="66" y="204"/>
                </a:cubicBezTo>
                <a:close/>
                <a:moveTo>
                  <a:pt x="153" y="204"/>
                </a:moveTo>
                <a:cubicBezTo>
                  <a:pt x="165" y="204"/>
                  <a:pt x="175" y="213"/>
                  <a:pt x="175" y="226"/>
                </a:cubicBezTo>
                <a:cubicBezTo>
                  <a:pt x="175" y="238"/>
                  <a:pt x="165" y="247"/>
                  <a:pt x="153" y="247"/>
                </a:cubicBezTo>
                <a:cubicBezTo>
                  <a:pt x="141" y="247"/>
                  <a:pt x="131" y="238"/>
                  <a:pt x="131" y="226"/>
                </a:cubicBezTo>
                <a:cubicBezTo>
                  <a:pt x="131" y="213"/>
                  <a:pt x="141" y="204"/>
                  <a:pt x="153" y="204"/>
                </a:cubicBezTo>
                <a:close/>
                <a:moveTo>
                  <a:pt x="59" y="44"/>
                </a:moveTo>
                <a:cubicBezTo>
                  <a:pt x="248" y="44"/>
                  <a:pt x="248" y="44"/>
                  <a:pt x="248" y="44"/>
                </a:cubicBezTo>
                <a:cubicBezTo>
                  <a:pt x="256" y="44"/>
                  <a:pt x="262" y="50"/>
                  <a:pt x="262" y="58"/>
                </a:cubicBezTo>
                <a:cubicBezTo>
                  <a:pt x="262" y="145"/>
                  <a:pt x="262" y="145"/>
                  <a:pt x="262" y="145"/>
                </a:cubicBezTo>
                <a:cubicBezTo>
                  <a:pt x="262" y="153"/>
                  <a:pt x="256" y="160"/>
                  <a:pt x="248" y="160"/>
                </a:cubicBezTo>
                <a:cubicBezTo>
                  <a:pt x="59" y="160"/>
                  <a:pt x="59" y="160"/>
                  <a:pt x="59" y="160"/>
                </a:cubicBezTo>
                <a:cubicBezTo>
                  <a:pt x="51" y="160"/>
                  <a:pt x="44" y="153"/>
                  <a:pt x="44" y="145"/>
                </a:cubicBezTo>
                <a:cubicBezTo>
                  <a:pt x="44" y="58"/>
                  <a:pt x="44" y="58"/>
                  <a:pt x="44" y="58"/>
                </a:cubicBezTo>
                <a:cubicBezTo>
                  <a:pt x="44" y="50"/>
                  <a:pt x="51" y="44"/>
                  <a:pt x="59" y="44"/>
                </a:cubicBezTo>
                <a:close/>
                <a:moveTo>
                  <a:pt x="240" y="378"/>
                </a:moveTo>
                <a:cubicBezTo>
                  <a:pt x="253" y="378"/>
                  <a:pt x="262" y="388"/>
                  <a:pt x="262" y="400"/>
                </a:cubicBezTo>
                <a:cubicBezTo>
                  <a:pt x="262" y="412"/>
                  <a:pt x="253" y="422"/>
                  <a:pt x="240" y="422"/>
                </a:cubicBezTo>
                <a:cubicBezTo>
                  <a:pt x="228" y="422"/>
                  <a:pt x="219" y="412"/>
                  <a:pt x="219" y="400"/>
                </a:cubicBezTo>
                <a:cubicBezTo>
                  <a:pt x="219" y="388"/>
                  <a:pt x="228" y="378"/>
                  <a:pt x="240" y="378"/>
                </a:cubicBezTo>
                <a:close/>
                <a:moveTo>
                  <a:pt x="66" y="378"/>
                </a:moveTo>
                <a:cubicBezTo>
                  <a:pt x="78" y="378"/>
                  <a:pt x="88" y="388"/>
                  <a:pt x="88" y="400"/>
                </a:cubicBezTo>
                <a:cubicBezTo>
                  <a:pt x="88" y="412"/>
                  <a:pt x="78" y="422"/>
                  <a:pt x="66" y="422"/>
                </a:cubicBezTo>
                <a:cubicBezTo>
                  <a:pt x="54" y="422"/>
                  <a:pt x="44" y="412"/>
                  <a:pt x="44" y="400"/>
                </a:cubicBezTo>
                <a:cubicBezTo>
                  <a:pt x="44" y="388"/>
                  <a:pt x="54" y="378"/>
                  <a:pt x="66" y="378"/>
                </a:cubicBezTo>
                <a:close/>
                <a:moveTo>
                  <a:pt x="153" y="378"/>
                </a:moveTo>
                <a:cubicBezTo>
                  <a:pt x="165" y="378"/>
                  <a:pt x="175" y="388"/>
                  <a:pt x="175" y="400"/>
                </a:cubicBezTo>
                <a:cubicBezTo>
                  <a:pt x="175" y="412"/>
                  <a:pt x="165" y="422"/>
                  <a:pt x="153" y="422"/>
                </a:cubicBezTo>
                <a:cubicBezTo>
                  <a:pt x="141" y="422"/>
                  <a:pt x="131" y="412"/>
                  <a:pt x="131" y="400"/>
                </a:cubicBezTo>
                <a:cubicBezTo>
                  <a:pt x="131" y="388"/>
                  <a:pt x="141" y="378"/>
                  <a:pt x="153" y="378"/>
                </a:cubicBezTo>
                <a:close/>
                <a:moveTo>
                  <a:pt x="240" y="291"/>
                </a:moveTo>
                <a:cubicBezTo>
                  <a:pt x="253" y="291"/>
                  <a:pt x="262" y="301"/>
                  <a:pt x="262" y="313"/>
                </a:cubicBezTo>
                <a:cubicBezTo>
                  <a:pt x="262" y="325"/>
                  <a:pt x="253" y="335"/>
                  <a:pt x="240" y="335"/>
                </a:cubicBezTo>
                <a:cubicBezTo>
                  <a:pt x="228" y="335"/>
                  <a:pt x="219" y="325"/>
                  <a:pt x="219" y="313"/>
                </a:cubicBezTo>
                <a:cubicBezTo>
                  <a:pt x="219" y="301"/>
                  <a:pt x="228" y="291"/>
                  <a:pt x="240" y="291"/>
                </a:cubicBezTo>
                <a:close/>
                <a:moveTo>
                  <a:pt x="66" y="291"/>
                </a:moveTo>
                <a:cubicBezTo>
                  <a:pt x="78" y="291"/>
                  <a:pt x="88" y="301"/>
                  <a:pt x="88" y="313"/>
                </a:cubicBezTo>
                <a:cubicBezTo>
                  <a:pt x="88" y="325"/>
                  <a:pt x="78" y="335"/>
                  <a:pt x="66" y="335"/>
                </a:cubicBezTo>
                <a:cubicBezTo>
                  <a:pt x="54" y="335"/>
                  <a:pt x="44" y="325"/>
                  <a:pt x="44" y="313"/>
                </a:cubicBezTo>
                <a:cubicBezTo>
                  <a:pt x="44" y="301"/>
                  <a:pt x="54" y="291"/>
                  <a:pt x="66" y="291"/>
                </a:cubicBezTo>
                <a:close/>
                <a:moveTo>
                  <a:pt x="153" y="291"/>
                </a:moveTo>
                <a:cubicBezTo>
                  <a:pt x="165" y="291"/>
                  <a:pt x="175" y="301"/>
                  <a:pt x="175" y="313"/>
                </a:cubicBezTo>
                <a:cubicBezTo>
                  <a:pt x="175" y="325"/>
                  <a:pt x="165" y="335"/>
                  <a:pt x="153" y="335"/>
                </a:cubicBezTo>
                <a:cubicBezTo>
                  <a:pt x="141" y="335"/>
                  <a:pt x="131" y="325"/>
                  <a:pt x="131" y="313"/>
                </a:cubicBezTo>
                <a:cubicBezTo>
                  <a:pt x="131" y="301"/>
                  <a:pt x="141" y="291"/>
                  <a:pt x="153" y="291"/>
                </a:cubicBezTo>
                <a:close/>
                <a:moveTo>
                  <a:pt x="240" y="204"/>
                </a:moveTo>
                <a:cubicBezTo>
                  <a:pt x="253" y="204"/>
                  <a:pt x="262" y="213"/>
                  <a:pt x="262" y="226"/>
                </a:cubicBezTo>
                <a:cubicBezTo>
                  <a:pt x="262" y="238"/>
                  <a:pt x="253" y="247"/>
                  <a:pt x="240" y="247"/>
                </a:cubicBezTo>
                <a:cubicBezTo>
                  <a:pt x="228" y="247"/>
                  <a:pt x="219" y="238"/>
                  <a:pt x="219" y="226"/>
                </a:cubicBezTo>
                <a:cubicBezTo>
                  <a:pt x="219" y="213"/>
                  <a:pt x="228" y="204"/>
                  <a:pt x="240" y="20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6" name="Freeform 23"/>
          <p:cNvSpPr>
            <a:spLocks noEditPoints="1"/>
          </p:cNvSpPr>
          <p:nvPr userDrawn="1"/>
        </p:nvSpPr>
        <p:spPr bwMode="auto">
          <a:xfrm>
            <a:off x="620907" y="4993115"/>
            <a:ext cx="275792" cy="275425"/>
          </a:xfrm>
          <a:custGeom>
            <a:avLst/>
            <a:gdLst>
              <a:gd name="T0" fmla="*/ 232 w 464"/>
              <a:gd name="T1" fmla="*/ 210 h 463"/>
              <a:gd name="T2" fmla="*/ 254 w 464"/>
              <a:gd name="T3" fmla="*/ 232 h 463"/>
              <a:gd name="T4" fmla="*/ 232 w 464"/>
              <a:gd name="T5" fmla="*/ 253 h 463"/>
              <a:gd name="T6" fmla="*/ 210 w 464"/>
              <a:gd name="T7" fmla="*/ 232 h 463"/>
              <a:gd name="T8" fmla="*/ 232 w 464"/>
              <a:gd name="T9" fmla="*/ 210 h 463"/>
              <a:gd name="T10" fmla="*/ 232 w 464"/>
              <a:gd name="T11" fmla="*/ 72 h 463"/>
              <a:gd name="T12" fmla="*/ 73 w 464"/>
              <a:gd name="T13" fmla="*/ 232 h 463"/>
              <a:gd name="T14" fmla="*/ 232 w 464"/>
              <a:gd name="T15" fmla="*/ 391 h 463"/>
              <a:gd name="T16" fmla="*/ 391 w 464"/>
              <a:gd name="T17" fmla="*/ 232 h 463"/>
              <a:gd name="T18" fmla="*/ 232 w 464"/>
              <a:gd name="T19" fmla="*/ 72 h 463"/>
              <a:gd name="T20" fmla="*/ 317 w 464"/>
              <a:gd name="T21" fmla="*/ 165 h 463"/>
              <a:gd name="T22" fmla="*/ 276 w 464"/>
              <a:gd name="T23" fmla="*/ 268 h 463"/>
              <a:gd name="T24" fmla="*/ 268 w 464"/>
              <a:gd name="T25" fmla="*/ 276 h 463"/>
              <a:gd name="T26" fmla="*/ 166 w 464"/>
              <a:gd name="T27" fmla="*/ 317 h 463"/>
              <a:gd name="T28" fmla="*/ 147 w 464"/>
              <a:gd name="T29" fmla="*/ 309 h 463"/>
              <a:gd name="T30" fmla="*/ 147 w 464"/>
              <a:gd name="T31" fmla="*/ 298 h 463"/>
              <a:gd name="T32" fmla="*/ 188 w 464"/>
              <a:gd name="T33" fmla="*/ 196 h 463"/>
              <a:gd name="T34" fmla="*/ 196 w 464"/>
              <a:gd name="T35" fmla="*/ 188 h 463"/>
              <a:gd name="T36" fmla="*/ 298 w 464"/>
              <a:gd name="T37" fmla="*/ 147 h 463"/>
              <a:gd name="T38" fmla="*/ 317 w 464"/>
              <a:gd name="T39" fmla="*/ 155 h 463"/>
              <a:gd name="T40" fmla="*/ 317 w 464"/>
              <a:gd name="T41" fmla="*/ 165 h 463"/>
              <a:gd name="T42" fmla="*/ 232 w 464"/>
              <a:gd name="T43" fmla="*/ 0 h 463"/>
              <a:gd name="T44" fmla="*/ 0 w 464"/>
              <a:gd name="T45" fmla="*/ 232 h 463"/>
              <a:gd name="T46" fmla="*/ 232 w 464"/>
              <a:gd name="T47" fmla="*/ 463 h 463"/>
              <a:gd name="T48" fmla="*/ 464 w 464"/>
              <a:gd name="T49" fmla="*/ 232 h 463"/>
              <a:gd name="T50" fmla="*/ 232 w 464"/>
              <a:gd name="T51" fmla="*/ 0 h 463"/>
              <a:gd name="T52" fmla="*/ 232 w 464"/>
              <a:gd name="T53" fmla="*/ 420 h 463"/>
              <a:gd name="T54" fmla="*/ 44 w 464"/>
              <a:gd name="T55" fmla="*/ 232 h 463"/>
              <a:gd name="T56" fmla="*/ 232 w 464"/>
              <a:gd name="T57" fmla="*/ 43 h 463"/>
              <a:gd name="T58" fmla="*/ 420 w 464"/>
              <a:gd name="T59" fmla="*/ 232 h 463"/>
              <a:gd name="T60" fmla="*/ 232 w 464"/>
              <a:gd name="T61" fmla="*/ 420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4" h="463">
                <a:moveTo>
                  <a:pt x="232" y="210"/>
                </a:moveTo>
                <a:cubicBezTo>
                  <a:pt x="244" y="210"/>
                  <a:pt x="254" y="220"/>
                  <a:pt x="254" y="232"/>
                </a:cubicBezTo>
                <a:cubicBezTo>
                  <a:pt x="254" y="244"/>
                  <a:pt x="244" y="253"/>
                  <a:pt x="232" y="253"/>
                </a:cubicBezTo>
                <a:cubicBezTo>
                  <a:pt x="220" y="253"/>
                  <a:pt x="210" y="244"/>
                  <a:pt x="210" y="232"/>
                </a:cubicBezTo>
                <a:cubicBezTo>
                  <a:pt x="210" y="220"/>
                  <a:pt x="220" y="210"/>
                  <a:pt x="232" y="210"/>
                </a:cubicBezTo>
                <a:close/>
                <a:moveTo>
                  <a:pt x="232" y="72"/>
                </a:moveTo>
                <a:cubicBezTo>
                  <a:pt x="144" y="72"/>
                  <a:pt x="73" y="144"/>
                  <a:pt x="73" y="232"/>
                </a:cubicBezTo>
                <a:cubicBezTo>
                  <a:pt x="73" y="320"/>
                  <a:pt x="144" y="391"/>
                  <a:pt x="232" y="391"/>
                </a:cubicBezTo>
                <a:cubicBezTo>
                  <a:pt x="320" y="391"/>
                  <a:pt x="391" y="320"/>
                  <a:pt x="391" y="232"/>
                </a:cubicBezTo>
                <a:cubicBezTo>
                  <a:pt x="391" y="144"/>
                  <a:pt x="320" y="72"/>
                  <a:pt x="232" y="72"/>
                </a:cubicBezTo>
                <a:close/>
                <a:moveTo>
                  <a:pt x="317" y="165"/>
                </a:moveTo>
                <a:cubicBezTo>
                  <a:pt x="276" y="268"/>
                  <a:pt x="276" y="268"/>
                  <a:pt x="276" y="268"/>
                </a:cubicBezTo>
                <a:cubicBezTo>
                  <a:pt x="275" y="271"/>
                  <a:pt x="272" y="274"/>
                  <a:pt x="268" y="276"/>
                </a:cubicBezTo>
                <a:cubicBezTo>
                  <a:pt x="166" y="317"/>
                  <a:pt x="166" y="317"/>
                  <a:pt x="166" y="317"/>
                </a:cubicBezTo>
                <a:cubicBezTo>
                  <a:pt x="158" y="320"/>
                  <a:pt x="150" y="316"/>
                  <a:pt x="147" y="309"/>
                </a:cubicBezTo>
                <a:cubicBezTo>
                  <a:pt x="145" y="305"/>
                  <a:pt x="146" y="301"/>
                  <a:pt x="147" y="298"/>
                </a:cubicBezTo>
                <a:cubicBezTo>
                  <a:pt x="188" y="196"/>
                  <a:pt x="188" y="196"/>
                  <a:pt x="188" y="196"/>
                </a:cubicBezTo>
                <a:cubicBezTo>
                  <a:pt x="189" y="192"/>
                  <a:pt x="192" y="189"/>
                  <a:pt x="196" y="188"/>
                </a:cubicBezTo>
                <a:cubicBezTo>
                  <a:pt x="298" y="147"/>
                  <a:pt x="298" y="147"/>
                  <a:pt x="298" y="147"/>
                </a:cubicBezTo>
                <a:cubicBezTo>
                  <a:pt x="306" y="144"/>
                  <a:pt x="314" y="147"/>
                  <a:pt x="317" y="155"/>
                </a:cubicBezTo>
                <a:cubicBezTo>
                  <a:pt x="319" y="158"/>
                  <a:pt x="318" y="162"/>
                  <a:pt x="317" y="165"/>
                </a:cubicBezTo>
                <a:close/>
                <a:moveTo>
                  <a:pt x="232" y="0"/>
                </a:moveTo>
                <a:cubicBezTo>
                  <a:pt x="104" y="0"/>
                  <a:pt x="0" y="104"/>
                  <a:pt x="0" y="232"/>
                </a:cubicBezTo>
                <a:cubicBezTo>
                  <a:pt x="0" y="360"/>
                  <a:pt x="104" y="463"/>
                  <a:pt x="232" y="463"/>
                </a:cubicBezTo>
                <a:cubicBezTo>
                  <a:pt x="360" y="463"/>
                  <a:pt x="464" y="360"/>
                  <a:pt x="464" y="232"/>
                </a:cubicBezTo>
                <a:cubicBezTo>
                  <a:pt x="464" y="104"/>
                  <a:pt x="360" y="0"/>
                  <a:pt x="232" y="0"/>
                </a:cubicBezTo>
                <a:close/>
                <a:moveTo>
                  <a:pt x="232" y="420"/>
                </a:moveTo>
                <a:cubicBezTo>
                  <a:pt x="128" y="420"/>
                  <a:pt x="44" y="336"/>
                  <a:pt x="44" y="232"/>
                </a:cubicBezTo>
                <a:cubicBezTo>
                  <a:pt x="44" y="128"/>
                  <a:pt x="128" y="43"/>
                  <a:pt x="232" y="43"/>
                </a:cubicBezTo>
                <a:cubicBezTo>
                  <a:pt x="336" y="43"/>
                  <a:pt x="420" y="128"/>
                  <a:pt x="420" y="232"/>
                </a:cubicBezTo>
                <a:cubicBezTo>
                  <a:pt x="420" y="336"/>
                  <a:pt x="336" y="420"/>
                  <a:pt x="232" y="42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7" name="Freeform 15"/>
          <p:cNvSpPr>
            <a:spLocks noEditPoints="1"/>
          </p:cNvSpPr>
          <p:nvPr userDrawn="1"/>
        </p:nvSpPr>
        <p:spPr bwMode="auto">
          <a:xfrm>
            <a:off x="642567" y="6148046"/>
            <a:ext cx="249785" cy="250560"/>
          </a:xfrm>
          <a:custGeom>
            <a:avLst/>
            <a:gdLst>
              <a:gd name="T0" fmla="*/ 19 w 407"/>
              <a:gd name="T1" fmla="*/ 370 h 408"/>
              <a:gd name="T2" fmla="*/ 388 w 407"/>
              <a:gd name="T3" fmla="*/ 370 h 408"/>
              <a:gd name="T4" fmla="*/ 407 w 407"/>
              <a:gd name="T5" fmla="*/ 389 h 408"/>
              <a:gd name="T6" fmla="*/ 388 w 407"/>
              <a:gd name="T7" fmla="*/ 408 h 408"/>
              <a:gd name="T8" fmla="*/ 19 w 407"/>
              <a:gd name="T9" fmla="*/ 408 h 408"/>
              <a:gd name="T10" fmla="*/ 0 w 407"/>
              <a:gd name="T11" fmla="*/ 389 h 408"/>
              <a:gd name="T12" fmla="*/ 19 w 407"/>
              <a:gd name="T13" fmla="*/ 370 h 408"/>
              <a:gd name="T14" fmla="*/ 356 w 407"/>
              <a:gd name="T15" fmla="*/ 0 h 408"/>
              <a:gd name="T16" fmla="*/ 305 w 407"/>
              <a:gd name="T17" fmla="*/ 0 h 408"/>
              <a:gd name="T18" fmla="*/ 280 w 407"/>
              <a:gd name="T19" fmla="*/ 25 h 408"/>
              <a:gd name="T20" fmla="*/ 280 w 407"/>
              <a:gd name="T21" fmla="*/ 319 h 408"/>
              <a:gd name="T22" fmla="*/ 305 w 407"/>
              <a:gd name="T23" fmla="*/ 344 h 408"/>
              <a:gd name="T24" fmla="*/ 356 w 407"/>
              <a:gd name="T25" fmla="*/ 344 h 408"/>
              <a:gd name="T26" fmla="*/ 382 w 407"/>
              <a:gd name="T27" fmla="*/ 319 h 408"/>
              <a:gd name="T28" fmla="*/ 382 w 407"/>
              <a:gd name="T29" fmla="*/ 25 h 408"/>
              <a:gd name="T30" fmla="*/ 356 w 407"/>
              <a:gd name="T31" fmla="*/ 0 h 408"/>
              <a:gd name="T32" fmla="*/ 102 w 407"/>
              <a:gd name="T33" fmla="*/ 204 h 408"/>
              <a:gd name="T34" fmla="*/ 51 w 407"/>
              <a:gd name="T35" fmla="*/ 204 h 408"/>
              <a:gd name="T36" fmla="*/ 25 w 407"/>
              <a:gd name="T37" fmla="*/ 229 h 408"/>
              <a:gd name="T38" fmla="*/ 25 w 407"/>
              <a:gd name="T39" fmla="*/ 319 h 408"/>
              <a:gd name="T40" fmla="*/ 51 w 407"/>
              <a:gd name="T41" fmla="*/ 344 h 408"/>
              <a:gd name="T42" fmla="*/ 102 w 407"/>
              <a:gd name="T43" fmla="*/ 344 h 408"/>
              <a:gd name="T44" fmla="*/ 127 w 407"/>
              <a:gd name="T45" fmla="*/ 319 h 408"/>
              <a:gd name="T46" fmla="*/ 127 w 407"/>
              <a:gd name="T47" fmla="*/ 229 h 408"/>
              <a:gd name="T48" fmla="*/ 102 w 407"/>
              <a:gd name="T49" fmla="*/ 204 h 408"/>
              <a:gd name="T50" fmla="*/ 229 w 407"/>
              <a:gd name="T51" fmla="*/ 102 h 408"/>
              <a:gd name="T52" fmla="*/ 178 w 407"/>
              <a:gd name="T53" fmla="*/ 102 h 408"/>
              <a:gd name="T54" fmla="*/ 152 w 407"/>
              <a:gd name="T55" fmla="*/ 127 h 408"/>
              <a:gd name="T56" fmla="*/ 152 w 407"/>
              <a:gd name="T57" fmla="*/ 319 h 408"/>
              <a:gd name="T58" fmla="*/ 172 w 407"/>
              <a:gd name="T59" fmla="*/ 344 h 408"/>
              <a:gd name="T60" fmla="*/ 229 w 407"/>
              <a:gd name="T61" fmla="*/ 344 h 408"/>
              <a:gd name="T62" fmla="*/ 254 w 407"/>
              <a:gd name="T63" fmla="*/ 319 h 408"/>
              <a:gd name="T64" fmla="*/ 254 w 407"/>
              <a:gd name="T65" fmla="*/ 127 h 408"/>
              <a:gd name="T66" fmla="*/ 229 w 407"/>
              <a:gd name="T67" fmla="*/ 10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07" h="408">
                <a:moveTo>
                  <a:pt x="19" y="370"/>
                </a:moveTo>
                <a:cubicBezTo>
                  <a:pt x="388" y="370"/>
                  <a:pt x="388" y="370"/>
                  <a:pt x="388" y="370"/>
                </a:cubicBezTo>
                <a:cubicBezTo>
                  <a:pt x="399" y="370"/>
                  <a:pt x="407" y="378"/>
                  <a:pt x="407" y="389"/>
                </a:cubicBezTo>
                <a:cubicBezTo>
                  <a:pt x="407" y="399"/>
                  <a:pt x="399" y="408"/>
                  <a:pt x="388" y="408"/>
                </a:cubicBezTo>
                <a:cubicBezTo>
                  <a:pt x="19" y="408"/>
                  <a:pt x="19" y="408"/>
                  <a:pt x="19" y="408"/>
                </a:cubicBezTo>
                <a:cubicBezTo>
                  <a:pt x="8" y="408"/>
                  <a:pt x="0" y="399"/>
                  <a:pt x="0" y="389"/>
                </a:cubicBezTo>
                <a:cubicBezTo>
                  <a:pt x="0" y="378"/>
                  <a:pt x="8" y="370"/>
                  <a:pt x="19" y="370"/>
                </a:cubicBezTo>
                <a:close/>
                <a:moveTo>
                  <a:pt x="356" y="0"/>
                </a:moveTo>
                <a:cubicBezTo>
                  <a:pt x="305" y="0"/>
                  <a:pt x="305" y="0"/>
                  <a:pt x="305" y="0"/>
                </a:cubicBezTo>
                <a:cubicBezTo>
                  <a:pt x="291" y="0"/>
                  <a:pt x="280" y="11"/>
                  <a:pt x="280" y="25"/>
                </a:cubicBezTo>
                <a:cubicBezTo>
                  <a:pt x="280" y="319"/>
                  <a:pt x="280" y="319"/>
                  <a:pt x="280" y="319"/>
                </a:cubicBezTo>
                <a:cubicBezTo>
                  <a:pt x="280" y="333"/>
                  <a:pt x="291" y="344"/>
                  <a:pt x="305" y="344"/>
                </a:cubicBezTo>
                <a:cubicBezTo>
                  <a:pt x="356" y="344"/>
                  <a:pt x="356" y="344"/>
                  <a:pt x="356" y="344"/>
                </a:cubicBezTo>
                <a:cubicBezTo>
                  <a:pt x="370" y="344"/>
                  <a:pt x="382" y="333"/>
                  <a:pt x="382" y="319"/>
                </a:cubicBezTo>
                <a:cubicBezTo>
                  <a:pt x="382" y="25"/>
                  <a:pt x="382" y="25"/>
                  <a:pt x="382" y="25"/>
                </a:cubicBezTo>
                <a:cubicBezTo>
                  <a:pt x="382" y="11"/>
                  <a:pt x="370" y="0"/>
                  <a:pt x="356" y="0"/>
                </a:cubicBezTo>
                <a:close/>
                <a:moveTo>
                  <a:pt x="102" y="204"/>
                </a:moveTo>
                <a:cubicBezTo>
                  <a:pt x="51" y="204"/>
                  <a:pt x="51" y="204"/>
                  <a:pt x="51" y="204"/>
                </a:cubicBezTo>
                <a:cubicBezTo>
                  <a:pt x="37" y="204"/>
                  <a:pt x="25" y="215"/>
                  <a:pt x="25" y="229"/>
                </a:cubicBezTo>
                <a:cubicBezTo>
                  <a:pt x="25" y="319"/>
                  <a:pt x="25" y="319"/>
                  <a:pt x="25" y="319"/>
                </a:cubicBezTo>
                <a:cubicBezTo>
                  <a:pt x="25" y="333"/>
                  <a:pt x="37" y="344"/>
                  <a:pt x="51" y="344"/>
                </a:cubicBezTo>
                <a:cubicBezTo>
                  <a:pt x="102" y="344"/>
                  <a:pt x="102" y="344"/>
                  <a:pt x="102" y="344"/>
                </a:cubicBezTo>
                <a:cubicBezTo>
                  <a:pt x="116" y="344"/>
                  <a:pt x="127" y="333"/>
                  <a:pt x="127" y="319"/>
                </a:cubicBezTo>
                <a:cubicBezTo>
                  <a:pt x="127" y="229"/>
                  <a:pt x="127" y="229"/>
                  <a:pt x="127" y="229"/>
                </a:cubicBezTo>
                <a:cubicBezTo>
                  <a:pt x="127" y="215"/>
                  <a:pt x="116" y="204"/>
                  <a:pt x="102" y="204"/>
                </a:cubicBezTo>
                <a:close/>
                <a:moveTo>
                  <a:pt x="229" y="102"/>
                </a:moveTo>
                <a:cubicBezTo>
                  <a:pt x="178" y="102"/>
                  <a:pt x="178" y="102"/>
                  <a:pt x="178" y="102"/>
                </a:cubicBezTo>
                <a:cubicBezTo>
                  <a:pt x="164" y="102"/>
                  <a:pt x="152" y="113"/>
                  <a:pt x="152" y="127"/>
                </a:cubicBezTo>
                <a:cubicBezTo>
                  <a:pt x="152" y="319"/>
                  <a:pt x="152" y="319"/>
                  <a:pt x="152" y="319"/>
                </a:cubicBezTo>
                <a:cubicBezTo>
                  <a:pt x="152" y="333"/>
                  <a:pt x="158" y="344"/>
                  <a:pt x="172" y="344"/>
                </a:cubicBezTo>
                <a:cubicBezTo>
                  <a:pt x="229" y="344"/>
                  <a:pt x="229" y="344"/>
                  <a:pt x="229" y="344"/>
                </a:cubicBezTo>
                <a:cubicBezTo>
                  <a:pt x="243" y="344"/>
                  <a:pt x="254" y="333"/>
                  <a:pt x="254" y="319"/>
                </a:cubicBezTo>
                <a:cubicBezTo>
                  <a:pt x="254" y="127"/>
                  <a:pt x="254" y="127"/>
                  <a:pt x="254" y="127"/>
                </a:cubicBezTo>
                <a:cubicBezTo>
                  <a:pt x="254" y="113"/>
                  <a:pt x="243" y="102"/>
                  <a:pt x="229" y="10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1" name="Freeform 19"/>
          <p:cNvSpPr>
            <a:spLocks noEditPoints="1"/>
          </p:cNvSpPr>
          <p:nvPr userDrawn="1"/>
        </p:nvSpPr>
        <p:spPr bwMode="auto">
          <a:xfrm>
            <a:off x="626102" y="5560761"/>
            <a:ext cx="269555" cy="222149"/>
          </a:xfrm>
          <a:custGeom>
            <a:avLst/>
            <a:gdLst>
              <a:gd name="T0" fmla="*/ 172 w 280"/>
              <a:gd name="T1" fmla="*/ 197 h 231"/>
              <a:gd name="T2" fmla="*/ 172 w 280"/>
              <a:gd name="T3" fmla="*/ 107 h 231"/>
              <a:gd name="T4" fmla="*/ 198 w 280"/>
              <a:gd name="T5" fmla="*/ 107 h 231"/>
              <a:gd name="T6" fmla="*/ 198 w 280"/>
              <a:gd name="T7" fmla="*/ 197 h 231"/>
              <a:gd name="T8" fmla="*/ 263 w 280"/>
              <a:gd name="T9" fmla="*/ 197 h 231"/>
              <a:gd name="T10" fmla="*/ 263 w 280"/>
              <a:gd name="T11" fmla="*/ 9 h 231"/>
              <a:gd name="T12" fmla="*/ 254 w 280"/>
              <a:gd name="T13" fmla="*/ 0 h 231"/>
              <a:gd name="T14" fmla="*/ 207 w 280"/>
              <a:gd name="T15" fmla="*/ 0 h 231"/>
              <a:gd name="T16" fmla="*/ 198 w 280"/>
              <a:gd name="T17" fmla="*/ 9 h 231"/>
              <a:gd name="T18" fmla="*/ 198 w 280"/>
              <a:gd name="T19" fmla="*/ 89 h 231"/>
              <a:gd name="T20" fmla="*/ 163 w 280"/>
              <a:gd name="T21" fmla="*/ 89 h 231"/>
              <a:gd name="T22" fmla="*/ 154 w 280"/>
              <a:gd name="T23" fmla="*/ 98 h 231"/>
              <a:gd name="T24" fmla="*/ 154 w 280"/>
              <a:gd name="T25" fmla="*/ 197 h 231"/>
              <a:gd name="T26" fmla="*/ 172 w 280"/>
              <a:gd name="T27" fmla="*/ 197 h 231"/>
              <a:gd name="T28" fmla="*/ 271 w 280"/>
              <a:gd name="T29" fmla="*/ 213 h 231"/>
              <a:gd name="T30" fmla="*/ 9 w 280"/>
              <a:gd name="T31" fmla="*/ 213 h 231"/>
              <a:gd name="T32" fmla="*/ 0 w 280"/>
              <a:gd name="T33" fmla="*/ 222 h 231"/>
              <a:gd name="T34" fmla="*/ 9 w 280"/>
              <a:gd name="T35" fmla="*/ 231 h 231"/>
              <a:gd name="T36" fmla="*/ 271 w 280"/>
              <a:gd name="T37" fmla="*/ 231 h 231"/>
              <a:gd name="T38" fmla="*/ 280 w 280"/>
              <a:gd name="T39" fmla="*/ 222 h 231"/>
              <a:gd name="T40" fmla="*/ 271 w 280"/>
              <a:gd name="T41" fmla="*/ 213 h 231"/>
              <a:gd name="T42" fmla="*/ 31 w 280"/>
              <a:gd name="T43" fmla="*/ 197 h 231"/>
              <a:gd name="T44" fmla="*/ 31 w 280"/>
              <a:gd name="T45" fmla="*/ 163 h 231"/>
              <a:gd name="T46" fmla="*/ 57 w 280"/>
              <a:gd name="T47" fmla="*/ 163 h 231"/>
              <a:gd name="T48" fmla="*/ 57 w 280"/>
              <a:gd name="T49" fmla="*/ 197 h 231"/>
              <a:gd name="T50" fmla="*/ 123 w 280"/>
              <a:gd name="T51" fmla="*/ 197 h 231"/>
              <a:gd name="T52" fmla="*/ 123 w 280"/>
              <a:gd name="T53" fmla="*/ 77 h 231"/>
              <a:gd name="T54" fmla="*/ 114 w 280"/>
              <a:gd name="T55" fmla="*/ 68 h 231"/>
              <a:gd name="T56" fmla="*/ 66 w 280"/>
              <a:gd name="T57" fmla="*/ 68 h 231"/>
              <a:gd name="T58" fmla="*/ 57 w 280"/>
              <a:gd name="T59" fmla="*/ 77 h 231"/>
              <a:gd name="T60" fmla="*/ 57 w 280"/>
              <a:gd name="T61" fmla="*/ 145 h 231"/>
              <a:gd name="T62" fmla="*/ 22 w 280"/>
              <a:gd name="T63" fmla="*/ 145 h 231"/>
              <a:gd name="T64" fmla="*/ 14 w 280"/>
              <a:gd name="T65" fmla="*/ 154 h 231"/>
              <a:gd name="T66" fmla="*/ 14 w 280"/>
              <a:gd name="T67" fmla="*/ 197 h 231"/>
              <a:gd name="T68" fmla="*/ 31 w 280"/>
              <a:gd name="T69" fmla="*/ 197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0" h="231">
                <a:moveTo>
                  <a:pt x="172" y="197"/>
                </a:moveTo>
                <a:cubicBezTo>
                  <a:pt x="172" y="107"/>
                  <a:pt x="172" y="107"/>
                  <a:pt x="172" y="107"/>
                </a:cubicBezTo>
                <a:cubicBezTo>
                  <a:pt x="198" y="107"/>
                  <a:pt x="198" y="107"/>
                  <a:pt x="198" y="107"/>
                </a:cubicBezTo>
                <a:cubicBezTo>
                  <a:pt x="198" y="197"/>
                  <a:pt x="198" y="197"/>
                  <a:pt x="198" y="197"/>
                </a:cubicBezTo>
                <a:cubicBezTo>
                  <a:pt x="263" y="197"/>
                  <a:pt x="263" y="197"/>
                  <a:pt x="263" y="197"/>
                </a:cubicBezTo>
                <a:cubicBezTo>
                  <a:pt x="263" y="9"/>
                  <a:pt x="263" y="9"/>
                  <a:pt x="263" y="9"/>
                </a:cubicBezTo>
                <a:cubicBezTo>
                  <a:pt x="263" y="4"/>
                  <a:pt x="259" y="0"/>
                  <a:pt x="254" y="0"/>
                </a:cubicBezTo>
                <a:cubicBezTo>
                  <a:pt x="207" y="0"/>
                  <a:pt x="207" y="0"/>
                  <a:pt x="207" y="0"/>
                </a:cubicBezTo>
                <a:cubicBezTo>
                  <a:pt x="202" y="0"/>
                  <a:pt x="198" y="4"/>
                  <a:pt x="198" y="9"/>
                </a:cubicBezTo>
                <a:cubicBezTo>
                  <a:pt x="198" y="89"/>
                  <a:pt x="198" y="89"/>
                  <a:pt x="198" y="89"/>
                </a:cubicBezTo>
                <a:cubicBezTo>
                  <a:pt x="163" y="89"/>
                  <a:pt x="163" y="89"/>
                  <a:pt x="163" y="89"/>
                </a:cubicBezTo>
                <a:cubicBezTo>
                  <a:pt x="158" y="89"/>
                  <a:pt x="154" y="93"/>
                  <a:pt x="154" y="98"/>
                </a:cubicBezTo>
                <a:cubicBezTo>
                  <a:pt x="154" y="197"/>
                  <a:pt x="154" y="197"/>
                  <a:pt x="154" y="197"/>
                </a:cubicBezTo>
                <a:lnTo>
                  <a:pt x="172" y="197"/>
                </a:lnTo>
                <a:close/>
                <a:moveTo>
                  <a:pt x="271" y="213"/>
                </a:moveTo>
                <a:cubicBezTo>
                  <a:pt x="9" y="213"/>
                  <a:pt x="9" y="213"/>
                  <a:pt x="9" y="213"/>
                </a:cubicBezTo>
                <a:cubicBezTo>
                  <a:pt x="4" y="213"/>
                  <a:pt x="0" y="217"/>
                  <a:pt x="0" y="222"/>
                </a:cubicBezTo>
                <a:cubicBezTo>
                  <a:pt x="0" y="227"/>
                  <a:pt x="4" y="231"/>
                  <a:pt x="9" y="231"/>
                </a:cubicBezTo>
                <a:cubicBezTo>
                  <a:pt x="271" y="231"/>
                  <a:pt x="271" y="231"/>
                  <a:pt x="271" y="231"/>
                </a:cubicBezTo>
                <a:cubicBezTo>
                  <a:pt x="276" y="231"/>
                  <a:pt x="280" y="227"/>
                  <a:pt x="280" y="222"/>
                </a:cubicBezTo>
                <a:cubicBezTo>
                  <a:pt x="280" y="217"/>
                  <a:pt x="276" y="213"/>
                  <a:pt x="271" y="213"/>
                </a:cubicBezTo>
                <a:close/>
                <a:moveTo>
                  <a:pt x="31" y="197"/>
                </a:moveTo>
                <a:cubicBezTo>
                  <a:pt x="31" y="163"/>
                  <a:pt x="31" y="163"/>
                  <a:pt x="31" y="163"/>
                </a:cubicBezTo>
                <a:cubicBezTo>
                  <a:pt x="57" y="163"/>
                  <a:pt x="57" y="163"/>
                  <a:pt x="57" y="163"/>
                </a:cubicBezTo>
                <a:cubicBezTo>
                  <a:pt x="57" y="197"/>
                  <a:pt x="57" y="197"/>
                  <a:pt x="57" y="197"/>
                </a:cubicBezTo>
                <a:cubicBezTo>
                  <a:pt x="123" y="197"/>
                  <a:pt x="123" y="197"/>
                  <a:pt x="123" y="197"/>
                </a:cubicBezTo>
                <a:cubicBezTo>
                  <a:pt x="123" y="77"/>
                  <a:pt x="123" y="77"/>
                  <a:pt x="123" y="77"/>
                </a:cubicBezTo>
                <a:cubicBezTo>
                  <a:pt x="123" y="72"/>
                  <a:pt x="119" y="68"/>
                  <a:pt x="114" y="68"/>
                </a:cubicBezTo>
                <a:cubicBezTo>
                  <a:pt x="66" y="68"/>
                  <a:pt x="66" y="68"/>
                  <a:pt x="66" y="68"/>
                </a:cubicBezTo>
                <a:cubicBezTo>
                  <a:pt x="61" y="68"/>
                  <a:pt x="57" y="72"/>
                  <a:pt x="57" y="77"/>
                </a:cubicBezTo>
                <a:cubicBezTo>
                  <a:pt x="57" y="145"/>
                  <a:pt x="57" y="145"/>
                  <a:pt x="57" y="145"/>
                </a:cubicBezTo>
                <a:cubicBezTo>
                  <a:pt x="22" y="145"/>
                  <a:pt x="22" y="145"/>
                  <a:pt x="22" y="145"/>
                </a:cubicBezTo>
                <a:cubicBezTo>
                  <a:pt x="18" y="145"/>
                  <a:pt x="14" y="149"/>
                  <a:pt x="14" y="154"/>
                </a:cubicBezTo>
                <a:cubicBezTo>
                  <a:pt x="14" y="197"/>
                  <a:pt x="14" y="197"/>
                  <a:pt x="14" y="197"/>
                </a:cubicBezTo>
                <a:lnTo>
                  <a:pt x="31" y="19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3"/>
          <p:cNvSpPr>
            <a:spLocks noEditPoints="1"/>
          </p:cNvSpPr>
          <p:nvPr userDrawn="1"/>
        </p:nvSpPr>
        <p:spPr bwMode="auto">
          <a:xfrm>
            <a:off x="1210754" y="3238486"/>
            <a:ext cx="296296" cy="259109"/>
          </a:xfrm>
          <a:custGeom>
            <a:avLst/>
            <a:gdLst>
              <a:gd name="T0" fmla="*/ 126 w 448"/>
              <a:gd name="T1" fmla="*/ 378 h 392"/>
              <a:gd name="T2" fmla="*/ 126 w 448"/>
              <a:gd name="T3" fmla="*/ 308 h 392"/>
              <a:gd name="T4" fmla="*/ 112 w 448"/>
              <a:gd name="T5" fmla="*/ 308 h 392"/>
              <a:gd name="T6" fmla="*/ 0 w 448"/>
              <a:gd name="T7" fmla="*/ 196 h 392"/>
              <a:gd name="T8" fmla="*/ 0 w 448"/>
              <a:gd name="T9" fmla="*/ 112 h 392"/>
              <a:gd name="T10" fmla="*/ 112 w 448"/>
              <a:gd name="T11" fmla="*/ 0 h 392"/>
              <a:gd name="T12" fmla="*/ 336 w 448"/>
              <a:gd name="T13" fmla="*/ 0 h 392"/>
              <a:gd name="T14" fmla="*/ 448 w 448"/>
              <a:gd name="T15" fmla="*/ 112 h 392"/>
              <a:gd name="T16" fmla="*/ 448 w 448"/>
              <a:gd name="T17" fmla="*/ 196 h 392"/>
              <a:gd name="T18" fmla="*/ 336 w 448"/>
              <a:gd name="T19" fmla="*/ 308 h 392"/>
              <a:gd name="T20" fmla="*/ 230 w 448"/>
              <a:gd name="T21" fmla="*/ 308 h 392"/>
              <a:gd name="T22" fmla="*/ 150 w 448"/>
              <a:gd name="T23" fmla="*/ 388 h 392"/>
              <a:gd name="T24" fmla="*/ 140 w 448"/>
              <a:gd name="T25" fmla="*/ 392 h 392"/>
              <a:gd name="T26" fmla="*/ 126 w 448"/>
              <a:gd name="T27" fmla="*/ 378 h 392"/>
              <a:gd name="T28" fmla="*/ 224 w 448"/>
              <a:gd name="T29" fmla="*/ 133 h 392"/>
              <a:gd name="T30" fmla="*/ 203 w 448"/>
              <a:gd name="T31" fmla="*/ 154 h 392"/>
              <a:gd name="T32" fmla="*/ 224 w 448"/>
              <a:gd name="T33" fmla="*/ 175 h 392"/>
              <a:gd name="T34" fmla="*/ 245 w 448"/>
              <a:gd name="T35" fmla="*/ 154 h 392"/>
              <a:gd name="T36" fmla="*/ 224 w 448"/>
              <a:gd name="T37" fmla="*/ 133 h 392"/>
              <a:gd name="T38" fmla="*/ 140 w 448"/>
              <a:gd name="T39" fmla="*/ 133 h 392"/>
              <a:gd name="T40" fmla="*/ 119 w 448"/>
              <a:gd name="T41" fmla="*/ 154 h 392"/>
              <a:gd name="T42" fmla="*/ 140 w 448"/>
              <a:gd name="T43" fmla="*/ 175 h 392"/>
              <a:gd name="T44" fmla="*/ 161 w 448"/>
              <a:gd name="T45" fmla="*/ 154 h 392"/>
              <a:gd name="T46" fmla="*/ 140 w 448"/>
              <a:gd name="T47" fmla="*/ 133 h 392"/>
              <a:gd name="T48" fmla="*/ 308 w 448"/>
              <a:gd name="T49" fmla="*/ 133 h 392"/>
              <a:gd name="T50" fmla="*/ 287 w 448"/>
              <a:gd name="T51" fmla="*/ 154 h 392"/>
              <a:gd name="T52" fmla="*/ 308 w 448"/>
              <a:gd name="T53" fmla="*/ 175 h 392"/>
              <a:gd name="T54" fmla="*/ 329 w 448"/>
              <a:gd name="T55" fmla="*/ 154 h 392"/>
              <a:gd name="T56" fmla="*/ 308 w 448"/>
              <a:gd name="T57" fmla="*/ 133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48" h="392">
                <a:moveTo>
                  <a:pt x="126" y="378"/>
                </a:moveTo>
                <a:cubicBezTo>
                  <a:pt x="126" y="308"/>
                  <a:pt x="126" y="308"/>
                  <a:pt x="126" y="308"/>
                </a:cubicBezTo>
                <a:cubicBezTo>
                  <a:pt x="112" y="308"/>
                  <a:pt x="112" y="308"/>
                  <a:pt x="112" y="308"/>
                </a:cubicBezTo>
                <a:cubicBezTo>
                  <a:pt x="51" y="308"/>
                  <a:pt x="0" y="258"/>
                  <a:pt x="0" y="196"/>
                </a:cubicBezTo>
                <a:cubicBezTo>
                  <a:pt x="0" y="112"/>
                  <a:pt x="0" y="112"/>
                  <a:pt x="0" y="112"/>
                </a:cubicBezTo>
                <a:cubicBezTo>
                  <a:pt x="0" y="51"/>
                  <a:pt x="51" y="0"/>
                  <a:pt x="112" y="0"/>
                </a:cubicBezTo>
                <a:cubicBezTo>
                  <a:pt x="336" y="0"/>
                  <a:pt x="336" y="0"/>
                  <a:pt x="336" y="0"/>
                </a:cubicBezTo>
                <a:cubicBezTo>
                  <a:pt x="397" y="0"/>
                  <a:pt x="448" y="51"/>
                  <a:pt x="448" y="112"/>
                </a:cubicBezTo>
                <a:cubicBezTo>
                  <a:pt x="448" y="196"/>
                  <a:pt x="448" y="196"/>
                  <a:pt x="448" y="196"/>
                </a:cubicBezTo>
                <a:cubicBezTo>
                  <a:pt x="448" y="258"/>
                  <a:pt x="397" y="308"/>
                  <a:pt x="336" y="308"/>
                </a:cubicBezTo>
                <a:cubicBezTo>
                  <a:pt x="230" y="308"/>
                  <a:pt x="230" y="308"/>
                  <a:pt x="230" y="308"/>
                </a:cubicBezTo>
                <a:cubicBezTo>
                  <a:pt x="150" y="388"/>
                  <a:pt x="150" y="388"/>
                  <a:pt x="150" y="388"/>
                </a:cubicBezTo>
                <a:cubicBezTo>
                  <a:pt x="148" y="390"/>
                  <a:pt x="144" y="392"/>
                  <a:pt x="140" y="392"/>
                </a:cubicBezTo>
                <a:cubicBezTo>
                  <a:pt x="132" y="392"/>
                  <a:pt x="126" y="386"/>
                  <a:pt x="126" y="378"/>
                </a:cubicBezTo>
                <a:close/>
                <a:moveTo>
                  <a:pt x="224" y="133"/>
                </a:moveTo>
                <a:cubicBezTo>
                  <a:pt x="212" y="133"/>
                  <a:pt x="203" y="143"/>
                  <a:pt x="203" y="154"/>
                </a:cubicBezTo>
                <a:cubicBezTo>
                  <a:pt x="203" y="166"/>
                  <a:pt x="212" y="175"/>
                  <a:pt x="224" y="175"/>
                </a:cubicBezTo>
                <a:cubicBezTo>
                  <a:pt x="236" y="175"/>
                  <a:pt x="245" y="166"/>
                  <a:pt x="245" y="154"/>
                </a:cubicBezTo>
                <a:cubicBezTo>
                  <a:pt x="245" y="143"/>
                  <a:pt x="236" y="133"/>
                  <a:pt x="224" y="133"/>
                </a:cubicBezTo>
                <a:close/>
                <a:moveTo>
                  <a:pt x="140" y="133"/>
                </a:moveTo>
                <a:cubicBezTo>
                  <a:pt x="129" y="133"/>
                  <a:pt x="119" y="143"/>
                  <a:pt x="119" y="154"/>
                </a:cubicBezTo>
                <a:cubicBezTo>
                  <a:pt x="119" y="166"/>
                  <a:pt x="129" y="175"/>
                  <a:pt x="140" y="175"/>
                </a:cubicBezTo>
                <a:cubicBezTo>
                  <a:pt x="152" y="175"/>
                  <a:pt x="161" y="166"/>
                  <a:pt x="161" y="154"/>
                </a:cubicBezTo>
                <a:cubicBezTo>
                  <a:pt x="161" y="143"/>
                  <a:pt x="152" y="133"/>
                  <a:pt x="140" y="133"/>
                </a:cubicBezTo>
                <a:close/>
                <a:moveTo>
                  <a:pt x="308" y="133"/>
                </a:moveTo>
                <a:cubicBezTo>
                  <a:pt x="296" y="133"/>
                  <a:pt x="287" y="143"/>
                  <a:pt x="287" y="154"/>
                </a:cubicBezTo>
                <a:cubicBezTo>
                  <a:pt x="287" y="166"/>
                  <a:pt x="296" y="175"/>
                  <a:pt x="308" y="175"/>
                </a:cubicBezTo>
                <a:cubicBezTo>
                  <a:pt x="319" y="175"/>
                  <a:pt x="329" y="166"/>
                  <a:pt x="329" y="154"/>
                </a:cubicBezTo>
                <a:cubicBezTo>
                  <a:pt x="329" y="143"/>
                  <a:pt x="319" y="133"/>
                  <a:pt x="308" y="1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5"/>
          <p:cNvSpPr>
            <a:spLocks/>
          </p:cNvSpPr>
          <p:nvPr userDrawn="1"/>
        </p:nvSpPr>
        <p:spPr bwMode="auto">
          <a:xfrm>
            <a:off x="1204312" y="2069547"/>
            <a:ext cx="304032" cy="304033"/>
          </a:xfrm>
          <a:custGeom>
            <a:avLst/>
            <a:gdLst>
              <a:gd name="T0" fmla="*/ 333 w 426"/>
              <a:gd name="T1" fmla="*/ 333 h 426"/>
              <a:gd name="T2" fmla="*/ 346 w 426"/>
              <a:gd name="T3" fmla="*/ 333 h 426"/>
              <a:gd name="T4" fmla="*/ 346 w 426"/>
              <a:gd name="T5" fmla="*/ 266 h 426"/>
              <a:gd name="T6" fmla="*/ 340 w 426"/>
              <a:gd name="T7" fmla="*/ 252 h 426"/>
              <a:gd name="T8" fmla="*/ 326 w 426"/>
              <a:gd name="T9" fmla="*/ 246 h 426"/>
              <a:gd name="T10" fmla="*/ 233 w 426"/>
              <a:gd name="T11" fmla="*/ 246 h 426"/>
              <a:gd name="T12" fmla="*/ 233 w 426"/>
              <a:gd name="T13" fmla="*/ 333 h 426"/>
              <a:gd name="T14" fmla="*/ 246 w 426"/>
              <a:gd name="T15" fmla="*/ 333 h 426"/>
              <a:gd name="T16" fmla="*/ 273 w 426"/>
              <a:gd name="T17" fmla="*/ 360 h 426"/>
              <a:gd name="T18" fmla="*/ 273 w 426"/>
              <a:gd name="T19" fmla="*/ 400 h 426"/>
              <a:gd name="T20" fmla="*/ 246 w 426"/>
              <a:gd name="T21" fmla="*/ 426 h 426"/>
              <a:gd name="T22" fmla="*/ 180 w 426"/>
              <a:gd name="T23" fmla="*/ 426 h 426"/>
              <a:gd name="T24" fmla="*/ 153 w 426"/>
              <a:gd name="T25" fmla="*/ 400 h 426"/>
              <a:gd name="T26" fmla="*/ 153 w 426"/>
              <a:gd name="T27" fmla="*/ 360 h 426"/>
              <a:gd name="T28" fmla="*/ 180 w 426"/>
              <a:gd name="T29" fmla="*/ 333 h 426"/>
              <a:gd name="T30" fmla="*/ 193 w 426"/>
              <a:gd name="T31" fmla="*/ 333 h 426"/>
              <a:gd name="T32" fmla="*/ 193 w 426"/>
              <a:gd name="T33" fmla="*/ 246 h 426"/>
              <a:gd name="T34" fmla="*/ 100 w 426"/>
              <a:gd name="T35" fmla="*/ 246 h 426"/>
              <a:gd name="T36" fmla="*/ 86 w 426"/>
              <a:gd name="T37" fmla="*/ 252 h 426"/>
              <a:gd name="T38" fmla="*/ 80 w 426"/>
              <a:gd name="T39" fmla="*/ 266 h 426"/>
              <a:gd name="T40" fmla="*/ 80 w 426"/>
              <a:gd name="T41" fmla="*/ 333 h 426"/>
              <a:gd name="T42" fmla="*/ 93 w 426"/>
              <a:gd name="T43" fmla="*/ 333 h 426"/>
              <a:gd name="T44" fmla="*/ 120 w 426"/>
              <a:gd name="T45" fmla="*/ 360 h 426"/>
              <a:gd name="T46" fmla="*/ 120 w 426"/>
              <a:gd name="T47" fmla="*/ 400 h 426"/>
              <a:gd name="T48" fmla="*/ 93 w 426"/>
              <a:gd name="T49" fmla="*/ 426 h 426"/>
              <a:gd name="T50" fmla="*/ 27 w 426"/>
              <a:gd name="T51" fmla="*/ 426 h 426"/>
              <a:gd name="T52" fmla="*/ 0 w 426"/>
              <a:gd name="T53" fmla="*/ 400 h 426"/>
              <a:gd name="T54" fmla="*/ 0 w 426"/>
              <a:gd name="T55" fmla="*/ 360 h 426"/>
              <a:gd name="T56" fmla="*/ 27 w 426"/>
              <a:gd name="T57" fmla="*/ 333 h 426"/>
              <a:gd name="T58" fmla="*/ 40 w 426"/>
              <a:gd name="T59" fmla="*/ 333 h 426"/>
              <a:gd name="T60" fmla="*/ 40 w 426"/>
              <a:gd name="T61" fmla="*/ 266 h 426"/>
              <a:gd name="T62" fmla="*/ 58 w 426"/>
              <a:gd name="T63" fmla="*/ 224 h 426"/>
              <a:gd name="T64" fmla="*/ 100 w 426"/>
              <a:gd name="T65" fmla="*/ 207 h 426"/>
              <a:gd name="T66" fmla="*/ 193 w 426"/>
              <a:gd name="T67" fmla="*/ 207 h 426"/>
              <a:gd name="T68" fmla="*/ 193 w 426"/>
              <a:gd name="T69" fmla="*/ 120 h 426"/>
              <a:gd name="T70" fmla="*/ 146 w 426"/>
              <a:gd name="T71" fmla="*/ 120 h 426"/>
              <a:gd name="T72" fmla="*/ 120 w 426"/>
              <a:gd name="T73" fmla="*/ 93 h 426"/>
              <a:gd name="T74" fmla="*/ 120 w 426"/>
              <a:gd name="T75" fmla="*/ 27 h 426"/>
              <a:gd name="T76" fmla="*/ 146 w 426"/>
              <a:gd name="T77" fmla="*/ 0 h 426"/>
              <a:gd name="T78" fmla="*/ 280 w 426"/>
              <a:gd name="T79" fmla="*/ 0 h 426"/>
              <a:gd name="T80" fmla="*/ 306 w 426"/>
              <a:gd name="T81" fmla="*/ 27 h 426"/>
              <a:gd name="T82" fmla="*/ 306 w 426"/>
              <a:gd name="T83" fmla="*/ 93 h 426"/>
              <a:gd name="T84" fmla="*/ 280 w 426"/>
              <a:gd name="T85" fmla="*/ 120 h 426"/>
              <a:gd name="T86" fmla="*/ 233 w 426"/>
              <a:gd name="T87" fmla="*/ 120 h 426"/>
              <a:gd name="T88" fmla="*/ 233 w 426"/>
              <a:gd name="T89" fmla="*/ 207 h 426"/>
              <a:gd name="T90" fmla="*/ 326 w 426"/>
              <a:gd name="T91" fmla="*/ 207 h 426"/>
              <a:gd name="T92" fmla="*/ 369 w 426"/>
              <a:gd name="T93" fmla="*/ 224 h 426"/>
              <a:gd name="T94" fmla="*/ 386 w 426"/>
              <a:gd name="T95" fmla="*/ 266 h 426"/>
              <a:gd name="T96" fmla="*/ 386 w 426"/>
              <a:gd name="T97" fmla="*/ 333 h 426"/>
              <a:gd name="T98" fmla="*/ 400 w 426"/>
              <a:gd name="T99" fmla="*/ 333 h 426"/>
              <a:gd name="T100" fmla="*/ 426 w 426"/>
              <a:gd name="T101" fmla="*/ 360 h 426"/>
              <a:gd name="T102" fmla="*/ 426 w 426"/>
              <a:gd name="T103" fmla="*/ 400 h 426"/>
              <a:gd name="T104" fmla="*/ 400 w 426"/>
              <a:gd name="T105" fmla="*/ 426 h 426"/>
              <a:gd name="T106" fmla="*/ 333 w 426"/>
              <a:gd name="T107" fmla="*/ 426 h 426"/>
              <a:gd name="T108" fmla="*/ 306 w 426"/>
              <a:gd name="T109" fmla="*/ 400 h 426"/>
              <a:gd name="T110" fmla="*/ 306 w 426"/>
              <a:gd name="T111" fmla="*/ 360 h 426"/>
              <a:gd name="T112" fmla="*/ 333 w 426"/>
              <a:gd name="T113" fmla="*/ 333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6" h="426">
                <a:moveTo>
                  <a:pt x="333" y="333"/>
                </a:moveTo>
                <a:cubicBezTo>
                  <a:pt x="346" y="333"/>
                  <a:pt x="346" y="333"/>
                  <a:pt x="346" y="333"/>
                </a:cubicBezTo>
                <a:cubicBezTo>
                  <a:pt x="346" y="266"/>
                  <a:pt x="346" y="266"/>
                  <a:pt x="346" y="266"/>
                </a:cubicBezTo>
                <a:cubicBezTo>
                  <a:pt x="346" y="261"/>
                  <a:pt x="344" y="256"/>
                  <a:pt x="340" y="252"/>
                </a:cubicBezTo>
                <a:cubicBezTo>
                  <a:pt x="337" y="249"/>
                  <a:pt x="332" y="246"/>
                  <a:pt x="326" y="246"/>
                </a:cubicBezTo>
                <a:cubicBezTo>
                  <a:pt x="233" y="246"/>
                  <a:pt x="233" y="246"/>
                  <a:pt x="233" y="246"/>
                </a:cubicBezTo>
                <a:cubicBezTo>
                  <a:pt x="233" y="333"/>
                  <a:pt x="233" y="333"/>
                  <a:pt x="233" y="333"/>
                </a:cubicBezTo>
                <a:cubicBezTo>
                  <a:pt x="246" y="333"/>
                  <a:pt x="246" y="333"/>
                  <a:pt x="246" y="333"/>
                </a:cubicBezTo>
                <a:cubicBezTo>
                  <a:pt x="261" y="333"/>
                  <a:pt x="273" y="345"/>
                  <a:pt x="273" y="360"/>
                </a:cubicBezTo>
                <a:cubicBezTo>
                  <a:pt x="273" y="400"/>
                  <a:pt x="273" y="400"/>
                  <a:pt x="273" y="400"/>
                </a:cubicBezTo>
                <a:cubicBezTo>
                  <a:pt x="273" y="414"/>
                  <a:pt x="261" y="426"/>
                  <a:pt x="246" y="426"/>
                </a:cubicBezTo>
                <a:cubicBezTo>
                  <a:pt x="180" y="426"/>
                  <a:pt x="180" y="426"/>
                  <a:pt x="180" y="426"/>
                </a:cubicBezTo>
                <a:cubicBezTo>
                  <a:pt x="165" y="426"/>
                  <a:pt x="153" y="414"/>
                  <a:pt x="153" y="400"/>
                </a:cubicBezTo>
                <a:cubicBezTo>
                  <a:pt x="153" y="360"/>
                  <a:pt x="153" y="360"/>
                  <a:pt x="153" y="360"/>
                </a:cubicBezTo>
                <a:cubicBezTo>
                  <a:pt x="153" y="345"/>
                  <a:pt x="165" y="333"/>
                  <a:pt x="180" y="333"/>
                </a:cubicBezTo>
                <a:cubicBezTo>
                  <a:pt x="193" y="333"/>
                  <a:pt x="193" y="333"/>
                  <a:pt x="193" y="333"/>
                </a:cubicBezTo>
                <a:cubicBezTo>
                  <a:pt x="193" y="246"/>
                  <a:pt x="193" y="246"/>
                  <a:pt x="193" y="246"/>
                </a:cubicBezTo>
                <a:cubicBezTo>
                  <a:pt x="100" y="246"/>
                  <a:pt x="100" y="246"/>
                  <a:pt x="100" y="246"/>
                </a:cubicBezTo>
                <a:cubicBezTo>
                  <a:pt x="94" y="246"/>
                  <a:pt x="89" y="249"/>
                  <a:pt x="86" y="252"/>
                </a:cubicBezTo>
                <a:cubicBezTo>
                  <a:pt x="82" y="256"/>
                  <a:pt x="80" y="261"/>
                  <a:pt x="80" y="266"/>
                </a:cubicBezTo>
                <a:cubicBezTo>
                  <a:pt x="80" y="333"/>
                  <a:pt x="80" y="333"/>
                  <a:pt x="80" y="333"/>
                </a:cubicBezTo>
                <a:cubicBezTo>
                  <a:pt x="93" y="333"/>
                  <a:pt x="93" y="333"/>
                  <a:pt x="93" y="333"/>
                </a:cubicBezTo>
                <a:cubicBezTo>
                  <a:pt x="108" y="333"/>
                  <a:pt x="120" y="345"/>
                  <a:pt x="120" y="360"/>
                </a:cubicBezTo>
                <a:cubicBezTo>
                  <a:pt x="120" y="400"/>
                  <a:pt x="120" y="400"/>
                  <a:pt x="120" y="400"/>
                </a:cubicBezTo>
                <a:cubicBezTo>
                  <a:pt x="120" y="414"/>
                  <a:pt x="108" y="426"/>
                  <a:pt x="93" y="426"/>
                </a:cubicBezTo>
                <a:cubicBezTo>
                  <a:pt x="27" y="426"/>
                  <a:pt x="27" y="426"/>
                  <a:pt x="27" y="426"/>
                </a:cubicBezTo>
                <a:cubicBezTo>
                  <a:pt x="12" y="426"/>
                  <a:pt x="0" y="414"/>
                  <a:pt x="0" y="400"/>
                </a:cubicBezTo>
                <a:cubicBezTo>
                  <a:pt x="0" y="360"/>
                  <a:pt x="0" y="360"/>
                  <a:pt x="0" y="360"/>
                </a:cubicBezTo>
                <a:cubicBezTo>
                  <a:pt x="0" y="345"/>
                  <a:pt x="12" y="333"/>
                  <a:pt x="27" y="333"/>
                </a:cubicBezTo>
                <a:cubicBezTo>
                  <a:pt x="40" y="333"/>
                  <a:pt x="40" y="333"/>
                  <a:pt x="40" y="333"/>
                </a:cubicBezTo>
                <a:cubicBezTo>
                  <a:pt x="40" y="266"/>
                  <a:pt x="40" y="266"/>
                  <a:pt x="40" y="266"/>
                </a:cubicBezTo>
                <a:cubicBezTo>
                  <a:pt x="40" y="250"/>
                  <a:pt x="47" y="235"/>
                  <a:pt x="58" y="224"/>
                </a:cubicBezTo>
                <a:cubicBezTo>
                  <a:pt x="68" y="213"/>
                  <a:pt x="83" y="207"/>
                  <a:pt x="100" y="207"/>
                </a:cubicBezTo>
                <a:cubicBezTo>
                  <a:pt x="193" y="207"/>
                  <a:pt x="193" y="207"/>
                  <a:pt x="193" y="207"/>
                </a:cubicBezTo>
                <a:cubicBezTo>
                  <a:pt x="193" y="120"/>
                  <a:pt x="193" y="120"/>
                  <a:pt x="193" y="120"/>
                </a:cubicBezTo>
                <a:cubicBezTo>
                  <a:pt x="146" y="120"/>
                  <a:pt x="146" y="120"/>
                  <a:pt x="146" y="120"/>
                </a:cubicBezTo>
                <a:cubicBezTo>
                  <a:pt x="132" y="120"/>
                  <a:pt x="120" y="108"/>
                  <a:pt x="120" y="93"/>
                </a:cubicBezTo>
                <a:cubicBezTo>
                  <a:pt x="120" y="27"/>
                  <a:pt x="120" y="27"/>
                  <a:pt x="120" y="27"/>
                </a:cubicBezTo>
                <a:cubicBezTo>
                  <a:pt x="120" y="12"/>
                  <a:pt x="132" y="0"/>
                  <a:pt x="146" y="0"/>
                </a:cubicBezTo>
                <a:cubicBezTo>
                  <a:pt x="280" y="0"/>
                  <a:pt x="280" y="0"/>
                  <a:pt x="280" y="0"/>
                </a:cubicBezTo>
                <a:cubicBezTo>
                  <a:pt x="294" y="0"/>
                  <a:pt x="306" y="12"/>
                  <a:pt x="306" y="27"/>
                </a:cubicBezTo>
                <a:cubicBezTo>
                  <a:pt x="306" y="93"/>
                  <a:pt x="306" y="93"/>
                  <a:pt x="306" y="93"/>
                </a:cubicBezTo>
                <a:cubicBezTo>
                  <a:pt x="306" y="108"/>
                  <a:pt x="294" y="120"/>
                  <a:pt x="280" y="120"/>
                </a:cubicBezTo>
                <a:cubicBezTo>
                  <a:pt x="233" y="120"/>
                  <a:pt x="233" y="120"/>
                  <a:pt x="233" y="120"/>
                </a:cubicBezTo>
                <a:cubicBezTo>
                  <a:pt x="233" y="207"/>
                  <a:pt x="233" y="207"/>
                  <a:pt x="233" y="207"/>
                </a:cubicBezTo>
                <a:cubicBezTo>
                  <a:pt x="326" y="207"/>
                  <a:pt x="326" y="207"/>
                  <a:pt x="326" y="207"/>
                </a:cubicBezTo>
                <a:cubicBezTo>
                  <a:pt x="343" y="207"/>
                  <a:pt x="358" y="213"/>
                  <a:pt x="369" y="224"/>
                </a:cubicBezTo>
                <a:cubicBezTo>
                  <a:pt x="380" y="235"/>
                  <a:pt x="386" y="250"/>
                  <a:pt x="386" y="266"/>
                </a:cubicBezTo>
                <a:cubicBezTo>
                  <a:pt x="386" y="333"/>
                  <a:pt x="386" y="333"/>
                  <a:pt x="386" y="333"/>
                </a:cubicBezTo>
                <a:cubicBezTo>
                  <a:pt x="400" y="333"/>
                  <a:pt x="400" y="333"/>
                  <a:pt x="400" y="333"/>
                </a:cubicBezTo>
                <a:cubicBezTo>
                  <a:pt x="414" y="333"/>
                  <a:pt x="426" y="345"/>
                  <a:pt x="426" y="360"/>
                </a:cubicBezTo>
                <a:cubicBezTo>
                  <a:pt x="426" y="400"/>
                  <a:pt x="426" y="400"/>
                  <a:pt x="426" y="400"/>
                </a:cubicBezTo>
                <a:cubicBezTo>
                  <a:pt x="426" y="414"/>
                  <a:pt x="414" y="426"/>
                  <a:pt x="400" y="426"/>
                </a:cubicBezTo>
                <a:cubicBezTo>
                  <a:pt x="333" y="426"/>
                  <a:pt x="333" y="426"/>
                  <a:pt x="333" y="426"/>
                </a:cubicBezTo>
                <a:cubicBezTo>
                  <a:pt x="318" y="426"/>
                  <a:pt x="306" y="414"/>
                  <a:pt x="306" y="400"/>
                </a:cubicBezTo>
                <a:cubicBezTo>
                  <a:pt x="306" y="360"/>
                  <a:pt x="306" y="360"/>
                  <a:pt x="306" y="360"/>
                </a:cubicBezTo>
                <a:cubicBezTo>
                  <a:pt x="306" y="345"/>
                  <a:pt x="318" y="333"/>
                  <a:pt x="333" y="3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35"/>
          <p:cNvSpPr>
            <a:spLocks noEditPoints="1"/>
          </p:cNvSpPr>
          <p:nvPr userDrawn="1"/>
        </p:nvSpPr>
        <p:spPr bwMode="auto">
          <a:xfrm>
            <a:off x="1231506" y="3786888"/>
            <a:ext cx="271381" cy="203602"/>
          </a:xfrm>
          <a:custGeom>
            <a:avLst/>
            <a:gdLst>
              <a:gd name="T0" fmla="*/ 27 w 432"/>
              <a:gd name="T1" fmla="*/ 54 h 324"/>
              <a:gd name="T2" fmla="*/ 54 w 432"/>
              <a:gd name="T3" fmla="*/ 54 h 324"/>
              <a:gd name="T4" fmla="*/ 54 w 432"/>
              <a:gd name="T5" fmla="*/ 41 h 324"/>
              <a:gd name="T6" fmla="*/ 68 w 432"/>
              <a:gd name="T7" fmla="*/ 27 h 324"/>
              <a:gd name="T8" fmla="*/ 108 w 432"/>
              <a:gd name="T9" fmla="*/ 27 h 324"/>
              <a:gd name="T10" fmla="*/ 122 w 432"/>
              <a:gd name="T11" fmla="*/ 41 h 324"/>
              <a:gd name="T12" fmla="*/ 122 w 432"/>
              <a:gd name="T13" fmla="*/ 54 h 324"/>
              <a:gd name="T14" fmla="*/ 181 w 432"/>
              <a:gd name="T15" fmla="*/ 54 h 324"/>
              <a:gd name="T16" fmla="*/ 207 w 432"/>
              <a:gd name="T17" fmla="*/ 13 h 324"/>
              <a:gd name="T18" fmla="*/ 230 w 432"/>
              <a:gd name="T19" fmla="*/ 0 h 324"/>
              <a:gd name="T20" fmla="*/ 324 w 432"/>
              <a:gd name="T21" fmla="*/ 0 h 324"/>
              <a:gd name="T22" fmla="*/ 348 w 432"/>
              <a:gd name="T23" fmla="*/ 14 h 324"/>
              <a:gd name="T24" fmla="*/ 373 w 432"/>
              <a:gd name="T25" fmla="*/ 54 h 324"/>
              <a:gd name="T26" fmla="*/ 405 w 432"/>
              <a:gd name="T27" fmla="*/ 54 h 324"/>
              <a:gd name="T28" fmla="*/ 432 w 432"/>
              <a:gd name="T29" fmla="*/ 81 h 324"/>
              <a:gd name="T30" fmla="*/ 432 w 432"/>
              <a:gd name="T31" fmla="*/ 297 h 324"/>
              <a:gd name="T32" fmla="*/ 405 w 432"/>
              <a:gd name="T33" fmla="*/ 324 h 324"/>
              <a:gd name="T34" fmla="*/ 27 w 432"/>
              <a:gd name="T35" fmla="*/ 324 h 324"/>
              <a:gd name="T36" fmla="*/ 0 w 432"/>
              <a:gd name="T37" fmla="*/ 297 h 324"/>
              <a:gd name="T38" fmla="*/ 0 w 432"/>
              <a:gd name="T39" fmla="*/ 81 h 324"/>
              <a:gd name="T40" fmla="*/ 27 w 432"/>
              <a:gd name="T41" fmla="*/ 54 h 324"/>
              <a:gd name="T42" fmla="*/ 277 w 432"/>
              <a:gd name="T43" fmla="*/ 122 h 324"/>
              <a:gd name="T44" fmla="*/ 216 w 432"/>
              <a:gd name="T45" fmla="*/ 183 h 324"/>
              <a:gd name="T46" fmla="*/ 277 w 432"/>
              <a:gd name="T47" fmla="*/ 243 h 324"/>
              <a:gd name="T48" fmla="*/ 338 w 432"/>
              <a:gd name="T49" fmla="*/ 183 h 324"/>
              <a:gd name="T50" fmla="*/ 277 w 432"/>
              <a:gd name="T51" fmla="*/ 122 h 324"/>
              <a:gd name="T52" fmla="*/ 54 w 432"/>
              <a:gd name="T53" fmla="*/ 95 h 324"/>
              <a:gd name="T54" fmla="*/ 41 w 432"/>
              <a:gd name="T55" fmla="*/ 108 h 324"/>
              <a:gd name="T56" fmla="*/ 41 w 432"/>
              <a:gd name="T57" fmla="*/ 108 h 324"/>
              <a:gd name="T58" fmla="*/ 54 w 432"/>
              <a:gd name="T59" fmla="*/ 122 h 324"/>
              <a:gd name="T60" fmla="*/ 122 w 432"/>
              <a:gd name="T61" fmla="*/ 122 h 324"/>
              <a:gd name="T62" fmla="*/ 135 w 432"/>
              <a:gd name="T63" fmla="*/ 108 h 324"/>
              <a:gd name="T64" fmla="*/ 135 w 432"/>
              <a:gd name="T65" fmla="*/ 108 h 324"/>
              <a:gd name="T66" fmla="*/ 122 w 432"/>
              <a:gd name="T67" fmla="*/ 95 h 324"/>
              <a:gd name="T68" fmla="*/ 54 w 432"/>
              <a:gd name="T69" fmla="*/ 95 h 324"/>
              <a:gd name="T70" fmla="*/ 277 w 432"/>
              <a:gd name="T71" fmla="*/ 81 h 324"/>
              <a:gd name="T72" fmla="*/ 176 w 432"/>
              <a:gd name="T73" fmla="*/ 183 h 324"/>
              <a:gd name="T74" fmla="*/ 277 w 432"/>
              <a:gd name="T75" fmla="*/ 284 h 324"/>
              <a:gd name="T76" fmla="*/ 378 w 432"/>
              <a:gd name="T77" fmla="*/ 183 h 324"/>
              <a:gd name="T78" fmla="*/ 277 w 432"/>
              <a:gd name="T79" fmla="*/ 81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2" h="324">
                <a:moveTo>
                  <a:pt x="27" y="54"/>
                </a:moveTo>
                <a:cubicBezTo>
                  <a:pt x="54" y="54"/>
                  <a:pt x="54" y="54"/>
                  <a:pt x="54" y="54"/>
                </a:cubicBezTo>
                <a:cubicBezTo>
                  <a:pt x="54" y="41"/>
                  <a:pt x="54" y="41"/>
                  <a:pt x="54" y="41"/>
                </a:cubicBezTo>
                <a:cubicBezTo>
                  <a:pt x="54" y="33"/>
                  <a:pt x="60" y="27"/>
                  <a:pt x="68" y="27"/>
                </a:cubicBezTo>
                <a:cubicBezTo>
                  <a:pt x="108" y="27"/>
                  <a:pt x="108" y="27"/>
                  <a:pt x="108" y="27"/>
                </a:cubicBezTo>
                <a:cubicBezTo>
                  <a:pt x="116" y="27"/>
                  <a:pt x="122" y="33"/>
                  <a:pt x="122" y="41"/>
                </a:cubicBezTo>
                <a:cubicBezTo>
                  <a:pt x="122" y="54"/>
                  <a:pt x="122" y="54"/>
                  <a:pt x="122" y="54"/>
                </a:cubicBezTo>
                <a:cubicBezTo>
                  <a:pt x="181" y="54"/>
                  <a:pt x="181" y="54"/>
                  <a:pt x="181" y="54"/>
                </a:cubicBezTo>
                <a:cubicBezTo>
                  <a:pt x="207" y="13"/>
                  <a:pt x="207" y="13"/>
                  <a:pt x="207" y="13"/>
                </a:cubicBezTo>
                <a:cubicBezTo>
                  <a:pt x="212" y="5"/>
                  <a:pt x="221" y="0"/>
                  <a:pt x="230" y="0"/>
                </a:cubicBezTo>
                <a:cubicBezTo>
                  <a:pt x="324" y="0"/>
                  <a:pt x="324" y="0"/>
                  <a:pt x="324" y="0"/>
                </a:cubicBezTo>
                <a:cubicBezTo>
                  <a:pt x="334" y="0"/>
                  <a:pt x="343" y="6"/>
                  <a:pt x="348" y="14"/>
                </a:cubicBezTo>
                <a:cubicBezTo>
                  <a:pt x="373" y="54"/>
                  <a:pt x="373" y="54"/>
                  <a:pt x="373" y="54"/>
                </a:cubicBezTo>
                <a:cubicBezTo>
                  <a:pt x="405" y="54"/>
                  <a:pt x="405" y="54"/>
                  <a:pt x="405" y="54"/>
                </a:cubicBezTo>
                <a:cubicBezTo>
                  <a:pt x="420" y="54"/>
                  <a:pt x="432" y="67"/>
                  <a:pt x="432" y="81"/>
                </a:cubicBezTo>
                <a:cubicBezTo>
                  <a:pt x="432" y="297"/>
                  <a:pt x="432" y="297"/>
                  <a:pt x="432" y="297"/>
                </a:cubicBezTo>
                <a:cubicBezTo>
                  <a:pt x="432" y="312"/>
                  <a:pt x="420" y="324"/>
                  <a:pt x="405" y="324"/>
                </a:cubicBezTo>
                <a:cubicBezTo>
                  <a:pt x="27" y="324"/>
                  <a:pt x="27" y="324"/>
                  <a:pt x="27" y="324"/>
                </a:cubicBezTo>
                <a:cubicBezTo>
                  <a:pt x="12" y="324"/>
                  <a:pt x="0" y="312"/>
                  <a:pt x="0" y="297"/>
                </a:cubicBezTo>
                <a:cubicBezTo>
                  <a:pt x="0" y="81"/>
                  <a:pt x="0" y="81"/>
                  <a:pt x="0" y="81"/>
                </a:cubicBezTo>
                <a:cubicBezTo>
                  <a:pt x="0" y="67"/>
                  <a:pt x="12" y="54"/>
                  <a:pt x="27" y="54"/>
                </a:cubicBezTo>
                <a:close/>
                <a:moveTo>
                  <a:pt x="277" y="122"/>
                </a:moveTo>
                <a:cubicBezTo>
                  <a:pt x="243" y="122"/>
                  <a:pt x="216" y="149"/>
                  <a:pt x="216" y="183"/>
                </a:cubicBezTo>
                <a:cubicBezTo>
                  <a:pt x="216" y="216"/>
                  <a:pt x="243" y="243"/>
                  <a:pt x="277" y="243"/>
                </a:cubicBezTo>
                <a:cubicBezTo>
                  <a:pt x="310" y="243"/>
                  <a:pt x="338" y="216"/>
                  <a:pt x="338" y="183"/>
                </a:cubicBezTo>
                <a:cubicBezTo>
                  <a:pt x="338" y="149"/>
                  <a:pt x="310" y="122"/>
                  <a:pt x="277" y="122"/>
                </a:cubicBezTo>
                <a:close/>
                <a:moveTo>
                  <a:pt x="54" y="95"/>
                </a:moveTo>
                <a:cubicBezTo>
                  <a:pt x="47" y="95"/>
                  <a:pt x="41" y="101"/>
                  <a:pt x="41" y="108"/>
                </a:cubicBezTo>
                <a:cubicBezTo>
                  <a:pt x="41" y="108"/>
                  <a:pt x="41" y="108"/>
                  <a:pt x="41" y="108"/>
                </a:cubicBezTo>
                <a:cubicBezTo>
                  <a:pt x="41" y="116"/>
                  <a:pt x="47" y="122"/>
                  <a:pt x="54" y="122"/>
                </a:cubicBezTo>
                <a:cubicBezTo>
                  <a:pt x="122" y="122"/>
                  <a:pt x="122" y="122"/>
                  <a:pt x="122" y="122"/>
                </a:cubicBezTo>
                <a:cubicBezTo>
                  <a:pt x="129" y="122"/>
                  <a:pt x="135" y="116"/>
                  <a:pt x="135" y="108"/>
                </a:cubicBezTo>
                <a:cubicBezTo>
                  <a:pt x="135" y="108"/>
                  <a:pt x="135" y="108"/>
                  <a:pt x="135" y="108"/>
                </a:cubicBezTo>
                <a:cubicBezTo>
                  <a:pt x="135" y="101"/>
                  <a:pt x="129" y="95"/>
                  <a:pt x="122" y="95"/>
                </a:cubicBezTo>
                <a:cubicBezTo>
                  <a:pt x="54" y="95"/>
                  <a:pt x="54" y="95"/>
                  <a:pt x="54" y="95"/>
                </a:cubicBezTo>
                <a:close/>
                <a:moveTo>
                  <a:pt x="277" y="81"/>
                </a:moveTo>
                <a:cubicBezTo>
                  <a:pt x="221" y="81"/>
                  <a:pt x="176" y="127"/>
                  <a:pt x="176" y="183"/>
                </a:cubicBezTo>
                <a:cubicBezTo>
                  <a:pt x="176" y="239"/>
                  <a:pt x="221" y="284"/>
                  <a:pt x="277" y="284"/>
                </a:cubicBezTo>
                <a:cubicBezTo>
                  <a:pt x="333" y="284"/>
                  <a:pt x="378" y="239"/>
                  <a:pt x="378" y="183"/>
                </a:cubicBezTo>
                <a:cubicBezTo>
                  <a:pt x="378" y="127"/>
                  <a:pt x="333" y="81"/>
                  <a:pt x="277" y="8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37"/>
          <p:cNvSpPr>
            <a:spLocks noEditPoints="1"/>
          </p:cNvSpPr>
          <p:nvPr userDrawn="1"/>
        </p:nvSpPr>
        <p:spPr bwMode="auto">
          <a:xfrm>
            <a:off x="1245316" y="2647508"/>
            <a:ext cx="254800" cy="253937"/>
          </a:xfrm>
          <a:custGeom>
            <a:avLst/>
            <a:gdLst>
              <a:gd name="T0" fmla="*/ 40 w 422"/>
              <a:gd name="T1" fmla="*/ 171 h 421"/>
              <a:gd name="T2" fmla="*/ 277 w 422"/>
              <a:gd name="T3" fmla="*/ 171 h 421"/>
              <a:gd name="T4" fmla="*/ 316 w 422"/>
              <a:gd name="T5" fmla="*/ 210 h 421"/>
              <a:gd name="T6" fmla="*/ 316 w 422"/>
              <a:gd name="T7" fmla="*/ 247 h 421"/>
              <a:gd name="T8" fmla="*/ 380 w 422"/>
              <a:gd name="T9" fmla="*/ 202 h 421"/>
              <a:gd name="T10" fmla="*/ 417 w 422"/>
              <a:gd name="T11" fmla="*/ 209 h 421"/>
              <a:gd name="T12" fmla="*/ 422 w 422"/>
              <a:gd name="T13" fmla="*/ 224 h 421"/>
              <a:gd name="T14" fmla="*/ 422 w 422"/>
              <a:gd name="T15" fmla="*/ 382 h 421"/>
              <a:gd name="T16" fmla="*/ 395 w 422"/>
              <a:gd name="T17" fmla="*/ 408 h 421"/>
              <a:gd name="T18" fmla="*/ 379 w 422"/>
              <a:gd name="T19" fmla="*/ 402 h 421"/>
              <a:gd name="T20" fmla="*/ 316 w 422"/>
              <a:gd name="T21" fmla="*/ 358 h 421"/>
              <a:gd name="T22" fmla="*/ 316 w 422"/>
              <a:gd name="T23" fmla="*/ 382 h 421"/>
              <a:gd name="T24" fmla="*/ 277 w 422"/>
              <a:gd name="T25" fmla="*/ 421 h 421"/>
              <a:gd name="T26" fmla="*/ 40 w 422"/>
              <a:gd name="T27" fmla="*/ 421 h 421"/>
              <a:gd name="T28" fmla="*/ 0 w 422"/>
              <a:gd name="T29" fmla="*/ 382 h 421"/>
              <a:gd name="T30" fmla="*/ 0 w 422"/>
              <a:gd name="T31" fmla="*/ 210 h 421"/>
              <a:gd name="T32" fmla="*/ 40 w 422"/>
              <a:gd name="T33" fmla="*/ 171 h 421"/>
              <a:gd name="T34" fmla="*/ 244 w 422"/>
              <a:gd name="T35" fmla="*/ 0 h 421"/>
              <a:gd name="T36" fmla="*/ 171 w 422"/>
              <a:gd name="T37" fmla="*/ 72 h 421"/>
              <a:gd name="T38" fmla="*/ 244 w 422"/>
              <a:gd name="T39" fmla="*/ 145 h 421"/>
              <a:gd name="T40" fmla="*/ 316 w 422"/>
              <a:gd name="T41" fmla="*/ 72 h 421"/>
              <a:gd name="T42" fmla="*/ 244 w 422"/>
              <a:gd name="T43" fmla="*/ 0 h 421"/>
              <a:gd name="T44" fmla="*/ 244 w 422"/>
              <a:gd name="T45" fmla="*/ 39 h 421"/>
              <a:gd name="T46" fmla="*/ 277 w 422"/>
              <a:gd name="T47" fmla="*/ 72 h 421"/>
              <a:gd name="T48" fmla="*/ 244 w 422"/>
              <a:gd name="T49" fmla="*/ 105 h 421"/>
              <a:gd name="T50" fmla="*/ 211 w 422"/>
              <a:gd name="T51" fmla="*/ 72 h 421"/>
              <a:gd name="T52" fmla="*/ 244 w 422"/>
              <a:gd name="T53" fmla="*/ 39 h 421"/>
              <a:gd name="T54" fmla="*/ 73 w 422"/>
              <a:gd name="T55" fmla="*/ 0 h 421"/>
              <a:gd name="T56" fmla="*/ 0 w 422"/>
              <a:gd name="T57" fmla="*/ 72 h 421"/>
              <a:gd name="T58" fmla="*/ 73 w 422"/>
              <a:gd name="T59" fmla="*/ 145 h 421"/>
              <a:gd name="T60" fmla="*/ 145 w 422"/>
              <a:gd name="T61" fmla="*/ 72 h 421"/>
              <a:gd name="T62" fmla="*/ 73 w 422"/>
              <a:gd name="T63" fmla="*/ 0 h 421"/>
              <a:gd name="T64" fmla="*/ 73 w 422"/>
              <a:gd name="T65" fmla="*/ 39 h 421"/>
              <a:gd name="T66" fmla="*/ 105 w 422"/>
              <a:gd name="T67" fmla="*/ 72 h 421"/>
              <a:gd name="T68" fmla="*/ 73 w 422"/>
              <a:gd name="T69" fmla="*/ 105 h 421"/>
              <a:gd name="T70" fmla="*/ 40 w 422"/>
              <a:gd name="T71" fmla="*/ 72 h 421"/>
              <a:gd name="T72" fmla="*/ 73 w 422"/>
              <a:gd name="T73" fmla="*/ 39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2" h="421">
                <a:moveTo>
                  <a:pt x="40" y="171"/>
                </a:moveTo>
                <a:cubicBezTo>
                  <a:pt x="277" y="171"/>
                  <a:pt x="277" y="171"/>
                  <a:pt x="277" y="171"/>
                </a:cubicBezTo>
                <a:cubicBezTo>
                  <a:pt x="299" y="171"/>
                  <a:pt x="316" y="189"/>
                  <a:pt x="316" y="210"/>
                </a:cubicBezTo>
                <a:cubicBezTo>
                  <a:pt x="316" y="247"/>
                  <a:pt x="316" y="247"/>
                  <a:pt x="316" y="247"/>
                </a:cubicBezTo>
                <a:cubicBezTo>
                  <a:pt x="380" y="202"/>
                  <a:pt x="380" y="202"/>
                  <a:pt x="380" y="202"/>
                </a:cubicBezTo>
                <a:cubicBezTo>
                  <a:pt x="392" y="194"/>
                  <a:pt x="409" y="197"/>
                  <a:pt x="417" y="209"/>
                </a:cubicBezTo>
                <a:cubicBezTo>
                  <a:pt x="420" y="213"/>
                  <a:pt x="422" y="218"/>
                  <a:pt x="422" y="224"/>
                </a:cubicBezTo>
                <a:cubicBezTo>
                  <a:pt x="422" y="382"/>
                  <a:pt x="422" y="382"/>
                  <a:pt x="422" y="382"/>
                </a:cubicBezTo>
                <a:cubicBezTo>
                  <a:pt x="422" y="396"/>
                  <a:pt x="410" y="408"/>
                  <a:pt x="395" y="408"/>
                </a:cubicBezTo>
                <a:cubicBezTo>
                  <a:pt x="389" y="408"/>
                  <a:pt x="383" y="406"/>
                  <a:pt x="379" y="402"/>
                </a:cubicBezTo>
                <a:cubicBezTo>
                  <a:pt x="316" y="358"/>
                  <a:pt x="316" y="358"/>
                  <a:pt x="316" y="358"/>
                </a:cubicBezTo>
                <a:cubicBezTo>
                  <a:pt x="316" y="382"/>
                  <a:pt x="316" y="382"/>
                  <a:pt x="316" y="382"/>
                </a:cubicBezTo>
                <a:cubicBezTo>
                  <a:pt x="316" y="404"/>
                  <a:pt x="299" y="421"/>
                  <a:pt x="277" y="421"/>
                </a:cubicBezTo>
                <a:cubicBezTo>
                  <a:pt x="40" y="421"/>
                  <a:pt x="40" y="421"/>
                  <a:pt x="40" y="421"/>
                </a:cubicBezTo>
                <a:cubicBezTo>
                  <a:pt x="18" y="421"/>
                  <a:pt x="0" y="404"/>
                  <a:pt x="0" y="382"/>
                </a:cubicBezTo>
                <a:cubicBezTo>
                  <a:pt x="0" y="210"/>
                  <a:pt x="0" y="210"/>
                  <a:pt x="0" y="210"/>
                </a:cubicBezTo>
                <a:cubicBezTo>
                  <a:pt x="0" y="189"/>
                  <a:pt x="18" y="171"/>
                  <a:pt x="40" y="171"/>
                </a:cubicBezTo>
                <a:close/>
                <a:moveTo>
                  <a:pt x="244" y="0"/>
                </a:moveTo>
                <a:cubicBezTo>
                  <a:pt x="204" y="0"/>
                  <a:pt x="171" y="32"/>
                  <a:pt x="171" y="72"/>
                </a:cubicBezTo>
                <a:cubicBezTo>
                  <a:pt x="171" y="112"/>
                  <a:pt x="204" y="145"/>
                  <a:pt x="244" y="145"/>
                </a:cubicBezTo>
                <a:cubicBezTo>
                  <a:pt x="284" y="145"/>
                  <a:pt x="316" y="112"/>
                  <a:pt x="316" y="72"/>
                </a:cubicBezTo>
                <a:cubicBezTo>
                  <a:pt x="316" y="32"/>
                  <a:pt x="284" y="0"/>
                  <a:pt x="244" y="0"/>
                </a:cubicBezTo>
                <a:close/>
                <a:moveTo>
                  <a:pt x="244" y="39"/>
                </a:moveTo>
                <a:cubicBezTo>
                  <a:pt x="262" y="39"/>
                  <a:pt x="277" y="54"/>
                  <a:pt x="277" y="72"/>
                </a:cubicBezTo>
                <a:cubicBezTo>
                  <a:pt x="277" y="90"/>
                  <a:pt x="262" y="105"/>
                  <a:pt x="244" y="105"/>
                </a:cubicBezTo>
                <a:cubicBezTo>
                  <a:pt x="226" y="105"/>
                  <a:pt x="211" y="90"/>
                  <a:pt x="211" y="72"/>
                </a:cubicBezTo>
                <a:cubicBezTo>
                  <a:pt x="211" y="54"/>
                  <a:pt x="226" y="39"/>
                  <a:pt x="244" y="39"/>
                </a:cubicBezTo>
                <a:close/>
                <a:moveTo>
                  <a:pt x="73" y="0"/>
                </a:moveTo>
                <a:cubicBezTo>
                  <a:pt x="32" y="0"/>
                  <a:pt x="0" y="32"/>
                  <a:pt x="0" y="72"/>
                </a:cubicBezTo>
                <a:cubicBezTo>
                  <a:pt x="0" y="112"/>
                  <a:pt x="32" y="145"/>
                  <a:pt x="73" y="145"/>
                </a:cubicBezTo>
                <a:cubicBezTo>
                  <a:pt x="113" y="145"/>
                  <a:pt x="145" y="112"/>
                  <a:pt x="145" y="72"/>
                </a:cubicBezTo>
                <a:cubicBezTo>
                  <a:pt x="145" y="32"/>
                  <a:pt x="113" y="0"/>
                  <a:pt x="73" y="0"/>
                </a:cubicBezTo>
                <a:close/>
                <a:moveTo>
                  <a:pt x="73" y="39"/>
                </a:moveTo>
                <a:cubicBezTo>
                  <a:pt x="91" y="39"/>
                  <a:pt x="105" y="54"/>
                  <a:pt x="105" y="72"/>
                </a:cubicBezTo>
                <a:cubicBezTo>
                  <a:pt x="105" y="90"/>
                  <a:pt x="91" y="105"/>
                  <a:pt x="73" y="105"/>
                </a:cubicBezTo>
                <a:cubicBezTo>
                  <a:pt x="54" y="105"/>
                  <a:pt x="40" y="90"/>
                  <a:pt x="40" y="72"/>
                </a:cubicBezTo>
                <a:cubicBezTo>
                  <a:pt x="40" y="54"/>
                  <a:pt x="54" y="39"/>
                  <a:pt x="73"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7" name="Freeform 51"/>
          <p:cNvSpPr>
            <a:spLocks noEditPoints="1"/>
          </p:cNvSpPr>
          <p:nvPr userDrawn="1"/>
        </p:nvSpPr>
        <p:spPr bwMode="auto">
          <a:xfrm>
            <a:off x="1262436" y="6144426"/>
            <a:ext cx="225478" cy="257800"/>
          </a:xfrm>
          <a:custGeom>
            <a:avLst/>
            <a:gdLst>
              <a:gd name="T0" fmla="*/ 52 w 367"/>
              <a:gd name="T1" fmla="*/ 0 h 420"/>
              <a:gd name="T2" fmla="*/ 79 w 367"/>
              <a:gd name="T3" fmla="*/ 26 h 420"/>
              <a:gd name="T4" fmla="*/ 79 w 367"/>
              <a:gd name="T5" fmla="*/ 275 h 420"/>
              <a:gd name="T6" fmla="*/ 85 w 367"/>
              <a:gd name="T7" fmla="*/ 275 h 420"/>
              <a:gd name="T8" fmla="*/ 105 w 367"/>
              <a:gd name="T9" fmla="*/ 295 h 420"/>
              <a:gd name="T10" fmla="*/ 85 w 367"/>
              <a:gd name="T11" fmla="*/ 315 h 420"/>
              <a:gd name="T12" fmla="*/ 79 w 367"/>
              <a:gd name="T13" fmla="*/ 315 h 420"/>
              <a:gd name="T14" fmla="*/ 26 w 367"/>
              <a:gd name="T15" fmla="*/ 315 h 420"/>
              <a:gd name="T16" fmla="*/ 20 w 367"/>
              <a:gd name="T17" fmla="*/ 315 h 420"/>
              <a:gd name="T18" fmla="*/ 0 w 367"/>
              <a:gd name="T19" fmla="*/ 295 h 420"/>
              <a:gd name="T20" fmla="*/ 20 w 367"/>
              <a:gd name="T21" fmla="*/ 275 h 420"/>
              <a:gd name="T22" fmla="*/ 26 w 367"/>
              <a:gd name="T23" fmla="*/ 275 h 420"/>
              <a:gd name="T24" fmla="*/ 26 w 367"/>
              <a:gd name="T25" fmla="*/ 26 h 420"/>
              <a:gd name="T26" fmla="*/ 52 w 367"/>
              <a:gd name="T27" fmla="*/ 0 h 420"/>
              <a:gd name="T28" fmla="*/ 79 w 367"/>
              <a:gd name="T29" fmla="*/ 341 h 420"/>
              <a:gd name="T30" fmla="*/ 79 w 367"/>
              <a:gd name="T31" fmla="*/ 394 h 420"/>
              <a:gd name="T32" fmla="*/ 52 w 367"/>
              <a:gd name="T33" fmla="*/ 420 h 420"/>
              <a:gd name="T34" fmla="*/ 26 w 367"/>
              <a:gd name="T35" fmla="*/ 394 h 420"/>
              <a:gd name="T36" fmla="*/ 26 w 367"/>
              <a:gd name="T37" fmla="*/ 341 h 420"/>
              <a:gd name="T38" fmla="*/ 79 w 367"/>
              <a:gd name="T39" fmla="*/ 341 h 420"/>
              <a:gd name="T40" fmla="*/ 282 w 367"/>
              <a:gd name="T41" fmla="*/ 275 h 420"/>
              <a:gd name="T42" fmla="*/ 289 w 367"/>
              <a:gd name="T43" fmla="*/ 275 h 420"/>
              <a:gd name="T44" fmla="*/ 289 w 367"/>
              <a:gd name="T45" fmla="*/ 26 h 420"/>
              <a:gd name="T46" fmla="*/ 315 w 367"/>
              <a:gd name="T47" fmla="*/ 0 h 420"/>
              <a:gd name="T48" fmla="*/ 341 w 367"/>
              <a:gd name="T49" fmla="*/ 26 h 420"/>
              <a:gd name="T50" fmla="*/ 341 w 367"/>
              <a:gd name="T51" fmla="*/ 275 h 420"/>
              <a:gd name="T52" fmla="*/ 348 w 367"/>
              <a:gd name="T53" fmla="*/ 275 h 420"/>
              <a:gd name="T54" fmla="*/ 367 w 367"/>
              <a:gd name="T55" fmla="*/ 295 h 420"/>
              <a:gd name="T56" fmla="*/ 348 w 367"/>
              <a:gd name="T57" fmla="*/ 315 h 420"/>
              <a:gd name="T58" fmla="*/ 341 w 367"/>
              <a:gd name="T59" fmla="*/ 315 h 420"/>
              <a:gd name="T60" fmla="*/ 289 w 367"/>
              <a:gd name="T61" fmla="*/ 315 h 420"/>
              <a:gd name="T62" fmla="*/ 282 w 367"/>
              <a:gd name="T63" fmla="*/ 315 h 420"/>
              <a:gd name="T64" fmla="*/ 262 w 367"/>
              <a:gd name="T65" fmla="*/ 295 h 420"/>
              <a:gd name="T66" fmla="*/ 282 w 367"/>
              <a:gd name="T67" fmla="*/ 275 h 420"/>
              <a:gd name="T68" fmla="*/ 341 w 367"/>
              <a:gd name="T69" fmla="*/ 341 h 420"/>
              <a:gd name="T70" fmla="*/ 341 w 367"/>
              <a:gd name="T71" fmla="*/ 394 h 420"/>
              <a:gd name="T72" fmla="*/ 315 w 367"/>
              <a:gd name="T73" fmla="*/ 420 h 420"/>
              <a:gd name="T74" fmla="*/ 289 w 367"/>
              <a:gd name="T75" fmla="*/ 394 h 420"/>
              <a:gd name="T76" fmla="*/ 289 w 367"/>
              <a:gd name="T77" fmla="*/ 341 h 420"/>
              <a:gd name="T78" fmla="*/ 341 w 367"/>
              <a:gd name="T79" fmla="*/ 341 h 420"/>
              <a:gd name="T80" fmla="*/ 151 w 367"/>
              <a:gd name="T81" fmla="*/ 170 h 420"/>
              <a:gd name="T82" fmla="*/ 157 w 367"/>
              <a:gd name="T83" fmla="*/ 170 h 420"/>
              <a:gd name="T84" fmla="*/ 157 w 367"/>
              <a:gd name="T85" fmla="*/ 26 h 420"/>
              <a:gd name="T86" fmla="*/ 184 w 367"/>
              <a:gd name="T87" fmla="*/ 0 h 420"/>
              <a:gd name="T88" fmla="*/ 210 w 367"/>
              <a:gd name="T89" fmla="*/ 26 h 420"/>
              <a:gd name="T90" fmla="*/ 210 w 367"/>
              <a:gd name="T91" fmla="*/ 170 h 420"/>
              <a:gd name="T92" fmla="*/ 216 w 367"/>
              <a:gd name="T93" fmla="*/ 170 h 420"/>
              <a:gd name="T94" fmla="*/ 236 w 367"/>
              <a:gd name="T95" fmla="*/ 190 h 420"/>
              <a:gd name="T96" fmla="*/ 216 w 367"/>
              <a:gd name="T97" fmla="*/ 210 h 420"/>
              <a:gd name="T98" fmla="*/ 210 w 367"/>
              <a:gd name="T99" fmla="*/ 210 h 420"/>
              <a:gd name="T100" fmla="*/ 157 w 367"/>
              <a:gd name="T101" fmla="*/ 210 h 420"/>
              <a:gd name="T102" fmla="*/ 151 w 367"/>
              <a:gd name="T103" fmla="*/ 210 h 420"/>
              <a:gd name="T104" fmla="*/ 131 w 367"/>
              <a:gd name="T105" fmla="*/ 190 h 420"/>
              <a:gd name="T106" fmla="*/ 151 w 367"/>
              <a:gd name="T107" fmla="*/ 170 h 420"/>
              <a:gd name="T108" fmla="*/ 210 w 367"/>
              <a:gd name="T109" fmla="*/ 236 h 420"/>
              <a:gd name="T110" fmla="*/ 210 w 367"/>
              <a:gd name="T111" fmla="*/ 394 h 420"/>
              <a:gd name="T112" fmla="*/ 184 w 367"/>
              <a:gd name="T113" fmla="*/ 420 h 420"/>
              <a:gd name="T114" fmla="*/ 157 w 367"/>
              <a:gd name="T115" fmla="*/ 394 h 420"/>
              <a:gd name="T116" fmla="*/ 157 w 367"/>
              <a:gd name="T117" fmla="*/ 236 h 420"/>
              <a:gd name="T118" fmla="*/ 210 w 367"/>
              <a:gd name="T119" fmla="*/ 236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67" h="420">
                <a:moveTo>
                  <a:pt x="52" y="0"/>
                </a:moveTo>
                <a:cubicBezTo>
                  <a:pt x="67" y="0"/>
                  <a:pt x="79" y="12"/>
                  <a:pt x="79" y="26"/>
                </a:cubicBezTo>
                <a:cubicBezTo>
                  <a:pt x="79" y="275"/>
                  <a:pt x="79" y="275"/>
                  <a:pt x="79" y="275"/>
                </a:cubicBezTo>
                <a:cubicBezTo>
                  <a:pt x="85" y="275"/>
                  <a:pt x="85" y="275"/>
                  <a:pt x="85" y="275"/>
                </a:cubicBezTo>
                <a:cubicBezTo>
                  <a:pt x="96" y="275"/>
                  <a:pt x="105" y="284"/>
                  <a:pt x="105" y="295"/>
                </a:cubicBezTo>
                <a:cubicBezTo>
                  <a:pt x="105" y="306"/>
                  <a:pt x="96" y="315"/>
                  <a:pt x="85" y="315"/>
                </a:cubicBezTo>
                <a:cubicBezTo>
                  <a:pt x="79" y="315"/>
                  <a:pt x="79" y="315"/>
                  <a:pt x="79" y="315"/>
                </a:cubicBezTo>
                <a:cubicBezTo>
                  <a:pt x="26" y="315"/>
                  <a:pt x="26" y="315"/>
                  <a:pt x="26" y="315"/>
                </a:cubicBezTo>
                <a:cubicBezTo>
                  <a:pt x="20" y="315"/>
                  <a:pt x="20" y="315"/>
                  <a:pt x="20" y="315"/>
                </a:cubicBezTo>
                <a:cubicBezTo>
                  <a:pt x="9" y="315"/>
                  <a:pt x="0" y="306"/>
                  <a:pt x="0" y="295"/>
                </a:cubicBezTo>
                <a:cubicBezTo>
                  <a:pt x="0" y="284"/>
                  <a:pt x="9" y="275"/>
                  <a:pt x="20" y="275"/>
                </a:cubicBezTo>
                <a:cubicBezTo>
                  <a:pt x="26" y="275"/>
                  <a:pt x="26" y="275"/>
                  <a:pt x="26" y="275"/>
                </a:cubicBezTo>
                <a:cubicBezTo>
                  <a:pt x="26" y="26"/>
                  <a:pt x="26" y="26"/>
                  <a:pt x="26" y="26"/>
                </a:cubicBezTo>
                <a:cubicBezTo>
                  <a:pt x="26" y="12"/>
                  <a:pt x="38" y="0"/>
                  <a:pt x="52" y="0"/>
                </a:cubicBezTo>
                <a:close/>
                <a:moveTo>
                  <a:pt x="79" y="341"/>
                </a:moveTo>
                <a:cubicBezTo>
                  <a:pt x="79" y="394"/>
                  <a:pt x="79" y="394"/>
                  <a:pt x="79" y="394"/>
                </a:cubicBezTo>
                <a:cubicBezTo>
                  <a:pt x="79" y="408"/>
                  <a:pt x="67" y="420"/>
                  <a:pt x="52" y="420"/>
                </a:cubicBezTo>
                <a:cubicBezTo>
                  <a:pt x="38" y="420"/>
                  <a:pt x="26" y="408"/>
                  <a:pt x="26" y="394"/>
                </a:cubicBezTo>
                <a:cubicBezTo>
                  <a:pt x="26" y="341"/>
                  <a:pt x="26" y="341"/>
                  <a:pt x="26" y="341"/>
                </a:cubicBezTo>
                <a:cubicBezTo>
                  <a:pt x="79" y="341"/>
                  <a:pt x="79" y="341"/>
                  <a:pt x="79" y="341"/>
                </a:cubicBezTo>
                <a:close/>
                <a:moveTo>
                  <a:pt x="282" y="275"/>
                </a:moveTo>
                <a:cubicBezTo>
                  <a:pt x="289" y="275"/>
                  <a:pt x="289" y="275"/>
                  <a:pt x="289" y="275"/>
                </a:cubicBezTo>
                <a:cubicBezTo>
                  <a:pt x="289" y="26"/>
                  <a:pt x="289" y="26"/>
                  <a:pt x="289" y="26"/>
                </a:cubicBezTo>
                <a:cubicBezTo>
                  <a:pt x="289" y="12"/>
                  <a:pt x="300" y="0"/>
                  <a:pt x="315" y="0"/>
                </a:cubicBezTo>
                <a:cubicBezTo>
                  <a:pt x="329" y="0"/>
                  <a:pt x="341" y="12"/>
                  <a:pt x="341" y="26"/>
                </a:cubicBezTo>
                <a:cubicBezTo>
                  <a:pt x="341" y="275"/>
                  <a:pt x="341" y="275"/>
                  <a:pt x="341" y="275"/>
                </a:cubicBezTo>
                <a:cubicBezTo>
                  <a:pt x="348" y="275"/>
                  <a:pt x="348" y="275"/>
                  <a:pt x="348" y="275"/>
                </a:cubicBezTo>
                <a:cubicBezTo>
                  <a:pt x="358" y="275"/>
                  <a:pt x="367" y="284"/>
                  <a:pt x="367" y="295"/>
                </a:cubicBezTo>
                <a:cubicBezTo>
                  <a:pt x="367" y="306"/>
                  <a:pt x="358" y="315"/>
                  <a:pt x="348" y="315"/>
                </a:cubicBezTo>
                <a:cubicBezTo>
                  <a:pt x="341" y="315"/>
                  <a:pt x="341" y="315"/>
                  <a:pt x="341" y="315"/>
                </a:cubicBezTo>
                <a:cubicBezTo>
                  <a:pt x="289" y="315"/>
                  <a:pt x="289" y="315"/>
                  <a:pt x="289" y="315"/>
                </a:cubicBezTo>
                <a:cubicBezTo>
                  <a:pt x="282" y="315"/>
                  <a:pt x="282" y="315"/>
                  <a:pt x="282" y="315"/>
                </a:cubicBezTo>
                <a:cubicBezTo>
                  <a:pt x="271" y="315"/>
                  <a:pt x="262" y="306"/>
                  <a:pt x="262" y="295"/>
                </a:cubicBezTo>
                <a:cubicBezTo>
                  <a:pt x="262" y="284"/>
                  <a:pt x="271" y="275"/>
                  <a:pt x="282" y="275"/>
                </a:cubicBezTo>
                <a:close/>
                <a:moveTo>
                  <a:pt x="341" y="341"/>
                </a:moveTo>
                <a:cubicBezTo>
                  <a:pt x="341" y="394"/>
                  <a:pt x="341" y="394"/>
                  <a:pt x="341" y="394"/>
                </a:cubicBezTo>
                <a:cubicBezTo>
                  <a:pt x="341" y="408"/>
                  <a:pt x="329" y="420"/>
                  <a:pt x="315" y="420"/>
                </a:cubicBezTo>
                <a:cubicBezTo>
                  <a:pt x="300" y="420"/>
                  <a:pt x="289" y="408"/>
                  <a:pt x="289" y="394"/>
                </a:cubicBezTo>
                <a:cubicBezTo>
                  <a:pt x="289" y="341"/>
                  <a:pt x="289" y="341"/>
                  <a:pt x="289" y="341"/>
                </a:cubicBezTo>
                <a:cubicBezTo>
                  <a:pt x="341" y="341"/>
                  <a:pt x="341" y="341"/>
                  <a:pt x="341" y="341"/>
                </a:cubicBezTo>
                <a:close/>
                <a:moveTo>
                  <a:pt x="151" y="170"/>
                </a:moveTo>
                <a:cubicBezTo>
                  <a:pt x="157" y="170"/>
                  <a:pt x="157" y="170"/>
                  <a:pt x="157" y="170"/>
                </a:cubicBezTo>
                <a:cubicBezTo>
                  <a:pt x="157" y="26"/>
                  <a:pt x="157" y="26"/>
                  <a:pt x="157" y="26"/>
                </a:cubicBezTo>
                <a:cubicBezTo>
                  <a:pt x="157" y="12"/>
                  <a:pt x="169" y="0"/>
                  <a:pt x="184" y="0"/>
                </a:cubicBezTo>
                <a:cubicBezTo>
                  <a:pt x="198" y="0"/>
                  <a:pt x="210" y="12"/>
                  <a:pt x="210" y="26"/>
                </a:cubicBezTo>
                <a:cubicBezTo>
                  <a:pt x="210" y="170"/>
                  <a:pt x="210" y="170"/>
                  <a:pt x="210" y="170"/>
                </a:cubicBezTo>
                <a:cubicBezTo>
                  <a:pt x="216" y="170"/>
                  <a:pt x="216" y="170"/>
                  <a:pt x="216" y="170"/>
                </a:cubicBezTo>
                <a:cubicBezTo>
                  <a:pt x="227" y="170"/>
                  <a:pt x="236" y="179"/>
                  <a:pt x="236" y="190"/>
                </a:cubicBezTo>
                <a:cubicBezTo>
                  <a:pt x="236" y="201"/>
                  <a:pt x="227" y="210"/>
                  <a:pt x="216" y="210"/>
                </a:cubicBezTo>
                <a:cubicBezTo>
                  <a:pt x="210" y="210"/>
                  <a:pt x="210" y="210"/>
                  <a:pt x="210" y="210"/>
                </a:cubicBezTo>
                <a:cubicBezTo>
                  <a:pt x="157" y="210"/>
                  <a:pt x="157" y="210"/>
                  <a:pt x="157" y="210"/>
                </a:cubicBezTo>
                <a:cubicBezTo>
                  <a:pt x="151" y="210"/>
                  <a:pt x="151" y="210"/>
                  <a:pt x="151" y="210"/>
                </a:cubicBezTo>
                <a:cubicBezTo>
                  <a:pt x="140" y="210"/>
                  <a:pt x="131" y="201"/>
                  <a:pt x="131" y="190"/>
                </a:cubicBezTo>
                <a:cubicBezTo>
                  <a:pt x="131" y="179"/>
                  <a:pt x="140" y="170"/>
                  <a:pt x="151" y="170"/>
                </a:cubicBezTo>
                <a:close/>
                <a:moveTo>
                  <a:pt x="210" y="236"/>
                </a:moveTo>
                <a:cubicBezTo>
                  <a:pt x="210" y="394"/>
                  <a:pt x="210" y="394"/>
                  <a:pt x="210" y="394"/>
                </a:cubicBezTo>
                <a:cubicBezTo>
                  <a:pt x="210" y="408"/>
                  <a:pt x="198" y="420"/>
                  <a:pt x="184" y="420"/>
                </a:cubicBezTo>
                <a:cubicBezTo>
                  <a:pt x="169" y="420"/>
                  <a:pt x="157" y="408"/>
                  <a:pt x="157" y="394"/>
                </a:cubicBezTo>
                <a:cubicBezTo>
                  <a:pt x="157" y="236"/>
                  <a:pt x="157" y="236"/>
                  <a:pt x="157" y="236"/>
                </a:cubicBezTo>
                <a:lnTo>
                  <a:pt x="210" y="23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9" name="Freeform 15"/>
          <p:cNvSpPr>
            <a:spLocks noEditPoints="1"/>
          </p:cNvSpPr>
          <p:nvPr userDrawn="1"/>
        </p:nvSpPr>
        <p:spPr bwMode="auto">
          <a:xfrm>
            <a:off x="1245635" y="5071316"/>
            <a:ext cx="259080" cy="210021"/>
          </a:xfrm>
          <a:custGeom>
            <a:avLst/>
            <a:gdLst>
              <a:gd name="T0" fmla="*/ 151 w 269"/>
              <a:gd name="T1" fmla="*/ 0 h 218"/>
              <a:gd name="T2" fmla="*/ 33 w 269"/>
              <a:gd name="T3" fmla="*/ 73 h 218"/>
              <a:gd name="T4" fmla="*/ 33 w 269"/>
              <a:gd name="T5" fmla="*/ 77 h 218"/>
              <a:gd name="T6" fmla="*/ 10 w 269"/>
              <a:gd name="T7" fmla="*/ 81 h 218"/>
              <a:gd name="T8" fmla="*/ 9 w 269"/>
              <a:gd name="T9" fmla="*/ 81 h 218"/>
              <a:gd name="T10" fmla="*/ 0 w 269"/>
              <a:gd name="T11" fmla="*/ 92 h 218"/>
              <a:gd name="T12" fmla="*/ 0 w 269"/>
              <a:gd name="T13" fmla="*/ 155 h 218"/>
              <a:gd name="T14" fmla="*/ 68 w 269"/>
              <a:gd name="T15" fmla="*/ 217 h 218"/>
              <a:gd name="T16" fmla="*/ 71 w 269"/>
              <a:gd name="T17" fmla="*/ 218 h 218"/>
              <a:gd name="T18" fmla="*/ 79 w 269"/>
              <a:gd name="T19" fmla="*/ 214 h 218"/>
              <a:gd name="T20" fmla="*/ 82 w 269"/>
              <a:gd name="T21" fmla="*/ 206 h 218"/>
              <a:gd name="T22" fmla="*/ 82 w 269"/>
              <a:gd name="T23" fmla="*/ 152 h 218"/>
              <a:gd name="T24" fmla="*/ 130 w 269"/>
              <a:gd name="T25" fmla="*/ 107 h 218"/>
              <a:gd name="T26" fmla="*/ 123 w 269"/>
              <a:gd name="T27" fmla="*/ 128 h 218"/>
              <a:gd name="T28" fmla="*/ 123 w 269"/>
              <a:gd name="T29" fmla="*/ 131 h 218"/>
              <a:gd name="T30" fmla="*/ 123 w 269"/>
              <a:gd name="T31" fmla="*/ 133 h 218"/>
              <a:gd name="T32" fmla="*/ 123 w 269"/>
              <a:gd name="T33" fmla="*/ 193 h 218"/>
              <a:gd name="T34" fmla="*/ 133 w 269"/>
              <a:gd name="T35" fmla="*/ 204 h 218"/>
              <a:gd name="T36" fmla="*/ 151 w 269"/>
              <a:gd name="T37" fmla="*/ 205 h 218"/>
              <a:gd name="T38" fmla="*/ 269 w 269"/>
              <a:gd name="T39" fmla="*/ 133 h 218"/>
              <a:gd name="T40" fmla="*/ 269 w 269"/>
              <a:gd name="T41" fmla="*/ 73 h 218"/>
              <a:gd name="T42" fmla="*/ 151 w 269"/>
              <a:gd name="T43" fmla="*/ 0 h 218"/>
              <a:gd name="T44" fmla="*/ 68 w 269"/>
              <a:gd name="T45" fmla="*/ 134 h 218"/>
              <a:gd name="T46" fmla="*/ 21 w 269"/>
              <a:gd name="T47" fmla="*/ 98 h 218"/>
              <a:gd name="T48" fmla="*/ 127 w 269"/>
              <a:gd name="T49" fmla="*/ 82 h 218"/>
              <a:gd name="T50" fmla="*/ 68 w 269"/>
              <a:gd name="T51" fmla="*/ 134 h 218"/>
              <a:gd name="T52" fmla="*/ 151 w 269"/>
              <a:gd name="T53" fmla="*/ 123 h 218"/>
              <a:gd name="T54" fmla="*/ 148 w 269"/>
              <a:gd name="T55" fmla="*/ 123 h 218"/>
              <a:gd name="T56" fmla="*/ 162 w 269"/>
              <a:gd name="T57" fmla="*/ 76 h 218"/>
              <a:gd name="T58" fmla="*/ 154 w 269"/>
              <a:gd name="T59" fmla="*/ 62 h 218"/>
              <a:gd name="T60" fmla="*/ 149 w 269"/>
              <a:gd name="T61" fmla="*/ 62 h 218"/>
              <a:gd name="T62" fmla="*/ 147 w 269"/>
              <a:gd name="T63" fmla="*/ 62 h 218"/>
              <a:gd name="T64" fmla="*/ 55 w 269"/>
              <a:gd name="T65" fmla="*/ 74 h 218"/>
              <a:gd name="T66" fmla="*/ 55 w 269"/>
              <a:gd name="T67" fmla="*/ 73 h 218"/>
              <a:gd name="T68" fmla="*/ 151 w 269"/>
              <a:gd name="T69" fmla="*/ 22 h 218"/>
              <a:gd name="T70" fmla="*/ 247 w 269"/>
              <a:gd name="T71" fmla="*/ 73 h 218"/>
              <a:gd name="T72" fmla="*/ 151 w 269"/>
              <a:gd name="T73" fmla="*/ 12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9" h="218">
                <a:moveTo>
                  <a:pt x="151" y="0"/>
                </a:moveTo>
                <a:cubicBezTo>
                  <a:pt x="85" y="0"/>
                  <a:pt x="33" y="32"/>
                  <a:pt x="33" y="73"/>
                </a:cubicBezTo>
                <a:cubicBezTo>
                  <a:pt x="33" y="74"/>
                  <a:pt x="33" y="76"/>
                  <a:pt x="33" y="77"/>
                </a:cubicBezTo>
                <a:cubicBezTo>
                  <a:pt x="10" y="81"/>
                  <a:pt x="10" y="81"/>
                  <a:pt x="10" y="81"/>
                </a:cubicBezTo>
                <a:cubicBezTo>
                  <a:pt x="10" y="81"/>
                  <a:pt x="10" y="81"/>
                  <a:pt x="9" y="81"/>
                </a:cubicBezTo>
                <a:cubicBezTo>
                  <a:pt x="4" y="82"/>
                  <a:pt x="0" y="86"/>
                  <a:pt x="0" y="92"/>
                </a:cubicBezTo>
                <a:cubicBezTo>
                  <a:pt x="0" y="155"/>
                  <a:pt x="0" y="155"/>
                  <a:pt x="0" y="155"/>
                </a:cubicBezTo>
                <a:cubicBezTo>
                  <a:pt x="2" y="182"/>
                  <a:pt x="28" y="206"/>
                  <a:pt x="68" y="217"/>
                </a:cubicBezTo>
                <a:cubicBezTo>
                  <a:pt x="69" y="217"/>
                  <a:pt x="70" y="218"/>
                  <a:pt x="71" y="218"/>
                </a:cubicBezTo>
                <a:cubicBezTo>
                  <a:pt x="74" y="218"/>
                  <a:pt x="76" y="216"/>
                  <a:pt x="79" y="214"/>
                </a:cubicBezTo>
                <a:cubicBezTo>
                  <a:pt x="81" y="212"/>
                  <a:pt x="82" y="209"/>
                  <a:pt x="82" y="206"/>
                </a:cubicBezTo>
                <a:cubicBezTo>
                  <a:pt x="82" y="152"/>
                  <a:pt x="82" y="152"/>
                  <a:pt x="82" y="152"/>
                </a:cubicBezTo>
                <a:cubicBezTo>
                  <a:pt x="96" y="139"/>
                  <a:pt x="115" y="122"/>
                  <a:pt x="130" y="107"/>
                </a:cubicBezTo>
                <a:cubicBezTo>
                  <a:pt x="123" y="128"/>
                  <a:pt x="123" y="128"/>
                  <a:pt x="123" y="128"/>
                </a:cubicBezTo>
                <a:cubicBezTo>
                  <a:pt x="123" y="129"/>
                  <a:pt x="123" y="130"/>
                  <a:pt x="123" y="131"/>
                </a:cubicBezTo>
                <a:cubicBezTo>
                  <a:pt x="123" y="132"/>
                  <a:pt x="123" y="132"/>
                  <a:pt x="123" y="133"/>
                </a:cubicBezTo>
                <a:cubicBezTo>
                  <a:pt x="123" y="193"/>
                  <a:pt x="123" y="193"/>
                  <a:pt x="123" y="193"/>
                </a:cubicBezTo>
                <a:cubicBezTo>
                  <a:pt x="123" y="199"/>
                  <a:pt x="127" y="204"/>
                  <a:pt x="133" y="204"/>
                </a:cubicBezTo>
                <a:cubicBezTo>
                  <a:pt x="133" y="204"/>
                  <a:pt x="145" y="205"/>
                  <a:pt x="151" y="205"/>
                </a:cubicBezTo>
                <a:cubicBezTo>
                  <a:pt x="217" y="205"/>
                  <a:pt x="269" y="173"/>
                  <a:pt x="269" y="133"/>
                </a:cubicBezTo>
                <a:cubicBezTo>
                  <a:pt x="269" y="73"/>
                  <a:pt x="269" y="73"/>
                  <a:pt x="269" y="73"/>
                </a:cubicBezTo>
                <a:cubicBezTo>
                  <a:pt x="269" y="32"/>
                  <a:pt x="217" y="0"/>
                  <a:pt x="151" y="0"/>
                </a:cubicBezTo>
                <a:close/>
                <a:moveTo>
                  <a:pt x="68" y="134"/>
                </a:moveTo>
                <a:cubicBezTo>
                  <a:pt x="46" y="127"/>
                  <a:pt x="26" y="111"/>
                  <a:pt x="21" y="98"/>
                </a:cubicBezTo>
                <a:cubicBezTo>
                  <a:pt x="127" y="82"/>
                  <a:pt x="127" y="82"/>
                  <a:pt x="127" y="82"/>
                </a:cubicBezTo>
                <a:cubicBezTo>
                  <a:pt x="112" y="96"/>
                  <a:pt x="83" y="121"/>
                  <a:pt x="68" y="134"/>
                </a:cubicBezTo>
                <a:close/>
                <a:moveTo>
                  <a:pt x="151" y="123"/>
                </a:moveTo>
                <a:cubicBezTo>
                  <a:pt x="150" y="123"/>
                  <a:pt x="149" y="123"/>
                  <a:pt x="148" y="123"/>
                </a:cubicBezTo>
                <a:cubicBezTo>
                  <a:pt x="162" y="76"/>
                  <a:pt x="162" y="76"/>
                  <a:pt x="162" y="76"/>
                </a:cubicBezTo>
                <a:cubicBezTo>
                  <a:pt x="163" y="70"/>
                  <a:pt x="160" y="64"/>
                  <a:pt x="154" y="62"/>
                </a:cubicBezTo>
                <a:cubicBezTo>
                  <a:pt x="152" y="62"/>
                  <a:pt x="151" y="62"/>
                  <a:pt x="149" y="62"/>
                </a:cubicBezTo>
                <a:cubicBezTo>
                  <a:pt x="149" y="62"/>
                  <a:pt x="148" y="62"/>
                  <a:pt x="147" y="62"/>
                </a:cubicBezTo>
                <a:cubicBezTo>
                  <a:pt x="55" y="74"/>
                  <a:pt x="55" y="74"/>
                  <a:pt x="55" y="74"/>
                </a:cubicBezTo>
                <a:cubicBezTo>
                  <a:pt x="55" y="74"/>
                  <a:pt x="55" y="73"/>
                  <a:pt x="55" y="73"/>
                </a:cubicBezTo>
                <a:cubicBezTo>
                  <a:pt x="55" y="45"/>
                  <a:pt x="99" y="22"/>
                  <a:pt x="151" y="22"/>
                </a:cubicBezTo>
                <a:cubicBezTo>
                  <a:pt x="203" y="22"/>
                  <a:pt x="247" y="45"/>
                  <a:pt x="247" y="73"/>
                </a:cubicBezTo>
                <a:cubicBezTo>
                  <a:pt x="247" y="100"/>
                  <a:pt x="203" y="123"/>
                  <a:pt x="151" y="12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2" name="Freeform 20"/>
          <p:cNvSpPr>
            <a:spLocks noEditPoints="1"/>
          </p:cNvSpPr>
          <p:nvPr userDrawn="1"/>
        </p:nvSpPr>
        <p:spPr bwMode="auto">
          <a:xfrm>
            <a:off x="1240398" y="5548564"/>
            <a:ext cx="269555" cy="234826"/>
          </a:xfrm>
          <a:custGeom>
            <a:avLst/>
            <a:gdLst>
              <a:gd name="T0" fmla="*/ 271 w 280"/>
              <a:gd name="T1" fmla="*/ 226 h 244"/>
              <a:gd name="T2" fmla="*/ 9 w 280"/>
              <a:gd name="T3" fmla="*/ 226 h 244"/>
              <a:gd name="T4" fmla="*/ 0 w 280"/>
              <a:gd name="T5" fmla="*/ 235 h 244"/>
              <a:gd name="T6" fmla="*/ 9 w 280"/>
              <a:gd name="T7" fmla="*/ 244 h 244"/>
              <a:gd name="T8" fmla="*/ 271 w 280"/>
              <a:gd name="T9" fmla="*/ 244 h 244"/>
              <a:gd name="T10" fmla="*/ 280 w 280"/>
              <a:gd name="T11" fmla="*/ 235 h 244"/>
              <a:gd name="T12" fmla="*/ 271 w 280"/>
              <a:gd name="T13" fmla="*/ 226 h 244"/>
              <a:gd name="T14" fmla="*/ 40 w 280"/>
              <a:gd name="T15" fmla="*/ 168 h 244"/>
              <a:gd name="T16" fmla="*/ 75 w 280"/>
              <a:gd name="T17" fmla="*/ 133 h 244"/>
              <a:gd name="T18" fmla="*/ 72 w 280"/>
              <a:gd name="T19" fmla="*/ 120 h 244"/>
              <a:gd name="T20" fmla="*/ 95 w 280"/>
              <a:gd name="T21" fmla="*/ 97 h 244"/>
              <a:gd name="T22" fmla="*/ 110 w 280"/>
              <a:gd name="T23" fmla="*/ 100 h 244"/>
              <a:gd name="T24" fmla="*/ 117 w 280"/>
              <a:gd name="T25" fmla="*/ 100 h 244"/>
              <a:gd name="T26" fmla="*/ 145 w 280"/>
              <a:gd name="T27" fmla="*/ 142 h 244"/>
              <a:gd name="T28" fmla="*/ 139 w 280"/>
              <a:gd name="T29" fmla="*/ 162 h 244"/>
              <a:gd name="T30" fmla="*/ 174 w 280"/>
              <a:gd name="T31" fmla="*/ 196 h 244"/>
              <a:gd name="T32" fmla="*/ 209 w 280"/>
              <a:gd name="T33" fmla="*/ 162 h 244"/>
              <a:gd name="T34" fmla="*/ 201 w 280"/>
              <a:gd name="T35" fmla="*/ 140 h 244"/>
              <a:gd name="T36" fmla="*/ 238 w 280"/>
              <a:gd name="T37" fmla="*/ 69 h 244"/>
              <a:gd name="T38" fmla="*/ 241 w 280"/>
              <a:gd name="T39" fmla="*/ 69 h 244"/>
              <a:gd name="T40" fmla="*/ 276 w 280"/>
              <a:gd name="T41" fmla="*/ 34 h 244"/>
              <a:gd name="T42" fmla="*/ 241 w 280"/>
              <a:gd name="T43" fmla="*/ 0 h 244"/>
              <a:gd name="T44" fmla="*/ 207 w 280"/>
              <a:gd name="T45" fmla="*/ 34 h 244"/>
              <a:gd name="T46" fmla="*/ 215 w 280"/>
              <a:gd name="T47" fmla="*/ 56 h 244"/>
              <a:gd name="T48" fmla="*/ 177 w 280"/>
              <a:gd name="T49" fmla="*/ 127 h 244"/>
              <a:gd name="T50" fmla="*/ 174 w 280"/>
              <a:gd name="T51" fmla="*/ 127 h 244"/>
              <a:gd name="T52" fmla="*/ 167 w 280"/>
              <a:gd name="T53" fmla="*/ 128 h 244"/>
              <a:gd name="T54" fmla="*/ 139 w 280"/>
              <a:gd name="T55" fmla="*/ 85 h 244"/>
              <a:gd name="T56" fmla="*/ 145 w 280"/>
              <a:gd name="T57" fmla="*/ 66 h 244"/>
              <a:gd name="T58" fmla="*/ 110 w 280"/>
              <a:gd name="T59" fmla="*/ 31 h 244"/>
              <a:gd name="T60" fmla="*/ 76 w 280"/>
              <a:gd name="T61" fmla="*/ 66 h 244"/>
              <a:gd name="T62" fmla="*/ 78 w 280"/>
              <a:gd name="T63" fmla="*/ 77 h 244"/>
              <a:gd name="T64" fmla="*/ 54 w 280"/>
              <a:gd name="T65" fmla="*/ 101 h 244"/>
              <a:gd name="T66" fmla="*/ 40 w 280"/>
              <a:gd name="T67" fmla="*/ 98 h 244"/>
              <a:gd name="T68" fmla="*/ 6 w 280"/>
              <a:gd name="T69" fmla="*/ 133 h 244"/>
              <a:gd name="T70" fmla="*/ 40 w 280"/>
              <a:gd name="T71" fmla="*/ 168 h 244"/>
              <a:gd name="T72" fmla="*/ 241 w 280"/>
              <a:gd name="T73" fmla="*/ 17 h 244"/>
              <a:gd name="T74" fmla="*/ 259 w 280"/>
              <a:gd name="T75" fmla="*/ 34 h 244"/>
              <a:gd name="T76" fmla="*/ 241 w 280"/>
              <a:gd name="T77" fmla="*/ 52 h 244"/>
              <a:gd name="T78" fmla="*/ 224 w 280"/>
              <a:gd name="T79" fmla="*/ 34 h 244"/>
              <a:gd name="T80" fmla="*/ 241 w 280"/>
              <a:gd name="T81" fmla="*/ 17 h 244"/>
              <a:gd name="T82" fmla="*/ 174 w 280"/>
              <a:gd name="T83" fmla="*/ 144 h 244"/>
              <a:gd name="T84" fmla="*/ 192 w 280"/>
              <a:gd name="T85" fmla="*/ 162 h 244"/>
              <a:gd name="T86" fmla="*/ 174 w 280"/>
              <a:gd name="T87" fmla="*/ 179 h 244"/>
              <a:gd name="T88" fmla="*/ 156 w 280"/>
              <a:gd name="T89" fmla="*/ 162 h 244"/>
              <a:gd name="T90" fmla="*/ 174 w 280"/>
              <a:gd name="T91" fmla="*/ 144 h 244"/>
              <a:gd name="T92" fmla="*/ 110 w 280"/>
              <a:gd name="T93" fmla="*/ 48 h 244"/>
              <a:gd name="T94" fmla="*/ 128 w 280"/>
              <a:gd name="T95" fmla="*/ 66 h 244"/>
              <a:gd name="T96" fmla="*/ 110 w 280"/>
              <a:gd name="T97" fmla="*/ 84 h 244"/>
              <a:gd name="T98" fmla="*/ 93 w 280"/>
              <a:gd name="T99" fmla="*/ 66 h 244"/>
              <a:gd name="T100" fmla="*/ 110 w 280"/>
              <a:gd name="T101" fmla="*/ 48 h 244"/>
              <a:gd name="T102" fmla="*/ 40 w 280"/>
              <a:gd name="T103" fmla="*/ 115 h 244"/>
              <a:gd name="T104" fmla="*/ 58 w 280"/>
              <a:gd name="T105" fmla="*/ 133 h 244"/>
              <a:gd name="T106" fmla="*/ 40 w 280"/>
              <a:gd name="T107" fmla="*/ 151 h 244"/>
              <a:gd name="T108" fmla="*/ 23 w 280"/>
              <a:gd name="T109" fmla="*/ 133 h 244"/>
              <a:gd name="T110" fmla="*/ 40 w 280"/>
              <a:gd name="T111" fmla="*/ 115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 h="244">
                <a:moveTo>
                  <a:pt x="271" y="226"/>
                </a:moveTo>
                <a:cubicBezTo>
                  <a:pt x="9" y="226"/>
                  <a:pt x="9" y="226"/>
                  <a:pt x="9" y="226"/>
                </a:cubicBezTo>
                <a:cubicBezTo>
                  <a:pt x="4" y="226"/>
                  <a:pt x="0" y="230"/>
                  <a:pt x="0" y="235"/>
                </a:cubicBezTo>
                <a:cubicBezTo>
                  <a:pt x="0" y="240"/>
                  <a:pt x="4" y="244"/>
                  <a:pt x="9" y="244"/>
                </a:cubicBezTo>
                <a:cubicBezTo>
                  <a:pt x="271" y="244"/>
                  <a:pt x="271" y="244"/>
                  <a:pt x="271" y="244"/>
                </a:cubicBezTo>
                <a:cubicBezTo>
                  <a:pt x="276" y="244"/>
                  <a:pt x="280" y="240"/>
                  <a:pt x="280" y="235"/>
                </a:cubicBezTo>
                <a:cubicBezTo>
                  <a:pt x="280" y="230"/>
                  <a:pt x="276" y="226"/>
                  <a:pt x="271" y="226"/>
                </a:cubicBezTo>
                <a:close/>
                <a:moveTo>
                  <a:pt x="40" y="168"/>
                </a:moveTo>
                <a:cubicBezTo>
                  <a:pt x="60" y="168"/>
                  <a:pt x="75" y="152"/>
                  <a:pt x="75" y="133"/>
                </a:cubicBezTo>
                <a:cubicBezTo>
                  <a:pt x="75" y="128"/>
                  <a:pt x="74" y="124"/>
                  <a:pt x="72" y="120"/>
                </a:cubicBezTo>
                <a:cubicBezTo>
                  <a:pt x="95" y="97"/>
                  <a:pt x="95" y="97"/>
                  <a:pt x="95" y="97"/>
                </a:cubicBezTo>
                <a:cubicBezTo>
                  <a:pt x="100" y="99"/>
                  <a:pt x="105" y="100"/>
                  <a:pt x="110" y="100"/>
                </a:cubicBezTo>
                <a:cubicBezTo>
                  <a:pt x="113" y="100"/>
                  <a:pt x="115" y="100"/>
                  <a:pt x="117" y="100"/>
                </a:cubicBezTo>
                <a:cubicBezTo>
                  <a:pt x="145" y="142"/>
                  <a:pt x="145" y="142"/>
                  <a:pt x="145" y="142"/>
                </a:cubicBezTo>
                <a:cubicBezTo>
                  <a:pt x="141" y="148"/>
                  <a:pt x="139" y="154"/>
                  <a:pt x="139" y="162"/>
                </a:cubicBezTo>
                <a:cubicBezTo>
                  <a:pt x="139" y="181"/>
                  <a:pt x="155" y="196"/>
                  <a:pt x="174" y="196"/>
                </a:cubicBezTo>
                <a:cubicBezTo>
                  <a:pt x="193" y="196"/>
                  <a:pt x="209" y="181"/>
                  <a:pt x="209" y="162"/>
                </a:cubicBezTo>
                <a:cubicBezTo>
                  <a:pt x="209" y="153"/>
                  <a:pt x="205" y="146"/>
                  <a:pt x="201" y="140"/>
                </a:cubicBezTo>
                <a:cubicBezTo>
                  <a:pt x="238" y="69"/>
                  <a:pt x="238" y="69"/>
                  <a:pt x="238" y="69"/>
                </a:cubicBezTo>
                <a:cubicBezTo>
                  <a:pt x="239" y="69"/>
                  <a:pt x="240" y="69"/>
                  <a:pt x="241" y="69"/>
                </a:cubicBezTo>
                <a:cubicBezTo>
                  <a:pt x="260" y="69"/>
                  <a:pt x="276" y="54"/>
                  <a:pt x="276" y="34"/>
                </a:cubicBezTo>
                <a:cubicBezTo>
                  <a:pt x="276" y="15"/>
                  <a:pt x="260" y="0"/>
                  <a:pt x="241" y="0"/>
                </a:cubicBezTo>
                <a:cubicBezTo>
                  <a:pt x="222" y="0"/>
                  <a:pt x="207" y="15"/>
                  <a:pt x="207" y="34"/>
                </a:cubicBezTo>
                <a:cubicBezTo>
                  <a:pt x="207" y="43"/>
                  <a:pt x="210" y="50"/>
                  <a:pt x="215" y="56"/>
                </a:cubicBezTo>
                <a:cubicBezTo>
                  <a:pt x="177" y="127"/>
                  <a:pt x="177" y="127"/>
                  <a:pt x="177" y="127"/>
                </a:cubicBezTo>
                <a:cubicBezTo>
                  <a:pt x="176" y="127"/>
                  <a:pt x="175" y="127"/>
                  <a:pt x="174" y="127"/>
                </a:cubicBezTo>
                <a:cubicBezTo>
                  <a:pt x="172" y="127"/>
                  <a:pt x="170" y="127"/>
                  <a:pt x="167" y="128"/>
                </a:cubicBezTo>
                <a:cubicBezTo>
                  <a:pt x="139" y="85"/>
                  <a:pt x="139" y="85"/>
                  <a:pt x="139" y="85"/>
                </a:cubicBezTo>
                <a:cubicBezTo>
                  <a:pt x="143" y="79"/>
                  <a:pt x="145" y="73"/>
                  <a:pt x="145" y="66"/>
                </a:cubicBezTo>
                <a:cubicBezTo>
                  <a:pt x="145" y="47"/>
                  <a:pt x="129" y="31"/>
                  <a:pt x="110" y="31"/>
                </a:cubicBezTo>
                <a:cubicBezTo>
                  <a:pt x="91" y="31"/>
                  <a:pt x="76" y="47"/>
                  <a:pt x="76" y="66"/>
                </a:cubicBezTo>
                <a:cubicBezTo>
                  <a:pt x="76" y="70"/>
                  <a:pt x="76" y="73"/>
                  <a:pt x="78" y="77"/>
                </a:cubicBezTo>
                <a:cubicBezTo>
                  <a:pt x="54" y="101"/>
                  <a:pt x="54" y="101"/>
                  <a:pt x="54" y="101"/>
                </a:cubicBezTo>
                <a:cubicBezTo>
                  <a:pt x="50" y="99"/>
                  <a:pt x="45" y="98"/>
                  <a:pt x="40" y="98"/>
                </a:cubicBezTo>
                <a:cubicBezTo>
                  <a:pt x="21" y="98"/>
                  <a:pt x="6" y="114"/>
                  <a:pt x="6" y="133"/>
                </a:cubicBezTo>
                <a:cubicBezTo>
                  <a:pt x="6" y="152"/>
                  <a:pt x="21" y="168"/>
                  <a:pt x="40" y="168"/>
                </a:cubicBezTo>
                <a:close/>
                <a:moveTo>
                  <a:pt x="241" y="17"/>
                </a:moveTo>
                <a:cubicBezTo>
                  <a:pt x="251" y="17"/>
                  <a:pt x="259" y="25"/>
                  <a:pt x="259" y="34"/>
                </a:cubicBezTo>
                <a:cubicBezTo>
                  <a:pt x="259" y="44"/>
                  <a:pt x="251" y="52"/>
                  <a:pt x="241" y="52"/>
                </a:cubicBezTo>
                <a:cubicBezTo>
                  <a:pt x="232" y="52"/>
                  <a:pt x="224" y="44"/>
                  <a:pt x="224" y="34"/>
                </a:cubicBezTo>
                <a:cubicBezTo>
                  <a:pt x="224" y="25"/>
                  <a:pt x="232" y="17"/>
                  <a:pt x="241" y="17"/>
                </a:cubicBezTo>
                <a:close/>
                <a:moveTo>
                  <a:pt x="174" y="144"/>
                </a:moveTo>
                <a:cubicBezTo>
                  <a:pt x="184" y="144"/>
                  <a:pt x="192" y="152"/>
                  <a:pt x="192" y="162"/>
                </a:cubicBezTo>
                <a:cubicBezTo>
                  <a:pt x="192" y="171"/>
                  <a:pt x="184" y="179"/>
                  <a:pt x="174" y="179"/>
                </a:cubicBezTo>
                <a:cubicBezTo>
                  <a:pt x="164" y="179"/>
                  <a:pt x="156" y="171"/>
                  <a:pt x="156" y="162"/>
                </a:cubicBezTo>
                <a:cubicBezTo>
                  <a:pt x="156" y="152"/>
                  <a:pt x="164" y="144"/>
                  <a:pt x="174" y="144"/>
                </a:cubicBezTo>
                <a:close/>
                <a:moveTo>
                  <a:pt x="110" y="48"/>
                </a:moveTo>
                <a:cubicBezTo>
                  <a:pt x="120" y="48"/>
                  <a:pt x="128" y="56"/>
                  <a:pt x="128" y="66"/>
                </a:cubicBezTo>
                <a:cubicBezTo>
                  <a:pt x="128" y="76"/>
                  <a:pt x="120" y="84"/>
                  <a:pt x="110" y="84"/>
                </a:cubicBezTo>
                <a:cubicBezTo>
                  <a:pt x="100" y="84"/>
                  <a:pt x="93" y="76"/>
                  <a:pt x="93" y="66"/>
                </a:cubicBezTo>
                <a:cubicBezTo>
                  <a:pt x="93" y="56"/>
                  <a:pt x="100" y="48"/>
                  <a:pt x="110" y="48"/>
                </a:cubicBezTo>
                <a:close/>
                <a:moveTo>
                  <a:pt x="40" y="115"/>
                </a:moveTo>
                <a:cubicBezTo>
                  <a:pt x="50" y="115"/>
                  <a:pt x="58" y="123"/>
                  <a:pt x="58" y="133"/>
                </a:cubicBezTo>
                <a:cubicBezTo>
                  <a:pt x="58" y="143"/>
                  <a:pt x="50" y="151"/>
                  <a:pt x="40" y="151"/>
                </a:cubicBezTo>
                <a:cubicBezTo>
                  <a:pt x="31" y="151"/>
                  <a:pt x="23" y="143"/>
                  <a:pt x="23" y="133"/>
                </a:cubicBezTo>
                <a:cubicBezTo>
                  <a:pt x="23" y="123"/>
                  <a:pt x="31" y="115"/>
                  <a:pt x="40" y="1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47"/>
          <p:cNvSpPr>
            <a:spLocks noEditPoints="1"/>
          </p:cNvSpPr>
          <p:nvPr userDrawn="1"/>
        </p:nvSpPr>
        <p:spPr bwMode="auto">
          <a:xfrm>
            <a:off x="3802379" y="3222465"/>
            <a:ext cx="246538" cy="291150"/>
          </a:xfrm>
          <a:custGeom>
            <a:avLst/>
            <a:gdLst>
              <a:gd name="T0" fmla="*/ 184 w 368"/>
              <a:gd name="T1" fmla="*/ 136 h 435"/>
              <a:gd name="T2" fmla="*/ 137 w 368"/>
              <a:gd name="T3" fmla="*/ 183 h 435"/>
              <a:gd name="T4" fmla="*/ 156 w 368"/>
              <a:gd name="T5" fmla="*/ 222 h 435"/>
              <a:gd name="T6" fmla="*/ 109 w 368"/>
              <a:gd name="T7" fmla="*/ 395 h 435"/>
              <a:gd name="T8" fmla="*/ 96 w 368"/>
              <a:gd name="T9" fmla="*/ 395 h 435"/>
              <a:gd name="T10" fmla="*/ 75 w 368"/>
              <a:gd name="T11" fmla="*/ 415 h 435"/>
              <a:gd name="T12" fmla="*/ 96 w 368"/>
              <a:gd name="T13" fmla="*/ 435 h 435"/>
              <a:gd name="T14" fmla="*/ 273 w 368"/>
              <a:gd name="T15" fmla="*/ 435 h 435"/>
              <a:gd name="T16" fmla="*/ 293 w 368"/>
              <a:gd name="T17" fmla="*/ 415 h 435"/>
              <a:gd name="T18" fmla="*/ 273 w 368"/>
              <a:gd name="T19" fmla="*/ 395 h 435"/>
              <a:gd name="T20" fmla="*/ 259 w 368"/>
              <a:gd name="T21" fmla="*/ 395 h 435"/>
              <a:gd name="T22" fmla="*/ 213 w 368"/>
              <a:gd name="T23" fmla="*/ 222 h 435"/>
              <a:gd name="T24" fmla="*/ 232 w 368"/>
              <a:gd name="T25" fmla="*/ 183 h 435"/>
              <a:gd name="T26" fmla="*/ 184 w 368"/>
              <a:gd name="T27" fmla="*/ 136 h 435"/>
              <a:gd name="T28" fmla="*/ 121 w 368"/>
              <a:gd name="T29" fmla="*/ 223 h 435"/>
              <a:gd name="T30" fmla="*/ 114 w 368"/>
              <a:gd name="T31" fmla="*/ 251 h 435"/>
              <a:gd name="T32" fmla="*/ 86 w 368"/>
              <a:gd name="T33" fmla="*/ 244 h 435"/>
              <a:gd name="T34" fmla="*/ 73 w 368"/>
              <a:gd name="T35" fmla="*/ 215 h 435"/>
              <a:gd name="T36" fmla="*/ 69 w 368"/>
              <a:gd name="T37" fmla="*/ 183 h 435"/>
              <a:gd name="T38" fmla="*/ 102 w 368"/>
              <a:gd name="T39" fmla="*/ 102 h 435"/>
              <a:gd name="T40" fmla="*/ 184 w 368"/>
              <a:gd name="T41" fmla="*/ 68 h 435"/>
              <a:gd name="T42" fmla="*/ 266 w 368"/>
              <a:gd name="T43" fmla="*/ 102 h 435"/>
              <a:gd name="T44" fmla="*/ 300 w 368"/>
              <a:gd name="T45" fmla="*/ 183 h 435"/>
              <a:gd name="T46" fmla="*/ 296 w 368"/>
              <a:gd name="T47" fmla="*/ 215 h 435"/>
              <a:gd name="T48" fmla="*/ 283 w 368"/>
              <a:gd name="T49" fmla="*/ 244 h 435"/>
              <a:gd name="T50" fmla="*/ 255 w 368"/>
              <a:gd name="T51" fmla="*/ 251 h 435"/>
              <a:gd name="T52" fmla="*/ 248 w 368"/>
              <a:gd name="T53" fmla="*/ 223 h 435"/>
              <a:gd name="T54" fmla="*/ 256 w 368"/>
              <a:gd name="T55" fmla="*/ 204 h 435"/>
              <a:gd name="T56" fmla="*/ 259 w 368"/>
              <a:gd name="T57" fmla="*/ 183 h 435"/>
              <a:gd name="T58" fmla="*/ 237 w 368"/>
              <a:gd name="T59" fmla="*/ 130 h 435"/>
              <a:gd name="T60" fmla="*/ 184 w 368"/>
              <a:gd name="T61" fmla="*/ 109 h 435"/>
              <a:gd name="T62" fmla="*/ 131 w 368"/>
              <a:gd name="T63" fmla="*/ 130 h 435"/>
              <a:gd name="T64" fmla="*/ 109 w 368"/>
              <a:gd name="T65" fmla="*/ 183 h 435"/>
              <a:gd name="T66" fmla="*/ 112 w 368"/>
              <a:gd name="T67" fmla="*/ 204 h 435"/>
              <a:gd name="T68" fmla="*/ 121 w 368"/>
              <a:gd name="T69" fmla="*/ 223 h 435"/>
              <a:gd name="T70" fmla="*/ 299 w 368"/>
              <a:gd name="T71" fmla="*/ 327 h 435"/>
              <a:gd name="T72" fmla="*/ 270 w 368"/>
              <a:gd name="T73" fmla="*/ 324 h 435"/>
              <a:gd name="T74" fmla="*/ 274 w 368"/>
              <a:gd name="T75" fmla="*/ 295 h 435"/>
              <a:gd name="T76" fmla="*/ 313 w 368"/>
              <a:gd name="T77" fmla="*/ 245 h 435"/>
              <a:gd name="T78" fmla="*/ 327 w 368"/>
              <a:gd name="T79" fmla="*/ 183 h 435"/>
              <a:gd name="T80" fmla="*/ 285 w 368"/>
              <a:gd name="T81" fmla="*/ 82 h 435"/>
              <a:gd name="T82" fmla="*/ 184 w 368"/>
              <a:gd name="T83" fmla="*/ 41 h 435"/>
              <a:gd name="T84" fmla="*/ 83 w 368"/>
              <a:gd name="T85" fmla="*/ 82 h 435"/>
              <a:gd name="T86" fmla="*/ 41 w 368"/>
              <a:gd name="T87" fmla="*/ 183 h 435"/>
              <a:gd name="T88" fmla="*/ 55 w 368"/>
              <a:gd name="T89" fmla="*/ 245 h 435"/>
              <a:gd name="T90" fmla="*/ 95 w 368"/>
              <a:gd name="T91" fmla="*/ 295 h 435"/>
              <a:gd name="T92" fmla="*/ 98 w 368"/>
              <a:gd name="T93" fmla="*/ 324 h 435"/>
              <a:gd name="T94" fmla="*/ 70 w 368"/>
              <a:gd name="T95" fmla="*/ 327 h 435"/>
              <a:gd name="T96" fmla="*/ 19 w 368"/>
              <a:gd name="T97" fmla="*/ 263 h 435"/>
              <a:gd name="T98" fmla="*/ 0 w 368"/>
              <a:gd name="T99" fmla="*/ 183 h 435"/>
              <a:gd name="T100" fmla="*/ 54 w 368"/>
              <a:gd name="T101" fmla="*/ 53 h 435"/>
              <a:gd name="T102" fmla="*/ 184 w 368"/>
              <a:gd name="T103" fmla="*/ 0 h 435"/>
              <a:gd name="T104" fmla="*/ 314 w 368"/>
              <a:gd name="T105" fmla="*/ 53 h 435"/>
              <a:gd name="T106" fmla="*/ 368 w 368"/>
              <a:gd name="T107" fmla="*/ 183 h 435"/>
              <a:gd name="T108" fmla="*/ 350 w 368"/>
              <a:gd name="T109" fmla="*/ 263 h 435"/>
              <a:gd name="T110" fmla="*/ 299 w 368"/>
              <a:gd name="T111" fmla="*/ 32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8" h="435">
                <a:moveTo>
                  <a:pt x="184" y="136"/>
                </a:moveTo>
                <a:cubicBezTo>
                  <a:pt x="158" y="136"/>
                  <a:pt x="137" y="157"/>
                  <a:pt x="137" y="183"/>
                </a:cubicBezTo>
                <a:cubicBezTo>
                  <a:pt x="137" y="199"/>
                  <a:pt x="144" y="213"/>
                  <a:pt x="156" y="222"/>
                </a:cubicBezTo>
                <a:cubicBezTo>
                  <a:pt x="109" y="395"/>
                  <a:pt x="109" y="395"/>
                  <a:pt x="109" y="395"/>
                </a:cubicBezTo>
                <a:cubicBezTo>
                  <a:pt x="96" y="395"/>
                  <a:pt x="96" y="395"/>
                  <a:pt x="96" y="395"/>
                </a:cubicBezTo>
                <a:cubicBezTo>
                  <a:pt x="85" y="395"/>
                  <a:pt x="75" y="404"/>
                  <a:pt x="75" y="415"/>
                </a:cubicBezTo>
                <a:cubicBezTo>
                  <a:pt x="75" y="426"/>
                  <a:pt x="85" y="435"/>
                  <a:pt x="96" y="435"/>
                </a:cubicBezTo>
                <a:cubicBezTo>
                  <a:pt x="273" y="435"/>
                  <a:pt x="273" y="435"/>
                  <a:pt x="273" y="435"/>
                </a:cubicBezTo>
                <a:cubicBezTo>
                  <a:pt x="284" y="435"/>
                  <a:pt x="293" y="426"/>
                  <a:pt x="293" y="415"/>
                </a:cubicBezTo>
                <a:cubicBezTo>
                  <a:pt x="293" y="404"/>
                  <a:pt x="284" y="395"/>
                  <a:pt x="273" y="395"/>
                </a:cubicBezTo>
                <a:cubicBezTo>
                  <a:pt x="259" y="395"/>
                  <a:pt x="259" y="395"/>
                  <a:pt x="259" y="395"/>
                </a:cubicBezTo>
                <a:cubicBezTo>
                  <a:pt x="213" y="222"/>
                  <a:pt x="213" y="222"/>
                  <a:pt x="213" y="222"/>
                </a:cubicBezTo>
                <a:cubicBezTo>
                  <a:pt x="225" y="213"/>
                  <a:pt x="232" y="199"/>
                  <a:pt x="232" y="183"/>
                </a:cubicBezTo>
                <a:cubicBezTo>
                  <a:pt x="232" y="157"/>
                  <a:pt x="211" y="136"/>
                  <a:pt x="184" y="136"/>
                </a:cubicBezTo>
                <a:close/>
                <a:moveTo>
                  <a:pt x="121" y="223"/>
                </a:moveTo>
                <a:cubicBezTo>
                  <a:pt x="126" y="232"/>
                  <a:pt x="123" y="245"/>
                  <a:pt x="114" y="251"/>
                </a:cubicBezTo>
                <a:cubicBezTo>
                  <a:pt x="104" y="257"/>
                  <a:pt x="92" y="254"/>
                  <a:pt x="86" y="244"/>
                </a:cubicBezTo>
                <a:cubicBezTo>
                  <a:pt x="80" y="235"/>
                  <a:pt x="76" y="225"/>
                  <a:pt x="73" y="215"/>
                </a:cubicBezTo>
                <a:cubicBezTo>
                  <a:pt x="70" y="205"/>
                  <a:pt x="69" y="194"/>
                  <a:pt x="69" y="183"/>
                </a:cubicBezTo>
                <a:cubicBezTo>
                  <a:pt x="69" y="152"/>
                  <a:pt x="82" y="123"/>
                  <a:pt x="102" y="102"/>
                </a:cubicBezTo>
                <a:cubicBezTo>
                  <a:pt x="123" y="81"/>
                  <a:pt x="152" y="68"/>
                  <a:pt x="184" y="68"/>
                </a:cubicBezTo>
                <a:cubicBezTo>
                  <a:pt x="216" y="68"/>
                  <a:pt x="245" y="81"/>
                  <a:pt x="266" y="102"/>
                </a:cubicBezTo>
                <a:cubicBezTo>
                  <a:pt x="287" y="123"/>
                  <a:pt x="300" y="152"/>
                  <a:pt x="300" y="183"/>
                </a:cubicBezTo>
                <a:cubicBezTo>
                  <a:pt x="300" y="194"/>
                  <a:pt x="299" y="205"/>
                  <a:pt x="296" y="215"/>
                </a:cubicBezTo>
                <a:cubicBezTo>
                  <a:pt x="293" y="225"/>
                  <a:pt x="288" y="235"/>
                  <a:pt x="283" y="244"/>
                </a:cubicBezTo>
                <a:cubicBezTo>
                  <a:pt x="277" y="254"/>
                  <a:pt x="264" y="257"/>
                  <a:pt x="255" y="251"/>
                </a:cubicBezTo>
                <a:cubicBezTo>
                  <a:pt x="245" y="245"/>
                  <a:pt x="242" y="232"/>
                  <a:pt x="248" y="223"/>
                </a:cubicBezTo>
                <a:cubicBezTo>
                  <a:pt x="252" y="217"/>
                  <a:pt x="255" y="210"/>
                  <a:pt x="256" y="204"/>
                </a:cubicBezTo>
                <a:cubicBezTo>
                  <a:pt x="258" y="197"/>
                  <a:pt x="259" y="191"/>
                  <a:pt x="259" y="183"/>
                </a:cubicBezTo>
                <a:cubicBezTo>
                  <a:pt x="259" y="163"/>
                  <a:pt x="251" y="144"/>
                  <a:pt x="237" y="130"/>
                </a:cubicBezTo>
                <a:cubicBezTo>
                  <a:pt x="224" y="117"/>
                  <a:pt x="205" y="109"/>
                  <a:pt x="184" y="109"/>
                </a:cubicBezTo>
                <a:cubicBezTo>
                  <a:pt x="164" y="109"/>
                  <a:pt x="145" y="117"/>
                  <a:pt x="131" y="130"/>
                </a:cubicBezTo>
                <a:cubicBezTo>
                  <a:pt x="118" y="144"/>
                  <a:pt x="109" y="163"/>
                  <a:pt x="109" y="183"/>
                </a:cubicBezTo>
                <a:cubicBezTo>
                  <a:pt x="109" y="191"/>
                  <a:pt x="110" y="197"/>
                  <a:pt x="112" y="204"/>
                </a:cubicBezTo>
                <a:cubicBezTo>
                  <a:pt x="114" y="210"/>
                  <a:pt x="117" y="217"/>
                  <a:pt x="121" y="223"/>
                </a:cubicBezTo>
                <a:close/>
                <a:moveTo>
                  <a:pt x="299" y="327"/>
                </a:moveTo>
                <a:cubicBezTo>
                  <a:pt x="290" y="334"/>
                  <a:pt x="277" y="333"/>
                  <a:pt x="270" y="324"/>
                </a:cubicBezTo>
                <a:cubicBezTo>
                  <a:pt x="263" y="315"/>
                  <a:pt x="265" y="302"/>
                  <a:pt x="274" y="295"/>
                </a:cubicBezTo>
                <a:cubicBezTo>
                  <a:pt x="290" y="282"/>
                  <a:pt x="304" y="265"/>
                  <a:pt x="313" y="245"/>
                </a:cubicBezTo>
                <a:cubicBezTo>
                  <a:pt x="322" y="227"/>
                  <a:pt x="327" y="206"/>
                  <a:pt x="327" y="183"/>
                </a:cubicBezTo>
                <a:cubicBezTo>
                  <a:pt x="327" y="144"/>
                  <a:pt x="311" y="108"/>
                  <a:pt x="285" y="82"/>
                </a:cubicBezTo>
                <a:cubicBezTo>
                  <a:pt x="260" y="56"/>
                  <a:pt x="224" y="41"/>
                  <a:pt x="184" y="41"/>
                </a:cubicBezTo>
                <a:cubicBezTo>
                  <a:pt x="145" y="41"/>
                  <a:pt x="109" y="56"/>
                  <a:pt x="83" y="82"/>
                </a:cubicBezTo>
                <a:cubicBezTo>
                  <a:pt x="57" y="108"/>
                  <a:pt x="41" y="144"/>
                  <a:pt x="41" y="183"/>
                </a:cubicBezTo>
                <a:cubicBezTo>
                  <a:pt x="41" y="206"/>
                  <a:pt x="46" y="227"/>
                  <a:pt x="55" y="245"/>
                </a:cubicBezTo>
                <a:cubicBezTo>
                  <a:pt x="65" y="265"/>
                  <a:pt x="78" y="282"/>
                  <a:pt x="95" y="295"/>
                </a:cubicBezTo>
                <a:cubicBezTo>
                  <a:pt x="104" y="302"/>
                  <a:pt x="105" y="315"/>
                  <a:pt x="98" y="324"/>
                </a:cubicBezTo>
                <a:cubicBezTo>
                  <a:pt x="91" y="333"/>
                  <a:pt x="78" y="334"/>
                  <a:pt x="70" y="327"/>
                </a:cubicBezTo>
                <a:cubicBezTo>
                  <a:pt x="48" y="310"/>
                  <a:pt x="31" y="288"/>
                  <a:pt x="19" y="263"/>
                </a:cubicBezTo>
                <a:cubicBezTo>
                  <a:pt x="7" y="239"/>
                  <a:pt x="0" y="212"/>
                  <a:pt x="0" y="183"/>
                </a:cubicBezTo>
                <a:cubicBezTo>
                  <a:pt x="0" y="133"/>
                  <a:pt x="21" y="87"/>
                  <a:pt x="54" y="53"/>
                </a:cubicBezTo>
                <a:cubicBezTo>
                  <a:pt x="88" y="20"/>
                  <a:pt x="134" y="0"/>
                  <a:pt x="184" y="0"/>
                </a:cubicBezTo>
                <a:cubicBezTo>
                  <a:pt x="235" y="0"/>
                  <a:pt x="281" y="20"/>
                  <a:pt x="314" y="53"/>
                </a:cubicBezTo>
                <a:cubicBezTo>
                  <a:pt x="348" y="87"/>
                  <a:pt x="368" y="133"/>
                  <a:pt x="368" y="183"/>
                </a:cubicBezTo>
                <a:cubicBezTo>
                  <a:pt x="368" y="212"/>
                  <a:pt x="362" y="239"/>
                  <a:pt x="350" y="263"/>
                </a:cubicBezTo>
                <a:cubicBezTo>
                  <a:pt x="338" y="288"/>
                  <a:pt x="320" y="310"/>
                  <a:pt x="299" y="3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53"/>
          <p:cNvSpPr>
            <a:spLocks noEditPoints="1"/>
          </p:cNvSpPr>
          <p:nvPr userDrawn="1"/>
        </p:nvSpPr>
        <p:spPr bwMode="auto">
          <a:xfrm>
            <a:off x="3828398" y="2078185"/>
            <a:ext cx="215300" cy="286757"/>
          </a:xfrm>
          <a:custGeom>
            <a:avLst/>
            <a:gdLst>
              <a:gd name="T0" fmla="*/ 42 w 332"/>
              <a:gd name="T1" fmla="*/ 0 h 442"/>
              <a:gd name="T2" fmla="*/ 290 w 332"/>
              <a:gd name="T3" fmla="*/ 0 h 442"/>
              <a:gd name="T4" fmla="*/ 332 w 332"/>
              <a:gd name="T5" fmla="*/ 41 h 442"/>
              <a:gd name="T6" fmla="*/ 332 w 332"/>
              <a:gd name="T7" fmla="*/ 401 h 442"/>
              <a:gd name="T8" fmla="*/ 290 w 332"/>
              <a:gd name="T9" fmla="*/ 442 h 442"/>
              <a:gd name="T10" fmla="*/ 221 w 332"/>
              <a:gd name="T11" fmla="*/ 442 h 442"/>
              <a:gd name="T12" fmla="*/ 111 w 332"/>
              <a:gd name="T13" fmla="*/ 442 h 442"/>
              <a:gd name="T14" fmla="*/ 42 w 332"/>
              <a:gd name="T15" fmla="*/ 442 h 442"/>
              <a:gd name="T16" fmla="*/ 0 w 332"/>
              <a:gd name="T17" fmla="*/ 401 h 442"/>
              <a:gd name="T18" fmla="*/ 0 w 332"/>
              <a:gd name="T19" fmla="*/ 41 h 442"/>
              <a:gd name="T20" fmla="*/ 42 w 332"/>
              <a:gd name="T21" fmla="*/ 0 h 442"/>
              <a:gd name="T22" fmla="*/ 55 w 332"/>
              <a:gd name="T23" fmla="*/ 41 h 442"/>
              <a:gd name="T24" fmla="*/ 42 w 332"/>
              <a:gd name="T25" fmla="*/ 55 h 442"/>
              <a:gd name="T26" fmla="*/ 42 w 332"/>
              <a:gd name="T27" fmla="*/ 318 h 442"/>
              <a:gd name="T28" fmla="*/ 55 w 332"/>
              <a:gd name="T29" fmla="*/ 332 h 442"/>
              <a:gd name="T30" fmla="*/ 277 w 332"/>
              <a:gd name="T31" fmla="*/ 332 h 442"/>
              <a:gd name="T32" fmla="*/ 290 w 332"/>
              <a:gd name="T33" fmla="*/ 318 h 442"/>
              <a:gd name="T34" fmla="*/ 290 w 332"/>
              <a:gd name="T35" fmla="*/ 55 h 442"/>
              <a:gd name="T36" fmla="*/ 277 w 332"/>
              <a:gd name="T37" fmla="*/ 41 h 442"/>
              <a:gd name="T38" fmla="*/ 55 w 332"/>
              <a:gd name="T39" fmla="*/ 41 h 442"/>
              <a:gd name="T40" fmla="*/ 166 w 332"/>
              <a:gd name="T41" fmla="*/ 366 h 442"/>
              <a:gd name="T42" fmla="*/ 145 w 332"/>
              <a:gd name="T43" fmla="*/ 387 h 442"/>
              <a:gd name="T44" fmla="*/ 166 w 332"/>
              <a:gd name="T45" fmla="*/ 408 h 442"/>
              <a:gd name="T46" fmla="*/ 187 w 332"/>
              <a:gd name="T47" fmla="*/ 387 h 442"/>
              <a:gd name="T48" fmla="*/ 166 w 332"/>
              <a:gd name="T49" fmla="*/ 366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2" h="442">
                <a:moveTo>
                  <a:pt x="42" y="0"/>
                </a:moveTo>
                <a:cubicBezTo>
                  <a:pt x="290" y="0"/>
                  <a:pt x="290" y="0"/>
                  <a:pt x="290" y="0"/>
                </a:cubicBezTo>
                <a:cubicBezTo>
                  <a:pt x="313" y="0"/>
                  <a:pt x="332" y="19"/>
                  <a:pt x="332" y="41"/>
                </a:cubicBezTo>
                <a:cubicBezTo>
                  <a:pt x="332" y="401"/>
                  <a:pt x="332" y="401"/>
                  <a:pt x="332" y="401"/>
                </a:cubicBezTo>
                <a:cubicBezTo>
                  <a:pt x="332" y="424"/>
                  <a:pt x="313" y="442"/>
                  <a:pt x="290" y="442"/>
                </a:cubicBezTo>
                <a:cubicBezTo>
                  <a:pt x="221" y="442"/>
                  <a:pt x="221" y="442"/>
                  <a:pt x="221" y="442"/>
                </a:cubicBezTo>
                <a:cubicBezTo>
                  <a:pt x="111" y="442"/>
                  <a:pt x="111" y="442"/>
                  <a:pt x="111" y="442"/>
                </a:cubicBezTo>
                <a:cubicBezTo>
                  <a:pt x="42" y="442"/>
                  <a:pt x="42" y="442"/>
                  <a:pt x="42" y="442"/>
                </a:cubicBezTo>
                <a:cubicBezTo>
                  <a:pt x="19" y="442"/>
                  <a:pt x="0" y="424"/>
                  <a:pt x="0" y="401"/>
                </a:cubicBezTo>
                <a:cubicBezTo>
                  <a:pt x="0" y="41"/>
                  <a:pt x="0" y="41"/>
                  <a:pt x="0" y="41"/>
                </a:cubicBezTo>
                <a:cubicBezTo>
                  <a:pt x="0" y="19"/>
                  <a:pt x="19" y="0"/>
                  <a:pt x="42" y="0"/>
                </a:cubicBezTo>
                <a:close/>
                <a:moveTo>
                  <a:pt x="55" y="41"/>
                </a:moveTo>
                <a:cubicBezTo>
                  <a:pt x="48" y="41"/>
                  <a:pt x="42" y="48"/>
                  <a:pt x="42" y="55"/>
                </a:cubicBezTo>
                <a:cubicBezTo>
                  <a:pt x="42" y="318"/>
                  <a:pt x="42" y="318"/>
                  <a:pt x="42" y="318"/>
                </a:cubicBezTo>
                <a:cubicBezTo>
                  <a:pt x="42" y="326"/>
                  <a:pt x="48" y="332"/>
                  <a:pt x="55" y="332"/>
                </a:cubicBezTo>
                <a:cubicBezTo>
                  <a:pt x="277" y="332"/>
                  <a:pt x="277" y="332"/>
                  <a:pt x="277" y="332"/>
                </a:cubicBezTo>
                <a:cubicBezTo>
                  <a:pt x="284" y="332"/>
                  <a:pt x="290" y="326"/>
                  <a:pt x="290" y="318"/>
                </a:cubicBezTo>
                <a:cubicBezTo>
                  <a:pt x="290" y="55"/>
                  <a:pt x="290" y="55"/>
                  <a:pt x="290" y="55"/>
                </a:cubicBezTo>
                <a:cubicBezTo>
                  <a:pt x="290" y="48"/>
                  <a:pt x="284" y="41"/>
                  <a:pt x="277" y="41"/>
                </a:cubicBezTo>
                <a:cubicBezTo>
                  <a:pt x="55" y="41"/>
                  <a:pt x="55" y="41"/>
                  <a:pt x="55" y="41"/>
                </a:cubicBezTo>
                <a:close/>
                <a:moveTo>
                  <a:pt x="166" y="366"/>
                </a:moveTo>
                <a:cubicBezTo>
                  <a:pt x="154" y="366"/>
                  <a:pt x="145" y="376"/>
                  <a:pt x="145" y="387"/>
                </a:cubicBezTo>
                <a:cubicBezTo>
                  <a:pt x="145" y="398"/>
                  <a:pt x="154" y="408"/>
                  <a:pt x="166" y="408"/>
                </a:cubicBezTo>
                <a:cubicBezTo>
                  <a:pt x="177" y="408"/>
                  <a:pt x="187" y="398"/>
                  <a:pt x="187" y="387"/>
                </a:cubicBezTo>
                <a:cubicBezTo>
                  <a:pt x="187" y="376"/>
                  <a:pt x="177" y="366"/>
                  <a:pt x="166" y="36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51"/>
          <p:cNvSpPr>
            <a:spLocks/>
          </p:cNvSpPr>
          <p:nvPr userDrawn="1"/>
        </p:nvSpPr>
        <p:spPr bwMode="auto">
          <a:xfrm>
            <a:off x="3781689" y="2660172"/>
            <a:ext cx="271379" cy="228608"/>
          </a:xfrm>
          <a:custGeom>
            <a:avLst/>
            <a:gdLst>
              <a:gd name="T0" fmla="*/ 237 w 450"/>
              <a:gd name="T1" fmla="*/ 70 h 379"/>
              <a:gd name="T2" fmla="*/ 422 w 450"/>
              <a:gd name="T3" fmla="*/ 70 h 379"/>
              <a:gd name="T4" fmla="*/ 450 w 450"/>
              <a:gd name="T5" fmla="*/ 98 h 379"/>
              <a:gd name="T6" fmla="*/ 450 w 450"/>
              <a:gd name="T7" fmla="*/ 351 h 379"/>
              <a:gd name="T8" fmla="*/ 422 w 450"/>
              <a:gd name="T9" fmla="*/ 379 h 379"/>
              <a:gd name="T10" fmla="*/ 28 w 450"/>
              <a:gd name="T11" fmla="*/ 379 h 379"/>
              <a:gd name="T12" fmla="*/ 0 w 450"/>
              <a:gd name="T13" fmla="*/ 351 h 379"/>
              <a:gd name="T14" fmla="*/ 0 w 450"/>
              <a:gd name="T15" fmla="*/ 126 h 379"/>
              <a:gd name="T16" fmla="*/ 0 w 450"/>
              <a:gd name="T17" fmla="*/ 98 h 379"/>
              <a:gd name="T18" fmla="*/ 0 w 450"/>
              <a:gd name="T19" fmla="*/ 28 h 379"/>
              <a:gd name="T20" fmla="*/ 28 w 450"/>
              <a:gd name="T21" fmla="*/ 0 h 379"/>
              <a:gd name="T22" fmla="*/ 155 w 450"/>
              <a:gd name="T23" fmla="*/ 0 h 379"/>
              <a:gd name="T24" fmla="*/ 175 w 450"/>
              <a:gd name="T25" fmla="*/ 8 h 379"/>
              <a:gd name="T26" fmla="*/ 237 w 450"/>
              <a:gd name="T27" fmla="*/ 70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0" h="379">
                <a:moveTo>
                  <a:pt x="237" y="70"/>
                </a:moveTo>
                <a:cubicBezTo>
                  <a:pt x="422" y="70"/>
                  <a:pt x="422" y="70"/>
                  <a:pt x="422" y="70"/>
                </a:cubicBezTo>
                <a:cubicBezTo>
                  <a:pt x="437" y="70"/>
                  <a:pt x="450" y="83"/>
                  <a:pt x="450" y="98"/>
                </a:cubicBezTo>
                <a:cubicBezTo>
                  <a:pt x="450" y="351"/>
                  <a:pt x="450" y="351"/>
                  <a:pt x="450" y="351"/>
                </a:cubicBezTo>
                <a:cubicBezTo>
                  <a:pt x="450" y="367"/>
                  <a:pt x="437" y="379"/>
                  <a:pt x="422" y="379"/>
                </a:cubicBezTo>
                <a:cubicBezTo>
                  <a:pt x="28" y="379"/>
                  <a:pt x="28" y="379"/>
                  <a:pt x="28" y="379"/>
                </a:cubicBezTo>
                <a:cubicBezTo>
                  <a:pt x="13" y="379"/>
                  <a:pt x="0" y="367"/>
                  <a:pt x="0" y="351"/>
                </a:cubicBezTo>
                <a:cubicBezTo>
                  <a:pt x="0" y="126"/>
                  <a:pt x="0" y="126"/>
                  <a:pt x="0" y="126"/>
                </a:cubicBezTo>
                <a:cubicBezTo>
                  <a:pt x="0" y="98"/>
                  <a:pt x="0" y="98"/>
                  <a:pt x="0" y="98"/>
                </a:cubicBezTo>
                <a:cubicBezTo>
                  <a:pt x="0" y="28"/>
                  <a:pt x="0" y="28"/>
                  <a:pt x="0" y="28"/>
                </a:cubicBezTo>
                <a:cubicBezTo>
                  <a:pt x="0" y="12"/>
                  <a:pt x="13" y="0"/>
                  <a:pt x="28" y="0"/>
                </a:cubicBezTo>
                <a:cubicBezTo>
                  <a:pt x="155" y="0"/>
                  <a:pt x="155" y="0"/>
                  <a:pt x="155" y="0"/>
                </a:cubicBezTo>
                <a:cubicBezTo>
                  <a:pt x="163" y="0"/>
                  <a:pt x="170" y="3"/>
                  <a:pt x="175" y="8"/>
                </a:cubicBezTo>
                <a:lnTo>
                  <a:pt x="237" y="7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8" name="Group 127"/>
          <p:cNvGrpSpPr/>
          <p:nvPr userDrawn="1"/>
        </p:nvGrpSpPr>
        <p:grpSpPr>
          <a:xfrm>
            <a:off x="3812368" y="3735228"/>
            <a:ext cx="234544" cy="306923"/>
            <a:chOff x="3846460" y="7478353"/>
            <a:chExt cx="345682" cy="452357"/>
          </a:xfrm>
          <a:solidFill>
            <a:schemeClr val="tx1"/>
          </a:solidFill>
        </p:grpSpPr>
        <p:grpSp>
          <p:nvGrpSpPr>
            <p:cNvPr id="129" name="Group 128"/>
            <p:cNvGrpSpPr/>
            <p:nvPr/>
          </p:nvGrpSpPr>
          <p:grpSpPr>
            <a:xfrm>
              <a:off x="3846460" y="7478353"/>
              <a:ext cx="345682" cy="452357"/>
              <a:chOff x="3792538" y="2559050"/>
              <a:chExt cx="406400" cy="531813"/>
            </a:xfrm>
            <a:grpFill/>
          </p:grpSpPr>
          <p:sp>
            <p:nvSpPr>
              <p:cNvPr id="131" name="Freeform 27"/>
              <p:cNvSpPr>
                <a:spLocks/>
              </p:cNvSpPr>
              <p:nvPr/>
            </p:nvSpPr>
            <p:spPr bwMode="auto">
              <a:xfrm>
                <a:off x="3792538" y="2613025"/>
                <a:ext cx="406400" cy="477838"/>
              </a:xfrm>
              <a:custGeom>
                <a:avLst/>
                <a:gdLst>
                  <a:gd name="T0" fmla="*/ 167 w 179"/>
                  <a:gd name="T1" fmla="*/ 0 h 210"/>
                  <a:gd name="T2" fmla="*/ 135 w 179"/>
                  <a:gd name="T3" fmla="*/ 0 h 210"/>
                  <a:gd name="T4" fmla="*/ 135 w 179"/>
                  <a:gd name="T5" fmla="*/ 16 h 210"/>
                  <a:gd name="T6" fmla="*/ 163 w 179"/>
                  <a:gd name="T7" fmla="*/ 16 h 210"/>
                  <a:gd name="T8" fmla="*/ 163 w 179"/>
                  <a:gd name="T9" fmla="*/ 194 h 210"/>
                  <a:gd name="T10" fmla="*/ 16 w 179"/>
                  <a:gd name="T11" fmla="*/ 194 h 210"/>
                  <a:gd name="T12" fmla="*/ 16 w 179"/>
                  <a:gd name="T13" fmla="*/ 16 h 210"/>
                  <a:gd name="T14" fmla="*/ 44 w 179"/>
                  <a:gd name="T15" fmla="*/ 16 h 210"/>
                  <a:gd name="T16" fmla="*/ 44 w 179"/>
                  <a:gd name="T17" fmla="*/ 0 h 210"/>
                  <a:gd name="T18" fmla="*/ 12 w 179"/>
                  <a:gd name="T19" fmla="*/ 0 h 210"/>
                  <a:gd name="T20" fmla="*/ 0 w 179"/>
                  <a:gd name="T21" fmla="*/ 12 h 210"/>
                  <a:gd name="T22" fmla="*/ 0 w 179"/>
                  <a:gd name="T23" fmla="*/ 198 h 210"/>
                  <a:gd name="T24" fmla="*/ 12 w 179"/>
                  <a:gd name="T25" fmla="*/ 210 h 210"/>
                  <a:gd name="T26" fmla="*/ 167 w 179"/>
                  <a:gd name="T27" fmla="*/ 210 h 210"/>
                  <a:gd name="T28" fmla="*/ 179 w 179"/>
                  <a:gd name="T29" fmla="*/ 198 h 210"/>
                  <a:gd name="T30" fmla="*/ 179 w 179"/>
                  <a:gd name="T31" fmla="*/ 12 h 210"/>
                  <a:gd name="T32" fmla="*/ 167 w 179"/>
                  <a:gd name="T33"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9" h="210">
                    <a:moveTo>
                      <a:pt x="167" y="0"/>
                    </a:moveTo>
                    <a:cubicBezTo>
                      <a:pt x="135" y="0"/>
                      <a:pt x="135" y="0"/>
                      <a:pt x="135" y="0"/>
                    </a:cubicBezTo>
                    <a:cubicBezTo>
                      <a:pt x="135" y="16"/>
                      <a:pt x="135" y="16"/>
                      <a:pt x="135" y="16"/>
                    </a:cubicBezTo>
                    <a:cubicBezTo>
                      <a:pt x="163" y="16"/>
                      <a:pt x="163" y="16"/>
                      <a:pt x="163" y="16"/>
                    </a:cubicBezTo>
                    <a:cubicBezTo>
                      <a:pt x="163" y="194"/>
                      <a:pt x="163" y="194"/>
                      <a:pt x="163" y="194"/>
                    </a:cubicBezTo>
                    <a:cubicBezTo>
                      <a:pt x="16" y="194"/>
                      <a:pt x="16" y="194"/>
                      <a:pt x="16" y="194"/>
                    </a:cubicBezTo>
                    <a:cubicBezTo>
                      <a:pt x="16" y="16"/>
                      <a:pt x="16" y="16"/>
                      <a:pt x="16" y="16"/>
                    </a:cubicBezTo>
                    <a:cubicBezTo>
                      <a:pt x="44" y="16"/>
                      <a:pt x="44" y="16"/>
                      <a:pt x="44" y="16"/>
                    </a:cubicBezTo>
                    <a:cubicBezTo>
                      <a:pt x="44" y="0"/>
                      <a:pt x="44" y="0"/>
                      <a:pt x="44" y="0"/>
                    </a:cubicBezTo>
                    <a:cubicBezTo>
                      <a:pt x="12" y="0"/>
                      <a:pt x="12" y="0"/>
                      <a:pt x="12" y="0"/>
                    </a:cubicBezTo>
                    <a:cubicBezTo>
                      <a:pt x="6" y="0"/>
                      <a:pt x="0" y="5"/>
                      <a:pt x="0" y="12"/>
                    </a:cubicBezTo>
                    <a:cubicBezTo>
                      <a:pt x="0" y="198"/>
                      <a:pt x="0" y="198"/>
                      <a:pt x="0" y="198"/>
                    </a:cubicBezTo>
                    <a:cubicBezTo>
                      <a:pt x="0" y="204"/>
                      <a:pt x="6" y="210"/>
                      <a:pt x="12" y="210"/>
                    </a:cubicBezTo>
                    <a:cubicBezTo>
                      <a:pt x="167" y="210"/>
                      <a:pt x="167" y="210"/>
                      <a:pt x="167" y="210"/>
                    </a:cubicBezTo>
                    <a:cubicBezTo>
                      <a:pt x="174" y="210"/>
                      <a:pt x="179" y="204"/>
                      <a:pt x="179" y="198"/>
                    </a:cubicBezTo>
                    <a:cubicBezTo>
                      <a:pt x="179" y="12"/>
                      <a:pt x="179" y="12"/>
                      <a:pt x="179" y="12"/>
                    </a:cubicBezTo>
                    <a:cubicBezTo>
                      <a:pt x="179" y="5"/>
                      <a:pt x="174" y="0"/>
                      <a:pt x="167"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8"/>
              <p:cNvSpPr>
                <a:spLocks noEditPoints="1"/>
              </p:cNvSpPr>
              <p:nvPr/>
            </p:nvSpPr>
            <p:spPr bwMode="auto">
              <a:xfrm>
                <a:off x="3916363" y="2559050"/>
                <a:ext cx="160338" cy="107950"/>
              </a:xfrm>
              <a:custGeom>
                <a:avLst/>
                <a:gdLst>
                  <a:gd name="T0" fmla="*/ 55 w 70"/>
                  <a:gd name="T1" fmla="*/ 20 h 48"/>
                  <a:gd name="T2" fmla="*/ 35 w 70"/>
                  <a:gd name="T3" fmla="*/ 0 h 48"/>
                  <a:gd name="T4" fmla="*/ 14 w 70"/>
                  <a:gd name="T5" fmla="*/ 20 h 48"/>
                  <a:gd name="T6" fmla="*/ 0 w 70"/>
                  <a:gd name="T7" fmla="*/ 20 h 48"/>
                  <a:gd name="T8" fmla="*/ 0 w 70"/>
                  <a:gd name="T9" fmla="*/ 48 h 48"/>
                  <a:gd name="T10" fmla="*/ 70 w 70"/>
                  <a:gd name="T11" fmla="*/ 48 h 48"/>
                  <a:gd name="T12" fmla="*/ 70 w 70"/>
                  <a:gd name="T13" fmla="*/ 20 h 48"/>
                  <a:gd name="T14" fmla="*/ 55 w 70"/>
                  <a:gd name="T15" fmla="*/ 20 h 48"/>
                  <a:gd name="T16" fmla="*/ 35 w 70"/>
                  <a:gd name="T17" fmla="*/ 8 h 48"/>
                  <a:gd name="T18" fmla="*/ 47 w 70"/>
                  <a:gd name="T19" fmla="*/ 20 h 48"/>
                  <a:gd name="T20" fmla="*/ 22 w 70"/>
                  <a:gd name="T21" fmla="*/ 20 h 48"/>
                  <a:gd name="T22" fmla="*/ 35 w 70"/>
                  <a:gd name="T23"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48">
                    <a:moveTo>
                      <a:pt x="55" y="20"/>
                    </a:moveTo>
                    <a:cubicBezTo>
                      <a:pt x="55" y="9"/>
                      <a:pt x="46" y="0"/>
                      <a:pt x="35" y="0"/>
                    </a:cubicBezTo>
                    <a:cubicBezTo>
                      <a:pt x="24" y="0"/>
                      <a:pt x="15" y="9"/>
                      <a:pt x="14" y="20"/>
                    </a:cubicBezTo>
                    <a:cubicBezTo>
                      <a:pt x="0" y="20"/>
                      <a:pt x="0" y="20"/>
                      <a:pt x="0" y="20"/>
                    </a:cubicBezTo>
                    <a:cubicBezTo>
                      <a:pt x="0" y="48"/>
                      <a:pt x="0" y="48"/>
                      <a:pt x="0" y="48"/>
                    </a:cubicBezTo>
                    <a:cubicBezTo>
                      <a:pt x="70" y="48"/>
                      <a:pt x="70" y="48"/>
                      <a:pt x="70" y="48"/>
                    </a:cubicBezTo>
                    <a:cubicBezTo>
                      <a:pt x="70" y="20"/>
                      <a:pt x="70" y="20"/>
                      <a:pt x="70" y="20"/>
                    </a:cubicBezTo>
                    <a:lnTo>
                      <a:pt x="55" y="20"/>
                    </a:lnTo>
                    <a:close/>
                    <a:moveTo>
                      <a:pt x="35" y="8"/>
                    </a:moveTo>
                    <a:cubicBezTo>
                      <a:pt x="41" y="8"/>
                      <a:pt x="47" y="13"/>
                      <a:pt x="47" y="20"/>
                    </a:cubicBezTo>
                    <a:cubicBezTo>
                      <a:pt x="22" y="20"/>
                      <a:pt x="22" y="20"/>
                      <a:pt x="22" y="20"/>
                    </a:cubicBezTo>
                    <a:cubicBezTo>
                      <a:pt x="23" y="13"/>
                      <a:pt x="28" y="8"/>
                      <a:pt x="35"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30" name="Freeform 31"/>
            <p:cNvSpPr>
              <a:spLocks/>
            </p:cNvSpPr>
            <p:nvPr/>
          </p:nvSpPr>
          <p:spPr bwMode="auto">
            <a:xfrm>
              <a:off x="3929720" y="7659607"/>
              <a:ext cx="185080" cy="138739"/>
            </a:xfrm>
            <a:custGeom>
              <a:avLst/>
              <a:gdLst>
                <a:gd name="T0" fmla="*/ 7 w 401"/>
                <a:gd name="T1" fmla="*/ 156 h 301"/>
                <a:gd name="T2" fmla="*/ 0 w 401"/>
                <a:gd name="T3" fmla="*/ 138 h 301"/>
                <a:gd name="T4" fmla="*/ 7 w 401"/>
                <a:gd name="T5" fmla="*/ 120 h 301"/>
                <a:gd name="T6" fmla="*/ 45 w 401"/>
                <a:gd name="T7" fmla="*/ 83 h 301"/>
                <a:gd name="T8" fmla="*/ 62 w 401"/>
                <a:gd name="T9" fmla="*/ 75 h 301"/>
                <a:gd name="T10" fmla="*/ 80 w 401"/>
                <a:gd name="T11" fmla="*/ 83 h 301"/>
                <a:gd name="T12" fmla="*/ 163 w 401"/>
                <a:gd name="T13" fmla="*/ 165 h 301"/>
                <a:gd name="T14" fmla="*/ 321 w 401"/>
                <a:gd name="T15" fmla="*/ 7 h 301"/>
                <a:gd name="T16" fmla="*/ 338 w 401"/>
                <a:gd name="T17" fmla="*/ 0 h 301"/>
                <a:gd name="T18" fmla="*/ 356 w 401"/>
                <a:gd name="T19" fmla="*/ 7 h 301"/>
                <a:gd name="T20" fmla="*/ 394 w 401"/>
                <a:gd name="T21" fmla="*/ 45 h 301"/>
                <a:gd name="T22" fmla="*/ 401 w 401"/>
                <a:gd name="T23" fmla="*/ 63 h 301"/>
                <a:gd name="T24" fmla="*/ 394 w 401"/>
                <a:gd name="T25" fmla="*/ 81 h 301"/>
                <a:gd name="T26" fmla="*/ 181 w 401"/>
                <a:gd name="T27" fmla="*/ 294 h 301"/>
                <a:gd name="T28" fmla="*/ 163 w 401"/>
                <a:gd name="T29" fmla="*/ 301 h 301"/>
                <a:gd name="T30" fmla="*/ 145 w 401"/>
                <a:gd name="T31" fmla="*/ 294 h 301"/>
                <a:gd name="T32" fmla="*/ 7 w 401"/>
                <a:gd name="T33" fmla="*/ 156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1" h="301">
                  <a:moveTo>
                    <a:pt x="7" y="156"/>
                  </a:moveTo>
                  <a:cubicBezTo>
                    <a:pt x="2" y="151"/>
                    <a:pt x="0" y="145"/>
                    <a:pt x="0" y="138"/>
                  </a:cubicBezTo>
                  <a:cubicBezTo>
                    <a:pt x="0" y="131"/>
                    <a:pt x="2" y="125"/>
                    <a:pt x="7" y="120"/>
                  </a:cubicBezTo>
                  <a:cubicBezTo>
                    <a:pt x="45" y="83"/>
                    <a:pt x="45" y="83"/>
                    <a:pt x="45" y="83"/>
                  </a:cubicBezTo>
                  <a:cubicBezTo>
                    <a:pt x="49" y="78"/>
                    <a:pt x="55" y="75"/>
                    <a:pt x="62" y="75"/>
                  </a:cubicBezTo>
                  <a:cubicBezTo>
                    <a:pt x="69" y="75"/>
                    <a:pt x="76" y="78"/>
                    <a:pt x="80" y="83"/>
                  </a:cubicBezTo>
                  <a:cubicBezTo>
                    <a:pt x="163" y="165"/>
                    <a:pt x="163" y="165"/>
                    <a:pt x="163" y="165"/>
                  </a:cubicBezTo>
                  <a:cubicBezTo>
                    <a:pt x="321" y="7"/>
                    <a:pt x="321" y="7"/>
                    <a:pt x="321" y="7"/>
                  </a:cubicBezTo>
                  <a:cubicBezTo>
                    <a:pt x="325" y="3"/>
                    <a:pt x="331" y="0"/>
                    <a:pt x="338" y="0"/>
                  </a:cubicBezTo>
                  <a:cubicBezTo>
                    <a:pt x="345" y="0"/>
                    <a:pt x="352" y="3"/>
                    <a:pt x="356" y="7"/>
                  </a:cubicBezTo>
                  <a:cubicBezTo>
                    <a:pt x="394" y="45"/>
                    <a:pt x="394" y="45"/>
                    <a:pt x="394" y="45"/>
                  </a:cubicBezTo>
                  <a:cubicBezTo>
                    <a:pt x="398" y="49"/>
                    <a:pt x="401" y="56"/>
                    <a:pt x="401" y="63"/>
                  </a:cubicBezTo>
                  <a:cubicBezTo>
                    <a:pt x="401" y="70"/>
                    <a:pt x="398" y="76"/>
                    <a:pt x="394" y="81"/>
                  </a:cubicBezTo>
                  <a:cubicBezTo>
                    <a:pt x="181" y="294"/>
                    <a:pt x="181" y="294"/>
                    <a:pt x="181" y="294"/>
                  </a:cubicBezTo>
                  <a:cubicBezTo>
                    <a:pt x="176" y="298"/>
                    <a:pt x="170" y="301"/>
                    <a:pt x="163" y="301"/>
                  </a:cubicBezTo>
                  <a:cubicBezTo>
                    <a:pt x="156" y="301"/>
                    <a:pt x="149" y="298"/>
                    <a:pt x="145" y="294"/>
                  </a:cubicBezTo>
                  <a:lnTo>
                    <a:pt x="7" y="15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659" name="Freeform 41"/>
          <p:cNvSpPr>
            <a:spLocks/>
          </p:cNvSpPr>
          <p:nvPr userDrawn="1"/>
        </p:nvSpPr>
        <p:spPr bwMode="auto">
          <a:xfrm>
            <a:off x="3810467" y="6772764"/>
            <a:ext cx="236825" cy="237648"/>
          </a:xfrm>
          <a:custGeom>
            <a:avLst/>
            <a:gdLst>
              <a:gd name="T0" fmla="*/ 322 w 412"/>
              <a:gd name="T1" fmla="*/ 232 h 413"/>
              <a:gd name="T2" fmla="*/ 386 w 412"/>
              <a:gd name="T3" fmla="*/ 232 h 413"/>
              <a:gd name="T4" fmla="*/ 412 w 412"/>
              <a:gd name="T5" fmla="*/ 207 h 413"/>
              <a:gd name="T6" fmla="*/ 404 w 412"/>
              <a:gd name="T7" fmla="*/ 188 h 413"/>
              <a:gd name="T8" fmla="*/ 224 w 412"/>
              <a:gd name="T9" fmla="*/ 8 h 413"/>
              <a:gd name="T10" fmla="*/ 206 w 412"/>
              <a:gd name="T11" fmla="*/ 0 h 413"/>
              <a:gd name="T12" fmla="*/ 188 w 412"/>
              <a:gd name="T13" fmla="*/ 8 h 413"/>
              <a:gd name="T14" fmla="*/ 7 w 412"/>
              <a:gd name="T15" fmla="*/ 188 h 413"/>
              <a:gd name="T16" fmla="*/ 0 w 412"/>
              <a:gd name="T17" fmla="*/ 207 h 413"/>
              <a:gd name="T18" fmla="*/ 26 w 412"/>
              <a:gd name="T19" fmla="*/ 232 h 413"/>
              <a:gd name="T20" fmla="*/ 90 w 412"/>
              <a:gd name="T21" fmla="*/ 232 h 413"/>
              <a:gd name="T22" fmla="*/ 90 w 412"/>
              <a:gd name="T23" fmla="*/ 387 h 413"/>
              <a:gd name="T24" fmla="*/ 116 w 412"/>
              <a:gd name="T25" fmla="*/ 413 h 413"/>
              <a:gd name="T26" fmla="*/ 296 w 412"/>
              <a:gd name="T27" fmla="*/ 413 h 413"/>
              <a:gd name="T28" fmla="*/ 322 w 412"/>
              <a:gd name="T29" fmla="*/ 387 h 413"/>
              <a:gd name="T30" fmla="*/ 322 w 412"/>
              <a:gd name="T31" fmla="*/ 232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2" h="413">
                <a:moveTo>
                  <a:pt x="322" y="232"/>
                </a:moveTo>
                <a:cubicBezTo>
                  <a:pt x="386" y="232"/>
                  <a:pt x="386" y="232"/>
                  <a:pt x="386" y="232"/>
                </a:cubicBezTo>
                <a:cubicBezTo>
                  <a:pt x="401" y="232"/>
                  <a:pt x="412" y="221"/>
                  <a:pt x="412" y="207"/>
                </a:cubicBezTo>
                <a:cubicBezTo>
                  <a:pt x="412" y="199"/>
                  <a:pt x="409" y="193"/>
                  <a:pt x="404" y="188"/>
                </a:cubicBezTo>
                <a:cubicBezTo>
                  <a:pt x="224" y="8"/>
                  <a:pt x="224" y="8"/>
                  <a:pt x="224" y="8"/>
                </a:cubicBezTo>
                <a:cubicBezTo>
                  <a:pt x="219" y="3"/>
                  <a:pt x="213" y="0"/>
                  <a:pt x="206" y="0"/>
                </a:cubicBezTo>
                <a:cubicBezTo>
                  <a:pt x="199" y="0"/>
                  <a:pt x="193" y="3"/>
                  <a:pt x="188" y="8"/>
                </a:cubicBezTo>
                <a:cubicBezTo>
                  <a:pt x="7" y="188"/>
                  <a:pt x="7" y="188"/>
                  <a:pt x="7" y="188"/>
                </a:cubicBezTo>
                <a:cubicBezTo>
                  <a:pt x="3" y="193"/>
                  <a:pt x="0" y="199"/>
                  <a:pt x="0" y="207"/>
                </a:cubicBezTo>
                <a:cubicBezTo>
                  <a:pt x="0" y="221"/>
                  <a:pt x="11" y="232"/>
                  <a:pt x="26" y="232"/>
                </a:cubicBezTo>
                <a:cubicBezTo>
                  <a:pt x="90" y="232"/>
                  <a:pt x="90" y="232"/>
                  <a:pt x="90" y="232"/>
                </a:cubicBezTo>
                <a:cubicBezTo>
                  <a:pt x="90" y="387"/>
                  <a:pt x="90" y="387"/>
                  <a:pt x="90" y="387"/>
                </a:cubicBezTo>
                <a:cubicBezTo>
                  <a:pt x="90" y="401"/>
                  <a:pt x="102" y="413"/>
                  <a:pt x="116" y="413"/>
                </a:cubicBezTo>
                <a:cubicBezTo>
                  <a:pt x="296" y="413"/>
                  <a:pt x="296" y="413"/>
                  <a:pt x="296" y="413"/>
                </a:cubicBezTo>
                <a:cubicBezTo>
                  <a:pt x="310" y="413"/>
                  <a:pt x="322" y="401"/>
                  <a:pt x="322" y="387"/>
                </a:cubicBezTo>
                <a:lnTo>
                  <a:pt x="322" y="23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8" name="Freeform 19"/>
          <p:cNvSpPr>
            <a:spLocks noEditPoints="1"/>
          </p:cNvSpPr>
          <p:nvPr userDrawn="1"/>
        </p:nvSpPr>
        <p:spPr bwMode="auto">
          <a:xfrm>
            <a:off x="3810510" y="6154604"/>
            <a:ext cx="236775" cy="237445"/>
          </a:xfrm>
          <a:custGeom>
            <a:avLst/>
            <a:gdLst>
              <a:gd name="T0" fmla="*/ 213 w 427"/>
              <a:gd name="T1" fmla="*/ 0 h 428"/>
              <a:gd name="T2" fmla="*/ 0 w 427"/>
              <a:gd name="T3" fmla="*/ 214 h 428"/>
              <a:gd name="T4" fmla="*/ 213 w 427"/>
              <a:gd name="T5" fmla="*/ 428 h 428"/>
              <a:gd name="T6" fmla="*/ 427 w 427"/>
              <a:gd name="T7" fmla="*/ 214 h 428"/>
              <a:gd name="T8" fmla="*/ 213 w 427"/>
              <a:gd name="T9" fmla="*/ 0 h 428"/>
              <a:gd name="T10" fmla="*/ 347 w 427"/>
              <a:gd name="T11" fmla="*/ 214 h 428"/>
              <a:gd name="T12" fmla="*/ 320 w 427"/>
              <a:gd name="T13" fmla="*/ 241 h 428"/>
              <a:gd name="T14" fmla="*/ 106 w 427"/>
              <a:gd name="T15" fmla="*/ 241 h 428"/>
              <a:gd name="T16" fmla="*/ 80 w 427"/>
              <a:gd name="T17" fmla="*/ 214 h 428"/>
              <a:gd name="T18" fmla="*/ 106 w 427"/>
              <a:gd name="T19" fmla="*/ 187 h 428"/>
              <a:gd name="T20" fmla="*/ 320 w 427"/>
              <a:gd name="T21" fmla="*/ 187 h 428"/>
              <a:gd name="T22" fmla="*/ 347 w 427"/>
              <a:gd name="T23" fmla="*/ 214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428">
                <a:moveTo>
                  <a:pt x="213" y="0"/>
                </a:moveTo>
                <a:cubicBezTo>
                  <a:pt x="95" y="0"/>
                  <a:pt x="0" y="96"/>
                  <a:pt x="0" y="214"/>
                </a:cubicBezTo>
                <a:cubicBezTo>
                  <a:pt x="0" y="332"/>
                  <a:pt x="95" y="428"/>
                  <a:pt x="213" y="428"/>
                </a:cubicBezTo>
                <a:cubicBezTo>
                  <a:pt x="331" y="428"/>
                  <a:pt x="427" y="332"/>
                  <a:pt x="427" y="214"/>
                </a:cubicBezTo>
                <a:cubicBezTo>
                  <a:pt x="427" y="96"/>
                  <a:pt x="331" y="0"/>
                  <a:pt x="213" y="0"/>
                </a:cubicBezTo>
                <a:close/>
                <a:moveTo>
                  <a:pt x="347" y="214"/>
                </a:moveTo>
                <a:cubicBezTo>
                  <a:pt x="347" y="229"/>
                  <a:pt x="335" y="241"/>
                  <a:pt x="320" y="241"/>
                </a:cubicBezTo>
                <a:cubicBezTo>
                  <a:pt x="106" y="241"/>
                  <a:pt x="106" y="241"/>
                  <a:pt x="106" y="241"/>
                </a:cubicBezTo>
                <a:cubicBezTo>
                  <a:pt x="92" y="241"/>
                  <a:pt x="80" y="229"/>
                  <a:pt x="80" y="214"/>
                </a:cubicBezTo>
                <a:cubicBezTo>
                  <a:pt x="80" y="200"/>
                  <a:pt x="92" y="187"/>
                  <a:pt x="106" y="187"/>
                </a:cubicBezTo>
                <a:cubicBezTo>
                  <a:pt x="320" y="187"/>
                  <a:pt x="320" y="187"/>
                  <a:pt x="320" y="187"/>
                </a:cubicBezTo>
                <a:cubicBezTo>
                  <a:pt x="335" y="187"/>
                  <a:pt x="347" y="199"/>
                  <a:pt x="347" y="2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6" name="Freeform 10"/>
          <p:cNvSpPr>
            <a:spLocks noEditPoints="1"/>
          </p:cNvSpPr>
          <p:nvPr userDrawn="1"/>
        </p:nvSpPr>
        <p:spPr bwMode="auto">
          <a:xfrm>
            <a:off x="3777701" y="5075808"/>
            <a:ext cx="276169" cy="206163"/>
          </a:xfrm>
          <a:custGeom>
            <a:avLst/>
            <a:gdLst>
              <a:gd name="T0" fmla="*/ 55 w 287"/>
              <a:gd name="T1" fmla="*/ 184 h 214"/>
              <a:gd name="T2" fmla="*/ 28 w 287"/>
              <a:gd name="T3" fmla="*/ 208 h 214"/>
              <a:gd name="T4" fmla="*/ 90 w 287"/>
              <a:gd name="T5" fmla="*/ 214 h 214"/>
              <a:gd name="T6" fmla="*/ 76 w 287"/>
              <a:gd name="T7" fmla="*/ 151 h 214"/>
              <a:gd name="T8" fmla="*/ 117 w 287"/>
              <a:gd name="T9" fmla="*/ 115 h 214"/>
              <a:gd name="T10" fmla="*/ 128 w 287"/>
              <a:gd name="T11" fmla="*/ 99 h 214"/>
              <a:gd name="T12" fmla="*/ 170 w 287"/>
              <a:gd name="T13" fmla="*/ 70 h 214"/>
              <a:gd name="T14" fmla="*/ 108 w 287"/>
              <a:gd name="T15" fmla="*/ 39 h 214"/>
              <a:gd name="T16" fmla="*/ 117 w 287"/>
              <a:gd name="T17" fmla="*/ 115 h 214"/>
              <a:gd name="T18" fmla="*/ 223 w 287"/>
              <a:gd name="T19" fmla="*/ 101 h 214"/>
              <a:gd name="T20" fmla="*/ 239 w 287"/>
              <a:gd name="T21" fmla="*/ 67 h 214"/>
              <a:gd name="T22" fmla="*/ 251 w 287"/>
              <a:gd name="T23" fmla="*/ 0 h 214"/>
              <a:gd name="T24" fmla="*/ 189 w 287"/>
              <a:gd name="T25" fmla="*/ 77 h 214"/>
              <a:gd name="T26" fmla="*/ 211 w 287"/>
              <a:gd name="T27" fmla="*/ 112 h 214"/>
              <a:gd name="T28" fmla="*/ 90 w 287"/>
              <a:gd name="T29" fmla="*/ 99 h 214"/>
              <a:gd name="T30" fmla="*/ 28 w 287"/>
              <a:gd name="T31" fmla="*/ 73 h 214"/>
              <a:gd name="T32" fmla="*/ 47 w 287"/>
              <a:gd name="T33" fmla="*/ 102 h 214"/>
              <a:gd name="T34" fmla="*/ 285 w 287"/>
              <a:gd name="T35" fmla="*/ 67 h 214"/>
              <a:gd name="T36" fmla="*/ 251 w 287"/>
              <a:gd name="T37" fmla="*/ 83 h 214"/>
              <a:gd name="T38" fmla="*/ 241 w 287"/>
              <a:gd name="T39" fmla="*/ 112 h 214"/>
              <a:gd name="T40" fmla="*/ 177 w 287"/>
              <a:gd name="T41" fmla="*/ 93 h 214"/>
              <a:gd name="T42" fmla="*/ 167 w 287"/>
              <a:gd name="T43" fmla="*/ 91 h 214"/>
              <a:gd name="T44" fmla="*/ 140 w 287"/>
              <a:gd name="T45" fmla="*/ 116 h 214"/>
              <a:gd name="T46" fmla="*/ 101 w 287"/>
              <a:gd name="T47" fmla="*/ 127 h 214"/>
              <a:gd name="T48" fmla="*/ 70 w 287"/>
              <a:gd name="T49" fmla="*/ 113 h 214"/>
              <a:gd name="T50" fmla="*/ 36 w 287"/>
              <a:gd name="T51" fmla="*/ 147 h 214"/>
              <a:gd name="T52" fmla="*/ 26 w 287"/>
              <a:gd name="T53" fmla="*/ 169 h 214"/>
              <a:gd name="T54" fmla="*/ 2 w 287"/>
              <a:gd name="T55" fmla="*/ 194 h 214"/>
              <a:gd name="T56" fmla="*/ 11 w 287"/>
              <a:gd name="T57" fmla="*/ 196 h 214"/>
              <a:gd name="T58" fmla="*/ 37 w 287"/>
              <a:gd name="T59" fmla="*/ 176 h 214"/>
              <a:gd name="T60" fmla="*/ 70 w 287"/>
              <a:gd name="T61" fmla="*/ 127 h 214"/>
              <a:gd name="T62" fmla="*/ 109 w 287"/>
              <a:gd name="T63" fmla="*/ 171 h 214"/>
              <a:gd name="T64" fmla="*/ 120 w 287"/>
              <a:gd name="T65" fmla="*/ 171 h 214"/>
              <a:gd name="T66" fmla="*/ 170 w 287"/>
              <a:gd name="T67" fmla="*/ 107 h 214"/>
              <a:gd name="T68" fmla="*/ 204 w 287"/>
              <a:gd name="T69" fmla="*/ 161 h 214"/>
              <a:gd name="T70" fmla="*/ 251 w 287"/>
              <a:gd name="T71" fmla="*/ 120 h 214"/>
              <a:gd name="T72" fmla="*/ 260 w 287"/>
              <a:gd name="T73" fmla="*/ 93 h 214"/>
              <a:gd name="T74" fmla="*/ 285 w 287"/>
              <a:gd name="T75" fmla="*/ 67 h 214"/>
              <a:gd name="T76" fmla="*/ 114 w 287"/>
              <a:gd name="T77" fmla="*/ 194 h 214"/>
              <a:gd name="T78" fmla="*/ 108 w 287"/>
              <a:gd name="T79" fmla="*/ 214 h 214"/>
              <a:gd name="T80" fmla="*/ 170 w 287"/>
              <a:gd name="T81" fmla="*/ 148 h 214"/>
              <a:gd name="T82" fmla="*/ 137 w 287"/>
              <a:gd name="T83" fmla="*/ 182 h 214"/>
              <a:gd name="T84" fmla="*/ 189 w 287"/>
              <a:gd name="T85" fmla="*/ 176 h 214"/>
              <a:gd name="T86" fmla="*/ 251 w 287"/>
              <a:gd name="T87" fmla="*/ 214 h 214"/>
              <a:gd name="T88" fmla="*/ 223 w 287"/>
              <a:gd name="T89" fmla="*/ 17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7" h="214">
                <a:moveTo>
                  <a:pt x="64" y="165"/>
                </a:moveTo>
                <a:cubicBezTo>
                  <a:pt x="55" y="184"/>
                  <a:pt x="55" y="184"/>
                  <a:pt x="55" y="184"/>
                </a:cubicBezTo>
                <a:cubicBezTo>
                  <a:pt x="53" y="189"/>
                  <a:pt x="50" y="193"/>
                  <a:pt x="46" y="195"/>
                </a:cubicBezTo>
                <a:cubicBezTo>
                  <a:pt x="28" y="208"/>
                  <a:pt x="28" y="208"/>
                  <a:pt x="28" y="208"/>
                </a:cubicBezTo>
                <a:cubicBezTo>
                  <a:pt x="28" y="214"/>
                  <a:pt x="28" y="214"/>
                  <a:pt x="28" y="214"/>
                </a:cubicBezTo>
                <a:cubicBezTo>
                  <a:pt x="90" y="214"/>
                  <a:pt x="90" y="214"/>
                  <a:pt x="90" y="214"/>
                </a:cubicBezTo>
                <a:cubicBezTo>
                  <a:pt x="90" y="178"/>
                  <a:pt x="90" y="178"/>
                  <a:pt x="90" y="178"/>
                </a:cubicBezTo>
                <a:cubicBezTo>
                  <a:pt x="76" y="151"/>
                  <a:pt x="76" y="151"/>
                  <a:pt x="76" y="151"/>
                </a:cubicBezTo>
                <a:lnTo>
                  <a:pt x="64" y="165"/>
                </a:lnTo>
                <a:close/>
                <a:moveTo>
                  <a:pt x="117" y="115"/>
                </a:moveTo>
                <a:cubicBezTo>
                  <a:pt x="123" y="105"/>
                  <a:pt x="123" y="105"/>
                  <a:pt x="123" y="105"/>
                </a:cubicBezTo>
                <a:cubicBezTo>
                  <a:pt x="124" y="103"/>
                  <a:pt x="126" y="101"/>
                  <a:pt x="128" y="99"/>
                </a:cubicBezTo>
                <a:cubicBezTo>
                  <a:pt x="154" y="76"/>
                  <a:pt x="154" y="76"/>
                  <a:pt x="154" y="76"/>
                </a:cubicBezTo>
                <a:cubicBezTo>
                  <a:pt x="158" y="72"/>
                  <a:pt x="164" y="70"/>
                  <a:pt x="170" y="70"/>
                </a:cubicBezTo>
                <a:cubicBezTo>
                  <a:pt x="170" y="39"/>
                  <a:pt x="170" y="39"/>
                  <a:pt x="170" y="39"/>
                </a:cubicBezTo>
                <a:cubicBezTo>
                  <a:pt x="108" y="39"/>
                  <a:pt x="108" y="39"/>
                  <a:pt x="108" y="39"/>
                </a:cubicBezTo>
                <a:cubicBezTo>
                  <a:pt x="108" y="107"/>
                  <a:pt x="108" y="107"/>
                  <a:pt x="108" y="107"/>
                </a:cubicBezTo>
                <a:cubicBezTo>
                  <a:pt x="112" y="109"/>
                  <a:pt x="114" y="111"/>
                  <a:pt x="117" y="115"/>
                </a:cubicBezTo>
                <a:close/>
                <a:moveTo>
                  <a:pt x="211" y="112"/>
                </a:moveTo>
                <a:cubicBezTo>
                  <a:pt x="223" y="101"/>
                  <a:pt x="223" y="101"/>
                  <a:pt x="223" y="101"/>
                </a:cubicBezTo>
                <a:cubicBezTo>
                  <a:pt x="229" y="81"/>
                  <a:pt x="229" y="81"/>
                  <a:pt x="229" y="81"/>
                </a:cubicBezTo>
                <a:cubicBezTo>
                  <a:pt x="230" y="76"/>
                  <a:pt x="234" y="71"/>
                  <a:pt x="239" y="67"/>
                </a:cubicBezTo>
                <a:cubicBezTo>
                  <a:pt x="251" y="58"/>
                  <a:pt x="251" y="58"/>
                  <a:pt x="251" y="58"/>
                </a:cubicBezTo>
                <a:cubicBezTo>
                  <a:pt x="251" y="0"/>
                  <a:pt x="251" y="0"/>
                  <a:pt x="251" y="0"/>
                </a:cubicBezTo>
                <a:cubicBezTo>
                  <a:pt x="189" y="0"/>
                  <a:pt x="189" y="0"/>
                  <a:pt x="189" y="0"/>
                </a:cubicBezTo>
                <a:cubicBezTo>
                  <a:pt x="189" y="77"/>
                  <a:pt x="189" y="77"/>
                  <a:pt x="189" y="77"/>
                </a:cubicBezTo>
                <a:cubicBezTo>
                  <a:pt x="191" y="79"/>
                  <a:pt x="193" y="81"/>
                  <a:pt x="194" y="83"/>
                </a:cubicBezTo>
                <a:lnTo>
                  <a:pt x="211" y="112"/>
                </a:lnTo>
                <a:close/>
                <a:moveTo>
                  <a:pt x="77" y="94"/>
                </a:moveTo>
                <a:cubicBezTo>
                  <a:pt x="90" y="99"/>
                  <a:pt x="90" y="99"/>
                  <a:pt x="90" y="99"/>
                </a:cubicBezTo>
                <a:cubicBezTo>
                  <a:pt x="90" y="73"/>
                  <a:pt x="90" y="73"/>
                  <a:pt x="90" y="73"/>
                </a:cubicBezTo>
                <a:cubicBezTo>
                  <a:pt x="28" y="73"/>
                  <a:pt x="28" y="73"/>
                  <a:pt x="28" y="73"/>
                </a:cubicBezTo>
                <a:cubicBezTo>
                  <a:pt x="28" y="125"/>
                  <a:pt x="28" y="125"/>
                  <a:pt x="28" y="125"/>
                </a:cubicBezTo>
                <a:cubicBezTo>
                  <a:pt x="47" y="102"/>
                  <a:pt x="47" y="102"/>
                  <a:pt x="47" y="102"/>
                </a:cubicBezTo>
                <a:cubicBezTo>
                  <a:pt x="55" y="93"/>
                  <a:pt x="67" y="90"/>
                  <a:pt x="77" y="94"/>
                </a:cubicBezTo>
                <a:close/>
                <a:moveTo>
                  <a:pt x="285" y="67"/>
                </a:moveTo>
                <a:cubicBezTo>
                  <a:pt x="283" y="64"/>
                  <a:pt x="279" y="63"/>
                  <a:pt x="276" y="65"/>
                </a:cubicBezTo>
                <a:cubicBezTo>
                  <a:pt x="251" y="83"/>
                  <a:pt x="251" y="83"/>
                  <a:pt x="251" y="83"/>
                </a:cubicBezTo>
                <a:cubicBezTo>
                  <a:pt x="249" y="84"/>
                  <a:pt x="248" y="85"/>
                  <a:pt x="248" y="87"/>
                </a:cubicBezTo>
                <a:cubicBezTo>
                  <a:pt x="241" y="112"/>
                  <a:pt x="241" y="112"/>
                  <a:pt x="241" y="112"/>
                </a:cubicBezTo>
                <a:cubicBezTo>
                  <a:pt x="206" y="143"/>
                  <a:pt x="206" y="143"/>
                  <a:pt x="206" y="143"/>
                </a:cubicBezTo>
                <a:cubicBezTo>
                  <a:pt x="177" y="93"/>
                  <a:pt x="177" y="93"/>
                  <a:pt x="177" y="93"/>
                </a:cubicBezTo>
                <a:cubicBezTo>
                  <a:pt x="176" y="91"/>
                  <a:pt x="174" y="90"/>
                  <a:pt x="172" y="90"/>
                </a:cubicBezTo>
                <a:cubicBezTo>
                  <a:pt x="170" y="89"/>
                  <a:pt x="168" y="90"/>
                  <a:pt x="167" y="91"/>
                </a:cubicBezTo>
                <a:cubicBezTo>
                  <a:pt x="141" y="114"/>
                  <a:pt x="141" y="114"/>
                  <a:pt x="141" y="114"/>
                </a:cubicBezTo>
                <a:cubicBezTo>
                  <a:pt x="141" y="115"/>
                  <a:pt x="140" y="115"/>
                  <a:pt x="140" y="116"/>
                </a:cubicBezTo>
                <a:cubicBezTo>
                  <a:pt x="115" y="154"/>
                  <a:pt x="115" y="154"/>
                  <a:pt x="115" y="154"/>
                </a:cubicBezTo>
                <a:cubicBezTo>
                  <a:pt x="101" y="127"/>
                  <a:pt x="101" y="127"/>
                  <a:pt x="101" y="127"/>
                </a:cubicBezTo>
                <a:cubicBezTo>
                  <a:pt x="100" y="125"/>
                  <a:pt x="99" y="124"/>
                  <a:pt x="97" y="124"/>
                </a:cubicBezTo>
                <a:cubicBezTo>
                  <a:pt x="70" y="113"/>
                  <a:pt x="70" y="113"/>
                  <a:pt x="70" y="113"/>
                </a:cubicBezTo>
                <a:cubicBezTo>
                  <a:pt x="67" y="112"/>
                  <a:pt x="64" y="113"/>
                  <a:pt x="62" y="115"/>
                </a:cubicBezTo>
                <a:cubicBezTo>
                  <a:pt x="36" y="147"/>
                  <a:pt x="36" y="147"/>
                  <a:pt x="36" y="147"/>
                </a:cubicBezTo>
                <a:cubicBezTo>
                  <a:pt x="35" y="147"/>
                  <a:pt x="35" y="148"/>
                  <a:pt x="35" y="149"/>
                </a:cubicBezTo>
                <a:cubicBezTo>
                  <a:pt x="26" y="169"/>
                  <a:pt x="26" y="169"/>
                  <a:pt x="26" y="169"/>
                </a:cubicBezTo>
                <a:cubicBezTo>
                  <a:pt x="3" y="185"/>
                  <a:pt x="3" y="185"/>
                  <a:pt x="3" y="185"/>
                </a:cubicBezTo>
                <a:cubicBezTo>
                  <a:pt x="0" y="187"/>
                  <a:pt x="0" y="191"/>
                  <a:pt x="2" y="194"/>
                </a:cubicBezTo>
                <a:cubicBezTo>
                  <a:pt x="3" y="196"/>
                  <a:pt x="5" y="197"/>
                  <a:pt x="7" y="197"/>
                </a:cubicBezTo>
                <a:cubicBezTo>
                  <a:pt x="8" y="197"/>
                  <a:pt x="10" y="197"/>
                  <a:pt x="11" y="196"/>
                </a:cubicBezTo>
                <a:cubicBezTo>
                  <a:pt x="35" y="179"/>
                  <a:pt x="35" y="179"/>
                  <a:pt x="35" y="179"/>
                </a:cubicBezTo>
                <a:cubicBezTo>
                  <a:pt x="36" y="178"/>
                  <a:pt x="37" y="177"/>
                  <a:pt x="37" y="176"/>
                </a:cubicBezTo>
                <a:cubicBezTo>
                  <a:pt x="46" y="155"/>
                  <a:pt x="46" y="155"/>
                  <a:pt x="46" y="155"/>
                </a:cubicBezTo>
                <a:cubicBezTo>
                  <a:pt x="70" y="127"/>
                  <a:pt x="70" y="127"/>
                  <a:pt x="70" y="127"/>
                </a:cubicBezTo>
                <a:cubicBezTo>
                  <a:pt x="90" y="135"/>
                  <a:pt x="90" y="135"/>
                  <a:pt x="90" y="135"/>
                </a:cubicBezTo>
                <a:cubicBezTo>
                  <a:pt x="109" y="171"/>
                  <a:pt x="109" y="171"/>
                  <a:pt x="109" y="171"/>
                </a:cubicBezTo>
                <a:cubicBezTo>
                  <a:pt x="110" y="173"/>
                  <a:pt x="112" y="174"/>
                  <a:pt x="114" y="174"/>
                </a:cubicBezTo>
                <a:cubicBezTo>
                  <a:pt x="117" y="175"/>
                  <a:pt x="119" y="173"/>
                  <a:pt x="120" y="171"/>
                </a:cubicBezTo>
                <a:cubicBezTo>
                  <a:pt x="151" y="124"/>
                  <a:pt x="151" y="124"/>
                  <a:pt x="151" y="124"/>
                </a:cubicBezTo>
                <a:cubicBezTo>
                  <a:pt x="170" y="107"/>
                  <a:pt x="170" y="107"/>
                  <a:pt x="170" y="107"/>
                </a:cubicBezTo>
                <a:cubicBezTo>
                  <a:pt x="199" y="157"/>
                  <a:pt x="199" y="157"/>
                  <a:pt x="199" y="157"/>
                </a:cubicBezTo>
                <a:cubicBezTo>
                  <a:pt x="200" y="159"/>
                  <a:pt x="202" y="160"/>
                  <a:pt x="204" y="161"/>
                </a:cubicBezTo>
                <a:cubicBezTo>
                  <a:pt x="206" y="161"/>
                  <a:pt x="208" y="160"/>
                  <a:pt x="209" y="159"/>
                </a:cubicBezTo>
                <a:cubicBezTo>
                  <a:pt x="251" y="120"/>
                  <a:pt x="251" y="120"/>
                  <a:pt x="251" y="120"/>
                </a:cubicBezTo>
                <a:cubicBezTo>
                  <a:pt x="252" y="119"/>
                  <a:pt x="253" y="118"/>
                  <a:pt x="253" y="117"/>
                </a:cubicBezTo>
                <a:cubicBezTo>
                  <a:pt x="260" y="93"/>
                  <a:pt x="260" y="93"/>
                  <a:pt x="260" y="93"/>
                </a:cubicBezTo>
                <a:cubicBezTo>
                  <a:pt x="284" y="76"/>
                  <a:pt x="284" y="76"/>
                  <a:pt x="284" y="76"/>
                </a:cubicBezTo>
                <a:cubicBezTo>
                  <a:pt x="287" y="74"/>
                  <a:pt x="287" y="70"/>
                  <a:pt x="285" y="67"/>
                </a:cubicBezTo>
                <a:close/>
                <a:moveTo>
                  <a:pt x="137" y="182"/>
                </a:moveTo>
                <a:cubicBezTo>
                  <a:pt x="132" y="190"/>
                  <a:pt x="123" y="195"/>
                  <a:pt x="114" y="194"/>
                </a:cubicBezTo>
                <a:cubicBezTo>
                  <a:pt x="112" y="194"/>
                  <a:pt x="110" y="194"/>
                  <a:pt x="108" y="193"/>
                </a:cubicBezTo>
                <a:cubicBezTo>
                  <a:pt x="108" y="214"/>
                  <a:pt x="108" y="214"/>
                  <a:pt x="108" y="214"/>
                </a:cubicBezTo>
                <a:cubicBezTo>
                  <a:pt x="170" y="214"/>
                  <a:pt x="170" y="214"/>
                  <a:pt x="170" y="214"/>
                </a:cubicBezTo>
                <a:cubicBezTo>
                  <a:pt x="170" y="148"/>
                  <a:pt x="170" y="148"/>
                  <a:pt x="170" y="148"/>
                </a:cubicBezTo>
                <a:cubicBezTo>
                  <a:pt x="165" y="138"/>
                  <a:pt x="165" y="138"/>
                  <a:pt x="165" y="138"/>
                </a:cubicBezTo>
                <a:lnTo>
                  <a:pt x="137" y="182"/>
                </a:lnTo>
                <a:close/>
                <a:moveTo>
                  <a:pt x="201" y="180"/>
                </a:moveTo>
                <a:cubicBezTo>
                  <a:pt x="197" y="180"/>
                  <a:pt x="193" y="178"/>
                  <a:pt x="189" y="176"/>
                </a:cubicBezTo>
                <a:cubicBezTo>
                  <a:pt x="189" y="214"/>
                  <a:pt x="189" y="214"/>
                  <a:pt x="189" y="214"/>
                </a:cubicBezTo>
                <a:cubicBezTo>
                  <a:pt x="251" y="214"/>
                  <a:pt x="251" y="214"/>
                  <a:pt x="251" y="214"/>
                </a:cubicBezTo>
                <a:cubicBezTo>
                  <a:pt x="251" y="148"/>
                  <a:pt x="251" y="148"/>
                  <a:pt x="251" y="148"/>
                </a:cubicBezTo>
                <a:cubicBezTo>
                  <a:pt x="223" y="174"/>
                  <a:pt x="223" y="174"/>
                  <a:pt x="223" y="174"/>
                </a:cubicBezTo>
                <a:cubicBezTo>
                  <a:pt x="217" y="179"/>
                  <a:pt x="209" y="182"/>
                  <a:pt x="201" y="18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3" name="Freeform 21"/>
          <p:cNvSpPr>
            <a:spLocks noEditPoints="1"/>
          </p:cNvSpPr>
          <p:nvPr userDrawn="1"/>
        </p:nvSpPr>
        <p:spPr bwMode="auto">
          <a:xfrm>
            <a:off x="3782291" y="5597634"/>
            <a:ext cx="270656" cy="213328"/>
          </a:xfrm>
          <a:custGeom>
            <a:avLst/>
            <a:gdLst>
              <a:gd name="T0" fmla="*/ 272 w 281"/>
              <a:gd name="T1" fmla="*/ 204 h 222"/>
              <a:gd name="T2" fmla="*/ 9 w 281"/>
              <a:gd name="T3" fmla="*/ 204 h 222"/>
              <a:gd name="T4" fmla="*/ 0 w 281"/>
              <a:gd name="T5" fmla="*/ 213 h 222"/>
              <a:gd name="T6" fmla="*/ 9 w 281"/>
              <a:gd name="T7" fmla="*/ 222 h 222"/>
              <a:gd name="T8" fmla="*/ 272 w 281"/>
              <a:gd name="T9" fmla="*/ 222 h 222"/>
              <a:gd name="T10" fmla="*/ 281 w 281"/>
              <a:gd name="T11" fmla="*/ 213 h 222"/>
              <a:gd name="T12" fmla="*/ 272 w 281"/>
              <a:gd name="T13" fmla="*/ 204 h 222"/>
              <a:gd name="T14" fmla="*/ 258 w 281"/>
              <a:gd name="T15" fmla="*/ 96 h 222"/>
              <a:gd name="T16" fmla="*/ 233 w 281"/>
              <a:gd name="T17" fmla="*/ 91 h 222"/>
              <a:gd name="T18" fmla="*/ 212 w 281"/>
              <a:gd name="T19" fmla="*/ 124 h 222"/>
              <a:gd name="T20" fmla="*/ 188 w 281"/>
              <a:gd name="T21" fmla="*/ 119 h 222"/>
              <a:gd name="T22" fmla="*/ 161 w 281"/>
              <a:gd name="T23" fmla="*/ 97 h 222"/>
              <a:gd name="T24" fmla="*/ 138 w 281"/>
              <a:gd name="T25" fmla="*/ 71 h 222"/>
              <a:gd name="T26" fmla="*/ 124 w 281"/>
              <a:gd name="T27" fmla="*/ 17 h 222"/>
              <a:gd name="T28" fmla="*/ 102 w 281"/>
              <a:gd name="T29" fmla="*/ 16 h 222"/>
              <a:gd name="T30" fmla="*/ 85 w 281"/>
              <a:gd name="T31" fmla="*/ 103 h 222"/>
              <a:gd name="T32" fmla="*/ 61 w 281"/>
              <a:gd name="T33" fmla="*/ 112 h 222"/>
              <a:gd name="T34" fmla="*/ 37 w 281"/>
              <a:gd name="T35" fmla="*/ 66 h 222"/>
              <a:gd name="T36" fmla="*/ 22 w 281"/>
              <a:gd name="T37" fmla="*/ 50 h 222"/>
              <a:gd name="T38" fmla="*/ 22 w 281"/>
              <a:gd name="T39" fmla="*/ 187 h 222"/>
              <a:gd name="T40" fmla="*/ 258 w 281"/>
              <a:gd name="T41" fmla="*/ 187 h 222"/>
              <a:gd name="T42" fmla="*/ 258 w 281"/>
              <a:gd name="T43" fmla="*/ 96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1" h="222">
                <a:moveTo>
                  <a:pt x="272" y="204"/>
                </a:moveTo>
                <a:cubicBezTo>
                  <a:pt x="9" y="204"/>
                  <a:pt x="9" y="204"/>
                  <a:pt x="9" y="204"/>
                </a:cubicBezTo>
                <a:cubicBezTo>
                  <a:pt x="4" y="204"/>
                  <a:pt x="0" y="208"/>
                  <a:pt x="0" y="213"/>
                </a:cubicBezTo>
                <a:cubicBezTo>
                  <a:pt x="0" y="218"/>
                  <a:pt x="4" y="222"/>
                  <a:pt x="9" y="222"/>
                </a:cubicBezTo>
                <a:cubicBezTo>
                  <a:pt x="272" y="222"/>
                  <a:pt x="272" y="222"/>
                  <a:pt x="272" y="222"/>
                </a:cubicBezTo>
                <a:cubicBezTo>
                  <a:pt x="277" y="222"/>
                  <a:pt x="281" y="218"/>
                  <a:pt x="281" y="213"/>
                </a:cubicBezTo>
                <a:cubicBezTo>
                  <a:pt x="281" y="208"/>
                  <a:pt x="277" y="204"/>
                  <a:pt x="272" y="204"/>
                </a:cubicBezTo>
                <a:close/>
                <a:moveTo>
                  <a:pt x="258" y="96"/>
                </a:moveTo>
                <a:cubicBezTo>
                  <a:pt x="258" y="96"/>
                  <a:pt x="244" y="85"/>
                  <a:pt x="233" y="91"/>
                </a:cubicBezTo>
                <a:cubicBezTo>
                  <a:pt x="223" y="97"/>
                  <a:pt x="218" y="113"/>
                  <a:pt x="212" y="124"/>
                </a:cubicBezTo>
                <a:cubicBezTo>
                  <a:pt x="207" y="135"/>
                  <a:pt x="194" y="127"/>
                  <a:pt x="188" y="119"/>
                </a:cubicBezTo>
                <a:cubicBezTo>
                  <a:pt x="182" y="110"/>
                  <a:pt x="174" y="101"/>
                  <a:pt x="161" y="97"/>
                </a:cubicBezTo>
                <a:cubicBezTo>
                  <a:pt x="149" y="93"/>
                  <a:pt x="143" y="83"/>
                  <a:pt x="138" y="71"/>
                </a:cubicBezTo>
                <a:cubicBezTo>
                  <a:pt x="138" y="71"/>
                  <a:pt x="128" y="33"/>
                  <a:pt x="124" y="17"/>
                </a:cubicBezTo>
                <a:cubicBezTo>
                  <a:pt x="119" y="0"/>
                  <a:pt x="104" y="3"/>
                  <a:pt x="102" y="16"/>
                </a:cubicBezTo>
                <a:cubicBezTo>
                  <a:pt x="99" y="28"/>
                  <a:pt x="87" y="92"/>
                  <a:pt x="85" y="103"/>
                </a:cubicBezTo>
                <a:cubicBezTo>
                  <a:pt x="82" y="114"/>
                  <a:pt x="67" y="118"/>
                  <a:pt x="61" y="112"/>
                </a:cubicBezTo>
                <a:cubicBezTo>
                  <a:pt x="54" y="106"/>
                  <a:pt x="40" y="72"/>
                  <a:pt x="37" y="66"/>
                </a:cubicBezTo>
                <a:cubicBezTo>
                  <a:pt x="35" y="59"/>
                  <a:pt x="22" y="50"/>
                  <a:pt x="22" y="50"/>
                </a:cubicBezTo>
                <a:cubicBezTo>
                  <a:pt x="22" y="187"/>
                  <a:pt x="22" y="187"/>
                  <a:pt x="22" y="187"/>
                </a:cubicBezTo>
                <a:cubicBezTo>
                  <a:pt x="258" y="187"/>
                  <a:pt x="258" y="187"/>
                  <a:pt x="258" y="187"/>
                </a:cubicBezTo>
                <a:lnTo>
                  <a:pt x="258" y="9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31"/>
          <p:cNvSpPr>
            <a:spLocks/>
          </p:cNvSpPr>
          <p:nvPr userDrawn="1"/>
        </p:nvSpPr>
        <p:spPr bwMode="auto">
          <a:xfrm>
            <a:off x="3166178" y="3234287"/>
            <a:ext cx="267506" cy="267506"/>
          </a:xfrm>
          <a:custGeom>
            <a:avLst/>
            <a:gdLst>
              <a:gd name="T0" fmla="*/ 13 w 405"/>
              <a:gd name="T1" fmla="*/ 393 h 405"/>
              <a:gd name="T2" fmla="*/ 0 w 405"/>
              <a:gd name="T3" fmla="*/ 306 h 405"/>
              <a:gd name="T4" fmla="*/ 0 w 405"/>
              <a:gd name="T5" fmla="*/ 303 h 405"/>
              <a:gd name="T6" fmla="*/ 2 w 405"/>
              <a:gd name="T7" fmla="*/ 297 h 405"/>
              <a:gd name="T8" fmla="*/ 8 w 405"/>
              <a:gd name="T9" fmla="*/ 292 h 405"/>
              <a:gd name="T10" fmla="*/ 96 w 405"/>
              <a:gd name="T11" fmla="*/ 248 h 405"/>
              <a:gd name="T12" fmla="*/ 108 w 405"/>
              <a:gd name="T13" fmla="*/ 248 h 405"/>
              <a:gd name="T14" fmla="*/ 152 w 405"/>
              <a:gd name="T15" fmla="*/ 276 h 405"/>
              <a:gd name="T16" fmla="*/ 222 w 405"/>
              <a:gd name="T17" fmla="*/ 222 h 405"/>
              <a:gd name="T18" fmla="*/ 277 w 405"/>
              <a:gd name="T19" fmla="*/ 152 h 405"/>
              <a:gd name="T20" fmla="*/ 249 w 405"/>
              <a:gd name="T21" fmla="*/ 108 h 405"/>
              <a:gd name="T22" fmla="*/ 248 w 405"/>
              <a:gd name="T23" fmla="*/ 95 h 405"/>
              <a:gd name="T24" fmla="*/ 292 w 405"/>
              <a:gd name="T25" fmla="*/ 8 h 405"/>
              <a:gd name="T26" fmla="*/ 298 w 405"/>
              <a:gd name="T27" fmla="*/ 1 h 405"/>
              <a:gd name="T28" fmla="*/ 304 w 405"/>
              <a:gd name="T29" fmla="*/ 0 h 405"/>
              <a:gd name="T30" fmla="*/ 306 w 405"/>
              <a:gd name="T31" fmla="*/ 0 h 405"/>
              <a:gd name="T32" fmla="*/ 393 w 405"/>
              <a:gd name="T33" fmla="*/ 12 h 405"/>
              <a:gd name="T34" fmla="*/ 405 w 405"/>
              <a:gd name="T35" fmla="*/ 25 h 405"/>
              <a:gd name="T36" fmla="*/ 296 w 405"/>
              <a:gd name="T37" fmla="*/ 272 h 405"/>
              <a:gd name="T38" fmla="*/ 269 w 405"/>
              <a:gd name="T39" fmla="*/ 299 h 405"/>
              <a:gd name="T40" fmla="*/ 25 w 405"/>
              <a:gd name="T41" fmla="*/ 405 h 405"/>
              <a:gd name="T42" fmla="*/ 13 w 405"/>
              <a:gd name="T43" fmla="*/ 393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5" h="405">
                <a:moveTo>
                  <a:pt x="13" y="393"/>
                </a:moveTo>
                <a:cubicBezTo>
                  <a:pt x="0" y="306"/>
                  <a:pt x="0" y="306"/>
                  <a:pt x="0" y="306"/>
                </a:cubicBezTo>
                <a:cubicBezTo>
                  <a:pt x="0" y="305"/>
                  <a:pt x="0" y="304"/>
                  <a:pt x="0" y="303"/>
                </a:cubicBezTo>
                <a:cubicBezTo>
                  <a:pt x="0" y="301"/>
                  <a:pt x="1" y="299"/>
                  <a:pt x="2" y="297"/>
                </a:cubicBezTo>
                <a:cubicBezTo>
                  <a:pt x="3" y="295"/>
                  <a:pt x="5" y="293"/>
                  <a:pt x="8" y="292"/>
                </a:cubicBezTo>
                <a:cubicBezTo>
                  <a:pt x="96" y="248"/>
                  <a:pt x="96" y="248"/>
                  <a:pt x="96" y="248"/>
                </a:cubicBezTo>
                <a:cubicBezTo>
                  <a:pt x="100" y="246"/>
                  <a:pt x="104" y="246"/>
                  <a:pt x="108" y="248"/>
                </a:cubicBezTo>
                <a:cubicBezTo>
                  <a:pt x="152" y="276"/>
                  <a:pt x="152" y="276"/>
                  <a:pt x="152" y="276"/>
                </a:cubicBezTo>
                <a:cubicBezTo>
                  <a:pt x="175" y="264"/>
                  <a:pt x="200" y="244"/>
                  <a:pt x="222" y="222"/>
                </a:cubicBezTo>
                <a:cubicBezTo>
                  <a:pt x="244" y="199"/>
                  <a:pt x="264" y="174"/>
                  <a:pt x="277" y="152"/>
                </a:cubicBezTo>
                <a:cubicBezTo>
                  <a:pt x="249" y="108"/>
                  <a:pt x="249" y="108"/>
                  <a:pt x="249" y="108"/>
                </a:cubicBezTo>
                <a:cubicBezTo>
                  <a:pt x="247" y="104"/>
                  <a:pt x="246" y="99"/>
                  <a:pt x="248" y="95"/>
                </a:cubicBezTo>
                <a:cubicBezTo>
                  <a:pt x="292" y="8"/>
                  <a:pt x="292" y="8"/>
                  <a:pt x="292" y="8"/>
                </a:cubicBezTo>
                <a:cubicBezTo>
                  <a:pt x="293" y="5"/>
                  <a:pt x="295" y="3"/>
                  <a:pt x="298" y="1"/>
                </a:cubicBezTo>
                <a:cubicBezTo>
                  <a:pt x="299" y="0"/>
                  <a:pt x="302" y="0"/>
                  <a:pt x="304" y="0"/>
                </a:cubicBezTo>
                <a:cubicBezTo>
                  <a:pt x="305" y="0"/>
                  <a:pt x="305" y="0"/>
                  <a:pt x="306" y="0"/>
                </a:cubicBezTo>
                <a:cubicBezTo>
                  <a:pt x="393" y="12"/>
                  <a:pt x="393" y="12"/>
                  <a:pt x="393" y="12"/>
                </a:cubicBezTo>
                <a:cubicBezTo>
                  <a:pt x="400" y="13"/>
                  <a:pt x="405" y="18"/>
                  <a:pt x="405" y="25"/>
                </a:cubicBezTo>
                <a:cubicBezTo>
                  <a:pt x="405" y="112"/>
                  <a:pt x="361" y="202"/>
                  <a:pt x="296" y="272"/>
                </a:cubicBezTo>
                <a:cubicBezTo>
                  <a:pt x="287" y="281"/>
                  <a:pt x="278" y="290"/>
                  <a:pt x="269" y="299"/>
                </a:cubicBezTo>
                <a:cubicBezTo>
                  <a:pt x="199" y="362"/>
                  <a:pt x="111" y="405"/>
                  <a:pt x="25" y="405"/>
                </a:cubicBezTo>
                <a:cubicBezTo>
                  <a:pt x="19" y="405"/>
                  <a:pt x="13" y="399"/>
                  <a:pt x="13" y="39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31"/>
          <p:cNvSpPr>
            <a:spLocks noEditPoints="1"/>
          </p:cNvSpPr>
          <p:nvPr userDrawn="1"/>
        </p:nvSpPr>
        <p:spPr bwMode="auto">
          <a:xfrm>
            <a:off x="3183243" y="3765318"/>
            <a:ext cx="247016" cy="246743"/>
          </a:xfrm>
          <a:custGeom>
            <a:avLst/>
            <a:gdLst>
              <a:gd name="T0" fmla="*/ 363 w 380"/>
              <a:gd name="T1" fmla="*/ 315 h 380"/>
              <a:gd name="T2" fmla="*/ 293 w 380"/>
              <a:gd name="T3" fmla="*/ 335 h 380"/>
              <a:gd name="T4" fmla="*/ 225 w 380"/>
              <a:gd name="T5" fmla="*/ 376 h 380"/>
              <a:gd name="T6" fmla="*/ 220 w 380"/>
              <a:gd name="T7" fmla="*/ 380 h 380"/>
              <a:gd name="T8" fmla="*/ 214 w 380"/>
              <a:gd name="T9" fmla="*/ 380 h 380"/>
              <a:gd name="T10" fmla="*/ 190 w 380"/>
              <a:gd name="T11" fmla="*/ 380 h 380"/>
              <a:gd name="T12" fmla="*/ 166 w 380"/>
              <a:gd name="T13" fmla="*/ 380 h 380"/>
              <a:gd name="T14" fmla="*/ 161 w 380"/>
              <a:gd name="T15" fmla="*/ 380 h 380"/>
              <a:gd name="T16" fmla="*/ 156 w 380"/>
              <a:gd name="T17" fmla="*/ 376 h 380"/>
              <a:gd name="T18" fmla="*/ 87 w 380"/>
              <a:gd name="T19" fmla="*/ 335 h 380"/>
              <a:gd name="T20" fmla="*/ 17 w 380"/>
              <a:gd name="T21" fmla="*/ 315 h 380"/>
              <a:gd name="T22" fmla="*/ 0 w 380"/>
              <a:gd name="T23" fmla="*/ 297 h 380"/>
              <a:gd name="T24" fmla="*/ 18 w 380"/>
              <a:gd name="T25" fmla="*/ 279 h 380"/>
              <a:gd name="T26" fmla="*/ 21 w 380"/>
              <a:gd name="T27" fmla="*/ 279 h 380"/>
              <a:gd name="T28" fmla="*/ 102 w 380"/>
              <a:gd name="T29" fmla="*/ 302 h 380"/>
              <a:gd name="T30" fmla="*/ 172 w 380"/>
              <a:gd name="T31" fmla="*/ 344 h 380"/>
              <a:gd name="T32" fmla="*/ 190 w 380"/>
              <a:gd name="T33" fmla="*/ 344 h 380"/>
              <a:gd name="T34" fmla="*/ 208 w 380"/>
              <a:gd name="T35" fmla="*/ 344 h 380"/>
              <a:gd name="T36" fmla="*/ 279 w 380"/>
              <a:gd name="T37" fmla="*/ 302 h 380"/>
              <a:gd name="T38" fmla="*/ 359 w 380"/>
              <a:gd name="T39" fmla="*/ 279 h 380"/>
              <a:gd name="T40" fmla="*/ 362 w 380"/>
              <a:gd name="T41" fmla="*/ 279 h 380"/>
              <a:gd name="T42" fmla="*/ 380 w 380"/>
              <a:gd name="T43" fmla="*/ 297 h 380"/>
              <a:gd name="T44" fmla="*/ 363 w 380"/>
              <a:gd name="T45" fmla="*/ 315 h 380"/>
              <a:gd name="T46" fmla="*/ 178 w 380"/>
              <a:gd name="T47" fmla="*/ 303 h 380"/>
              <a:gd name="T48" fmla="*/ 178 w 380"/>
              <a:gd name="T49" fmla="*/ 71 h 380"/>
              <a:gd name="T50" fmla="*/ 173 w 380"/>
              <a:gd name="T51" fmla="*/ 61 h 380"/>
              <a:gd name="T52" fmla="*/ 99 w 380"/>
              <a:gd name="T53" fmla="*/ 21 h 380"/>
              <a:gd name="T54" fmla="*/ 13 w 380"/>
              <a:gd name="T55" fmla="*/ 0 h 380"/>
              <a:gd name="T56" fmla="*/ 0 w 380"/>
              <a:gd name="T57" fmla="*/ 12 h 380"/>
              <a:gd name="T58" fmla="*/ 0 w 380"/>
              <a:gd name="T59" fmla="*/ 244 h 380"/>
              <a:gd name="T60" fmla="*/ 12 w 380"/>
              <a:gd name="T61" fmla="*/ 255 h 380"/>
              <a:gd name="T62" fmla="*/ 91 w 380"/>
              <a:gd name="T63" fmla="*/ 274 h 380"/>
              <a:gd name="T64" fmla="*/ 159 w 380"/>
              <a:gd name="T65" fmla="*/ 312 h 380"/>
              <a:gd name="T66" fmla="*/ 176 w 380"/>
              <a:gd name="T67" fmla="*/ 310 h 380"/>
              <a:gd name="T68" fmla="*/ 178 w 380"/>
              <a:gd name="T69" fmla="*/ 303 h 380"/>
              <a:gd name="T70" fmla="*/ 202 w 380"/>
              <a:gd name="T71" fmla="*/ 303 h 380"/>
              <a:gd name="T72" fmla="*/ 204 w 380"/>
              <a:gd name="T73" fmla="*/ 310 h 380"/>
              <a:gd name="T74" fmla="*/ 221 w 380"/>
              <a:gd name="T75" fmla="*/ 312 h 380"/>
              <a:gd name="T76" fmla="*/ 290 w 380"/>
              <a:gd name="T77" fmla="*/ 274 h 380"/>
              <a:gd name="T78" fmla="*/ 368 w 380"/>
              <a:gd name="T79" fmla="*/ 255 h 380"/>
              <a:gd name="T80" fmla="*/ 380 w 380"/>
              <a:gd name="T81" fmla="*/ 244 h 380"/>
              <a:gd name="T82" fmla="*/ 380 w 380"/>
              <a:gd name="T83" fmla="*/ 12 h 380"/>
              <a:gd name="T84" fmla="*/ 367 w 380"/>
              <a:gd name="T85" fmla="*/ 0 h 380"/>
              <a:gd name="T86" fmla="*/ 281 w 380"/>
              <a:gd name="T87" fmla="*/ 21 h 380"/>
              <a:gd name="T88" fmla="*/ 208 w 380"/>
              <a:gd name="T89" fmla="*/ 61 h 380"/>
              <a:gd name="T90" fmla="*/ 202 w 380"/>
              <a:gd name="T91" fmla="*/ 71 h 380"/>
              <a:gd name="T92" fmla="*/ 202 w 380"/>
              <a:gd name="T93" fmla="*/ 303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80" h="380">
                <a:moveTo>
                  <a:pt x="363" y="315"/>
                </a:moveTo>
                <a:cubicBezTo>
                  <a:pt x="339" y="318"/>
                  <a:pt x="316" y="324"/>
                  <a:pt x="293" y="335"/>
                </a:cubicBezTo>
                <a:cubicBezTo>
                  <a:pt x="270" y="345"/>
                  <a:pt x="247" y="359"/>
                  <a:pt x="225" y="376"/>
                </a:cubicBezTo>
                <a:cubicBezTo>
                  <a:pt x="220" y="380"/>
                  <a:pt x="220" y="380"/>
                  <a:pt x="220" y="380"/>
                </a:cubicBezTo>
                <a:cubicBezTo>
                  <a:pt x="214" y="380"/>
                  <a:pt x="214" y="380"/>
                  <a:pt x="214" y="380"/>
                </a:cubicBezTo>
                <a:cubicBezTo>
                  <a:pt x="190" y="380"/>
                  <a:pt x="190" y="380"/>
                  <a:pt x="190" y="380"/>
                </a:cubicBezTo>
                <a:cubicBezTo>
                  <a:pt x="166" y="380"/>
                  <a:pt x="166" y="380"/>
                  <a:pt x="166" y="380"/>
                </a:cubicBezTo>
                <a:cubicBezTo>
                  <a:pt x="161" y="380"/>
                  <a:pt x="161" y="380"/>
                  <a:pt x="161" y="380"/>
                </a:cubicBezTo>
                <a:cubicBezTo>
                  <a:pt x="156" y="376"/>
                  <a:pt x="156" y="376"/>
                  <a:pt x="156" y="376"/>
                </a:cubicBezTo>
                <a:cubicBezTo>
                  <a:pt x="133" y="359"/>
                  <a:pt x="110" y="345"/>
                  <a:pt x="87" y="335"/>
                </a:cubicBezTo>
                <a:cubicBezTo>
                  <a:pt x="65" y="324"/>
                  <a:pt x="41" y="318"/>
                  <a:pt x="17" y="315"/>
                </a:cubicBezTo>
                <a:cubicBezTo>
                  <a:pt x="8" y="314"/>
                  <a:pt x="0" y="306"/>
                  <a:pt x="0" y="297"/>
                </a:cubicBezTo>
                <a:cubicBezTo>
                  <a:pt x="0" y="287"/>
                  <a:pt x="8" y="279"/>
                  <a:pt x="18" y="279"/>
                </a:cubicBezTo>
                <a:cubicBezTo>
                  <a:pt x="19" y="279"/>
                  <a:pt x="20" y="279"/>
                  <a:pt x="21" y="279"/>
                </a:cubicBezTo>
                <a:cubicBezTo>
                  <a:pt x="49" y="283"/>
                  <a:pt x="76" y="291"/>
                  <a:pt x="102" y="302"/>
                </a:cubicBezTo>
                <a:cubicBezTo>
                  <a:pt x="126" y="313"/>
                  <a:pt x="149" y="327"/>
                  <a:pt x="172" y="344"/>
                </a:cubicBezTo>
                <a:cubicBezTo>
                  <a:pt x="190" y="344"/>
                  <a:pt x="190" y="344"/>
                  <a:pt x="190" y="344"/>
                </a:cubicBezTo>
                <a:cubicBezTo>
                  <a:pt x="208" y="344"/>
                  <a:pt x="208" y="344"/>
                  <a:pt x="208" y="344"/>
                </a:cubicBezTo>
                <a:cubicBezTo>
                  <a:pt x="231" y="327"/>
                  <a:pt x="255" y="313"/>
                  <a:pt x="279" y="302"/>
                </a:cubicBezTo>
                <a:cubicBezTo>
                  <a:pt x="304" y="291"/>
                  <a:pt x="331" y="283"/>
                  <a:pt x="359" y="279"/>
                </a:cubicBezTo>
                <a:cubicBezTo>
                  <a:pt x="360" y="279"/>
                  <a:pt x="361" y="279"/>
                  <a:pt x="362" y="279"/>
                </a:cubicBezTo>
                <a:cubicBezTo>
                  <a:pt x="372" y="279"/>
                  <a:pt x="380" y="287"/>
                  <a:pt x="380" y="297"/>
                </a:cubicBezTo>
                <a:cubicBezTo>
                  <a:pt x="380" y="306"/>
                  <a:pt x="373" y="314"/>
                  <a:pt x="363" y="315"/>
                </a:cubicBezTo>
                <a:close/>
                <a:moveTo>
                  <a:pt x="178" y="303"/>
                </a:moveTo>
                <a:cubicBezTo>
                  <a:pt x="178" y="71"/>
                  <a:pt x="178" y="71"/>
                  <a:pt x="178" y="71"/>
                </a:cubicBezTo>
                <a:cubicBezTo>
                  <a:pt x="178" y="67"/>
                  <a:pt x="176" y="63"/>
                  <a:pt x="173" y="61"/>
                </a:cubicBezTo>
                <a:cubicBezTo>
                  <a:pt x="149" y="44"/>
                  <a:pt x="124" y="31"/>
                  <a:pt x="99" y="21"/>
                </a:cubicBezTo>
                <a:cubicBezTo>
                  <a:pt x="71" y="10"/>
                  <a:pt x="42" y="3"/>
                  <a:pt x="13" y="0"/>
                </a:cubicBezTo>
                <a:cubicBezTo>
                  <a:pt x="6" y="0"/>
                  <a:pt x="0" y="5"/>
                  <a:pt x="0" y="12"/>
                </a:cubicBezTo>
                <a:cubicBezTo>
                  <a:pt x="0" y="244"/>
                  <a:pt x="0" y="244"/>
                  <a:pt x="0" y="244"/>
                </a:cubicBezTo>
                <a:cubicBezTo>
                  <a:pt x="0" y="250"/>
                  <a:pt x="6" y="255"/>
                  <a:pt x="12" y="255"/>
                </a:cubicBezTo>
                <a:cubicBezTo>
                  <a:pt x="39" y="258"/>
                  <a:pt x="65" y="264"/>
                  <a:pt x="91" y="274"/>
                </a:cubicBezTo>
                <a:cubicBezTo>
                  <a:pt x="114" y="284"/>
                  <a:pt x="137" y="296"/>
                  <a:pt x="159" y="312"/>
                </a:cubicBezTo>
                <a:cubicBezTo>
                  <a:pt x="165" y="316"/>
                  <a:pt x="172" y="315"/>
                  <a:pt x="176" y="310"/>
                </a:cubicBezTo>
                <a:cubicBezTo>
                  <a:pt x="177" y="308"/>
                  <a:pt x="178" y="305"/>
                  <a:pt x="178" y="303"/>
                </a:cubicBezTo>
                <a:close/>
                <a:moveTo>
                  <a:pt x="202" y="303"/>
                </a:moveTo>
                <a:cubicBezTo>
                  <a:pt x="202" y="305"/>
                  <a:pt x="203" y="308"/>
                  <a:pt x="204" y="310"/>
                </a:cubicBezTo>
                <a:cubicBezTo>
                  <a:pt x="208" y="315"/>
                  <a:pt x="216" y="316"/>
                  <a:pt x="221" y="312"/>
                </a:cubicBezTo>
                <a:cubicBezTo>
                  <a:pt x="243" y="296"/>
                  <a:pt x="266" y="284"/>
                  <a:pt x="290" y="274"/>
                </a:cubicBezTo>
                <a:cubicBezTo>
                  <a:pt x="315" y="264"/>
                  <a:pt x="342" y="258"/>
                  <a:pt x="368" y="255"/>
                </a:cubicBezTo>
                <a:cubicBezTo>
                  <a:pt x="374" y="255"/>
                  <a:pt x="380" y="250"/>
                  <a:pt x="380" y="244"/>
                </a:cubicBezTo>
                <a:cubicBezTo>
                  <a:pt x="380" y="12"/>
                  <a:pt x="380" y="12"/>
                  <a:pt x="380" y="12"/>
                </a:cubicBezTo>
                <a:cubicBezTo>
                  <a:pt x="380" y="5"/>
                  <a:pt x="374" y="0"/>
                  <a:pt x="367" y="0"/>
                </a:cubicBezTo>
                <a:cubicBezTo>
                  <a:pt x="338" y="3"/>
                  <a:pt x="309" y="10"/>
                  <a:pt x="281" y="21"/>
                </a:cubicBezTo>
                <a:cubicBezTo>
                  <a:pt x="256" y="31"/>
                  <a:pt x="231" y="44"/>
                  <a:pt x="208" y="61"/>
                </a:cubicBezTo>
                <a:cubicBezTo>
                  <a:pt x="204" y="63"/>
                  <a:pt x="202" y="67"/>
                  <a:pt x="202" y="71"/>
                </a:cubicBezTo>
                <a:lnTo>
                  <a:pt x="202" y="30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43"/>
          <p:cNvSpPr>
            <a:spLocks noEditPoints="1"/>
          </p:cNvSpPr>
          <p:nvPr userDrawn="1"/>
        </p:nvSpPr>
        <p:spPr bwMode="auto">
          <a:xfrm>
            <a:off x="3135037" y="2078185"/>
            <a:ext cx="304896" cy="286756"/>
          </a:xfrm>
          <a:custGeom>
            <a:avLst/>
            <a:gdLst>
              <a:gd name="T0" fmla="*/ 83 w 442"/>
              <a:gd name="T1" fmla="*/ 0 h 415"/>
              <a:gd name="T2" fmla="*/ 359 w 442"/>
              <a:gd name="T3" fmla="*/ 0 h 415"/>
              <a:gd name="T4" fmla="*/ 401 w 442"/>
              <a:gd name="T5" fmla="*/ 41 h 415"/>
              <a:gd name="T6" fmla="*/ 401 w 442"/>
              <a:gd name="T7" fmla="*/ 221 h 415"/>
              <a:gd name="T8" fmla="*/ 359 w 442"/>
              <a:gd name="T9" fmla="*/ 262 h 415"/>
              <a:gd name="T10" fmla="*/ 83 w 442"/>
              <a:gd name="T11" fmla="*/ 262 h 415"/>
              <a:gd name="T12" fmla="*/ 41 w 442"/>
              <a:gd name="T13" fmla="*/ 221 h 415"/>
              <a:gd name="T14" fmla="*/ 41 w 442"/>
              <a:gd name="T15" fmla="*/ 41 h 415"/>
              <a:gd name="T16" fmla="*/ 83 w 442"/>
              <a:gd name="T17" fmla="*/ 0 h 415"/>
              <a:gd name="T18" fmla="*/ 83 w 442"/>
              <a:gd name="T19" fmla="*/ 290 h 415"/>
              <a:gd name="T20" fmla="*/ 359 w 442"/>
              <a:gd name="T21" fmla="*/ 290 h 415"/>
              <a:gd name="T22" fmla="*/ 379 w 442"/>
              <a:gd name="T23" fmla="*/ 298 h 415"/>
              <a:gd name="T24" fmla="*/ 434 w 442"/>
              <a:gd name="T25" fmla="*/ 354 h 415"/>
              <a:gd name="T26" fmla="*/ 442 w 442"/>
              <a:gd name="T27" fmla="*/ 373 h 415"/>
              <a:gd name="T28" fmla="*/ 442 w 442"/>
              <a:gd name="T29" fmla="*/ 387 h 415"/>
              <a:gd name="T30" fmla="*/ 415 w 442"/>
              <a:gd name="T31" fmla="*/ 415 h 415"/>
              <a:gd name="T32" fmla="*/ 28 w 442"/>
              <a:gd name="T33" fmla="*/ 415 h 415"/>
              <a:gd name="T34" fmla="*/ 0 w 442"/>
              <a:gd name="T35" fmla="*/ 387 h 415"/>
              <a:gd name="T36" fmla="*/ 0 w 442"/>
              <a:gd name="T37" fmla="*/ 373 h 415"/>
              <a:gd name="T38" fmla="*/ 8 w 442"/>
              <a:gd name="T39" fmla="*/ 353 h 415"/>
              <a:gd name="T40" fmla="*/ 63 w 442"/>
              <a:gd name="T41" fmla="*/ 298 h 415"/>
              <a:gd name="T42" fmla="*/ 83 w 442"/>
              <a:gd name="T43" fmla="*/ 290 h 415"/>
              <a:gd name="T44" fmla="*/ 180 w 442"/>
              <a:gd name="T45" fmla="*/ 359 h 415"/>
              <a:gd name="T46" fmla="*/ 166 w 442"/>
              <a:gd name="T47" fmla="*/ 373 h 415"/>
              <a:gd name="T48" fmla="*/ 180 w 442"/>
              <a:gd name="T49" fmla="*/ 387 h 415"/>
              <a:gd name="T50" fmla="*/ 263 w 442"/>
              <a:gd name="T51" fmla="*/ 387 h 415"/>
              <a:gd name="T52" fmla="*/ 276 w 442"/>
              <a:gd name="T53" fmla="*/ 373 h 415"/>
              <a:gd name="T54" fmla="*/ 263 w 442"/>
              <a:gd name="T55" fmla="*/ 359 h 415"/>
              <a:gd name="T56" fmla="*/ 180 w 442"/>
              <a:gd name="T57" fmla="*/ 359 h 415"/>
              <a:gd name="T58" fmla="*/ 83 w 442"/>
              <a:gd name="T59" fmla="*/ 41 h 415"/>
              <a:gd name="T60" fmla="*/ 83 w 442"/>
              <a:gd name="T61" fmla="*/ 221 h 415"/>
              <a:gd name="T62" fmla="*/ 359 w 442"/>
              <a:gd name="T63" fmla="*/ 221 h 415"/>
              <a:gd name="T64" fmla="*/ 359 w 442"/>
              <a:gd name="T65" fmla="*/ 41 h 415"/>
              <a:gd name="T66" fmla="*/ 83 w 442"/>
              <a:gd name="T67" fmla="*/ 4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2" h="415">
                <a:moveTo>
                  <a:pt x="83" y="0"/>
                </a:moveTo>
                <a:cubicBezTo>
                  <a:pt x="359" y="0"/>
                  <a:pt x="359" y="0"/>
                  <a:pt x="359" y="0"/>
                </a:cubicBezTo>
                <a:cubicBezTo>
                  <a:pt x="382" y="0"/>
                  <a:pt x="401" y="18"/>
                  <a:pt x="401" y="41"/>
                </a:cubicBezTo>
                <a:cubicBezTo>
                  <a:pt x="401" y="221"/>
                  <a:pt x="401" y="221"/>
                  <a:pt x="401" y="221"/>
                </a:cubicBezTo>
                <a:cubicBezTo>
                  <a:pt x="401" y="244"/>
                  <a:pt x="382" y="262"/>
                  <a:pt x="359" y="262"/>
                </a:cubicBezTo>
                <a:cubicBezTo>
                  <a:pt x="83" y="262"/>
                  <a:pt x="83" y="262"/>
                  <a:pt x="83" y="262"/>
                </a:cubicBezTo>
                <a:cubicBezTo>
                  <a:pt x="60" y="262"/>
                  <a:pt x="41" y="244"/>
                  <a:pt x="41" y="221"/>
                </a:cubicBezTo>
                <a:cubicBezTo>
                  <a:pt x="41" y="41"/>
                  <a:pt x="41" y="41"/>
                  <a:pt x="41" y="41"/>
                </a:cubicBezTo>
                <a:cubicBezTo>
                  <a:pt x="41" y="18"/>
                  <a:pt x="60" y="0"/>
                  <a:pt x="83" y="0"/>
                </a:cubicBezTo>
                <a:close/>
                <a:moveTo>
                  <a:pt x="83" y="290"/>
                </a:moveTo>
                <a:cubicBezTo>
                  <a:pt x="359" y="290"/>
                  <a:pt x="359" y="290"/>
                  <a:pt x="359" y="290"/>
                </a:cubicBezTo>
                <a:cubicBezTo>
                  <a:pt x="367" y="290"/>
                  <a:pt x="374" y="293"/>
                  <a:pt x="379" y="298"/>
                </a:cubicBezTo>
                <a:cubicBezTo>
                  <a:pt x="434" y="354"/>
                  <a:pt x="434" y="354"/>
                  <a:pt x="434" y="354"/>
                </a:cubicBezTo>
                <a:cubicBezTo>
                  <a:pt x="440" y="359"/>
                  <a:pt x="442" y="366"/>
                  <a:pt x="442" y="373"/>
                </a:cubicBezTo>
                <a:cubicBezTo>
                  <a:pt x="442" y="387"/>
                  <a:pt x="442" y="387"/>
                  <a:pt x="442" y="387"/>
                </a:cubicBezTo>
                <a:cubicBezTo>
                  <a:pt x="442" y="402"/>
                  <a:pt x="430" y="415"/>
                  <a:pt x="415" y="415"/>
                </a:cubicBezTo>
                <a:cubicBezTo>
                  <a:pt x="28" y="415"/>
                  <a:pt x="28" y="415"/>
                  <a:pt x="28" y="415"/>
                </a:cubicBezTo>
                <a:cubicBezTo>
                  <a:pt x="12" y="415"/>
                  <a:pt x="0" y="402"/>
                  <a:pt x="0" y="387"/>
                </a:cubicBezTo>
                <a:cubicBezTo>
                  <a:pt x="0" y="373"/>
                  <a:pt x="0" y="373"/>
                  <a:pt x="0" y="373"/>
                </a:cubicBezTo>
                <a:cubicBezTo>
                  <a:pt x="0" y="365"/>
                  <a:pt x="3" y="358"/>
                  <a:pt x="8" y="353"/>
                </a:cubicBezTo>
                <a:cubicBezTo>
                  <a:pt x="63" y="298"/>
                  <a:pt x="63" y="298"/>
                  <a:pt x="63" y="298"/>
                </a:cubicBezTo>
                <a:cubicBezTo>
                  <a:pt x="68" y="293"/>
                  <a:pt x="76" y="290"/>
                  <a:pt x="83" y="290"/>
                </a:cubicBezTo>
                <a:close/>
                <a:moveTo>
                  <a:pt x="180" y="359"/>
                </a:moveTo>
                <a:cubicBezTo>
                  <a:pt x="172" y="359"/>
                  <a:pt x="166" y="365"/>
                  <a:pt x="166" y="373"/>
                </a:cubicBezTo>
                <a:cubicBezTo>
                  <a:pt x="166" y="381"/>
                  <a:pt x="172" y="387"/>
                  <a:pt x="180" y="387"/>
                </a:cubicBezTo>
                <a:cubicBezTo>
                  <a:pt x="263" y="387"/>
                  <a:pt x="263" y="387"/>
                  <a:pt x="263" y="387"/>
                </a:cubicBezTo>
                <a:cubicBezTo>
                  <a:pt x="270" y="387"/>
                  <a:pt x="276" y="381"/>
                  <a:pt x="276" y="373"/>
                </a:cubicBezTo>
                <a:cubicBezTo>
                  <a:pt x="276" y="365"/>
                  <a:pt x="270" y="359"/>
                  <a:pt x="263" y="359"/>
                </a:cubicBezTo>
                <a:cubicBezTo>
                  <a:pt x="180" y="359"/>
                  <a:pt x="180" y="359"/>
                  <a:pt x="180" y="359"/>
                </a:cubicBezTo>
                <a:close/>
                <a:moveTo>
                  <a:pt x="83" y="41"/>
                </a:moveTo>
                <a:cubicBezTo>
                  <a:pt x="83" y="221"/>
                  <a:pt x="83" y="221"/>
                  <a:pt x="83" y="221"/>
                </a:cubicBezTo>
                <a:cubicBezTo>
                  <a:pt x="359" y="221"/>
                  <a:pt x="359" y="221"/>
                  <a:pt x="359" y="221"/>
                </a:cubicBezTo>
                <a:cubicBezTo>
                  <a:pt x="359" y="41"/>
                  <a:pt x="359" y="41"/>
                  <a:pt x="359" y="41"/>
                </a:cubicBezTo>
                <a:lnTo>
                  <a:pt x="83" y="4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39"/>
          <p:cNvSpPr>
            <a:spLocks/>
          </p:cNvSpPr>
          <p:nvPr userDrawn="1"/>
        </p:nvSpPr>
        <p:spPr bwMode="auto">
          <a:xfrm>
            <a:off x="3222226" y="2660172"/>
            <a:ext cx="200212" cy="228608"/>
          </a:xfrm>
          <a:custGeom>
            <a:avLst/>
            <a:gdLst>
              <a:gd name="T0" fmla="*/ 314 w 391"/>
              <a:gd name="T1" fmla="*/ 0 h 446"/>
              <a:gd name="T2" fmla="*/ 238 w 391"/>
              <a:gd name="T3" fmla="*/ 77 h 446"/>
              <a:gd name="T4" fmla="*/ 239 w 391"/>
              <a:gd name="T5" fmla="*/ 91 h 446"/>
              <a:gd name="T6" fmla="*/ 123 w 391"/>
              <a:gd name="T7" fmla="*/ 162 h 446"/>
              <a:gd name="T8" fmla="*/ 77 w 391"/>
              <a:gd name="T9" fmla="*/ 146 h 446"/>
              <a:gd name="T10" fmla="*/ 0 w 391"/>
              <a:gd name="T11" fmla="*/ 223 h 446"/>
              <a:gd name="T12" fmla="*/ 77 w 391"/>
              <a:gd name="T13" fmla="*/ 300 h 446"/>
              <a:gd name="T14" fmla="*/ 123 w 391"/>
              <a:gd name="T15" fmla="*/ 284 h 446"/>
              <a:gd name="T16" fmla="*/ 239 w 391"/>
              <a:gd name="T17" fmla="*/ 356 h 446"/>
              <a:gd name="T18" fmla="*/ 238 w 391"/>
              <a:gd name="T19" fmla="*/ 370 h 446"/>
              <a:gd name="T20" fmla="*/ 314 w 391"/>
              <a:gd name="T21" fmla="*/ 446 h 446"/>
              <a:gd name="T22" fmla="*/ 391 w 391"/>
              <a:gd name="T23" fmla="*/ 370 h 446"/>
              <a:gd name="T24" fmla="*/ 314 w 391"/>
              <a:gd name="T25" fmla="*/ 293 h 446"/>
              <a:gd name="T26" fmla="*/ 268 w 391"/>
              <a:gd name="T27" fmla="*/ 308 h 446"/>
              <a:gd name="T28" fmla="*/ 153 w 391"/>
              <a:gd name="T29" fmla="*/ 237 h 446"/>
              <a:gd name="T30" fmla="*/ 154 w 391"/>
              <a:gd name="T31" fmla="*/ 223 h 446"/>
              <a:gd name="T32" fmla="*/ 153 w 391"/>
              <a:gd name="T33" fmla="*/ 209 h 446"/>
              <a:gd name="T34" fmla="*/ 268 w 391"/>
              <a:gd name="T35" fmla="*/ 138 h 446"/>
              <a:gd name="T36" fmla="*/ 314 w 391"/>
              <a:gd name="T37" fmla="*/ 153 h 446"/>
              <a:gd name="T38" fmla="*/ 391 w 391"/>
              <a:gd name="T39" fmla="*/ 77 h 446"/>
              <a:gd name="T40" fmla="*/ 314 w 391"/>
              <a:gd name="T41" fmla="*/ 0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91" h="446">
                <a:moveTo>
                  <a:pt x="314" y="0"/>
                </a:moveTo>
                <a:cubicBezTo>
                  <a:pt x="272" y="0"/>
                  <a:pt x="238" y="34"/>
                  <a:pt x="238" y="77"/>
                </a:cubicBezTo>
                <a:cubicBezTo>
                  <a:pt x="238" y="81"/>
                  <a:pt x="238" y="86"/>
                  <a:pt x="239" y="91"/>
                </a:cubicBezTo>
                <a:cubicBezTo>
                  <a:pt x="123" y="162"/>
                  <a:pt x="123" y="162"/>
                  <a:pt x="123" y="162"/>
                </a:cubicBezTo>
                <a:cubicBezTo>
                  <a:pt x="111" y="152"/>
                  <a:pt x="95" y="146"/>
                  <a:pt x="77" y="146"/>
                </a:cubicBezTo>
                <a:cubicBezTo>
                  <a:pt x="35" y="146"/>
                  <a:pt x="0" y="181"/>
                  <a:pt x="0" y="223"/>
                </a:cubicBezTo>
                <a:cubicBezTo>
                  <a:pt x="0" y="266"/>
                  <a:pt x="35" y="300"/>
                  <a:pt x="77" y="300"/>
                </a:cubicBezTo>
                <a:cubicBezTo>
                  <a:pt x="95" y="300"/>
                  <a:pt x="111" y="294"/>
                  <a:pt x="123" y="284"/>
                </a:cubicBezTo>
                <a:cubicBezTo>
                  <a:pt x="239" y="356"/>
                  <a:pt x="239" y="356"/>
                  <a:pt x="239" y="356"/>
                </a:cubicBezTo>
                <a:cubicBezTo>
                  <a:pt x="238" y="360"/>
                  <a:pt x="238" y="365"/>
                  <a:pt x="238" y="370"/>
                </a:cubicBezTo>
                <a:cubicBezTo>
                  <a:pt x="238" y="412"/>
                  <a:pt x="272" y="446"/>
                  <a:pt x="314" y="446"/>
                </a:cubicBezTo>
                <a:cubicBezTo>
                  <a:pt x="357" y="446"/>
                  <a:pt x="391" y="412"/>
                  <a:pt x="391" y="370"/>
                </a:cubicBezTo>
                <a:cubicBezTo>
                  <a:pt x="391" y="327"/>
                  <a:pt x="357" y="293"/>
                  <a:pt x="314" y="293"/>
                </a:cubicBezTo>
                <a:cubicBezTo>
                  <a:pt x="297" y="293"/>
                  <a:pt x="281" y="299"/>
                  <a:pt x="268" y="308"/>
                </a:cubicBezTo>
                <a:cubicBezTo>
                  <a:pt x="153" y="237"/>
                  <a:pt x="153" y="237"/>
                  <a:pt x="153" y="237"/>
                </a:cubicBezTo>
                <a:cubicBezTo>
                  <a:pt x="154" y="233"/>
                  <a:pt x="154" y="228"/>
                  <a:pt x="154" y="223"/>
                </a:cubicBezTo>
                <a:cubicBezTo>
                  <a:pt x="154" y="218"/>
                  <a:pt x="154" y="214"/>
                  <a:pt x="153" y="209"/>
                </a:cubicBezTo>
                <a:cubicBezTo>
                  <a:pt x="268" y="138"/>
                  <a:pt x="268" y="138"/>
                  <a:pt x="268" y="138"/>
                </a:cubicBezTo>
                <a:cubicBezTo>
                  <a:pt x="281" y="148"/>
                  <a:pt x="297" y="153"/>
                  <a:pt x="314" y="153"/>
                </a:cubicBezTo>
                <a:cubicBezTo>
                  <a:pt x="357" y="153"/>
                  <a:pt x="391" y="119"/>
                  <a:pt x="391" y="77"/>
                </a:cubicBezTo>
                <a:cubicBezTo>
                  <a:pt x="391" y="34"/>
                  <a:pt x="357" y="0"/>
                  <a:pt x="31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8" name="Freeform 19"/>
          <p:cNvSpPr>
            <a:spLocks/>
          </p:cNvSpPr>
          <p:nvPr userDrawn="1"/>
        </p:nvSpPr>
        <p:spPr bwMode="auto">
          <a:xfrm>
            <a:off x="3191047" y="6772764"/>
            <a:ext cx="237648" cy="237648"/>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70" name="Group 669"/>
          <p:cNvGrpSpPr/>
          <p:nvPr userDrawn="1"/>
        </p:nvGrpSpPr>
        <p:grpSpPr>
          <a:xfrm>
            <a:off x="3188803" y="6128432"/>
            <a:ext cx="240341" cy="289788"/>
            <a:chOff x="-2117725" y="338138"/>
            <a:chExt cx="4537075" cy="5470525"/>
          </a:xfrm>
          <a:solidFill>
            <a:schemeClr val="tx1"/>
          </a:solidFill>
        </p:grpSpPr>
        <p:sp>
          <p:nvSpPr>
            <p:cNvPr id="671" name="Freeform 6"/>
            <p:cNvSpPr>
              <a:spLocks noEditPoints="1"/>
            </p:cNvSpPr>
            <p:nvPr/>
          </p:nvSpPr>
          <p:spPr bwMode="auto">
            <a:xfrm>
              <a:off x="-2117725" y="338138"/>
              <a:ext cx="4537075" cy="5470525"/>
            </a:xfrm>
            <a:custGeom>
              <a:avLst/>
              <a:gdLst>
                <a:gd name="T0" fmla="*/ 1173 w 1210"/>
                <a:gd name="T1" fmla="*/ 480 h 1459"/>
                <a:gd name="T2" fmla="*/ 729 w 1210"/>
                <a:gd name="T3" fmla="*/ 37 h 1459"/>
                <a:gd name="T4" fmla="*/ 678 w 1210"/>
                <a:gd name="T5" fmla="*/ 0 h 1459"/>
                <a:gd name="T6" fmla="*/ 651 w 1210"/>
                <a:gd name="T7" fmla="*/ 0 h 1459"/>
                <a:gd name="T8" fmla="*/ 600 w 1210"/>
                <a:gd name="T9" fmla="*/ 36 h 1459"/>
                <a:gd name="T10" fmla="*/ 402 w 1210"/>
                <a:gd name="T11" fmla="*/ 234 h 1459"/>
                <a:gd name="T12" fmla="*/ 140 w 1210"/>
                <a:gd name="T13" fmla="*/ 494 h 1459"/>
                <a:gd name="T14" fmla="*/ 120 w 1210"/>
                <a:gd name="T15" fmla="*/ 563 h 1459"/>
                <a:gd name="T16" fmla="*/ 184 w 1210"/>
                <a:gd name="T17" fmla="*/ 614 h 1459"/>
                <a:gd name="T18" fmla="*/ 341 w 1210"/>
                <a:gd name="T19" fmla="*/ 615 h 1459"/>
                <a:gd name="T20" fmla="*/ 357 w 1210"/>
                <a:gd name="T21" fmla="*/ 630 h 1459"/>
                <a:gd name="T22" fmla="*/ 357 w 1210"/>
                <a:gd name="T23" fmla="*/ 665 h 1459"/>
                <a:gd name="T24" fmla="*/ 348 w 1210"/>
                <a:gd name="T25" fmla="*/ 676 h 1459"/>
                <a:gd name="T26" fmla="*/ 116 w 1210"/>
                <a:gd name="T27" fmla="*/ 787 h 1459"/>
                <a:gd name="T28" fmla="*/ 2 w 1210"/>
                <a:gd name="T29" fmla="*/ 1023 h 1459"/>
                <a:gd name="T30" fmla="*/ 0 w 1210"/>
                <a:gd name="T31" fmla="*/ 1029 h 1459"/>
                <a:gd name="T32" fmla="*/ 0 w 1210"/>
                <a:gd name="T33" fmla="*/ 1102 h 1459"/>
                <a:gd name="T34" fmla="*/ 5 w 1210"/>
                <a:gd name="T35" fmla="*/ 1132 h 1459"/>
                <a:gd name="T36" fmla="*/ 90 w 1210"/>
                <a:gd name="T37" fmla="*/ 1317 h 1459"/>
                <a:gd name="T38" fmla="*/ 348 w 1210"/>
                <a:gd name="T39" fmla="*/ 1457 h 1459"/>
                <a:gd name="T40" fmla="*/ 355 w 1210"/>
                <a:gd name="T41" fmla="*/ 1459 h 1459"/>
                <a:gd name="T42" fmla="*/ 434 w 1210"/>
                <a:gd name="T43" fmla="*/ 1459 h 1459"/>
                <a:gd name="T44" fmla="*/ 460 w 1210"/>
                <a:gd name="T45" fmla="*/ 1455 h 1459"/>
                <a:gd name="T46" fmla="*/ 539 w 1210"/>
                <a:gd name="T47" fmla="*/ 1433 h 1459"/>
                <a:gd name="T48" fmla="*/ 563 w 1210"/>
                <a:gd name="T49" fmla="*/ 1429 h 1459"/>
                <a:gd name="T50" fmla="*/ 892 w 1210"/>
                <a:gd name="T51" fmla="*/ 1428 h 1459"/>
                <a:gd name="T52" fmla="*/ 942 w 1210"/>
                <a:gd name="T53" fmla="*/ 1415 h 1459"/>
                <a:gd name="T54" fmla="*/ 972 w 1210"/>
                <a:gd name="T55" fmla="*/ 1357 h 1459"/>
                <a:gd name="T56" fmla="*/ 972 w 1210"/>
                <a:gd name="T57" fmla="*/ 725 h 1459"/>
                <a:gd name="T58" fmla="*/ 972 w 1210"/>
                <a:gd name="T59" fmla="*/ 627 h 1459"/>
                <a:gd name="T60" fmla="*/ 985 w 1210"/>
                <a:gd name="T61" fmla="*/ 615 h 1459"/>
                <a:gd name="T62" fmla="*/ 1135 w 1210"/>
                <a:gd name="T63" fmla="*/ 615 h 1459"/>
                <a:gd name="T64" fmla="*/ 1208 w 1210"/>
                <a:gd name="T65" fmla="*/ 567 h 1459"/>
                <a:gd name="T66" fmla="*/ 1210 w 1210"/>
                <a:gd name="T67" fmla="*/ 564 h 1459"/>
                <a:gd name="T68" fmla="*/ 1210 w 1210"/>
                <a:gd name="T69" fmla="*/ 532 h 1459"/>
                <a:gd name="T70" fmla="*/ 1173 w 1210"/>
                <a:gd name="T71" fmla="*/ 480 h 1459"/>
                <a:gd name="T72" fmla="*/ 394 w 1210"/>
                <a:gd name="T73" fmla="*/ 1391 h 1459"/>
                <a:gd name="T74" fmla="*/ 74 w 1210"/>
                <a:gd name="T75" fmla="*/ 1070 h 1459"/>
                <a:gd name="T76" fmla="*/ 402 w 1210"/>
                <a:gd name="T77" fmla="*/ 748 h 1459"/>
                <a:gd name="T78" fmla="*/ 716 w 1210"/>
                <a:gd name="T79" fmla="*/ 1068 h 1459"/>
                <a:gd name="T80" fmla="*/ 394 w 1210"/>
                <a:gd name="T81" fmla="*/ 1391 h 1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10" h="1459">
                  <a:moveTo>
                    <a:pt x="1173" y="480"/>
                  </a:moveTo>
                  <a:cubicBezTo>
                    <a:pt x="1025" y="333"/>
                    <a:pt x="877" y="185"/>
                    <a:pt x="729" y="37"/>
                  </a:cubicBezTo>
                  <a:cubicBezTo>
                    <a:pt x="714" y="22"/>
                    <a:pt x="699" y="7"/>
                    <a:pt x="678" y="0"/>
                  </a:cubicBezTo>
                  <a:cubicBezTo>
                    <a:pt x="669" y="0"/>
                    <a:pt x="660" y="0"/>
                    <a:pt x="651" y="0"/>
                  </a:cubicBezTo>
                  <a:cubicBezTo>
                    <a:pt x="630" y="7"/>
                    <a:pt x="615" y="21"/>
                    <a:pt x="600" y="36"/>
                  </a:cubicBezTo>
                  <a:cubicBezTo>
                    <a:pt x="534" y="102"/>
                    <a:pt x="468" y="168"/>
                    <a:pt x="402" y="234"/>
                  </a:cubicBezTo>
                  <a:cubicBezTo>
                    <a:pt x="315" y="321"/>
                    <a:pt x="228" y="407"/>
                    <a:pt x="140" y="494"/>
                  </a:cubicBezTo>
                  <a:cubicBezTo>
                    <a:pt x="121" y="513"/>
                    <a:pt x="115" y="537"/>
                    <a:pt x="120" y="563"/>
                  </a:cubicBezTo>
                  <a:cubicBezTo>
                    <a:pt x="125" y="593"/>
                    <a:pt x="153" y="614"/>
                    <a:pt x="184" y="614"/>
                  </a:cubicBezTo>
                  <a:cubicBezTo>
                    <a:pt x="237" y="615"/>
                    <a:pt x="289" y="614"/>
                    <a:pt x="341" y="615"/>
                  </a:cubicBezTo>
                  <a:cubicBezTo>
                    <a:pt x="357" y="615"/>
                    <a:pt x="357" y="615"/>
                    <a:pt x="357" y="630"/>
                  </a:cubicBezTo>
                  <a:cubicBezTo>
                    <a:pt x="357" y="642"/>
                    <a:pt x="357" y="654"/>
                    <a:pt x="357" y="665"/>
                  </a:cubicBezTo>
                  <a:cubicBezTo>
                    <a:pt x="357" y="672"/>
                    <a:pt x="355" y="675"/>
                    <a:pt x="348" y="676"/>
                  </a:cubicBezTo>
                  <a:cubicBezTo>
                    <a:pt x="258" y="686"/>
                    <a:pt x="181" y="723"/>
                    <a:pt x="116" y="787"/>
                  </a:cubicBezTo>
                  <a:cubicBezTo>
                    <a:pt x="50" y="852"/>
                    <a:pt x="12" y="931"/>
                    <a:pt x="2" y="1023"/>
                  </a:cubicBezTo>
                  <a:cubicBezTo>
                    <a:pt x="1" y="1025"/>
                    <a:pt x="0" y="1027"/>
                    <a:pt x="0" y="1029"/>
                  </a:cubicBezTo>
                  <a:cubicBezTo>
                    <a:pt x="0" y="1053"/>
                    <a:pt x="0" y="1078"/>
                    <a:pt x="0" y="1102"/>
                  </a:cubicBezTo>
                  <a:cubicBezTo>
                    <a:pt x="2" y="1112"/>
                    <a:pt x="3" y="1122"/>
                    <a:pt x="5" y="1132"/>
                  </a:cubicBezTo>
                  <a:cubicBezTo>
                    <a:pt x="17" y="1202"/>
                    <a:pt x="45" y="1264"/>
                    <a:pt x="90" y="1317"/>
                  </a:cubicBezTo>
                  <a:cubicBezTo>
                    <a:pt x="158" y="1397"/>
                    <a:pt x="244" y="1444"/>
                    <a:pt x="348" y="1457"/>
                  </a:cubicBezTo>
                  <a:cubicBezTo>
                    <a:pt x="350" y="1458"/>
                    <a:pt x="353" y="1459"/>
                    <a:pt x="355" y="1459"/>
                  </a:cubicBezTo>
                  <a:cubicBezTo>
                    <a:pt x="381" y="1459"/>
                    <a:pt x="408" y="1459"/>
                    <a:pt x="434" y="1459"/>
                  </a:cubicBezTo>
                  <a:cubicBezTo>
                    <a:pt x="443" y="1458"/>
                    <a:pt x="452" y="1457"/>
                    <a:pt x="460" y="1455"/>
                  </a:cubicBezTo>
                  <a:cubicBezTo>
                    <a:pt x="486" y="1448"/>
                    <a:pt x="512" y="1440"/>
                    <a:pt x="539" y="1433"/>
                  </a:cubicBezTo>
                  <a:cubicBezTo>
                    <a:pt x="547" y="1431"/>
                    <a:pt x="555" y="1429"/>
                    <a:pt x="563" y="1429"/>
                  </a:cubicBezTo>
                  <a:cubicBezTo>
                    <a:pt x="673" y="1428"/>
                    <a:pt x="782" y="1428"/>
                    <a:pt x="892" y="1428"/>
                  </a:cubicBezTo>
                  <a:cubicBezTo>
                    <a:pt x="910" y="1428"/>
                    <a:pt x="927" y="1426"/>
                    <a:pt x="942" y="1415"/>
                  </a:cubicBezTo>
                  <a:cubicBezTo>
                    <a:pt x="962" y="1400"/>
                    <a:pt x="972" y="1381"/>
                    <a:pt x="972" y="1357"/>
                  </a:cubicBezTo>
                  <a:cubicBezTo>
                    <a:pt x="972" y="1146"/>
                    <a:pt x="972" y="936"/>
                    <a:pt x="972" y="725"/>
                  </a:cubicBezTo>
                  <a:cubicBezTo>
                    <a:pt x="972" y="693"/>
                    <a:pt x="972" y="660"/>
                    <a:pt x="972" y="627"/>
                  </a:cubicBezTo>
                  <a:cubicBezTo>
                    <a:pt x="972" y="615"/>
                    <a:pt x="972" y="615"/>
                    <a:pt x="985" y="615"/>
                  </a:cubicBezTo>
                  <a:cubicBezTo>
                    <a:pt x="1035" y="615"/>
                    <a:pt x="1085" y="614"/>
                    <a:pt x="1135" y="615"/>
                  </a:cubicBezTo>
                  <a:cubicBezTo>
                    <a:pt x="1171" y="615"/>
                    <a:pt x="1196" y="601"/>
                    <a:pt x="1208" y="567"/>
                  </a:cubicBezTo>
                  <a:cubicBezTo>
                    <a:pt x="1208" y="566"/>
                    <a:pt x="1209" y="565"/>
                    <a:pt x="1210" y="564"/>
                  </a:cubicBezTo>
                  <a:cubicBezTo>
                    <a:pt x="1210" y="554"/>
                    <a:pt x="1210" y="543"/>
                    <a:pt x="1210" y="532"/>
                  </a:cubicBezTo>
                  <a:cubicBezTo>
                    <a:pt x="1203" y="511"/>
                    <a:pt x="1188" y="495"/>
                    <a:pt x="1173" y="480"/>
                  </a:cubicBezTo>
                  <a:close/>
                  <a:moveTo>
                    <a:pt x="394" y="1391"/>
                  </a:moveTo>
                  <a:cubicBezTo>
                    <a:pt x="216" y="1391"/>
                    <a:pt x="74" y="1249"/>
                    <a:pt x="74" y="1070"/>
                  </a:cubicBezTo>
                  <a:cubicBezTo>
                    <a:pt x="73" y="888"/>
                    <a:pt x="224" y="744"/>
                    <a:pt x="402" y="748"/>
                  </a:cubicBezTo>
                  <a:cubicBezTo>
                    <a:pt x="569" y="752"/>
                    <a:pt x="714" y="891"/>
                    <a:pt x="716" y="1068"/>
                  </a:cubicBezTo>
                  <a:cubicBezTo>
                    <a:pt x="714" y="1249"/>
                    <a:pt x="573" y="1392"/>
                    <a:pt x="394" y="139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2" name="Freeform 671"/>
            <p:cNvSpPr>
              <a:spLocks noEditPoints="1"/>
            </p:cNvSpPr>
            <p:nvPr/>
          </p:nvSpPr>
          <p:spPr bwMode="auto">
            <a:xfrm>
              <a:off x="-1239838" y="3363913"/>
              <a:ext cx="1211263" cy="1968500"/>
            </a:xfrm>
            <a:custGeom>
              <a:avLst/>
              <a:gdLst>
                <a:gd name="T0" fmla="*/ 224 w 323"/>
                <a:gd name="T1" fmla="*/ 224 h 525"/>
                <a:gd name="T2" fmla="*/ 193 w 323"/>
                <a:gd name="T3" fmla="*/ 222 h 525"/>
                <a:gd name="T4" fmla="*/ 181 w 323"/>
                <a:gd name="T5" fmla="*/ 210 h 525"/>
                <a:gd name="T6" fmla="*/ 181 w 323"/>
                <a:gd name="T7" fmla="*/ 173 h 525"/>
                <a:gd name="T8" fmla="*/ 181 w 323"/>
                <a:gd name="T9" fmla="*/ 134 h 525"/>
                <a:gd name="T10" fmla="*/ 192 w 323"/>
                <a:gd name="T11" fmla="*/ 122 h 525"/>
                <a:gd name="T12" fmla="*/ 239 w 323"/>
                <a:gd name="T13" fmla="*/ 149 h 525"/>
                <a:gd name="T14" fmla="*/ 291 w 323"/>
                <a:gd name="T15" fmla="*/ 166 h 525"/>
                <a:gd name="T16" fmla="*/ 313 w 323"/>
                <a:gd name="T17" fmla="*/ 119 h 525"/>
                <a:gd name="T18" fmla="*/ 278 w 323"/>
                <a:gd name="T19" fmla="*/ 68 h 525"/>
                <a:gd name="T20" fmla="*/ 200 w 323"/>
                <a:gd name="T21" fmla="*/ 40 h 525"/>
                <a:gd name="T22" fmla="*/ 181 w 323"/>
                <a:gd name="T23" fmla="*/ 19 h 525"/>
                <a:gd name="T24" fmla="*/ 161 w 323"/>
                <a:gd name="T25" fmla="*/ 1 h 525"/>
                <a:gd name="T26" fmla="*/ 140 w 323"/>
                <a:gd name="T27" fmla="*/ 19 h 525"/>
                <a:gd name="T28" fmla="*/ 118 w 323"/>
                <a:gd name="T29" fmla="*/ 41 h 525"/>
                <a:gd name="T30" fmla="*/ 112 w 323"/>
                <a:gd name="T31" fmla="*/ 41 h 525"/>
                <a:gd name="T32" fmla="*/ 0 w 323"/>
                <a:gd name="T33" fmla="*/ 155 h 525"/>
                <a:gd name="T34" fmla="*/ 0 w 323"/>
                <a:gd name="T35" fmla="*/ 186 h 525"/>
                <a:gd name="T36" fmla="*/ 46 w 323"/>
                <a:gd name="T37" fmla="*/ 278 h 525"/>
                <a:gd name="T38" fmla="*/ 128 w 323"/>
                <a:gd name="T39" fmla="*/ 305 h 525"/>
                <a:gd name="T40" fmla="*/ 140 w 323"/>
                <a:gd name="T41" fmla="*/ 314 h 525"/>
                <a:gd name="T42" fmla="*/ 140 w 323"/>
                <a:gd name="T43" fmla="*/ 393 h 525"/>
                <a:gd name="T44" fmla="*/ 130 w 323"/>
                <a:gd name="T45" fmla="*/ 403 h 525"/>
                <a:gd name="T46" fmla="*/ 82 w 323"/>
                <a:gd name="T47" fmla="*/ 376 h 525"/>
                <a:gd name="T48" fmla="*/ 15 w 323"/>
                <a:gd name="T49" fmla="*/ 373 h 525"/>
                <a:gd name="T50" fmla="*/ 16 w 323"/>
                <a:gd name="T51" fmla="*/ 424 h 525"/>
                <a:gd name="T52" fmla="*/ 124 w 323"/>
                <a:gd name="T53" fmla="*/ 485 h 525"/>
                <a:gd name="T54" fmla="*/ 140 w 323"/>
                <a:gd name="T55" fmla="*/ 501 h 525"/>
                <a:gd name="T56" fmla="*/ 161 w 323"/>
                <a:gd name="T57" fmla="*/ 525 h 525"/>
                <a:gd name="T58" fmla="*/ 181 w 323"/>
                <a:gd name="T59" fmla="*/ 502 h 525"/>
                <a:gd name="T60" fmla="*/ 198 w 323"/>
                <a:gd name="T61" fmla="*/ 485 h 525"/>
                <a:gd name="T62" fmla="*/ 204 w 323"/>
                <a:gd name="T63" fmla="*/ 485 h 525"/>
                <a:gd name="T64" fmla="*/ 309 w 323"/>
                <a:gd name="T65" fmla="*/ 418 h 525"/>
                <a:gd name="T66" fmla="*/ 323 w 323"/>
                <a:gd name="T67" fmla="*/ 343 h 525"/>
                <a:gd name="T68" fmla="*/ 224 w 323"/>
                <a:gd name="T69" fmla="*/ 224 h 525"/>
                <a:gd name="T70" fmla="*/ 130 w 323"/>
                <a:gd name="T71" fmla="*/ 222 h 525"/>
                <a:gd name="T72" fmla="*/ 81 w 323"/>
                <a:gd name="T73" fmla="*/ 174 h 525"/>
                <a:gd name="T74" fmla="*/ 89 w 323"/>
                <a:gd name="T75" fmla="*/ 140 h 525"/>
                <a:gd name="T76" fmla="*/ 133 w 323"/>
                <a:gd name="T77" fmla="*/ 122 h 525"/>
                <a:gd name="T78" fmla="*/ 140 w 323"/>
                <a:gd name="T79" fmla="*/ 132 h 525"/>
                <a:gd name="T80" fmla="*/ 140 w 323"/>
                <a:gd name="T81" fmla="*/ 172 h 525"/>
                <a:gd name="T82" fmla="*/ 140 w 323"/>
                <a:gd name="T83" fmla="*/ 212 h 525"/>
                <a:gd name="T84" fmla="*/ 130 w 323"/>
                <a:gd name="T85" fmla="*/ 222 h 525"/>
                <a:gd name="T86" fmla="*/ 240 w 323"/>
                <a:gd name="T87" fmla="*/ 365 h 525"/>
                <a:gd name="T88" fmla="*/ 212 w 323"/>
                <a:gd name="T89" fmla="*/ 400 h 525"/>
                <a:gd name="T90" fmla="*/ 190 w 323"/>
                <a:gd name="T91" fmla="*/ 402 h 525"/>
                <a:gd name="T92" fmla="*/ 181 w 323"/>
                <a:gd name="T93" fmla="*/ 393 h 525"/>
                <a:gd name="T94" fmla="*/ 181 w 323"/>
                <a:gd name="T95" fmla="*/ 391 h 525"/>
                <a:gd name="T96" fmla="*/ 181 w 323"/>
                <a:gd name="T97" fmla="*/ 354 h 525"/>
                <a:gd name="T98" fmla="*/ 181 w 323"/>
                <a:gd name="T99" fmla="*/ 314 h 525"/>
                <a:gd name="T100" fmla="*/ 191 w 323"/>
                <a:gd name="T101" fmla="*/ 305 h 525"/>
                <a:gd name="T102" fmla="*/ 216 w 323"/>
                <a:gd name="T103" fmla="*/ 307 h 525"/>
                <a:gd name="T104" fmla="*/ 240 w 323"/>
                <a:gd name="T105" fmla="*/ 365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3" h="525">
                  <a:moveTo>
                    <a:pt x="224" y="224"/>
                  </a:moveTo>
                  <a:cubicBezTo>
                    <a:pt x="214" y="222"/>
                    <a:pt x="203" y="222"/>
                    <a:pt x="193" y="222"/>
                  </a:cubicBezTo>
                  <a:cubicBezTo>
                    <a:pt x="184" y="222"/>
                    <a:pt x="180" y="219"/>
                    <a:pt x="181" y="210"/>
                  </a:cubicBezTo>
                  <a:cubicBezTo>
                    <a:pt x="181" y="198"/>
                    <a:pt x="181" y="185"/>
                    <a:pt x="181" y="173"/>
                  </a:cubicBezTo>
                  <a:cubicBezTo>
                    <a:pt x="181" y="160"/>
                    <a:pt x="181" y="147"/>
                    <a:pt x="181" y="134"/>
                  </a:cubicBezTo>
                  <a:cubicBezTo>
                    <a:pt x="180" y="126"/>
                    <a:pt x="183" y="123"/>
                    <a:pt x="192" y="122"/>
                  </a:cubicBezTo>
                  <a:cubicBezTo>
                    <a:pt x="215" y="120"/>
                    <a:pt x="229" y="131"/>
                    <a:pt x="239" y="149"/>
                  </a:cubicBezTo>
                  <a:cubicBezTo>
                    <a:pt x="249" y="167"/>
                    <a:pt x="272" y="174"/>
                    <a:pt x="291" y="166"/>
                  </a:cubicBezTo>
                  <a:cubicBezTo>
                    <a:pt x="309" y="158"/>
                    <a:pt x="320" y="137"/>
                    <a:pt x="313" y="119"/>
                  </a:cubicBezTo>
                  <a:cubicBezTo>
                    <a:pt x="306" y="99"/>
                    <a:pt x="295" y="81"/>
                    <a:pt x="278" y="68"/>
                  </a:cubicBezTo>
                  <a:cubicBezTo>
                    <a:pt x="255" y="50"/>
                    <a:pt x="229" y="42"/>
                    <a:pt x="200" y="40"/>
                  </a:cubicBezTo>
                  <a:cubicBezTo>
                    <a:pt x="182" y="39"/>
                    <a:pt x="182" y="38"/>
                    <a:pt x="181" y="19"/>
                  </a:cubicBezTo>
                  <a:cubicBezTo>
                    <a:pt x="180" y="8"/>
                    <a:pt x="172" y="1"/>
                    <a:pt x="161" y="1"/>
                  </a:cubicBezTo>
                  <a:cubicBezTo>
                    <a:pt x="150" y="0"/>
                    <a:pt x="142" y="8"/>
                    <a:pt x="140" y="19"/>
                  </a:cubicBezTo>
                  <a:cubicBezTo>
                    <a:pt x="138" y="39"/>
                    <a:pt x="138" y="39"/>
                    <a:pt x="118" y="41"/>
                  </a:cubicBezTo>
                  <a:cubicBezTo>
                    <a:pt x="116" y="41"/>
                    <a:pt x="114" y="41"/>
                    <a:pt x="112" y="41"/>
                  </a:cubicBezTo>
                  <a:cubicBezTo>
                    <a:pt x="52" y="44"/>
                    <a:pt x="1" y="95"/>
                    <a:pt x="0" y="155"/>
                  </a:cubicBezTo>
                  <a:cubicBezTo>
                    <a:pt x="0" y="166"/>
                    <a:pt x="0" y="176"/>
                    <a:pt x="0" y="186"/>
                  </a:cubicBezTo>
                  <a:cubicBezTo>
                    <a:pt x="2" y="223"/>
                    <a:pt x="17" y="254"/>
                    <a:pt x="46" y="278"/>
                  </a:cubicBezTo>
                  <a:cubicBezTo>
                    <a:pt x="70" y="297"/>
                    <a:pt x="98" y="304"/>
                    <a:pt x="128" y="305"/>
                  </a:cubicBezTo>
                  <a:cubicBezTo>
                    <a:pt x="135" y="305"/>
                    <a:pt x="140" y="305"/>
                    <a:pt x="140" y="314"/>
                  </a:cubicBezTo>
                  <a:cubicBezTo>
                    <a:pt x="140" y="340"/>
                    <a:pt x="140" y="367"/>
                    <a:pt x="140" y="393"/>
                  </a:cubicBezTo>
                  <a:cubicBezTo>
                    <a:pt x="140" y="400"/>
                    <a:pt x="137" y="402"/>
                    <a:pt x="130" y="403"/>
                  </a:cubicBezTo>
                  <a:cubicBezTo>
                    <a:pt x="108" y="404"/>
                    <a:pt x="93" y="395"/>
                    <a:pt x="82" y="376"/>
                  </a:cubicBezTo>
                  <a:cubicBezTo>
                    <a:pt x="67" y="351"/>
                    <a:pt x="33" y="349"/>
                    <a:pt x="15" y="373"/>
                  </a:cubicBezTo>
                  <a:cubicBezTo>
                    <a:pt x="3" y="390"/>
                    <a:pt x="6" y="407"/>
                    <a:pt x="16" y="424"/>
                  </a:cubicBezTo>
                  <a:cubicBezTo>
                    <a:pt x="40" y="466"/>
                    <a:pt x="78" y="483"/>
                    <a:pt x="124" y="485"/>
                  </a:cubicBezTo>
                  <a:cubicBezTo>
                    <a:pt x="140" y="486"/>
                    <a:pt x="140" y="485"/>
                    <a:pt x="140" y="501"/>
                  </a:cubicBezTo>
                  <a:cubicBezTo>
                    <a:pt x="140" y="515"/>
                    <a:pt x="149" y="525"/>
                    <a:pt x="161" y="525"/>
                  </a:cubicBezTo>
                  <a:cubicBezTo>
                    <a:pt x="173" y="525"/>
                    <a:pt x="181" y="516"/>
                    <a:pt x="181" y="502"/>
                  </a:cubicBezTo>
                  <a:cubicBezTo>
                    <a:pt x="181" y="485"/>
                    <a:pt x="181" y="485"/>
                    <a:pt x="198" y="485"/>
                  </a:cubicBezTo>
                  <a:cubicBezTo>
                    <a:pt x="200" y="485"/>
                    <a:pt x="202" y="485"/>
                    <a:pt x="204" y="485"/>
                  </a:cubicBezTo>
                  <a:cubicBezTo>
                    <a:pt x="251" y="482"/>
                    <a:pt x="287" y="460"/>
                    <a:pt x="309" y="418"/>
                  </a:cubicBezTo>
                  <a:cubicBezTo>
                    <a:pt x="322" y="394"/>
                    <a:pt x="323" y="369"/>
                    <a:pt x="323" y="343"/>
                  </a:cubicBezTo>
                  <a:cubicBezTo>
                    <a:pt x="322" y="286"/>
                    <a:pt x="280" y="234"/>
                    <a:pt x="224" y="224"/>
                  </a:cubicBezTo>
                  <a:close/>
                  <a:moveTo>
                    <a:pt x="130" y="222"/>
                  </a:moveTo>
                  <a:cubicBezTo>
                    <a:pt x="101" y="223"/>
                    <a:pt x="79" y="205"/>
                    <a:pt x="81" y="174"/>
                  </a:cubicBezTo>
                  <a:cubicBezTo>
                    <a:pt x="81" y="162"/>
                    <a:pt x="81" y="150"/>
                    <a:pt x="89" y="140"/>
                  </a:cubicBezTo>
                  <a:cubicBezTo>
                    <a:pt x="101" y="125"/>
                    <a:pt x="116" y="120"/>
                    <a:pt x="133" y="122"/>
                  </a:cubicBezTo>
                  <a:cubicBezTo>
                    <a:pt x="140" y="123"/>
                    <a:pt x="140" y="127"/>
                    <a:pt x="140" y="132"/>
                  </a:cubicBezTo>
                  <a:cubicBezTo>
                    <a:pt x="140" y="145"/>
                    <a:pt x="140" y="159"/>
                    <a:pt x="140" y="172"/>
                  </a:cubicBezTo>
                  <a:cubicBezTo>
                    <a:pt x="140" y="186"/>
                    <a:pt x="140" y="199"/>
                    <a:pt x="140" y="212"/>
                  </a:cubicBezTo>
                  <a:cubicBezTo>
                    <a:pt x="140" y="219"/>
                    <a:pt x="137" y="222"/>
                    <a:pt x="130" y="222"/>
                  </a:cubicBezTo>
                  <a:close/>
                  <a:moveTo>
                    <a:pt x="240" y="365"/>
                  </a:moveTo>
                  <a:cubicBezTo>
                    <a:pt x="239" y="383"/>
                    <a:pt x="230" y="396"/>
                    <a:pt x="212" y="400"/>
                  </a:cubicBezTo>
                  <a:cubicBezTo>
                    <a:pt x="205" y="402"/>
                    <a:pt x="197" y="402"/>
                    <a:pt x="190" y="402"/>
                  </a:cubicBezTo>
                  <a:cubicBezTo>
                    <a:pt x="183" y="403"/>
                    <a:pt x="181" y="399"/>
                    <a:pt x="181" y="393"/>
                  </a:cubicBezTo>
                  <a:cubicBezTo>
                    <a:pt x="181" y="392"/>
                    <a:pt x="181" y="392"/>
                    <a:pt x="181" y="391"/>
                  </a:cubicBezTo>
                  <a:cubicBezTo>
                    <a:pt x="181" y="379"/>
                    <a:pt x="181" y="366"/>
                    <a:pt x="181" y="354"/>
                  </a:cubicBezTo>
                  <a:cubicBezTo>
                    <a:pt x="181" y="340"/>
                    <a:pt x="181" y="327"/>
                    <a:pt x="181" y="314"/>
                  </a:cubicBezTo>
                  <a:cubicBezTo>
                    <a:pt x="181" y="307"/>
                    <a:pt x="184" y="304"/>
                    <a:pt x="191" y="305"/>
                  </a:cubicBezTo>
                  <a:cubicBezTo>
                    <a:pt x="199" y="305"/>
                    <a:pt x="208" y="304"/>
                    <a:pt x="216" y="307"/>
                  </a:cubicBezTo>
                  <a:cubicBezTo>
                    <a:pt x="243" y="318"/>
                    <a:pt x="241" y="342"/>
                    <a:pt x="240" y="36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73" name="Freeform 7"/>
          <p:cNvSpPr>
            <a:spLocks noEditPoints="1"/>
          </p:cNvSpPr>
          <p:nvPr userDrawn="1"/>
        </p:nvSpPr>
        <p:spPr bwMode="auto">
          <a:xfrm>
            <a:off x="3186970" y="5010157"/>
            <a:ext cx="242544" cy="269555"/>
          </a:xfrm>
          <a:custGeom>
            <a:avLst/>
            <a:gdLst>
              <a:gd name="T0" fmla="*/ 239 w 252"/>
              <a:gd name="T1" fmla="*/ 109 h 280"/>
              <a:gd name="T2" fmla="*/ 33 w 252"/>
              <a:gd name="T3" fmla="*/ 109 h 280"/>
              <a:gd name="T4" fmla="*/ 33 w 252"/>
              <a:gd name="T5" fmla="*/ 171 h 280"/>
              <a:gd name="T6" fmla="*/ 239 w 252"/>
              <a:gd name="T7" fmla="*/ 171 h 280"/>
              <a:gd name="T8" fmla="*/ 252 w 252"/>
              <a:gd name="T9" fmla="*/ 158 h 280"/>
              <a:gd name="T10" fmla="*/ 252 w 252"/>
              <a:gd name="T11" fmla="*/ 122 h 280"/>
              <a:gd name="T12" fmla="*/ 239 w 252"/>
              <a:gd name="T13" fmla="*/ 109 h 280"/>
              <a:gd name="T14" fmla="*/ 9 w 252"/>
              <a:gd name="T15" fmla="*/ 0 h 280"/>
              <a:gd name="T16" fmla="*/ 0 w 252"/>
              <a:gd name="T17" fmla="*/ 9 h 280"/>
              <a:gd name="T18" fmla="*/ 0 w 252"/>
              <a:gd name="T19" fmla="*/ 271 h 280"/>
              <a:gd name="T20" fmla="*/ 9 w 252"/>
              <a:gd name="T21" fmla="*/ 280 h 280"/>
              <a:gd name="T22" fmla="*/ 18 w 252"/>
              <a:gd name="T23" fmla="*/ 271 h 280"/>
              <a:gd name="T24" fmla="*/ 18 w 252"/>
              <a:gd name="T25" fmla="*/ 9 h 280"/>
              <a:gd name="T26" fmla="*/ 9 w 252"/>
              <a:gd name="T27" fmla="*/ 0 h 280"/>
              <a:gd name="T28" fmla="*/ 134 w 252"/>
              <a:gd name="T29" fmla="*/ 78 h 280"/>
              <a:gd name="T30" fmla="*/ 134 w 252"/>
              <a:gd name="T31" fmla="*/ 42 h 280"/>
              <a:gd name="T32" fmla="*/ 120 w 252"/>
              <a:gd name="T33" fmla="*/ 29 h 280"/>
              <a:gd name="T34" fmla="*/ 33 w 252"/>
              <a:gd name="T35" fmla="*/ 29 h 280"/>
              <a:gd name="T36" fmla="*/ 33 w 252"/>
              <a:gd name="T37" fmla="*/ 91 h 280"/>
              <a:gd name="T38" fmla="*/ 120 w 252"/>
              <a:gd name="T39" fmla="*/ 91 h 280"/>
              <a:gd name="T40" fmla="*/ 134 w 252"/>
              <a:gd name="T41" fmla="*/ 78 h 280"/>
              <a:gd name="T42" fmla="*/ 173 w 252"/>
              <a:gd name="T43" fmla="*/ 190 h 280"/>
              <a:gd name="T44" fmla="*/ 33 w 252"/>
              <a:gd name="T45" fmla="*/ 190 h 280"/>
              <a:gd name="T46" fmla="*/ 33 w 252"/>
              <a:gd name="T47" fmla="*/ 252 h 280"/>
              <a:gd name="T48" fmla="*/ 173 w 252"/>
              <a:gd name="T49" fmla="*/ 252 h 280"/>
              <a:gd name="T50" fmla="*/ 186 w 252"/>
              <a:gd name="T51" fmla="*/ 239 h 280"/>
              <a:gd name="T52" fmla="*/ 186 w 252"/>
              <a:gd name="T53" fmla="*/ 203 h 280"/>
              <a:gd name="T54" fmla="*/ 173 w 252"/>
              <a:gd name="T55" fmla="*/ 19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52" h="280">
                <a:moveTo>
                  <a:pt x="239" y="109"/>
                </a:moveTo>
                <a:cubicBezTo>
                  <a:pt x="33" y="109"/>
                  <a:pt x="33" y="109"/>
                  <a:pt x="33" y="109"/>
                </a:cubicBezTo>
                <a:cubicBezTo>
                  <a:pt x="33" y="171"/>
                  <a:pt x="33" y="171"/>
                  <a:pt x="33" y="171"/>
                </a:cubicBezTo>
                <a:cubicBezTo>
                  <a:pt x="239" y="171"/>
                  <a:pt x="239" y="171"/>
                  <a:pt x="239" y="171"/>
                </a:cubicBezTo>
                <a:cubicBezTo>
                  <a:pt x="246" y="171"/>
                  <a:pt x="252" y="165"/>
                  <a:pt x="252" y="158"/>
                </a:cubicBezTo>
                <a:cubicBezTo>
                  <a:pt x="252" y="122"/>
                  <a:pt x="252" y="122"/>
                  <a:pt x="252" y="122"/>
                </a:cubicBezTo>
                <a:cubicBezTo>
                  <a:pt x="252" y="115"/>
                  <a:pt x="246" y="109"/>
                  <a:pt x="239" y="109"/>
                </a:cubicBezTo>
                <a:close/>
                <a:moveTo>
                  <a:pt x="9" y="0"/>
                </a:moveTo>
                <a:cubicBezTo>
                  <a:pt x="4" y="0"/>
                  <a:pt x="0" y="4"/>
                  <a:pt x="0" y="9"/>
                </a:cubicBezTo>
                <a:cubicBezTo>
                  <a:pt x="0" y="271"/>
                  <a:pt x="0" y="271"/>
                  <a:pt x="0" y="271"/>
                </a:cubicBezTo>
                <a:cubicBezTo>
                  <a:pt x="0" y="276"/>
                  <a:pt x="4" y="280"/>
                  <a:pt x="9" y="280"/>
                </a:cubicBezTo>
                <a:cubicBezTo>
                  <a:pt x="14" y="280"/>
                  <a:pt x="18" y="276"/>
                  <a:pt x="18" y="271"/>
                </a:cubicBezTo>
                <a:cubicBezTo>
                  <a:pt x="18" y="9"/>
                  <a:pt x="18" y="9"/>
                  <a:pt x="18" y="9"/>
                </a:cubicBezTo>
                <a:cubicBezTo>
                  <a:pt x="18" y="4"/>
                  <a:pt x="14" y="0"/>
                  <a:pt x="9" y="0"/>
                </a:cubicBezTo>
                <a:close/>
                <a:moveTo>
                  <a:pt x="134" y="78"/>
                </a:moveTo>
                <a:cubicBezTo>
                  <a:pt x="134" y="42"/>
                  <a:pt x="134" y="42"/>
                  <a:pt x="134" y="42"/>
                </a:cubicBezTo>
                <a:cubicBezTo>
                  <a:pt x="134" y="35"/>
                  <a:pt x="128" y="29"/>
                  <a:pt x="120" y="29"/>
                </a:cubicBezTo>
                <a:cubicBezTo>
                  <a:pt x="33" y="29"/>
                  <a:pt x="33" y="29"/>
                  <a:pt x="33" y="29"/>
                </a:cubicBezTo>
                <a:cubicBezTo>
                  <a:pt x="33" y="91"/>
                  <a:pt x="33" y="91"/>
                  <a:pt x="33" y="91"/>
                </a:cubicBezTo>
                <a:cubicBezTo>
                  <a:pt x="120" y="91"/>
                  <a:pt x="120" y="91"/>
                  <a:pt x="120" y="91"/>
                </a:cubicBezTo>
                <a:cubicBezTo>
                  <a:pt x="128" y="91"/>
                  <a:pt x="134" y="85"/>
                  <a:pt x="134" y="78"/>
                </a:cubicBezTo>
                <a:close/>
                <a:moveTo>
                  <a:pt x="173" y="190"/>
                </a:moveTo>
                <a:cubicBezTo>
                  <a:pt x="33" y="190"/>
                  <a:pt x="33" y="190"/>
                  <a:pt x="33" y="190"/>
                </a:cubicBezTo>
                <a:cubicBezTo>
                  <a:pt x="33" y="252"/>
                  <a:pt x="33" y="252"/>
                  <a:pt x="33" y="252"/>
                </a:cubicBezTo>
                <a:cubicBezTo>
                  <a:pt x="173" y="252"/>
                  <a:pt x="173" y="252"/>
                  <a:pt x="173" y="252"/>
                </a:cubicBezTo>
                <a:cubicBezTo>
                  <a:pt x="180" y="252"/>
                  <a:pt x="186" y="246"/>
                  <a:pt x="186" y="239"/>
                </a:cubicBezTo>
                <a:cubicBezTo>
                  <a:pt x="186" y="203"/>
                  <a:pt x="186" y="203"/>
                  <a:pt x="186" y="203"/>
                </a:cubicBezTo>
                <a:cubicBezTo>
                  <a:pt x="186" y="196"/>
                  <a:pt x="180" y="190"/>
                  <a:pt x="173" y="19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4" name="Freeform 22"/>
          <p:cNvSpPr>
            <a:spLocks noEditPoints="1"/>
          </p:cNvSpPr>
          <p:nvPr userDrawn="1"/>
        </p:nvSpPr>
        <p:spPr bwMode="auto">
          <a:xfrm>
            <a:off x="3198905" y="5582999"/>
            <a:ext cx="228211" cy="244747"/>
          </a:xfrm>
          <a:custGeom>
            <a:avLst/>
            <a:gdLst>
              <a:gd name="T0" fmla="*/ 235 w 237"/>
              <a:gd name="T1" fmla="*/ 107 h 254"/>
              <a:gd name="T2" fmla="*/ 235 w 237"/>
              <a:gd name="T3" fmla="*/ 106 h 254"/>
              <a:gd name="T4" fmla="*/ 234 w 237"/>
              <a:gd name="T5" fmla="*/ 106 h 254"/>
              <a:gd name="T6" fmla="*/ 232 w 237"/>
              <a:gd name="T7" fmla="*/ 104 h 254"/>
              <a:gd name="T8" fmla="*/ 182 w 237"/>
              <a:gd name="T9" fmla="*/ 82 h 254"/>
              <a:gd name="T10" fmla="*/ 182 w 237"/>
              <a:gd name="T11" fmla="*/ 32 h 254"/>
              <a:gd name="T12" fmla="*/ 177 w 237"/>
              <a:gd name="T13" fmla="*/ 25 h 254"/>
              <a:gd name="T14" fmla="*/ 122 w 237"/>
              <a:gd name="T15" fmla="*/ 1 h 254"/>
              <a:gd name="T16" fmla="*/ 116 w 237"/>
              <a:gd name="T17" fmla="*/ 1 h 254"/>
              <a:gd name="T18" fmla="*/ 60 w 237"/>
              <a:gd name="T19" fmla="*/ 25 h 254"/>
              <a:gd name="T20" fmla="*/ 55 w 237"/>
              <a:gd name="T21" fmla="*/ 33 h 254"/>
              <a:gd name="T22" fmla="*/ 55 w 237"/>
              <a:gd name="T23" fmla="*/ 84 h 254"/>
              <a:gd name="T24" fmla="*/ 5 w 237"/>
              <a:gd name="T25" fmla="*/ 106 h 254"/>
              <a:gd name="T26" fmla="*/ 4 w 237"/>
              <a:gd name="T27" fmla="*/ 107 h 254"/>
              <a:gd name="T28" fmla="*/ 4 w 237"/>
              <a:gd name="T29" fmla="*/ 107 h 254"/>
              <a:gd name="T30" fmla="*/ 4 w 237"/>
              <a:gd name="T31" fmla="*/ 107 h 254"/>
              <a:gd name="T32" fmla="*/ 3 w 237"/>
              <a:gd name="T33" fmla="*/ 107 h 254"/>
              <a:gd name="T34" fmla="*/ 0 w 237"/>
              <a:gd name="T35" fmla="*/ 113 h 254"/>
              <a:gd name="T36" fmla="*/ 0 w 237"/>
              <a:gd name="T37" fmla="*/ 175 h 254"/>
              <a:gd name="T38" fmla="*/ 5 w 237"/>
              <a:gd name="T39" fmla="*/ 182 h 254"/>
              <a:gd name="T40" fmla="*/ 168 w 237"/>
              <a:gd name="T41" fmla="*/ 253 h 254"/>
              <a:gd name="T42" fmla="*/ 173 w 237"/>
              <a:gd name="T43" fmla="*/ 254 h 254"/>
              <a:gd name="T44" fmla="*/ 176 w 237"/>
              <a:gd name="T45" fmla="*/ 254 h 254"/>
              <a:gd name="T46" fmla="*/ 232 w 237"/>
              <a:gd name="T47" fmla="*/ 229 h 254"/>
              <a:gd name="T48" fmla="*/ 237 w 237"/>
              <a:gd name="T49" fmla="*/ 222 h 254"/>
              <a:gd name="T50" fmla="*/ 237 w 237"/>
              <a:gd name="T51" fmla="*/ 111 h 254"/>
              <a:gd name="T52" fmla="*/ 235 w 237"/>
              <a:gd name="T53" fmla="*/ 107 h 254"/>
              <a:gd name="T54" fmla="*/ 55 w 237"/>
              <a:gd name="T55" fmla="*/ 186 h 254"/>
              <a:gd name="T56" fmla="*/ 16 w 237"/>
              <a:gd name="T57" fmla="*/ 169 h 254"/>
              <a:gd name="T58" fmla="*/ 16 w 237"/>
              <a:gd name="T59" fmla="*/ 126 h 254"/>
              <a:gd name="T60" fmla="*/ 55 w 237"/>
              <a:gd name="T61" fmla="*/ 142 h 254"/>
              <a:gd name="T62" fmla="*/ 55 w 237"/>
              <a:gd name="T63" fmla="*/ 186 h 254"/>
              <a:gd name="T64" fmla="*/ 110 w 237"/>
              <a:gd name="T65" fmla="*/ 210 h 254"/>
              <a:gd name="T66" fmla="*/ 71 w 237"/>
              <a:gd name="T67" fmla="*/ 193 h 254"/>
              <a:gd name="T68" fmla="*/ 71 w 237"/>
              <a:gd name="T69" fmla="*/ 46 h 254"/>
              <a:gd name="T70" fmla="*/ 110 w 237"/>
              <a:gd name="T71" fmla="*/ 62 h 254"/>
              <a:gd name="T72" fmla="*/ 110 w 237"/>
              <a:gd name="T73" fmla="*/ 210 h 254"/>
              <a:gd name="T74" fmla="*/ 164 w 237"/>
              <a:gd name="T75" fmla="*/ 234 h 254"/>
              <a:gd name="T76" fmla="*/ 126 w 237"/>
              <a:gd name="T77" fmla="*/ 217 h 254"/>
              <a:gd name="T78" fmla="*/ 126 w 237"/>
              <a:gd name="T79" fmla="*/ 124 h 254"/>
              <a:gd name="T80" fmla="*/ 164 w 237"/>
              <a:gd name="T81" fmla="*/ 141 h 254"/>
              <a:gd name="T82" fmla="*/ 164 w 237"/>
              <a:gd name="T83" fmla="*/ 234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7" h="254">
                <a:moveTo>
                  <a:pt x="235" y="107"/>
                </a:moveTo>
                <a:cubicBezTo>
                  <a:pt x="235" y="107"/>
                  <a:pt x="235" y="107"/>
                  <a:pt x="235" y="106"/>
                </a:cubicBezTo>
                <a:cubicBezTo>
                  <a:pt x="235" y="106"/>
                  <a:pt x="234" y="106"/>
                  <a:pt x="234" y="106"/>
                </a:cubicBezTo>
                <a:cubicBezTo>
                  <a:pt x="233" y="105"/>
                  <a:pt x="233" y="104"/>
                  <a:pt x="232" y="104"/>
                </a:cubicBezTo>
                <a:cubicBezTo>
                  <a:pt x="182" y="82"/>
                  <a:pt x="182" y="82"/>
                  <a:pt x="182" y="82"/>
                </a:cubicBezTo>
                <a:cubicBezTo>
                  <a:pt x="182" y="82"/>
                  <a:pt x="182" y="32"/>
                  <a:pt x="182" y="32"/>
                </a:cubicBezTo>
                <a:cubicBezTo>
                  <a:pt x="182" y="29"/>
                  <a:pt x="180" y="26"/>
                  <a:pt x="177" y="25"/>
                </a:cubicBezTo>
                <a:cubicBezTo>
                  <a:pt x="122" y="1"/>
                  <a:pt x="122" y="1"/>
                  <a:pt x="122" y="1"/>
                </a:cubicBezTo>
                <a:cubicBezTo>
                  <a:pt x="120" y="0"/>
                  <a:pt x="118" y="0"/>
                  <a:pt x="116" y="1"/>
                </a:cubicBezTo>
                <a:cubicBezTo>
                  <a:pt x="60" y="25"/>
                  <a:pt x="60" y="25"/>
                  <a:pt x="60" y="25"/>
                </a:cubicBezTo>
                <a:cubicBezTo>
                  <a:pt x="57" y="27"/>
                  <a:pt x="55" y="30"/>
                  <a:pt x="55" y="33"/>
                </a:cubicBezTo>
                <a:cubicBezTo>
                  <a:pt x="55" y="33"/>
                  <a:pt x="55" y="84"/>
                  <a:pt x="55" y="84"/>
                </a:cubicBezTo>
                <a:cubicBezTo>
                  <a:pt x="5" y="106"/>
                  <a:pt x="5" y="106"/>
                  <a:pt x="5" y="106"/>
                </a:cubicBezTo>
                <a:cubicBezTo>
                  <a:pt x="4" y="106"/>
                  <a:pt x="4" y="106"/>
                  <a:pt x="4" y="107"/>
                </a:cubicBezTo>
                <a:cubicBezTo>
                  <a:pt x="4" y="107"/>
                  <a:pt x="4" y="107"/>
                  <a:pt x="4" y="107"/>
                </a:cubicBezTo>
                <a:cubicBezTo>
                  <a:pt x="4" y="107"/>
                  <a:pt x="4" y="107"/>
                  <a:pt x="4" y="107"/>
                </a:cubicBezTo>
                <a:cubicBezTo>
                  <a:pt x="3" y="107"/>
                  <a:pt x="3" y="107"/>
                  <a:pt x="3" y="107"/>
                </a:cubicBezTo>
                <a:cubicBezTo>
                  <a:pt x="1" y="109"/>
                  <a:pt x="0" y="111"/>
                  <a:pt x="0" y="113"/>
                </a:cubicBezTo>
                <a:cubicBezTo>
                  <a:pt x="0" y="175"/>
                  <a:pt x="0" y="175"/>
                  <a:pt x="0" y="175"/>
                </a:cubicBezTo>
                <a:cubicBezTo>
                  <a:pt x="0" y="178"/>
                  <a:pt x="2" y="181"/>
                  <a:pt x="5" y="182"/>
                </a:cubicBezTo>
                <a:cubicBezTo>
                  <a:pt x="168" y="253"/>
                  <a:pt x="168" y="253"/>
                  <a:pt x="168" y="253"/>
                </a:cubicBezTo>
                <a:cubicBezTo>
                  <a:pt x="169" y="254"/>
                  <a:pt x="171" y="254"/>
                  <a:pt x="173" y="254"/>
                </a:cubicBezTo>
                <a:cubicBezTo>
                  <a:pt x="174" y="254"/>
                  <a:pt x="175" y="254"/>
                  <a:pt x="176" y="254"/>
                </a:cubicBezTo>
                <a:cubicBezTo>
                  <a:pt x="232" y="229"/>
                  <a:pt x="232" y="229"/>
                  <a:pt x="232" y="229"/>
                </a:cubicBezTo>
                <a:cubicBezTo>
                  <a:pt x="235" y="228"/>
                  <a:pt x="237" y="225"/>
                  <a:pt x="237" y="222"/>
                </a:cubicBezTo>
                <a:cubicBezTo>
                  <a:pt x="237" y="111"/>
                  <a:pt x="237" y="111"/>
                  <a:pt x="237" y="111"/>
                </a:cubicBezTo>
                <a:cubicBezTo>
                  <a:pt x="237" y="110"/>
                  <a:pt x="236" y="109"/>
                  <a:pt x="235" y="107"/>
                </a:cubicBezTo>
                <a:close/>
                <a:moveTo>
                  <a:pt x="55" y="186"/>
                </a:moveTo>
                <a:cubicBezTo>
                  <a:pt x="16" y="169"/>
                  <a:pt x="16" y="169"/>
                  <a:pt x="16" y="169"/>
                </a:cubicBezTo>
                <a:cubicBezTo>
                  <a:pt x="16" y="126"/>
                  <a:pt x="16" y="126"/>
                  <a:pt x="16" y="126"/>
                </a:cubicBezTo>
                <a:cubicBezTo>
                  <a:pt x="55" y="142"/>
                  <a:pt x="55" y="142"/>
                  <a:pt x="55" y="142"/>
                </a:cubicBezTo>
                <a:lnTo>
                  <a:pt x="55" y="186"/>
                </a:lnTo>
                <a:close/>
                <a:moveTo>
                  <a:pt x="110" y="210"/>
                </a:moveTo>
                <a:cubicBezTo>
                  <a:pt x="71" y="193"/>
                  <a:pt x="71" y="193"/>
                  <a:pt x="71" y="193"/>
                </a:cubicBezTo>
                <a:cubicBezTo>
                  <a:pt x="71" y="46"/>
                  <a:pt x="71" y="46"/>
                  <a:pt x="71" y="46"/>
                </a:cubicBezTo>
                <a:cubicBezTo>
                  <a:pt x="110" y="62"/>
                  <a:pt x="110" y="62"/>
                  <a:pt x="110" y="62"/>
                </a:cubicBezTo>
                <a:lnTo>
                  <a:pt x="110" y="210"/>
                </a:lnTo>
                <a:close/>
                <a:moveTo>
                  <a:pt x="164" y="234"/>
                </a:moveTo>
                <a:cubicBezTo>
                  <a:pt x="126" y="217"/>
                  <a:pt x="126" y="217"/>
                  <a:pt x="126" y="217"/>
                </a:cubicBezTo>
                <a:cubicBezTo>
                  <a:pt x="126" y="124"/>
                  <a:pt x="126" y="124"/>
                  <a:pt x="126" y="124"/>
                </a:cubicBezTo>
                <a:cubicBezTo>
                  <a:pt x="164" y="141"/>
                  <a:pt x="164" y="141"/>
                  <a:pt x="164" y="141"/>
                </a:cubicBezTo>
                <a:lnTo>
                  <a:pt x="164" y="23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6" name="Rectangle 685"/>
          <p:cNvSpPr/>
          <p:nvPr userDrawn="1"/>
        </p:nvSpPr>
        <p:spPr>
          <a:xfrm>
            <a:off x="506947" y="4474853"/>
            <a:ext cx="1338828"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Measurement</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cxnSp>
        <p:nvCxnSpPr>
          <p:cNvPr id="470" name="Straight Connector 469"/>
          <p:cNvCxnSpPr>
            <a:cxnSpLocks/>
          </p:cNvCxnSpPr>
          <p:nvPr userDrawn="1"/>
        </p:nvCxnSpPr>
        <p:spPr bwMode="auto">
          <a:xfrm>
            <a:off x="552985" y="1973434"/>
            <a:ext cx="550809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09" name="Straight Connector 708"/>
          <p:cNvCxnSpPr/>
          <p:nvPr userDrawn="1"/>
        </p:nvCxnSpPr>
        <p:spPr bwMode="auto">
          <a:xfrm>
            <a:off x="552985" y="4817777"/>
            <a:ext cx="5154343"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697" name="Group 39">
            <a:extLst>
              <a:ext uri="{FF2B5EF4-FFF2-40B4-BE49-F238E27FC236}">
                <a16:creationId xmlns:a16="http://schemas.microsoft.com/office/drawing/2014/main" id="{EF4D2462-4001-465D-8142-4675893B52C1}"/>
              </a:ext>
            </a:extLst>
          </p:cNvPr>
          <p:cNvGrpSpPr>
            <a:grpSpLocks noChangeAspect="1"/>
          </p:cNvGrpSpPr>
          <p:nvPr userDrawn="1"/>
        </p:nvGrpSpPr>
        <p:grpSpPr bwMode="auto">
          <a:xfrm>
            <a:off x="5000326" y="6120638"/>
            <a:ext cx="310929" cy="305376"/>
            <a:chOff x="4419" y="2684"/>
            <a:chExt cx="1848" cy="1815"/>
          </a:xfrm>
          <a:solidFill>
            <a:schemeClr val="tx1"/>
          </a:solidFill>
        </p:grpSpPr>
        <p:sp>
          <p:nvSpPr>
            <p:cNvPr id="699" name="Freeform 40">
              <a:extLst>
                <a:ext uri="{FF2B5EF4-FFF2-40B4-BE49-F238E27FC236}">
                  <a16:creationId xmlns:a16="http://schemas.microsoft.com/office/drawing/2014/main" id="{AEEFB298-FE5E-4198-ADA5-EE9AB113708F}"/>
                </a:ext>
              </a:extLst>
            </p:cNvPr>
            <p:cNvSpPr>
              <a:spLocks/>
            </p:cNvSpPr>
            <p:nvPr userDrawn="1"/>
          </p:nvSpPr>
          <p:spPr bwMode="auto">
            <a:xfrm>
              <a:off x="5160" y="3302"/>
              <a:ext cx="58" cy="156"/>
            </a:xfrm>
            <a:custGeom>
              <a:avLst/>
              <a:gdLst>
                <a:gd name="T0" fmla="*/ 9 w 28"/>
                <a:gd name="T1" fmla="*/ 4 h 75"/>
                <a:gd name="T2" fmla="*/ 0 w 28"/>
                <a:gd name="T3" fmla="*/ 0 h 75"/>
                <a:gd name="T4" fmla="*/ 0 w 28"/>
                <a:gd name="T5" fmla="*/ 75 h 75"/>
                <a:gd name="T6" fmla="*/ 28 w 28"/>
                <a:gd name="T7" fmla="*/ 38 h 75"/>
                <a:gd name="T8" fmla="*/ 9 w 28"/>
                <a:gd name="T9" fmla="*/ 4 h 75"/>
              </a:gdLst>
              <a:ahLst/>
              <a:cxnLst>
                <a:cxn ang="0">
                  <a:pos x="T0" y="T1"/>
                </a:cxn>
                <a:cxn ang="0">
                  <a:pos x="T2" y="T3"/>
                </a:cxn>
                <a:cxn ang="0">
                  <a:pos x="T4" y="T5"/>
                </a:cxn>
                <a:cxn ang="0">
                  <a:pos x="T6" y="T7"/>
                </a:cxn>
                <a:cxn ang="0">
                  <a:pos x="T8" y="T9"/>
                </a:cxn>
              </a:cxnLst>
              <a:rect l="0" t="0" r="r" b="b"/>
              <a:pathLst>
                <a:path w="28" h="75">
                  <a:moveTo>
                    <a:pt x="9" y="4"/>
                  </a:moveTo>
                  <a:cubicBezTo>
                    <a:pt x="0" y="0"/>
                    <a:pt x="0" y="0"/>
                    <a:pt x="0" y="0"/>
                  </a:cubicBezTo>
                  <a:cubicBezTo>
                    <a:pt x="0" y="75"/>
                    <a:pt x="0" y="75"/>
                    <a:pt x="0" y="75"/>
                  </a:cubicBezTo>
                  <a:cubicBezTo>
                    <a:pt x="19" y="68"/>
                    <a:pt x="28" y="57"/>
                    <a:pt x="28" y="38"/>
                  </a:cubicBezTo>
                  <a:cubicBezTo>
                    <a:pt x="28" y="23"/>
                    <a:pt x="22" y="1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0" name="Freeform 41">
              <a:extLst>
                <a:ext uri="{FF2B5EF4-FFF2-40B4-BE49-F238E27FC236}">
                  <a16:creationId xmlns:a16="http://schemas.microsoft.com/office/drawing/2014/main" id="{353DF038-0A15-4CE6-8E20-55111CD70CC2}"/>
                </a:ext>
              </a:extLst>
            </p:cNvPr>
            <p:cNvSpPr>
              <a:spLocks/>
            </p:cNvSpPr>
            <p:nvPr userDrawn="1"/>
          </p:nvSpPr>
          <p:spPr bwMode="auto">
            <a:xfrm>
              <a:off x="5060" y="3041"/>
              <a:ext cx="58" cy="144"/>
            </a:xfrm>
            <a:custGeom>
              <a:avLst/>
              <a:gdLst>
                <a:gd name="T0" fmla="*/ 0 w 28"/>
                <a:gd name="T1" fmla="*/ 32 h 69"/>
                <a:gd name="T2" fmla="*/ 25 w 28"/>
                <a:gd name="T3" fmla="*/ 67 h 69"/>
                <a:gd name="T4" fmla="*/ 28 w 28"/>
                <a:gd name="T5" fmla="*/ 69 h 69"/>
                <a:gd name="T6" fmla="*/ 28 w 28"/>
                <a:gd name="T7" fmla="*/ 0 h 69"/>
                <a:gd name="T8" fmla="*/ 0 w 28"/>
                <a:gd name="T9" fmla="*/ 32 h 69"/>
              </a:gdLst>
              <a:ahLst/>
              <a:cxnLst>
                <a:cxn ang="0">
                  <a:pos x="T0" y="T1"/>
                </a:cxn>
                <a:cxn ang="0">
                  <a:pos x="T2" y="T3"/>
                </a:cxn>
                <a:cxn ang="0">
                  <a:pos x="T4" y="T5"/>
                </a:cxn>
                <a:cxn ang="0">
                  <a:pos x="T6" y="T7"/>
                </a:cxn>
                <a:cxn ang="0">
                  <a:pos x="T8" y="T9"/>
                </a:cxn>
              </a:cxnLst>
              <a:rect l="0" t="0" r="r" b="b"/>
              <a:pathLst>
                <a:path w="28" h="69">
                  <a:moveTo>
                    <a:pt x="0" y="32"/>
                  </a:moveTo>
                  <a:cubicBezTo>
                    <a:pt x="0" y="48"/>
                    <a:pt x="4" y="53"/>
                    <a:pt x="25" y="67"/>
                  </a:cubicBezTo>
                  <a:cubicBezTo>
                    <a:pt x="25" y="67"/>
                    <a:pt x="26" y="68"/>
                    <a:pt x="28" y="69"/>
                  </a:cubicBezTo>
                  <a:cubicBezTo>
                    <a:pt x="28" y="0"/>
                    <a:pt x="28" y="0"/>
                    <a:pt x="28" y="0"/>
                  </a:cubicBezTo>
                  <a:cubicBezTo>
                    <a:pt x="9" y="5"/>
                    <a:pt x="0" y="15"/>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1" name="Freeform 42">
              <a:extLst>
                <a:ext uri="{FF2B5EF4-FFF2-40B4-BE49-F238E27FC236}">
                  <a16:creationId xmlns:a16="http://schemas.microsoft.com/office/drawing/2014/main" id="{875D32DF-08D6-485E-A2DD-5321038716C0}"/>
                </a:ext>
              </a:extLst>
            </p:cNvPr>
            <p:cNvSpPr>
              <a:spLocks noEditPoints="1"/>
            </p:cNvSpPr>
            <p:nvPr userDrawn="1"/>
          </p:nvSpPr>
          <p:spPr bwMode="auto">
            <a:xfrm>
              <a:off x="4556" y="2684"/>
              <a:ext cx="1141" cy="1141"/>
            </a:xfrm>
            <a:custGeom>
              <a:avLst/>
              <a:gdLst>
                <a:gd name="T0" fmla="*/ 274 w 548"/>
                <a:gd name="T1" fmla="*/ 0 h 547"/>
                <a:gd name="T2" fmla="*/ 0 w 548"/>
                <a:gd name="T3" fmla="*/ 274 h 547"/>
                <a:gd name="T4" fmla="*/ 274 w 548"/>
                <a:gd name="T5" fmla="*/ 547 h 547"/>
                <a:gd name="T6" fmla="*/ 548 w 548"/>
                <a:gd name="T7" fmla="*/ 274 h 547"/>
                <a:gd name="T8" fmla="*/ 274 w 548"/>
                <a:gd name="T9" fmla="*/ 0 h 547"/>
                <a:gd name="T10" fmla="*/ 290 w 548"/>
                <a:gd name="T11" fmla="*/ 401 h 547"/>
                <a:gd name="T12" fmla="*/ 290 w 548"/>
                <a:gd name="T13" fmla="*/ 430 h 547"/>
                <a:gd name="T14" fmla="*/ 270 w 548"/>
                <a:gd name="T15" fmla="*/ 430 h 547"/>
                <a:gd name="T16" fmla="*/ 270 w 548"/>
                <a:gd name="T17" fmla="*/ 402 h 547"/>
                <a:gd name="T18" fmla="*/ 202 w 548"/>
                <a:gd name="T19" fmla="*/ 390 h 547"/>
                <a:gd name="T20" fmla="*/ 202 w 548"/>
                <a:gd name="T21" fmla="*/ 366 h 547"/>
                <a:gd name="T22" fmla="*/ 263 w 548"/>
                <a:gd name="T23" fmla="*/ 375 h 547"/>
                <a:gd name="T24" fmla="*/ 270 w 548"/>
                <a:gd name="T25" fmla="*/ 375 h 547"/>
                <a:gd name="T26" fmla="*/ 270 w 548"/>
                <a:gd name="T27" fmla="*/ 283 h 547"/>
                <a:gd name="T28" fmla="*/ 247 w 548"/>
                <a:gd name="T29" fmla="*/ 270 h 547"/>
                <a:gd name="T30" fmla="*/ 206 w 548"/>
                <a:gd name="T31" fmla="*/ 209 h 547"/>
                <a:gd name="T32" fmla="*/ 270 w 548"/>
                <a:gd name="T33" fmla="*/ 142 h 547"/>
                <a:gd name="T34" fmla="*/ 270 w 548"/>
                <a:gd name="T35" fmla="*/ 114 h 547"/>
                <a:gd name="T36" fmla="*/ 290 w 548"/>
                <a:gd name="T37" fmla="*/ 114 h 547"/>
                <a:gd name="T38" fmla="*/ 290 w 548"/>
                <a:gd name="T39" fmla="*/ 141 h 547"/>
                <a:gd name="T40" fmla="*/ 346 w 548"/>
                <a:gd name="T41" fmla="*/ 154 h 547"/>
                <a:gd name="T42" fmla="*/ 346 w 548"/>
                <a:gd name="T43" fmla="*/ 176 h 547"/>
                <a:gd name="T44" fmla="*/ 290 w 548"/>
                <a:gd name="T45" fmla="*/ 167 h 547"/>
                <a:gd name="T46" fmla="*/ 290 w 548"/>
                <a:gd name="T47" fmla="*/ 252 h 547"/>
                <a:gd name="T48" fmla="*/ 314 w 548"/>
                <a:gd name="T49" fmla="*/ 265 h 547"/>
                <a:gd name="T50" fmla="*/ 355 w 548"/>
                <a:gd name="T51" fmla="*/ 329 h 547"/>
                <a:gd name="T52" fmla="*/ 290 w 548"/>
                <a:gd name="T53" fmla="*/ 401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8" h="547">
                  <a:moveTo>
                    <a:pt x="274" y="0"/>
                  </a:moveTo>
                  <a:cubicBezTo>
                    <a:pt x="123" y="0"/>
                    <a:pt x="0" y="123"/>
                    <a:pt x="0" y="274"/>
                  </a:cubicBezTo>
                  <a:cubicBezTo>
                    <a:pt x="0" y="424"/>
                    <a:pt x="123" y="547"/>
                    <a:pt x="274" y="547"/>
                  </a:cubicBezTo>
                  <a:cubicBezTo>
                    <a:pt x="425" y="547"/>
                    <a:pt x="548" y="424"/>
                    <a:pt x="548" y="274"/>
                  </a:cubicBezTo>
                  <a:cubicBezTo>
                    <a:pt x="548" y="123"/>
                    <a:pt x="425" y="0"/>
                    <a:pt x="274" y="0"/>
                  </a:cubicBezTo>
                  <a:close/>
                  <a:moveTo>
                    <a:pt x="290" y="401"/>
                  </a:moveTo>
                  <a:cubicBezTo>
                    <a:pt x="290" y="430"/>
                    <a:pt x="290" y="430"/>
                    <a:pt x="290" y="430"/>
                  </a:cubicBezTo>
                  <a:cubicBezTo>
                    <a:pt x="270" y="430"/>
                    <a:pt x="270" y="430"/>
                    <a:pt x="270" y="430"/>
                  </a:cubicBezTo>
                  <a:cubicBezTo>
                    <a:pt x="270" y="402"/>
                    <a:pt x="270" y="402"/>
                    <a:pt x="270" y="402"/>
                  </a:cubicBezTo>
                  <a:cubicBezTo>
                    <a:pt x="252" y="402"/>
                    <a:pt x="231" y="398"/>
                    <a:pt x="202" y="390"/>
                  </a:cubicBezTo>
                  <a:cubicBezTo>
                    <a:pt x="202" y="366"/>
                    <a:pt x="202" y="366"/>
                    <a:pt x="202" y="366"/>
                  </a:cubicBezTo>
                  <a:cubicBezTo>
                    <a:pt x="232" y="373"/>
                    <a:pt x="246" y="375"/>
                    <a:pt x="263" y="375"/>
                  </a:cubicBezTo>
                  <a:cubicBezTo>
                    <a:pt x="270" y="375"/>
                    <a:pt x="270" y="375"/>
                    <a:pt x="270" y="375"/>
                  </a:cubicBezTo>
                  <a:cubicBezTo>
                    <a:pt x="270" y="283"/>
                    <a:pt x="270" y="283"/>
                    <a:pt x="270" y="283"/>
                  </a:cubicBezTo>
                  <a:cubicBezTo>
                    <a:pt x="247" y="270"/>
                    <a:pt x="247" y="270"/>
                    <a:pt x="247" y="270"/>
                  </a:cubicBezTo>
                  <a:cubicBezTo>
                    <a:pt x="219" y="254"/>
                    <a:pt x="206" y="235"/>
                    <a:pt x="206" y="209"/>
                  </a:cubicBezTo>
                  <a:cubicBezTo>
                    <a:pt x="206" y="171"/>
                    <a:pt x="229" y="147"/>
                    <a:pt x="270" y="142"/>
                  </a:cubicBezTo>
                  <a:cubicBezTo>
                    <a:pt x="270" y="114"/>
                    <a:pt x="270" y="114"/>
                    <a:pt x="270" y="114"/>
                  </a:cubicBezTo>
                  <a:cubicBezTo>
                    <a:pt x="290" y="114"/>
                    <a:pt x="290" y="114"/>
                    <a:pt x="290" y="114"/>
                  </a:cubicBezTo>
                  <a:cubicBezTo>
                    <a:pt x="290" y="141"/>
                    <a:pt x="290" y="141"/>
                    <a:pt x="290" y="141"/>
                  </a:cubicBezTo>
                  <a:cubicBezTo>
                    <a:pt x="304" y="142"/>
                    <a:pt x="323" y="146"/>
                    <a:pt x="346" y="154"/>
                  </a:cubicBezTo>
                  <a:cubicBezTo>
                    <a:pt x="346" y="176"/>
                    <a:pt x="346" y="176"/>
                    <a:pt x="346" y="176"/>
                  </a:cubicBezTo>
                  <a:cubicBezTo>
                    <a:pt x="324" y="170"/>
                    <a:pt x="309" y="167"/>
                    <a:pt x="290" y="167"/>
                  </a:cubicBezTo>
                  <a:cubicBezTo>
                    <a:pt x="290" y="252"/>
                    <a:pt x="290" y="252"/>
                    <a:pt x="290" y="252"/>
                  </a:cubicBezTo>
                  <a:cubicBezTo>
                    <a:pt x="314" y="265"/>
                    <a:pt x="314" y="265"/>
                    <a:pt x="314" y="265"/>
                  </a:cubicBezTo>
                  <a:cubicBezTo>
                    <a:pt x="343" y="281"/>
                    <a:pt x="355" y="300"/>
                    <a:pt x="355" y="329"/>
                  </a:cubicBezTo>
                  <a:cubicBezTo>
                    <a:pt x="355" y="368"/>
                    <a:pt x="331" y="394"/>
                    <a:pt x="290" y="4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2" name="Freeform 43">
              <a:extLst>
                <a:ext uri="{FF2B5EF4-FFF2-40B4-BE49-F238E27FC236}">
                  <a16:creationId xmlns:a16="http://schemas.microsoft.com/office/drawing/2014/main" id="{241CE805-5734-4406-BA08-E5795E8EF5B0}"/>
                </a:ext>
              </a:extLst>
            </p:cNvPr>
            <p:cNvSpPr>
              <a:spLocks/>
            </p:cNvSpPr>
            <p:nvPr userDrawn="1"/>
          </p:nvSpPr>
          <p:spPr bwMode="auto">
            <a:xfrm>
              <a:off x="4419" y="3583"/>
              <a:ext cx="1848" cy="574"/>
            </a:xfrm>
            <a:custGeom>
              <a:avLst/>
              <a:gdLst>
                <a:gd name="T0" fmla="*/ 864 w 888"/>
                <a:gd name="T1" fmla="*/ 0 h 275"/>
                <a:gd name="T2" fmla="*/ 861 w 888"/>
                <a:gd name="T3" fmla="*/ 0 h 275"/>
                <a:gd name="T4" fmla="*/ 752 w 888"/>
                <a:gd name="T5" fmla="*/ 0 h 275"/>
                <a:gd name="T6" fmla="*/ 728 w 888"/>
                <a:gd name="T7" fmla="*/ 24 h 275"/>
                <a:gd name="T8" fmla="*/ 752 w 888"/>
                <a:gd name="T9" fmla="*/ 48 h 275"/>
                <a:gd name="T10" fmla="*/ 807 w 888"/>
                <a:gd name="T11" fmla="*/ 48 h 275"/>
                <a:gd name="T12" fmla="*/ 330 w 888"/>
                <a:gd name="T13" fmla="*/ 227 h 275"/>
                <a:gd name="T14" fmla="*/ 326 w 888"/>
                <a:gd name="T15" fmla="*/ 227 h 275"/>
                <a:gd name="T16" fmla="*/ 33 w 888"/>
                <a:gd name="T17" fmla="*/ 181 h 275"/>
                <a:gd name="T18" fmla="*/ 2 w 888"/>
                <a:gd name="T19" fmla="*/ 196 h 275"/>
                <a:gd name="T20" fmla="*/ 3 w 888"/>
                <a:gd name="T21" fmla="*/ 214 h 275"/>
                <a:gd name="T22" fmla="*/ 17 w 888"/>
                <a:gd name="T23" fmla="*/ 226 h 275"/>
                <a:gd name="T24" fmla="*/ 325 w 888"/>
                <a:gd name="T25" fmla="*/ 275 h 275"/>
                <a:gd name="T26" fmla="*/ 330 w 888"/>
                <a:gd name="T27" fmla="*/ 275 h 275"/>
                <a:gd name="T28" fmla="*/ 607 w 888"/>
                <a:gd name="T29" fmla="*/ 229 h 275"/>
                <a:gd name="T30" fmla="*/ 840 w 888"/>
                <a:gd name="T31" fmla="*/ 83 h 275"/>
                <a:gd name="T32" fmla="*/ 840 w 888"/>
                <a:gd name="T33" fmla="*/ 136 h 275"/>
                <a:gd name="T34" fmla="*/ 864 w 888"/>
                <a:gd name="T35" fmla="*/ 160 h 275"/>
                <a:gd name="T36" fmla="*/ 888 w 888"/>
                <a:gd name="T37" fmla="*/ 136 h 275"/>
                <a:gd name="T38" fmla="*/ 888 w 888"/>
                <a:gd name="T39" fmla="*/ 24 h 275"/>
                <a:gd name="T40" fmla="*/ 864 w 888"/>
                <a:gd name="T41"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88" h="275">
                  <a:moveTo>
                    <a:pt x="864" y="0"/>
                  </a:moveTo>
                  <a:cubicBezTo>
                    <a:pt x="863" y="0"/>
                    <a:pt x="862" y="0"/>
                    <a:pt x="861" y="0"/>
                  </a:cubicBezTo>
                  <a:cubicBezTo>
                    <a:pt x="752" y="0"/>
                    <a:pt x="752" y="0"/>
                    <a:pt x="752" y="0"/>
                  </a:cubicBezTo>
                  <a:cubicBezTo>
                    <a:pt x="738" y="0"/>
                    <a:pt x="728" y="11"/>
                    <a:pt x="728" y="24"/>
                  </a:cubicBezTo>
                  <a:cubicBezTo>
                    <a:pt x="728" y="37"/>
                    <a:pt x="738" y="48"/>
                    <a:pt x="752" y="48"/>
                  </a:cubicBezTo>
                  <a:cubicBezTo>
                    <a:pt x="807" y="48"/>
                    <a:pt x="807" y="48"/>
                    <a:pt x="807" y="48"/>
                  </a:cubicBezTo>
                  <a:cubicBezTo>
                    <a:pt x="655" y="195"/>
                    <a:pt x="465" y="227"/>
                    <a:pt x="330" y="227"/>
                  </a:cubicBezTo>
                  <a:cubicBezTo>
                    <a:pt x="326" y="227"/>
                    <a:pt x="326" y="227"/>
                    <a:pt x="326" y="227"/>
                  </a:cubicBezTo>
                  <a:cubicBezTo>
                    <a:pt x="162" y="226"/>
                    <a:pt x="34" y="181"/>
                    <a:pt x="33" y="181"/>
                  </a:cubicBezTo>
                  <a:cubicBezTo>
                    <a:pt x="20" y="177"/>
                    <a:pt x="6" y="183"/>
                    <a:pt x="2" y="196"/>
                  </a:cubicBezTo>
                  <a:cubicBezTo>
                    <a:pt x="0" y="202"/>
                    <a:pt x="0" y="208"/>
                    <a:pt x="3" y="214"/>
                  </a:cubicBezTo>
                  <a:cubicBezTo>
                    <a:pt x="6" y="220"/>
                    <a:pt x="10" y="224"/>
                    <a:pt x="17" y="226"/>
                  </a:cubicBezTo>
                  <a:cubicBezTo>
                    <a:pt x="18" y="227"/>
                    <a:pt x="153" y="274"/>
                    <a:pt x="325" y="275"/>
                  </a:cubicBezTo>
                  <a:cubicBezTo>
                    <a:pt x="330" y="275"/>
                    <a:pt x="330" y="275"/>
                    <a:pt x="330" y="275"/>
                  </a:cubicBezTo>
                  <a:cubicBezTo>
                    <a:pt x="430" y="275"/>
                    <a:pt x="523" y="260"/>
                    <a:pt x="607" y="229"/>
                  </a:cubicBezTo>
                  <a:cubicBezTo>
                    <a:pt x="695" y="197"/>
                    <a:pt x="773" y="148"/>
                    <a:pt x="840" y="83"/>
                  </a:cubicBezTo>
                  <a:cubicBezTo>
                    <a:pt x="840" y="136"/>
                    <a:pt x="840" y="136"/>
                    <a:pt x="840" y="136"/>
                  </a:cubicBezTo>
                  <a:cubicBezTo>
                    <a:pt x="840" y="149"/>
                    <a:pt x="850" y="160"/>
                    <a:pt x="864" y="160"/>
                  </a:cubicBezTo>
                  <a:cubicBezTo>
                    <a:pt x="877" y="160"/>
                    <a:pt x="888" y="149"/>
                    <a:pt x="888" y="136"/>
                  </a:cubicBezTo>
                  <a:cubicBezTo>
                    <a:pt x="888" y="24"/>
                    <a:pt x="888" y="24"/>
                    <a:pt x="888" y="24"/>
                  </a:cubicBezTo>
                  <a:cubicBezTo>
                    <a:pt x="888" y="11"/>
                    <a:pt x="877" y="1"/>
                    <a:pt x="8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3" name="Freeform 44">
              <a:extLst>
                <a:ext uri="{FF2B5EF4-FFF2-40B4-BE49-F238E27FC236}">
                  <a16:creationId xmlns:a16="http://schemas.microsoft.com/office/drawing/2014/main" id="{BAB3C28F-F8EE-48D0-AA81-E220C94548B5}"/>
                </a:ext>
              </a:extLst>
            </p:cNvPr>
            <p:cNvSpPr>
              <a:spLocks/>
            </p:cNvSpPr>
            <p:nvPr userDrawn="1"/>
          </p:nvSpPr>
          <p:spPr bwMode="auto">
            <a:xfrm>
              <a:off x="4419" y="4121"/>
              <a:ext cx="1627" cy="378"/>
            </a:xfrm>
            <a:custGeom>
              <a:avLst/>
              <a:gdLst>
                <a:gd name="T0" fmla="*/ 758 w 782"/>
                <a:gd name="T1" fmla="*/ 0 h 181"/>
                <a:gd name="T2" fmla="*/ 646 w 782"/>
                <a:gd name="T3" fmla="*/ 0 h 181"/>
                <a:gd name="T4" fmla="*/ 622 w 782"/>
                <a:gd name="T5" fmla="*/ 24 h 181"/>
                <a:gd name="T6" fmla="*/ 646 w 782"/>
                <a:gd name="T7" fmla="*/ 48 h 181"/>
                <a:gd name="T8" fmla="*/ 682 w 782"/>
                <a:gd name="T9" fmla="*/ 48 h 181"/>
                <a:gd name="T10" fmla="*/ 274 w 782"/>
                <a:gd name="T11" fmla="*/ 132 h 181"/>
                <a:gd name="T12" fmla="*/ 33 w 782"/>
                <a:gd name="T13" fmla="*/ 87 h 181"/>
                <a:gd name="T14" fmla="*/ 2 w 782"/>
                <a:gd name="T15" fmla="*/ 102 h 181"/>
                <a:gd name="T16" fmla="*/ 3 w 782"/>
                <a:gd name="T17" fmla="*/ 120 h 181"/>
                <a:gd name="T18" fmla="*/ 17 w 782"/>
                <a:gd name="T19" fmla="*/ 133 h 181"/>
                <a:gd name="T20" fmla="*/ 271 w 782"/>
                <a:gd name="T21" fmla="*/ 180 h 181"/>
                <a:gd name="T22" fmla="*/ 328 w 782"/>
                <a:gd name="T23" fmla="*/ 181 h 181"/>
                <a:gd name="T24" fmla="*/ 734 w 782"/>
                <a:gd name="T25" fmla="*/ 73 h 181"/>
                <a:gd name="T26" fmla="*/ 734 w 782"/>
                <a:gd name="T27" fmla="*/ 136 h 181"/>
                <a:gd name="T28" fmla="*/ 758 w 782"/>
                <a:gd name="T29" fmla="*/ 160 h 181"/>
                <a:gd name="T30" fmla="*/ 782 w 782"/>
                <a:gd name="T31" fmla="*/ 136 h 181"/>
                <a:gd name="T32" fmla="*/ 782 w 782"/>
                <a:gd name="T33" fmla="*/ 24 h 181"/>
                <a:gd name="T34" fmla="*/ 758 w 782"/>
                <a:gd name="T35"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2" h="181">
                  <a:moveTo>
                    <a:pt x="758" y="0"/>
                  </a:moveTo>
                  <a:cubicBezTo>
                    <a:pt x="646" y="0"/>
                    <a:pt x="646" y="0"/>
                    <a:pt x="646" y="0"/>
                  </a:cubicBezTo>
                  <a:cubicBezTo>
                    <a:pt x="633" y="0"/>
                    <a:pt x="622" y="11"/>
                    <a:pt x="622" y="24"/>
                  </a:cubicBezTo>
                  <a:cubicBezTo>
                    <a:pt x="622" y="37"/>
                    <a:pt x="633" y="48"/>
                    <a:pt x="646" y="48"/>
                  </a:cubicBezTo>
                  <a:cubicBezTo>
                    <a:pt x="682" y="48"/>
                    <a:pt x="682" y="48"/>
                    <a:pt x="682" y="48"/>
                  </a:cubicBezTo>
                  <a:cubicBezTo>
                    <a:pt x="539" y="128"/>
                    <a:pt x="383" y="138"/>
                    <a:pt x="274" y="132"/>
                  </a:cubicBezTo>
                  <a:cubicBezTo>
                    <a:pt x="136" y="124"/>
                    <a:pt x="34" y="88"/>
                    <a:pt x="33" y="87"/>
                  </a:cubicBezTo>
                  <a:cubicBezTo>
                    <a:pt x="20" y="83"/>
                    <a:pt x="6" y="89"/>
                    <a:pt x="2" y="102"/>
                  </a:cubicBezTo>
                  <a:cubicBezTo>
                    <a:pt x="0" y="108"/>
                    <a:pt x="0" y="114"/>
                    <a:pt x="3" y="120"/>
                  </a:cubicBezTo>
                  <a:cubicBezTo>
                    <a:pt x="6" y="126"/>
                    <a:pt x="10" y="130"/>
                    <a:pt x="17" y="133"/>
                  </a:cubicBezTo>
                  <a:cubicBezTo>
                    <a:pt x="18" y="133"/>
                    <a:pt x="125" y="171"/>
                    <a:pt x="271" y="180"/>
                  </a:cubicBezTo>
                  <a:cubicBezTo>
                    <a:pt x="290" y="181"/>
                    <a:pt x="309" y="181"/>
                    <a:pt x="328" y="181"/>
                  </a:cubicBezTo>
                  <a:cubicBezTo>
                    <a:pt x="436" y="181"/>
                    <a:pt x="592" y="162"/>
                    <a:pt x="734" y="73"/>
                  </a:cubicBezTo>
                  <a:cubicBezTo>
                    <a:pt x="734" y="136"/>
                    <a:pt x="734" y="136"/>
                    <a:pt x="734" y="136"/>
                  </a:cubicBezTo>
                  <a:cubicBezTo>
                    <a:pt x="734" y="149"/>
                    <a:pt x="745" y="160"/>
                    <a:pt x="758" y="160"/>
                  </a:cubicBezTo>
                  <a:cubicBezTo>
                    <a:pt x="771" y="160"/>
                    <a:pt x="782" y="149"/>
                    <a:pt x="782" y="136"/>
                  </a:cubicBezTo>
                  <a:cubicBezTo>
                    <a:pt x="782" y="24"/>
                    <a:pt x="782" y="24"/>
                    <a:pt x="782" y="24"/>
                  </a:cubicBezTo>
                  <a:cubicBezTo>
                    <a:pt x="782" y="11"/>
                    <a:pt x="771" y="0"/>
                    <a:pt x="7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74" name="Freeform 48">
            <a:extLst>
              <a:ext uri="{FF2B5EF4-FFF2-40B4-BE49-F238E27FC236}">
                <a16:creationId xmlns:a16="http://schemas.microsoft.com/office/drawing/2014/main" id="{B6878098-096A-4DE8-96F0-AB6DC25F70A2}"/>
              </a:ext>
            </a:extLst>
          </p:cNvPr>
          <p:cNvSpPr>
            <a:spLocks/>
          </p:cNvSpPr>
          <p:nvPr userDrawn="1"/>
        </p:nvSpPr>
        <p:spPr bwMode="auto">
          <a:xfrm>
            <a:off x="5028255" y="2648431"/>
            <a:ext cx="255071" cy="252091"/>
          </a:xfrm>
          <a:custGeom>
            <a:avLst/>
            <a:gdLst>
              <a:gd name="T0" fmla="*/ 822 w 822"/>
              <a:gd name="T1" fmla="*/ 223 h 811"/>
              <a:gd name="T2" fmla="*/ 809 w 822"/>
              <a:gd name="T3" fmla="*/ 193 h 811"/>
              <a:gd name="T4" fmla="*/ 749 w 822"/>
              <a:gd name="T5" fmla="*/ 192 h 811"/>
              <a:gd name="T6" fmla="*/ 571 w 822"/>
              <a:gd name="T7" fmla="*/ 370 h 811"/>
              <a:gd name="T8" fmla="*/ 452 w 822"/>
              <a:gd name="T9" fmla="*/ 251 h 811"/>
              <a:gd name="T10" fmla="*/ 629 w 822"/>
              <a:gd name="T11" fmla="*/ 73 h 811"/>
              <a:gd name="T12" fmla="*/ 642 w 822"/>
              <a:gd name="T13" fmla="*/ 43 h 811"/>
              <a:gd name="T14" fmla="*/ 629 w 822"/>
              <a:gd name="T15" fmla="*/ 13 h 811"/>
              <a:gd name="T16" fmla="*/ 599 w 822"/>
              <a:gd name="T17" fmla="*/ 0 h 811"/>
              <a:gd name="T18" fmla="*/ 599 w 822"/>
              <a:gd name="T19" fmla="*/ 0 h 811"/>
              <a:gd name="T20" fmla="*/ 569 w 822"/>
              <a:gd name="T21" fmla="*/ 12 h 811"/>
              <a:gd name="T22" fmla="*/ 391 w 822"/>
              <a:gd name="T23" fmla="*/ 190 h 811"/>
              <a:gd name="T24" fmla="*/ 319 w 822"/>
              <a:gd name="T25" fmla="*/ 119 h 811"/>
              <a:gd name="T26" fmla="*/ 286 w 822"/>
              <a:gd name="T27" fmla="*/ 119 h 811"/>
              <a:gd name="T28" fmla="*/ 217 w 822"/>
              <a:gd name="T29" fmla="*/ 188 h 811"/>
              <a:gd name="T30" fmla="*/ 211 w 822"/>
              <a:gd name="T31" fmla="*/ 204 h 811"/>
              <a:gd name="T32" fmla="*/ 217 w 822"/>
              <a:gd name="T33" fmla="*/ 221 h 811"/>
              <a:gd name="T34" fmla="*/ 236 w 822"/>
              <a:gd name="T35" fmla="*/ 239 h 811"/>
              <a:gd name="T36" fmla="*/ 132 w 822"/>
              <a:gd name="T37" fmla="*/ 344 h 811"/>
              <a:gd name="T38" fmla="*/ 74 w 822"/>
              <a:gd name="T39" fmla="*/ 483 h 811"/>
              <a:gd name="T40" fmla="*/ 113 w 822"/>
              <a:gd name="T41" fmla="*/ 602 h 811"/>
              <a:gd name="T42" fmla="*/ 0 w 822"/>
              <a:gd name="T43" fmla="*/ 713 h 811"/>
              <a:gd name="T44" fmla="*/ 0 w 822"/>
              <a:gd name="T45" fmla="*/ 713 h 811"/>
              <a:gd name="T46" fmla="*/ 0 w 822"/>
              <a:gd name="T47" fmla="*/ 713 h 811"/>
              <a:gd name="T48" fmla="*/ 98 w 822"/>
              <a:gd name="T49" fmla="*/ 811 h 811"/>
              <a:gd name="T50" fmla="*/ 99 w 822"/>
              <a:gd name="T51" fmla="*/ 810 h 811"/>
              <a:gd name="T52" fmla="*/ 211 w 822"/>
              <a:gd name="T53" fmla="*/ 701 h 811"/>
              <a:gd name="T54" fmla="*/ 213 w 822"/>
              <a:gd name="T55" fmla="*/ 704 h 811"/>
              <a:gd name="T56" fmla="*/ 339 w 822"/>
              <a:gd name="T57" fmla="*/ 748 h 811"/>
              <a:gd name="T58" fmla="*/ 479 w 822"/>
              <a:gd name="T59" fmla="*/ 690 h 811"/>
              <a:gd name="T60" fmla="*/ 583 w 822"/>
              <a:gd name="T61" fmla="*/ 586 h 811"/>
              <a:gd name="T62" fmla="*/ 601 w 822"/>
              <a:gd name="T63" fmla="*/ 605 h 811"/>
              <a:gd name="T64" fmla="*/ 634 w 822"/>
              <a:gd name="T65" fmla="*/ 605 h 811"/>
              <a:gd name="T66" fmla="*/ 705 w 822"/>
              <a:gd name="T67" fmla="*/ 536 h 811"/>
              <a:gd name="T68" fmla="*/ 712 w 822"/>
              <a:gd name="T69" fmla="*/ 519 h 811"/>
              <a:gd name="T70" fmla="*/ 705 w 822"/>
              <a:gd name="T71" fmla="*/ 503 h 811"/>
              <a:gd name="T72" fmla="*/ 632 w 822"/>
              <a:gd name="T73" fmla="*/ 430 h 811"/>
              <a:gd name="T74" fmla="*/ 809 w 822"/>
              <a:gd name="T75" fmla="*/ 253 h 811"/>
              <a:gd name="T76" fmla="*/ 822 w 822"/>
              <a:gd name="T77" fmla="*/ 223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22" h="811">
                <a:moveTo>
                  <a:pt x="822" y="223"/>
                </a:moveTo>
                <a:cubicBezTo>
                  <a:pt x="822" y="211"/>
                  <a:pt x="817" y="201"/>
                  <a:pt x="809" y="193"/>
                </a:cubicBezTo>
                <a:cubicBezTo>
                  <a:pt x="793" y="176"/>
                  <a:pt x="765" y="176"/>
                  <a:pt x="749" y="192"/>
                </a:cubicBezTo>
                <a:cubicBezTo>
                  <a:pt x="571" y="370"/>
                  <a:pt x="571" y="370"/>
                  <a:pt x="571" y="370"/>
                </a:cubicBezTo>
                <a:cubicBezTo>
                  <a:pt x="452" y="251"/>
                  <a:pt x="452" y="251"/>
                  <a:pt x="452" y="251"/>
                </a:cubicBezTo>
                <a:cubicBezTo>
                  <a:pt x="629" y="73"/>
                  <a:pt x="629" y="73"/>
                  <a:pt x="629" y="73"/>
                </a:cubicBezTo>
                <a:cubicBezTo>
                  <a:pt x="638" y="65"/>
                  <a:pt x="642" y="54"/>
                  <a:pt x="642" y="43"/>
                </a:cubicBezTo>
                <a:cubicBezTo>
                  <a:pt x="642" y="31"/>
                  <a:pt x="638" y="21"/>
                  <a:pt x="629" y="13"/>
                </a:cubicBezTo>
                <a:cubicBezTo>
                  <a:pt x="621" y="5"/>
                  <a:pt x="611" y="0"/>
                  <a:pt x="599" y="0"/>
                </a:cubicBezTo>
                <a:cubicBezTo>
                  <a:pt x="599" y="0"/>
                  <a:pt x="599" y="0"/>
                  <a:pt x="599" y="0"/>
                </a:cubicBezTo>
                <a:cubicBezTo>
                  <a:pt x="588" y="0"/>
                  <a:pt x="577" y="5"/>
                  <a:pt x="569" y="12"/>
                </a:cubicBezTo>
                <a:cubicBezTo>
                  <a:pt x="391" y="190"/>
                  <a:pt x="391" y="190"/>
                  <a:pt x="391" y="190"/>
                </a:cubicBezTo>
                <a:cubicBezTo>
                  <a:pt x="319" y="119"/>
                  <a:pt x="319" y="119"/>
                  <a:pt x="319" y="119"/>
                </a:cubicBezTo>
                <a:cubicBezTo>
                  <a:pt x="310" y="110"/>
                  <a:pt x="295" y="110"/>
                  <a:pt x="286" y="119"/>
                </a:cubicBezTo>
                <a:cubicBezTo>
                  <a:pt x="217" y="188"/>
                  <a:pt x="217" y="188"/>
                  <a:pt x="217" y="188"/>
                </a:cubicBezTo>
                <a:cubicBezTo>
                  <a:pt x="213" y="192"/>
                  <a:pt x="211" y="198"/>
                  <a:pt x="211" y="204"/>
                </a:cubicBezTo>
                <a:cubicBezTo>
                  <a:pt x="211" y="211"/>
                  <a:pt x="213" y="217"/>
                  <a:pt x="217" y="221"/>
                </a:cubicBezTo>
                <a:cubicBezTo>
                  <a:pt x="236" y="239"/>
                  <a:pt x="236" y="239"/>
                  <a:pt x="236" y="239"/>
                </a:cubicBezTo>
                <a:cubicBezTo>
                  <a:pt x="132" y="344"/>
                  <a:pt x="132" y="344"/>
                  <a:pt x="132" y="344"/>
                </a:cubicBezTo>
                <a:cubicBezTo>
                  <a:pt x="94" y="381"/>
                  <a:pt x="74" y="431"/>
                  <a:pt x="74" y="483"/>
                </a:cubicBezTo>
                <a:cubicBezTo>
                  <a:pt x="74" y="527"/>
                  <a:pt x="87" y="568"/>
                  <a:pt x="113" y="602"/>
                </a:cubicBezTo>
                <a:cubicBezTo>
                  <a:pt x="0" y="713"/>
                  <a:pt x="0" y="713"/>
                  <a:pt x="0" y="713"/>
                </a:cubicBezTo>
                <a:cubicBezTo>
                  <a:pt x="0" y="713"/>
                  <a:pt x="0" y="713"/>
                  <a:pt x="0" y="713"/>
                </a:cubicBezTo>
                <a:cubicBezTo>
                  <a:pt x="0" y="713"/>
                  <a:pt x="0" y="713"/>
                  <a:pt x="0" y="713"/>
                </a:cubicBezTo>
                <a:cubicBezTo>
                  <a:pt x="98" y="811"/>
                  <a:pt x="98" y="811"/>
                  <a:pt x="98" y="811"/>
                </a:cubicBezTo>
                <a:cubicBezTo>
                  <a:pt x="99" y="810"/>
                  <a:pt x="99" y="810"/>
                  <a:pt x="99" y="810"/>
                </a:cubicBezTo>
                <a:cubicBezTo>
                  <a:pt x="211" y="701"/>
                  <a:pt x="211" y="701"/>
                  <a:pt x="211" y="701"/>
                </a:cubicBezTo>
                <a:cubicBezTo>
                  <a:pt x="212" y="702"/>
                  <a:pt x="212" y="703"/>
                  <a:pt x="213" y="704"/>
                </a:cubicBezTo>
                <a:cubicBezTo>
                  <a:pt x="249" y="733"/>
                  <a:pt x="293" y="748"/>
                  <a:pt x="339" y="748"/>
                </a:cubicBezTo>
                <a:cubicBezTo>
                  <a:pt x="391" y="748"/>
                  <a:pt x="441" y="728"/>
                  <a:pt x="479" y="690"/>
                </a:cubicBezTo>
                <a:cubicBezTo>
                  <a:pt x="583" y="586"/>
                  <a:pt x="583" y="586"/>
                  <a:pt x="583" y="586"/>
                </a:cubicBezTo>
                <a:cubicBezTo>
                  <a:pt x="601" y="605"/>
                  <a:pt x="601" y="605"/>
                  <a:pt x="601" y="605"/>
                </a:cubicBezTo>
                <a:cubicBezTo>
                  <a:pt x="610" y="614"/>
                  <a:pt x="625" y="614"/>
                  <a:pt x="634" y="605"/>
                </a:cubicBezTo>
                <a:cubicBezTo>
                  <a:pt x="705" y="536"/>
                  <a:pt x="705" y="536"/>
                  <a:pt x="705" y="536"/>
                </a:cubicBezTo>
                <a:cubicBezTo>
                  <a:pt x="709" y="532"/>
                  <a:pt x="712" y="526"/>
                  <a:pt x="712" y="519"/>
                </a:cubicBezTo>
                <a:cubicBezTo>
                  <a:pt x="712" y="513"/>
                  <a:pt x="709" y="507"/>
                  <a:pt x="705" y="503"/>
                </a:cubicBezTo>
                <a:cubicBezTo>
                  <a:pt x="632" y="430"/>
                  <a:pt x="632" y="430"/>
                  <a:pt x="632" y="430"/>
                </a:cubicBezTo>
                <a:cubicBezTo>
                  <a:pt x="809" y="253"/>
                  <a:pt x="809" y="253"/>
                  <a:pt x="809" y="253"/>
                </a:cubicBezTo>
                <a:cubicBezTo>
                  <a:pt x="817" y="245"/>
                  <a:pt x="822" y="234"/>
                  <a:pt x="822" y="22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77" name="Group 51">
            <a:extLst>
              <a:ext uri="{FF2B5EF4-FFF2-40B4-BE49-F238E27FC236}">
                <a16:creationId xmlns:a16="http://schemas.microsoft.com/office/drawing/2014/main" id="{251CB61C-41B4-42B3-9BAA-1F8F77CFB5C6}"/>
              </a:ext>
            </a:extLst>
          </p:cNvPr>
          <p:cNvGrpSpPr>
            <a:grpSpLocks noChangeAspect="1"/>
          </p:cNvGrpSpPr>
          <p:nvPr userDrawn="1"/>
        </p:nvGrpSpPr>
        <p:grpSpPr bwMode="auto">
          <a:xfrm>
            <a:off x="5071509" y="5009538"/>
            <a:ext cx="168562" cy="281311"/>
            <a:chOff x="4157" y="1839"/>
            <a:chExt cx="900" cy="1502"/>
          </a:xfrm>
          <a:solidFill>
            <a:schemeClr val="tx1"/>
          </a:solidFill>
        </p:grpSpPr>
        <p:sp>
          <p:nvSpPr>
            <p:cNvPr id="479" name="Freeform 52">
              <a:extLst>
                <a:ext uri="{FF2B5EF4-FFF2-40B4-BE49-F238E27FC236}">
                  <a16:creationId xmlns:a16="http://schemas.microsoft.com/office/drawing/2014/main" id="{9A631048-AA37-4EA3-9FDD-F355E9B71965}"/>
                </a:ext>
              </a:extLst>
            </p:cNvPr>
            <p:cNvSpPr>
              <a:spLocks noEditPoints="1"/>
            </p:cNvSpPr>
            <p:nvPr userDrawn="1"/>
          </p:nvSpPr>
          <p:spPr bwMode="auto">
            <a:xfrm>
              <a:off x="4157" y="1839"/>
              <a:ext cx="900" cy="1160"/>
            </a:xfrm>
            <a:custGeom>
              <a:avLst/>
              <a:gdLst>
                <a:gd name="T0" fmla="*/ 388 w 431"/>
                <a:gd name="T1" fmla="*/ 0 h 556"/>
                <a:gd name="T2" fmla="*/ 43 w 431"/>
                <a:gd name="T3" fmla="*/ 0 h 556"/>
                <a:gd name="T4" fmla="*/ 0 w 431"/>
                <a:gd name="T5" fmla="*/ 43 h 556"/>
                <a:gd name="T6" fmla="*/ 0 w 431"/>
                <a:gd name="T7" fmla="*/ 556 h 556"/>
                <a:gd name="T8" fmla="*/ 431 w 431"/>
                <a:gd name="T9" fmla="*/ 556 h 556"/>
                <a:gd name="T10" fmla="*/ 431 w 431"/>
                <a:gd name="T11" fmla="*/ 43 h 556"/>
                <a:gd name="T12" fmla="*/ 388 w 431"/>
                <a:gd name="T13" fmla="*/ 0 h 556"/>
                <a:gd name="T14" fmla="*/ 135 w 431"/>
                <a:gd name="T15" fmla="*/ 54 h 556"/>
                <a:gd name="T16" fmla="*/ 281 w 431"/>
                <a:gd name="T17" fmla="*/ 54 h 556"/>
                <a:gd name="T18" fmla="*/ 293 w 431"/>
                <a:gd name="T19" fmla="*/ 66 h 556"/>
                <a:gd name="T20" fmla="*/ 281 w 431"/>
                <a:gd name="T21" fmla="*/ 78 h 556"/>
                <a:gd name="T22" fmla="*/ 135 w 431"/>
                <a:gd name="T23" fmla="*/ 78 h 556"/>
                <a:gd name="T24" fmla="*/ 123 w 431"/>
                <a:gd name="T25" fmla="*/ 66 h 556"/>
                <a:gd name="T26" fmla="*/ 135 w 431"/>
                <a:gd name="T27" fmla="*/ 54 h 556"/>
                <a:gd name="T28" fmla="*/ 273 w 431"/>
                <a:gd name="T29" fmla="*/ 293 h 556"/>
                <a:gd name="T30" fmla="*/ 273 w 431"/>
                <a:gd name="T31" fmla="*/ 293 h 556"/>
                <a:gd name="T32" fmla="*/ 241 w 431"/>
                <a:gd name="T33" fmla="*/ 356 h 556"/>
                <a:gd name="T34" fmla="*/ 250 w 431"/>
                <a:gd name="T35" fmla="*/ 380 h 556"/>
                <a:gd name="T36" fmla="*/ 214 w 431"/>
                <a:gd name="T37" fmla="*/ 416 h 556"/>
                <a:gd name="T38" fmla="*/ 178 w 431"/>
                <a:gd name="T39" fmla="*/ 380 h 556"/>
                <a:gd name="T40" fmla="*/ 214 w 431"/>
                <a:gd name="T41" fmla="*/ 344 h 556"/>
                <a:gd name="T42" fmla="*/ 221 w 431"/>
                <a:gd name="T43" fmla="*/ 344 h 556"/>
                <a:gd name="T44" fmla="*/ 252 w 431"/>
                <a:gd name="T45" fmla="*/ 282 h 556"/>
                <a:gd name="T46" fmla="*/ 268 w 431"/>
                <a:gd name="T47" fmla="*/ 277 h 556"/>
                <a:gd name="T48" fmla="*/ 273 w 431"/>
                <a:gd name="T49" fmla="*/ 293 h 556"/>
                <a:gd name="T50" fmla="*/ 367 w 431"/>
                <a:gd name="T51" fmla="*/ 382 h 556"/>
                <a:gd name="T52" fmla="*/ 355 w 431"/>
                <a:gd name="T53" fmla="*/ 370 h 556"/>
                <a:gd name="T54" fmla="*/ 221 w 431"/>
                <a:gd name="T55" fmla="*/ 235 h 556"/>
                <a:gd name="T56" fmla="*/ 87 w 431"/>
                <a:gd name="T57" fmla="*/ 370 h 556"/>
                <a:gd name="T58" fmla="*/ 75 w 431"/>
                <a:gd name="T59" fmla="*/ 382 h 556"/>
                <a:gd name="T60" fmla="*/ 63 w 431"/>
                <a:gd name="T61" fmla="*/ 370 h 556"/>
                <a:gd name="T62" fmla="*/ 221 w 431"/>
                <a:gd name="T63" fmla="*/ 212 h 556"/>
                <a:gd name="T64" fmla="*/ 379 w 431"/>
                <a:gd name="T65" fmla="*/ 370 h 556"/>
                <a:gd name="T66" fmla="*/ 367 w 431"/>
                <a:gd name="T67" fmla="*/ 382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1" h="556">
                  <a:moveTo>
                    <a:pt x="388" y="0"/>
                  </a:moveTo>
                  <a:cubicBezTo>
                    <a:pt x="43" y="0"/>
                    <a:pt x="43" y="0"/>
                    <a:pt x="43" y="0"/>
                  </a:cubicBezTo>
                  <a:cubicBezTo>
                    <a:pt x="19" y="0"/>
                    <a:pt x="0" y="19"/>
                    <a:pt x="0" y="43"/>
                  </a:cubicBezTo>
                  <a:cubicBezTo>
                    <a:pt x="0" y="556"/>
                    <a:pt x="0" y="556"/>
                    <a:pt x="0" y="556"/>
                  </a:cubicBezTo>
                  <a:cubicBezTo>
                    <a:pt x="431" y="556"/>
                    <a:pt x="431" y="556"/>
                    <a:pt x="431" y="556"/>
                  </a:cubicBezTo>
                  <a:cubicBezTo>
                    <a:pt x="431" y="43"/>
                    <a:pt x="431" y="43"/>
                    <a:pt x="431" y="43"/>
                  </a:cubicBezTo>
                  <a:cubicBezTo>
                    <a:pt x="431" y="19"/>
                    <a:pt x="412" y="0"/>
                    <a:pt x="388" y="0"/>
                  </a:cubicBezTo>
                  <a:close/>
                  <a:moveTo>
                    <a:pt x="135" y="54"/>
                  </a:moveTo>
                  <a:cubicBezTo>
                    <a:pt x="281" y="54"/>
                    <a:pt x="281" y="54"/>
                    <a:pt x="281" y="54"/>
                  </a:cubicBezTo>
                  <a:cubicBezTo>
                    <a:pt x="288" y="54"/>
                    <a:pt x="293" y="59"/>
                    <a:pt x="293" y="66"/>
                  </a:cubicBezTo>
                  <a:cubicBezTo>
                    <a:pt x="293" y="72"/>
                    <a:pt x="288" y="78"/>
                    <a:pt x="281" y="78"/>
                  </a:cubicBezTo>
                  <a:cubicBezTo>
                    <a:pt x="135" y="78"/>
                    <a:pt x="135" y="78"/>
                    <a:pt x="135" y="78"/>
                  </a:cubicBezTo>
                  <a:cubicBezTo>
                    <a:pt x="129" y="78"/>
                    <a:pt x="123" y="72"/>
                    <a:pt x="123" y="66"/>
                  </a:cubicBezTo>
                  <a:cubicBezTo>
                    <a:pt x="123" y="59"/>
                    <a:pt x="129" y="54"/>
                    <a:pt x="135" y="54"/>
                  </a:cubicBezTo>
                  <a:close/>
                  <a:moveTo>
                    <a:pt x="273" y="293"/>
                  </a:moveTo>
                  <a:cubicBezTo>
                    <a:pt x="273" y="293"/>
                    <a:pt x="273" y="293"/>
                    <a:pt x="273" y="293"/>
                  </a:cubicBezTo>
                  <a:cubicBezTo>
                    <a:pt x="241" y="356"/>
                    <a:pt x="241" y="356"/>
                    <a:pt x="241" y="356"/>
                  </a:cubicBezTo>
                  <a:cubicBezTo>
                    <a:pt x="247" y="363"/>
                    <a:pt x="250" y="371"/>
                    <a:pt x="250" y="380"/>
                  </a:cubicBezTo>
                  <a:cubicBezTo>
                    <a:pt x="250" y="400"/>
                    <a:pt x="234" y="416"/>
                    <a:pt x="214" y="416"/>
                  </a:cubicBezTo>
                  <a:cubicBezTo>
                    <a:pt x="194" y="416"/>
                    <a:pt x="178" y="400"/>
                    <a:pt x="178" y="380"/>
                  </a:cubicBezTo>
                  <a:cubicBezTo>
                    <a:pt x="178" y="360"/>
                    <a:pt x="194" y="344"/>
                    <a:pt x="214" y="344"/>
                  </a:cubicBezTo>
                  <a:cubicBezTo>
                    <a:pt x="216" y="344"/>
                    <a:pt x="218" y="344"/>
                    <a:pt x="221" y="344"/>
                  </a:cubicBezTo>
                  <a:cubicBezTo>
                    <a:pt x="252" y="282"/>
                    <a:pt x="252" y="282"/>
                    <a:pt x="252" y="282"/>
                  </a:cubicBezTo>
                  <a:cubicBezTo>
                    <a:pt x="255" y="276"/>
                    <a:pt x="262" y="274"/>
                    <a:pt x="268" y="277"/>
                  </a:cubicBezTo>
                  <a:cubicBezTo>
                    <a:pt x="273" y="280"/>
                    <a:pt x="276" y="287"/>
                    <a:pt x="273" y="293"/>
                  </a:cubicBezTo>
                  <a:close/>
                  <a:moveTo>
                    <a:pt x="367" y="382"/>
                  </a:moveTo>
                  <a:cubicBezTo>
                    <a:pt x="361" y="382"/>
                    <a:pt x="355" y="376"/>
                    <a:pt x="355" y="370"/>
                  </a:cubicBezTo>
                  <a:cubicBezTo>
                    <a:pt x="355" y="296"/>
                    <a:pt x="295" y="235"/>
                    <a:pt x="221" y="235"/>
                  </a:cubicBezTo>
                  <a:cubicBezTo>
                    <a:pt x="147" y="235"/>
                    <a:pt x="87" y="296"/>
                    <a:pt x="87" y="370"/>
                  </a:cubicBezTo>
                  <a:cubicBezTo>
                    <a:pt x="87" y="376"/>
                    <a:pt x="82" y="382"/>
                    <a:pt x="75" y="382"/>
                  </a:cubicBezTo>
                  <a:cubicBezTo>
                    <a:pt x="68" y="382"/>
                    <a:pt x="63" y="376"/>
                    <a:pt x="63" y="370"/>
                  </a:cubicBezTo>
                  <a:cubicBezTo>
                    <a:pt x="63" y="283"/>
                    <a:pt x="134" y="212"/>
                    <a:pt x="221" y="212"/>
                  </a:cubicBezTo>
                  <a:cubicBezTo>
                    <a:pt x="308" y="212"/>
                    <a:pt x="379" y="283"/>
                    <a:pt x="379" y="370"/>
                  </a:cubicBezTo>
                  <a:cubicBezTo>
                    <a:pt x="379" y="376"/>
                    <a:pt x="374" y="382"/>
                    <a:pt x="367" y="3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4" name="Freeform 53">
              <a:extLst>
                <a:ext uri="{FF2B5EF4-FFF2-40B4-BE49-F238E27FC236}">
                  <a16:creationId xmlns:a16="http://schemas.microsoft.com/office/drawing/2014/main" id="{B12404C7-5DD6-4CC7-A732-466AC3FD0BF5}"/>
                </a:ext>
              </a:extLst>
            </p:cNvPr>
            <p:cNvSpPr>
              <a:spLocks noEditPoints="1"/>
            </p:cNvSpPr>
            <p:nvPr userDrawn="1"/>
          </p:nvSpPr>
          <p:spPr bwMode="auto">
            <a:xfrm>
              <a:off x="4157" y="3049"/>
              <a:ext cx="900" cy="292"/>
            </a:xfrm>
            <a:custGeom>
              <a:avLst/>
              <a:gdLst>
                <a:gd name="T0" fmla="*/ 0 w 431"/>
                <a:gd name="T1" fmla="*/ 97 h 140"/>
                <a:gd name="T2" fmla="*/ 43 w 431"/>
                <a:gd name="T3" fmla="*/ 140 h 140"/>
                <a:gd name="T4" fmla="*/ 388 w 431"/>
                <a:gd name="T5" fmla="*/ 140 h 140"/>
                <a:gd name="T6" fmla="*/ 431 w 431"/>
                <a:gd name="T7" fmla="*/ 97 h 140"/>
                <a:gd name="T8" fmla="*/ 431 w 431"/>
                <a:gd name="T9" fmla="*/ 0 h 140"/>
                <a:gd name="T10" fmla="*/ 0 w 431"/>
                <a:gd name="T11" fmla="*/ 0 h 140"/>
                <a:gd name="T12" fmla="*/ 0 w 431"/>
                <a:gd name="T13" fmla="*/ 97 h 140"/>
                <a:gd name="T14" fmla="*/ 216 w 431"/>
                <a:gd name="T15" fmla="*/ 30 h 140"/>
                <a:gd name="T16" fmla="*/ 257 w 431"/>
                <a:gd name="T17" fmla="*/ 72 h 140"/>
                <a:gd name="T18" fmla="*/ 216 w 431"/>
                <a:gd name="T19" fmla="*/ 113 h 140"/>
                <a:gd name="T20" fmla="*/ 174 w 431"/>
                <a:gd name="T21" fmla="*/ 72 h 140"/>
                <a:gd name="T22" fmla="*/ 216 w 431"/>
                <a:gd name="T23" fmla="*/ 3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1" h="140">
                  <a:moveTo>
                    <a:pt x="0" y="97"/>
                  </a:moveTo>
                  <a:cubicBezTo>
                    <a:pt x="0" y="121"/>
                    <a:pt x="19" y="140"/>
                    <a:pt x="43" y="140"/>
                  </a:cubicBezTo>
                  <a:cubicBezTo>
                    <a:pt x="388" y="140"/>
                    <a:pt x="388" y="140"/>
                    <a:pt x="388" y="140"/>
                  </a:cubicBezTo>
                  <a:cubicBezTo>
                    <a:pt x="412" y="140"/>
                    <a:pt x="431" y="121"/>
                    <a:pt x="431" y="97"/>
                  </a:cubicBezTo>
                  <a:cubicBezTo>
                    <a:pt x="431" y="0"/>
                    <a:pt x="431" y="0"/>
                    <a:pt x="431" y="0"/>
                  </a:cubicBezTo>
                  <a:cubicBezTo>
                    <a:pt x="0" y="0"/>
                    <a:pt x="0" y="0"/>
                    <a:pt x="0" y="0"/>
                  </a:cubicBezTo>
                  <a:lnTo>
                    <a:pt x="0" y="97"/>
                  </a:lnTo>
                  <a:close/>
                  <a:moveTo>
                    <a:pt x="216" y="30"/>
                  </a:moveTo>
                  <a:cubicBezTo>
                    <a:pt x="238" y="30"/>
                    <a:pt x="257" y="49"/>
                    <a:pt x="257" y="72"/>
                  </a:cubicBezTo>
                  <a:cubicBezTo>
                    <a:pt x="257" y="95"/>
                    <a:pt x="238" y="113"/>
                    <a:pt x="216" y="113"/>
                  </a:cubicBezTo>
                  <a:cubicBezTo>
                    <a:pt x="193" y="113"/>
                    <a:pt x="174" y="95"/>
                    <a:pt x="174" y="72"/>
                  </a:cubicBezTo>
                  <a:cubicBezTo>
                    <a:pt x="174" y="49"/>
                    <a:pt x="193" y="30"/>
                    <a:pt x="21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27" name="Freeform 74">
            <a:extLst>
              <a:ext uri="{FF2B5EF4-FFF2-40B4-BE49-F238E27FC236}">
                <a16:creationId xmlns:a16="http://schemas.microsoft.com/office/drawing/2014/main" id="{0F4DE8AF-0F24-4771-84FF-64BC1726F650}"/>
              </a:ext>
            </a:extLst>
          </p:cNvPr>
          <p:cNvSpPr>
            <a:spLocks/>
          </p:cNvSpPr>
          <p:nvPr userDrawn="1"/>
        </p:nvSpPr>
        <p:spPr bwMode="auto">
          <a:xfrm>
            <a:off x="4988813" y="2077309"/>
            <a:ext cx="333955" cy="288508"/>
          </a:xfrm>
          <a:custGeom>
            <a:avLst/>
            <a:gdLst>
              <a:gd name="T0" fmla="*/ 664 w 2051"/>
              <a:gd name="T1" fmla="*/ 1200 h 1768"/>
              <a:gd name="T2" fmla="*/ 1748 w 2051"/>
              <a:gd name="T3" fmla="*/ 1200 h 1768"/>
              <a:gd name="T4" fmla="*/ 1806 w 2051"/>
              <a:gd name="T5" fmla="*/ 1156 h 1768"/>
              <a:gd name="T6" fmla="*/ 2046 w 2051"/>
              <a:gd name="T7" fmla="*/ 316 h 1768"/>
              <a:gd name="T8" fmla="*/ 2036 w 2051"/>
              <a:gd name="T9" fmla="*/ 264 h 1768"/>
              <a:gd name="T10" fmla="*/ 1988 w 2051"/>
              <a:gd name="T11" fmla="*/ 240 h 1768"/>
              <a:gd name="T12" fmla="*/ 525 w 2051"/>
              <a:gd name="T13" fmla="*/ 240 h 1768"/>
              <a:gd name="T14" fmla="*/ 483 w 2051"/>
              <a:gd name="T15" fmla="*/ 47 h 1768"/>
              <a:gd name="T16" fmla="*/ 424 w 2051"/>
              <a:gd name="T17" fmla="*/ 0 h 1768"/>
              <a:gd name="T18" fmla="*/ 60 w 2051"/>
              <a:gd name="T19" fmla="*/ 0 h 1768"/>
              <a:gd name="T20" fmla="*/ 0 w 2051"/>
              <a:gd name="T21" fmla="*/ 60 h 1768"/>
              <a:gd name="T22" fmla="*/ 60 w 2051"/>
              <a:gd name="T23" fmla="*/ 120 h 1768"/>
              <a:gd name="T24" fmla="*/ 376 w 2051"/>
              <a:gd name="T25" fmla="*/ 120 h 1768"/>
              <a:gd name="T26" fmla="*/ 593 w 2051"/>
              <a:gd name="T27" fmla="*/ 1095 h 1768"/>
              <a:gd name="T28" fmla="*/ 484 w 2051"/>
              <a:gd name="T29" fmla="*/ 1260 h 1768"/>
              <a:gd name="T30" fmla="*/ 664 w 2051"/>
              <a:gd name="T31" fmla="*/ 1440 h 1768"/>
              <a:gd name="T32" fmla="*/ 682 w 2051"/>
              <a:gd name="T33" fmla="*/ 1440 h 1768"/>
              <a:gd name="T34" fmla="*/ 604 w 2051"/>
              <a:gd name="T35" fmla="*/ 1588 h 1768"/>
              <a:gd name="T36" fmla="*/ 784 w 2051"/>
              <a:gd name="T37" fmla="*/ 1768 h 1768"/>
              <a:gd name="T38" fmla="*/ 964 w 2051"/>
              <a:gd name="T39" fmla="*/ 1588 h 1768"/>
              <a:gd name="T40" fmla="*/ 886 w 2051"/>
              <a:gd name="T41" fmla="*/ 1440 h 1768"/>
              <a:gd name="T42" fmla="*/ 1526 w 2051"/>
              <a:gd name="T43" fmla="*/ 1440 h 1768"/>
              <a:gd name="T44" fmla="*/ 1448 w 2051"/>
              <a:gd name="T45" fmla="*/ 1588 h 1768"/>
              <a:gd name="T46" fmla="*/ 1628 w 2051"/>
              <a:gd name="T47" fmla="*/ 1768 h 1768"/>
              <a:gd name="T48" fmla="*/ 1808 w 2051"/>
              <a:gd name="T49" fmla="*/ 1588 h 1768"/>
              <a:gd name="T50" fmla="*/ 1730 w 2051"/>
              <a:gd name="T51" fmla="*/ 1440 h 1768"/>
              <a:gd name="T52" fmla="*/ 1748 w 2051"/>
              <a:gd name="T53" fmla="*/ 1440 h 1768"/>
              <a:gd name="T54" fmla="*/ 1808 w 2051"/>
              <a:gd name="T55" fmla="*/ 1380 h 1768"/>
              <a:gd name="T56" fmla="*/ 1748 w 2051"/>
              <a:gd name="T57" fmla="*/ 1320 h 1768"/>
              <a:gd name="T58" fmla="*/ 664 w 2051"/>
              <a:gd name="T59" fmla="*/ 1320 h 1768"/>
              <a:gd name="T60" fmla="*/ 604 w 2051"/>
              <a:gd name="T61" fmla="*/ 1260 h 1768"/>
              <a:gd name="T62" fmla="*/ 664 w 2051"/>
              <a:gd name="T63" fmla="*/ 120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1" h="1768">
                <a:moveTo>
                  <a:pt x="664" y="1200"/>
                </a:moveTo>
                <a:cubicBezTo>
                  <a:pt x="1748" y="1200"/>
                  <a:pt x="1748" y="1200"/>
                  <a:pt x="1748" y="1200"/>
                </a:cubicBezTo>
                <a:cubicBezTo>
                  <a:pt x="1775" y="1200"/>
                  <a:pt x="1798" y="1182"/>
                  <a:pt x="1806" y="1156"/>
                </a:cubicBezTo>
                <a:cubicBezTo>
                  <a:pt x="2046" y="316"/>
                  <a:pt x="2046" y="316"/>
                  <a:pt x="2046" y="316"/>
                </a:cubicBezTo>
                <a:cubicBezTo>
                  <a:pt x="2051" y="298"/>
                  <a:pt x="2047" y="279"/>
                  <a:pt x="2036" y="264"/>
                </a:cubicBezTo>
                <a:cubicBezTo>
                  <a:pt x="2025" y="249"/>
                  <a:pt x="2007" y="240"/>
                  <a:pt x="1988" y="240"/>
                </a:cubicBezTo>
                <a:cubicBezTo>
                  <a:pt x="525" y="240"/>
                  <a:pt x="525" y="240"/>
                  <a:pt x="525" y="240"/>
                </a:cubicBezTo>
                <a:cubicBezTo>
                  <a:pt x="483" y="47"/>
                  <a:pt x="483" y="47"/>
                  <a:pt x="483" y="47"/>
                </a:cubicBezTo>
                <a:cubicBezTo>
                  <a:pt x="477" y="20"/>
                  <a:pt x="452" y="0"/>
                  <a:pt x="424" y="0"/>
                </a:cubicBezTo>
                <a:cubicBezTo>
                  <a:pt x="60" y="0"/>
                  <a:pt x="60" y="0"/>
                  <a:pt x="60" y="0"/>
                </a:cubicBezTo>
                <a:cubicBezTo>
                  <a:pt x="27" y="0"/>
                  <a:pt x="0" y="27"/>
                  <a:pt x="0" y="60"/>
                </a:cubicBezTo>
                <a:cubicBezTo>
                  <a:pt x="0" y="93"/>
                  <a:pt x="27" y="120"/>
                  <a:pt x="60" y="120"/>
                </a:cubicBezTo>
                <a:cubicBezTo>
                  <a:pt x="376" y="120"/>
                  <a:pt x="376" y="120"/>
                  <a:pt x="376" y="120"/>
                </a:cubicBezTo>
                <a:cubicBezTo>
                  <a:pt x="593" y="1095"/>
                  <a:pt x="593" y="1095"/>
                  <a:pt x="593" y="1095"/>
                </a:cubicBezTo>
                <a:cubicBezTo>
                  <a:pt x="529" y="1123"/>
                  <a:pt x="484" y="1186"/>
                  <a:pt x="484" y="1260"/>
                </a:cubicBezTo>
                <a:cubicBezTo>
                  <a:pt x="484" y="1359"/>
                  <a:pt x="565" y="1440"/>
                  <a:pt x="664" y="1440"/>
                </a:cubicBezTo>
                <a:cubicBezTo>
                  <a:pt x="682" y="1440"/>
                  <a:pt x="682" y="1440"/>
                  <a:pt x="682" y="1440"/>
                </a:cubicBezTo>
                <a:cubicBezTo>
                  <a:pt x="635" y="1473"/>
                  <a:pt x="604" y="1527"/>
                  <a:pt x="604" y="1588"/>
                </a:cubicBezTo>
                <a:cubicBezTo>
                  <a:pt x="604" y="1687"/>
                  <a:pt x="685" y="1768"/>
                  <a:pt x="784" y="1768"/>
                </a:cubicBezTo>
                <a:cubicBezTo>
                  <a:pt x="883" y="1768"/>
                  <a:pt x="964" y="1687"/>
                  <a:pt x="964" y="1588"/>
                </a:cubicBezTo>
                <a:cubicBezTo>
                  <a:pt x="964" y="1527"/>
                  <a:pt x="933" y="1473"/>
                  <a:pt x="886" y="1440"/>
                </a:cubicBezTo>
                <a:cubicBezTo>
                  <a:pt x="1526" y="1440"/>
                  <a:pt x="1526" y="1440"/>
                  <a:pt x="1526" y="1440"/>
                </a:cubicBezTo>
                <a:cubicBezTo>
                  <a:pt x="1479" y="1473"/>
                  <a:pt x="1448" y="1527"/>
                  <a:pt x="1448" y="1588"/>
                </a:cubicBezTo>
                <a:cubicBezTo>
                  <a:pt x="1448" y="1687"/>
                  <a:pt x="1529" y="1768"/>
                  <a:pt x="1628" y="1768"/>
                </a:cubicBezTo>
                <a:cubicBezTo>
                  <a:pt x="1727" y="1768"/>
                  <a:pt x="1808" y="1687"/>
                  <a:pt x="1808" y="1588"/>
                </a:cubicBezTo>
                <a:cubicBezTo>
                  <a:pt x="1808" y="1527"/>
                  <a:pt x="1777" y="1473"/>
                  <a:pt x="1730" y="1440"/>
                </a:cubicBezTo>
                <a:cubicBezTo>
                  <a:pt x="1748" y="1440"/>
                  <a:pt x="1748" y="1440"/>
                  <a:pt x="1748" y="1440"/>
                </a:cubicBezTo>
                <a:cubicBezTo>
                  <a:pt x="1781" y="1440"/>
                  <a:pt x="1808" y="1413"/>
                  <a:pt x="1808" y="1380"/>
                </a:cubicBezTo>
                <a:cubicBezTo>
                  <a:pt x="1808" y="1347"/>
                  <a:pt x="1781" y="1320"/>
                  <a:pt x="1748" y="1320"/>
                </a:cubicBezTo>
                <a:cubicBezTo>
                  <a:pt x="664" y="1320"/>
                  <a:pt x="664" y="1320"/>
                  <a:pt x="664" y="1320"/>
                </a:cubicBezTo>
                <a:cubicBezTo>
                  <a:pt x="631" y="1320"/>
                  <a:pt x="604" y="1293"/>
                  <a:pt x="604" y="1260"/>
                </a:cubicBezTo>
                <a:cubicBezTo>
                  <a:pt x="604" y="1227"/>
                  <a:pt x="631" y="1200"/>
                  <a:pt x="664" y="120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729" name="Group 77">
            <a:extLst>
              <a:ext uri="{FF2B5EF4-FFF2-40B4-BE49-F238E27FC236}">
                <a16:creationId xmlns:a16="http://schemas.microsoft.com/office/drawing/2014/main" id="{832FB13B-C647-42FE-9B50-AD6FD1146AA6}"/>
              </a:ext>
            </a:extLst>
          </p:cNvPr>
          <p:cNvGrpSpPr>
            <a:grpSpLocks noChangeAspect="1"/>
          </p:cNvGrpSpPr>
          <p:nvPr userDrawn="1"/>
        </p:nvGrpSpPr>
        <p:grpSpPr bwMode="auto">
          <a:xfrm>
            <a:off x="5004585" y="5534501"/>
            <a:ext cx="378884" cy="278165"/>
            <a:chOff x="3930" y="2424"/>
            <a:chExt cx="1832" cy="1345"/>
          </a:xfrm>
          <a:solidFill>
            <a:schemeClr val="tx1"/>
          </a:solidFill>
        </p:grpSpPr>
        <p:sp>
          <p:nvSpPr>
            <p:cNvPr id="731" name="Freeform 78">
              <a:extLst>
                <a:ext uri="{FF2B5EF4-FFF2-40B4-BE49-F238E27FC236}">
                  <a16:creationId xmlns:a16="http://schemas.microsoft.com/office/drawing/2014/main" id="{DBC33206-A9B1-40D9-886E-76AB9ADFE9B9}"/>
                </a:ext>
              </a:extLst>
            </p:cNvPr>
            <p:cNvSpPr>
              <a:spLocks noEditPoints="1"/>
            </p:cNvSpPr>
            <p:nvPr userDrawn="1"/>
          </p:nvSpPr>
          <p:spPr bwMode="auto">
            <a:xfrm>
              <a:off x="3930" y="2424"/>
              <a:ext cx="1832" cy="1345"/>
            </a:xfrm>
            <a:custGeom>
              <a:avLst/>
              <a:gdLst>
                <a:gd name="T0" fmla="*/ 722 w 880"/>
                <a:gd name="T1" fmla="*/ 15 h 644"/>
                <a:gd name="T2" fmla="*/ 14 w 880"/>
                <a:gd name="T3" fmla="*/ 0 h 644"/>
                <a:gd name="T4" fmla="*/ 0 w 880"/>
                <a:gd name="T5" fmla="*/ 539 h 644"/>
                <a:gd name="T6" fmla="*/ 569 w 880"/>
                <a:gd name="T7" fmla="*/ 554 h 644"/>
                <a:gd name="T8" fmla="*/ 880 w 880"/>
                <a:gd name="T9" fmla="*/ 481 h 644"/>
                <a:gd name="T10" fmla="*/ 217 w 880"/>
                <a:gd name="T11" fmla="*/ 216 h 644"/>
                <a:gd name="T12" fmla="*/ 195 w 880"/>
                <a:gd name="T13" fmla="*/ 219 h 644"/>
                <a:gd name="T14" fmla="*/ 189 w 880"/>
                <a:gd name="T15" fmla="*/ 418 h 644"/>
                <a:gd name="T16" fmla="*/ 183 w 880"/>
                <a:gd name="T17" fmla="*/ 219 h 644"/>
                <a:gd name="T18" fmla="*/ 161 w 880"/>
                <a:gd name="T19" fmla="*/ 216 h 644"/>
                <a:gd name="T20" fmla="*/ 165 w 880"/>
                <a:gd name="T21" fmla="*/ 194 h 644"/>
                <a:gd name="T22" fmla="*/ 183 w 880"/>
                <a:gd name="T23" fmla="*/ 142 h 644"/>
                <a:gd name="T24" fmla="*/ 195 w 880"/>
                <a:gd name="T25" fmla="*/ 142 h 644"/>
                <a:gd name="T26" fmla="*/ 213 w 880"/>
                <a:gd name="T27" fmla="*/ 194 h 644"/>
                <a:gd name="T28" fmla="*/ 217 w 880"/>
                <a:gd name="T29" fmla="*/ 216 h 644"/>
                <a:gd name="T30" fmla="*/ 398 w 880"/>
                <a:gd name="T31" fmla="*/ 361 h 644"/>
                <a:gd name="T32" fmla="*/ 380 w 880"/>
                <a:gd name="T33" fmla="*/ 412 h 644"/>
                <a:gd name="T34" fmla="*/ 368 w 880"/>
                <a:gd name="T35" fmla="*/ 412 h 644"/>
                <a:gd name="T36" fmla="*/ 350 w 880"/>
                <a:gd name="T37" fmla="*/ 361 h 644"/>
                <a:gd name="T38" fmla="*/ 346 w 880"/>
                <a:gd name="T39" fmla="*/ 339 h 644"/>
                <a:gd name="T40" fmla="*/ 368 w 880"/>
                <a:gd name="T41" fmla="*/ 335 h 644"/>
                <a:gd name="T42" fmla="*/ 374 w 880"/>
                <a:gd name="T43" fmla="*/ 136 h 644"/>
                <a:gd name="T44" fmla="*/ 380 w 880"/>
                <a:gd name="T45" fmla="*/ 335 h 644"/>
                <a:gd name="T46" fmla="*/ 402 w 880"/>
                <a:gd name="T47" fmla="*/ 339 h 644"/>
                <a:gd name="T48" fmla="*/ 559 w 880"/>
                <a:gd name="T49" fmla="*/ 287 h 644"/>
                <a:gd name="T50" fmla="*/ 553 w 880"/>
                <a:gd name="T51" fmla="*/ 204 h 644"/>
                <a:gd name="T52" fmla="*/ 531 w 880"/>
                <a:gd name="T53" fmla="*/ 200 h 644"/>
                <a:gd name="T54" fmla="*/ 535 w 880"/>
                <a:gd name="T55" fmla="*/ 179 h 644"/>
                <a:gd name="T56" fmla="*/ 553 w 880"/>
                <a:gd name="T57" fmla="*/ 142 h 644"/>
                <a:gd name="T58" fmla="*/ 565 w 880"/>
                <a:gd name="T59" fmla="*/ 142 h 644"/>
                <a:gd name="T60" fmla="*/ 584 w 880"/>
                <a:gd name="T61" fmla="*/ 179 h 644"/>
                <a:gd name="T62" fmla="*/ 587 w 880"/>
                <a:gd name="T63" fmla="*/ 200 h 644"/>
                <a:gd name="T64" fmla="*/ 565 w 880"/>
                <a:gd name="T65" fmla="*/ 204 h 644"/>
                <a:gd name="T66" fmla="*/ 559 w 880"/>
                <a:gd name="T67" fmla="*/ 287 h 644"/>
                <a:gd name="T68" fmla="*/ 564 w 880"/>
                <a:gd name="T69" fmla="*/ 481 h 644"/>
                <a:gd name="T70" fmla="*/ 868 w 880"/>
                <a:gd name="T71" fmla="*/ 481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80" h="644">
                  <a:moveTo>
                    <a:pt x="722" y="317"/>
                  </a:moveTo>
                  <a:cubicBezTo>
                    <a:pt x="722" y="15"/>
                    <a:pt x="722" y="15"/>
                    <a:pt x="722" y="15"/>
                  </a:cubicBezTo>
                  <a:cubicBezTo>
                    <a:pt x="722" y="7"/>
                    <a:pt x="715" y="0"/>
                    <a:pt x="707" y="0"/>
                  </a:cubicBezTo>
                  <a:cubicBezTo>
                    <a:pt x="14" y="0"/>
                    <a:pt x="14" y="0"/>
                    <a:pt x="14" y="0"/>
                  </a:cubicBezTo>
                  <a:cubicBezTo>
                    <a:pt x="6" y="0"/>
                    <a:pt x="0" y="7"/>
                    <a:pt x="0" y="15"/>
                  </a:cubicBezTo>
                  <a:cubicBezTo>
                    <a:pt x="0" y="539"/>
                    <a:pt x="0" y="539"/>
                    <a:pt x="0" y="539"/>
                  </a:cubicBezTo>
                  <a:cubicBezTo>
                    <a:pt x="0" y="547"/>
                    <a:pt x="6" y="554"/>
                    <a:pt x="14" y="554"/>
                  </a:cubicBezTo>
                  <a:cubicBezTo>
                    <a:pt x="569" y="554"/>
                    <a:pt x="569" y="554"/>
                    <a:pt x="569" y="554"/>
                  </a:cubicBezTo>
                  <a:cubicBezTo>
                    <a:pt x="596" y="607"/>
                    <a:pt x="652" y="644"/>
                    <a:pt x="716" y="644"/>
                  </a:cubicBezTo>
                  <a:cubicBezTo>
                    <a:pt x="806" y="644"/>
                    <a:pt x="880" y="571"/>
                    <a:pt x="880" y="481"/>
                  </a:cubicBezTo>
                  <a:cubicBezTo>
                    <a:pt x="880" y="392"/>
                    <a:pt x="809" y="320"/>
                    <a:pt x="722" y="317"/>
                  </a:cubicBezTo>
                  <a:close/>
                  <a:moveTo>
                    <a:pt x="217" y="216"/>
                  </a:moveTo>
                  <a:cubicBezTo>
                    <a:pt x="217" y="218"/>
                    <a:pt x="215" y="219"/>
                    <a:pt x="213" y="219"/>
                  </a:cubicBezTo>
                  <a:cubicBezTo>
                    <a:pt x="195" y="219"/>
                    <a:pt x="195" y="219"/>
                    <a:pt x="195" y="219"/>
                  </a:cubicBezTo>
                  <a:cubicBezTo>
                    <a:pt x="195" y="412"/>
                    <a:pt x="195" y="412"/>
                    <a:pt x="195" y="412"/>
                  </a:cubicBezTo>
                  <a:cubicBezTo>
                    <a:pt x="195" y="415"/>
                    <a:pt x="193" y="418"/>
                    <a:pt x="189" y="418"/>
                  </a:cubicBezTo>
                  <a:cubicBezTo>
                    <a:pt x="186" y="418"/>
                    <a:pt x="183" y="415"/>
                    <a:pt x="183" y="412"/>
                  </a:cubicBezTo>
                  <a:cubicBezTo>
                    <a:pt x="183" y="219"/>
                    <a:pt x="183" y="219"/>
                    <a:pt x="183" y="219"/>
                  </a:cubicBezTo>
                  <a:cubicBezTo>
                    <a:pt x="165" y="219"/>
                    <a:pt x="165" y="219"/>
                    <a:pt x="165" y="219"/>
                  </a:cubicBezTo>
                  <a:cubicBezTo>
                    <a:pt x="163" y="219"/>
                    <a:pt x="161" y="218"/>
                    <a:pt x="161" y="216"/>
                  </a:cubicBezTo>
                  <a:cubicBezTo>
                    <a:pt x="161" y="198"/>
                    <a:pt x="161" y="198"/>
                    <a:pt x="161" y="198"/>
                  </a:cubicBezTo>
                  <a:cubicBezTo>
                    <a:pt x="161" y="195"/>
                    <a:pt x="163" y="194"/>
                    <a:pt x="165" y="194"/>
                  </a:cubicBezTo>
                  <a:cubicBezTo>
                    <a:pt x="183" y="194"/>
                    <a:pt x="183" y="194"/>
                    <a:pt x="183" y="194"/>
                  </a:cubicBezTo>
                  <a:cubicBezTo>
                    <a:pt x="183" y="142"/>
                    <a:pt x="183" y="142"/>
                    <a:pt x="183" y="142"/>
                  </a:cubicBezTo>
                  <a:cubicBezTo>
                    <a:pt x="183" y="138"/>
                    <a:pt x="186" y="136"/>
                    <a:pt x="189" y="136"/>
                  </a:cubicBezTo>
                  <a:cubicBezTo>
                    <a:pt x="193" y="136"/>
                    <a:pt x="195" y="138"/>
                    <a:pt x="195" y="142"/>
                  </a:cubicBezTo>
                  <a:cubicBezTo>
                    <a:pt x="195" y="194"/>
                    <a:pt x="195" y="194"/>
                    <a:pt x="195" y="194"/>
                  </a:cubicBezTo>
                  <a:cubicBezTo>
                    <a:pt x="213" y="194"/>
                    <a:pt x="213" y="194"/>
                    <a:pt x="213" y="194"/>
                  </a:cubicBezTo>
                  <a:cubicBezTo>
                    <a:pt x="215" y="194"/>
                    <a:pt x="217" y="195"/>
                    <a:pt x="217" y="198"/>
                  </a:cubicBezTo>
                  <a:lnTo>
                    <a:pt x="217" y="216"/>
                  </a:lnTo>
                  <a:close/>
                  <a:moveTo>
                    <a:pt x="402" y="357"/>
                  </a:moveTo>
                  <a:cubicBezTo>
                    <a:pt x="402" y="359"/>
                    <a:pt x="400" y="361"/>
                    <a:pt x="398" y="361"/>
                  </a:cubicBezTo>
                  <a:cubicBezTo>
                    <a:pt x="380" y="361"/>
                    <a:pt x="380" y="361"/>
                    <a:pt x="380" y="361"/>
                  </a:cubicBezTo>
                  <a:cubicBezTo>
                    <a:pt x="380" y="412"/>
                    <a:pt x="380" y="412"/>
                    <a:pt x="380" y="412"/>
                  </a:cubicBezTo>
                  <a:cubicBezTo>
                    <a:pt x="380" y="415"/>
                    <a:pt x="378" y="418"/>
                    <a:pt x="374" y="418"/>
                  </a:cubicBezTo>
                  <a:cubicBezTo>
                    <a:pt x="371" y="418"/>
                    <a:pt x="368" y="415"/>
                    <a:pt x="368" y="412"/>
                  </a:cubicBezTo>
                  <a:cubicBezTo>
                    <a:pt x="368" y="361"/>
                    <a:pt x="368" y="361"/>
                    <a:pt x="368" y="361"/>
                  </a:cubicBezTo>
                  <a:cubicBezTo>
                    <a:pt x="350" y="361"/>
                    <a:pt x="350" y="361"/>
                    <a:pt x="350" y="361"/>
                  </a:cubicBezTo>
                  <a:cubicBezTo>
                    <a:pt x="348" y="361"/>
                    <a:pt x="346" y="359"/>
                    <a:pt x="346" y="357"/>
                  </a:cubicBezTo>
                  <a:cubicBezTo>
                    <a:pt x="346" y="339"/>
                    <a:pt x="346" y="339"/>
                    <a:pt x="346" y="339"/>
                  </a:cubicBezTo>
                  <a:cubicBezTo>
                    <a:pt x="346" y="337"/>
                    <a:pt x="348" y="335"/>
                    <a:pt x="350" y="335"/>
                  </a:cubicBezTo>
                  <a:cubicBezTo>
                    <a:pt x="368" y="335"/>
                    <a:pt x="368" y="335"/>
                    <a:pt x="368" y="335"/>
                  </a:cubicBezTo>
                  <a:cubicBezTo>
                    <a:pt x="368" y="142"/>
                    <a:pt x="368" y="142"/>
                    <a:pt x="368" y="142"/>
                  </a:cubicBezTo>
                  <a:cubicBezTo>
                    <a:pt x="368" y="138"/>
                    <a:pt x="371" y="136"/>
                    <a:pt x="374" y="136"/>
                  </a:cubicBezTo>
                  <a:cubicBezTo>
                    <a:pt x="378" y="136"/>
                    <a:pt x="380" y="138"/>
                    <a:pt x="380" y="142"/>
                  </a:cubicBezTo>
                  <a:cubicBezTo>
                    <a:pt x="380" y="335"/>
                    <a:pt x="380" y="335"/>
                    <a:pt x="380" y="335"/>
                  </a:cubicBezTo>
                  <a:cubicBezTo>
                    <a:pt x="398" y="335"/>
                    <a:pt x="398" y="335"/>
                    <a:pt x="398" y="335"/>
                  </a:cubicBezTo>
                  <a:cubicBezTo>
                    <a:pt x="400" y="335"/>
                    <a:pt x="402" y="337"/>
                    <a:pt x="402" y="339"/>
                  </a:cubicBezTo>
                  <a:lnTo>
                    <a:pt x="402" y="357"/>
                  </a:lnTo>
                  <a:close/>
                  <a:moveTo>
                    <a:pt x="559" y="287"/>
                  </a:moveTo>
                  <a:cubicBezTo>
                    <a:pt x="556" y="287"/>
                    <a:pt x="553" y="285"/>
                    <a:pt x="553" y="282"/>
                  </a:cubicBezTo>
                  <a:cubicBezTo>
                    <a:pt x="553" y="204"/>
                    <a:pt x="553" y="204"/>
                    <a:pt x="553" y="204"/>
                  </a:cubicBezTo>
                  <a:cubicBezTo>
                    <a:pt x="535" y="204"/>
                    <a:pt x="535" y="204"/>
                    <a:pt x="535" y="204"/>
                  </a:cubicBezTo>
                  <a:cubicBezTo>
                    <a:pt x="533" y="204"/>
                    <a:pt x="531" y="202"/>
                    <a:pt x="531" y="200"/>
                  </a:cubicBezTo>
                  <a:cubicBezTo>
                    <a:pt x="531" y="182"/>
                    <a:pt x="531" y="182"/>
                    <a:pt x="531" y="182"/>
                  </a:cubicBezTo>
                  <a:cubicBezTo>
                    <a:pt x="531" y="180"/>
                    <a:pt x="533" y="179"/>
                    <a:pt x="535" y="179"/>
                  </a:cubicBezTo>
                  <a:cubicBezTo>
                    <a:pt x="553" y="179"/>
                    <a:pt x="553" y="179"/>
                    <a:pt x="553" y="179"/>
                  </a:cubicBezTo>
                  <a:cubicBezTo>
                    <a:pt x="553" y="142"/>
                    <a:pt x="553" y="142"/>
                    <a:pt x="553" y="142"/>
                  </a:cubicBezTo>
                  <a:cubicBezTo>
                    <a:pt x="553" y="139"/>
                    <a:pt x="556" y="136"/>
                    <a:pt x="559" y="136"/>
                  </a:cubicBezTo>
                  <a:cubicBezTo>
                    <a:pt x="563" y="136"/>
                    <a:pt x="565" y="139"/>
                    <a:pt x="565" y="142"/>
                  </a:cubicBezTo>
                  <a:cubicBezTo>
                    <a:pt x="565" y="179"/>
                    <a:pt x="565" y="179"/>
                    <a:pt x="565" y="179"/>
                  </a:cubicBezTo>
                  <a:cubicBezTo>
                    <a:pt x="584" y="179"/>
                    <a:pt x="584" y="179"/>
                    <a:pt x="584" y="179"/>
                  </a:cubicBezTo>
                  <a:cubicBezTo>
                    <a:pt x="586" y="179"/>
                    <a:pt x="587" y="180"/>
                    <a:pt x="587" y="182"/>
                  </a:cubicBezTo>
                  <a:cubicBezTo>
                    <a:pt x="587" y="200"/>
                    <a:pt x="587" y="200"/>
                    <a:pt x="587" y="200"/>
                  </a:cubicBezTo>
                  <a:cubicBezTo>
                    <a:pt x="587" y="202"/>
                    <a:pt x="586" y="204"/>
                    <a:pt x="584" y="204"/>
                  </a:cubicBezTo>
                  <a:cubicBezTo>
                    <a:pt x="565" y="204"/>
                    <a:pt x="565" y="204"/>
                    <a:pt x="565" y="204"/>
                  </a:cubicBezTo>
                  <a:cubicBezTo>
                    <a:pt x="565" y="282"/>
                    <a:pt x="565" y="282"/>
                    <a:pt x="565" y="282"/>
                  </a:cubicBezTo>
                  <a:cubicBezTo>
                    <a:pt x="565" y="285"/>
                    <a:pt x="563" y="287"/>
                    <a:pt x="559" y="287"/>
                  </a:cubicBezTo>
                  <a:close/>
                  <a:moveTo>
                    <a:pt x="716" y="633"/>
                  </a:moveTo>
                  <a:cubicBezTo>
                    <a:pt x="632" y="633"/>
                    <a:pt x="564" y="564"/>
                    <a:pt x="564" y="481"/>
                  </a:cubicBezTo>
                  <a:cubicBezTo>
                    <a:pt x="564" y="397"/>
                    <a:pt x="632" y="329"/>
                    <a:pt x="716" y="329"/>
                  </a:cubicBezTo>
                  <a:cubicBezTo>
                    <a:pt x="800" y="329"/>
                    <a:pt x="868" y="397"/>
                    <a:pt x="868" y="481"/>
                  </a:cubicBezTo>
                  <a:cubicBezTo>
                    <a:pt x="868" y="564"/>
                    <a:pt x="800" y="633"/>
                    <a:pt x="716" y="6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2" name="Freeform 79">
              <a:extLst>
                <a:ext uri="{FF2B5EF4-FFF2-40B4-BE49-F238E27FC236}">
                  <a16:creationId xmlns:a16="http://schemas.microsoft.com/office/drawing/2014/main" id="{9F7822B5-F774-4425-AE5B-5FC00B51D1AB}"/>
                </a:ext>
              </a:extLst>
            </p:cNvPr>
            <p:cNvSpPr>
              <a:spLocks/>
            </p:cNvSpPr>
            <p:nvPr userDrawn="1"/>
          </p:nvSpPr>
          <p:spPr bwMode="auto">
            <a:xfrm>
              <a:off x="5227" y="3270"/>
              <a:ext cx="389" cy="324"/>
            </a:xfrm>
            <a:custGeom>
              <a:avLst/>
              <a:gdLst>
                <a:gd name="T0" fmla="*/ 181 w 187"/>
                <a:gd name="T1" fmla="*/ 5 h 155"/>
                <a:gd name="T2" fmla="*/ 161 w 187"/>
                <a:gd name="T3" fmla="*/ 7 h 155"/>
                <a:gd name="T4" fmla="*/ 67 w 187"/>
                <a:gd name="T5" fmla="*/ 116 h 155"/>
                <a:gd name="T6" fmla="*/ 22 w 187"/>
                <a:gd name="T7" fmla="*/ 81 h 155"/>
                <a:gd name="T8" fmla="*/ 3 w 187"/>
                <a:gd name="T9" fmla="*/ 84 h 155"/>
                <a:gd name="T10" fmla="*/ 0 w 187"/>
                <a:gd name="T11" fmla="*/ 94 h 155"/>
                <a:gd name="T12" fmla="*/ 5 w 187"/>
                <a:gd name="T13" fmla="*/ 103 h 155"/>
                <a:gd name="T14" fmla="*/ 71 w 187"/>
                <a:gd name="T15" fmla="*/ 155 h 155"/>
                <a:gd name="T16" fmla="*/ 182 w 187"/>
                <a:gd name="T17" fmla="*/ 25 h 155"/>
                <a:gd name="T18" fmla="*/ 181 w 187"/>
                <a:gd name="T19" fmla="*/ 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7" h="155">
                  <a:moveTo>
                    <a:pt x="181" y="5"/>
                  </a:moveTo>
                  <a:cubicBezTo>
                    <a:pt x="175" y="0"/>
                    <a:pt x="166" y="1"/>
                    <a:pt x="161" y="7"/>
                  </a:cubicBezTo>
                  <a:cubicBezTo>
                    <a:pt x="67" y="116"/>
                    <a:pt x="67" y="116"/>
                    <a:pt x="67" y="116"/>
                  </a:cubicBezTo>
                  <a:cubicBezTo>
                    <a:pt x="22" y="81"/>
                    <a:pt x="22" y="81"/>
                    <a:pt x="22" y="81"/>
                  </a:cubicBezTo>
                  <a:cubicBezTo>
                    <a:pt x="16" y="77"/>
                    <a:pt x="8" y="78"/>
                    <a:pt x="3" y="84"/>
                  </a:cubicBezTo>
                  <a:cubicBezTo>
                    <a:pt x="1" y="87"/>
                    <a:pt x="0" y="90"/>
                    <a:pt x="0" y="94"/>
                  </a:cubicBezTo>
                  <a:cubicBezTo>
                    <a:pt x="1" y="98"/>
                    <a:pt x="2" y="101"/>
                    <a:pt x="5" y="103"/>
                  </a:cubicBezTo>
                  <a:cubicBezTo>
                    <a:pt x="71" y="155"/>
                    <a:pt x="71" y="155"/>
                    <a:pt x="71" y="155"/>
                  </a:cubicBezTo>
                  <a:cubicBezTo>
                    <a:pt x="182" y="25"/>
                    <a:pt x="182" y="25"/>
                    <a:pt x="182" y="25"/>
                  </a:cubicBezTo>
                  <a:cubicBezTo>
                    <a:pt x="187" y="19"/>
                    <a:pt x="187" y="10"/>
                    <a:pt x="18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69" name="Rectangle 468"/>
          <p:cNvSpPr/>
          <p:nvPr userDrawn="1"/>
        </p:nvSpPr>
        <p:spPr>
          <a:xfrm>
            <a:off x="6643132" y="1658372"/>
            <a:ext cx="918841" cy="307777"/>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Security</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sp>
        <p:nvSpPr>
          <p:cNvPr id="566" name="Rectangle 565"/>
          <p:cNvSpPr/>
          <p:nvPr userDrawn="1"/>
        </p:nvSpPr>
        <p:spPr>
          <a:xfrm>
            <a:off x="6232829" y="4474853"/>
            <a:ext cx="787395"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People</a:t>
            </a:r>
          </a:p>
        </p:txBody>
      </p:sp>
      <p:cxnSp>
        <p:nvCxnSpPr>
          <p:cNvPr id="567" name="Straight Connector 566"/>
          <p:cNvCxnSpPr/>
          <p:nvPr userDrawn="1"/>
        </p:nvCxnSpPr>
        <p:spPr bwMode="auto">
          <a:xfrm>
            <a:off x="6232829" y="4817777"/>
            <a:ext cx="1551716"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437" name="Freeform 436"/>
          <p:cNvSpPr>
            <a:spLocks noEditPoints="1"/>
          </p:cNvSpPr>
          <p:nvPr userDrawn="1"/>
        </p:nvSpPr>
        <p:spPr bwMode="auto">
          <a:xfrm>
            <a:off x="10164562" y="2149001"/>
            <a:ext cx="203815" cy="271629"/>
          </a:xfrm>
          <a:custGeom>
            <a:avLst/>
            <a:gdLst>
              <a:gd name="T0" fmla="*/ 85 w 342"/>
              <a:gd name="T1" fmla="*/ 186 h 456"/>
              <a:gd name="T2" fmla="*/ 257 w 342"/>
              <a:gd name="T3" fmla="*/ 186 h 456"/>
              <a:gd name="T4" fmla="*/ 257 w 342"/>
              <a:gd name="T5" fmla="*/ 129 h 456"/>
              <a:gd name="T6" fmla="*/ 232 w 342"/>
              <a:gd name="T7" fmla="*/ 68 h 456"/>
              <a:gd name="T8" fmla="*/ 171 w 342"/>
              <a:gd name="T9" fmla="*/ 43 h 456"/>
              <a:gd name="T10" fmla="*/ 111 w 342"/>
              <a:gd name="T11" fmla="*/ 68 h 456"/>
              <a:gd name="T12" fmla="*/ 85 w 342"/>
              <a:gd name="T13" fmla="*/ 129 h 456"/>
              <a:gd name="T14" fmla="*/ 85 w 342"/>
              <a:gd name="T15" fmla="*/ 186 h 456"/>
              <a:gd name="T16" fmla="*/ 171 w 342"/>
              <a:gd name="T17" fmla="*/ 271 h 456"/>
              <a:gd name="T18" fmla="*/ 135 w 342"/>
              <a:gd name="T19" fmla="*/ 307 h 456"/>
              <a:gd name="T20" fmla="*/ 157 w 342"/>
              <a:gd name="T21" fmla="*/ 339 h 456"/>
              <a:gd name="T22" fmla="*/ 157 w 342"/>
              <a:gd name="T23" fmla="*/ 364 h 456"/>
              <a:gd name="T24" fmla="*/ 171 w 342"/>
              <a:gd name="T25" fmla="*/ 378 h 456"/>
              <a:gd name="T26" fmla="*/ 185 w 342"/>
              <a:gd name="T27" fmla="*/ 364 h 456"/>
              <a:gd name="T28" fmla="*/ 185 w 342"/>
              <a:gd name="T29" fmla="*/ 339 h 456"/>
              <a:gd name="T30" fmla="*/ 207 w 342"/>
              <a:gd name="T31" fmla="*/ 307 h 456"/>
              <a:gd name="T32" fmla="*/ 171 w 342"/>
              <a:gd name="T33" fmla="*/ 271 h 456"/>
              <a:gd name="T34" fmla="*/ 299 w 342"/>
              <a:gd name="T35" fmla="*/ 186 h 456"/>
              <a:gd name="T36" fmla="*/ 299 w 342"/>
              <a:gd name="T37" fmla="*/ 186 h 456"/>
              <a:gd name="T38" fmla="*/ 342 w 342"/>
              <a:gd name="T39" fmla="*/ 228 h 456"/>
              <a:gd name="T40" fmla="*/ 342 w 342"/>
              <a:gd name="T41" fmla="*/ 414 h 456"/>
              <a:gd name="T42" fmla="*/ 299 w 342"/>
              <a:gd name="T43" fmla="*/ 456 h 456"/>
              <a:gd name="T44" fmla="*/ 43 w 342"/>
              <a:gd name="T45" fmla="*/ 456 h 456"/>
              <a:gd name="T46" fmla="*/ 0 w 342"/>
              <a:gd name="T47" fmla="*/ 414 h 456"/>
              <a:gd name="T48" fmla="*/ 0 w 342"/>
              <a:gd name="T49" fmla="*/ 228 h 456"/>
              <a:gd name="T50" fmla="*/ 43 w 342"/>
              <a:gd name="T51" fmla="*/ 186 h 456"/>
              <a:gd name="T52" fmla="*/ 43 w 342"/>
              <a:gd name="T53" fmla="*/ 129 h 456"/>
              <a:gd name="T54" fmla="*/ 80 w 342"/>
              <a:gd name="T55" fmla="*/ 38 h 456"/>
              <a:gd name="T56" fmla="*/ 171 w 342"/>
              <a:gd name="T57" fmla="*/ 0 h 456"/>
              <a:gd name="T58" fmla="*/ 262 w 342"/>
              <a:gd name="T59" fmla="*/ 38 h 456"/>
              <a:gd name="T60" fmla="*/ 299 w 342"/>
              <a:gd name="T61" fmla="*/ 129 h 456"/>
              <a:gd name="T62" fmla="*/ 299 w 342"/>
              <a:gd name="T63" fmla="*/ 186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2" h="456">
                <a:moveTo>
                  <a:pt x="85" y="186"/>
                </a:moveTo>
                <a:cubicBezTo>
                  <a:pt x="257" y="186"/>
                  <a:pt x="257" y="186"/>
                  <a:pt x="257" y="186"/>
                </a:cubicBezTo>
                <a:cubicBezTo>
                  <a:pt x="257" y="129"/>
                  <a:pt x="257" y="129"/>
                  <a:pt x="257" y="129"/>
                </a:cubicBezTo>
                <a:cubicBezTo>
                  <a:pt x="257" y="105"/>
                  <a:pt x="247" y="84"/>
                  <a:pt x="232" y="68"/>
                </a:cubicBezTo>
                <a:cubicBezTo>
                  <a:pt x="216" y="53"/>
                  <a:pt x="195" y="43"/>
                  <a:pt x="171" y="43"/>
                </a:cubicBezTo>
                <a:cubicBezTo>
                  <a:pt x="147" y="43"/>
                  <a:pt x="126" y="53"/>
                  <a:pt x="111" y="68"/>
                </a:cubicBezTo>
                <a:cubicBezTo>
                  <a:pt x="95" y="84"/>
                  <a:pt x="85" y="105"/>
                  <a:pt x="85" y="129"/>
                </a:cubicBezTo>
                <a:cubicBezTo>
                  <a:pt x="85" y="186"/>
                  <a:pt x="85" y="186"/>
                  <a:pt x="85" y="186"/>
                </a:cubicBezTo>
                <a:close/>
                <a:moveTo>
                  <a:pt x="171" y="271"/>
                </a:moveTo>
                <a:cubicBezTo>
                  <a:pt x="151" y="271"/>
                  <a:pt x="135" y="287"/>
                  <a:pt x="135" y="307"/>
                </a:cubicBezTo>
                <a:cubicBezTo>
                  <a:pt x="135" y="321"/>
                  <a:pt x="144" y="334"/>
                  <a:pt x="157" y="339"/>
                </a:cubicBezTo>
                <a:cubicBezTo>
                  <a:pt x="157" y="364"/>
                  <a:pt x="157" y="364"/>
                  <a:pt x="157" y="364"/>
                </a:cubicBezTo>
                <a:cubicBezTo>
                  <a:pt x="157" y="372"/>
                  <a:pt x="163" y="378"/>
                  <a:pt x="171" y="378"/>
                </a:cubicBezTo>
                <a:cubicBezTo>
                  <a:pt x="179" y="378"/>
                  <a:pt x="185" y="372"/>
                  <a:pt x="185" y="364"/>
                </a:cubicBezTo>
                <a:cubicBezTo>
                  <a:pt x="185" y="339"/>
                  <a:pt x="185" y="339"/>
                  <a:pt x="185" y="339"/>
                </a:cubicBezTo>
                <a:cubicBezTo>
                  <a:pt x="198" y="334"/>
                  <a:pt x="207" y="321"/>
                  <a:pt x="207" y="307"/>
                </a:cubicBezTo>
                <a:cubicBezTo>
                  <a:pt x="207" y="287"/>
                  <a:pt x="191" y="271"/>
                  <a:pt x="171" y="271"/>
                </a:cubicBezTo>
                <a:close/>
                <a:moveTo>
                  <a:pt x="299" y="186"/>
                </a:moveTo>
                <a:cubicBezTo>
                  <a:pt x="299" y="186"/>
                  <a:pt x="299" y="186"/>
                  <a:pt x="299" y="186"/>
                </a:cubicBezTo>
                <a:cubicBezTo>
                  <a:pt x="323" y="186"/>
                  <a:pt x="342" y="205"/>
                  <a:pt x="342" y="228"/>
                </a:cubicBezTo>
                <a:cubicBezTo>
                  <a:pt x="342" y="414"/>
                  <a:pt x="342" y="414"/>
                  <a:pt x="342" y="414"/>
                </a:cubicBezTo>
                <a:cubicBezTo>
                  <a:pt x="342" y="437"/>
                  <a:pt x="323" y="456"/>
                  <a:pt x="299" y="456"/>
                </a:cubicBezTo>
                <a:cubicBezTo>
                  <a:pt x="43" y="456"/>
                  <a:pt x="43" y="456"/>
                  <a:pt x="43" y="456"/>
                </a:cubicBezTo>
                <a:cubicBezTo>
                  <a:pt x="19" y="456"/>
                  <a:pt x="0" y="437"/>
                  <a:pt x="0" y="414"/>
                </a:cubicBezTo>
                <a:cubicBezTo>
                  <a:pt x="0" y="228"/>
                  <a:pt x="0" y="228"/>
                  <a:pt x="0" y="228"/>
                </a:cubicBezTo>
                <a:cubicBezTo>
                  <a:pt x="0" y="205"/>
                  <a:pt x="19" y="186"/>
                  <a:pt x="43" y="186"/>
                </a:cubicBezTo>
                <a:cubicBezTo>
                  <a:pt x="43" y="129"/>
                  <a:pt x="43" y="129"/>
                  <a:pt x="43" y="129"/>
                </a:cubicBezTo>
                <a:cubicBezTo>
                  <a:pt x="43" y="93"/>
                  <a:pt x="57" y="61"/>
                  <a:pt x="80" y="38"/>
                </a:cubicBezTo>
                <a:cubicBezTo>
                  <a:pt x="104" y="15"/>
                  <a:pt x="136" y="0"/>
                  <a:pt x="171" y="0"/>
                </a:cubicBezTo>
                <a:cubicBezTo>
                  <a:pt x="206" y="0"/>
                  <a:pt x="239" y="15"/>
                  <a:pt x="262" y="38"/>
                </a:cubicBezTo>
                <a:cubicBezTo>
                  <a:pt x="285" y="61"/>
                  <a:pt x="299" y="93"/>
                  <a:pt x="299" y="129"/>
                </a:cubicBezTo>
                <a:lnTo>
                  <a:pt x="299" y="18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45"/>
          <p:cNvSpPr>
            <a:spLocks noEditPoints="1"/>
          </p:cNvSpPr>
          <p:nvPr userDrawn="1"/>
        </p:nvSpPr>
        <p:spPr bwMode="auto">
          <a:xfrm>
            <a:off x="10165689" y="2639217"/>
            <a:ext cx="202462" cy="270518"/>
          </a:xfrm>
          <a:custGeom>
            <a:avLst/>
            <a:gdLst>
              <a:gd name="T0" fmla="*/ 85 w 341"/>
              <a:gd name="T1" fmla="*/ 185 h 455"/>
              <a:gd name="T2" fmla="*/ 199 w 341"/>
              <a:gd name="T3" fmla="*/ 185 h 455"/>
              <a:gd name="T4" fmla="*/ 199 w 341"/>
              <a:gd name="T5" fmla="*/ 185 h 455"/>
              <a:gd name="T6" fmla="*/ 298 w 341"/>
              <a:gd name="T7" fmla="*/ 185 h 455"/>
              <a:gd name="T8" fmla="*/ 341 w 341"/>
              <a:gd name="T9" fmla="*/ 227 h 455"/>
              <a:gd name="T10" fmla="*/ 341 w 341"/>
              <a:gd name="T11" fmla="*/ 412 h 455"/>
              <a:gd name="T12" fmla="*/ 298 w 341"/>
              <a:gd name="T13" fmla="*/ 455 h 455"/>
              <a:gd name="T14" fmla="*/ 43 w 341"/>
              <a:gd name="T15" fmla="*/ 455 h 455"/>
              <a:gd name="T16" fmla="*/ 0 w 341"/>
              <a:gd name="T17" fmla="*/ 412 h 455"/>
              <a:gd name="T18" fmla="*/ 0 w 341"/>
              <a:gd name="T19" fmla="*/ 227 h 455"/>
              <a:gd name="T20" fmla="*/ 43 w 341"/>
              <a:gd name="T21" fmla="*/ 185 h 455"/>
              <a:gd name="T22" fmla="*/ 43 w 341"/>
              <a:gd name="T23" fmla="*/ 128 h 455"/>
              <a:gd name="T24" fmla="*/ 80 w 341"/>
              <a:gd name="T25" fmla="*/ 38 h 455"/>
              <a:gd name="T26" fmla="*/ 170 w 341"/>
              <a:gd name="T27" fmla="*/ 0 h 455"/>
              <a:gd name="T28" fmla="*/ 261 w 341"/>
              <a:gd name="T29" fmla="*/ 38 h 455"/>
              <a:gd name="T30" fmla="*/ 298 w 341"/>
              <a:gd name="T31" fmla="*/ 128 h 455"/>
              <a:gd name="T32" fmla="*/ 298 w 341"/>
              <a:gd name="T33" fmla="*/ 135 h 455"/>
              <a:gd name="T34" fmla="*/ 277 w 341"/>
              <a:gd name="T35" fmla="*/ 156 h 455"/>
              <a:gd name="T36" fmla="*/ 255 w 341"/>
              <a:gd name="T37" fmla="*/ 135 h 455"/>
              <a:gd name="T38" fmla="*/ 255 w 341"/>
              <a:gd name="T39" fmla="*/ 128 h 455"/>
              <a:gd name="T40" fmla="*/ 231 w 341"/>
              <a:gd name="T41" fmla="*/ 68 h 455"/>
              <a:gd name="T42" fmla="*/ 170 w 341"/>
              <a:gd name="T43" fmla="*/ 43 h 455"/>
              <a:gd name="T44" fmla="*/ 110 w 341"/>
              <a:gd name="T45" fmla="*/ 68 h 455"/>
              <a:gd name="T46" fmla="*/ 85 w 341"/>
              <a:gd name="T47" fmla="*/ 128 h 455"/>
              <a:gd name="T48" fmla="*/ 85 w 341"/>
              <a:gd name="T49" fmla="*/ 185 h 455"/>
              <a:gd name="T50" fmla="*/ 170 w 341"/>
              <a:gd name="T51" fmla="*/ 270 h 455"/>
              <a:gd name="T52" fmla="*/ 135 w 341"/>
              <a:gd name="T53" fmla="*/ 305 h 455"/>
              <a:gd name="T54" fmla="*/ 156 w 341"/>
              <a:gd name="T55" fmla="*/ 338 h 455"/>
              <a:gd name="T56" fmla="*/ 156 w 341"/>
              <a:gd name="T57" fmla="*/ 362 h 455"/>
              <a:gd name="T58" fmla="*/ 170 w 341"/>
              <a:gd name="T59" fmla="*/ 376 h 455"/>
              <a:gd name="T60" fmla="*/ 184 w 341"/>
              <a:gd name="T61" fmla="*/ 362 h 455"/>
              <a:gd name="T62" fmla="*/ 184 w 341"/>
              <a:gd name="T63" fmla="*/ 338 h 455"/>
              <a:gd name="T64" fmla="*/ 206 w 341"/>
              <a:gd name="T65" fmla="*/ 305 h 455"/>
              <a:gd name="T66" fmla="*/ 170 w 341"/>
              <a:gd name="T67" fmla="*/ 270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1" h="455">
                <a:moveTo>
                  <a:pt x="85" y="185"/>
                </a:moveTo>
                <a:cubicBezTo>
                  <a:pt x="199" y="185"/>
                  <a:pt x="199" y="185"/>
                  <a:pt x="199" y="185"/>
                </a:cubicBezTo>
                <a:cubicBezTo>
                  <a:pt x="199" y="185"/>
                  <a:pt x="199" y="185"/>
                  <a:pt x="199" y="185"/>
                </a:cubicBezTo>
                <a:cubicBezTo>
                  <a:pt x="298" y="185"/>
                  <a:pt x="298" y="185"/>
                  <a:pt x="298" y="185"/>
                </a:cubicBezTo>
                <a:cubicBezTo>
                  <a:pt x="322" y="185"/>
                  <a:pt x="341" y="204"/>
                  <a:pt x="341" y="227"/>
                </a:cubicBezTo>
                <a:cubicBezTo>
                  <a:pt x="341" y="412"/>
                  <a:pt x="341" y="412"/>
                  <a:pt x="341" y="412"/>
                </a:cubicBezTo>
                <a:cubicBezTo>
                  <a:pt x="341" y="435"/>
                  <a:pt x="322" y="455"/>
                  <a:pt x="298" y="455"/>
                </a:cubicBezTo>
                <a:cubicBezTo>
                  <a:pt x="43" y="455"/>
                  <a:pt x="43" y="455"/>
                  <a:pt x="43" y="455"/>
                </a:cubicBezTo>
                <a:cubicBezTo>
                  <a:pt x="19" y="455"/>
                  <a:pt x="0" y="435"/>
                  <a:pt x="0" y="412"/>
                </a:cubicBezTo>
                <a:cubicBezTo>
                  <a:pt x="0" y="227"/>
                  <a:pt x="0" y="227"/>
                  <a:pt x="0" y="227"/>
                </a:cubicBezTo>
                <a:cubicBezTo>
                  <a:pt x="0" y="204"/>
                  <a:pt x="19" y="185"/>
                  <a:pt x="43" y="185"/>
                </a:cubicBezTo>
                <a:cubicBezTo>
                  <a:pt x="43" y="128"/>
                  <a:pt x="43" y="128"/>
                  <a:pt x="43" y="128"/>
                </a:cubicBezTo>
                <a:cubicBezTo>
                  <a:pt x="43" y="93"/>
                  <a:pt x="57" y="61"/>
                  <a:pt x="80" y="38"/>
                </a:cubicBezTo>
                <a:cubicBezTo>
                  <a:pt x="103" y="14"/>
                  <a:pt x="135" y="0"/>
                  <a:pt x="170" y="0"/>
                </a:cubicBezTo>
                <a:cubicBezTo>
                  <a:pt x="206" y="0"/>
                  <a:pt x="238" y="14"/>
                  <a:pt x="261" y="38"/>
                </a:cubicBezTo>
                <a:cubicBezTo>
                  <a:pt x="284" y="61"/>
                  <a:pt x="298" y="93"/>
                  <a:pt x="298" y="128"/>
                </a:cubicBezTo>
                <a:cubicBezTo>
                  <a:pt x="298" y="135"/>
                  <a:pt x="298" y="135"/>
                  <a:pt x="298" y="135"/>
                </a:cubicBezTo>
                <a:cubicBezTo>
                  <a:pt x="298" y="147"/>
                  <a:pt x="289" y="156"/>
                  <a:pt x="277" y="156"/>
                </a:cubicBezTo>
                <a:cubicBezTo>
                  <a:pt x="265" y="156"/>
                  <a:pt x="255" y="147"/>
                  <a:pt x="255" y="135"/>
                </a:cubicBezTo>
                <a:cubicBezTo>
                  <a:pt x="255" y="128"/>
                  <a:pt x="255" y="128"/>
                  <a:pt x="255" y="128"/>
                </a:cubicBezTo>
                <a:cubicBezTo>
                  <a:pt x="255" y="104"/>
                  <a:pt x="246" y="83"/>
                  <a:pt x="231" y="68"/>
                </a:cubicBezTo>
                <a:cubicBezTo>
                  <a:pt x="215" y="52"/>
                  <a:pt x="194" y="43"/>
                  <a:pt x="170" y="43"/>
                </a:cubicBezTo>
                <a:cubicBezTo>
                  <a:pt x="147" y="43"/>
                  <a:pt x="125" y="52"/>
                  <a:pt x="110" y="68"/>
                </a:cubicBezTo>
                <a:cubicBezTo>
                  <a:pt x="95" y="83"/>
                  <a:pt x="85" y="104"/>
                  <a:pt x="85" y="128"/>
                </a:cubicBezTo>
                <a:cubicBezTo>
                  <a:pt x="85" y="185"/>
                  <a:pt x="85" y="185"/>
                  <a:pt x="85" y="185"/>
                </a:cubicBezTo>
                <a:close/>
                <a:moveTo>
                  <a:pt x="170" y="270"/>
                </a:moveTo>
                <a:cubicBezTo>
                  <a:pt x="151" y="270"/>
                  <a:pt x="135" y="286"/>
                  <a:pt x="135" y="305"/>
                </a:cubicBezTo>
                <a:cubicBezTo>
                  <a:pt x="135" y="320"/>
                  <a:pt x="144" y="332"/>
                  <a:pt x="156" y="338"/>
                </a:cubicBezTo>
                <a:cubicBezTo>
                  <a:pt x="156" y="362"/>
                  <a:pt x="156" y="362"/>
                  <a:pt x="156" y="362"/>
                </a:cubicBezTo>
                <a:cubicBezTo>
                  <a:pt x="156" y="370"/>
                  <a:pt x="163" y="376"/>
                  <a:pt x="170" y="376"/>
                </a:cubicBezTo>
                <a:cubicBezTo>
                  <a:pt x="178" y="376"/>
                  <a:pt x="184" y="370"/>
                  <a:pt x="184" y="362"/>
                </a:cubicBezTo>
                <a:cubicBezTo>
                  <a:pt x="184" y="338"/>
                  <a:pt x="184" y="338"/>
                  <a:pt x="184" y="338"/>
                </a:cubicBezTo>
                <a:cubicBezTo>
                  <a:pt x="197" y="332"/>
                  <a:pt x="206" y="320"/>
                  <a:pt x="206" y="305"/>
                </a:cubicBezTo>
                <a:cubicBezTo>
                  <a:pt x="206" y="286"/>
                  <a:pt x="190" y="270"/>
                  <a:pt x="170" y="27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7"/>
          <p:cNvSpPr>
            <a:spLocks noEditPoints="1"/>
          </p:cNvSpPr>
          <p:nvPr userDrawn="1"/>
        </p:nvSpPr>
        <p:spPr bwMode="auto">
          <a:xfrm>
            <a:off x="10140471" y="3251671"/>
            <a:ext cx="232739" cy="232739"/>
          </a:xfrm>
          <a:custGeom>
            <a:avLst/>
            <a:gdLst>
              <a:gd name="T0" fmla="*/ 286 w 435"/>
              <a:gd name="T1" fmla="*/ 0 h 435"/>
              <a:gd name="T2" fmla="*/ 136 w 435"/>
              <a:gd name="T3" fmla="*/ 149 h 435"/>
              <a:gd name="T4" fmla="*/ 150 w 435"/>
              <a:gd name="T5" fmla="*/ 212 h 435"/>
              <a:gd name="T6" fmla="*/ 4 w 435"/>
              <a:gd name="T7" fmla="*/ 357 h 435"/>
              <a:gd name="T8" fmla="*/ 0 w 435"/>
              <a:gd name="T9" fmla="*/ 367 h 435"/>
              <a:gd name="T10" fmla="*/ 0 w 435"/>
              <a:gd name="T11" fmla="*/ 421 h 435"/>
              <a:gd name="T12" fmla="*/ 14 w 435"/>
              <a:gd name="T13" fmla="*/ 435 h 435"/>
              <a:gd name="T14" fmla="*/ 68 w 435"/>
              <a:gd name="T15" fmla="*/ 435 h 435"/>
              <a:gd name="T16" fmla="*/ 78 w 435"/>
              <a:gd name="T17" fmla="*/ 431 h 435"/>
              <a:gd name="T18" fmla="*/ 223 w 435"/>
              <a:gd name="T19" fmla="*/ 285 h 435"/>
              <a:gd name="T20" fmla="*/ 286 w 435"/>
              <a:gd name="T21" fmla="*/ 299 h 435"/>
              <a:gd name="T22" fmla="*/ 435 w 435"/>
              <a:gd name="T23" fmla="*/ 149 h 435"/>
              <a:gd name="T24" fmla="*/ 286 w 435"/>
              <a:gd name="T25" fmla="*/ 0 h 435"/>
              <a:gd name="T26" fmla="*/ 326 w 435"/>
              <a:gd name="T27" fmla="*/ 68 h 435"/>
              <a:gd name="T28" fmla="*/ 367 w 435"/>
              <a:gd name="T29" fmla="*/ 108 h 435"/>
              <a:gd name="T30" fmla="*/ 326 w 435"/>
              <a:gd name="T31" fmla="*/ 149 h 435"/>
              <a:gd name="T32" fmla="*/ 286 w 435"/>
              <a:gd name="T33" fmla="*/ 108 h 435"/>
              <a:gd name="T34" fmla="*/ 326 w 435"/>
              <a:gd name="T35" fmla="*/ 68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35" h="435">
                <a:moveTo>
                  <a:pt x="286" y="0"/>
                </a:moveTo>
                <a:cubicBezTo>
                  <a:pt x="203" y="0"/>
                  <a:pt x="136" y="67"/>
                  <a:pt x="136" y="149"/>
                </a:cubicBezTo>
                <a:cubicBezTo>
                  <a:pt x="136" y="171"/>
                  <a:pt x="141" y="193"/>
                  <a:pt x="150" y="212"/>
                </a:cubicBezTo>
                <a:cubicBezTo>
                  <a:pt x="4" y="357"/>
                  <a:pt x="4" y="357"/>
                  <a:pt x="4" y="357"/>
                </a:cubicBezTo>
                <a:cubicBezTo>
                  <a:pt x="1" y="360"/>
                  <a:pt x="0" y="363"/>
                  <a:pt x="0" y="367"/>
                </a:cubicBezTo>
                <a:cubicBezTo>
                  <a:pt x="0" y="421"/>
                  <a:pt x="0" y="421"/>
                  <a:pt x="0" y="421"/>
                </a:cubicBezTo>
                <a:cubicBezTo>
                  <a:pt x="0" y="429"/>
                  <a:pt x="6" y="435"/>
                  <a:pt x="14" y="435"/>
                </a:cubicBezTo>
                <a:cubicBezTo>
                  <a:pt x="68" y="435"/>
                  <a:pt x="68" y="435"/>
                  <a:pt x="68" y="435"/>
                </a:cubicBezTo>
                <a:cubicBezTo>
                  <a:pt x="72" y="435"/>
                  <a:pt x="75" y="433"/>
                  <a:pt x="78" y="431"/>
                </a:cubicBezTo>
                <a:cubicBezTo>
                  <a:pt x="223" y="285"/>
                  <a:pt x="223" y="285"/>
                  <a:pt x="223" y="285"/>
                </a:cubicBezTo>
                <a:cubicBezTo>
                  <a:pt x="242" y="294"/>
                  <a:pt x="263" y="299"/>
                  <a:pt x="286" y="299"/>
                </a:cubicBezTo>
                <a:cubicBezTo>
                  <a:pt x="368" y="299"/>
                  <a:pt x="435" y="232"/>
                  <a:pt x="435" y="149"/>
                </a:cubicBezTo>
                <a:cubicBezTo>
                  <a:pt x="435" y="67"/>
                  <a:pt x="368" y="0"/>
                  <a:pt x="286" y="0"/>
                </a:cubicBezTo>
                <a:close/>
                <a:moveTo>
                  <a:pt x="326" y="68"/>
                </a:moveTo>
                <a:cubicBezTo>
                  <a:pt x="349" y="68"/>
                  <a:pt x="367" y="86"/>
                  <a:pt x="367" y="108"/>
                </a:cubicBezTo>
                <a:cubicBezTo>
                  <a:pt x="367" y="131"/>
                  <a:pt x="349" y="149"/>
                  <a:pt x="326" y="149"/>
                </a:cubicBezTo>
                <a:cubicBezTo>
                  <a:pt x="304" y="149"/>
                  <a:pt x="286" y="131"/>
                  <a:pt x="286" y="108"/>
                </a:cubicBezTo>
                <a:cubicBezTo>
                  <a:pt x="286" y="86"/>
                  <a:pt x="304" y="68"/>
                  <a:pt x="326" y="6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27" name="Freeform 6"/>
          <p:cNvSpPr>
            <a:spLocks/>
          </p:cNvSpPr>
          <p:nvPr userDrawn="1"/>
        </p:nvSpPr>
        <p:spPr bwMode="auto">
          <a:xfrm>
            <a:off x="10942582" y="5023145"/>
            <a:ext cx="243043" cy="241966"/>
          </a:xfrm>
          <a:custGeom>
            <a:avLst/>
            <a:gdLst>
              <a:gd name="T0" fmla="*/ 84 w 446"/>
              <a:gd name="T1" fmla="*/ 444 h 444"/>
              <a:gd name="T2" fmla="*/ 76 w 446"/>
              <a:gd name="T3" fmla="*/ 442 h 444"/>
              <a:gd name="T4" fmla="*/ 71 w 446"/>
              <a:gd name="T5" fmla="*/ 426 h 444"/>
              <a:gd name="T6" fmla="*/ 121 w 446"/>
              <a:gd name="T7" fmla="*/ 274 h 444"/>
              <a:gd name="T8" fmla="*/ 7 w 446"/>
              <a:gd name="T9" fmla="*/ 192 h 444"/>
              <a:gd name="T10" fmla="*/ 1 w 446"/>
              <a:gd name="T11" fmla="*/ 176 h 444"/>
              <a:gd name="T12" fmla="*/ 15 w 446"/>
              <a:gd name="T13" fmla="*/ 167 h 444"/>
              <a:gd name="T14" fmla="*/ 157 w 446"/>
              <a:gd name="T15" fmla="*/ 167 h 444"/>
              <a:gd name="T16" fmla="*/ 210 w 446"/>
              <a:gd name="T17" fmla="*/ 9 h 444"/>
              <a:gd name="T18" fmla="*/ 223 w 446"/>
              <a:gd name="T19" fmla="*/ 0 h 444"/>
              <a:gd name="T20" fmla="*/ 236 w 446"/>
              <a:gd name="T21" fmla="*/ 9 h 444"/>
              <a:gd name="T22" fmla="*/ 289 w 446"/>
              <a:gd name="T23" fmla="*/ 167 h 444"/>
              <a:gd name="T24" fmla="*/ 431 w 446"/>
              <a:gd name="T25" fmla="*/ 167 h 444"/>
              <a:gd name="T26" fmla="*/ 445 w 446"/>
              <a:gd name="T27" fmla="*/ 176 h 444"/>
              <a:gd name="T28" fmla="*/ 439 w 446"/>
              <a:gd name="T29" fmla="*/ 192 h 444"/>
              <a:gd name="T30" fmla="*/ 325 w 446"/>
              <a:gd name="T31" fmla="*/ 274 h 444"/>
              <a:gd name="T32" fmla="*/ 375 w 446"/>
              <a:gd name="T33" fmla="*/ 426 h 444"/>
              <a:gd name="T34" fmla="*/ 370 w 446"/>
              <a:gd name="T35" fmla="*/ 442 h 444"/>
              <a:gd name="T36" fmla="*/ 362 w 446"/>
              <a:gd name="T37" fmla="*/ 444 h 444"/>
              <a:gd name="T38" fmla="*/ 354 w 446"/>
              <a:gd name="T39" fmla="*/ 442 h 444"/>
              <a:gd name="T40" fmla="*/ 223 w 446"/>
              <a:gd name="T41" fmla="*/ 348 h 444"/>
              <a:gd name="T42" fmla="*/ 92 w 446"/>
              <a:gd name="T43" fmla="*/ 442 h 444"/>
              <a:gd name="T44" fmla="*/ 84 w 446"/>
              <a:gd name="T45" fmla="*/ 444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44">
                <a:moveTo>
                  <a:pt x="84" y="444"/>
                </a:moveTo>
                <a:cubicBezTo>
                  <a:pt x="81" y="444"/>
                  <a:pt x="78" y="443"/>
                  <a:pt x="76" y="442"/>
                </a:cubicBezTo>
                <a:cubicBezTo>
                  <a:pt x="71" y="438"/>
                  <a:pt x="69" y="432"/>
                  <a:pt x="71" y="426"/>
                </a:cubicBezTo>
                <a:cubicBezTo>
                  <a:pt x="121" y="274"/>
                  <a:pt x="121" y="274"/>
                  <a:pt x="121" y="274"/>
                </a:cubicBezTo>
                <a:cubicBezTo>
                  <a:pt x="7" y="192"/>
                  <a:pt x="7" y="192"/>
                  <a:pt x="7" y="192"/>
                </a:cubicBezTo>
                <a:cubicBezTo>
                  <a:pt x="2" y="188"/>
                  <a:pt x="0" y="182"/>
                  <a:pt x="1" y="176"/>
                </a:cubicBezTo>
                <a:cubicBezTo>
                  <a:pt x="3" y="170"/>
                  <a:pt x="9" y="167"/>
                  <a:pt x="15" y="167"/>
                </a:cubicBezTo>
                <a:cubicBezTo>
                  <a:pt x="157" y="167"/>
                  <a:pt x="157" y="167"/>
                  <a:pt x="157" y="167"/>
                </a:cubicBezTo>
                <a:cubicBezTo>
                  <a:pt x="210" y="9"/>
                  <a:pt x="210" y="9"/>
                  <a:pt x="210" y="9"/>
                </a:cubicBezTo>
                <a:cubicBezTo>
                  <a:pt x="212" y="4"/>
                  <a:pt x="217" y="0"/>
                  <a:pt x="223" y="0"/>
                </a:cubicBezTo>
                <a:cubicBezTo>
                  <a:pt x="229" y="0"/>
                  <a:pt x="234" y="4"/>
                  <a:pt x="236" y="9"/>
                </a:cubicBezTo>
                <a:cubicBezTo>
                  <a:pt x="289" y="167"/>
                  <a:pt x="289" y="167"/>
                  <a:pt x="289" y="167"/>
                </a:cubicBezTo>
                <a:cubicBezTo>
                  <a:pt x="431" y="167"/>
                  <a:pt x="431" y="167"/>
                  <a:pt x="431" y="167"/>
                </a:cubicBezTo>
                <a:cubicBezTo>
                  <a:pt x="437" y="167"/>
                  <a:pt x="443" y="170"/>
                  <a:pt x="445" y="176"/>
                </a:cubicBezTo>
                <a:cubicBezTo>
                  <a:pt x="446" y="182"/>
                  <a:pt x="444" y="188"/>
                  <a:pt x="439" y="192"/>
                </a:cubicBezTo>
                <a:cubicBezTo>
                  <a:pt x="325" y="274"/>
                  <a:pt x="325" y="274"/>
                  <a:pt x="325" y="274"/>
                </a:cubicBezTo>
                <a:cubicBezTo>
                  <a:pt x="375" y="426"/>
                  <a:pt x="375" y="426"/>
                  <a:pt x="375" y="426"/>
                </a:cubicBezTo>
                <a:cubicBezTo>
                  <a:pt x="377" y="432"/>
                  <a:pt x="375" y="438"/>
                  <a:pt x="370" y="442"/>
                </a:cubicBezTo>
                <a:cubicBezTo>
                  <a:pt x="368" y="443"/>
                  <a:pt x="365" y="444"/>
                  <a:pt x="362" y="444"/>
                </a:cubicBezTo>
                <a:cubicBezTo>
                  <a:pt x="359" y="444"/>
                  <a:pt x="356" y="443"/>
                  <a:pt x="354" y="442"/>
                </a:cubicBezTo>
                <a:cubicBezTo>
                  <a:pt x="223" y="348"/>
                  <a:pt x="223" y="348"/>
                  <a:pt x="223" y="348"/>
                </a:cubicBezTo>
                <a:cubicBezTo>
                  <a:pt x="92" y="442"/>
                  <a:pt x="92" y="442"/>
                  <a:pt x="92" y="442"/>
                </a:cubicBezTo>
                <a:cubicBezTo>
                  <a:pt x="90" y="443"/>
                  <a:pt x="87" y="444"/>
                  <a:pt x="84" y="44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6"/>
          <p:cNvSpPr>
            <a:spLocks noEditPoints="1"/>
          </p:cNvSpPr>
          <p:nvPr userDrawn="1"/>
        </p:nvSpPr>
        <p:spPr bwMode="auto">
          <a:xfrm>
            <a:off x="7117560" y="5022729"/>
            <a:ext cx="350830" cy="253500"/>
          </a:xfrm>
          <a:custGeom>
            <a:avLst/>
            <a:gdLst>
              <a:gd name="T0" fmla="*/ 12 w 448"/>
              <a:gd name="T1" fmla="*/ 324 h 324"/>
              <a:gd name="T2" fmla="*/ 142 w 448"/>
              <a:gd name="T3" fmla="*/ 279 h 324"/>
              <a:gd name="T4" fmla="*/ 161 w 448"/>
              <a:gd name="T5" fmla="*/ 199 h 324"/>
              <a:gd name="T6" fmla="*/ 154 w 448"/>
              <a:gd name="T7" fmla="*/ 195 h 324"/>
              <a:gd name="T8" fmla="*/ 155 w 448"/>
              <a:gd name="T9" fmla="*/ 179 h 324"/>
              <a:gd name="T10" fmla="*/ 184 w 448"/>
              <a:gd name="T11" fmla="*/ 184 h 324"/>
              <a:gd name="T12" fmla="*/ 176 w 448"/>
              <a:gd name="T13" fmla="*/ 199 h 324"/>
              <a:gd name="T14" fmla="*/ 183 w 448"/>
              <a:gd name="T15" fmla="*/ 278 h 324"/>
              <a:gd name="T16" fmla="*/ 210 w 448"/>
              <a:gd name="T17" fmla="*/ 175 h 324"/>
              <a:gd name="T18" fmla="*/ 317 w 448"/>
              <a:gd name="T19" fmla="*/ 249 h 324"/>
              <a:gd name="T20" fmla="*/ 350 w 448"/>
              <a:gd name="T21" fmla="*/ 221 h 324"/>
              <a:gd name="T22" fmla="*/ 339 w 448"/>
              <a:gd name="T23" fmla="*/ 299 h 324"/>
              <a:gd name="T24" fmla="*/ 340 w 448"/>
              <a:gd name="T25" fmla="*/ 324 h 324"/>
              <a:gd name="T26" fmla="*/ 409 w 448"/>
              <a:gd name="T27" fmla="*/ 219 h 324"/>
              <a:gd name="T28" fmla="*/ 350 w 448"/>
              <a:gd name="T29" fmla="*/ 221 h 324"/>
              <a:gd name="T30" fmla="*/ 298 w 448"/>
              <a:gd name="T31" fmla="*/ 195 h 324"/>
              <a:gd name="T32" fmla="*/ 305 w 448"/>
              <a:gd name="T33" fmla="*/ 190 h 324"/>
              <a:gd name="T34" fmla="*/ 312 w 448"/>
              <a:gd name="T35" fmla="*/ 119 h 324"/>
              <a:gd name="T36" fmla="*/ 369 w 448"/>
              <a:gd name="T37" fmla="*/ 117 h 324"/>
              <a:gd name="T38" fmla="*/ 378 w 448"/>
              <a:gd name="T39" fmla="*/ 118 h 324"/>
              <a:gd name="T40" fmla="*/ 352 w 448"/>
              <a:gd name="T41" fmla="*/ 185 h 324"/>
              <a:gd name="T42" fmla="*/ 396 w 448"/>
              <a:gd name="T43" fmla="*/ 209 h 324"/>
              <a:gd name="T44" fmla="*/ 354 w 448"/>
              <a:gd name="T45" fmla="*/ 39 h 324"/>
              <a:gd name="T46" fmla="*/ 266 w 448"/>
              <a:gd name="T47" fmla="*/ 176 h 324"/>
              <a:gd name="T48" fmla="*/ 106 w 448"/>
              <a:gd name="T49" fmla="*/ 111 h 324"/>
              <a:gd name="T50" fmla="*/ 110 w 448"/>
              <a:gd name="T51" fmla="*/ 121 h 324"/>
              <a:gd name="T52" fmla="*/ 219 w 448"/>
              <a:gd name="T53" fmla="*/ 123 h 324"/>
              <a:gd name="T54" fmla="*/ 223 w 448"/>
              <a:gd name="T55" fmla="*/ 111 h 324"/>
              <a:gd name="T56" fmla="*/ 231 w 448"/>
              <a:gd name="T57" fmla="*/ 67 h 324"/>
              <a:gd name="T58" fmla="*/ 165 w 448"/>
              <a:gd name="T59" fmla="*/ 0 h 324"/>
              <a:gd name="T60" fmla="*/ 100 w 448"/>
              <a:gd name="T61" fmla="*/ 67 h 324"/>
              <a:gd name="T62" fmla="*/ 106 w 448"/>
              <a:gd name="T63" fmla="*/ 111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8" h="324">
                <a:moveTo>
                  <a:pt x="325" y="324"/>
                </a:moveTo>
                <a:cubicBezTo>
                  <a:pt x="219" y="324"/>
                  <a:pt x="116" y="324"/>
                  <a:pt x="12" y="324"/>
                </a:cubicBezTo>
                <a:cubicBezTo>
                  <a:pt x="0" y="233"/>
                  <a:pt x="28" y="197"/>
                  <a:pt x="123" y="178"/>
                </a:cubicBezTo>
                <a:cubicBezTo>
                  <a:pt x="129" y="212"/>
                  <a:pt x="136" y="245"/>
                  <a:pt x="142" y="279"/>
                </a:cubicBezTo>
                <a:cubicBezTo>
                  <a:pt x="144" y="278"/>
                  <a:pt x="147" y="278"/>
                  <a:pt x="149" y="278"/>
                </a:cubicBezTo>
                <a:cubicBezTo>
                  <a:pt x="151" y="257"/>
                  <a:pt x="158" y="212"/>
                  <a:pt x="161" y="199"/>
                </a:cubicBezTo>
                <a:cubicBezTo>
                  <a:pt x="158" y="199"/>
                  <a:pt x="158" y="199"/>
                  <a:pt x="158" y="199"/>
                </a:cubicBezTo>
                <a:cubicBezTo>
                  <a:pt x="156" y="199"/>
                  <a:pt x="155" y="197"/>
                  <a:pt x="154" y="195"/>
                </a:cubicBezTo>
                <a:cubicBezTo>
                  <a:pt x="150" y="184"/>
                  <a:pt x="150" y="184"/>
                  <a:pt x="150" y="184"/>
                </a:cubicBezTo>
                <a:cubicBezTo>
                  <a:pt x="150" y="181"/>
                  <a:pt x="151" y="179"/>
                  <a:pt x="155" y="179"/>
                </a:cubicBezTo>
                <a:cubicBezTo>
                  <a:pt x="181" y="179"/>
                  <a:pt x="181" y="179"/>
                  <a:pt x="181" y="179"/>
                </a:cubicBezTo>
                <a:cubicBezTo>
                  <a:pt x="184" y="180"/>
                  <a:pt x="185" y="182"/>
                  <a:pt x="184" y="184"/>
                </a:cubicBezTo>
                <a:cubicBezTo>
                  <a:pt x="181" y="195"/>
                  <a:pt x="181" y="195"/>
                  <a:pt x="181" y="195"/>
                </a:cubicBezTo>
                <a:cubicBezTo>
                  <a:pt x="180" y="198"/>
                  <a:pt x="178" y="199"/>
                  <a:pt x="176" y="199"/>
                </a:cubicBezTo>
                <a:cubicBezTo>
                  <a:pt x="173" y="199"/>
                  <a:pt x="173" y="199"/>
                  <a:pt x="173" y="199"/>
                </a:cubicBezTo>
                <a:cubicBezTo>
                  <a:pt x="175" y="212"/>
                  <a:pt x="181" y="257"/>
                  <a:pt x="183" y="278"/>
                </a:cubicBezTo>
                <a:cubicBezTo>
                  <a:pt x="185" y="278"/>
                  <a:pt x="188" y="278"/>
                  <a:pt x="190" y="279"/>
                </a:cubicBezTo>
                <a:cubicBezTo>
                  <a:pt x="197" y="245"/>
                  <a:pt x="203" y="211"/>
                  <a:pt x="210" y="175"/>
                </a:cubicBezTo>
                <a:cubicBezTo>
                  <a:pt x="238" y="186"/>
                  <a:pt x="266" y="194"/>
                  <a:pt x="291" y="208"/>
                </a:cubicBezTo>
                <a:cubicBezTo>
                  <a:pt x="303" y="216"/>
                  <a:pt x="313" y="234"/>
                  <a:pt x="317" y="249"/>
                </a:cubicBezTo>
                <a:cubicBezTo>
                  <a:pt x="323" y="272"/>
                  <a:pt x="323" y="297"/>
                  <a:pt x="325" y="324"/>
                </a:cubicBezTo>
                <a:close/>
                <a:moveTo>
                  <a:pt x="350" y="221"/>
                </a:moveTo>
                <a:cubicBezTo>
                  <a:pt x="346" y="238"/>
                  <a:pt x="341" y="254"/>
                  <a:pt x="336" y="268"/>
                </a:cubicBezTo>
                <a:cubicBezTo>
                  <a:pt x="337" y="278"/>
                  <a:pt x="338" y="289"/>
                  <a:pt x="339" y="299"/>
                </a:cubicBezTo>
                <a:cubicBezTo>
                  <a:pt x="339" y="307"/>
                  <a:pt x="340" y="314"/>
                  <a:pt x="340" y="322"/>
                </a:cubicBezTo>
                <a:cubicBezTo>
                  <a:pt x="340" y="323"/>
                  <a:pt x="340" y="323"/>
                  <a:pt x="340" y="324"/>
                </a:cubicBezTo>
                <a:cubicBezTo>
                  <a:pt x="448" y="324"/>
                  <a:pt x="448" y="324"/>
                  <a:pt x="448" y="324"/>
                </a:cubicBezTo>
                <a:cubicBezTo>
                  <a:pt x="446" y="302"/>
                  <a:pt x="442" y="241"/>
                  <a:pt x="409" y="219"/>
                </a:cubicBezTo>
                <a:cubicBezTo>
                  <a:pt x="388" y="210"/>
                  <a:pt x="369" y="205"/>
                  <a:pt x="354" y="203"/>
                </a:cubicBezTo>
                <a:cubicBezTo>
                  <a:pt x="352" y="210"/>
                  <a:pt x="351" y="218"/>
                  <a:pt x="350" y="221"/>
                </a:cubicBezTo>
                <a:close/>
                <a:moveTo>
                  <a:pt x="266" y="180"/>
                </a:moveTo>
                <a:cubicBezTo>
                  <a:pt x="277" y="184"/>
                  <a:pt x="288" y="189"/>
                  <a:pt x="298" y="195"/>
                </a:cubicBezTo>
                <a:cubicBezTo>
                  <a:pt x="299" y="196"/>
                  <a:pt x="301" y="197"/>
                  <a:pt x="302" y="197"/>
                </a:cubicBezTo>
                <a:cubicBezTo>
                  <a:pt x="303" y="195"/>
                  <a:pt x="304" y="192"/>
                  <a:pt x="305" y="190"/>
                </a:cubicBezTo>
                <a:cubicBezTo>
                  <a:pt x="306" y="179"/>
                  <a:pt x="304" y="167"/>
                  <a:pt x="301" y="163"/>
                </a:cubicBezTo>
                <a:cubicBezTo>
                  <a:pt x="294" y="149"/>
                  <a:pt x="292" y="124"/>
                  <a:pt x="312" y="119"/>
                </a:cubicBezTo>
                <a:cubicBezTo>
                  <a:pt x="337" y="112"/>
                  <a:pt x="354" y="77"/>
                  <a:pt x="354" y="77"/>
                </a:cubicBezTo>
                <a:cubicBezTo>
                  <a:pt x="374" y="81"/>
                  <a:pt x="369" y="117"/>
                  <a:pt x="369" y="117"/>
                </a:cubicBezTo>
                <a:cubicBezTo>
                  <a:pt x="372" y="110"/>
                  <a:pt x="374" y="110"/>
                  <a:pt x="376" y="110"/>
                </a:cubicBezTo>
                <a:cubicBezTo>
                  <a:pt x="379" y="111"/>
                  <a:pt x="378" y="118"/>
                  <a:pt x="378" y="118"/>
                </a:cubicBezTo>
                <a:cubicBezTo>
                  <a:pt x="378" y="147"/>
                  <a:pt x="369" y="140"/>
                  <a:pt x="369" y="140"/>
                </a:cubicBezTo>
                <a:cubicBezTo>
                  <a:pt x="369" y="163"/>
                  <a:pt x="352" y="185"/>
                  <a:pt x="352" y="185"/>
                </a:cubicBezTo>
                <a:cubicBezTo>
                  <a:pt x="352" y="191"/>
                  <a:pt x="351" y="195"/>
                  <a:pt x="353" y="198"/>
                </a:cubicBezTo>
                <a:cubicBezTo>
                  <a:pt x="365" y="199"/>
                  <a:pt x="380" y="203"/>
                  <a:pt x="396" y="209"/>
                </a:cubicBezTo>
                <a:cubicBezTo>
                  <a:pt x="385" y="189"/>
                  <a:pt x="388" y="141"/>
                  <a:pt x="389" y="99"/>
                </a:cubicBezTo>
                <a:cubicBezTo>
                  <a:pt x="391" y="50"/>
                  <a:pt x="354" y="39"/>
                  <a:pt x="354" y="39"/>
                </a:cubicBezTo>
                <a:cubicBezTo>
                  <a:pt x="294" y="19"/>
                  <a:pt x="267" y="65"/>
                  <a:pt x="267" y="65"/>
                </a:cubicBezTo>
                <a:cubicBezTo>
                  <a:pt x="248" y="96"/>
                  <a:pt x="266" y="176"/>
                  <a:pt x="266" y="176"/>
                </a:cubicBezTo>
                <a:cubicBezTo>
                  <a:pt x="267" y="177"/>
                  <a:pt x="267" y="179"/>
                  <a:pt x="266" y="180"/>
                </a:cubicBezTo>
                <a:close/>
                <a:moveTo>
                  <a:pt x="106" y="111"/>
                </a:moveTo>
                <a:cubicBezTo>
                  <a:pt x="107" y="111"/>
                  <a:pt x="107" y="111"/>
                  <a:pt x="108" y="110"/>
                </a:cubicBezTo>
                <a:cubicBezTo>
                  <a:pt x="108" y="115"/>
                  <a:pt x="109" y="118"/>
                  <a:pt x="110" y="121"/>
                </a:cubicBezTo>
                <a:cubicBezTo>
                  <a:pt x="129" y="161"/>
                  <a:pt x="137" y="170"/>
                  <a:pt x="165" y="170"/>
                </a:cubicBezTo>
                <a:cubicBezTo>
                  <a:pt x="193" y="170"/>
                  <a:pt x="201" y="156"/>
                  <a:pt x="219" y="123"/>
                </a:cubicBezTo>
                <a:cubicBezTo>
                  <a:pt x="221" y="120"/>
                  <a:pt x="222" y="115"/>
                  <a:pt x="222" y="111"/>
                </a:cubicBezTo>
                <a:cubicBezTo>
                  <a:pt x="223" y="111"/>
                  <a:pt x="223" y="111"/>
                  <a:pt x="223" y="111"/>
                </a:cubicBezTo>
                <a:cubicBezTo>
                  <a:pt x="227" y="111"/>
                  <a:pt x="231" y="102"/>
                  <a:pt x="233" y="90"/>
                </a:cubicBezTo>
                <a:cubicBezTo>
                  <a:pt x="233" y="83"/>
                  <a:pt x="233" y="71"/>
                  <a:pt x="231" y="67"/>
                </a:cubicBezTo>
                <a:cubicBezTo>
                  <a:pt x="230" y="65"/>
                  <a:pt x="229" y="65"/>
                  <a:pt x="228" y="65"/>
                </a:cubicBezTo>
                <a:cubicBezTo>
                  <a:pt x="222" y="17"/>
                  <a:pt x="196" y="0"/>
                  <a:pt x="165" y="0"/>
                </a:cubicBezTo>
                <a:cubicBezTo>
                  <a:pt x="134" y="0"/>
                  <a:pt x="108" y="17"/>
                  <a:pt x="103" y="65"/>
                </a:cubicBezTo>
                <a:cubicBezTo>
                  <a:pt x="102" y="65"/>
                  <a:pt x="101" y="66"/>
                  <a:pt x="100" y="67"/>
                </a:cubicBezTo>
                <a:cubicBezTo>
                  <a:pt x="98" y="71"/>
                  <a:pt x="97" y="83"/>
                  <a:pt x="98" y="89"/>
                </a:cubicBezTo>
                <a:cubicBezTo>
                  <a:pt x="98" y="102"/>
                  <a:pt x="102" y="111"/>
                  <a:pt x="106" y="1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20"/>
          <p:cNvSpPr>
            <a:spLocks noEditPoints="1"/>
          </p:cNvSpPr>
          <p:nvPr userDrawn="1"/>
        </p:nvSpPr>
        <p:spPr bwMode="auto">
          <a:xfrm>
            <a:off x="7226585" y="6045415"/>
            <a:ext cx="132780" cy="398340"/>
          </a:xfrm>
          <a:custGeom>
            <a:avLst/>
            <a:gdLst>
              <a:gd name="T0" fmla="*/ 29 w 156"/>
              <a:gd name="T1" fmla="*/ 115 h 468"/>
              <a:gd name="T2" fmla="*/ 44 w 156"/>
              <a:gd name="T3" fmla="*/ 26 h 468"/>
              <a:gd name="T4" fmla="*/ 115 w 156"/>
              <a:gd name="T5" fmla="*/ 47 h 468"/>
              <a:gd name="T6" fmla="*/ 94 w 156"/>
              <a:gd name="T7" fmla="*/ 104 h 468"/>
              <a:gd name="T8" fmla="*/ 104 w 156"/>
              <a:gd name="T9" fmla="*/ 70 h 468"/>
              <a:gd name="T10" fmla="*/ 107 w 156"/>
              <a:gd name="T11" fmla="*/ 53 h 468"/>
              <a:gd name="T12" fmla="*/ 94 w 156"/>
              <a:gd name="T13" fmla="*/ 34 h 468"/>
              <a:gd name="T14" fmla="*/ 64 w 156"/>
              <a:gd name="T15" fmla="*/ 83 h 468"/>
              <a:gd name="T16" fmla="*/ 33 w 156"/>
              <a:gd name="T17" fmla="*/ 116 h 468"/>
              <a:gd name="T18" fmla="*/ 132 w 156"/>
              <a:gd name="T19" fmla="*/ 366 h 468"/>
              <a:gd name="T20" fmla="*/ 116 w 156"/>
              <a:gd name="T21" fmla="*/ 224 h 468"/>
              <a:gd name="T22" fmla="*/ 124 w 156"/>
              <a:gd name="T23" fmla="*/ 188 h 468"/>
              <a:gd name="T24" fmla="*/ 128 w 156"/>
              <a:gd name="T25" fmla="*/ 266 h 468"/>
              <a:gd name="T26" fmla="*/ 153 w 156"/>
              <a:gd name="T27" fmla="*/ 265 h 468"/>
              <a:gd name="T28" fmla="*/ 123 w 156"/>
              <a:gd name="T29" fmla="*/ 116 h 468"/>
              <a:gd name="T30" fmla="*/ 78 w 156"/>
              <a:gd name="T31" fmla="*/ 163 h 468"/>
              <a:gd name="T32" fmla="*/ 62 w 156"/>
              <a:gd name="T33" fmla="*/ 112 h 468"/>
              <a:gd name="T34" fmla="*/ 32 w 156"/>
              <a:gd name="T35" fmla="*/ 118 h 468"/>
              <a:gd name="T36" fmla="*/ 26 w 156"/>
              <a:gd name="T37" fmla="*/ 117 h 468"/>
              <a:gd name="T38" fmla="*/ 3 w 156"/>
              <a:gd name="T39" fmla="*/ 265 h 468"/>
              <a:gd name="T40" fmla="*/ 28 w 156"/>
              <a:gd name="T41" fmla="*/ 266 h 468"/>
              <a:gd name="T42" fmla="*/ 32 w 156"/>
              <a:gd name="T43" fmla="*/ 188 h 468"/>
              <a:gd name="T44" fmla="*/ 40 w 156"/>
              <a:gd name="T45" fmla="*/ 224 h 468"/>
              <a:gd name="T46" fmla="*/ 38 w 156"/>
              <a:gd name="T47" fmla="*/ 366 h 468"/>
              <a:gd name="T48" fmla="*/ 38 w 156"/>
              <a:gd name="T49" fmla="*/ 366 h 468"/>
              <a:gd name="T50" fmla="*/ 38 w 156"/>
              <a:gd name="T51" fmla="*/ 415 h 468"/>
              <a:gd name="T52" fmla="*/ 38 w 156"/>
              <a:gd name="T53" fmla="*/ 455 h 468"/>
              <a:gd name="T54" fmla="*/ 74 w 156"/>
              <a:gd name="T55" fmla="*/ 455 h 468"/>
              <a:gd name="T56" fmla="*/ 74 w 156"/>
              <a:gd name="T57" fmla="*/ 366 h 468"/>
              <a:gd name="T58" fmla="*/ 82 w 156"/>
              <a:gd name="T59" fmla="*/ 449 h 468"/>
              <a:gd name="T60" fmla="*/ 100 w 156"/>
              <a:gd name="T61" fmla="*/ 468 h 468"/>
              <a:gd name="T62" fmla="*/ 118 w 156"/>
              <a:gd name="T63" fmla="*/ 366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468">
                <a:moveTo>
                  <a:pt x="33" y="116"/>
                </a:moveTo>
                <a:cubicBezTo>
                  <a:pt x="31" y="115"/>
                  <a:pt x="30" y="115"/>
                  <a:pt x="29" y="115"/>
                </a:cubicBezTo>
                <a:cubicBezTo>
                  <a:pt x="36" y="109"/>
                  <a:pt x="45" y="99"/>
                  <a:pt x="43" y="92"/>
                </a:cubicBezTo>
                <a:cubicBezTo>
                  <a:pt x="43" y="92"/>
                  <a:pt x="33" y="45"/>
                  <a:pt x="44" y="26"/>
                </a:cubicBezTo>
                <a:cubicBezTo>
                  <a:pt x="44" y="26"/>
                  <a:pt x="60" y="0"/>
                  <a:pt x="94" y="11"/>
                </a:cubicBezTo>
                <a:cubicBezTo>
                  <a:pt x="94" y="11"/>
                  <a:pt x="116" y="18"/>
                  <a:pt x="115" y="47"/>
                </a:cubicBezTo>
                <a:cubicBezTo>
                  <a:pt x="115" y="71"/>
                  <a:pt x="113" y="99"/>
                  <a:pt x="119" y="110"/>
                </a:cubicBezTo>
                <a:cubicBezTo>
                  <a:pt x="110" y="107"/>
                  <a:pt x="101" y="105"/>
                  <a:pt x="94" y="104"/>
                </a:cubicBezTo>
                <a:cubicBezTo>
                  <a:pt x="93" y="102"/>
                  <a:pt x="94" y="100"/>
                  <a:pt x="93" y="96"/>
                </a:cubicBezTo>
                <a:cubicBezTo>
                  <a:pt x="93" y="96"/>
                  <a:pt x="104" y="84"/>
                  <a:pt x="104" y="70"/>
                </a:cubicBezTo>
                <a:cubicBezTo>
                  <a:pt x="104" y="70"/>
                  <a:pt x="108" y="74"/>
                  <a:pt x="109" y="57"/>
                </a:cubicBezTo>
                <a:cubicBezTo>
                  <a:pt x="109" y="57"/>
                  <a:pt x="109" y="53"/>
                  <a:pt x="107" y="53"/>
                </a:cubicBezTo>
                <a:cubicBezTo>
                  <a:pt x="106" y="53"/>
                  <a:pt x="105" y="53"/>
                  <a:pt x="103" y="57"/>
                </a:cubicBezTo>
                <a:cubicBezTo>
                  <a:pt x="103" y="57"/>
                  <a:pt x="106" y="36"/>
                  <a:pt x="94" y="34"/>
                </a:cubicBezTo>
                <a:cubicBezTo>
                  <a:pt x="94" y="34"/>
                  <a:pt x="85" y="54"/>
                  <a:pt x="70" y="58"/>
                </a:cubicBezTo>
                <a:cubicBezTo>
                  <a:pt x="58" y="61"/>
                  <a:pt x="60" y="76"/>
                  <a:pt x="64" y="83"/>
                </a:cubicBezTo>
                <a:cubicBezTo>
                  <a:pt x="65" y="86"/>
                  <a:pt x="67" y="93"/>
                  <a:pt x="66" y="99"/>
                </a:cubicBezTo>
                <a:cubicBezTo>
                  <a:pt x="57" y="122"/>
                  <a:pt x="44" y="118"/>
                  <a:pt x="33" y="116"/>
                </a:cubicBezTo>
                <a:close/>
                <a:moveTo>
                  <a:pt x="118" y="366"/>
                </a:moveTo>
                <a:cubicBezTo>
                  <a:pt x="132" y="366"/>
                  <a:pt x="132" y="366"/>
                  <a:pt x="132" y="366"/>
                </a:cubicBezTo>
                <a:cubicBezTo>
                  <a:pt x="133" y="366"/>
                  <a:pt x="133" y="366"/>
                  <a:pt x="134" y="366"/>
                </a:cubicBezTo>
                <a:cubicBezTo>
                  <a:pt x="134" y="352"/>
                  <a:pt x="123" y="249"/>
                  <a:pt x="116" y="224"/>
                </a:cubicBezTo>
                <a:cubicBezTo>
                  <a:pt x="115" y="221"/>
                  <a:pt x="120" y="202"/>
                  <a:pt x="124" y="185"/>
                </a:cubicBezTo>
                <a:cubicBezTo>
                  <a:pt x="124" y="186"/>
                  <a:pt x="124" y="187"/>
                  <a:pt x="124" y="188"/>
                </a:cubicBezTo>
                <a:cubicBezTo>
                  <a:pt x="126" y="201"/>
                  <a:pt x="128" y="214"/>
                  <a:pt x="128" y="220"/>
                </a:cubicBezTo>
                <a:cubicBezTo>
                  <a:pt x="130" y="240"/>
                  <a:pt x="128" y="246"/>
                  <a:pt x="128" y="266"/>
                </a:cubicBezTo>
                <a:cubicBezTo>
                  <a:pt x="128" y="278"/>
                  <a:pt x="130" y="281"/>
                  <a:pt x="139" y="282"/>
                </a:cubicBezTo>
                <a:cubicBezTo>
                  <a:pt x="149" y="283"/>
                  <a:pt x="153" y="277"/>
                  <a:pt x="153" y="265"/>
                </a:cubicBezTo>
                <a:cubicBezTo>
                  <a:pt x="153" y="250"/>
                  <a:pt x="156" y="153"/>
                  <a:pt x="135" y="124"/>
                </a:cubicBezTo>
                <a:cubicBezTo>
                  <a:pt x="133" y="120"/>
                  <a:pt x="123" y="116"/>
                  <a:pt x="123" y="116"/>
                </a:cubicBezTo>
                <a:cubicBezTo>
                  <a:pt x="116" y="112"/>
                  <a:pt x="102" y="109"/>
                  <a:pt x="94" y="108"/>
                </a:cubicBezTo>
                <a:cubicBezTo>
                  <a:pt x="92" y="123"/>
                  <a:pt x="78" y="162"/>
                  <a:pt x="78" y="163"/>
                </a:cubicBezTo>
                <a:cubicBezTo>
                  <a:pt x="78" y="162"/>
                  <a:pt x="69" y="138"/>
                  <a:pt x="64" y="118"/>
                </a:cubicBezTo>
                <a:cubicBezTo>
                  <a:pt x="63" y="117"/>
                  <a:pt x="62" y="115"/>
                  <a:pt x="62" y="112"/>
                </a:cubicBezTo>
                <a:cubicBezTo>
                  <a:pt x="57" y="118"/>
                  <a:pt x="51" y="120"/>
                  <a:pt x="45" y="120"/>
                </a:cubicBezTo>
                <a:cubicBezTo>
                  <a:pt x="40" y="120"/>
                  <a:pt x="36" y="119"/>
                  <a:pt x="32" y="118"/>
                </a:cubicBezTo>
                <a:cubicBezTo>
                  <a:pt x="30" y="118"/>
                  <a:pt x="28" y="117"/>
                  <a:pt x="26" y="117"/>
                </a:cubicBezTo>
                <a:cubicBezTo>
                  <a:pt x="26" y="117"/>
                  <a:pt x="26" y="117"/>
                  <a:pt x="26" y="117"/>
                </a:cubicBezTo>
                <a:cubicBezTo>
                  <a:pt x="23" y="119"/>
                  <a:pt x="21" y="121"/>
                  <a:pt x="21" y="121"/>
                </a:cubicBezTo>
                <a:cubicBezTo>
                  <a:pt x="0" y="143"/>
                  <a:pt x="3" y="250"/>
                  <a:pt x="3" y="265"/>
                </a:cubicBezTo>
                <a:cubicBezTo>
                  <a:pt x="3" y="277"/>
                  <a:pt x="7" y="283"/>
                  <a:pt x="17" y="282"/>
                </a:cubicBezTo>
                <a:cubicBezTo>
                  <a:pt x="26" y="281"/>
                  <a:pt x="28" y="278"/>
                  <a:pt x="28" y="266"/>
                </a:cubicBezTo>
                <a:cubicBezTo>
                  <a:pt x="28" y="246"/>
                  <a:pt x="26" y="240"/>
                  <a:pt x="28" y="220"/>
                </a:cubicBezTo>
                <a:cubicBezTo>
                  <a:pt x="28" y="214"/>
                  <a:pt x="30" y="201"/>
                  <a:pt x="32" y="188"/>
                </a:cubicBezTo>
                <a:cubicBezTo>
                  <a:pt x="32" y="187"/>
                  <a:pt x="32" y="186"/>
                  <a:pt x="32" y="185"/>
                </a:cubicBezTo>
                <a:cubicBezTo>
                  <a:pt x="36" y="202"/>
                  <a:pt x="41" y="221"/>
                  <a:pt x="40" y="224"/>
                </a:cubicBezTo>
                <a:cubicBezTo>
                  <a:pt x="33" y="249"/>
                  <a:pt x="22" y="352"/>
                  <a:pt x="22" y="366"/>
                </a:cubicBezTo>
                <a:cubicBezTo>
                  <a:pt x="38" y="366"/>
                  <a:pt x="38" y="366"/>
                  <a:pt x="38" y="366"/>
                </a:cubicBezTo>
                <a:cubicBezTo>
                  <a:pt x="38" y="366"/>
                  <a:pt x="38" y="366"/>
                  <a:pt x="38" y="366"/>
                </a:cubicBezTo>
                <a:cubicBezTo>
                  <a:pt x="38" y="366"/>
                  <a:pt x="38" y="366"/>
                  <a:pt x="38" y="366"/>
                </a:cubicBezTo>
                <a:cubicBezTo>
                  <a:pt x="38" y="367"/>
                  <a:pt x="38" y="367"/>
                  <a:pt x="38" y="368"/>
                </a:cubicBezTo>
                <a:cubicBezTo>
                  <a:pt x="38" y="415"/>
                  <a:pt x="38" y="415"/>
                  <a:pt x="38" y="415"/>
                </a:cubicBezTo>
                <a:cubicBezTo>
                  <a:pt x="38" y="424"/>
                  <a:pt x="38" y="432"/>
                  <a:pt x="38" y="441"/>
                </a:cubicBezTo>
                <a:cubicBezTo>
                  <a:pt x="38" y="447"/>
                  <a:pt x="38" y="450"/>
                  <a:pt x="38" y="455"/>
                </a:cubicBezTo>
                <a:cubicBezTo>
                  <a:pt x="39" y="466"/>
                  <a:pt x="40" y="468"/>
                  <a:pt x="56" y="468"/>
                </a:cubicBezTo>
                <a:cubicBezTo>
                  <a:pt x="72" y="468"/>
                  <a:pt x="73" y="466"/>
                  <a:pt x="74" y="455"/>
                </a:cubicBezTo>
                <a:cubicBezTo>
                  <a:pt x="74" y="450"/>
                  <a:pt x="74" y="445"/>
                  <a:pt x="74" y="441"/>
                </a:cubicBezTo>
                <a:cubicBezTo>
                  <a:pt x="74" y="366"/>
                  <a:pt x="74" y="366"/>
                  <a:pt x="74" y="366"/>
                </a:cubicBezTo>
                <a:cubicBezTo>
                  <a:pt x="82" y="366"/>
                  <a:pt x="82" y="366"/>
                  <a:pt x="82" y="366"/>
                </a:cubicBezTo>
                <a:cubicBezTo>
                  <a:pt x="82" y="449"/>
                  <a:pt x="82" y="449"/>
                  <a:pt x="82" y="449"/>
                </a:cubicBezTo>
                <a:cubicBezTo>
                  <a:pt x="82" y="451"/>
                  <a:pt x="82" y="453"/>
                  <a:pt x="82" y="455"/>
                </a:cubicBezTo>
                <a:cubicBezTo>
                  <a:pt x="83" y="466"/>
                  <a:pt x="84" y="468"/>
                  <a:pt x="100" y="468"/>
                </a:cubicBezTo>
                <a:cubicBezTo>
                  <a:pt x="114" y="468"/>
                  <a:pt x="117" y="466"/>
                  <a:pt x="118" y="456"/>
                </a:cubicBezTo>
                <a:lnTo>
                  <a:pt x="118"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23" name="Group 422"/>
          <p:cNvGrpSpPr/>
          <p:nvPr userDrawn="1"/>
        </p:nvGrpSpPr>
        <p:grpSpPr>
          <a:xfrm>
            <a:off x="7215951" y="5412976"/>
            <a:ext cx="154048" cy="396277"/>
            <a:chOff x="3665538" y="7015163"/>
            <a:chExt cx="690563" cy="1776412"/>
          </a:xfrm>
          <a:solidFill>
            <a:schemeClr val="tx1"/>
          </a:solidFill>
        </p:grpSpPr>
        <p:sp>
          <p:nvSpPr>
            <p:cNvPr id="424" name="Freeform 24"/>
            <p:cNvSpPr>
              <a:spLocks/>
            </p:cNvSpPr>
            <p:nvPr/>
          </p:nvSpPr>
          <p:spPr bwMode="auto">
            <a:xfrm>
              <a:off x="3665538" y="7362825"/>
              <a:ext cx="690563" cy="1428750"/>
            </a:xfrm>
            <a:custGeom>
              <a:avLst/>
              <a:gdLst>
                <a:gd name="T0" fmla="*/ 167 w 177"/>
                <a:gd name="T1" fmla="*/ 53 h 366"/>
                <a:gd name="T2" fmla="*/ 165 w 177"/>
                <a:gd name="T3" fmla="*/ 38 h 366"/>
                <a:gd name="T4" fmla="*/ 151 w 177"/>
                <a:gd name="T5" fmla="*/ 17 h 366"/>
                <a:gd name="T6" fmla="*/ 110 w 177"/>
                <a:gd name="T7" fmla="*/ 0 h 366"/>
                <a:gd name="T8" fmla="*/ 100 w 177"/>
                <a:gd name="T9" fmla="*/ 53 h 366"/>
                <a:gd name="T10" fmla="*/ 96 w 177"/>
                <a:gd name="T11" fmla="*/ 52 h 366"/>
                <a:gd name="T12" fmla="*/ 91 w 177"/>
                <a:gd name="T13" fmla="*/ 13 h 366"/>
                <a:gd name="T14" fmla="*/ 93 w 177"/>
                <a:gd name="T15" fmla="*/ 13 h 366"/>
                <a:gd name="T16" fmla="*/ 95 w 177"/>
                <a:gd name="T17" fmla="*/ 10 h 366"/>
                <a:gd name="T18" fmla="*/ 97 w 177"/>
                <a:gd name="T19" fmla="*/ 5 h 366"/>
                <a:gd name="T20" fmla="*/ 95 w 177"/>
                <a:gd name="T21" fmla="*/ 2 h 366"/>
                <a:gd name="T22" fmla="*/ 89 w 177"/>
                <a:gd name="T23" fmla="*/ 2 h 366"/>
                <a:gd name="T24" fmla="*/ 87 w 177"/>
                <a:gd name="T25" fmla="*/ 2 h 366"/>
                <a:gd name="T26" fmla="*/ 81 w 177"/>
                <a:gd name="T27" fmla="*/ 2 h 366"/>
                <a:gd name="T28" fmla="*/ 79 w 177"/>
                <a:gd name="T29" fmla="*/ 5 h 366"/>
                <a:gd name="T30" fmla="*/ 81 w 177"/>
                <a:gd name="T31" fmla="*/ 10 h 366"/>
                <a:gd name="T32" fmla="*/ 84 w 177"/>
                <a:gd name="T33" fmla="*/ 13 h 366"/>
                <a:gd name="T34" fmla="*/ 85 w 177"/>
                <a:gd name="T35" fmla="*/ 13 h 366"/>
                <a:gd name="T36" fmla="*/ 80 w 177"/>
                <a:gd name="T37" fmla="*/ 52 h 366"/>
                <a:gd name="T38" fmla="*/ 76 w 177"/>
                <a:gd name="T39" fmla="*/ 53 h 366"/>
                <a:gd name="T40" fmla="*/ 66 w 177"/>
                <a:gd name="T41" fmla="*/ 0 h 366"/>
                <a:gd name="T42" fmla="*/ 25 w 177"/>
                <a:gd name="T43" fmla="*/ 17 h 366"/>
                <a:gd name="T44" fmla="*/ 12 w 177"/>
                <a:gd name="T45" fmla="*/ 38 h 366"/>
                <a:gd name="T46" fmla="*/ 9 w 177"/>
                <a:gd name="T47" fmla="*/ 53 h 366"/>
                <a:gd name="T48" fmla="*/ 2 w 177"/>
                <a:gd name="T49" fmla="*/ 130 h 366"/>
                <a:gd name="T50" fmla="*/ 2 w 177"/>
                <a:gd name="T51" fmla="*/ 173 h 366"/>
                <a:gd name="T52" fmla="*/ 16 w 177"/>
                <a:gd name="T53" fmla="*/ 191 h 366"/>
                <a:gd name="T54" fmla="*/ 31 w 177"/>
                <a:gd name="T55" fmla="*/ 175 h 366"/>
                <a:gd name="T56" fmla="*/ 31 w 177"/>
                <a:gd name="T57" fmla="*/ 114 h 366"/>
                <a:gd name="T58" fmla="*/ 39 w 177"/>
                <a:gd name="T59" fmla="*/ 76 h 366"/>
                <a:gd name="T60" fmla="*/ 41 w 177"/>
                <a:gd name="T61" fmla="*/ 76 h 366"/>
                <a:gd name="T62" fmla="*/ 41 w 177"/>
                <a:gd name="T63" fmla="*/ 90 h 366"/>
                <a:gd name="T64" fmla="*/ 41 w 177"/>
                <a:gd name="T65" fmla="*/ 339 h 366"/>
                <a:gd name="T66" fmla="*/ 41 w 177"/>
                <a:gd name="T67" fmla="*/ 353 h 366"/>
                <a:gd name="T68" fmla="*/ 64 w 177"/>
                <a:gd name="T69" fmla="*/ 366 h 366"/>
                <a:gd name="T70" fmla="*/ 84 w 177"/>
                <a:gd name="T71" fmla="*/ 353 h 366"/>
                <a:gd name="T72" fmla="*/ 85 w 177"/>
                <a:gd name="T73" fmla="*/ 338 h 366"/>
                <a:gd name="T74" fmla="*/ 85 w 177"/>
                <a:gd name="T75" fmla="*/ 178 h 366"/>
                <a:gd name="T76" fmla="*/ 89 w 177"/>
                <a:gd name="T77" fmla="*/ 178 h 366"/>
                <a:gd name="T78" fmla="*/ 92 w 177"/>
                <a:gd name="T79" fmla="*/ 178 h 366"/>
                <a:gd name="T80" fmla="*/ 92 w 177"/>
                <a:gd name="T81" fmla="*/ 338 h 366"/>
                <a:gd name="T82" fmla="*/ 92 w 177"/>
                <a:gd name="T83" fmla="*/ 353 h 366"/>
                <a:gd name="T84" fmla="*/ 112 w 177"/>
                <a:gd name="T85" fmla="*/ 366 h 366"/>
                <a:gd name="T86" fmla="*/ 136 w 177"/>
                <a:gd name="T87" fmla="*/ 353 h 366"/>
                <a:gd name="T88" fmla="*/ 136 w 177"/>
                <a:gd name="T89" fmla="*/ 339 h 366"/>
                <a:gd name="T90" fmla="*/ 136 w 177"/>
                <a:gd name="T91" fmla="*/ 90 h 366"/>
                <a:gd name="T92" fmla="*/ 136 w 177"/>
                <a:gd name="T93" fmla="*/ 76 h 366"/>
                <a:gd name="T94" fmla="*/ 138 w 177"/>
                <a:gd name="T95" fmla="*/ 76 h 366"/>
                <a:gd name="T96" fmla="*/ 146 w 177"/>
                <a:gd name="T97" fmla="*/ 114 h 366"/>
                <a:gd name="T98" fmla="*/ 145 w 177"/>
                <a:gd name="T99" fmla="*/ 175 h 366"/>
                <a:gd name="T100" fmla="*/ 161 w 177"/>
                <a:gd name="T101" fmla="*/ 191 h 366"/>
                <a:gd name="T102" fmla="*/ 175 w 177"/>
                <a:gd name="T103" fmla="*/ 173 h 366"/>
                <a:gd name="T104" fmla="*/ 175 w 177"/>
                <a:gd name="T105" fmla="*/ 130 h 366"/>
                <a:gd name="T106" fmla="*/ 167 w 177"/>
                <a:gd name="T107" fmla="*/ 53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7" h="366">
                  <a:moveTo>
                    <a:pt x="167" y="53"/>
                  </a:moveTo>
                  <a:cubicBezTo>
                    <a:pt x="167" y="48"/>
                    <a:pt x="166" y="43"/>
                    <a:pt x="165" y="38"/>
                  </a:cubicBezTo>
                  <a:cubicBezTo>
                    <a:pt x="163" y="30"/>
                    <a:pt x="158" y="21"/>
                    <a:pt x="151" y="17"/>
                  </a:cubicBezTo>
                  <a:cubicBezTo>
                    <a:pt x="139" y="10"/>
                    <a:pt x="124" y="6"/>
                    <a:pt x="110" y="0"/>
                  </a:cubicBezTo>
                  <a:cubicBezTo>
                    <a:pt x="106" y="19"/>
                    <a:pt x="103" y="36"/>
                    <a:pt x="100" y="53"/>
                  </a:cubicBezTo>
                  <a:cubicBezTo>
                    <a:pt x="99" y="53"/>
                    <a:pt x="98" y="53"/>
                    <a:pt x="96" y="52"/>
                  </a:cubicBezTo>
                  <a:cubicBezTo>
                    <a:pt x="96" y="42"/>
                    <a:pt x="92" y="19"/>
                    <a:pt x="91" y="13"/>
                  </a:cubicBezTo>
                  <a:cubicBezTo>
                    <a:pt x="93" y="13"/>
                    <a:pt x="93" y="13"/>
                    <a:pt x="93" y="13"/>
                  </a:cubicBezTo>
                  <a:cubicBezTo>
                    <a:pt x="94" y="13"/>
                    <a:pt x="95" y="12"/>
                    <a:pt x="95" y="10"/>
                  </a:cubicBezTo>
                  <a:cubicBezTo>
                    <a:pt x="97" y="5"/>
                    <a:pt x="97" y="5"/>
                    <a:pt x="97" y="5"/>
                  </a:cubicBezTo>
                  <a:cubicBezTo>
                    <a:pt x="97" y="4"/>
                    <a:pt x="97" y="3"/>
                    <a:pt x="95" y="2"/>
                  </a:cubicBezTo>
                  <a:cubicBezTo>
                    <a:pt x="89" y="2"/>
                    <a:pt x="89" y="2"/>
                    <a:pt x="89" y="2"/>
                  </a:cubicBezTo>
                  <a:cubicBezTo>
                    <a:pt x="87" y="2"/>
                    <a:pt x="87" y="2"/>
                    <a:pt x="87" y="2"/>
                  </a:cubicBezTo>
                  <a:cubicBezTo>
                    <a:pt x="81" y="2"/>
                    <a:pt x="81" y="2"/>
                    <a:pt x="81" y="2"/>
                  </a:cubicBezTo>
                  <a:cubicBezTo>
                    <a:pt x="80" y="3"/>
                    <a:pt x="79" y="4"/>
                    <a:pt x="79" y="5"/>
                  </a:cubicBezTo>
                  <a:cubicBezTo>
                    <a:pt x="81" y="10"/>
                    <a:pt x="81" y="10"/>
                    <a:pt x="81" y="10"/>
                  </a:cubicBezTo>
                  <a:cubicBezTo>
                    <a:pt x="82" y="12"/>
                    <a:pt x="82" y="13"/>
                    <a:pt x="84" y="13"/>
                  </a:cubicBezTo>
                  <a:cubicBezTo>
                    <a:pt x="85" y="13"/>
                    <a:pt x="85" y="13"/>
                    <a:pt x="85" y="13"/>
                  </a:cubicBezTo>
                  <a:cubicBezTo>
                    <a:pt x="84" y="19"/>
                    <a:pt x="81" y="42"/>
                    <a:pt x="80" y="52"/>
                  </a:cubicBezTo>
                  <a:cubicBezTo>
                    <a:pt x="79" y="53"/>
                    <a:pt x="78" y="53"/>
                    <a:pt x="76" y="53"/>
                  </a:cubicBezTo>
                  <a:cubicBezTo>
                    <a:pt x="73" y="36"/>
                    <a:pt x="70" y="19"/>
                    <a:pt x="66" y="0"/>
                  </a:cubicBezTo>
                  <a:cubicBezTo>
                    <a:pt x="52" y="6"/>
                    <a:pt x="38" y="10"/>
                    <a:pt x="25" y="17"/>
                  </a:cubicBezTo>
                  <a:cubicBezTo>
                    <a:pt x="19" y="21"/>
                    <a:pt x="14" y="30"/>
                    <a:pt x="12" y="38"/>
                  </a:cubicBezTo>
                  <a:cubicBezTo>
                    <a:pt x="10" y="43"/>
                    <a:pt x="10" y="48"/>
                    <a:pt x="9" y="53"/>
                  </a:cubicBezTo>
                  <a:cubicBezTo>
                    <a:pt x="4" y="78"/>
                    <a:pt x="0" y="103"/>
                    <a:pt x="2" y="130"/>
                  </a:cubicBezTo>
                  <a:cubicBezTo>
                    <a:pt x="2" y="144"/>
                    <a:pt x="2" y="159"/>
                    <a:pt x="2" y="173"/>
                  </a:cubicBezTo>
                  <a:cubicBezTo>
                    <a:pt x="2" y="186"/>
                    <a:pt x="5" y="190"/>
                    <a:pt x="16" y="191"/>
                  </a:cubicBezTo>
                  <a:cubicBezTo>
                    <a:pt x="27" y="191"/>
                    <a:pt x="31" y="187"/>
                    <a:pt x="31" y="175"/>
                  </a:cubicBezTo>
                  <a:cubicBezTo>
                    <a:pt x="31" y="154"/>
                    <a:pt x="32" y="134"/>
                    <a:pt x="31" y="114"/>
                  </a:cubicBezTo>
                  <a:cubicBezTo>
                    <a:pt x="29" y="100"/>
                    <a:pt x="35" y="88"/>
                    <a:pt x="39" y="76"/>
                  </a:cubicBezTo>
                  <a:cubicBezTo>
                    <a:pt x="39" y="76"/>
                    <a:pt x="40" y="76"/>
                    <a:pt x="41" y="76"/>
                  </a:cubicBezTo>
                  <a:cubicBezTo>
                    <a:pt x="41" y="81"/>
                    <a:pt x="41" y="85"/>
                    <a:pt x="41" y="90"/>
                  </a:cubicBezTo>
                  <a:cubicBezTo>
                    <a:pt x="41" y="173"/>
                    <a:pt x="41" y="256"/>
                    <a:pt x="41" y="339"/>
                  </a:cubicBezTo>
                  <a:cubicBezTo>
                    <a:pt x="41" y="344"/>
                    <a:pt x="40" y="349"/>
                    <a:pt x="41" y="353"/>
                  </a:cubicBezTo>
                  <a:cubicBezTo>
                    <a:pt x="41" y="364"/>
                    <a:pt x="45" y="366"/>
                    <a:pt x="64" y="366"/>
                  </a:cubicBezTo>
                  <a:cubicBezTo>
                    <a:pt x="80" y="366"/>
                    <a:pt x="84" y="364"/>
                    <a:pt x="84" y="353"/>
                  </a:cubicBezTo>
                  <a:cubicBezTo>
                    <a:pt x="85" y="348"/>
                    <a:pt x="85" y="343"/>
                    <a:pt x="85" y="338"/>
                  </a:cubicBezTo>
                  <a:cubicBezTo>
                    <a:pt x="85" y="285"/>
                    <a:pt x="85" y="231"/>
                    <a:pt x="85" y="178"/>
                  </a:cubicBezTo>
                  <a:cubicBezTo>
                    <a:pt x="85" y="178"/>
                    <a:pt x="89" y="178"/>
                    <a:pt x="89" y="178"/>
                  </a:cubicBezTo>
                  <a:cubicBezTo>
                    <a:pt x="90" y="178"/>
                    <a:pt x="91" y="178"/>
                    <a:pt x="92" y="178"/>
                  </a:cubicBezTo>
                  <a:cubicBezTo>
                    <a:pt x="92" y="231"/>
                    <a:pt x="92" y="285"/>
                    <a:pt x="92" y="338"/>
                  </a:cubicBezTo>
                  <a:cubicBezTo>
                    <a:pt x="92" y="343"/>
                    <a:pt x="92" y="348"/>
                    <a:pt x="92" y="353"/>
                  </a:cubicBezTo>
                  <a:cubicBezTo>
                    <a:pt x="93" y="364"/>
                    <a:pt x="96" y="366"/>
                    <a:pt x="112" y="366"/>
                  </a:cubicBezTo>
                  <a:cubicBezTo>
                    <a:pt x="131" y="366"/>
                    <a:pt x="135" y="364"/>
                    <a:pt x="136" y="353"/>
                  </a:cubicBezTo>
                  <a:cubicBezTo>
                    <a:pt x="136" y="349"/>
                    <a:pt x="136" y="344"/>
                    <a:pt x="136" y="339"/>
                  </a:cubicBezTo>
                  <a:cubicBezTo>
                    <a:pt x="136" y="256"/>
                    <a:pt x="136" y="173"/>
                    <a:pt x="136" y="90"/>
                  </a:cubicBezTo>
                  <a:cubicBezTo>
                    <a:pt x="136" y="85"/>
                    <a:pt x="136" y="81"/>
                    <a:pt x="136" y="76"/>
                  </a:cubicBezTo>
                  <a:cubicBezTo>
                    <a:pt x="136" y="76"/>
                    <a:pt x="137" y="76"/>
                    <a:pt x="138" y="76"/>
                  </a:cubicBezTo>
                  <a:cubicBezTo>
                    <a:pt x="142" y="88"/>
                    <a:pt x="147" y="100"/>
                    <a:pt x="146" y="114"/>
                  </a:cubicBezTo>
                  <a:cubicBezTo>
                    <a:pt x="144" y="134"/>
                    <a:pt x="145" y="154"/>
                    <a:pt x="145" y="175"/>
                  </a:cubicBezTo>
                  <a:cubicBezTo>
                    <a:pt x="146" y="187"/>
                    <a:pt x="149" y="191"/>
                    <a:pt x="161" y="191"/>
                  </a:cubicBezTo>
                  <a:cubicBezTo>
                    <a:pt x="171" y="190"/>
                    <a:pt x="174" y="186"/>
                    <a:pt x="175" y="173"/>
                  </a:cubicBezTo>
                  <a:cubicBezTo>
                    <a:pt x="175" y="159"/>
                    <a:pt x="174" y="144"/>
                    <a:pt x="175" y="130"/>
                  </a:cubicBezTo>
                  <a:cubicBezTo>
                    <a:pt x="177" y="103"/>
                    <a:pt x="172" y="78"/>
                    <a:pt x="167"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5" name="Freeform 25"/>
            <p:cNvSpPr>
              <a:spLocks/>
            </p:cNvSpPr>
            <p:nvPr/>
          </p:nvSpPr>
          <p:spPr bwMode="auto">
            <a:xfrm>
              <a:off x="3875088" y="7015163"/>
              <a:ext cx="266700" cy="339725"/>
            </a:xfrm>
            <a:custGeom>
              <a:avLst/>
              <a:gdLst>
                <a:gd name="T0" fmla="*/ 5 w 68"/>
                <a:gd name="T1" fmla="*/ 57 h 87"/>
                <a:gd name="T2" fmla="*/ 6 w 68"/>
                <a:gd name="T3" fmla="*/ 56 h 87"/>
                <a:gd name="T4" fmla="*/ 7 w 68"/>
                <a:gd name="T5" fmla="*/ 63 h 87"/>
                <a:gd name="T6" fmla="*/ 33 w 68"/>
                <a:gd name="T7" fmla="*/ 87 h 87"/>
                <a:gd name="T8" fmla="*/ 33 w 68"/>
                <a:gd name="T9" fmla="*/ 87 h 87"/>
                <a:gd name="T10" fmla="*/ 33 w 68"/>
                <a:gd name="T11" fmla="*/ 87 h 87"/>
                <a:gd name="T12" fmla="*/ 34 w 68"/>
                <a:gd name="T13" fmla="*/ 87 h 87"/>
                <a:gd name="T14" fmla="*/ 35 w 68"/>
                <a:gd name="T15" fmla="*/ 87 h 87"/>
                <a:gd name="T16" fmla="*/ 35 w 68"/>
                <a:gd name="T17" fmla="*/ 87 h 87"/>
                <a:gd name="T18" fmla="*/ 35 w 68"/>
                <a:gd name="T19" fmla="*/ 87 h 87"/>
                <a:gd name="T20" fmla="*/ 61 w 68"/>
                <a:gd name="T21" fmla="*/ 63 h 87"/>
                <a:gd name="T22" fmla="*/ 62 w 68"/>
                <a:gd name="T23" fmla="*/ 56 h 87"/>
                <a:gd name="T24" fmla="*/ 63 w 68"/>
                <a:gd name="T25" fmla="*/ 57 h 87"/>
                <a:gd name="T26" fmla="*/ 68 w 68"/>
                <a:gd name="T27" fmla="*/ 46 h 87"/>
                <a:gd name="T28" fmla="*/ 67 w 68"/>
                <a:gd name="T29" fmla="*/ 34 h 87"/>
                <a:gd name="T30" fmla="*/ 65 w 68"/>
                <a:gd name="T31" fmla="*/ 33 h 87"/>
                <a:gd name="T32" fmla="*/ 35 w 68"/>
                <a:gd name="T33" fmla="*/ 0 h 87"/>
                <a:gd name="T34" fmla="*/ 35 w 68"/>
                <a:gd name="T35" fmla="*/ 0 h 87"/>
                <a:gd name="T36" fmla="*/ 35 w 68"/>
                <a:gd name="T37" fmla="*/ 0 h 87"/>
                <a:gd name="T38" fmla="*/ 34 w 68"/>
                <a:gd name="T39" fmla="*/ 0 h 87"/>
                <a:gd name="T40" fmla="*/ 33 w 68"/>
                <a:gd name="T41" fmla="*/ 0 h 87"/>
                <a:gd name="T42" fmla="*/ 33 w 68"/>
                <a:gd name="T43" fmla="*/ 0 h 87"/>
                <a:gd name="T44" fmla="*/ 33 w 68"/>
                <a:gd name="T45" fmla="*/ 0 h 87"/>
                <a:gd name="T46" fmla="*/ 3 w 68"/>
                <a:gd name="T47" fmla="*/ 33 h 87"/>
                <a:gd name="T48" fmla="*/ 2 w 68"/>
                <a:gd name="T49" fmla="*/ 34 h 87"/>
                <a:gd name="T50" fmla="*/ 1 w 68"/>
                <a:gd name="T51" fmla="*/ 46 h 87"/>
                <a:gd name="T52" fmla="*/ 5 w 68"/>
                <a:gd name="T53"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87">
                  <a:moveTo>
                    <a:pt x="5" y="57"/>
                  </a:moveTo>
                  <a:cubicBezTo>
                    <a:pt x="6" y="57"/>
                    <a:pt x="6" y="56"/>
                    <a:pt x="6" y="56"/>
                  </a:cubicBezTo>
                  <a:cubicBezTo>
                    <a:pt x="6" y="59"/>
                    <a:pt x="7" y="61"/>
                    <a:pt x="7" y="63"/>
                  </a:cubicBezTo>
                  <a:cubicBezTo>
                    <a:pt x="16" y="79"/>
                    <a:pt x="20" y="86"/>
                    <a:pt x="33" y="87"/>
                  </a:cubicBezTo>
                  <a:cubicBezTo>
                    <a:pt x="33" y="87"/>
                    <a:pt x="33" y="87"/>
                    <a:pt x="33" y="87"/>
                  </a:cubicBezTo>
                  <a:cubicBezTo>
                    <a:pt x="33" y="87"/>
                    <a:pt x="33" y="87"/>
                    <a:pt x="33" y="87"/>
                  </a:cubicBezTo>
                  <a:cubicBezTo>
                    <a:pt x="34" y="87"/>
                    <a:pt x="34" y="87"/>
                    <a:pt x="34" y="87"/>
                  </a:cubicBezTo>
                  <a:cubicBezTo>
                    <a:pt x="34" y="87"/>
                    <a:pt x="35" y="87"/>
                    <a:pt x="35" y="87"/>
                  </a:cubicBezTo>
                  <a:cubicBezTo>
                    <a:pt x="35" y="87"/>
                    <a:pt x="35" y="87"/>
                    <a:pt x="35" y="87"/>
                  </a:cubicBezTo>
                  <a:cubicBezTo>
                    <a:pt x="35" y="87"/>
                    <a:pt x="35" y="87"/>
                    <a:pt x="35" y="87"/>
                  </a:cubicBezTo>
                  <a:cubicBezTo>
                    <a:pt x="48" y="86"/>
                    <a:pt x="52" y="79"/>
                    <a:pt x="61" y="63"/>
                  </a:cubicBezTo>
                  <a:cubicBezTo>
                    <a:pt x="62" y="61"/>
                    <a:pt x="62" y="59"/>
                    <a:pt x="62" y="56"/>
                  </a:cubicBezTo>
                  <a:cubicBezTo>
                    <a:pt x="63" y="56"/>
                    <a:pt x="63" y="57"/>
                    <a:pt x="63" y="57"/>
                  </a:cubicBezTo>
                  <a:cubicBezTo>
                    <a:pt x="65" y="57"/>
                    <a:pt x="67" y="52"/>
                    <a:pt x="68" y="46"/>
                  </a:cubicBezTo>
                  <a:cubicBezTo>
                    <a:pt x="68" y="43"/>
                    <a:pt x="68" y="36"/>
                    <a:pt x="67" y="34"/>
                  </a:cubicBezTo>
                  <a:cubicBezTo>
                    <a:pt x="66" y="33"/>
                    <a:pt x="66" y="33"/>
                    <a:pt x="65" y="33"/>
                  </a:cubicBezTo>
                  <a:cubicBezTo>
                    <a:pt x="62" y="10"/>
                    <a:pt x="50" y="1"/>
                    <a:pt x="35" y="0"/>
                  </a:cubicBezTo>
                  <a:cubicBezTo>
                    <a:pt x="35" y="0"/>
                    <a:pt x="35" y="0"/>
                    <a:pt x="35" y="0"/>
                  </a:cubicBezTo>
                  <a:cubicBezTo>
                    <a:pt x="35" y="0"/>
                    <a:pt x="35" y="0"/>
                    <a:pt x="35" y="0"/>
                  </a:cubicBezTo>
                  <a:cubicBezTo>
                    <a:pt x="35" y="0"/>
                    <a:pt x="34" y="0"/>
                    <a:pt x="34" y="0"/>
                  </a:cubicBezTo>
                  <a:cubicBezTo>
                    <a:pt x="34" y="0"/>
                    <a:pt x="34" y="0"/>
                    <a:pt x="33" y="0"/>
                  </a:cubicBezTo>
                  <a:cubicBezTo>
                    <a:pt x="33" y="0"/>
                    <a:pt x="33" y="0"/>
                    <a:pt x="33" y="0"/>
                  </a:cubicBezTo>
                  <a:cubicBezTo>
                    <a:pt x="33" y="0"/>
                    <a:pt x="33" y="0"/>
                    <a:pt x="33" y="0"/>
                  </a:cubicBezTo>
                  <a:cubicBezTo>
                    <a:pt x="18" y="1"/>
                    <a:pt x="6" y="10"/>
                    <a:pt x="3" y="33"/>
                  </a:cubicBezTo>
                  <a:cubicBezTo>
                    <a:pt x="3" y="33"/>
                    <a:pt x="2" y="33"/>
                    <a:pt x="2" y="34"/>
                  </a:cubicBezTo>
                  <a:cubicBezTo>
                    <a:pt x="1" y="36"/>
                    <a:pt x="0" y="43"/>
                    <a:pt x="1" y="46"/>
                  </a:cubicBezTo>
                  <a:cubicBezTo>
                    <a:pt x="1" y="52"/>
                    <a:pt x="3" y="57"/>
                    <a:pt x="5"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39" name="Freeform 27"/>
          <p:cNvSpPr>
            <a:spLocks noEditPoints="1"/>
          </p:cNvSpPr>
          <p:nvPr userDrawn="1"/>
        </p:nvSpPr>
        <p:spPr bwMode="auto">
          <a:xfrm>
            <a:off x="7584882" y="2639218"/>
            <a:ext cx="236792" cy="270517"/>
          </a:xfrm>
          <a:custGeom>
            <a:avLst/>
            <a:gdLst>
              <a:gd name="T0" fmla="*/ 7 w 398"/>
              <a:gd name="T1" fmla="*/ 45 h 455"/>
              <a:gd name="T2" fmla="*/ 199 w 398"/>
              <a:gd name="T3" fmla="*/ 0 h 455"/>
              <a:gd name="T4" fmla="*/ 308 w 398"/>
              <a:gd name="T5" fmla="*/ 12 h 455"/>
              <a:gd name="T6" fmla="*/ 392 w 398"/>
              <a:gd name="T7" fmla="*/ 45 h 455"/>
              <a:gd name="T8" fmla="*/ 398 w 398"/>
              <a:gd name="T9" fmla="*/ 57 h 455"/>
              <a:gd name="T10" fmla="*/ 398 w 398"/>
              <a:gd name="T11" fmla="*/ 227 h 455"/>
              <a:gd name="T12" fmla="*/ 342 w 398"/>
              <a:gd name="T13" fmla="*/ 359 h 455"/>
              <a:gd name="T14" fmla="*/ 204 w 398"/>
              <a:gd name="T15" fmla="*/ 454 h 455"/>
              <a:gd name="T16" fmla="*/ 199 w 398"/>
              <a:gd name="T17" fmla="*/ 455 h 455"/>
              <a:gd name="T18" fmla="*/ 194 w 398"/>
              <a:gd name="T19" fmla="*/ 454 h 455"/>
              <a:gd name="T20" fmla="*/ 57 w 398"/>
              <a:gd name="T21" fmla="*/ 359 h 455"/>
              <a:gd name="T22" fmla="*/ 0 w 398"/>
              <a:gd name="T23" fmla="*/ 227 h 455"/>
              <a:gd name="T24" fmla="*/ 0 w 398"/>
              <a:gd name="T25" fmla="*/ 57 h 455"/>
              <a:gd name="T26" fmla="*/ 7 w 398"/>
              <a:gd name="T27" fmla="*/ 45 h 455"/>
              <a:gd name="T28" fmla="*/ 122 w 398"/>
              <a:gd name="T29" fmla="*/ 236 h 455"/>
              <a:gd name="T30" fmla="*/ 116 w 398"/>
              <a:gd name="T31" fmla="*/ 245 h 455"/>
              <a:gd name="T32" fmla="*/ 114 w 398"/>
              <a:gd name="T33" fmla="*/ 256 h 455"/>
              <a:gd name="T34" fmla="*/ 122 w 398"/>
              <a:gd name="T35" fmla="*/ 276 h 455"/>
              <a:gd name="T36" fmla="*/ 142 w 398"/>
              <a:gd name="T37" fmla="*/ 284 h 455"/>
              <a:gd name="T38" fmla="*/ 153 w 398"/>
              <a:gd name="T39" fmla="*/ 282 h 455"/>
              <a:gd name="T40" fmla="*/ 162 w 398"/>
              <a:gd name="T41" fmla="*/ 276 h 455"/>
              <a:gd name="T42" fmla="*/ 181 w 398"/>
              <a:gd name="T43" fmla="*/ 257 h 455"/>
              <a:gd name="T44" fmla="*/ 199 w 398"/>
              <a:gd name="T45" fmla="*/ 239 h 455"/>
              <a:gd name="T46" fmla="*/ 218 w 398"/>
              <a:gd name="T47" fmla="*/ 257 h 455"/>
              <a:gd name="T48" fmla="*/ 236 w 398"/>
              <a:gd name="T49" fmla="*/ 276 h 455"/>
              <a:gd name="T50" fmla="*/ 245 w 398"/>
              <a:gd name="T51" fmla="*/ 282 h 455"/>
              <a:gd name="T52" fmla="*/ 256 w 398"/>
              <a:gd name="T53" fmla="*/ 284 h 455"/>
              <a:gd name="T54" fmla="*/ 276 w 398"/>
              <a:gd name="T55" fmla="*/ 276 h 455"/>
              <a:gd name="T56" fmla="*/ 285 w 398"/>
              <a:gd name="T57" fmla="*/ 256 h 455"/>
              <a:gd name="T58" fmla="*/ 282 w 398"/>
              <a:gd name="T59" fmla="*/ 245 h 455"/>
              <a:gd name="T60" fmla="*/ 276 w 398"/>
              <a:gd name="T61" fmla="*/ 236 h 455"/>
              <a:gd name="T62" fmla="*/ 258 w 398"/>
              <a:gd name="T63" fmla="*/ 217 h 455"/>
              <a:gd name="T64" fmla="*/ 239 w 398"/>
              <a:gd name="T65" fmla="*/ 199 h 455"/>
              <a:gd name="T66" fmla="*/ 258 w 398"/>
              <a:gd name="T67" fmla="*/ 181 h 455"/>
              <a:gd name="T68" fmla="*/ 276 w 398"/>
              <a:gd name="T69" fmla="*/ 162 h 455"/>
              <a:gd name="T70" fmla="*/ 282 w 398"/>
              <a:gd name="T71" fmla="*/ 153 h 455"/>
              <a:gd name="T72" fmla="*/ 285 w 398"/>
              <a:gd name="T73" fmla="*/ 142 h 455"/>
              <a:gd name="T74" fmla="*/ 276 w 398"/>
              <a:gd name="T75" fmla="*/ 122 h 455"/>
              <a:gd name="T76" fmla="*/ 256 w 398"/>
              <a:gd name="T77" fmla="*/ 114 h 455"/>
              <a:gd name="T78" fmla="*/ 245 w 398"/>
              <a:gd name="T79" fmla="*/ 116 h 455"/>
              <a:gd name="T80" fmla="*/ 236 w 398"/>
              <a:gd name="T81" fmla="*/ 122 h 455"/>
              <a:gd name="T82" fmla="*/ 218 w 398"/>
              <a:gd name="T83" fmla="*/ 140 h 455"/>
              <a:gd name="T84" fmla="*/ 199 w 398"/>
              <a:gd name="T85" fmla="*/ 159 h 455"/>
              <a:gd name="T86" fmla="*/ 181 w 398"/>
              <a:gd name="T87" fmla="*/ 140 h 455"/>
              <a:gd name="T88" fmla="*/ 162 w 398"/>
              <a:gd name="T89" fmla="*/ 122 h 455"/>
              <a:gd name="T90" fmla="*/ 153 w 398"/>
              <a:gd name="T91" fmla="*/ 116 h 455"/>
              <a:gd name="T92" fmla="*/ 142 w 398"/>
              <a:gd name="T93" fmla="*/ 114 h 455"/>
              <a:gd name="T94" fmla="*/ 122 w 398"/>
              <a:gd name="T95" fmla="*/ 122 h 455"/>
              <a:gd name="T96" fmla="*/ 114 w 398"/>
              <a:gd name="T97" fmla="*/ 142 h 455"/>
              <a:gd name="T98" fmla="*/ 116 w 398"/>
              <a:gd name="T99" fmla="*/ 153 h 455"/>
              <a:gd name="T100" fmla="*/ 122 w 398"/>
              <a:gd name="T101" fmla="*/ 162 h 455"/>
              <a:gd name="T102" fmla="*/ 141 w 398"/>
              <a:gd name="T103" fmla="*/ 181 h 455"/>
              <a:gd name="T104" fmla="*/ 159 w 398"/>
              <a:gd name="T105" fmla="*/ 199 h 455"/>
              <a:gd name="T106" fmla="*/ 141 w 398"/>
              <a:gd name="T107" fmla="*/ 217 h 455"/>
              <a:gd name="T108" fmla="*/ 122 w 398"/>
              <a:gd name="T109" fmla="*/ 236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98" h="455">
                <a:moveTo>
                  <a:pt x="7" y="45"/>
                </a:moveTo>
                <a:cubicBezTo>
                  <a:pt x="52" y="15"/>
                  <a:pt x="133" y="0"/>
                  <a:pt x="199" y="0"/>
                </a:cubicBezTo>
                <a:cubicBezTo>
                  <a:pt x="234" y="0"/>
                  <a:pt x="273" y="4"/>
                  <a:pt x="308" y="12"/>
                </a:cubicBezTo>
                <a:cubicBezTo>
                  <a:pt x="341" y="19"/>
                  <a:pt x="370" y="30"/>
                  <a:pt x="392" y="45"/>
                </a:cubicBezTo>
                <a:cubicBezTo>
                  <a:pt x="396" y="47"/>
                  <a:pt x="398" y="52"/>
                  <a:pt x="398" y="57"/>
                </a:cubicBezTo>
                <a:cubicBezTo>
                  <a:pt x="398" y="227"/>
                  <a:pt x="398" y="227"/>
                  <a:pt x="398" y="227"/>
                </a:cubicBezTo>
                <a:cubicBezTo>
                  <a:pt x="398" y="275"/>
                  <a:pt x="375" y="321"/>
                  <a:pt x="342" y="359"/>
                </a:cubicBezTo>
                <a:cubicBezTo>
                  <a:pt x="301" y="406"/>
                  <a:pt x="246" y="441"/>
                  <a:pt x="204" y="454"/>
                </a:cubicBezTo>
                <a:cubicBezTo>
                  <a:pt x="203" y="455"/>
                  <a:pt x="201" y="455"/>
                  <a:pt x="199" y="455"/>
                </a:cubicBezTo>
                <a:cubicBezTo>
                  <a:pt x="197" y="455"/>
                  <a:pt x="196" y="455"/>
                  <a:pt x="194" y="454"/>
                </a:cubicBezTo>
                <a:cubicBezTo>
                  <a:pt x="152" y="441"/>
                  <a:pt x="97" y="406"/>
                  <a:pt x="57" y="359"/>
                </a:cubicBezTo>
                <a:cubicBezTo>
                  <a:pt x="24" y="321"/>
                  <a:pt x="0" y="275"/>
                  <a:pt x="0" y="227"/>
                </a:cubicBezTo>
                <a:cubicBezTo>
                  <a:pt x="0" y="57"/>
                  <a:pt x="0" y="57"/>
                  <a:pt x="0" y="57"/>
                </a:cubicBezTo>
                <a:cubicBezTo>
                  <a:pt x="0" y="52"/>
                  <a:pt x="3" y="47"/>
                  <a:pt x="7" y="45"/>
                </a:cubicBezTo>
                <a:close/>
                <a:moveTo>
                  <a:pt x="122" y="236"/>
                </a:moveTo>
                <a:cubicBezTo>
                  <a:pt x="120" y="238"/>
                  <a:pt x="117" y="241"/>
                  <a:pt x="116" y="245"/>
                </a:cubicBezTo>
                <a:cubicBezTo>
                  <a:pt x="115" y="248"/>
                  <a:pt x="114" y="252"/>
                  <a:pt x="114" y="256"/>
                </a:cubicBezTo>
                <a:cubicBezTo>
                  <a:pt x="114" y="264"/>
                  <a:pt x="117" y="271"/>
                  <a:pt x="122" y="276"/>
                </a:cubicBezTo>
                <a:cubicBezTo>
                  <a:pt x="127" y="281"/>
                  <a:pt x="134" y="284"/>
                  <a:pt x="142" y="284"/>
                </a:cubicBezTo>
                <a:cubicBezTo>
                  <a:pt x="146" y="284"/>
                  <a:pt x="150" y="283"/>
                  <a:pt x="153" y="282"/>
                </a:cubicBezTo>
                <a:cubicBezTo>
                  <a:pt x="157" y="281"/>
                  <a:pt x="160" y="278"/>
                  <a:pt x="162" y="276"/>
                </a:cubicBezTo>
                <a:cubicBezTo>
                  <a:pt x="181" y="257"/>
                  <a:pt x="181" y="257"/>
                  <a:pt x="181" y="257"/>
                </a:cubicBezTo>
                <a:cubicBezTo>
                  <a:pt x="199" y="239"/>
                  <a:pt x="199" y="239"/>
                  <a:pt x="199" y="239"/>
                </a:cubicBezTo>
                <a:cubicBezTo>
                  <a:pt x="218" y="257"/>
                  <a:pt x="218" y="257"/>
                  <a:pt x="218" y="257"/>
                </a:cubicBezTo>
                <a:cubicBezTo>
                  <a:pt x="236" y="276"/>
                  <a:pt x="236" y="276"/>
                  <a:pt x="236" y="276"/>
                </a:cubicBezTo>
                <a:cubicBezTo>
                  <a:pt x="238" y="278"/>
                  <a:pt x="242" y="281"/>
                  <a:pt x="245" y="282"/>
                </a:cubicBezTo>
                <a:cubicBezTo>
                  <a:pt x="248" y="283"/>
                  <a:pt x="252" y="284"/>
                  <a:pt x="256" y="284"/>
                </a:cubicBezTo>
                <a:cubicBezTo>
                  <a:pt x="264" y="284"/>
                  <a:pt x="271" y="281"/>
                  <a:pt x="276" y="276"/>
                </a:cubicBezTo>
                <a:cubicBezTo>
                  <a:pt x="281" y="271"/>
                  <a:pt x="285" y="264"/>
                  <a:pt x="285" y="256"/>
                </a:cubicBezTo>
                <a:cubicBezTo>
                  <a:pt x="285" y="252"/>
                  <a:pt x="284" y="248"/>
                  <a:pt x="282" y="245"/>
                </a:cubicBezTo>
                <a:cubicBezTo>
                  <a:pt x="281" y="241"/>
                  <a:pt x="279" y="238"/>
                  <a:pt x="276" y="236"/>
                </a:cubicBezTo>
                <a:cubicBezTo>
                  <a:pt x="258" y="217"/>
                  <a:pt x="258" y="217"/>
                  <a:pt x="258" y="217"/>
                </a:cubicBezTo>
                <a:cubicBezTo>
                  <a:pt x="239" y="199"/>
                  <a:pt x="239" y="199"/>
                  <a:pt x="239" y="199"/>
                </a:cubicBezTo>
                <a:cubicBezTo>
                  <a:pt x="258" y="181"/>
                  <a:pt x="258" y="181"/>
                  <a:pt x="258" y="181"/>
                </a:cubicBezTo>
                <a:cubicBezTo>
                  <a:pt x="276" y="162"/>
                  <a:pt x="276" y="162"/>
                  <a:pt x="276" y="162"/>
                </a:cubicBezTo>
                <a:cubicBezTo>
                  <a:pt x="279" y="160"/>
                  <a:pt x="281" y="157"/>
                  <a:pt x="282" y="153"/>
                </a:cubicBezTo>
                <a:cubicBezTo>
                  <a:pt x="284" y="150"/>
                  <a:pt x="285" y="146"/>
                  <a:pt x="285" y="142"/>
                </a:cubicBezTo>
                <a:cubicBezTo>
                  <a:pt x="285" y="134"/>
                  <a:pt x="281" y="127"/>
                  <a:pt x="276" y="122"/>
                </a:cubicBezTo>
                <a:cubicBezTo>
                  <a:pt x="271" y="117"/>
                  <a:pt x="264" y="114"/>
                  <a:pt x="256" y="114"/>
                </a:cubicBezTo>
                <a:cubicBezTo>
                  <a:pt x="252" y="114"/>
                  <a:pt x="248" y="114"/>
                  <a:pt x="245" y="116"/>
                </a:cubicBezTo>
                <a:cubicBezTo>
                  <a:pt x="242" y="117"/>
                  <a:pt x="238" y="119"/>
                  <a:pt x="236" y="122"/>
                </a:cubicBezTo>
                <a:cubicBezTo>
                  <a:pt x="218" y="140"/>
                  <a:pt x="218" y="140"/>
                  <a:pt x="218" y="140"/>
                </a:cubicBezTo>
                <a:cubicBezTo>
                  <a:pt x="199" y="159"/>
                  <a:pt x="199" y="159"/>
                  <a:pt x="199" y="159"/>
                </a:cubicBezTo>
                <a:cubicBezTo>
                  <a:pt x="181" y="140"/>
                  <a:pt x="181" y="140"/>
                  <a:pt x="181" y="140"/>
                </a:cubicBezTo>
                <a:cubicBezTo>
                  <a:pt x="162" y="122"/>
                  <a:pt x="162" y="122"/>
                  <a:pt x="162" y="122"/>
                </a:cubicBezTo>
                <a:cubicBezTo>
                  <a:pt x="160" y="119"/>
                  <a:pt x="157" y="117"/>
                  <a:pt x="153" y="116"/>
                </a:cubicBezTo>
                <a:cubicBezTo>
                  <a:pt x="150" y="114"/>
                  <a:pt x="146" y="114"/>
                  <a:pt x="142" y="114"/>
                </a:cubicBezTo>
                <a:cubicBezTo>
                  <a:pt x="134" y="114"/>
                  <a:pt x="127" y="117"/>
                  <a:pt x="122" y="122"/>
                </a:cubicBezTo>
                <a:cubicBezTo>
                  <a:pt x="117" y="127"/>
                  <a:pt x="114" y="134"/>
                  <a:pt x="114" y="142"/>
                </a:cubicBezTo>
                <a:cubicBezTo>
                  <a:pt x="114" y="146"/>
                  <a:pt x="115" y="150"/>
                  <a:pt x="116" y="153"/>
                </a:cubicBezTo>
                <a:cubicBezTo>
                  <a:pt x="117" y="157"/>
                  <a:pt x="120" y="160"/>
                  <a:pt x="122" y="162"/>
                </a:cubicBezTo>
                <a:cubicBezTo>
                  <a:pt x="141" y="181"/>
                  <a:pt x="141" y="181"/>
                  <a:pt x="141" y="181"/>
                </a:cubicBezTo>
                <a:cubicBezTo>
                  <a:pt x="159" y="199"/>
                  <a:pt x="159" y="199"/>
                  <a:pt x="159" y="199"/>
                </a:cubicBezTo>
                <a:cubicBezTo>
                  <a:pt x="141" y="217"/>
                  <a:pt x="141" y="217"/>
                  <a:pt x="141" y="217"/>
                </a:cubicBezTo>
                <a:lnTo>
                  <a:pt x="122" y="23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31"/>
          <p:cNvSpPr>
            <a:spLocks/>
          </p:cNvSpPr>
          <p:nvPr userDrawn="1"/>
        </p:nvSpPr>
        <p:spPr bwMode="auto">
          <a:xfrm>
            <a:off x="7558653" y="2197523"/>
            <a:ext cx="289251" cy="216827"/>
          </a:xfrm>
          <a:custGeom>
            <a:avLst/>
            <a:gdLst>
              <a:gd name="T0" fmla="*/ 7 w 401"/>
              <a:gd name="T1" fmla="*/ 156 h 301"/>
              <a:gd name="T2" fmla="*/ 0 w 401"/>
              <a:gd name="T3" fmla="*/ 138 h 301"/>
              <a:gd name="T4" fmla="*/ 7 w 401"/>
              <a:gd name="T5" fmla="*/ 120 h 301"/>
              <a:gd name="T6" fmla="*/ 45 w 401"/>
              <a:gd name="T7" fmla="*/ 83 h 301"/>
              <a:gd name="T8" fmla="*/ 62 w 401"/>
              <a:gd name="T9" fmla="*/ 75 h 301"/>
              <a:gd name="T10" fmla="*/ 80 w 401"/>
              <a:gd name="T11" fmla="*/ 83 h 301"/>
              <a:gd name="T12" fmla="*/ 163 w 401"/>
              <a:gd name="T13" fmla="*/ 165 h 301"/>
              <a:gd name="T14" fmla="*/ 321 w 401"/>
              <a:gd name="T15" fmla="*/ 7 h 301"/>
              <a:gd name="T16" fmla="*/ 338 w 401"/>
              <a:gd name="T17" fmla="*/ 0 h 301"/>
              <a:gd name="T18" fmla="*/ 356 w 401"/>
              <a:gd name="T19" fmla="*/ 7 h 301"/>
              <a:gd name="T20" fmla="*/ 394 w 401"/>
              <a:gd name="T21" fmla="*/ 45 h 301"/>
              <a:gd name="T22" fmla="*/ 401 w 401"/>
              <a:gd name="T23" fmla="*/ 63 h 301"/>
              <a:gd name="T24" fmla="*/ 394 w 401"/>
              <a:gd name="T25" fmla="*/ 81 h 301"/>
              <a:gd name="T26" fmla="*/ 181 w 401"/>
              <a:gd name="T27" fmla="*/ 294 h 301"/>
              <a:gd name="T28" fmla="*/ 163 w 401"/>
              <a:gd name="T29" fmla="*/ 301 h 301"/>
              <a:gd name="T30" fmla="*/ 145 w 401"/>
              <a:gd name="T31" fmla="*/ 294 h 301"/>
              <a:gd name="T32" fmla="*/ 7 w 401"/>
              <a:gd name="T33" fmla="*/ 156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1" h="301">
                <a:moveTo>
                  <a:pt x="7" y="156"/>
                </a:moveTo>
                <a:cubicBezTo>
                  <a:pt x="2" y="151"/>
                  <a:pt x="0" y="145"/>
                  <a:pt x="0" y="138"/>
                </a:cubicBezTo>
                <a:cubicBezTo>
                  <a:pt x="0" y="131"/>
                  <a:pt x="2" y="125"/>
                  <a:pt x="7" y="120"/>
                </a:cubicBezTo>
                <a:cubicBezTo>
                  <a:pt x="45" y="83"/>
                  <a:pt x="45" y="83"/>
                  <a:pt x="45" y="83"/>
                </a:cubicBezTo>
                <a:cubicBezTo>
                  <a:pt x="49" y="78"/>
                  <a:pt x="55" y="75"/>
                  <a:pt x="62" y="75"/>
                </a:cubicBezTo>
                <a:cubicBezTo>
                  <a:pt x="69" y="75"/>
                  <a:pt x="76" y="78"/>
                  <a:pt x="80" y="83"/>
                </a:cubicBezTo>
                <a:cubicBezTo>
                  <a:pt x="163" y="165"/>
                  <a:pt x="163" y="165"/>
                  <a:pt x="163" y="165"/>
                </a:cubicBezTo>
                <a:cubicBezTo>
                  <a:pt x="321" y="7"/>
                  <a:pt x="321" y="7"/>
                  <a:pt x="321" y="7"/>
                </a:cubicBezTo>
                <a:cubicBezTo>
                  <a:pt x="325" y="3"/>
                  <a:pt x="331" y="0"/>
                  <a:pt x="338" y="0"/>
                </a:cubicBezTo>
                <a:cubicBezTo>
                  <a:pt x="345" y="0"/>
                  <a:pt x="352" y="3"/>
                  <a:pt x="356" y="7"/>
                </a:cubicBezTo>
                <a:cubicBezTo>
                  <a:pt x="394" y="45"/>
                  <a:pt x="394" y="45"/>
                  <a:pt x="394" y="45"/>
                </a:cubicBezTo>
                <a:cubicBezTo>
                  <a:pt x="398" y="49"/>
                  <a:pt x="401" y="56"/>
                  <a:pt x="401" y="63"/>
                </a:cubicBezTo>
                <a:cubicBezTo>
                  <a:pt x="401" y="70"/>
                  <a:pt x="398" y="76"/>
                  <a:pt x="394" y="81"/>
                </a:cubicBezTo>
                <a:cubicBezTo>
                  <a:pt x="181" y="294"/>
                  <a:pt x="181" y="294"/>
                  <a:pt x="181" y="294"/>
                </a:cubicBezTo>
                <a:cubicBezTo>
                  <a:pt x="176" y="298"/>
                  <a:pt x="170" y="301"/>
                  <a:pt x="163" y="301"/>
                </a:cubicBezTo>
                <a:cubicBezTo>
                  <a:pt x="156" y="301"/>
                  <a:pt x="149" y="298"/>
                  <a:pt x="145" y="294"/>
                </a:cubicBezTo>
                <a:lnTo>
                  <a:pt x="7" y="15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55" name="Group 454"/>
          <p:cNvGrpSpPr/>
          <p:nvPr userDrawn="1"/>
        </p:nvGrpSpPr>
        <p:grpSpPr>
          <a:xfrm>
            <a:off x="7571131" y="3246963"/>
            <a:ext cx="264294" cy="242155"/>
            <a:chOff x="3474632" y="11763809"/>
            <a:chExt cx="606425" cy="555626"/>
          </a:xfrm>
          <a:solidFill>
            <a:schemeClr val="tx1"/>
          </a:solidFill>
        </p:grpSpPr>
        <p:sp>
          <p:nvSpPr>
            <p:cNvPr id="456" name="Freeform 23"/>
            <p:cNvSpPr>
              <a:spLocks/>
            </p:cNvSpPr>
            <p:nvPr/>
          </p:nvSpPr>
          <p:spPr bwMode="auto">
            <a:xfrm>
              <a:off x="3474632" y="11984472"/>
              <a:ext cx="606425" cy="334963"/>
            </a:xfrm>
            <a:custGeom>
              <a:avLst/>
              <a:gdLst>
                <a:gd name="T0" fmla="*/ 217 w 222"/>
                <a:gd name="T1" fmla="*/ 25 h 122"/>
                <a:gd name="T2" fmla="*/ 176 w 222"/>
                <a:gd name="T3" fmla="*/ 0 h 122"/>
                <a:gd name="T4" fmla="*/ 176 w 222"/>
                <a:gd name="T5" fmla="*/ 0 h 122"/>
                <a:gd name="T6" fmla="*/ 111 w 222"/>
                <a:gd name="T7" fmla="*/ 20 h 122"/>
                <a:gd name="T8" fmla="*/ 46 w 222"/>
                <a:gd name="T9" fmla="*/ 0 h 122"/>
                <a:gd name="T10" fmla="*/ 46 w 222"/>
                <a:gd name="T11" fmla="*/ 0 h 122"/>
                <a:gd name="T12" fmla="*/ 4 w 222"/>
                <a:gd name="T13" fmla="*/ 25 h 122"/>
                <a:gd name="T14" fmla="*/ 3 w 222"/>
                <a:gd name="T15" fmla="*/ 38 h 122"/>
                <a:gd name="T16" fmla="*/ 16 w 222"/>
                <a:gd name="T17" fmla="*/ 39 h 122"/>
                <a:gd name="T18" fmla="*/ 42 w 222"/>
                <a:gd name="T19" fmla="*/ 22 h 122"/>
                <a:gd name="T20" fmla="*/ 42 w 222"/>
                <a:gd name="T21" fmla="*/ 26 h 122"/>
                <a:gd name="T22" fmla="*/ 49 w 222"/>
                <a:gd name="T23" fmla="*/ 61 h 122"/>
                <a:gd name="T24" fmla="*/ 19 w 222"/>
                <a:gd name="T25" fmla="*/ 109 h 122"/>
                <a:gd name="T26" fmla="*/ 26 w 222"/>
                <a:gd name="T27" fmla="*/ 120 h 122"/>
                <a:gd name="T28" fmla="*/ 37 w 222"/>
                <a:gd name="T29" fmla="*/ 114 h 122"/>
                <a:gd name="T30" fmla="*/ 58 w 222"/>
                <a:gd name="T31" fmla="*/ 78 h 122"/>
                <a:gd name="T32" fmla="*/ 111 w 222"/>
                <a:gd name="T33" fmla="*/ 108 h 122"/>
                <a:gd name="T34" fmla="*/ 164 w 222"/>
                <a:gd name="T35" fmla="*/ 78 h 122"/>
                <a:gd name="T36" fmla="*/ 184 w 222"/>
                <a:gd name="T37" fmla="*/ 114 h 122"/>
                <a:gd name="T38" fmla="*/ 193 w 222"/>
                <a:gd name="T39" fmla="*/ 121 h 122"/>
                <a:gd name="T40" fmla="*/ 195 w 222"/>
                <a:gd name="T41" fmla="*/ 120 h 122"/>
                <a:gd name="T42" fmla="*/ 202 w 222"/>
                <a:gd name="T43" fmla="*/ 109 h 122"/>
                <a:gd name="T44" fmla="*/ 173 w 222"/>
                <a:gd name="T45" fmla="*/ 62 h 122"/>
                <a:gd name="T46" fmla="*/ 179 w 222"/>
                <a:gd name="T47" fmla="*/ 26 h 122"/>
                <a:gd name="T48" fmla="*/ 179 w 222"/>
                <a:gd name="T49" fmla="*/ 22 h 122"/>
                <a:gd name="T50" fmla="*/ 205 w 222"/>
                <a:gd name="T51" fmla="*/ 39 h 122"/>
                <a:gd name="T52" fmla="*/ 211 w 222"/>
                <a:gd name="T53" fmla="*/ 42 h 122"/>
                <a:gd name="T54" fmla="*/ 218 w 222"/>
                <a:gd name="T55" fmla="*/ 38 h 122"/>
                <a:gd name="T56" fmla="*/ 217 w 222"/>
                <a:gd name="T57" fmla="*/ 2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2" h="122">
                  <a:moveTo>
                    <a:pt x="217" y="25"/>
                  </a:moveTo>
                  <a:cubicBezTo>
                    <a:pt x="204" y="15"/>
                    <a:pt x="190" y="6"/>
                    <a:pt x="176" y="0"/>
                  </a:cubicBezTo>
                  <a:cubicBezTo>
                    <a:pt x="176" y="0"/>
                    <a:pt x="176" y="0"/>
                    <a:pt x="176" y="0"/>
                  </a:cubicBezTo>
                  <a:cubicBezTo>
                    <a:pt x="157" y="13"/>
                    <a:pt x="135" y="20"/>
                    <a:pt x="111" y="20"/>
                  </a:cubicBezTo>
                  <a:cubicBezTo>
                    <a:pt x="87" y="20"/>
                    <a:pt x="64" y="13"/>
                    <a:pt x="46" y="0"/>
                  </a:cubicBezTo>
                  <a:cubicBezTo>
                    <a:pt x="46" y="0"/>
                    <a:pt x="46" y="0"/>
                    <a:pt x="46" y="0"/>
                  </a:cubicBezTo>
                  <a:cubicBezTo>
                    <a:pt x="31" y="6"/>
                    <a:pt x="17" y="15"/>
                    <a:pt x="4" y="25"/>
                  </a:cubicBezTo>
                  <a:cubicBezTo>
                    <a:pt x="0" y="29"/>
                    <a:pt x="0" y="34"/>
                    <a:pt x="3" y="38"/>
                  </a:cubicBezTo>
                  <a:cubicBezTo>
                    <a:pt x="6" y="42"/>
                    <a:pt x="12" y="43"/>
                    <a:pt x="16" y="39"/>
                  </a:cubicBezTo>
                  <a:cubicBezTo>
                    <a:pt x="24" y="32"/>
                    <a:pt x="33" y="27"/>
                    <a:pt x="42" y="22"/>
                  </a:cubicBezTo>
                  <a:cubicBezTo>
                    <a:pt x="42" y="23"/>
                    <a:pt x="42" y="25"/>
                    <a:pt x="42" y="26"/>
                  </a:cubicBezTo>
                  <a:cubicBezTo>
                    <a:pt x="42" y="39"/>
                    <a:pt x="44" y="51"/>
                    <a:pt x="49" y="61"/>
                  </a:cubicBezTo>
                  <a:cubicBezTo>
                    <a:pt x="35" y="74"/>
                    <a:pt x="24" y="90"/>
                    <a:pt x="19" y="109"/>
                  </a:cubicBezTo>
                  <a:cubicBezTo>
                    <a:pt x="18" y="114"/>
                    <a:pt x="21" y="119"/>
                    <a:pt x="26" y="120"/>
                  </a:cubicBezTo>
                  <a:cubicBezTo>
                    <a:pt x="31" y="122"/>
                    <a:pt x="36" y="119"/>
                    <a:pt x="37" y="114"/>
                  </a:cubicBezTo>
                  <a:cubicBezTo>
                    <a:pt x="41" y="100"/>
                    <a:pt x="48" y="88"/>
                    <a:pt x="58" y="78"/>
                  </a:cubicBezTo>
                  <a:cubicBezTo>
                    <a:pt x="70" y="97"/>
                    <a:pt x="89" y="108"/>
                    <a:pt x="111" y="108"/>
                  </a:cubicBezTo>
                  <a:cubicBezTo>
                    <a:pt x="132" y="108"/>
                    <a:pt x="151" y="97"/>
                    <a:pt x="164" y="78"/>
                  </a:cubicBezTo>
                  <a:cubicBezTo>
                    <a:pt x="173" y="88"/>
                    <a:pt x="181" y="100"/>
                    <a:pt x="184" y="114"/>
                  </a:cubicBezTo>
                  <a:cubicBezTo>
                    <a:pt x="185" y="118"/>
                    <a:pt x="189" y="121"/>
                    <a:pt x="193" y="121"/>
                  </a:cubicBezTo>
                  <a:cubicBezTo>
                    <a:pt x="194" y="121"/>
                    <a:pt x="194" y="121"/>
                    <a:pt x="195" y="120"/>
                  </a:cubicBezTo>
                  <a:cubicBezTo>
                    <a:pt x="200" y="119"/>
                    <a:pt x="203" y="114"/>
                    <a:pt x="202" y="109"/>
                  </a:cubicBezTo>
                  <a:cubicBezTo>
                    <a:pt x="197" y="90"/>
                    <a:pt x="187" y="74"/>
                    <a:pt x="173" y="62"/>
                  </a:cubicBezTo>
                  <a:cubicBezTo>
                    <a:pt x="177" y="51"/>
                    <a:pt x="179" y="39"/>
                    <a:pt x="179" y="26"/>
                  </a:cubicBezTo>
                  <a:cubicBezTo>
                    <a:pt x="179" y="25"/>
                    <a:pt x="179" y="23"/>
                    <a:pt x="179" y="22"/>
                  </a:cubicBezTo>
                  <a:cubicBezTo>
                    <a:pt x="188" y="27"/>
                    <a:pt x="197" y="32"/>
                    <a:pt x="205" y="39"/>
                  </a:cubicBezTo>
                  <a:cubicBezTo>
                    <a:pt x="207" y="41"/>
                    <a:pt x="209" y="42"/>
                    <a:pt x="211" y="42"/>
                  </a:cubicBezTo>
                  <a:cubicBezTo>
                    <a:pt x="214" y="42"/>
                    <a:pt x="217" y="40"/>
                    <a:pt x="218" y="38"/>
                  </a:cubicBezTo>
                  <a:cubicBezTo>
                    <a:pt x="222" y="34"/>
                    <a:pt x="221" y="29"/>
                    <a:pt x="217" y="2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7" name="Freeform 24"/>
            <p:cNvSpPr>
              <a:spLocks/>
            </p:cNvSpPr>
            <p:nvPr/>
          </p:nvSpPr>
          <p:spPr bwMode="auto">
            <a:xfrm>
              <a:off x="3523844" y="11763809"/>
              <a:ext cx="504825" cy="227013"/>
            </a:xfrm>
            <a:custGeom>
              <a:avLst/>
              <a:gdLst>
                <a:gd name="T0" fmla="*/ 93 w 185"/>
                <a:gd name="T1" fmla="*/ 83 h 83"/>
                <a:gd name="T2" fmla="*/ 184 w 185"/>
                <a:gd name="T3" fmla="*/ 12 h 83"/>
                <a:gd name="T4" fmla="*/ 177 w 185"/>
                <a:gd name="T5" fmla="*/ 1 h 83"/>
                <a:gd name="T6" fmla="*/ 166 w 185"/>
                <a:gd name="T7" fmla="*/ 8 h 83"/>
                <a:gd name="T8" fmla="*/ 140 w 185"/>
                <a:gd name="T9" fmla="*/ 48 h 83"/>
                <a:gd name="T10" fmla="*/ 93 w 185"/>
                <a:gd name="T11" fmla="*/ 25 h 83"/>
                <a:gd name="T12" fmla="*/ 45 w 185"/>
                <a:gd name="T13" fmla="*/ 48 h 83"/>
                <a:gd name="T14" fmla="*/ 19 w 185"/>
                <a:gd name="T15" fmla="*/ 8 h 83"/>
                <a:gd name="T16" fmla="*/ 8 w 185"/>
                <a:gd name="T17" fmla="*/ 1 h 83"/>
                <a:gd name="T18" fmla="*/ 1 w 185"/>
                <a:gd name="T19" fmla="*/ 12 h 83"/>
                <a:gd name="T20" fmla="*/ 93 w 18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83">
                  <a:moveTo>
                    <a:pt x="93" y="83"/>
                  </a:moveTo>
                  <a:cubicBezTo>
                    <a:pt x="136" y="83"/>
                    <a:pt x="173" y="54"/>
                    <a:pt x="184" y="12"/>
                  </a:cubicBezTo>
                  <a:cubicBezTo>
                    <a:pt x="185" y="7"/>
                    <a:pt x="182" y="2"/>
                    <a:pt x="177" y="1"/>
                  </a:cubicBezTo>
                  <a:cubicBezTo>
                    <a:pt x="172" y="0"/>
                    <a:pt x="167" y="3"/>
                    <a:pt x="166" y="8"/>
                  </a:cubicBezTo>
                  <a:cubicBezTo>
                    <a:pt x="162" y="24"/>
                    <a:pt x="153" y="38"/>
                    <a:pt x="140" y="48"/>
                  </a:cubicBezTo>
                  <a:cubicBezTo>
                    <a:pt x="128" y="33"/>
                    <a:pt x="111" y="25"/>
                    <a:pt x="93" y="25"/>
                  </a:cubicBezTo>
                  <a:cubicBezTo>
                    <a:pt x="74" y="25"/>
                    <a:pt x="57" y="33"/>
                    <a:pt x="45" y="48"/>
                  </a:cubicBezTo>
                  <a:cubicBezTo>
                    <a:pt x="32" y="38"/>
                    <a:pt x="23" y="24"/>
                    <a:pt x="19" y="8"/>
                  </a:cubicBezTo>
                  <a:cubicBezTo>
                    <a:pt x="18" y="3"/>
                    <a:pt x="13" y="0"/>
                    <a:pt x="8" y="1"/>
                  </a:cubicBezTo>
                  <a:cubicBezTo>
                    <a:pt x="3" y="2"/>
                    <a:pt x="0" y="7"/>
                    <a:pt x="1" y="12"/>
                  </a:cubicBezTo>
                  <a:cubicBezTo>
                    <a:pt x="12" y="54"/>
                    <a:pt x="49" y="83"/>
                    <a:pt x="93" y="8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58" name="Group 457"/>
          <p:cNvGrpSpPr/>
          <p:nvPr userDrawn="1"/>
        </p:nvGrpSpPr>
        <p:grpSpPr>
          <a:xfrm>
            <a:off x="6926690" y="3745127"/>
            <a:ext cx="291277" cy="287125"/>
            <a:chOff x="529820" y="11753491"/>
            <a:chExt cx="668336" cy="658812"/>
          </a:xfrm>
          <a:solidFill>
            <a:schemeClr val="tx1"/>
          </a:solidFill>
        </p:grpSpPr>
        <p:sp>
          <p:nvSpPr>
            <p:cNvPr id="459" name="Freeform 26"/>
            <p:cNvSpPr>
              <a:spLocks noEditPoints="1"/>
            </p:cNvSpPr>
            <p:nvPr/>
          </p:nvSpPr>
          <p:spPr bwMode="auto">
            <a:xfrm>
              <a:off x="529820" y="11882078"/>
              <a:ext cx="504825" cy="530225"/>
            </a:xfrm>
            <a:custGeom>
              <a:avLst/>
              <a:gdLst>
                <a:gd name="T0" fmla="*/ 148 w 184"/>
                <a:gd name="T1" fmla="*/ 38 h 194"/>
                <a:gd name="T2" fmla="*/ 153 w 184"/>
                <a:gd name="T3" fmla="*/ 26 h 194"/>
                <a:gd name="T4" fmla="*/ 149 w 184"/>
                <a:gd name="T5" fmla="*/ 14 h 194"/>
                <a:gd name="T6" fmla="*/ 124 w 184"/>
                <a:gd name="T7" fmla="*/ 3 h 194"/>
                <a:gd name="T8" fmla="*/ 112 w 184"/>
                <a:gd name="T9" fmla="*/ 7 h 194"/>
                <a:gd name="T10" fmla="*/ 106 w 184"/>
                <a:gd name="T11" fmla="*/ 18 h 194"/>
                <a:gd name="T12" fmla="*/ 19 w 184"/>
                <a:gd name="T13" fmla="*/ 65 h 194"/>
                <a:gd name="T14" fmla="*/ 59 w 184"/>
                <a:gd name="T15" fmla="*/ 174 h 194"/>
                <a:gd name="T16" fmla="*/ 168 w 184"/>
                <a:gd name="T17" fmla="*/ 135 h 194"/>
                <a:gd name="T18" fmla="*/ 148 w 184"/>
                <a:gd name="T19" fmla="*/ 38 h 194"/>
                <a:gd name="T20" fmla="*/ 157 w 184"/>
                <a:gd name="T21" fmla="*/ 107 h 194"/>
                <a:gd name="T22" fmla="*/ 147 w 184"/>
                <a:gd name="T23" fmla="*/ 115 h 194"/>
                <a:gd name="T24" fmla="*/ 144 w 184"/>
                <a:gd name="T25" fmla="*/ 114 h 194"/>
                <a:gd name="T26" fmla="*/ 139 w 184"/>
                <a:gd name="T27" fmla="*/ 105 h 194"/>
                <a:gd name="T28" fmla="*/ 123 w 184"/>
                <a:gd name="T29" fmla="*/ 64 h 194"/>
                <a:gd name="T30" fmla="*/ 121 w 184"/>
                <a:gd name="T31" fmla="*/ 51 h 194"/>
                <a:gd name="T32" fmla="*/ 134 w 184"/>
                <a:gd name="T33" fmla="*/ 50 h 194"/>
                <a:gd name="T34" fmla="*/ 157 w 184"/>
                <a:gd name="T35" fmla="*/ 107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4" h="194">
                  <a:moveTo>
                    <a:pt x="148" y="38"/>
                  </a:moveTo>
                  <a:cubicBezTo>
                    <a:pt x="153" y="26"/>
                    <a:pt x="153" y="26"/>
                    <a:pt x="153" y="26"/>
                  </a:cubicBezTo>
                  <a:cubicBezTo>
                    <a:pt x="155" y="22"/>
                    <a:pt x="153" y="16"/>
                    <a:pt x="149" y="14"/>
                  </a:cubicBezTo>
                  <a:cubicBezTo>
                    <a:pt x="124" y="3"/>
                    <a:pt x="124" y="3"/>
                    <a:pt x="124" y="3"/>
                  </a:cubicBezTo>
                  <a:cubicBezTo>
                    <a:pt x="119" y="0"/>
                    <a:pt x="114" y="2"/>
                    <a:pt x="112" y="7"/>
                  </a:cubicBezTo>
                  <a:cubicBezTo>
                    <a:pt x="106" y="18"/>
                    <a:pt x="106" y="18"/>
                    <a:pt x="106" y="18"/>
                  </a:cubicBezTo>
                  <a:cubicBezTo>
                    <a:pt x="71" y="13"/>
                    <a:pt x="35" y="31"/>
                    <a:pt x="19" y="65"/>
                  </a:cubicBezTo>
                  <a:cubicBezTo>
                    <a:pt x="0" y="106"/>
                    <a:pt x="17" y="155"/>
                    <a:pt x="59" y="174"/>
                  </a:cubicBezTo>
                  <a:cubicBezTo>
                    <a:pt x="100" y="194"/>
                    <a:pt x="149" y="176"/>
                    <a:pt x="168" y="135"/>
                  </a:cubicBezTo>
                  <a:cubicBezTo>
                    <a:pt x="184" y="100"/>
                    <a:pt x="175" y="61"/>
                    <a:pt x="148" y="38"/>
                  </a:cubicBezTo>
                  <a:close/>
                  <a:moveTo>
                    <a:pt x="157" y="107"/>
                  </a:moveTo>
                  <a:cubicBezTo>
                    <a:pt x="157" y="112"/>
                    <a:pt x="152" y="115"/>
                    <a:pt x="147" y="115"/>
                  </a:cubicBezTo>
                  <a:cubicBezTo>
                    <a:pt x="146" y="115"/>
                    <a:pt x="145" y="115"/>
                    <a:pt x="144" y="114"/>
                  </a:cubicBezTo>
                  <a:cubicBezTo>
                    <a:pt x="141" y="112"/>
                    <a:pt x="139" y="109"/>
                    <a:pt x="139" y="105"/>
                  </a:cubicBezTo>
                  <a:cubicBezTo>
                    <a:pt x="141" y="90"/>
                    <a:pt x="135" y="74"/>
                    <a:pt x="123" y="64"/>
                  </a:cubicBezTo>
                  <a:cubicBezTo>
                    <a:pt x="119" y="61"/>
                    <a:pt x="118" y="55"/>
                    <a:pt x="121" y="51"/>
                  </a:cubicBezTo>
                  <a:cubicBezTo>
                    <a:pt x="125" y="48"/>
                    <a:pt x="130" y="47"/>
                    <a:pt x="134" y="50"/>
                  </a:cubicBezTo>
                  <a:cubicBezTo>
                    <a:pt x="151" y="64"/>
                    <a:pt x="160" y="85"/>
                    <a:pt x="157" y="10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0" name="Freeform 27"/>
            <p:cNvSpPr>
              <a:spLocks/>
            </p:cNvSpPr>
            <p:nvPr/>
          </p:nvSpPr>
          <p:spPr bwMode="auto">
            <a:xfrm>
              <a:off x="894944" y="11796353"/>
              <a:ext cx="212725" cy="112713"/>
            </a:xfrm>
            <a:custGeom>
              <a:avLst/>
              <a:gdLst>
                <a:gd name="T0" fmla="*/ 72 w 78"/>
                <a:gd name="T1" fmla="*/ 22 h 41"/>
                <a:gd name="T2" fmla="*/ 39 w 78"/>
                <a:gd name="T3" fmla="*/ 6 h 41"/>
                <a:gd name="T4" fmla="*/ 39 w 78"/>
                <a:gd name="T5" fmla="*/ 6 h 41"/>
                <a:gd name="T6" fmla="*/ 39 w 78"/>
                <a:gd name="T7" fmla="*/ 6 h 41"/>
                <a:gd name="T8" fmla="*/ 2 w 78"/>
                <a:gd name="T9" fmla="*/ 20 h 41"/>
                <a:gd name="T10" fmla="*/ 2 w 78"/>
                <a:gd name="T11" fmla="*/ 20 h 41"/>
                <a:gd name="T12" fmla="*/ 7 w 78"/>
                <a:gd name="T13" fmla="*/ 32 h 41"/>
                <a:gd name="T14" fmla="*/ 19 w 78"/>
                <a:gd name="T15" fmla="*/ 28 h 41"/>
                <a:gd name="T16" fmla="*/ 19 w 78"/>
                <a:gd name="T17" fmla="*/ 28 h 41"/>
                <a:gd name="T18" fmla="*/ 19 w 78"/>
                <a:gd name="T19" fmla="*/ 28 h 41"/>
                <a:gd name="T20" fmla="*/ 31 w 78"/>
                <a:gd name="T21" fmla="*/ 23 h 41"/>
                <a:gd name="T22" fmla="*/ 31 w 78"/>
                <a:gd name="T23" fmla="*/ 23 h 41"/>
                <a:gd name="T24" fmla="*/ 31 w 78"/>
                <a:gd name="T25" fmla="*/ 23 h 41"/>
                <a:gd name="T26" fmla="*/ 64 w 78"/>
                <a:gd name="T27" fmla="*/ 39 h 41"/>
                <a:gd name="T28" fmla="*/ 76 w 78"/>
                <a:gd name="T29" fmla="*/ 34 h 41"/>
                <a:gd name="T30" fmla="*/ 72 w 78"/>
                <a:gd name="T31" fmla="*/ 2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8" h="41">
                  <a:moveTo>
                    <a:pt x="72" y="22"/>
                  </a:moveTo>
                  <a:cubicBezTo>
                    <a:pt x="72" y="22"/>
                    <a:pt x="39" y="6"/>
                    <a:pt x="39" y="6"/>
                  </a:cubicBezTo>
                  <a:cubicBezTo>
                    <a:pt x="39" y="6"/>
                    <a:pt x="39" y="6"/>
                    <a:pt x="39" y="6"/>
                  </a:cubicBezTo>
                  <a:cubicBezTo>
                    <a:pt x="39" y="6"/>
                    <a:pt x="39" y="6"/>
                    <a:pt x="39" y="6"/>
                  </a:cubicBezTo>
                  <a:cubicBezTo>
                    <a:pt x="25" y="0"/>
                    <a:pt x="9" y="6"/>
                    <a:pt x="2" y="20"/>
                  </a:cubicBezTo>
                  <a:cubicBezTo>
                    <a:pt x="2" y="20"/>
                    <a:pt x="2" y="20"/>
                    <a:pt x="2" y="20"/>
                  </a:cubicBezTo>
                  <a:cubicBezTo>
                    <a:pt x="0" y="24"/>
                    <a:pt x="2" y="30"/>
                    <a:pt x="7" y="32"/>
                  </a:cubicBezTo>
                  <a:cubicBezTo>
                    <a:pt x="11" y="34"/>
                    <a:pt x="17" y="32"/>
                    <a:pt x="19" y="28"/>
                  </a:cubicBezTo>
                  <a:cubicBezTo>
                    <a:pt x="19" y="28"/>
                    <a:pt x="19" y="28"/>
                    <a:pt x="19" y="28"/>
                  </a:cubicBezTo>
                  <a:cubicBezTo>
                    <a:pt x="19" y="28"/>
                    <a:pt x="19" y="28"/>
                    <a:pt x="19" y="28"/>
                  </a:cubicBezTo>
                  <a:cubicBezTo>
                    <a:pt x="21" y="23"/>
                    <a:pt x="26" y="21"/>
                    <a:pt x="31" y="23"/>
                  </a:cubicBezTo>
                  <a:cubicBezTo>
                    <a:pt x="31" y="23"/>
                    <a:pt x="31" y="23"/>
                    <a:pt x="31" y="23"/>
                  </a:cubicBezTo>
                  <a:cubicBezTo>
                    <a:pt x="31" y="23"/>
                    <a:pt x="31" y="23"/>
                    <a:pt x="31" y="23"/>
                  </a:cubicBezTo>
                  <a:cubicBezTo>
                    <a:pt x="31" y="23"/>
                    <a:pt x="64" y="38"/>
                    <a:pt x="64" y="39"/>
                  </a:cubicBezTo>
                  <a:cubicBezTo>
                    <a:pt x="69" y="41"/>
                    <a:pt x="74" y="39"/>
                    <a:pt x="76" y="34"/>
                  </a:cubicBezTo>
                  <a:cubicBezTo>
                    <a:pt x="78" y="30"/>
                    <a:pt x="77" y="24"/>
                    <a:pt x="72"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8"/>
            <p:cNvSpPr>
              <a:spLocks/>
            </p:cNvSpPr>
            <p:nvPr/>
          </p:nvSpPr>
          <p:spPr bwMode="auto">
            <a:xfrm>
              <a:off x="1123544" y="11891603"/>
              <a:ext cx="74612" cy="49213"/>
            </a:xfrm>
            <a:custGeom>
              <a:avLst/>
              <a:gdLst>
                <a:gd name="T0" fmla="*/ 23 w 27"/>
                <a:gd name="T1" fmla="*/ 9 h 18"/>
                <a:gd name="T2" fmla="*/ 7 w 27"/>
                <a:gd name="T3" fmla="*/ 1 h 18"/>
                <a:gd name="T4" fmla="*/ 1 w 27"/>
                <a:gd name="T5" fmla="*/ 3 h 18"/>
                <a:gd name="T6" fmla="*/ 3 w 27"/>
                <a:gd name="T7" fmla="*/ 9 h 18"/>
                <a:gd name="T8" fmla="*/ 19 w 27"/>
                <a:gd name="T9" fmla="*/ 17 h 18"/>
                <a:gd name="T10" fmla="*/ 26 w 27"/>
                <a:gd name="T11" fmla="*/ 15 h 18"/>
                <a:gd name="T12" fmla="*/ 23 w 27"/>
                <a:gd name="T13" fmla="*/ 9 h 18"/>
              </a:gdLst>
              <a:ahLst/>
              <a:cxnLst>
                <a:cxn ang="0">
                  <a:pos x="T0" y="T1"/>
                </a:cxn>
                <a:cxn ang="0">
                  <a:pos x="T2" y="T3"/>
                </a:cxn>
                <a:cxn ang="0">
                  <a:pos x="T4" y="T5"/>
                </a:cxn>
                <a:cxn ang="0">
                  <a:pos x="T6" y="T7"/>
                </a:cxn>
                <a:cxn ang="0">
                  <a:pos x="T8" y="T9"/>
                </a:cxn>
                <a:cxn ang="0">
                  <a:pos x="T10" y="T11"/>
                </a:cxn>
                <a:cxn ang="0">
                  <a:pos x="T12" y="T13"/>
                </a:cxn>
              </a:cxnLst>
              <a:rect l="0" t="0" r="r" b="b"/>
              <a:pathLst>
                <a:path w="27" h="18">
                  <a:moveTo>
                    <a:pt x="23" y="9"/>
                  </a:moveTo>
                  <a:cubicBezTo>
                    <a:pt x="7" y="1"/>
                    <a:pt x="7" y="1"/>
                    <a:pt x="7" y="1"/>
                  </a:cubicBezTo>
                  <a:cubicBezTo>
                    <a:pt x="4" y="0"/>
                    <a:pt x="2" y="1"/>
                    <a:pt x="1" y="3"/>
                  </a:cubicBezTo>
                  <a:cubicBezTo>
                    <a:pt x="0" y="5"/>
                    <a:pt x="1" y="8"/>
                    <a:pt x="3" y="9"/>
                  </a:cubicBezTo>
                  <a:cubicBezTo>
                    <a:pt x="19" y="17"/>
                    <a:pt x="19" y="17"/>
                    <a:pt x="19" y="17"/>
                  </a:cubicBezTo>
                  <a:cubicBezTo>
                    <a:pt x="22" y="18"/>
                    <a:pt x="24" y="17"/>
                    <a:pt x="26" y="15"/>
                  </a:cubicBezTo>
                  <a:cubicBezTo>
                    <a:pt x="27" y="12"/>
                    <a:pt x="26" y="10"/>
                    <a:pt x="23"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9"/>
            <p:cNvSpPr>
              <a:spLocks/>
            </p:cNvSpPr>
            <p:nvPr/>
          </p:nvSpPr>
          <p:spPr bwMode="auto">
            <a:xfrm>
              <a:off x="974319" y="11901128"/>
              <a:ext cx="69850" cy="57150"/>
            </a:xfrm>
            <a:custGeom>
              <a:avLst/>
              <a:gdLst>
                <a:gd name="T0" fmla="*/ 18 w 26"/>
                <a:gd name="T1" fmla="*/ 2 h 21"/>
                <a:gd name="T2" fmla="*/ 3 w 26"/>
                <a:gd name="T3" fmla="*/ 12 h 21"/>
                <a:gd name="T4" fmla="*/ 2 w 26"/>
                <a:gd name="T5" fmla="*/ 19 h 21"/>
                <a:gd name="T6" fmla="*/ 8 w 26"/>
                <a:gd name="T7" fmla="*/ 20 h 21"/>
                <a:gd name="T8" fmla="*/ 23 w 26"/>
                <a:gd name="T9" fmla="*/ 9 h 21"/>
                <a:gd name="T10" fmla="*/ 24 w 26"/>
                <a:gd name="T11" fmla="*/ 3 h 21"/>
                <a:gd name="T12" fmla="*/ 18 w 2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26" h="21">
                  <a:moveTo>
                    <a:pt x="18" y="2"/>
                  </a:moveTo>
                  <a:cubicBezTo>
                    <a:pt x="3" y="12"/>
                    <a:pt x="3" y="12"/>
                    <a:pt x="3" y="12"/>
                  </a:cubicBezTo>
                  <a:cubicBezTo>
                    <a:pt x="1" y="14"/>
                    <a:pt x="0" y="16"/>
                    <a:pt x="2" y="19"/>
                  </a:cubicBezTo>
                  <a:cubicBezTo>
                    <a:pt x="3" y="21"/>
                    <a:pt x="6" y="21"/>
                    <a:pt x="8" y="20"/>
                  </a:cubicBezTo>
                  <a:cubicBezTo>
                    <a:pt x="23" y="9"/>
                    <a:pt x="23" y="9"/>
                    <a:pt x="23" y="9"/>
                  </a:cubicBezTo>
                  <a:cubicBezTo>
                    <a:pt x="25" y="8"/>
                    <a:pt x="26" y="5"/>
                    <a:pt x="24" y="3"/>
                  </a:cubicBezTo>
                  <a:cubicBezTo>
                    <a:pt x="23" y="1"/>
                    <a:pt x="20" y="0"/>
                    <a:pt x="1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3" name="Freeform 30"/>
            <p:cNvSpPr>
              <a:spLocks/>
            </p:cNvSpPr>
            <p:nvPr/>
          </p:nvSpPr>
          <p:spPr bwMode="auto">
            <a:xfrm>
              <a:off x="1118782" y="11799528"/>
              <a:ext cx="68262" cy="57150"/>
            </a:xfrm>
            <a:custGeom>
              <a:avLst/>
              <a:gdLst>
                <a:gd name="T0" fmla="*/ 7 w 25"/>
                <a:gd name="T1" fmla="*/ 20 h 21"/>
                <a:gd name="T2" fmla="*/ 22 w 25"/>
                <a:gd name="T3" fmla="*/ 9 h 21"/>
                <a:gd name="T4" fmla="*/ 24 w 25"/>
                <a:gd name="T5" fmla="*/ 3 h 21"/>
                <a:gd name="T6" fmla="*/ 17 w 25"/>
                <a:gd name="T7" fmla="*/ 2 h 21"/>
                <a:gd name="T8" fmla="*/ 2 w 25"/>
                <a:gd name="T9" fmla="*/ 12 h 21"/>
                <a:gd name="T10" fmla="*/ 1 w 25"/>
                <a:gd name="T11" fmla="*/ 19 h 21"/>
                <a:gd name="T12" fmla="*/ 7 w 25"/>
                <a:gd name="T13" fmla="*/ 20 h 21"/>
              </a:gdLst>
              <a:ahLst/>
              <a:cxnLst>
                <a:cxn ang="0">
                  <a:pos x="T0" y="T1"/>
                </a:cxn>
                <a:cxn ang="0">
                  <a:pos x="T2" y="T3"/>
                </a:cxn>
                <a:cxn ang="0">
                  <a:pos x="T4" y="T5"/>
                </a:cxn>
                <a:cxn ang="0">
                  <a:pos x="T6" y="T7"/>
                </a:cxn>
                <a:cxn ang="0">
                  <a:pos x="T8" y="T9"/>
                </a:cxn>
                <a:cxn ang="0">
                  <a:pos x="T10" y="T11"/>
                </a:cxn>
                <a:cxn ang="0">
                  <a:pos x="T12" y="T13"/>
                </a:cxn>
              </a:cxnLst>
              <a:rect l="0" t="0" r="r" b="b"/>
              <a:pathLst>
                <a:path w="25" h="21">
                  <a:moveTo>
                    <a:pt x="7" y="20"/>
                  </a:moveTo>
                  <a:cubicBezTo>
                    <a:pt x="22" y="9"/>
                    <a:pt x="22" y="9"/>
                    <a:pt x="22" y="9"/>
                  </a:cubicBezTo>
                  <a:cubicBezTo>
                    <a:pt x="25" y="8"/>
                    <a:pt x="25" y="5"/>
                    <a:pt x="24" y="3"/>
                  </a:cubicBezTo>
                  <a:cubicBezTo>
                    <a:pt x="22" y="1"/>
                    <a:pt x="19" y="0"/>
                    <a:pt x="17" y="2"/>
                  </a:cubicBezTo>
                  <a:cubicBezTo>
                    <a:pt x="2" y="12"/>
                    <a:pt x="2" y="12"/>
                    <a:pt x="2" y="12"/>
                  </a:cubicBezTo>
                  <a:cubicBezTo>
                    <a:pt x="0" y="14"/>
                    <a:pt x="0" y="17"/>
                    <a:pt x="1" y="19"/>
                  </a:cubicBezTo>
                  <a:cubicBezTo>
                    <a:pt x="3" y="21"/>
                    <a:pt x="5" y="21"/>
                    <a:pt x="7"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4" name="Freeform 31"/>
            <p:cNvSpPr>
              <a:spLocks/>
            </p:cNvSpPr>
            <p:nvPr/>
          </p:nvSpPr>
          <p:spPr bwMode="auto">
            <a:xfrm>
              <a:off x="1072744" y="11928116"/>
              <a:ext cx="30162" cy="76200"/>
            </a:xfrm>
            <a:custGeom>
              <a:avLst/>
              <a:gdLst>
                <a:gd name="T0" fmla="*/ 5 w 11"/>
                <a:gd name="T1" fmla="*/ 1 h 28"/>
                <a:gd name="T2" fmla="*/ 0 w 11"/>
                <a:gd name="T3" fmla="*/ 5 h 28"/>
                <a:gd name="T4" fmla="*/ 2 w 11"/>
                <a:gd name="T5" fmla="*/ 24 h 28"/>
                <a:gd name="T6" fmla="*/ 7 w 11"/>
                <a:gd name="T7" fmla="*/ 28 h 28"/>
                <a:gd name="T8" fmla="*/ 11 w 11"/>
                <a:gd name="T9" fmla="*/ 23 h 28"/>
                <a:gd name="T10" fmla="*/ 10 w 11"/>
                <a:gd name="T11" fmla="*/ 5 h 28"/>
                <a:gd name="T12" fmla="*/ 5 w 11"/>
                <a:gd name="T13" fmla="*/ 1 h 28"/>
              </a:gdLst>
              <a:ahLst/>
              <a:cxnLst>
                <a:cxn ang="0">
                  <a:pos x="T0" y="T1"/>
                </a:cxn>
                <a:cxn ang="0">
                  <a:pos x="T2" y="T3"/>
                </a:cxn>
                <a:cxn ang="0">
                  <a:pos x="T4" y="T5"/>
                </a:cxn>
                <a:cxn ang="0">
                  <a:pos x="T6" y="T7"/>
                </a:cxn>
                <a:cxn ang="0">
                  <a:pos x="T8" y="T9"/>
                </a:cxn>
                <a:cxn ang="0">
                  <a:pos x="T10" y="T11"/>
                </a:cxn>
                <a:cxn ang="0">
                  <a:pos x="T12" y="T13"/>
                </a:cxn>
              </a:cxnLst>
              <a:rect l="0" t="0" r="r" b="b"/>
              <a:pathLst>
                <a:path w="11" h="28">
                  <a:moveTo>
                    <a:pt x="5" y="1"/>
                  </a:moveTo>
                  <a:cubicBezTo>
                    <a:pt x="2" y="1"/>
                    <a:pt x="0" y="3"/>
                    <a:pt x="0" y="5"/>
                  </a:cubicBezTo>
                  <a:cubicBezTo>
                    <a:pt x="2" y="24"/>
                    <a:pt x="2" y="24"/>
                    <a:pt x="2" y="24"/>
                  </a:cubicBezTo>
                  <a:cubicBezTo>
                    <a:pt x="2" y="26"/>
                    <a:pt x="5" y="28"/>
                    <a:pt x="7" y="28"/>
                  </a:cubicBezTo>
                  <a:cubicBezTo>
                    <a:pt x="10" y="28"/>
                    <a:pt x="11" y="25"/>
                    <a:pt x="11" y="23"/>
                  </a:cubicBezTo>
                  <a:cubicBezTo>
                    <a:pt x="10" y="5"/>
                    <a:pt x="10" y="5"/>
                    <a:pt x="10" y="5"/>
                  </a:cubicBezTo>
                  <a:cubicBezTo>
                    <a:pt x="9" y="2"/>
                    <a:pt x="7" y="0"/>
                    <a:pt x="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5" name="Freeform 32"/>
            <p:cNvSpPr>
              <a:spLocks/>
            </p:cNvSpPr>
            <p:nvPr/>
          </p:nvSpPr>
          <p:spPr bwMode="auto">
            <a:xfrm>
              <a:off x="1058457" y="11753491"/>
              <a:ext cx="30162" cy="76200"/>
            </a:xfrm>
            <a:custGeom>
              <a:avLst/>
              <a:gdLst>
                <a:gd name="T0" fmla="*/ 6 w 11"/>
                <a:gd name="T1" fmla="*/ 28 h 28"/>
                <a:gd name="T2" fmla="*/ 11 w 11"/>
                <a:gd name="T3" fmla="*/ 23 h 28"/>
                <a:gd name="T4" fmla="*/ 9 w 11"/>
                <a:gd name="T5" fmla="*/ 5 h 28"/>
                <a:gd name="T6" fmla="*/ 4 w 11"/>
                <a:gd name="T7" fmla="*/ 1 h 28"/>
                <a:gd name="T8" fmla="*/ 0 w 11"/>
                <a:gd name="T9" fmla="*/ 6 h 28"/>
                <a:gd name="T10" fmla="*/ 1 w 11"/>
                <a:gd name="T11" fmla="*/ 24 h 28"/>
                <a:gd name="T12" fmla="*/ 6 w 11"/>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11" h="28">
                  <a:moveTo>
                    <a:pt x="6" y="28"/>
                  </a:moveTo>
                  <a:cubicBezTo>
                    <a:pt x="9" y="28"/>
                    <a:pt x="11" y="26"/>
                    <a:pt x="11" y="23"/>
                  </a:cubicBezTo>
                  <a:cubicBezTo>
                    <a:pt x="9" y="5"/>
                    <a:pt x="9" y="5"/>
                    <a:pt x="9" y="5"/>
                  </a:cubicBezTo>
                  <a:cubicBezTo>
                    <a:pt x="9" y="2"/>
                    <a:pt x="7" y="0"/>
                    <a:pt x="4" y="1"/>
                  </a:cubicBezTo>
                  <a:cubicBezTo>
                    <a:pt x="2" y="1"/>
                    <a:pt x="0" y="3"/>
                    <a:pt x="0" y="6"/>
                  </a:cubicBezTo>
                  <a:cubicBezTo>
                    <a:pt x="1" y="24"/>
                    <a:pt x="1" y="24"/>
                    <a:pt x="1" y="24"/>
                  </a:cubicBezTo>
                  <a:cubicBezTo>
                    <a:pt x="2" y="26"/>
                    <a:pt x="4" y="28"/>
                    <a:pt x="6" y="2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630" name="Freeform 16"/>
          <p:cNvSpPr>
            <a:spLocks noEditPoints="1"/>
          </p:cNvSpPr>
          <p:nvPr userDrawn="1"/>
        </p:nvSpPr>
        <p:spPr bwMode="auto">
          <a:xfrm>
            <a:off x="10951163" y="5520101"/>
            <a:ext cx="238255" cy="270809"/>
          </a:xfrm>
          <a:custGeom>
            <a:avLst/>
            <a:gdLst>
              <a:gd name="T0" fmla="*/ 43 w 402"/>
              <a:gd name="T1" fmla="*/ 436 h 457"/>
              <a:gd name="T2" fmla="*/ 22 w 402"/>
              <a:gd name="T3" fmla="*/ 457 h 457"/>
              <a:gd name="T4" fmla="*/ 0 w 402"/>
              <a:gd name="T5" fmla="*/ 436 h 457"/>
              <a:gd name="T6" fmla="*/ 0 w 402"/>
              <a:gd name="T7" fmla="*/ 22 h 457"/>
              <a:gd name="T8" fmla="*/ 22 w 402"/>
              <a:gd name="T9" fmla="*/ 0 h 457"/>
              <a:gd name="T10" fmla="*/ 43 w 402"/>
              <a:gd name="T11" fmla="*/ 22 h 457"/>
              <a:gd name="T12" fmla="*/ 43 w 402"/>
              <a:gd name="T13" fmla="*/ 436 h 457"/>
              <a:gd name="T14" fmla="*/ 328 w 402"/>
              <a:gd name="T15" fmla="*/ 156 h 457"/>
              <a:gd name="T16" fmla="*/ 398 w 402"/>
              <a:gd name="T17" fmla="*/ 279 h 457"/>
              <a:gd name="T18" fmla="*/ 393 w 402"/>
              <a:gd name="T19" fmla="*/ 298 h 457"/>
              <a:gd name="T20" fmla="*/ 386 w 402"/>
              <a:gd name="T21" fmla="*/ 300 h 457"/>
              <a:gd name="T22" fmla="*/ 86 w 402"/>
              <a:gd name="T23" fmla="*/ 300 h 457"/>
              <a:gd name="T24" fmla="*/ 72 w 402"/>
              <a:gd name="T25" fmla="*/ 286 h 457"/>
              <a:gd name="T26" fmla="*/ 72 w 402"/>
              <a:gd name="T27" fmla="*/ 29 h 457"/>
              <a:gd name="T28" fmla="*/ 86 w 402"/>
              <a:gd name="T29" fmla="*/ 15 h 457"/>
              <a:gd name="T30" fmla="*/ 386 w 402"/>
              <a:gd name="T31" fmla="*/ 15 h 457"/>
              <a:gd name="T32" fmla="*/ 400 w 402"/>
              <a:gd name="T33" fmla="*/ 29 h 457"/>
              <a:gd name="T34" fmla="*/ 397 w 402"/>
              <a:gd name="T35" fmla="*/ 37 h 457"/>
              <a:gd name="T36" fmla="*/ 328 w 402"/>
              <a:gd name="T37" fmla="*/ 156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2" h="457">
                <a:moveTo>
                  <a:pt x="43" y="436"/>
                </a:moveTo>
                <a:cubicBezTo>
                  <a:pt x="43" y="447"/>
                  <a:pt x="34" y="457"/>
                  <a:pt x="22" y="457"/>
                </a:cubicBezTo>
                <a:cubicBezTo>
                  <a:pt x="10" y="457"/>
                  <a:pt x="0" y="447"/>
                  <a:pt x="0" y="436"/>
                </a:cubicBezTo>
                <a:cubicBezTo>
                  <a:pt x="0" y="22"/>
                  <a:pt x="0" y="22"/>
                  <a:pt x="0" y="22"/>
                </a:cubicBezTo>
                <a:cubicBezTo>
                  <a:pt x="0" y="10"/>
                  <a:pt x="10" y="0"/>
                  <a:pt x="22" y="0"/>
                </a:cubicBezTo>
                <a:cubicBezTo>
                  <a:pt x="34" y="0"/>
                  <a:pt x="43" y="10"/>
                  <a:pt x="43" y="22"/>
                </a:cubicBezTo>
                <a:cubicBezTo>
                  <a:pt x="43" y="436"/>
                  <a:pt x="43" y="436"/>
                  <a:pt x="43" y="436"/>
                </a:cubicBezTo>
                <a:close/>
                <a:moveTo>
                  <a:pt x="328" y="156"/>
                </a:moveTo>
                <a:cubicBezTo>
                  <a:pt x="398" y="279"/>
                  <a:pt x="398" y="279"/>
                  <a:pt x="398" y="279"/>
                </a:cubicBezTo>
                <a:cubicBezTo>
                  <a:pt x="402" y="286"/>
                  <a:pt x="399" y="294"/>
                  <a:pt x="393" y="298"/>
                </a:cubicBezTo>
                <a:cubicBezTo>
                  <a:pt x="390" y="300"/>
                  <a:pt x="388" y="300"/>
                  <a:pt x="386" y="300"/>
                </a:cubicBezTo>
                <a:cubicBezTo>
                  <a:pt x="86" y="300"/>
                  <a:pt x="86" y="300"/>
                  <a:pt x="86" y="300"/>
                </a:cubicBezTo>
                <a:cubicBezTo>
                  <a:pt x="78" y="300"/>
                  <a:pt x="72" y="294"/>
                  <a:pt x="72" y="286"/>
                </a:cubicBezTo>
                <a:cubicBezTo>
                  <a:pt x="72" y="29"/>
                  <a:pt x="72" y="29"/>
                  <a:pt x="72" y="29"/>
                </a:cubicBezTo>
                <a:cubicBezTo>
                  <a:pt x="72" y="21"/>
                  <a:pt x="78" y="15"/>
                  <a:pt x="86" y="15"/>
                </a:cubicBezTo>
                <a:cubicBezTo>
                  <a:pt x="386" y="15"/>
                  <a:pt x="386" y="15"/>
                  <a:pt x="386" y="15"/>
                </a:cubicBezTo>
                <a:cubicBezTo>
                  <a:pt x="393" y="15"/>
                  <a:pt x="400" y="21"/>
                  <a:pt x="400" y="29"/>
                </a:cubicBezTo>
                <a:cubicBezTo>
                  <a:pt x="400" y="32"/>
                  <a:pt x="399" y="35"/>
                  <a:pt x="397" y="37"/>
                </a:cubicBezTo>
                <a:lnTo>
                  <a:pt x="328" y="15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31"/>
          <p:cNvSpPr>
            <a:spLocks/>
          </p:cNvSpPr>
          <p:nvPr userDrawn="1"/>
        </p:nvSpPr>
        <p:spPr bwMode="auto">
          <a:xfrm>
            <a:off x="8866671" y="2160451"/>
            <a:ext cx="258700" cy="258698"/>
          </a:xfrm>
          <a:custGeom>
            <a:avLst/>
            <a:gdLst/>
            <a:ahLst/>
            <a:cxnLst/>
            <a:rect l="l" t="t" r="r" b="b"/>
            <a:pathLst>
              <a:path w="770956" h="770952">
                <a:moveTo>
                  <a:pt x="547946" y="242665"/>
                </a:moveTo>
                <a:cubicBezTo>
                  <a:pt x="540117" y="242665"/>
                  <a:pt x="533407" y="246016"/>
                  <a:pt x="528934" y="250483"/>
                </a:cubicBezTo>
                <a:cubicBezTo>
                  <a:pt x="528934" y="250483"/>
                  <a:pt x="528934" y="250483"/>
                  <a:pt x="352231" y="426949"/>
                </a:cubicBezTo>
                <a:cubicBezTo>
                  <a:pt x="352231" y="426949"/>
                  <a:pt x="352231" y="426949"/>
                  <a:pt x="259407" y="335365"/>
                </a:cubicBezTo>
                <a:cubicBezTo>
                  <a:pt x="254933" y="329781"/>
                  <a:pt x="247105" y="326430"/>
                  <a:pt x="239276" y="326430"/>
                </a:cubicBezTo>
                <a:cubicBezTo>
                  <a:pt x="231448" y="326430"/>
                  <a:pt x="224737" y="329781"/>
                  <a:pt x="220264" y="335365"/>
                </a:cubicBezTo>
                <a:cubicBezTo>
                  <a:pt x="220264" y="335365"/>
                  <a:pt x="220264" y="335365"/>
                  <a:pt x="177766" y="376690"/>
                </a:cubicBezTo>
                <a:cubicBezTo>
                  <a:pt x="172174" y="382274"/>
                  <a:pt x="169937" y="388975"/>
                  <a:pt x="169937" y="396793"/>
                </a:cubicBezTo>
                <a:cubicBezTo>
                  <a:pt x="169937" y="404611"/>
                  <a:pt x="172174" y="411313"/>
                  <a:pt x="177766" y="416897"/>
                </a:cubicBezTo>
                <a:lnTo>
                  <a:pt x="332101" y="571025"/>
                </a:lnTo>
                <a:cubicBezTo>
                  <a:pt x="336574" y="575493"/>
                  <a:pt x="344403" y="578843"/>
                  <a:pt x="352231" y="578843"/>
                </a:cubicBezTo>
                <a:cubicBezTo>
                  <a:pt x="360060" y="578843"/>
                  <a:pt x="366770" y="575493"/>
                  <a:pt x="372362" y="571025"/>
                </a:cubicBezTo>
                <a:cubicBezTo>
                  <a:pt x="372362" y="571025"/>
                  <a:pt x="372362" y="571025"/>
                  <a:pt x="610575" y="333132"/>
                </a:cubicBezTo>
                <a:cubicBezTo>
                  <a:pt x="615048" y="327547"/>
                  <a:pt x="618403" y="320846"/>
                  <a:pt x="618403" y="313028"/>
                </a:cubicBezTo>
                <a:cubicBezTo>
                  <a:pt x="618403" y="305210"/>
                  <a:pt x="615048" y="297392"/>
                  <a:pt x="610575" y="292924"/>
                </a:cubicBezTo>
                <a:cubicBezTo>
                  <a:pt x="610575" y="292924"/>
                  <a:pt x="610575" y="292924"/>
                  <a:pt x="568077" y="250483"/>
                </a:cubicBezTo>
                <a:cubicBezTo>
                  <a:pt x="563603" y="246016"/>
                  <a:pt x="555775" y="242665"/>
                  <a:pt x="547946" y="242665"/>
                </a:cubicBezTo>
                <a:close/>
                <a:moveTo>
                  <a:pt x="385478" y="0"/>
                </a:moveTo>
                <a:lnTo>
                  <a:pt x="420352" y="31412"/>
                </a:lnTo>
                <a:lnTo>
                  <a:pt x="460681" y="7405"/>
                </a:lnTo>
                <a:lnTo>
                  <a:pt x="488754" y="45017"/>
                </a:lnTo>
                <a:lnTo>
                  <a:pt x="532993" y="29342"/>
                </a:lnTo>
                <a:lnTo>
                  <a:pt x="553193" y="71707"/>
                </a:lnTo>
                <a:lnTo>
                  <a:pt x="599638" y="64964"/>
                </a:lnTo>
                <a:lnTo>
                  <a:pt x="611182" y="110455"/>
                </a:lnTo>
                <a:lnTo>
                  <a:pt x="658052" y="112903"/>
                </a:lnTo>
                <a:lnTo>
                  <a:pt x="660500" y="159773"/>
                </a:lnTo>
                <a:lnTo>
                  <a:pt x="705991" y="171317"/>
                </a:lnTo>
                <a:lnTo>
                  <a:pt x="699248" y="217762"/>
                </a:lnTo>
                <a:lnTo>
                  <a:pt x="741613" y="237962"/>
                </a:lnTo>
                <a:lnTo>
                  <a:pt x="725939" y="282200"/>
                </a:lnTo>
                <a:lnTo>
                  <a:pt x="763551" y="310273"/>
                </a:lnTo>
                <a:lnTo>
                  <a:pt x="739544" y="350603"/>
                </a:lnTo>
                <a:lnTo>
                  <a:pt x="770956" y="385476"/>
                </a:lnTo>
                <a:lnTo>
                  <a:pt x="739544" y="420349"/>
                </a:lnTo>
                <a:lnTo>
                  <a:pt x="763551" y="460679"/>
                </a:lnTo>
                <a:lnTo>
                  <a:pt x="725939" y="488752"/>
                </a:lnTo>
                <a:lnTo>
                  <a:pt x="741613" y="532990"/>
                </a:lnTo>
                <a:lnTo>
                  <a:pt x="699248" y="553190"/>
                </a:lnTo>
                <a:lnTo>
                  <a:pt x="705991" y="599635"/>
                </a:lnTo>
                <a:lnTo>
                  <a:pt x="660500" y="611179"/>
                </a:lnTo>
                <a:lnTo>
                  <a:pt x="658052" y="658049"/>
                </a:lnTo>
                <a:lnTo>
                  <a:pt x="611182" y="660497"/>
                </a:lnTo>
                <a:lnTo>
                  <a:pt x="599638" y="705988"/>
                </a:lnTo>
                <a:lnTo>
                  <a:pt x="553193" y="699245"/>
                </a:lnTo>
                <a:lnTo>
                  <a:pt x="532993" y="741610"/>
                </a:lnTo>
                <a:lnTo>
                  <a:pt x="488754" y="725935"/>
                </a:lnTo>
                <a:lnTo>
                  <a:pt x="460681" y="763547"/>
                </a:lnTo>
                <a:lnTo>
                  <a:pt x="420352" y="739540"/>
                </a:lnTo>
                <a:lnTo>
                  <a:pt x="385478" y="770952"/>
                </a:lnTo>
                <a:lnTo>
                  <a:pt x="350604" y="739540"/>
                </a:lnTo>
                <a:lnTo>
                  <a:pt x="310275" y="763547"/>
                </a:lnTo>
                <a:lnTo>
                  <a:pt x="282202" y="725935"/>
                </a:lnTo>
                <a:lnTo>
                  <a:pt x="237963" y="741610"/>
                </a:lnTo>
                <a:lnTo>
                  <a:pt x="217763" y="699245"/>
                </a:lnTo>
                <a:lnTo>
                  <a:pt x="171318" y="705988"/>
                </a:lnTo>
                <a:lnTo>
                  <a:pt x="159774" y="660497"/>
                </a:lnTo>
                <a:lnTo>
                  <a:pt x="112904" y="658049"/>
                </a:lnTo>
                <a:lnTo>
                  <a:pt x="110456" y="611179"/>
                </a:lnTo>
                <a:lnTo>
                  <a:pt x="64965" y="599635"/>
                </a:lnTo>
                <a:lnTo>
                  <a:pt x="71708" y="553190"/>
                </a:lnTo>
                <a:lnTo>
                  <a:pt x="29343" y="532990"/>
                </a:lnTo>
                <a:lnTo>
                  <a:pt x="45017" y="488752"/>
                </a:lnTo>
                <a:lnTo>
                  <a:pt x="7405" y="460679"/>
                </a:lnTo>
                <a:lnTo>
                  <a:pt x="31412" y="420349"/>
                </a:lnTo>
                <a:lnTo>
                  <a:pt x="0" y="385476"/>
                </a:lnTo>
                <a:lnTo>
                  <a:pt x="31412" y="350603"/>
                </a:lnTo>
                <a:lnTo>
                  <a:pt x="7405" y="310273"/>
                </a:lnTo>
                <a:lnTo>
                  <a:pt x="45017" y="282200"/>
                </a:lnTo>
                <a:lnTo>
                  <a:pt x="29343" y="237962"/>
                </a:lnTo>
                <a:lnTo>
                  <a:pt x="71708" y="217762"/>
                </a:lnTo>
                <a:lnTo>
                  <a:pt x="64965" y="171317"/>
                </a:lnTo>
                <a:lnTo>
                  <a:pt x="110456" y="159773"/>
                </a:lnTo>
                <a:lnTo>
                  <a:pt x="112904" y="112903"/>
                </a:lnTo>
                <a:lnTo>
                  <a:pt x="159774" y="110455"/>
                </a:lnTo>
                <a:lnTo>
                  <a:pt x="171318" y="64964"/>
                </a:lnTo>
                <a:lnTo>
                  <a:pt x="217763" y="71707"/>
                </a:lnTo>
                <a:lnTo>
                  <a:pt x="237963" y="29342"/>
                </a:lnTo>
                <a:lnTo>
                  <a:pt x="282202" y="45017"/>
                </a:lnTo>
                <a:lnTo>
                  <a:pt x="310275" y="7405"/>
                </a:lnTo>
                <a:lnTo>
                  <a:pt x="350604" y="3141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8" name="Freeform 25"/>
          <p:cNvSpPr>
            <a:spLocks noEditPoints="1"/>
          </p:cNvSpPr>
          <p:nvPr userDrawn="1"/>
        </p:nvSpPr>
        <p:spPr bwMode="auto">
          <a:xfrm>
            <a:off x="8873543" y="2649254"/>
            <a:ext cx="250447" cy="250445"/>
          </a:xfrm>
          <a:custGeom>
            <a:avLst/>
            <a:gdLst>
              <a:gd name="T0" fmla="*/ 201 w 238"/>
              <a:gd name="T1" fmla="*/ 0 h 238"/>
              <a:gd name="T2" fmla="*/ 36 w 238"/>
              <a:gd name="T3" fmla="*/ 0 h 238"/>
              <a:gd name="T4" fmla="*/ 0 w 238"/>
              <a:gd name="T5" fmla="*/ 37 h 238"/>
              <a:gd name="T6" fmla="*/ 0 w 238"/>
              <a:gd name="T7" fmla="*/ 183 h 238"/>
              <a:gd name="T8" fmla="*/ 32 w 238"/>
              <a:gd name="T9" fmla="*/ 219 h 238"/>
              <a:gd name="T10" fmla="*/ 32 w 238"/>
              <a:gd name="T11" fmla="*/ 229 h 238"/>
              <a:gd name="T12" fmla="*/ 41 w 238"/>
              <a:gd name="T13" fmla="*/ 238 h 238"/>
              <a:gd name="T14" fmla="*/ 68 w 238"/>
              <a:gd name="T15" fmla="*/ 238 h 238"/>
              <a:gd name="T16" fmla="*/ 78 w 238"/>
              <a:gd name="T17" fmla="*/ 229 h 238"/>
              <a:gd name="T18" fmla="*/ 78 w 238"/>
              <a:gd name="T19" fmla="*/ 220 h 238"/>
              <a:gd name="T20" fmla="*/ 160 w 238"/>
              <a:gd name="T21" fmla="*/ 220 h 238"/>
              <a:gd name="T22" fmla="*/ 160 w 238"/>
              <a:gd name="T23" fmla="*/ 229 h 238"/>
              <a:gd name="T24" fmla="*/ 169 w 238"/>
              <a:gd name="T25" fmla="*/ 238 h 238"/>
              <a:gd name="T26" fmla="*/ 197 w 238"/>
              <a:gd name="T27" fmla="*/ 238 h 238"/>
              <a:gd name="T28" fmla="*/ 206 w 238"/>
              <a:gd name="T29" fmla="*/ 229 h 238"/>
              <a:gd name="T30" fmla="*/ 206 w 238"/>
              <a:gd name="T31" fmla="*/ 219 h 238"/>
              <a:gd name="T32" fmla="*/ 238 w 238"/>
              <a:gd name="T33" fmla="*/ 183 h 238"/>
              <a:gd name="T34" fmla="*/ 238 w 238"/>
              <a:gd name="T35" fmla="*/ 37 h 238"/>
              <a:gd name="T36" fmla="*/ 201 w 238"/>
              <a:gd name="T37" fmla="*/ 0 h 238"/>
              <a:gd name="T38" fmla="*/ 184 w 238"/>
              <a:gd name="T39" fmla="*/ 168 h 238"/>
              <a:gd name="T40" fmla="*/ 137 w 238"/>
              <a:gd name="T41" fmla="*/ 141 h 238"/>
              <a:gd name="T42" fmla="*/ 119 w 238"/>
              <a:gd name="T43" fmla="*/ 147 h 238"/>
              <a:gd name="T44" fmla="*/ 101 w 238"/>
              <a:gd name="T45" fmla="*/ 141 h 238"/>
              <a:gd name="T46" fmla="*/ 53 w 238"/>
              <a:gd name="T47" fmla="*/ 168 h 238"/>
              <a:gd name="T48" fmla="*/ 44 w 238"/>
              <a:gd name="T49" fmla="*/ 152 h 238"/>
              <a:gd name="T50" fmla="*/ 92 w 238"/>
              <a:gd name="T51" fmla="*/ 125 h 238"/>
              <a:gd name="T52" fmla="*/ 91 w 238"/>
              <a:gd name="T53" fmla="*/ 120 h 238"/>
              <a:gd name="T54" fmla="*/ 110 w 238"/>
              <a:gd name="T55" fmla="*/ 94 h 238"/>
              <a:gd name="T56" fmla="*/ 110 w 238"/>
              <a:gd name="T57" fmla="*/ 39 h 238"/>
              <a:gd name="T58" fmla="*/ 128 w 238"/>
              <a:gd name="T59" fmla="*/ 39 h 238"/>
              <a:gd name="T60" fmla="*/ 128 w 238"/>
              <a:gd name="T61" fmla="*/ 94 h 238"/>
              <a:gd name="T62" fmla="*/ 146 w 238"/>
              <a:gd name="T63" fmla="*/ 120 h 238"/>
              <a:gd name="T64" fmla="*/ 146 w 238"/>
              <a:gd name="T65" fmla="*/ 125 h 238"/>
              <a:gd name="T66" fmla="*/ 193 w 238"/>
              <a:gd name="T67" fmla="*/ 152 h 238"/>
              <a:gd name="T68" fmla="*/ 184 w 238"/>
              <a:gd name="T69" fmla="*/ 16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8" h="238">
                <a:moveTo>
                  <a:pt x="201" y="0"/>
                </a:moveTo>
                <a:cubicBezTo>
                  <a:pt x="36" y="0"/>
                  <a:pt x="36" y="0"/>
                  <a:pt x="36" y="0"/>
                </a:cubicBezTo>
                <a:cubicBezTo>
                  <a:pt x="16" y="0"/>
                  <a:pt x="0" y="16"/>
                  <a:pt x="0" y="37"/>
                </a:cubicBezTo>
                <a:cubicBezTo>
                  <a:pt x="0" y="183"/>
                  <a:pt x="0" y="183"/>
                  <a:pt x="0" y="183"/>
                </a:cubicBezTo>
                <a:cubicBezTo>
                  <a:pt x="0" y="202"/>
                  <a:pt x="14" y="217"/>
                  <a:pt x="32" y="219"/>
                </a:cubicBezTo>
                <a:cubicBezTo>
                  <a:pt x="32" y="229"/>
                  <a:pt x="32" y="229"/>
                  <a:pt x="32" y="229"/>
                </a:cubicBezTo>
                <a:cubicBezTo>
                  <a:pt x="32" y="234"/>
                  <a:pt x="36" y="238"/>
                  <a:pt x="41" y="238"/>
                </a:cubicBezTo>
                <a:cubicBezTo>
                  <a:pt x="68" y="238"/>
                  <a:pt x="68" y="238"/>
                  <a:pt x="68" y="238"/>
                </a:cubicBezTo>
                <a:cubicBezTo>
                  <a:pt x="73" y="238"/>
                  <a:pt x="78" y="234"/>
                  <a:pt x="78" y="229"/>
                </a:cubicBezTo>
                <a:cubicBezTo>
                  <a:pt x="78" y="220"/>
                  <a:pt x="78" y="220"/>
                  <a:pt x="78" y="220"/>
                </a:cubicBezTo>
                <a:cubicBezTo>
                  <a:pt x="160" y="220"/>
                  <a:pt x="160" y="220"/>
                  <a:pt x="160" y="220"/>
                </a:cubicBezTo>
                <a:cubicBezTo>
                  <a:pt x="160" y="229"/>
                  <a:pt x="160" y="229"/>
                  <a:pt x="160" y="229"/>
                </a:cubicBezTo>
                <a:cubicBezTo>
                  <a:pt x="160" y="234"/>
                  <a:pt x="164" y="238"/>
                  <a:pt x="169" y="238"/>
                </a:cubicBezTo>
                <a:cubicBezTo>
                  <a:pt x="197" y="238"/>
                  <a:pt x="197" y="238"/>
                  <a:pt x="197" y="238"/>
                </a:cubicBezTo>
                <a:cubicBezTo>
                  <a:pt x="202" y="238"/>
                  <a:pt x="206" y="234"/>
                  <a:pt x="206" y="229"/>
                </a:cubicBezTo>
                <a:cubicBezTo>
                  <a:pt x="206" y="219"/>
                  <a:pt x="206" y="219"/>
                  <a:pt x="206" y="219"/>
                </a:cubicBezTo>
                <a:cubicBezTo>
                  <a:pt x="224" y="217"/>
                  <a:pt x="238" y="202"/>
                  <a:pt x="238" y="183"/>
                </a:cubicBezTo>
                <a:cubicBezTo>
                  <a:pt x="238" y="37"/>
                  <a:pt x="238" y="37"/>
                  <a:pt x="238" y="37"/>
                </a:cubicBezTo>
                <a:cubicBezTo>
                  <a:pt x="238" y="16"/>
                  <a:pt x="221" y="0"/>
                  <a:pt x="201" y="0"/>
                </a:cubicBezTo>
                <a:close/>
                <a:moveTo>
                  <a:pt x="184" y="168"/>
                </a:moveTo>
                <a:cubicBezTo>
                  <a:pt x="137" y="141"/>
                  <a:pt x="137" y="141"/>
                  <a:pt x="137" y="141"/>
                </a:cubicBezTo>
                <a:cubicBezTo>
                  <a:pt x="132" y="145"/>
                  <a:pt x="126" y="147"/>
                  <a:pt x="119" y="147"/>
                </a:cubicBezTo>
                <a:cubicBezTo>
                  <a:pt x="112" y="147"/>
                  <a:pt x="106" y="145"/>
                  <a:pt x="101" y="141"/>
                </a:cubicBezTo>
                <a:cubicBezTo>
                  <a:pt x="53" y="168"/>
                  <a:pt x="53" y="168"/>
                  <a:pt x="53" y="168"/>
                </a:cubicBezTo>
                <a:cubicBezTo>
                  <a:pt x="44" y="152"/>
                  <a:pt x="44" y="152"/>
                  <a:pt x="44" y="152"/>
                </a:cubicBezTo>
                <a:cubicBezTo>
                  <a:pt x="92" y="125"/>
                  <a:pt x="92" y="125"/>
                  <a:pt x="92" y="125"/>
                </a:cubicBezTo>
                <a:cubicBezTo>
                  <a:pt x="91" y="123"/>
                  <a:pt x="91" y="122"/>
                  <a:pt x="91" y="120"/>
                </a:cubicBezTo>
                <a:cubicBezTo>
                  <a:pt x="91" y="108"/>
                  <a:pt x="99" y="98"/>
                  <a:pt x="110" y="94"/>
                </a:cubicBezTo>
                <a:cubicBezTo>
                  <a:pt x="110" y="39"/>
                  <a:pt x="110" y="39"/>
                  <a:pt x="110" y="39"/>
                </a:cubicBezTo>
                <a:cubicBezTo>
                  <a:pt x="128" y="39"/>
                  <a:pt x="128" y="39"/>
                  <a:pt x="128" y="39"/>
                </a:cubicBezTo>
                <a:cubicBezTo>
                  <a:pt x="128" y="94"/>
                  <a:pt x="128" y="94"/>
                  <a:pt x="128" y="94"/>
                </a:cubicBezTo>
                <a:cubicBezTo>
                  <a:pt x="139" y="98"/>
                  <a:pt x="146" y="108"/>
                  <a:pt x="146" y="120"/>
                </a:cubicBezTo>
                <a:cubicBezTo>
                  <a:pt x="146" y="122"/>
                  <a:pt x="146" y="123"/>
                  <a:pt x="146" y="125"/>
                </a:cubicBezTo>
                <a:cubicBezTo>
                  <a:pt x="193" y="152"/>
                  <a:pt x="193" y="152"/>
                  <a:pt x="193" y="152"/>
                </a:cubicBezTo>
                <a:lnTo>
                  <a:pt x="184" y="16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4" name="Freeform 16"/>
          <p:cNvSpPr>
            <a:spLocks noEditPoints="1"/>
          </p:cNvSpPr>
          <p:nvPr userDrawn="1"/>
        </p:nvSpPr>
        <p:spPr bwMode="auto">
          <a:xfrm>
            <a:off x="8214927" y="3746856"/>
            <a:ext cx="283666" cy="283666"/>
          </a:xfrm>
          <a:custGeom>
            <a:avLst/>
            <a:gdLst>
              <a:gd name="T0" fmla="*/ 119 w 238"/>
              <a:gd name="T1" fmla="*/ 0 h 238"/>
              <a:gd name="T2" fmla="*/ 0 w 238"/>
              <a:gd name="T3" fmla="*/ 119 h 238"/>
              <a:gd name="T4" fmla="*/ 119 w 238"/>
              <a:gd name="T5" fmla="*/ 238 h 238"/>
              <a:gd name="T6" fmla="*/ 238 w 238"/>
              <a:gd name="T7" fmla="*/ 119 h 238"/>
              <a:gd name="T8" fmla="*/ 119 w 238"/>
              <a:gd name="T9" fmla="*/ 0 h 238"/>
              <a:gd name="T10" fmla="*/ 119 w 238"/>
              <a:gd name="T11" fmla="*/ 220 h 238"/>
              <a:gd name="T12" fmla="*/ 19 w 238"/>
              <a:gd name="T13" fmla="*/ 119 h 238"/>
              <a:gd name="T14" fmla="*/ 119 w 238"/>
              <a:gd name="T15" fmla="*/ 18 h 238"/>
              <a:gd name="T16" fmla="*/ 220 w 238"/>
              <a:gd name="T17" fmla="*/ 119 h 238"/>
              <a:gd name="T18" fmla="*/ 119 w 238"/>
              <a:gd name="T19" fmla="*/ 220 h 238"/>
              <a:gd name="T20" fmla="*/ 119 w 238"/>
              <a:gd name="T21" fmla="*/ 37 h 238"/>
              <a:gd name="T22" fmla="*/ 37 w 238"/>
              <a:gd name="T23" fmla="*/ 119 h 238"/>
              <a:gd name="T24" fmla="*/ 119 w 238"/>
              <a:gd name="T25" fmla="*/ 201 h 238"/>
              <a:gd name="T26" fmla="*/ 202 w 238"/>
              <a:gd name="T27" fmla="*/ 119 h 238"/>
              <a:gd name="T28" fmla="*/ 119 w 238"/>
              <a:gd name="T29" fmla="*/ 37 h 238"/>
              <a:gd name="T30" fmla="*/ 63 w 238"/>
              <a:gd name="T31" fmla="*/ 137 h 238"/>
              <a:gd name="T32" fmla="*/ 60 w 238"/>
              <a:gd name="T33" fmla="*/ 134 h 238"/>
              <a:gd name="T34" fmla="*/ 60 w 238"/>
              <a:gd name="T35" fmla="*/ 104 h 238"/>
              <a:gd name="T36" fmla="*/ 63 w 238"/>
              <a:gd name="T37" fmla="*/ 101 h 238"/>
              <a:gd name="T38" fmla="*/ 176 w 238"/>
              <a:gd name="T39" fmla="*/ 101 h 238"/>
              <a:gd name="T40" fmla="*/ 179 w 238"/>
              <a:gd name="T41" fmla="*/ 104 h 238"/>
              <a:gd name="T42" fmla="*/ 179 w 238"/>
              <a:gd name="T43" fmla="*/ 134 h 238"/>
              <a:gd name="T44" fmla="*/ 176 w 238"/>
              <a:gd name="T45" fmla="*/ 137 h 238"/>
              <a:gd name="T46" fmla="*/ 63 w 238"/>
              <a:gd name="T47" fmla="*/ 137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238">
                <a:moveTo>
                  <a:pt x="119" y="0"/>
                </a:moveTo>
                <a:cubicBezTo>
                  <a:pt x="54" y="0"/>
                  <a:pt x="0" y="53"/>
                  <a:pt x="0" y="119"/>
                </a:cubicBezTo>
                <a:cubicBezTo>
                  <a:pt x="0" y="185"/>
                  <a:pt x="54" y="238"/>
                  <a:pt x="119" y="238"/>
                </a:cubicBezTo>
                <a:cubicBezTo>
                  <a:pt x="185" y="238"/>
                  <a:pt x="238" y="185"/>
                  <a:pt x="238" y="119"/>
                </a:cubicBezTo>
                <a:cubicBezTo>
                  <a:pt x="238" y="53"/>
                  <a:pt x="185" y="0"/>
                  <a:pt x="119" y="0"/>
                </a:cubicBezTo>
                <a:close/>
                <a:moveTo>
                  <a:pt x="119" y="220"/>
                </a:moveTo>
                <a:cubicBezTo>
                  <a:pt x="64" y="220"/>
                  <a:pt x="19" y="175"/>
                  <a:pt x="19" y="119"/>
                </a:cubicBezTo>
                <a:cubicBezTo>
                  <a:pt x="19" y="63"/>
                  <a:pt x="64" y="18"/>
                  <a:pt x="119" y="18"/>
                </a:cubicBezTo>
                <a:cubicBezTo>
                  <a:pt x="175" y="18"/>
                  <a:pt x="220" y="63"/>
                  <a:pt x="220" y="119"/>
                </a:cubicBezTo>
                <a:cubicBezTo>
                  <a:pt x="220" y="175"/>
                  <a:pt x="175" y="220"/>
                  <a:pt x="119" y="220"/>
                </a:cubicBezTo>
                <a:close/>
                <a:moveTo>
                  <a:pt x="119" y="37"/>
                </a:moveTo>
                <a:cubicBezTo>
                  <a:pt x="74" y="37"/>
                  <a:pt x="37" y="74"/>
                  <a:pt x="37" y="119"/>
                </a:cubicBezTo>
                <a:cubicBezTo>
                  <a:pt x="37" y="164"/>
                  <a:pt x="74" y="201"/>
                  <a:pt x="119" y="201"/>
                </a:cubicBezTo>
                <a:cubicBezTo>
                  <a:pt x="165" y="201"/>
                  <a:pt x="202" y="164"/>
                  <a:pt x="202" y="119"/>
                </a:cubicBezTo>
                <a:cubicBezTo>
                  <a:pt x="202" y="74"/>
                  <a:pt x="165" y="37"/>
                  <a:pt x="119" y="37"/>
                </a:cubicBezTo>
                <a:close/>
                <a:moveTo>
                  <a:pt x="63" y="137"/>
                </a:moveTo>
                <a:cubicBezTo>
                  <a:pt x="61" y="137"/>
                  <a:pt x="60" y="136"/>
                  <a:pt x="60" y="134"/>
                </a:cubicBezTo>
                <a:cubicBezTo>
                  <a:pt x="60" y="104"/>
                  <a:pt x="60" y="104"/>
                  <a:pt x="60" y="104"/>
                </a:cubicBezTo>
                <a:cubicBezTo>
                  <a:pt x="60" y="102"/>
                  <a:pt x="61" y="101"/>
                  <a:pt x="63" y="101"/>
                </a:cubicBezTo>
                <a:cubicBezTo>
                  <a:pt x="176" y="101"/>
                  <a:pt x="176" y="101"/>
                  <a:pt x="176" y="101"/>
                </a:cubicBezTo>
                <a:cubicBezTo>
                  <a:pt x="177" y="101"/>
                  <a:pt x="179" y="102"/>
                  <a:pt x="179" y="104"/>
                </a:cubicBezTo>
                <a:cubicBezTo>
                  <a:pt x="179" y="134"/>
                  <a:pt x="179" y="134"/>
                  <a:pt x="179" y="134"/>
                </a:cubicBezTo>
                <a:cubicBezTo>
                  <a:pt x="179" y="136"/>
                  <a:pt x="177" y="137"/>
                  <a:pt x="176" y="137"/>
                </a:cubicBezTo>
                <a:lnTo>
                  <a:pt x="63" y="13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67" name="Freeform 39"/>
          <p:cNvSpPr>
            <a:spLocks noEditPoints="1"/>
          </p:cNvSpPr>
          <p:nvPr userDrawn="1"/>
        </p:nvSpPr>
        <p:spPr bwMode="auto">
          <a:xfrm>
            <a:off x="8824534" y="3237311"/>
            <a:ext cx="309291" cy="261459"/>
          </a:xfrm>
          <a:custGeom>
            <a:avLst/>
            <a:gdLst>
              <a:gd name="T0" fmla="*/ 247 w 444"/>
              <a:gd name="T1" fmla="*/ 15 h 375"/>
              <a:gd name="T2" fmla="*/ 439 w 444"/>
              <a:gd name="T3" fmla="*/ 331 h 375"/>
              <a:gd name="T4" fmla="*/ 444 w 444"/>
              <a:gd name="T5" fmla="*/ 347 h 375"/>
              <a:gd name="T6" fmla="*/ 416 w 444"/>
              <a:gd name="T7" fmla="*/ 375 h 375"/>
              <a:gd name="T8" fmla="*/ 416 w 444"/>
              <a:gd name="T9" fmla="*/ 375 h 375"/>
              <a:gd name="T10" fmla="*/ 28 w 444"/>
              <a:gd name="T11" fmla="*/ 375 h 375"/>
              <a:gd name="T12" fmla="*/ 28 w 444"/>
              <a:gd name="T13" fmla="*/ 375 h 375"/>
              <a:gd name="T14" fmla="*/ 0 w 444"/>
              <a:gd name="T15" fmla="*/ 347 h 375"/>
              <a:gd name="T16" fmla="*/ 5 w 444"/>
              <a:gd name="T17" fmla="*/ 331 h 375"/>
              <a:gd name="T18" fmla="*/ 197 w 444"/>
              <a:gd name="T19" fmla="*/ 15 h 375"/>
              <a:gd name="T20" fmla="*/ 222 w 444"/>
              <a:gd name="T21" fmla="*/ 0 h 375"/>
              <a:gd name="T22" fmla="*/ 247 w 444"/>
              <a:gd name="T23" fmla="*/ 15 h 375"/>
              <a:gd name="T24" fmla="*/ 222 w 444"/>
              <a:gd name="T25" fmla="*/ 97 h 375"/>
              <a:gd name="T26" fmla="*/ 194 w 444"/>
              <a:gd name="T27" fmla="*/ 125 h 375"/>
              <a:gd name="T28" fmla="*/ 194 w 444"/>
              <a:gd name="T29" fmla="*/ 222 h 375"/>
              <a:gd name="T30" fmla="*/ 222 w 444"/>
              <a:gd name="T31" fmla="*/ 250 h 375"/>
              <a:gd name="T32" fmla="*/ 250 w 444"/>
              <a:gd name="T33" fmla="*/ 222 h 375"/>
              <a:gd name="T34" fmla="*/ 250 w 444"/>
              <a:gd name="T35" fmla="*/ 125 h 375"/>
              <a:gd name="T36" fmla="*/ 222 w 444"/>
              <a:gd name="T37" fmla="*/ 97 h 375"/>
              <a:gd name="T38" fmla="*/ 222 w 444"/>
              <a:gd name="T39" fmla="*/ 277 h 375"/>
              <a:gd name="T40" fmla="*/ 194 w 444"/>
              <a:gd name="T41" fmla="*/ 305 h 375"/>
              <a:gd name="T42" fmla="*/ 222 w 444"/>
              <a:gd name="T43" fmla="*/ 333 h 375"/>
              <a:gd name="T44" fmla="*/ 250 w 444"/>
              <a:gd name="T45" fmla="*/ 305 h 375"/>
              <a:gd name="T46" fmla="*/ 222 w 444"/>
              <a:gd name="T47" fmla="*/ 27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44" h="375">
                <a:moveTo>
                  <a:pt x="247" y="15"/>
                </a:moveTo>
                <a:cubicBezTo>
                  <a:pt x="439" y="331"/>
                  <a:pt x="439" y="331"/>
                  <a:pt x="439" y="331"/>
                </a:cubicBezTo>
                <a:cubicBezTo>
                  <a:pt x="442" y="335"/>
                  <a:pt x="444" y="341"/>
                  <a:pt x="444" y="347"/>
                </a:cubicBezTo>
                <a:cubicBezTo>
                  <a:pt x="444" y="362"/>
                  <a:pt x="432" y="375"/>
                  <a:pt x="416" y="375"/>
                </a:cubicBezTo>
                <a:cubicBezTo>
                  <a:pt x="416" y="375"/>
                  <a:pt x="416" y="375"/>
                  <a:pt x="416" y="375"/>
                </a:cubicBezTo>
                <a:cubicBezTo>
                  <a:pt x="28" y="375"/>
                  <a:pt x="28" y="375"/>
                  <a:pt x="28" y="375"/>
                </a:cubicBezTo>
                <a:cubicBezTo>
                  <a:pt x="28" y="375"/>
                  <a:pt x="28" y="375"/>
                  <a:pt x="28" y="375"/>
                </a:cubicBezTo>
                <a:cubicBezTo>
                  <a:pt x="12" y="375"/>
                  <a:pt x="0" y="362"/>
                  <a:pt x="0" y="347"/>
                </a:cubicBezTo>
                <a:cubicBezTo>
                  <a:pt x="0" y="341"/>
                  <a:pt x="2" y="335"/>
                  <a:pt x="5" y="331"/>
                </a:cubicBezTo>
                <a:cubicBezTo>
                  <a:pt x="197" y="15"/>
                  <a:pt x="197" y="15"/>
                  <a:pt x="197" y="15"/>
                </a:cubicBezTo>
                <a:cubicBezTo>
                  <a:pt x="202" y="6"/>
                  <a:pt x="211" y="0"/>
                  <a:pt x="222" y="0"/>
                </a:cubicBezTo>
                <a:cubicBezTo>
                  <a:pt x="233" y="0"/>
                  <a:pt x="242" y="6"/>
                  <a:pt x="247" y="15"/>
                </a:cubicBezTo>
                <a:close/>
                <a:moveTo>
                  <a:pt x="222" y="97"/>
                </a:moveTo>
                <a:cubicBezTo>
                  <a:pt x="207" y="97"/>
                  <a:pt x="194" y="109"/>
                  <a:pt x="194" y="125"/>
                </a:cubicBezTo>
                <a:cubicBezTo>
                  <a:pt x="194" y="222"/>
                  <a:pt x="194" y="222"/>
                  <a:pt x="194" y="222"/>
                </a:cubicBezTo>
                <a:cubicBezTo>
                  <a:pt x="194" y="237"/>
                  <a:pt x="207" y="250"/>
                  <a:pt x="222" y="250"/>
                </a:cubicBezTo>
                <a:cubicBezTo>
                  <a:pt x="237" y="250"/>
                  <a:pt x="250" y="237"/>
                  <a:pt x="250" y="222"/>
                </a:cubicBezTo>
                <a:cubicBezTo>
                  <a:pt x="250" y="125"/>
                  <a:pt x="250" y="125"/>
                  <a:pt x="250" y="125"/>
                </a:cubicBezTo>
                <a:cubicBezTo>
                  <a:pt x="250" y="110"/>
                  <a:pt x="237" y="97"/>
                  <a:pt x="222" y="97"/>
                </a:cubicBezTo>
                <a:close/>
                <a:moveTo>
                  <a:pt x="222" y="277"/>
                </a:moveTo>
                <a:cubicBezTo>
                  <a:pt x="207" y="277"/>
                  <a:pt x="194" y="290"/>
                  <a:pt x="194" y="305"/>
                </a:cubicBezTo>
                <a:cubicBezTo>
                  <a:pt x="194" y="321"/>
                  <a:pt x="207" y="333"/>
                  <a:pt x="222" y="333"/>
                </a:cubicBezTo>
                <a:cubicBezTo>
                  <a:pt x="237" y="333"/>
                  <a:pt x="250" y="321"/>
                  <a:pt x="250" y="305"/>
                </a:cubicBezTo>
                <a:cubicBezTo>
                  <a:pt x="250" y="290"/>
                  <a:pt x="237" y="277"/>
                  <a:pt x="222" y="27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22" name="Freeform 19"/>
          <p:cNvSpPr>
            <a:spLocks noEditPoints="1"/>
          </p:cNvSpPr>
          <p:nvPr userDrawn="1"/>
        </p:nvSpPr>
        <p:spPr bwMode="auto">
          <a:xfrm>
            <a:off x="9623073" y="6158445"/>
            <a:ext cx="212911" cy="159994"/>
          </a:xfrm>
          <a:custGeom>
            <a:avLst/>
            <a:gdLst>
              <a:gd name="T0" fmla="*/ 39 w 422"/>
              <a:gd name="T1" fmla="*/ 0 h 317"/>
              <a:gd name="T2" fmla="*/ 382 w 422"/>
              <a:gd name="T3" fmla="*/ 0 h 317"/>
              <a:gd name="T4" fmla="*/ 422 w 422"/>
              <a:gd name="T5" fmla="*/ 40 h 317"/>
              <a:gd name="T6" fmla="*/ 422 w 422"/>
              <a:gd name="T7" fmla="*/ 66 h 317"/>
              <a:gd name="T8" fmla="*/ 422 w 422"/>
              <a:gd name="T9" fmla="*/ 132 h 317"/>
              <a:gd name="T10" fmla="*/ 422 w 422"/>
              <a:gd name="T11" fmla="*/ 277 h 317"/>
              <a:gd name="T12" fmla="*/ 382 w 422"/>
              <a:gd name="T13" fmla="*/ 317 h 317"/>
              <a:gd name="T14" fmla="*/ 39 w 422"/>
              <a:gd name="T15" fmla="*/ 317 h 317"/>
              <a:gd name="T16" fmla="*/ 0 w 422"/>
              <a:gd name="T17" fmla="*/ 277 h 317"/>
              <a:gd name="T18" fmla="*/ 0 w 422"/>
              <a:gd name="T19" fmla="*/ 132 h 317"/>
              <a:gd name="T20" fmla="*/ 0 w 422"/>
              <a:gd name="T21" fmla="*/ 66 h 317"/>
              <a:gd name="T22" fmla="*/ 0 w 422"/>
              <a:gd name="T23" fmla="*/ 40 h 317"/>
              <a:gd name="T24" fmla="*/ 39 w 422"/>
              <a:gd name="T25" fmla="*/ 0 h 317"/>
              <a:gd name="T26" fmla="*/ 382 w 422"/>
              <a:gd name="T27" fmla="*/ 66 h 317"/>
              <a:gd name="T28" fmla="*/ 39 w 422"/>
              <a:gd name="T29" fmla="*/ 66 h 317"/>
              <a:gd name="T30" fmla="*/ 39 w 422"/>
              <a:gd name="T31" fmla="*/ 132 h 317"/>
              <a:gd name="T32" fmla="*/ 382 w 422"/>
              <a:gd name="T33" fmla="*/ 132 h 317"/>
              <a:gd name="T34" fmla="*/ 382 w 422"/>
              <a:gd name="T35" fmla="*/ 66 h 317"/>
              <a:gd name="T36" fmla="*/ 53 w 422"/>
              <a:gd name="T37" fmla="*/ 224 h 317"/>
              <a:gd name="T38" fmla="*/ 39 w 422"/>
              <a:gd name="T39" fmla="*/ 238 h 317"/>
              <a:gd name="T40" fmla="*/ 53 w 422"/>
              <a:gd name="T41" fmla="*/ 251 h 317"/>
              <a:gd name="T42" fmla="*/ 211 w 422"/>
              <a:gd name="T43" fmla="*/ 251 h 317"/>
              <a:gd name="T44" fmla="*/ 224 w 422"/>
              <a:gd name="T45" fmla="*/ 238 h 317"/>
              <a:gd name="T46" fmla="*/ 211 w 422"/>
              <a:gd name="T47" fmla="*/ 224 h 317"/>
              <a:gd name="T48" fmla="*/ 53 w 422"/>
              <a:gd name="T49" fmla="*/ 224 h 317"/>
              <a:gd name="T50" fmla="*/ 277 w 422"/>
              <a:gd name="T51" fmla="*/ 224 h 317"/>
              <a:gd name="T52" fmla="*/ 264 w 422"/>
              <a:gd name="T53" fmla="*/ 238 h 317"/>
              <a:gd name="T54" fmla="*/ 277 w 422"/>
              <a:gd name="T55" fmla="*/ 251 h 317"/>
              <a:gd name="T56" fmla="*/ 369 w 422"/>
              <a:gd name="T57" fmla="*/ 251 h 317"/>
              <a:gd name="T58" fmla="*/ 382 w 422"/>
              <a:gd name="T59" fmla="*/ 238 h 317"/>
              <a:gd name="T60" fmla="*/ 369 w 422"/>
              <a:gd name="T61" fmla="*/ 224 h 317"/>
              <a:gd name="T62" fmla="*/ 277 w 422"/>
              <a:gd name="T63" fmla="*/ 224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2" h="317">
                <a:moveTo>
                  <a:pt x="39" y="0"/>
                </a:moveTo>
                <a:cubicBezTo>
                  <a:pt x="382" y="0"/>
                  <a:pt x="382" y="0"/>
                  <a:pt x="382" y="0"/>
                </a:cubicBezTo>
                <a:cubicBezTo>
                  <a:pt x="404" y="0"/>
                  <a:pt x="422" y="18"/>
                  <a:pt x="422" y="40"/>
                </a:cubicBezTo>
                <a:cubicBezTo>
                  <a:pt x="422" y="66"/>
                  <a:pt x="422" y="66"/>
                  <a:pt x="422" y="66"/>
                </a:cubicBezTo>
                <a:cubicBezTo>
                  <a:pt x="422" y="132"/>
                  <a:pt x="422" y="132"/>
                  <a:pt x="422" y="132"/>
                </a:cubicBezTo>
                <a:cubicBezTo>
                  <a:pt x="422" y="277"/>
                  <a:pt x="422" y="277"/>
                  <a:pt x="422" y="277"/>
                </a:cubicBezTo>
                <a:cubicBezTo>
                  <a:pt x="422" y="299"/>
                  <a:pt x="404" y="317"/>
                  <a:pt x="382" y="317"/>
                </a:cubicBezTo>
                <a:cubicBezTo>
                  <a:pt x="39" y="317"/>
                  <a:pt x="39" y="317"/>
                  <a:pt x="39" y="317"/>
                </a:cubicBezTo>
                <a:cubicBezTo>
                  <a:pt x="18" y="317"/>
                  <a:pt x="0" y="299"/>
                  <a:pt x="0" y="277"/>
                </a:cubicBezTo>
                <a:cubicBezTo>
                  <a:pt x="0" y="132"/>
                  <a:pt x="0" y="132"/>
                  <a:pt x="0" y="132"/>
                </a:cubicBezTo>
                <a:cubicBezTo>
                  <a:pt x="0" y="66"/>
                  <a:pt x="0" y="66"/>
                  <a:pt x="0" y="66"/>
                </a:cubicBezTo>
                <a:cubicBezTo>
                  <a:pt x="0" y="40"/>
                  <a:pt x="0" y="40"/>
                  <a:pt x="0" y="40"/>
                </a:cubicBezTo>
                <a:cubicBezTo>
                  <a:pt x="0" y="18"/>
                  <a:pt x="18" y="0"/>
                  <a:pt x="39" y="0"/>
                </a:cubicBezTo>
                <a:close/>
                <a:moveTo>
                  <a:pt x="382" y="66"/>
                </a:moveTo>
                <a:cubicBezTo>
                  <a:pt x="39" y="66"/>
                  <a:pt x="39" y="66"/>
                  <a:pt x="39" y="66"/>
                </a:cubicBezTo>
                <a:cubicBezTo>
                  <a:pt x="39" y="132"/>
                  <a:pt x="39" y="132"/>
                  <a:pt x="39" y="132"/>
                </a:cubicBezTo>
                <a:cubicBezTo>
                  <a:pt x="382" y="132"/>
                  <a:pt x="382" y="132"/>
                  <a:pt x="382" y="132"/>
                </a:cubicBezTo>
                <a:cubicBezTo>
                  <a:pt x="382" y="66"/>
                  <a:pt x="382" y="66"/>
                  <a:pt x="382" y="66"/>
                </a:cubicBezTo>
                <a:close/>
                <a:moveTo>
                  <a:pt x="53" y="224"/>
                </a:moveTo>
                <a:cubicBezTo>
                  <a:pt x="45" y="224"/>
                  <a:pt x="39" y="230"/>
                  <a:pt x="39" y="238"/>
                </a:cubicBezTo>
                <a:cubicBezTo>
                  <a:pt x="39" y="245"/>
                  <a:pt x="45" y="251"/>
                  <a:pt x="53" y="251"/>
                </a:cubicBezTo>
                <a:cubicBezTo>
                  <a:pt x="211" y="251"/>
                  <a:pt x="211" y="251"/>
                  <a:pt x="211" y="251"/>
                </a:cubicBezTo>
                <a:cubicBezTo>
                  <a:pt x="218" y="251"/>
                  <a:pt x="224" y="245"/>
                  <a:pt x="224" y="238"/>
                </a:cubicBezTo>
                <a:cubicBezTo>
                  <a:pt x="224" y="230"/>
                  <a:pt x="218" y="224"/>
                  <a:pt x="211" y="224"/>
                </a:cubicBezTo>
                <a:cubicBezTo>
                  <a:pt x="53" y="224"/>
                  <a:pt x="53" y="224"/>
                  <a:pt x="53" y="224"/>
                </a:cubicBezTo>
                <a:close/>
                <a:moveTo>
                  <a:pt x="277" y="224"/>
                </a:moveTo>
                <a:cubicBezTo>
                  <a:pt x="270" y="224"/>
                  <a:pt x="264" y="230"/>
                  <a:pt x="264" y="238"/>
                </a:cubicBezTo>
                <a:cubicBezTo>
                  <a:pt x="264" y="245"/>
                  <a:pt x="270" y="251"/>
                  <a:pt x="277" y="251"/>
                </a:cubicBezTo>
                <a:cubicBezTo>
                  <a:pt x="369" y="251"/>
                  <a:pt x="369" y="251"/>
                  <a:pt x="369" y="251"/>
                </a:cubicBezTo>
                <a:cubicBezTo>
                  <a:pt x="376" y="251"/>
                  <a:pt x="382" y="245"/>
                  <a:pt x="382" y="238"/>
                </a:cubicBezTo>
                <a:cubicBezTo>
                  <a:pt x="382" y="230"/>
                  <a:pt x="377" y="224"/>
                  <a:pt x="369" y="224"/>
                </a:cubicBezTo>
                <a:lnTo>
                  <a:pt x="277" y="22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3" name="Freeform 22"/>
          <p:cNvSpPr>
            <a:spLocks noEditPoints="1"/>
          </p:cNvSpPr>
          <p:nvPr userDrawn="1"/>
        </p:nvSpPr>
        <p:spPr bwMode="auto">
          <a:xfrm>
            <a:off x="9570057" y="5517223"/>
            <a:ext cx="276565" cy="276565"/>
          </a:xfrm>
          <a:custGeom>
            <a:avLst/>
            <a:gdLst>
              <a:gd name="T0" fmla="*/ 215 w 262"/>
              <a:gd name="T1" fmla="*/ 47 h 262"/>
              <a:gd name="T2" fmla="*/ 47 w 262"/>
              <a:gd name="T3" fmla="*/ 47 h 262"/>
              <a:gd name="T4" fmla="*/ 47 w 262"/>
              <a:gd name="T5" fmla="*/ 215 h 262"/>
              <a:gd name="T6" fmla="*/ 215 w 262"/>
              <a:gd name="T7" fmla="*/ 215 h 262"/>
              <a:gd name="T8" fmla="*/ 215 w 262"/>
              <a:gd name="T9" fmla="*/ 47 h 262"/>
              <a:gd name="T10" fmla="*/ 198 w 262"/>
              <a:gd name="T11" fmla="*/ 148 h 262"/>
              <a:gd name="T12" fmla="*/ 200 w 262"/>
              <a:gd name="T13" fmla="*/ 131 h 262"/>
              <a:gd name="T14" fmla="*/ 195 w 262"/>
              <a:gd name="T15" fmla="*/ 106 h 262"/>
              <a:gd name="T16" fmla="*/ 219 w 262"/>
              <a:gd name="T17" fmla="*/ 82 h 262"/>
              <a:gd name="T18" fmla="*/ 223 w 262"/>
              <a:gd name="T19" fmla="*/ 173 h 262"/>
              <a:gd name="T20" fmla="*/ 198 w 262"/>
              <a:gd name="T21" fmla="*/ 148 h 262"/>
              <a:gd name="T22" fmla="*/ 81 w 262"/>
              <a:gd name="T23" fmla="*/ 131 h 262"/>
              <a:gd name="T24" fmla="*/ 131 w 262"/>
              <a:gd name="T25" fmla="*/ 81 h 262"/>
              <a:gd name="T26" fmla="*/ 181 w 262"/>
              <a:gd name="T27" fmla="*/ 131 h 262"/>
              <a:gd name="T28" fmla="*/ 131 w 262"/>
              <a:gd name="T29" fmla="*/ 181 h 262"/>
              <a:gd name="T30" fmla="*/ 81 w 262"/>
              <a:gd name="T31" fmla="*/ 131 h 262"/>
              <a:gd name="T32" fmla="*/ 180 w 262"/>
              <a:gd name="T33" fmla="*/ 43 h 262"/>
              <a:gd name="T34" fmla="*/ 156 w 262"/>
              <a:gd name="T35" fmla="*/ 67 h 262"/>
              <a:gd name="T36" fmla="*/ 131 w 262"/>
              <a:gd name="T37" fmla="*/ 62 h 262"/>
              <a:gd name="T38" fmla="*/ 114 w 262"/>
              <a:gd name="T39" fmla="*/ 64 h 262"/>
              <a:gd name="T40" fmla="*/ 89 w 262"/>
              <a:gd name="T41" fmla="*/ 39 h 262"/>
              <a:gd name="T42" fmla="*/ 131 w 262"/>
              <a:gd name="T43" fmla="*/ 30 h 262"/>
              <a:gd name="T44" fmla="*/ 180 w 262"/>
              <a:gd name="T45" fmla="*/ 43 h 262"/>
              <a:gd name="T46" fmla="*/ 47 w 262"/>
              <a:gd name="T47" fmla="*/ 75 h 262"/>
              <a:gd name="T48" fmla="*/ 71 w 262"/>
              <a:gd name="T49" fmla="*/ 99 h 262"/>
              <a:gd name="T50" fmla="*/ 62 w 262"/>
              <a:gd name="T51" fmla="*/ 131 h 262"/>
              <a:gd name="T52" fmla="*/ 67 w 262"/>
              <a:gd name="T53" fmla="*/ 156 h 262"/>
              <a:gd name="T54" fmla="*/ 43 w 262"/>
              <a:gd name="T55" fmla="*/ 180 h 262"/>
              <a:gd name="T56" fmla="*/ 47 w 262"/>
              <a:gd name="T57" fmla="*/ 75 h 262"/>
              <a:gd name="T58" fmla="*/ 82 w 262"/>
              <a:gd name="T59" fmla="*/ 219 h 262"/>
              <a:gd name="T60" fmla="*/ 106 w 262"/>
              <a:gd name="T61" fmla="*/ 195 h 262"/>
              <a:gd name="T62" fmla="*/ 131 w 262"/>
              <a:gd name="T63" fmla="*/ 200 h 262"/>
              <a:gd name="T64" fmla="*/ 164 w 262"/>
              <a:gd name="T65" fmla="*/ 192 h 262"/>
              <a:gd name="T66" fmla="*/ 187 w 262"/>
              <a:gd name="T67" fmla="*/ 215 h 262"/>
              <a:gd name="T68" fmla="*/ 131 w 262"/>
              <a:gd name="T69" fmla="*/ 232 h 262"/>
              <a:gd name="T70" fmla="*/ 82 w 262"/>
              <a:gd name="T71" fmla="*/ 21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2" h="262">
                <a:moveTo>
                  <a:pt x="215" y="47"/>
                </a:moveTo>
                <a:cubicBezTo>
                  <a:pt x="169" y="0"/>
                  <a:pt x="93" y="0"/>
                  <a:pt x="47" y="47"/>
                </a:cubicBezTo>
                <a:cubicBezTo>
                  <a:pt x="0" y="93"/>
                  <a:pt x="0" y="169"/>
                  <a:pt x="47" y="215"/>
                </a:cubicBezTo>
                <a:cubicBezTo>
                  <a:pt x="93" y="262"/>
                  <a:pt x="169" y="262"/>
                  <a:pt x="215" y="215"/>
                </a:cubicBezTo>
                <a:cubicBezTo>
                  <a:pt x="262" y="169"/>
                  <a:pt x="262" y="93"/>
                  <a:pt x="215" y="47"/>
                </a:cubicBezTo>
                <a:close/>
                <a:moveTo>
                  <a:pt x="198" y="148"/>
                </a:moveTo>
                <a:cubicBezTo>
                  <a:pt x="199" y="143"/>
                  <a:pt x="200" y="137"/>
                  <a:pt x="200" y="131"/>
                </a:cubicBezTo>
                <a:cubicBezTo>
                  <a:pt x="200" y="122"/>
                  <a:pt x="198" y="114"/>
                  <a:pt x="195" y="106"/>
                </a:cubicBezTo>
                <a:cubicBezTo>
                  <a:pt x="219" y="82"/>
                  <a:pt x="219" y="82"/>
                  <a:pt x="219" y="82"/>
                </a:cubicBezTo>
                <a:cubicBezTo>
                  <a:pt x="235" y="110"/>
                  <a:pt x="236" y="144"/>
                  <a:pt x="223" y="173"/>
                </a:cubicBezTo>
                <a:lnTo>
                  <a:pt x="198" y="148"/>
                </a:lnTo>
                <a:close/>
                <a:moveTo>
                  <a:pt x="81" y="131"/>
                </a:moveTo>
                <a:cubicBezTo>
                  <a:pt x="81" y="103"/>
                  <a:pt x="103" y="81"/>
                  <a:pt x="131" y="81"/>
                </a:cubicBezTo>
                <a:cubicBezTo>
                  <a:pt x="159" y="81"/>
                  <a:pt x="181" y="103"/>
                  <a:pt x="181" y="131"/>
                </a:cubicBezTo>
                <a:cubicBezTo>
                  <a:pt x="181" y="159"/>
                  <a:pt x="159" y="181"/>
                  <a:pt x="131" y="181"/>
                </a:cubicBezTo>
                <a:cubicBezTo>
                  <a:pt x="103" y="181"/>
                  <a:pt x="81" y="159"/>
                  <a:pt x="81" y="131"/>
                </a:cubicBezTo>
                <a:close/>
                <a:moveTo>
                  <a:pt x="180" y="43"/>
                </a:moveTo>
                <a:cubicBezTo>
                  <a:pt x="156" y="67"/>
                  <a:pt x="156" y="67"/>
                  <a:pt x="156" y="67"/>
                </a:cubicBezTo>
                <a:cubicBezTo>
                  <a:pt x="148" y="64"/>
                  <a:pt x="140" y="62"/>
                  <a:pt x="131" y="62"/>
                </a:cubicBezTo>
                <a:cubicBezTo>
                  <a:pt x="125" y="62"/>
                  <a:pt x="120" y="63"/>
                  <a:pt x="114" y="64"/>
                </a:cubicBezTo>
                <a:cubicBezTo>
                  <a:pt x="89" y="39"/>
                  <a:pt x="89" y="39"/>
                  <a:pt x="89" y="39"/>
                </a:cubicBezTo>
                <a:cubicBezTo>
                  <a:pt x="102" y="33"/>
                  <a:pt x="116" y="30"/>
                  <a:pt x="131" y="30"/>
                </a:cubicBezTo>
                <a:cubicBezTo>
                  <a:pt x="149" y="30"/>
                  <a:pt x="165" y="35"/>
                  <a:pt x="180" y="43"/>
                </a:cubicBezTo>
                <a:close/>
                <a:moveTo>
                  <a:pt x="47" y="75"/>
                </a:moveTo>
                <a:cubicBezTo>
                  <a:pt x="71" y="99"/>
                  <a:pt x="71" y="99"/>
                  <a:pt x="71" y="99"/>
                </a:cubicBezTo>
                <a:cubicBezTo>
                  <a:pt x="65" y="108"/>
                  <a:pt x="62" y="119"/>
                  <a:pt x="62" y="131"/>
                </a:cubicBezTo>
                <a:cubicBezTo>
                  <a:pt x="62" y="140"/>
                  <a:pt x="64" y="148"/>
                  <a:pt x="67" y="156"/>
                </a:cubicBezTo>
                <a:cubicBezTo>
                  <a:pt x="43" y="180"/>
                  <a:pt x="43" y="180"/>
                  <a:pt x="43" y="180"/>
                </a:cubicBezTo>
                <a:cubicBezTo>
                  <a:pt x="25" y="147"/>
                  <a:pt x="26" y="107"/>
                  <a:pt x="47" y="75"/>
                </a:cubicBezTo>
                <a:close/>
                <a:moveTo>
                  <a:pt x="82" y="219"/>
                </a:moveTo>
                <a:cubicBezTo>
                  <a:pt x="106" y="195"/>
                  <a:pt x="106" y="195"/>
                  <a:pt x="106" y="195"/>
                </a:cubicBezTo>
                <a:cubicBezTo>
                  <a:pt x="114" y="198"/>
                  <a:pt x="122" y="200"/>
                  <a:pt x="131" y="200"/>
                </a:cubicBezTo>
                <a:cubicBezTo>
                  <a:pt x="143" y="200"/>
                  <a:pt x="154" y="197"/>
                  <a:pt x="164" y="192"/>
                </a:cubicBezTo>
                <a:cubicBezTo>
                  <a:pt x="187" y="215"/>
                  <a:pt x="187" y="215"/>
                  <a:pt x="187" y="215"/>
                </a:cubicBezTo>
                <a:cubicBezTo>
                  <a:pt x="171" y="226"/>
                  <a:pt x="151" y="232"/>
                  <a:pt x="131" y="232"/>
                </a:cubicBezTo>
                <a:cubicBezTo>
                  <a:pt x="114" y="232"/>
                  <a:pt x="97" y="227"/>
                  <a:pt x="82" y="21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4" name="Freeform 6"/>
          <p:cNvSpPr>
            <a:spLocks noEditPoints="1"/>
          </p:cNvSpPr>
          <p:nvPr userDrawn="1"/>
        </p:nvSpPr>
        <p:spPr bwMode="auto">
          <a:xfrm>
            <a:off x="9616202" y="5017770"/>
            <a:ext cx="221160" cy="252716"/>
          </a:xfrm>
          <a:custGeom>
            <a:avLst/>
            <a:gdLst>
              <a:gd name="T0" fmla="*/ 196 w 393"/>
              <a:gd name="T1" fmla="*/ 155 h 449"/>
              <a:gd name="T2" fmla="*/ 175 w 393"/>
              <a:gd name="T3" fmla="*/ 155 h 449"/>
              <a:gd name="T4" fmla="*/ 140 w 393"/>
              <a:gd name="T5" fmla="*/ 155 h 449"/>
              <a:gd name="T6" fmla="*/ 86 w 393"/>
              <a:gd name="T7" fmla="*/ 132 h 449"/>
              <a:gd name="T8" fmla="*/ 63 w 393"/>
              <a:gd name="T9" fmla="*/ 77 h 449"/>
              <a:gd name="T10" fmla="*/ 86 w 393"/>
              <a:gd name="T11" fmla="*/ 23 h 449"/>
              <a:gd name="T12" fmla="*/ 140 w 393"/>
              <a:gd name="T13" fmla="*/ 0 h 449"/>
              <a:gd name="T14" fmla="*/ 195 w 393"/>
              <a:gd name="T15" fmla="*/ 23 h 449"/>
              <a:gd name="T16" fmla="*/ 196 w 393"/>
              <a:gd name="T17" fmla="*/ 25 h 449"/>
              <a:gd name="T18" fmla="*/ 198 w 393"/>
              <a:gd name="T19" fmla="*/ 23 h 449"/>
              <a:gd name="T20" fmla="*/ 252 w 393"/>
              <a:gd name="T21" fmla="*/ 0 h 449"/>
              <a:gd name="T22" fmla="*/ 307 w 393"/>
              <a:gd name="T23" fmla="*/ 23 h 449"/>
              <a:gd name="T24" fmla="*/ 329 w 393"/>
              <a:gd name="T25" fmla="*/ 77 h 449"/>
              <a:gd name="T26" fmla="*/ 307 w 393"/>
              <a:gd name="T27" fmla="*/ 132 h 449"/>
              <a:gd name="T28" fmla="*/ 252 w 393"/>
              <a:gd name="T29" fmla="*/ 155 h 449"/>
              <a:gd name="T30" fmla="*/ 217 w 393"/>
              <a:gd name="T31" fmla="*/ 155 h 449"/>
              <a:gd name="T32" fmla="*/ 196 w 393"/>
              <a:gd name="T33" fmla="*/ 155 h 449"/>
              <a:gd name="T34" fmla="*/ 42 w 393"/>
              <a:gd name="T35" fmla="*/ 183 h 449"/>
              <a:gd name="T36" fmla="*/ 182 w 393"/>
              <a:gd name="T37" fmla="*/ 183 h 449"/>
              <a:gd name="T38" fmla="*/ 182 w 393"/>
              <a:gd name="T39" fmla="*/ 302 h 449"/>
              <a:gd name="T40" fmla="*/ 0 w 393"/>
              <a:gd name="T41" fmla="*/ 302 h 449"/>
              <a:gd name="T42" fmla="*/ 0 w 393"/>
              <a:gd name="T43" fmla="*/ 225 h 449"/>
              <a:gd name="T44" fmla="*/ 42 w 393"/>
              <a:gd name="T45" fmla="*/ 183 h 449"/>
              <a:gd name="T46" fmla="*/ 210 w 393"/>
              <a:gd name="T47" fmla="*/ 183 h 449"/>
              <a:gd name="T48" fmla="*/ 350 w 393"/>
              <a:gd name="T49" fmla="*/ 183 h 449"/>
              <a:gd name="T50" fmla="*/ 393 w 393"/>
              <a:gd name="T51" fmla="*/ 225 h 449"/>
              <a:gd name="T52" fmla="*/ 393 w 393"/>
              <a:gd name="T53" fmla="*/ 302 h 449"/>
              <a:gd name="T54" fmla="*/ 210 w 393"/>
              <a:gd name="T55" fmla="*/ 302 h 449"/>
              <a:gd name="T56" fmla="*/ 210 w 393"/>
              <a:gd name="T57" fmla="*/ 183 h 449"/>
              <a:gd name="T58" fmla="*/ 393 w 393"/>
              <a:gd name="T59" fmla="*/ 330 h 449"/>
              <a:gd name="T60" fmla="*/ 393 w 393"/>
              <a:gd name="T61" fmla="*/ 407 h 449"/>
              <a:gd name="T62" fmla="*/ 350 w 393"/>
              <a:gd name="T63" fmla="*/ 449 h 449"/>
              <a:gd name="T64" fmla="*/ 210 w 393"/>
              <a:gd name="T65" fmla="*/ 449 h 449"/>
              <a:gd name="T66" fmla="*/ 210 w 393"/>
              <a:gd name="T67" fmla="*/ 330 h 449"/>
              <a:gd name="T68" fmla="*/ 393 w 393"/>
              <a:gd name="T69" fmla="*/ 330 h 449"/>
              <a:gd name="T70" fmla="*/ 182 w 393"/>
              <a:gd name="T71" fmla="*/ 449 h 449"/>
              <a:gd name="T72" fmla="*/ 42 w 393"/>
              <a:gd name="T73" fmla="*/ 449 h 449"/>
              <a:gd name="T74" fmla="*/ 0 w 393"/>
              <a:gd name="T75" fmla="*/ 407 h 449"/>
              <a:gd name="T76" fmla="*/ 0 w 393"/>
              <a:gd name="T77" fmla="*/ 330 h 449"/>
              <a:gd name="T78" fmla="*/ 182 w 393"/>
              <a:gd name="T79" fmla="*/ 330 h 449"/>
              <a:gd name="T80" fmla="*/ 182 w 393"/>
              <a:gd name="T81" fmla="*/ 449 h 449"/>
              <a:gd name="T82" fmla="*/ 217 w 393"/>
              <a:gd name="T83" fmla="*/ 77 h 449"/>
              <a:gd name="T84" fmla="*/ 217 w 393"/>
              <a:gd name="T85" fmla="*/ 113 h 449"/>
              <a:gd name="T86" fmla="*/ 252 w 393"/>
              <a:gd name="T87" fmla="*/ 113 h 449"/>
              <a:gd name="T88" fmla="*/ 277 w 393"/>
              <a:gd name="T89" fmla="*/ 102 h 449"/>
              <a:gd name="T90" fmla="*/ 287 w 393"/>
              <a:gd name="T91" fmla="*/ 77 h 449"/>
              <a:gd name="T92" fmla="*/ 277 w 393"/>
              <a:gd name="T93" fmla="*/ 53 h 449"/>
              <a:gd name="T94" fmla="*/ 252 w 393"/>
              <a:gd name="T95" fmla="*/ 42 h 449"/>
              <a:gd name="T96" fmla="*/ 228 w 393"/>
              <a:gd name="T97" fmla="*/ 53 h 449"/>
              <a:gd name="T98" fmla="*/ 217 w 393"/>
              <a:gd name="T99" fmla="*/ 77 h 449"/>
              <a:gd name="T100" fmla="*/ 140 w 393"/>
              <a:gd name="T101" fmla="*/ 113 h 449"/>
              <a:gd name="T102" fmla="*/ 175 w 393"/>
              <a:gd name="T103" fmla="*/ 113 h 449"/>
              <a:gd name="T104" fmla="*/ 175 w 393"/>
              <a:gd name="T105" fmla="*/ 77 h 449"/>
              <a:gd name="T106" fmla="*/ 165 w 393"/>
              <a:gd name="T107" fmla="*/ 53 h 449"/>
              <a:gd name="T108" fmla="*/ 140 w 393"/>
              <a:gd name="T109" fmla="*/ 42 h 449"/>
              <a:gd name="T110" fmla="*/ 115 w 393"/>
              <a:gd name="T111" fmla="*/ 53 h 449"/>
              <a:gd name="T112" fmla="*/ 105 w 393"/>
              <a:gd name="T113" fmla="*/ 77 h 449"/>
              <a:gd name="T114" fmla="*/ 115 w 393"/>
              <a:gd name="T115" fmla="*/ 102 h 449"/>
              <a:gd name="T116" fmla="*/ 140 w 393"/>
              <a:gd name="T117" fmla="*/ 113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3" h="449">
                <a:moveTo>
                  <a:pt x="196" y="155"/>
                </a:moveTo>
                <a:cubicBezTo>
                  <a:pt x="175" y="155"/>
                  <a:pt x="175" y="155"/>
                  <a:pt x="175" y="155"/>
                </a:cubicBezTo>
                <a:cubicBezTo>
                  <a:pt x="140" y="155"/>
                  <a:pt x="140" y="155"/>
                  <a:pt x="140" y="155"/>
                </a:cubicBezTo>
                <a:cubicBezTo>
                  <a:pt x="119" y="155"/>
                  <a:pt x="100" y="146"/>
                  <a:pt x="86" y="132"/>
                </a:cubicBezTo>
                <a:cubicBezTo>
                  <a:pt x="72" y="118"/>
                  <a:pt x="63" y="99"/>
                  <a:pt x="63" y="77"/>
                </a:cubicBezTo>
                <a:cubicBezTo>
                  <a:pt x="63" y="56"/>
                  <a:pt x="72" y="37"/>
                  <a:pt x="86" y="23"/>
                </a:cubicBezTo>
                <a:cubicBezTo>
                  <a:pt x="100" y="9"/>
                  <a:pt x="119" y="0"/>
                  <a:pt x="140" y="0"/>
                </a:cubicBezTo>
                <a:cubicBezTo>
                  <a:pt x="161" y="0"/>
                  <a:pt x="181" y="9"/>
                  <a:pt x="195" y="23"/>
                </a:cubicBezTo>
                <a:cubicBezTo>
                  <a:pt x="195" y="24"/>
                  <a:pt x="196" y="24"/>
                  <a:pt x="196" y="25"/>
                </a:cubicBezTo>
                <a:cubicBezTo>
                  <a:pt x="197" y="24"/>
                  <a:pt x="197" y="24"/>
                  <a:pt x="198" y="23"/>
                </a:cubicBezTo>
                <a:cubicBezTo>
                  <a:pt x="212" y="9"/>
                  <a:pt x="231" y="0"/>
                  <a:pt x="252" y="0"/>
                </a:cubicBezTo>
                <a:cubicBezTo>
                  <a:pt x="274" y="0"/>
                  <a:pt x="293" y="9"/>
                  <a:pt x="307" y="23"/>
                </a:cubicBezTo>
                <a:cubicBezTo>
                  <a:pt x="321" y="37"/>
                  <a:pt x="329" y="56"/>
                  <a:pt x="329" y="77"/>
                </a:cubicBezTo>
                <a:cubicBezTo>
                  <a:pt x="329" y="99"/>
                  <a:pt x="321" y="118"/>
                  <a:pt x="307" y="132"/>
                </a:cubicBezTo>
                <a:cubicBezTo>
                  <a:pt x="293" y="146"/>
                  <a:pt x="274" y="155"/>
                  <a:pt x="252" y="155"/>
                </a:cubicBezTo>
                <a:cubicBezTo>
                  <a:pt x="217" y="155"/>
                  <a:pt x="217" y="155"/>
                  <a:pt x="217" y="155"/>
                </a:cubicBezTo>
                <a:cubicBezTo>
                  <a:pt x="196" y="155"/>
                  <a:pt x="196" y="155"/>
                  <a:pt x="196" y="155"/>
                </a:cubicBezTo>
                <a:close/>
                <a:moveTo>
                  <a:pt x="42" y="183"/>
                </a:moveTo>
                <a:cubicBezTo>
                  <a:pt x="182" y="183"/>
                  <a:pt x="182" y="183"/>
                  <a:pt x="182" y="183"/>
                </a:cubicBezTo>
                <a:cubicBezTo>
                  <a:pt x="182" y="302"/>
                  <a:pt x="182" y="302"/>
                  <a:pt x="182" y="302"/>
                </a:cubicBezTo>
                <a:cubicBezTo>
                  <a:pt x="0" y="302"/>
                  <a:pt x="0" y="302"/>
                  <a:pt x="0" y="302"/>
                </a:cubicBezTo>
                <a:cubicBezTo>
                  <a:pt x="0" y="225"/>
                  <a:pt x="0" y="225"/>
                  <a:pt x="0" y="225"/>
                </a:cubicBezTo>
                <a:cubicBezTo>
                  <a:pt x="0" y="202"/>
                  <a:pt x="19" y="183"/>
                  <a:pt x="42" y="183"/>
                </a:cubicBezTo>
                <a:close/>
                <a:moveTo>
                  <a:pt x="210" y="183"/>
                </a:moveTo>
                <a:cubicBezTo>
                  <a:pt x="350" y="183"/>
                  <a:pt x="350" y="183"/>
                  <a:pt x="350" y="183"/>
                </a:cubicBezTo>
                <a:cubicBezTo>
                  <a:pt x="374" y="183"/>
                  <a:pt x="393" y="202"/>
                  <a:pt x="393" y="225"/>
                </a:cubicBezTo>
                <a:cubicBezTo>
                  <a:pt x="393" y="302"/>
                  <a:pt x="393" y="302"/>
                  <a:pt x="393" y="302"/>
                </a:cubicBezTo>
                <a:cubicBezTo>
                  <a:pt x="210" y="302"/>
                  <a:pt x="210" y="302"/>
                  <a:pt x="210" y="302"/>
                </a:cubicBezTo>
                <a:cubicBezTo>
                  <a:pt x="210" y="183"/>
                  <a:pt x="210" y="183"/>
                  <a:pt x="210" y="183"/>
                </a:cubicBezTo>
                <a:close/>
                <a:moveTo>
                  <a:pt x="393" y="330"/>
                </a:moveTo>
                <a:cubicBezTo>
                  <a:pt x="393" y="407"/>
                  <a:pt x="393" y="407"/>
                  <a:pt x="393" y="407"/>
                </a:cubicBezTo>
                <a:cubicBezTo>
                  <a:pt x="393" y="430"/>
                  <a:pt x="374" y="449"/>
                  <a:pt x="350" y="449"/>
                </a:cubicBezTo>
                <a:cubicBezTo>
                  <a:pt x="210" y="449"/>
                  <a:pt x="210" y="449"/>
                  <a:pt x="210" y="449"/>
                </a:cubicBezTo>
                <a:cubicBezTo>
                  <a:pt x="210" y="330"/>
                  <a:pt x="210" y="330"/>
                  <a:pt x="210" y="330"/>
                </a:cubicBezTo>
                <a:cubicBezTo>
                  <a:pt x="393" y="330"/>
                  <a:pt x="393" y="330"/>
                  <a:pt x="393" y="330"/>
                </a:cubicBezTo>
                <a:close/>
                <a:moveTo>
                  <a:pt x="182" y="449"/>
                </a:moveTo>
                <a:cubicBezTo>
                  <a:pt x="42" y="449"/>
                  <a:pt x="42" y="449"/>
                  <a:pt x="42" y="449"/>
                </a:cubicBezTo>
                <a:cubicBezTo>
                  <a:pt x="19" y="449"/>
                  <a:pt x="0" y="430"/>
                  <a:pt x="0" y="407"/>
                </a:cubicBezTo>
                <a:cubicBezTo>
                  <a:pt x="0" y="330"/>
                  <a:pt x="0" y="330"/>
                  <a:pt x="0" y="330"/>
                </a:cubicBezTo>
                <a:cubicBezTo>
                  <a:pt x="182" y="330"/>
                  <a:pt x="182" y="330"/>
                  <a:pt x="182" y="330"/>
                </a:cubicBezTo>
                <a:cubicBezTo>
                  <a:pt x="182" y="449"/>
                  <a:pt x="182" y="449"/>
                  <a:pt x="182" y="449"/>
                </a:cubicBezTo>
                <a:close/>
                <a:moveTo>
                  <a:pt x="217" y="77"/>
                </a:moveTo>
                <a:cubicBezTo>
                  <a:pt x="217" y="113"/>
                  <a:pt x="217" y="113"/>
                  <a:pt x="217" y="113"/>
                </a:cubicBezTo>
                <a:cubicBezTo>
                  <a:pt x="252" y="113"/>
                  <a:pt x="252" y="113"/>
                  <a:pt x="252" y="113"/>
                </a:cubicBezTo>
                <a:cubicBezTo>
                  <a:pt x="262" y="113"/>
                  <a:pt x="271" y="109"/>
                  <a:pt x="277" y="102"/>
                </a:cubicBezTo>
                <a:cubicBezTo>
                  <a:pt x="284" y="96"/>
                  <a:pt x="287" y="87"/>
                  <a:pt x="287" y="77"/>
                </a:cubicBezTo>
                <a:cubicBezTo>
                  <a:pt x="287" y="68"/>
                  <a:pt x="284" y="59"/>
                  <a:pt x="277" y="53"/>
                </a:cubicBezTo>
                <a:cubicBezTo>
                  <a:pt x="271" y="46"/>
                  <a:pt x="262" y="42"/>
                  <a:pt x="252" y="42"/>
                </a:cubicBezTo>
                <a:cubicBezTo>
                  <a:pt x="243" y="42"/>
                  <a:pt x="234" y="46"/>
                  <a:pt x="228" y="53"/>
                </a:cubicBezTo>
                <a:cubicBezTo>
                  <a:pt x="221" y="59"/>
                  <a:pt x="217" y="68"/>
                  <a:pt x="217" y="77"/>
                </a:cubicBezTo>
                <a:close/>
                <a:moveTo>
                  <a:pt x="140" y="113"/>
                </a:moveTo>
                <a:cubicBezTo>
                  <a:pt x="175" y="113"/>
                  <a:pt x="175" y="113"/>
                  <a:pt x="175" y="113"/>
                </a:cubicBezTo>
                <a:cubicBezTo>
                  <a:pt x="175" y="77"/>
                  <a:pt x="175" y="77"/>
                  <a:pt x="175" y="77"/>
                </a:cubicBezTo>
                <a:cubicBezTo>
                  <a:pt x="175" y="68"/>
                  <a:pt x="171" y="59"/>
                  <a:pt x="165" y="53"/>
                </a:cubicBezTo>
                <a:cubicBezTo>
                  <a:pt x="159" y="46"/>
                  <a:pt x="150" y="42"/>
                  <a:pt x="140" y="42"/>
                </a:cubicBezTo>
                <a:cubicBezTo>
                  <a:pt x="131" y="42"/>
                  <a:pt x="122" y="46"/>
                  <a:pt x="115" y="53"/>
                </a:cubicBezTo>
                <a:cubicBezTo>
                  <a:pt x="109" y="59"/>
                  <a:pt x="105" y="68"/>
                  <a:pt x="105" y="77"/>
                </a:cubicBezTo>
                <a:cubicBezTo>
                  <a:pt x="105" y="87"/>
                  <a:pt x="109" y="96"/>
                  <a:pt x="115" y="102"/>
                </a:cubicBezTo>
                <a:cubicBezTo>
                  <a:pt x="122" y="109"/>
                  <a:pt x="131" y="113"/>
                  <a:pt x="140" y="1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6" name="Freeform 5"/>
          <p:cNvSpPr>
            <a:spLocks noEditPoints="1"/>
          </p:cNvSpPr>
          <p:nvPr userDrawn="1"/>
        </p:nvSpPr>
        <p:spPr bwMode="auto">
          <a:xfrm>
            <a:off x="8979468" y="6698476"/>
            <a:ext cx="261539" cy="262039"/>
          </a:xfrm>
          <a:custGeom>
            <a:avLst/>
            <a:gdLst>
              <a:gd name="T0" fmla="*/ 276 w 348"/>
              <a:gd name="T1" fmla="*/ 124 h 348"/>
              <a:gd name="T2" fmla="*/ 277 w 348"/>
              <a:gd name="T3" fmla="*/ 129 h 348"/>
              <a:gd name="T4" fmla="*/ 267 w 348"/>
              <a:gd name="T5" fmla="*/ 163 h 348"/>
              <a:gd name="T6" fmla="*/ 261 w 348"/>
              <a:gd name="T7" fmla="*/ 167 h 348"/>
              <a:gd name="T8" fmla="*/ 256 w 348"/>
              <a:gd name="T9" fmla="*/ 158 h 348"/>
              <a:gd name="T10" fmla="*/ 260 w 348"/>
              <a:gd name="T11" fmla="*/ 151 h 348"/>
              <a:gd name="T12" fmla="*/ 265 w 348"/>
              <a:gd name="T13" fmla="*/ 121 h 348"/>
              <a:gd name="T14" fmla="*/ 265 w 348"/>
              <a:gd name="T15" fmla="*/ 120 h 348"/>
              <a:gd name="T16" fmla="*/ 264 w 348"/>
              <a:gd name="T17" fmla="*/ 112 h 348"/>
              <a:gd name="T18" fmla="*/ 161 w 348"/>
              <a:gd name="T19" fmla="*/ 66 h 348"/>
              <a:gd name="T20" fmla="*/ 153 w 348"/>
              <a:gd name="T21" fmla="*/ 106 h 348"/>
              <a:gd name="T22" fmla="*/ 147 w 348"/>
              <a:gd name="T23" fmla="*/ 118 h 348"/>
              <a:gd name="T24" fmla="*/ 142 w 348"/>
              <a:gd name="T25" fmla="*/ 120 h 348"/>
              <a:gd name="T26" fmla="*/ 136 w 348"/>
              <a:gd name="T27" fmla="*/ 113 h 348"/>
              <a:gd name="T28" fmla="*/ 136 w 348"/>
              <a:gd name="T29" fmla="*/ 113 h 348"/>
              <a:gd name="T30" fmla="*/ 142 w 348"/>
              <a:gd name="T31" fmla="*/ 101 h 348"/>
              <a:gd name="T32" fmla="*/ 150 w 348"/>
              <a:gd name="T33" fmla="*/ 63 h 348"/>
              <a:gd name="T34" fmla="*/ 150 w 348"/>
              <a:gd name="T35" fmla="*/ 62 h 348"/>
              <a:gd name="T36" fmla="*/ 141 w 348"/>
              <a:gd name="T37" fmla="*/ 42 h 348"/>
              <a:gd name="T38" fmla="*/ 12 w 348"/>
              <a:gd name="T39" fmla="*/ 46 h 348"/>
              <a:gd name="T40" fmla="*/ 98 w 348"/>
              <a:gd name="T41" fmla="*/ 142 h 348"/>
              <a:gd name="T42" fmla="*/ 172 w 348"/>
              <a:gd name="T43" fmla="*/ 157 h 348"/>
              <a:gd name="T44" fmla="*/ 170 w 348"/>
              <a:gd name="T45" fmla="*/ 199 h 348"/>
              <a:gd name="T46" fmla="*/ 64 w 348"/>
              <a:gd name="T47" fmla="*/ 333 h 348"/>
              <a:gd name="T48" fmla="*/ 99 w 348"/>
              <a:gd name="T49" fmla="*/ 348 h 348"/>
              <a:gd name="T50" fmla="*/ 170 w 348"/>
              <a:gd name="T51" fmla="*/ 236 h 348"/>
              <a:gd name="T52" fmla="*/ 162 w 348"/>
              <a:gd name="T53" fmla="*/ 333 h 348"/>
              <a:gd name="T54" fmla="*/ 197 w 348"/>
              <a:gd name="T55" fmla="*/ 348 h 348"/>
              <a:gd name="T56" fmla="*/ 190 w 348"/>
              <a:gd name="T57" fmla="*/ 333 h 348"/>
              <a:gd name="T58" fmla="*/ 261 w 348"/>
              <a:gd name="T59" fmla="*/ 333 h 348"/>
              <a:gd name="T60" fmla="*/ 261 w 348"/>
              <a:gd name="T61" fmla="*/ 348 h 348"/>
              <a:gd name="T62" fmla="*/ 296 w 348"/>
              <a:gd name="T63" fmla="*/ 333 h 348"/>
              <a:gd name="T64" fmla="*/ 190 w 348"/>
              <a:gd name="T65" fmla="*/ 199 h 348"/>
              <a:gd name="T66" fmla="*/ 188 w 348"/>
              <a:gd name="T67" fmla="*/ 164 h 348"/>
              <a:gd name="T68" fmla="*/ 240 w 348"/>
              <a:gd name="T69" fmla="*/ 177 h 348"/>
              <a:gd name="T70" fmla="*/ 341 w 348"/>
              <a:gd name="T71" fmla="*/ 186 h 348"/>
              <a:gd name="T72" fmla="*/ 51 w 348"/>
              <a:gd name="T73" fmla="*/ 63 h 348"/>
              <a:gd name="T74" fmla="*/ 19 w 348"/>
              <a:gd name="T75" fmla="*/ 49 h 348"/>
              <a:gd name="T76" fmla="*/ 51 w 348"/>
              <a:gd name="T77" fmla="*/ 6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48" h="348">
                <a:moveTo>
                  <a:pt x="340" y="151"/>
                </a:moveTo>
                <a:cubicBezTo>
                  <a:pt x="276" y="124"/>
                  <a:pt x="276" y="124"/>
                  <a:pt x="276" y="124"/>
                </a:cubicBezTo>
                <a:cubicBezTo>
                  <a:pt x="276" y="124"/>
                  <a:pt x="276" y="124"/>
                  <a:pt x="276" y="124"/>
                </a:cubicBezTo>
                <a:cubicBezTo>
                  <a:pt x="277" y="126"/>
                  <a:pt x="277" y="127"/>
                  <a:pt x="277" y="129"/>
                </a:cubicBezTo>
                <a:cubicBezTo>
                  <a:pt x="277" y="137"/>
                  <a:pt x="275" y="146"/>
                  <a:pt x="270" y="156"/>
                </a:cubicBezTo>
                <a:cubicBezTo>
                  <a:pt x="269" y="158"/>
                  <a:pt x="268" y="161"/>
                  <a:pt x="267" y="163"/>
                </a:cubicBezTo>
                <a:cubicBezTo>
                  <a:pt x="266" y="166"/>
                  <a:pt x="263" y="167"/>
                  <a:pt x="261" y="167"/>
                </a:cubicBezTo>
                <a:cubicBezTo>
                  <a:pt x="261" y="167"/>
                  <a:pt x="261" y="167"/>
                  <a:pt x="261" y="167"/>
                </a:cubicBezTo>
                <a:cubicBezTo>
                  <a:pt x="258" y="167"/>
                  <a:pt x="255" y="165"/>
                  <a:pt x="255" y="162"/>
                </a:cubicBezTo>
                <a:cubicBezTo>
                  <a:pt x="255" y="161"/>
                  <a:pt x="256" y="160"/>
                  <a:pt x="256" y="158"/>
                </a:cubicBezTo>
                <a:cubicBezTo>
                  <a:pt x="256" y="158"/>
                  <a:pt x="256" y="158"/>
                  <a:pt x="257" y="158"/>
                </a:cubicBezTo>
                <a:cubicBezTo>
                  <a:pt x="258" y="156"/>
                  <a:pt x="259" y="154"/>
                  <a:pt x="260" y="151"/>
                </a:cubicBezTo>
                <a:cubicBezTo>
                  <a:pt x="264" y="142"/>
                  <a:pt x="266" y="133"/>
                  <a:pt x="266" y="126"/>
                </a:cubicBezTo>
                <a:cubicBezTo>
                  <a:pt x="266" y="124"/>
                  <a:pt x="265" y="123"/>
                  <a:pt x="265" y="121"/>
                </a:cubicBezTo>
                <a:cubicBezTo>
                  <a:pt x="265" y="121"/>
                  <a:pt x="265" y="121"/>
                  <a:pt x="265" y="121"/>
                </a:cubicBezTo>
                <a:cubicBezTo>
                  <a:pt x="265" y="121"/>
                  <a:pt x="265" y="120"/>
                  <a:pt x="265" y="120"/>
                </a:cubicBezTo>
                <a:cubicBezTo>
                  <a:pt x="265" y="120"/>
                  <a:pt x="265" y="120"/>
                  <a:pt x="265" y="120"/>
                </a:cubicBezTo>
                <a:cubicBezTo>
                  <a:pt x="265" y="116"/>
                  <a:pt x="264" y="114"/>
                  <a:pt x="264" y="112"/>
                </a:cubicBezTo>
                <a:cubicBezTo>
                  <a:pt x="263" y="110"/>
                  <a:pt x="261" y="109"/>
                  <a:pt x="259" y="108"/>
                </a:cubicBezTo>
                <a:cubicBezTo>
                  <a:pt x="161" y="66"/>
                  <a:pt x="161" y="66"/>
                  <a:pt x="161" y="66"/>
                </a:cubicBezTo>
                <a:cubicBezTo>
                  <a:pt x="161" y="67"/>
                  <a:pt x="161" y="68"/>
                  <a:pt x="161" y="69"/>
                </a:cubicBezTo>
                <a:cubicBezTo>
                  <a:pt x="161" y="80"/>
                  <a:pt x="158" y="93"/>
                  <a:pt x="153" y="106"/>
                </a:cubicBezTo>
                <a:cubicBezTo>
                  <a:pt x="151" y="110"/>
                  <a:pt x="149" y="114"/>
                  <a:pt x="147" y="118"/>
                </a:cubicBezTo>
                <a:cubicBezTo>
                  <a:pt x="147" y="118"/>
                  <a:pt x="147" y="118"/>
                  <a:pt x="147" y="118"/>
                </a:cubicBezTo>
                <a:cubicBezTo>
                  <a:pt x="146" y="118"/>
                  <a:pt x="146" y="118"/>
                  <a:pt x="146" y="118"/>
                </a:cubicBezTo>
                <a:cubicBezTo>
                  <a:pt x="145" y="120"/>
                  <a:pt x="144" y="120"/>
                  <a:pt x="142" y="120"/>
                </a:cubicBezTo>
                <a:cubicBezTo>
                  <a:pt x="139" y="120"/>
                  <a:pt x="136" y="119"/>
                  <a:pt x="136" y="115"/>
                </a:cubicBezTo>
                <a:cubicBezTo>
                  <a:pt x="136" y="115"/>
                  <a:pt x="136" y="114"/>
                  <a:pt x="136" y="113"/>
                </a:cubicBezTo>
                <a:cubicBezTo>
                  <a:pt x="136" y="113"/>
                  <a:pt x="136" y="113"/>
                  <a:pt x="136" y="113"/>
                </a:cubicBezTo>
                <a:cubicBezTo>
                  <a:pt x="136" y="113"/>
                  <a:pt x="136" y="113"/>
                  <a:pt x="136" y="113"/>
                </a:cubicBezTo>
                <a:cubicBezTo>
                  <a:pt x="136" y="113"/>
                  <a:pt x="136" y="113"/>
                  <a:pt x="136" y="113"/>
                </a:cubicBezTo>
                <a:cubicBezTo>
                  <a:pt x="138" y="109"/>
                  <a:pt x="140" y="105"/>
                  <a:pt x="142" y="101"/>
                </a:cubicBezTo>
                <a:cubicBezTo>
                  <a:pt x="147" y="88"/>
                  <a:pt x="150" y="76"/>
                  <a:pt x="150" y="65"/>
                </a:cubicBezTo>
                <a:cubicBezTo>
                  <a:pt x="150" y="65"/>
                  <a:pt x="150" y="64"/>
                  <a:pt x="150" y="63"/>
                </a:cubicBezTo>
                <a:cubicBezTo>
                  <a:pt x="150" y="63"/>
                  <a:pt x="150" y="63"/>
                  <a:pt x="150" y="62"/>
                </a:cubicBezTo>
                <a:cubicBezTo>
                  <a:pt x="150" y="62"/>
                  <a:pt x="150" y="62"/>
                  <a:pt x="150" y="62"/>
                </a:cubicBezTo>
                <a:cubicBezTo>
                  <a:pt x="150" y="55"/>
                  <a:pt x="148" y="48"/>
                  <a:pt x="145" y="44"/>
                </a:cubicBezTo>
                <a:cubicBezTo>
                  <a:pt x="144" y="43"/>
                  <a:pt x="143" y="42"/>
                  <a:pt x="141" y="42"/>
                </a:cubicBezTo>
                <a:cubicBezTo>
                  <a:pt x="57" y="6"/>
                  <a:pt x="57" y="6"/>
                  <a:pt x="57" y="6"/>
                </a:cubicBezTo>
                <a:cubicBezTo>
                  <a:pt x="44" y="0"/>
                  <a:pt x="24" y="18"/>
                  <a:pt x="12" y="46"/>
                </a:cubicBezTo>
                <a:cubicBezTo>
                  <a:pt x="0" y="74"/>
                  <a:pt x="1" y="101"/>
                  <a:pt x="14" y="107"/>
                </a:cubicBezTo>
                <a:cubicBezTo>
                  <a:pt x="98" y="142"/>
                  <a:pt x="98" y="142"/>
                  <a:pt x="98" y="142"/>
                </a:cubicBezTo>
                <a:cubicBezTo>
                  <a:pt x="104" y="145"/>
                  <a:pt x="111" y="142"/>
                  <a:pt x="118" y="134"/>
                </a:cubicBezTo>
                <a:cubicBezTo>
                  <a:pt x="172" y="157"/>
                  <a:pt x="172" y="157"/>
                  <a:pt x="172" y="157"/>
                </a:cubicBezTo>
                <a:cubicBezTo>
                  <a:pt x="172" y="199"/>
                  <a:pt x="172" y="199"/>
                  <a:pt x="172" y="199"/>
                </a:cubicBezTo>
                <a:cubicBezTo>
                  <a:pt x="170" y="199"/>
                  <a:pt x="170" y="199"/>
                  <a:pt x="170" y="199"/>
                </a:cubicBezTo>
                <a:cubicBezTo>
                  <a:pt x="74" y="333"/>
                  <a:pt x="74" y="333"/>
                  <a:pt x="74" y="333"/>
                </a:cubicBezTo>
                <a:cubicBezTo>
                  <a:pt x="64" y="333"/>
                  <a:pt x="64" y="333"/>
                  <a:pt x="64" y="333"/>
                </a:cubicBezTo>
                <a:cubicBezTo>
                  <a:pt x="64" y="348"/>
                  <a:pt x="64" y="348"/>
                  <a:pt x="64" y="348"/>
                </a:cubicBezTo>
                <a:cubicBezTo>
                  <a:pt x="99" y="348"/>
                  <a:pt x="99" y="348"/>
                  <a:pt x="99" y="348"/>
                </a:cubicBezTo>
                <a:cubicBezTo>
                  <a:pt x="99" y="333"/>
                  <a:pt x="99" y="333"/>
                  <a:pt x="99" y="333"/>
                </a:cubicBezTo>
                <a:cubicBezTo>
                  <a:pt x="170" y="236"/>
                  <a:pt x="170" y="236"/>
                  <a:pt x="170" y="236"/>
                </a:cubicBezTo>
                <a:cubicBezTo>
                  <a:pt x="170" y="333"/>
                  <a:pt x="170" y="333"/>
                  <a:pt x="170" y="333"/>
                </a:cubicBezTo>
                <a:cubicBezTo>
                  <a:pt x="162" y="333"/>
                  <a:pt x="162" y="333"/>
                  <a:pt x="162" y="333"/>
                </a:cubicBezTo>
                <a:cubicBezTo>
                  <a:pt x="162" y="348"/>
                  <a:pt x="162" y="348"/>
                  <a:pt x="162" y="348"/>
                </a:cubicBezTo>
                <a:cubicBezTo>
                  <a:pt x="197" y="348"/>
                  <a:pt x="197" y="348"/>
                  <a:pt x="197" y="348"/>
                </a:cubicBezTo>
                <a:cubicBezTo>
                  <a:pt x="197" y="333"/>
                  <a:pt x="197" y="333"/>
                  <a:pt x="197" y="333"/>
                </a:cubicBezTo>
                <a:cubicBezTo>
                  <a:pt x="190" y="333"/>
                  <a:pt x="190" y="333"/>
                  <a:pt x="190" y="333"/>
                </a:cubicBezTo>
                <a:cubicBezTo>
                  <a:pt x="190" y="236"/>
                  <a:pt x="190" y="236"/>
                  <a:pt x="190" y="236"/>
                </a:cubicBezTo>
                <a:cubicBezTo>
                  <a:pt x="261" y="333"/>
                  <a:pt x="261" y="333"/>
                  <a:pt x="261" y="333"/>
                </a:cubicBezTo>
                <a:cubicBezTo>
                  <a:pt x="261" y="333"/>
                  <a:pt x="261" y="333"/>
                  <a:pt x="261" y="333"/>
                </a:cubicBezTo>
                <a:cubicBezTo>
                  <a:pt x="261" y="348"/>
                  <a:pt x="261" y="348"/>
                  <a:pt x="261" y="348"/>
                </a:cubicBezTo>
                <a:cubicBezTo>
                  <a:pt x="296" y="348"/>
                  <a:pt x="296" y="348"/>
                  <a:pt x="296" y="348"/>
                </a:cubicBezTo>
                <a:cubicBezTo>
                  <a:pt x="296" y="333"/>
                  <a:pt x="296" y="333"/>
                  <a:pt x="296" y="333"/>
                </a:cubicBezTo>
                <a:cubicBezTo>
                  <a:pt x="286" y="333"/>
                  <a:pt x="286" y="333"/>
                  <a:pt x="286" y="333"/>
                </a:cubicBezTo>
                <a:cubicBezTo>
                  <a:pt x="190" y="199"/>
                  <a:pt x="190" y="199"/>
                  <a:pt x="190" y="199"/>
                </a:cubicBezTo>
                <a:cubicBezTo>
                  <a:pt x="188" y="199"/>
                  <a:pt x="188" y="199"/>
                  <a:pt x="188" y="199"/>
                </a:cubicBezTo>
                <a:cubicBezTo>
                  <a:pt x="188" y="164"/>
                  <a:pt x="188" y="164"/>
                  <a:pt x="188" y="164"/>
                </a:cubicBezTo>
                <a:cubicBezTo>
                  <a:pt x="228" y="181"/>
                  <a:pt x="228" y="181"/>
                  <a:pt x="228" y="181"/>
                </a:cubicBezTo>
                <a:cubicBezTo>
                  <a:pt x="232" y="183"/>
                  <a:pt x="236" y="181"/>
                  <a:pt x="240" y="177"/>
                </a:cubicBezTo>
                <a:cubicBezTo>
                  <a:pt x="316" y="209"/>
                  <a:pt x="316" y="209"/>
                  <a:pt x="316" y="209"/>
                </a:cubicBezTo>
                <a:cubicBezTo>
                  <a:pt x="323" y="213"/>
                  <a:pt x="335" y="202"/>
                  <a:pt x="341" y="186"/>
                </a:cubicBezTo>
                <a:cubicBezTo>
                  <a:pt x="348" y="170"/>
                  <a:pt x="348" y="154"/>
                  <a:pt x="340" y="151"/>
                </a:cubicBezTo>
                <a:close/>
                <a:moveTo>
                  <a:pt x="51" y="63"/>
                </a:moveTo>
                <a:cubicBezTo>
                  <a:pt x="43" y="82"/>
                  <a:pt x="29" y="95"/>
                  <a:pt x="20" y="91"/>
                </a:cubicBezTo>
                <a:cubicBezTo>
                  <a:pt x="11" y="88"/>
                  <a:pt x="11" y="69"/>
                  <a:pt x="19" y="49"/>
                </a:cubicBezTo>
                <a:cubicBezTo>
                  <a:pt x="27" y="30"/>
                  <a:pt x="41" y="17"/>
                  <a:pt x="50" y="21"/>
                </a:cubicBezTo>
                <a:cubicBezTo>
                  <a:pt x="59" y="25"/>
                  <a:pt x="60" y="44"/>
                  <a:pt x="51" y="6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38" name="Freeform 39"/>
          <p:cNvSpPr>
            <a:spLocks noEditPoints="1"/>
          </p:cNvSpPr>
          <p:nvPr userDrawn="1"/>
        </p:nvSpPr>
        <p:spPr bwMode="auto">
          <a:xfrm>
            <a:off x="9491162" y="2679974"/>
            <a:ext cx="274987" cy="189005"/>
          </a:xfrm>
          <a:custGeom>
            <a:avLst/>
            <a:gdLst>
              <a:gd name="T0" fmla="*/ 222 w 444"/>
              <a:gd name="T1" fmla="*/ 69 h 305"/>
              <a:gd name="T2" fmla="*/ 139 w 444"/>
              <a:gd name="T3" fmla="*/ 152 h 305"/>
              <a:gd name="T4" fmla="*/ 222 w 444"/>
              <a:gd name="T5" fmla="*/ 236 h 305"/>
              <a:gd name="T6" fmla="*/ 306 w 444"/>
              <a:gd name="T7" fmla="*/ 152 h 305"/>
              <a:gd name="T8" fmla="*/ 222 w 444"/>
              <a:gd name="T9" fmla="*/ 69 h 305"/>
              <a:gd name="T10" fmla="*/ 222 w 444"/>
              <a:gd name="T11" fmla="*/ 194 h 305"/>
              <a:gd name="T12" fmla="*/ 181 w 444"/>
              <a:gd name="T13" fmla="*/ 152 h 305"/>
              <a:gd name="T14" fmla="*/ 222 w 444"/>
              <a:gd name="T15" fmla="*/ 111 h 305"/>
              <a:gd name="T16" fmla="*/ 264 w 444"/>
              <a:gd name="T17" fmla="*/ 152 h 305"/>
              <a:gd name="T18" fmla="*/ 222 w 444"/>
              <a:gd name="T19" fmla="*/ 194 h 305"/>
              <a:gd name="T20" fmla="*/ 444 w 444"/>
              <a:gd name="T21" fmla="*/ 147 h 305"/>
              <a:gd name="T22" fmla="*/ 222 w 444"/>
              <a:gd name="T23" fmla="*/ 0 h 305"/>
              <a:gd name="T24" fmla="*/ 1 w 444"/>
              <a:gd name="T25" fmla="*/ 147 h 305"/>
              <a:gd name="T26" fmla="*/ 0 w 444"/>
              <a:gd name="T27" fmla="*/ 152 h 305"/>
              <a:gd name="T28" fmla="*/ 1 w 444"/>
              <a:gd name="T29" fmla="*/ 157 h 305"/>
              <a:gd name="T30" fmla="*/ 222 w 444"/>
              <a:gd name="T31" fmla="*/ 305 h 305"/>
              <a:gd name="T32" fmla="*/ 444 w 444"/>
              <a:gd name="T33" fmla="*/ 157 h 305"/>
              <a:gd name="T34" fmla="*/ 444 w 444"/>
              <a:gd name="T35" fmla="*/ 152 h 305"/>
              <a:gd name="T36" fmla="*/ 444 w 444"/>
              <a:gd name="T37" fmla="*/ 147 h 305"/>
              <a:gd name="T38" fmla="*/ 222 w 444"/>
              <a:gd name="T39" fmla="*/ 263 h 305"/>
              <a:gd name="T40" fmla="*/ 111 w 444"/>
              <a:gd name="T41" fmla="*/ 152 h 305"/>
              <a:gd name="T42" fmla="*/ 222 w 444"/>
              <a:gd name="T43" fmla="*/ 41 h 305"/>
              <a:gd name="T44" fmla="*/ 333 w 444"/>
              <a:gd name="T45" fmla="*/ 152 h 305"/>
              <a:gd name="T46" fmla="*/ 222 w 444"/>
              <a:gd name="T47" fmla="*/ 263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44" h="305">
                <a:moveTo>
                  <a:pt x="222" y="69"/>
                </a:moveTo>
                <a:cubicBezTo>
                  <a:pt x="176" y="69"/>
                  <a:pt x="139" y="106"/>
                  <a:pt x="139" y="152"/>
                </a:cubicBezTo>
                <a:cubicBezTo>
                  <a:pt x="139" y="198"/>
                  <a:pt x="176" y="236"/>
                  <a:pt x="222" y="236"/>
                </a:cubicBezTo>
                <a:cubicBezTo>
                  <a:pt x="268" y="236"/>
                  <a:pt x="306" y="198"/>
                  <a:pt x="306" y="152"/>
                </a:cubicBezTo>
                <a:cubicBezTo>
                  <a:pt x="306" y="106"/>
                  <a:pt x="268" y="69"/>
                  <a:pt x="222" y="69"/>
                </a:cubicBezTo>
                <a:close/>
                <a:moveTo>
                  <a:pt x="222" y="194"/>
                </a:moveTo>
                <a:cubicBezTo>
                  <a:pt x="199" y="194"/>
                  <a:pt x="181" y="175"/>
                  <a:pt x="181" y="152"/>
                </a:cubicBezTo>
                <a:cubicBezTo>
                  <a:pt x="181" y="129"/>
                  <a:pt x="199" y="111"/>
                  <a:pt x="222" y="111"/>
                </a:cubicBezTo>
                <a:cubicBezTo>
                  <a:pt x="245" y="111"/>
                  <a:pt x="264" y="129"/>
                  <a:pt x="264" y="152"/>
                </a:cubicBezTo>
                <a:cubicBezTo>
                  <a:pt x="264" y="175"/>
                  <a:pt x="245" y="194"/>
                  <a:pt x="222" y="194"/>
                </a:cubicBezTo>
                <a:close/>
                <a:moveTo>
                  <a:pt x="444" y="147"/>
                </a:moveTo>
                <a:cubicBezTo>
                  <a:pt x="410" y="59"/>
                  <a:pt x="320" y="0"/>
                  <a:pt x="222" y="0"/>
                </a:cubicBezTo>
                <a:cubicBezTo>
                  <a:pt x="125" y="0"/>
                  <a:pt x="35" y="59"/>
                  <a:pt x="1" y="147"/>
                </a:cubicBezTo>
                <a:cubicBezTo>
                  <a:pt x="1" y="149"/>
                  <a:pt x="0" y="151"/>
                  <a:pt x="0" y="152"/>
                </a:cubicBezTo>
                <a:cubicBezTo>
                  <a:pt x="0" y="154"/>
                  <a:pt x="1" y="156"/>
                  <a:pt x="1" y="157"/>
                </a:cubicBezTo>
                <a:cubicBezTo>
                  <a:pt x="35" y="245"/>
                  <a:pt x="125" y="305"/>
                  <a:pt x="222" y="305"/>
                </a:cubicBezTo>
                <a:cubicBezTo>
                  <a:pt x="320" y="305"/>
                  <a:pt x="410" y="245"/>
                  <a:pt x="444" y="157"/>
                </a:cubicBezTo>
                <a:cubicBezTo>
                  <a:pt x="444" y="156"/>
                  <a:pt x="444" y="154"/>
                  <a:pt x="444" y="152"/>
                </a:cubicBezTo>
                <a:cubicBezTo>
                  <a:pt x="444" y="151"/>
                  <a:pt x="444" y="149"/>
                  <a:pt x="444" y="147"/>
                </a:cubicBezTo>
                <a:close/>
                <a:moveTo>
                  <a:pt x="222" y="263"/>
                </a:moveTo>
                <a:cubicBezTo>
                  <a:pt x="161" y="263"/>
                  <a:pt x="111" y="214"/>
                  <a:pt x="111" y="152"/>
                </a:cubicBezTo>
                <a:cubicBezTo>
                  <a:pt x="111" y="91"/>
                  <a:pt x="161" y="41"/>
                  <a:pt x="222" y="41"/>
                </a:cubicBezTo>
                <a:cubicBezTo>
                  <a:pt x="284" y="41"/>
                  <a:pt x="333" y="91"/>
                  <a:pt x="333" y="152"/>
                </a:cubicBezTo>
                <a:cubicBezTo>
                  <a:pt x="333" y="214"/>
                  <a:pt x="284" y="263"/>
                  <a:pt x="222" y="26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87"/>
          <p:cNvSpPr>
            <a:spLocks noEditPoints="1"/>
          </p:cNvSpPr>
          <p:nvPr userDrawn="1"/>
        </p:nvSpPr>
        <p:spPr bwMode="auto">
          <a:xfrm>
            <a:off x="9487134" y="2186926"/>
            <a:ext cx="279823" cy="228797"/>
          </a:xfrm>
          <a:custGeom>
            <a:avLst/>
            <a:gdLst>
              <a:gd name="T0" fmla="*/ 245 w 257"/>
              <a:gd name="T1" fmla="*/ 58 h 210"/>
              <a:gd name="T2" fmla="*/ 40 w 257"/>
              <a:gd name="T3" fmla="*/ 3 h 210"/>
              <a:gd name="T4" fmla="*/ 20 w 257"/>
              <a:gd name="T5" fmla="*/ 14 h 210"/>
              <a:gd name="T6" fmla="*/ 18 w 257"/>
              <a:gd name="T7" fmla="*/ 20 h 210"/>
              <a:gd name="T8" fmla="*/ 30 w 257"/>
              <a:gd name="T9" fmla="*/ 40 h 210"/>
              <a:gd name="T10" fmla="*/ 109 w 257"/>
              <a:gd name="T11" fmla="*/ 61 h 210"/>
              <a:gd name="T12" fmla="*/ 121 w 257"/>
              <a:gd name="T13" fmla="*/ 79 h 210"/>
              <a:gd name="T14" fmla="*/ 133 w 257"/>
              <a:gd name="T15" fmla="*/ 97 h 210"/>
              <a:gd name="T16" fmla="*/ 208 w 257"/>
              <a:gd name="T17" fmla="*/ 117 h 210"/>
              <a:gd name="T18" fmla="*/ 233 w 257"/>
              <a:gd name="T19" fmla="*/ 108 h 210"/>
              <a:gd name="T20" fmla="*/ 252 w 257"/>
              <a:gd name="T21" fmla="*/ 76 h 210"/>
              <a:gd name="T22" fmla="*/ 245 w 257"/>
              <a:gd name="T23" fmla="*/ 58 h 210"/>
              <a:gd name="T24" fmla="*/ 107 w 257"/>
              <a:gd name="T25" fmla="*/ 76 h 210"/>
              <a:gd name="T26" fmla="*/ 106 w 257"/>
              <a:gd name="T27" fmla="*/ 75 h 210"/>
              <a:gd name="T28" fmla="*/ 26 w 257"/>
              <a:gd name="T29" fmla="*/ 54 h 210"/>
              <a:gd name="T30" fmla="*/ 22 w 257"/>
              <a:gd name="T31" fmla="*/ 52 h 210"/>
              <a:gd name="T32" fmla="*/ 11 w 257"/>
              <a:gd name="T33" fmla="*/ 92 h 210"/>
              <a:gd name="T34" fmla="*/ 23 w 257"/>
              <a:gd name="T35" fmla="*/ 112 h 210"/>
              <a:gd name="T36" fmla="*/ 80 w 257"/>
              <a:gd name="T37" fmla="*/ 127 h 210"/>
              <a:gd name="T38" fmla="*/ 80 w 257"/>
              <a:gd name="T39" fmla="*/ 160 h 210"/>
              <a:gd name="T40" fmla="*/ 25 w 257"/>
              <a:gd name="T41" fmla="*/ 160 h 210"/>
              <a:gd name="T42" fmla="*/ 25 w 257"/>
              <a:gd name="T43" fmla="*/ 134 h 210"/>
              <a:gd name="T44" fmla="*/ 0 w 257"/>
              <a:gd name="T45" fmla="*/ 134 h 210"/>
              <a:gd name="T46" fmla="*/ 0 w 257"/>
              <a:gd name="T47" fmla="*/ 210 h 210"/>
              <a:gd name="T48" fmla="*/ 25 w 257"/>
              <a:gd name="T49" fmla="*/ 210 h 210"/>
              <a:gd name="T50" fmla="*/ 25 w 257"/>
              <a:gd name="T51" fmla="*/ 189 h 210"/>
              <a:gd name="T52" fmla="*/ 92 w 257"/>
              <a:gd name="T53" fmla="*/ 183 h 210"/>
              <a:gd name="T54" fmla="*/ 103 w 257"/>
              <a:gd name="T55" fmla="*/ 172 h 210"/>
              <a:gd name="T56" fmla="*/ 103 w 257"/>
              <a:gd name="T57" fmla="*/ 134 h 210"/>
              <a:gd name="T58" fmla="*/ 165 w 257"/>
              <a:gd name="T59" fmla="*/ 150 h 210"/>
              <a:gd name="T60" fmla="*/ 185 w 257"/>
              <a:gd name="T61" fmla="*/ 139 h 210"/>
              <a:gd name="T62" fmla="*/ 188 w 257"/>
              <a:gd name="T63" fmla="*/ 127 h 210"/>
              <a:gd name="T64" fmla="*/ 130 w 257"/>
              <a:gd name="T65" fmla="*/ 111 h 210"/>
              <a:gd name="T66" fmla="*/ 107 w 257"/>
              <a:gd name="T67" fmla="*/ 7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7" h="210">
                <a:moveTo>
                  <a:pt x="245" y="58"/>
                </a:moveTo>
                <a:cubicBezTo>
                  <a:pt x="40" y="3"/>
                  <a:pt x="40" y="3"/>
                  <a:pt x="40" y="3"/>
                </a:cubicBezTo>
                <a:cubicBezTo>
                  <a:pt x="31" y="0"/>
                  <a:pt x="22" y="5"/>
                  <a:pt x="20" y="14"/>
                </a:cubicBezTo>
                <a:cubicBezTo>
                  <a:pt x="18" y="20"/>
                  <a:pt x="18" y="20"/>
                  <a:pt x="18" y="20"/>
                </a:cubicBezTo>
                <a:cubicBezTo>
                  <a:pt x="16" y="28"/>
                  <a:pt x="21" y="37"/>
                  <a:pt x="30" y="40"/>
                </a:cubicBezTo>
                <a:cubicBezTo>
                  <a:pt x="109" y="61"/>
                  <a:pt x="109" y="61"/>
                  <a:pt x="109" y="61"/>
                </a:cubicBezTo>
                <a:cubicBezTo>
                  <a:pt x="118" y="63"/>
                  <a:pt x="123" y="72"/>
                  <a:pt x="121" y="79"/>
                </a:cubicBezTo>
                <a:cubicBezTo>
                  <a:pt x="119" y="87"/>
                  <a:pt x="125" y="95"/>
                  <a:pt x="133" y="97"/>
                </a:cubicBezTo>
                <a:cubicBezTo>
                  <a:pt x="208" y="117"/>
                  <a:pt x="208" y="117"/>
                  <a:pt x="208" y="117"/>
                </a:cubicBezTo>
                <a:cubicBezTo>
                  <a:pt x="217" y="120"/>
                  <a:pt x="228" y="115"/>
                  <a:pt x="233" y="108"/>
                </a:cubicBezTo>
                <a:cubicBezTo>
                  <a:pt x="252" y="76"/>
                  <a:pt x="252" y="76"/>
                  <a:pt x="252" y="76"/>
                </a:cubicBezTo>
                <a:cubicBezTo>
                  <a:pt x="257" y="68"/>
                  <a:pt x="254" y="60"/>
                  <a:pt x="245" y="58"/>
                </a:cubicBezTo>
                <a:close/>
                <a:moveTo>
                  <a:pt x="107" y="76"/>
                </a:moveTo>
                <a:cubicBezTo>
                  <a:pt x="107" y="76"/>
                  <a:pt x="107" y="75"/>
                  <a:pt x="106" y="75"/>
                </a:cubicBezTo>
                <a:cubicBezTo>
                  <a:pt x="26" y="54"/>
                  <a:pt x="26" y="54"/>
                  <a:pt x="26" y="54"/>
                </a:cubicBezTo>
                <a:cubicBezTo>
                  <a:pt x="25" y="53"/>
                  <a:pt x="23" y="53"/>
                  <a:pt x="22" y="52"/>
                </a:cubicBezTo>
                <a:cubicBezTo>
                  <a:pt x="11" y="92"/>
                  <a:pt x="11" y="92"/>
                  <a:pt x="11" y="92"/>
                </a:cubicBezTo>
                <a:cubicBezTo>
                  <a:pt x="9" y="101"/>
                  <a:pt x="14" y="110"/>
                  <a:pt x="23" y="112"/>
                </a:cubicBezTo>
                <a:cubicBezTo>
                  <a:pt x="80" y="127"/>
                  <a:pt x="80" y="127"/>
                  <a:pt x="80" y="127"/>
                </a:cubicBezTo>
                <a:cubicBezTo>
                  <a:pt x="80" y="160"/>
                  <a:pt x="80" y="160"/>
                  <a:pt x="80" y="160"/>
                </a:cubicBezTo>
                <a:cubicBezTo>
                  <a:pt x="25" y="160"/>
                  <a:pt x="25" y="160"/>
                  <a:pt x="25" y="160"/>
                </a:cubicBezTo>
                <a:cubicBezTo>
                  <a:pt x="25" y="134"/>
                  <a:pt x="25" y="134"/>
                  <a:pt x="25" y="134"/>
                </a:cubicBezTo>
                <a:cubicBezTo>
                  <a:pt x="0" y="134"/>
                  <a:pt x="0" y="134"/>
                  <a:pt x="0" y="134"/>
                </a:cubicBezTo>
                <a:cubicBezTo>
                  <a:pt x="0" y="210"/>
                  <a:pt x="0" y="210"/>
                  <a:pt x="0" y="210"/>
                </a:cubicBezTo>
                <a:cubicBezTo>
                  <a:pt x="25" y="210"/>
                  <a:pt x="25" y="210"/>
                  <a:pt x="25" y="210"/>
                </a:cubicBezTo>
                <a:cubicBezTo>
                  <a:pt x="25" y="189"/>
                  <a:pt x="25" y="189"/>
                  <a:pt x="25" y="189"/>
                </a:cubicBezTo>
                <a:cubicBezTo>
                  <a:pt x="92" y="183"/>
                  <a:pt x="92" y="183"/>
                  <a:pt x="92" y="183"/>
                </a:cubicBezTo>
                <a:cubicBezTo>
                  <a:pt x="98" y="183"/>
                  <a:pt x="103" y="178"/>
                  <a:pt x="103" y="172"/>
                </a:cubicBezTo>
                <a:cubicBezTo>
                  <a:pt x="103" y="134"/>
                  <a:pt x="103" y="134"/>
                  <a:pt x="103" y="134"/>
                </a:cubicBezTo>
                <a:cubicBezTo>
                  <a:pt x="165" y="150"/>
                  <a:pt x="165" y="150"/>
                  <a:pt x="165" y="150"/>
                </a:cubicBezTo>
                <a:cubicBezTo>
                  <a:pt x="174" y="153"/>
                  <a:pt x="183" y="147"/>
                  <a:pt x="185" y="139"/>
                </a:cubicBezTo>
                <a:cubicBezTo>
                  <a:pt x="188" y="127"/>
                  <a:pt x="188" y="127"/>
                  <a:pt x="188" y="127"/>
                </a:cubicBezTo>
                <a:cubicBezTo>
                  <a:pt x="130" y="111"/>
                  <a:pt x="130" y="111"/>
                  <a:pt x="130" y="111"/>
                </a:cubicBezTo>
                <a:cubicBezTo>
                  <a:pt x="114" y="107"/>
                  <a:pt x="104" y="91"/>
                  <a:pt x="107" y="7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9"/>
          <p:cNvSpPr>
            <a:spLocks noEditPoints="1"/>
          </p:cNvSpPr>
          <p:nvPr userDrawn="1"/>
        </p:nvSpPr>
        <p:spPr bwMode="auto">
          <a:xfrm>
            <a:off x="9471833" y="3253536"/>
            <a:ext cx="298196" cy="229009"/>
          </a:xfrm>
          <a:custGeom>
            <a:avLst/>
            <a:gdLst>
              <a:gd name="T0" fmla="*/ 155 w 250"/>
              <a:gd name="T1" fmla="*/ 45 h 192"/>
              <a:gd name="T2" fmla="*/ 133 w 250"/>
              <a:gd name="T3" fmla="*/ 51 h 192"/>
              <a:gd name="T4" fmla="*/ 90 w 250"/>
              <a:gd name="T5" fmla="*/ 124 h 192"/>
              <a:gd name="T6" fmla="*/ 96 w 250"/>
              <a:gd name="T7" fmla="*/ 146 h 192"/>
              <a:gd name="T8" fmla="*/ 118 w 250"/>
              <a:gd name="T9" fmla="*/ 140 h 192"/>
              <a:gd name="T10" fmla="*/ 161 w 250"/>
              <a:gd name="T11" fmla="*/ 67 h 192"/>
              <a:gd name="T12" fmla="*/ 155 w 250"/>
              <a:gd name="T13" fmla="*/ 45 h 192"/>
              <a:gd name="T14" fmla="*/ 104 w 250"/>
              <a:gd name="T15" fmla="*/ 45 h 192"/>
              <a:gd name="T16" fmla="*/ 82 w 250"/>
              <a:gd name="T17" fmla="*/ 51 h 192"/>
              <a:gd name="T18" fmla="*/ 0 w 250"/>
              <a:gd name="T19" fmla="*/ 192 h 192"/>
              <a:gd name="T20" fmla="*/ 38 w 250"/>
              <a:gd name="T21" fmla="*/ 192 h 192"/>
              <a:gd name="T22" fmla="*/ 110 w 250"/>
              <a:gd name="T23" fmla="*/ 67 h 192"/>
              <a:gd name="T24" fmla="*/ 104 w 250"/>
              <a:gd name="T25" fmla="*/ 45 h 192"/>
              <a:gd name="T26" fmla="*/ 213 w 250"/>
              <a:gd name="T27" fmla="*/ 0 h 192"/>
              <a:gd name="T28" fmla="*/ 141 w 250"/>
              <a:gd name="T29" fmla="*/ 124 h 192"/>
              <a:gd name="T30" fmla="*/ 147 w 250"/>
              <a:gd name="T31" fmla="*/ 146 h 192"/>
              <a:gd name="T32" fmla="*/ 147 w 250"/>
              <a:gd name="T33" fmla="*/ 146 h 192"/>
              <a:gd name="T34" fmla="*/ 169 w 250"/>
              <a:gd name="T35" fmla="*/ 140 h 192"/>
              <a:gd name="T36" fmla="*/ 250 w 250"/>
              <a:gd name="T37" fmla="*/ 0 h 192"/>
              <a:gd name="T38" fmla="*/ 213 w 250"/>
              <a:gd name="T39" fmla="*/ 0 h 192"/>
              <a:gd name="T40" fmla="*/ 74 w 250"/>
              <a:gd name="T41" fmla="*/ 41 h 192"/>
              <a:gd name="T42" fmla="*/ 52 w 250"/>
              <a:gd name="T43" fmla="*/ 0 h 192"/>
              <a:gd name="T44" fmla="*/ 16 w 250"/>
              <a:gd name="T45" fmla="*/ 0 h 192"/>
              <a:gd name="T46" fmla="*/ 55 w 250"/>
              <a:gd name="T47" fmla="*/ 74 h 192"/>
              <a:gd name="T48" fmla="*/ 74 w 250"/>
              <a:gd name="T49" fmla="*/ 41 h 192"/>
              <a:gd name="T50" fmla="*/ 177 w 250"/>
              <a:gd name="T51" fmla="*/ 150 h 192"/>
              <a:gd name="T52" fmla="*/ 199 w 250"/>
              <a:gd name="T53" fmla="*/ 192 h 192"/>
              <a:gd name="T54" fmla="*/ 236 w 250"/>
              <a:gd name="T55" fmla="*/ 192 h 192"/>
              <a:gd name="T56" fmla="*/ 196 w 250"/>
              <a:gd name="T57" fmla="*/ 117 h 192"/>
              <a:gd name="T58" fmla="*/ 177 w 250"/>
              <a:gd name="T59" fmla="*/ 15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0" h="192">
                <a:moveTo>
                  <a:pt x="155" y="45"/>
                </a:moveTo>
                <a:cubicBezTo>
                  <a:pt x="147" y="41"/>
                  <a:pt x="137" y="43"/>
                  <a:pt x="133" y="51"/>
                </a:cubicBezTo>
                <a:cubicBezTo>
                  <a:pt x="90" y="124"/>
                  <a:pt x="90" y="124"/>
                  <a:pt x="90" y="124"/>
                </a:cubicBezTo>
                <a:cubicBezTo>
                  <a:pt x="86" y="132"/>
                  <a:pt x="89" y="142"/>
                  <a:pt x="96" y="146"/>
                </a:cubicBezTo>
                <a:cubicBezTo>
                  <a:pt x="104" y="150"/>
                  <a:pt x="114" y="148"/>
                  <a:pt x="118" y="140"/>
                </a:cubicBezTo>
                <a:cubicBezTo>
                  <a:pt x="161" y="67"/>
                  <a:pt x="161" y="67"/>
                  <a:pt x="161" y="67"/>
                </a:cubicBezTo>
                <a:cubicBezTo>
                  <a:pt x="165" y="60"/>
                  <a:pt x="162" y="50"/>
                  <a:pt x="155" y="45"/>
                </a:cubicBezTo>
                <a:close/>
                <a:moveTo>
                  <a:pt x="104" y="45"/>
                </a:moveTo>
                <a:cubicBezTo>
                  <a:pt x="96" y="41"/>
                  <a:pt x="86" y="43"/>
                  <a:pt x="82" y="51"/>
                </a:cubicBezTo>
                <a:cubicBezTo>
                  <a:pt x="0" y="192"/>
                  <a:pt x="0" y="192"/>
                  <a:pt x="0" y="192"/>
                </a:cubicBezTo>
                <a:cubicBezTo>
                  <a:pt x="38" y="192"/>
                  <a:pt x="38" y="192"/>
                  <a:pt x="38" y="192"/>
                </a:cubicBezTo>
                <a:cubicBezTo>
                  <a:pt x="110" y="67"/>
                  <a:pt x="110" y="67"/>
                  <a:pt x="110" y="67"/>
                </a:cubicBezTo>
                <a:cubicBezTo>
                  <a:pt x="114" y="60"/>
                  <a:pt x="111" y="50"/>
                  <a:pt x="104" y="45"/>
                </a:cubicBezTo>
                <a:close/>
                <a:moveTo>
                  <a:pt x="213" y="0"/>
                </a:moveTo>
                <a:cubicBezTo>
                  <a:pt x="141" y="124"/>
                  <a:pt x="141" y="124"/>
                  <a:pt x="141" y="124"/>
                </a:cubicBezTo>
                <a:cubicBezTo>
                  <a:pt x="137" y="132"/>
                  <a:pt x="139" y="142"/>
                  <a:pt x="147" y="146"/>
                </a:cubicBezTo>
                <a:cubicBezTo>
                  <a:pt x="147" y="146"/>
                  <a:pt x="147" y="146"/>
                  <a:pt x="147" y="146"/>
                </a:cubicBezTo>
                <a:cubicBezTo>
                  <a:pt x="155" y="151"/>
                  <a:pt x="165" y="148"/>
                  <a:pt x="169" y="140"/>
                </a:cubicBezTo>
                <a:cubicBezTo>
                  <a:pt x="250" y="0"/>
                  <a:pt x="250" y="0"/>
                  <a:pt x="250" y="0"/>
                </a:cubicBezTo>
                <a:lnTo>
                  <a:pt x="213" y="0"/>
                </a:lnTo>
                <a:close/>
                <a:moveTo>
                  <a:pt x="74" y="41"/>
                </a:moveTo>
                <a:cubicBezTo>
                  <a:pt x="52" y="0"/>
                  <a:pt x="52" y="0"/>
                  <a:pt x="52" y="0"/>
                </a:cubicBezTo>
                <a:cubicBezTo>
                  <a:pt x="16" y="0"/>
                  <a:pt x="16" y="0"/>
                  <a:pt x="16" y="0"/>
                </a:cubicBezTo>
                <a:cubicBezTo>
                  <a:pt x="55" y="74"/>
                  <a:pt x="55" y="74"/>
                  <a:pt x="55" y="74"/>
                </a:cubicBezTo>
                <a:lnTo>
                  <a:pt x="74" y="41"/>
                </a:lnTo>
                <a:close/>
                <a:moveTo>
                  <a:pt x="177" y="150"/>
                </a:moveTo>
                <a:cubicBezTo>
                  <a:pt x="199" y="192"/>
                  <a:pt x="199" y="192"/>
                  <a:pt x="199" y="192"/>
                </a:cubicBezTo>
                <a:cubicBezTo>
                  <a:pt x="236" y="192"/>
                  <a:pt x="236" y="192"/>
                  <a:pt x="236" y="192"/>
                </a:cubicBezTo>
                <a:cubicBezTo>
                  <a:pt x="196" y="117"/>
                  <a:pt x="196" y="117"/>
                  <a:pt x="196" y="117"/>
                </a:cubicBezTo>
                <a:lnTo>
                  <a:pt x="177" y="15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66" name="Freeform 33"/>
          <p:cNvSpPr>
            <a:spLocks noEditPoints="1"/>
          </p:cNvSpPr>
          <p:nvPr userDrawn="1"/>
        </p:nvSpPr>
        <p:spPr bwMode="auto">
          <a:xfrm>
            <a:off x="8852985" y="3758272"/>
            <a:ext cx="283665" cy="260835"/>
          </a:xfrm>
          <a:custGeom>
            <a:avLst/>
            <a:gdLst>
              <a:gd name="T0" fmla="*/ 192 w 238"/>
              <a:gd name="T1" fmla="*/ 183 h 219"/>
              <a:gd name="T2" fmla="*/ 46 w 238"/>
              <a:gd name="T3" fmla="*/ 183 h 219"/>
              <a:gd name="T4" fmla="*/ 28 w 238"/>
              <a:gd name="T5" fmla="*/ 201 h 219"/>
              <a:gd name="T6" fmla="*/ 28 w 238"/>
              <a:gd name="T7" fmla="*/ 219 h 219"/>
              <a:gd name="T8" fmla="*/ 211 w 238"/>
              <a:gd name="T9" fmla="*/ 219 h 219"/>
              <a:gd name="T10" fmla="*/ 211 w 238"/>
              <a:gd name="T11" fmla="*/ 201 h 219"/>
              <a:gd name="T12" fmla="*/ 192 w 238"/>
              <a:gd name="T13" fmla="*/ 183 h 219"/>
              <a:gd name="T14" fmla="*/ 55 w 238"/>
              <a:gd name="T15" fmla="*/ 164 h 219"/>
              <a:gd name="T16" fmla="*/ 183 w 238"/>
              <a:gd name="T17" fmla="*/ 164 h 219"/>
              <a:gd name="T18" fmla="*/ 183 w 238"/>
              <a:gd name="T19" fmla="*/ 119 h 219"/>
              <a:gd name="T20" fmla="*/ 119 w 238"/>
              <a:gd name="T21" fmla="*/ 54 h 219"/>
              <a:gd name="T22" fmla="*/ 55 w 238"/>
              <a:gd name="T23" fmla="*/ 119 h 219"/>
              <a:gd name="T24" fmla="*/ 55 w 238"/>
              <a:gd name="T25" fmla="*/ 164 h 219"/>
              <a:gd name="T26" fmla="*/ 119 w 238"/>
              <a:gd name="T27" fmla="*/ 73 h 219"/>
              <a:gd name="T28" fmla="*/ 128 w 238"/>
              <a:gd name="T29" fmla="*/ 82 h 219"/>
              <a:gd name="T30" fmla="*/ 119 w 238"/>
              <a:gd name="T31" fmla="*/ 91 h 219"/>
              <a:gd name="T32" fmla="*/ 91 w 238"/>
              <a:gd name="T33" fmla="*/ 119 h 219"/>
              <a:gd name="T34" fmla="*/ 82 w 238"/>
              <a:gd name="T35" fmla="*/ 128 h 219"/>
              <a:gd name="T36" fmla="*/ 73 w 238"/>
              <a:gd name="T37" fmla="*/ 119 h 219"/>
              <a:gd name="T38" fmla="*/ 119 w 238"/>
              <a:gd name="T39" fmla="*/ 73 h 219"/>
              <a:gd name="T40" fmla="*/ 119 w 238"/>
              <a:gd name="T41" fmla="*/ 45 h 219"/>
              <a:gd name="T42" fmla="*/ 128 w 238"/>
              <a:gd name="T43" fmla="*/ 36 h 219"/>
              <a:gd name="T44" fmla="*/ 128 w 238"/>
              <a:gd name="T45" fmla="*/ 9 h 219"/>
              <a:gd name="T46" fmla="*/ 119 w 238"/>
              <a:gd name="T47" fmla="*/ 0 h 219"/>
              <a:gd name="T48" fmla="*/ 110 w 238"/>
              <a:gd name="T49" fmla="*/ 9 h 219"/>
              <a:gd name="T50" fmla="*/ 110 w 238"/>
              <a:gd name="T51" fmla="*/ 36 h 219"/>
              <a:gd name="T52" fmla="*/ 119 w 238"/>
              <a:gd name="T53" fmla="*/ 45 h 219"/>
              <a:gd name="T54" fmla="*/ 55 w 238"/>
              <a:gd name="T55" fmla="*/ 67 h 219"/>
              <a:gd name="T56" fmla="*/ 68 w 238"/>
              <a:gd name="T57" fmla="*/ 67 h 219"/>
              <a:gd name="T58" fmla="*/ 68 w 238"/>
              <a:gd name="T59" fmla="*/ 54 h 219"/>
              <a:gd name="T60" fmla="*/ 48 w 238"/>
              <a:gd name="T61" fmla="*/ 34 h 219"/>
              <a:gd name="T62" fmla="*/ 35 w 238"/>
              <a:gd name="T63" fmla="*/ 34 h 219"/>
              <a:gd name="T64" fmla="*/ 35 w 238"/>
              <a:gd name="T65" fmla="*/ 34 h 219"/>
              <a:gd name="T66" fmla="*/ 35 w 238"/>
              <a:gd name="T67" fmla="*/ 47 h 219"/>
              <a:gd name="T68" fmla="*/ 55 w 238"/>
              <a:gd name="T69" fmla="*/ 67 h 219"/>
              <a:gd name="T70" fmla="*/ 46 w 238"/>
              <a:gd name="T71" fmla="*/ 118 h 219"/>
              <a:gd name="T72" fmla="*/ 37 w 238"/>
              <a:gd name="T73" fmla="*/ 109 h 219"/>
              <a:gd name="T74" fmla="*/ 10 w 238"/>
              <a:gd name="T75" fmla="*/ 109 h 219"/>
              <a:gd name="T76" fmla="*/ 0 w 238"/>
              <a:gd name="T77" fmla="*/ 118 h 219"/>
              <a:gd name="T78" fmla="*/ 0 w 238"/>
              <a:gd name="T79" fmla="*/ 118 h 219"/>
              <a:gd name="T80" fmla="*/ 10 w 238"/>
              <a:gd name="T81" fmla="*/ 127 h 219"/>
              <a:gd name="T82" fmla="*/ 37 w 238"/>
              <a:gd name="T83" fmla="*/ 127 h 219"/>
              <a:gd name="T84" fmla="*/ 46 w 238"/>
              <a:gd name="T85" fmla="*/ 118 h 219"/>
              <a:gd name="T86" fmla="*/ 229 w 238"/>
              <a:gd name="T87" fmla="*/ 109 h 219"/>
              <a:gd name="T88" fmla="*/ 201 w 238"/>
              <a:gd name="T89" fmla="*/ 109 h 219"/>
              <a:gd name="T90" fmla="*/ 192 w 238"/>
              <a:gd name="T91" fmla="*/ 118 h 219"/>
              <a:gd name="T92" fmla="*/ 201 w 238"/>
              <a:gd name="T93" fmla="*/ 127 h 219"/>
              <a:gd name="T94" fmla="*/ 229 w 238"/>
              <a:gd name="T95" fmla="*/ 127 h 219"/>
              <a:gd name="T96" fmla="*/ 238 w 238"/>
              <a:gd name="T97" fmla="*/ 118 h 219"/>
              <a:gd name="T98" fmla="*/ 229 w 238"/>
              <a:gd name="T99" fmla="*/ 109 h 219"/>
              <a:gd name="T100" fmla="*/ 184 w 238"/>
              <a:gd name="T101" fmla="*/ 67 h 219"/>
              <a:gd name="T102" fmla="*/ 203 w 238"/>
              <a:gd name="T103" fmla="*/ 47 h 219"/>
              <a:gd name="T104" fmla="*/ 203 w 238"/>
              <a:gd name="T105" fmla="*/ 34 h 219"/>
              <a:gd name="T106" fmla="*/ 190 w 238"/>
              <a:gd name="T107" fmla="*/ 34 h 219"/>
              <a:gd name="T108" fmla="*/ 171 w 238"/>
              <a:gd name="T109" fmla="*/ 54 h 219"/>
              <a:gd name="T110" fmla="*/ 171 w 238"/>
              <a:gd name="T111" fmla="*/ 67 h 219"/>
              <a:gd name="T112" fmla="*/ 184 w 238"/>
              <a:gd name="T113" fmla="*/ 6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8" h="219">
                <a:moveTo>
                  <a:pt x="192" y="183"/>
                </a:moveTo>
                <a:cubicBezTo>
                  <a:pt x="46" y="183"/>
                  <a:pt x="46" y="183"/>
                  <a:pt x="46" y="183"/>
                </a:cubicBezTo>
                <a:cubicBezTo>
                  <a:pt x="36" y="183"/>
                  <a:pt x="28" y="191"/>
                  <a:pt x="28" y="201"/>
                </a:cubicBezTo>
                <a:cubicBezTo>
                  <a:pt x="28" y="219"/>
                  <a:pt x="28" y="219"/>
                  <a:pt x="28" y="219"/>
                </a:cubicBezTo>
                <a:cubicBezTo>
                  <a:pt x="211" y="219"/>
                  <a:pt x="211" y="219"/>
                  <a:pt x="211" y="219"/>
                </a:cubicBezTo>
                <a:cubicBezTo>
                  <a:pt x="211" y="201"/>
                  <a:pt x="211" y="201"/>
                  <a:pt x="211" y="201"/>
                </a:cubicBezTo>
                <a:cubicBezTo>
                  <a:pt x="211" y="191"/>
                  <a:pt x="202" y="183"/>
                  <a:pt x="192" y="183"/>
                </a:cubicBezTo>
                <a:close/>
                <a:moveTo>
                  <a:pt x="55" y="164"/>
                </a:moveTo>
                <a:cubicBezTo>
                  <a:pt x="183" y="164"/>
                  <a:pt x="183" y="164"/>
                  <a:pt x="183" y="164"/>
                </a:cubicBezTo>
                <a:cubicBezTo>
                  <a:pt x="183" y="119"/>
                  <a:pt x="183" y="119"/>
                  <a:pt x="183" y="119"/>
                </a:cubicBezTo>
                <a:cubicBezTo>
                  <a:pt x="183" y="83"/>
                  <a:pt x="155" y="54"/>
                  <a:pt x="119" y="54"/>
                </a:cubicBezTo>
                <a:cubicBezTo>
                  <a:pt x="84" y="54"/>
                  <a:pt x="55" y="83"/>
                  <a:pt x="55" y="119"/>
                </a:cubicBezTo>
                <a:lnTo>
                  <a:pt x="55" y="164"/>
                </a:lnTo>
                <a:close/>
                <a:moveTo>
                  <a:pt x="119" y="73"/>
                </a:moveTo>
                <a:cubicBezTo>
                  <a:pt x="124" y="73"/>
                  <a:pt x="128" y="77"/>
                  <a:pt x="128" y="82"/>
                </a:cubicBezTo>
                <a:cubicBezTo>
                  <a:pt x="128" y="87"/>
                  <a:pt x="124" y="91"/>
                  <a:pt x="119" y="91"/>
                </a:cubicBezTo>
                <a:cubicBezTo>
                  <a:pt x="104" y="91"/>
                  <a:pt x="91" y="103"/>
                  <a:pt x="91" y="119"/>
                </a:cubicBezTo>
                <a:cubicBezTo>
                  <a:pt x="91" y="124"/>
                  <a:pt x="87" y="128"/>
                  <a:pt x="82" y="128"/>
                </a:cubicBezTo>
                <a:cubicBezTo>
                  <a:pt x="77" y="128"/>
                  <a:pt x="73" y="124"/>
                  <a:pt x="73" y="119"/>
                </a:cubicBezTo>
                <a:cubicBezTo>
                  <a:pt x="73" y="93"/>
                  <a:pt x="94" y="73"/>
                  <a:pt x="119" y="73"/>
                </a:cubicBezTo>
                <a:close/>
                <a:moveTo>
                  <a:pt x="119" y="45"/>
                </a:moveTo>
                <a:cubicBezTo>
                  <a:pt x="124" y="45"/>
                  <a:pt x="128" y="41"/>
                  <a:pt x="128" y="36"/>
                </a:cubicBezTo>
                <a:cubicBezTo>
                  <a:pt x="128" y="9"/>
                  <a:pt x="128" y="9"/>
                  <a:pt x="128" y="9"/>
                </a:cubicBezTo>
                <a:cubicBezTo>
                  <a:pt x="128" y="4"/>
                  <a:pt x="124" y="0"/>
                  <a:pt x="119" y="0"/>
                </a:cubicBezTo>
                <a:cubicBezTo>
                  <a:pt x="114" y="0"/>
                  <a:pt x="110" y="4"/>
                  <a:pt x="110" y="9"/>
                </a:cubicBezTo>
                <a:cubicBezTo>
                  <a:pt x="110" y="36"/>
                  <a:pt x="110" y="36"/>
                  <a:pt x="110" y="36"/>
                </a:cubicBezTo>
                <a:cubicBezTo>
                  <a:pt x="110" y="41"/>
                  <a:pt x="114" y="45"/>
                  <a:pt x="119" y="45"/>
                </a:cubicBezTo>
                <a:close/>
                <a:moveTo>
                  <a:pt x="55" y="67"/>
                </a:moveTo>
                <a:cubicBezTo>
                  <a:pt x="58" y="70"/>
                  <a:pt x="64" y="70"/>
                  <a:pt x="68" y="67"/>
                </a:cubicBezTo>
                <a:cubicBezTo>
                  <a:pt x="71" y="63"/>
                  <a:pt x="71" y="57"/>
                  <a:pt x="68" y="54"/>
                </a:cubicBezTo>
                <a:cubicBezTo>
                  <a:pt x="48" y="34"/>
                  <a:pt x="48" y="34"/>
                  <a:pt x="48" y="34"/>
                </a:cubicBezTo>
                <a:cubicBezTo>
                  <a:pt x="45" y="31"/>
                  <a:pt x="39" y="31"/>
                  <a:pt x="35" y="34"/>
                </a:cubicBezTo>
                <a:cubicBezTo>
                  <a:pt x="35" y="34"/>
                  <a:pt x="35" y="34"/>
                  <a:pt x="35" y="34"/>
                </a:cubicBezTo>
                <a:cubicBezTo>
                  <a:pt x="32" y="38"/>
                  <a:pt x="32" y="44"/>
                  <a:pt x="35" y="47"/>
                </a:cubicBezTo>
                <a:lnTo>
                  <a:pt x="55" y="67"/>
                </a:lnTo>
                <a:close/>
                <a:moveTo>
                  <a:pt x="46" y="118"/>
                </a:moveTo>
                <a:cubicBezTo>
                  <a:pt x="46" y="113"/>
                  <a:pt x="42" y="109"/>
                  <a:pt x="37" y="109"/>
                </a:cubicBezTo>
                <a:cubicBezTo>
                  <a:pt x="10" y="109"/>
                  <a:pt x="10" y="109"/>
                  <a:pt x="10" y="109"/>
                </a:cubicBezTo>
                <a:cubicBezTo>
                  <a:pt x="5" y="109"/>
                  <a:pt x="0" y="113"/>
                  <a:pt x="0" y="118"/>
                </a:cubicBezTo>
                <a:cubicBezTo>
                  <a:pt x="0" y="118"/>
                  <a:pt x="0" y="118"/>
                  <a:pt x="0" y="118"/>
                </a:cubicBezTo>
                <a:cubicBezTo>
                  <a:pt x="0" y="123"/>
                  <a:pt x="5" y="127"/>
                  <a:pt x="10" y="127"/>
                </a:cubicBezTo>
                <a:cubicBezTo>
                  <a:pt x="37" y="127"/>
                  <a:pt x="37" y="127"/>
                  <a:pt x="37" y="127"/>
                </a:cubicBezTo>
                <a:cubicBezTo>
                  <a:pt x="42" y="127"/>
                  <a:pt x="46" y="123"/>
                  <a:pt x="46" y="118"/>
                </a:cubicBezTo>
                <a:close/>
                <a:moveTo>
                  <a:pt x="229" y="109"/>
                </a:moveTo>
                <a:cubicBezTo>
                  <a:pt x="201" y="109"/>
                  <a:pt x="201" y="109"/>
                  <a:pt x="201" y="109"/>
                </a:cubicBezTo>
                <a:cubicBezTo>
                  <a:pt x="196" y="109"/>
                  <a:pt x="192" y="113"/>
                  <a:pt x="192" y="118"/>
                </a:cubicBezTo>
                <a:cubicBezTo>
                  <a:pt x="192" y="123"/>
                  <a:pt x="196" y="127"/>
                  <a:pt x="201" y="127"/>
                </a:cubicBezTo>
                <a:cubicBezTo>
                  <a:pt x="229" y="127"/>
                  <a:pt x="229" y="127"/>
                  <a:pt x="229" y="127"/>
                </a:cubicBezTo>
                <a:cubicBezTo>
                  <a:pt x="234" y="127"/>
                  <a:pt x="238" y="123"/>
                  <a:pt x="238" y="118"/>
                </a:cubicBezTo>
                <a:cubicBezTo>
                  <a:pt x="238" y="113"/>
                  <a:pt x="234" y="109"/>
                  <a:pt x="229" y="109"/>
                </a:cubicBezTo>
                <a:close/>
                <a:moveTo>
                  <a:pt x="184" y="67"/>
                </a:moveTo>
                <a:cubicBezTo>
                  <a:pt x="203" y="47"/>
                  <a:pt x="203" y="47"/>
                  <a:pt x="203" y="47"/>
                </a:cubicBezTo>
                <a:cubicBezTo>
                  <a:pt x="207" y="44"/>
                  <a:pt x="207" y="38"/>
                  <a:pt x="203" y="34"/>
                </a:cubicBezTo>
                <a:cubicBezTo>
                  <a:pt x="199" y="31"/>
                  <a:pt x="194" y="31"/>
                  <a:pt x="190" y="34"/>
                </a:cubicBezTo>
                <a:cubicBezTo>
                  <a:pt x="171" y="54"/>
                  <a:pt x="171" y="54"/>
                  <a:pt x="171" y="54"/>
                </a:cubicBezTo>
                <a:cubicBezTo>
                  <a:pt x="167" y="57"/>
                  <a:pt x="167" y="63"/>
                  <a:pt x="171" y="67"/>
                </a:cubicBezTo>
                <a:cubicBezTo>
                  <a:pt x="174" y="70"/>
                  <a:pt x="180" y="70"/>
                  <a:pt x="184" y="6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92" name="Group 691"/>
          <p:cNvGrpSpPr/>
          <p:nvPr userDrawn="1"/>
        </p:nvGrpSpPr>
        <p:grpSpPr>
          <a:xfrm>
            <a:off x="10298535" y="5064131"/>
            <a:ext cx="212961" cy="159995"/>
            <a:chOff x="9835213" y="4990763"/>
            <a:chExt cx="354739" cy="266510"/>
          </a:xfrm>
          <a:solidFill>
            <a:schemeClr val="tx1"/>
          </a:solidFill>
        </p:grpSpPr>
        <p:sp>
          <p:nvSpPr>
            <p:cNvPr id="625" name="Freeform 32"/>
            <p:cNvSpPr>
              <a:spLocks/>
            </p:cNvSpPr>
            <p:nvPr userDrawn="1"/>
          </p:nvSpPr>
          <p:spPr bwMode="auto">
            <a:xfrm>
              <a:off x="9835213" y="4990763"/>
              <a:ext cx="332834" cy="266510"/>
            </a:xfrm>
            <a:custGeom>
              <a:avLst/>
              <a:gdLst>
                <a:gd name="T0" fmla="*/ 39 w 391"/>
                <a:gd name="T1" fmla="*/ 0 h 313"/>
                <a:gd name="T2" fmla="*/ 352 w 391"/>
                <a:gd name="T3" fmla="*/ 0 h 313"/>
                <a:gd name="T4" fmla="*/ 391 w 391"/>
                <a:gd name="T5" fmla="*/ 39 h 313"/>
                <a:gd name="T6" fmla="*/ 391 w 391"/>
                <a:gd name="T7" fmla="*/ 65 h 313"/>
                <a:gd name="T8" fmla="*/ 267 w 391"/>
                <a:gd name="T9" fmla="*/ 65 h 313"/>
                <a:gd name="T10" fmla="*/ 182 w 391"/>
                <a:gd name="T11" fmla="*/ 150 h 313"/>
                <a:gd name="T12" fmla="*/ 267 w 391"/>
                <a:gd name="T13" fmla="*/ 235 h 313"/>
                <a:gd name="T14" fmla="*/ 391 w 391"/>
                <a:gd name="T15" fmla="*/ 235 h 313"/>
                <a:gd name="T16" fmla="*/ 391 w 391"/>
                <a:gd name="T17" fmla="*/ 274 h 313"/>
                <a:gd name="T18" fmla="*/ 352 w 391"/>
                <a:gd name="T19" fmla="*/ 313 h 313"/>
                <a:gd name="T20" fmla="*/ 39 w 391"/>
                <a:gd name="T21" fmla="*/ 313 h 313"/>
                <a:gd name="T22" fmla="*/ 0 w 391"/>
                <a:gd name="T23" fmla="*/ 274 h 313"/>
                <a:gd name="T24" fmla="*/ 0 w 391"/>
                <a:gd name="T25" fmla="*/ 39 h 313"/>
                <a:gd name="T26" fmla="*/ 39 w 391"/>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1" h="313">
                  <a:moveTo>
                    <a:pt x="39" y="0"/>
                  </a:moveTo>
                  <a:cubicBezTo>
                    <a:pt x="352" y="0"/>
                    <a:pt x="352" y="0"/>
                    <a:pt x="352" y="0"/>
                  </a:cubicBezTo>
                  <a:cubicBezTo>
                    <a:pt x="373" y="0"/>
                    <a:pt x="391" y="18"/>
                    <a:pt x="391" y="39"/>
                  </a:cubicBezTo>
                  <a:cubicBezTo>
                    <a:pt x="391" y="65"/>
                    <a:pt x="391" y="65"/>
                    <a:pt x="391" y="65"/>
                  </a:cubicBezTo>
                  <a:cubicBezTo>
                    <a:pt x="267" y="65"/>
                    <a:pt x="267" y="65"/>
                    <a:pt x="267" y="65"/>
                  </a:cubicBezTo>
                  <a:cubicBezTo>
                    <a:pt x="220" y="65"/>
                    <a:pt x="182" y="103"/>
                    <a:pt x="182" y="150"/>
                  </a:cubicBezTo>
                  <a:cubicBezTo>
                    <a:pt x="182" y="197"/>
                    <a:pt x="220" y="235"/>
                    <a:pt x="267" y="235"/>
                  </a:cubicBezTo>
                  <a:cubicBezTo>
                    <a:pt x="391" y="235"/>
                    <a:pt x="391" y="235"/>
                    <a:pt x="391" y="235"/>
                  </a:cubicBezTo>
                  <a:cubicBezTo>
                    <a:pt x="391" y="274"/>
                    <a:pt x="391" y="274"/>
                    <a:pt x="391" y="274"/>
                  </a:cubicBezTo>
                  <a:cubicBezTo>
                    <a:pt x="391" y="295"/>
                    <a:pt x="373" y="313"/>
                    <a:pt x="352" y="313"/>
                  </a:cubicBezTo>
                  <a:cubicBezTo>
                    <a:pt x="39" y="313"/>
                    <a:pt x="39" y="313"/>
                    <a:pt x="39" y="313"/>
                  </a:cubicBezTo>
                  <a:cubicBezTo>
                    <a:pt x="18" y="313"/>
                    <a:pt x="0" y="295"/>
                    <a:pt x="0" y="274"/>
                  </a:cubicBezTo>
                  <a:cubicBezTo>
                    <a:pt x="0" y="39"/>
                    <a:pt x="0" y="39"/>
                    <a:pt x="0" y="39"/>
                  </a:cubicBezTo>
                  <a:cubicBezTo>
                    <a:pt x="0" y="18"/>
                    <a:pt x="18" y="0"/>
                    <a:pt x="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6" name="Freeform 33"/>
            <p:cNvSpPr>
              <a:spLocks noEditPoints="1"/>
            </p:cNvSpPr>
            <p:nvPr userDrawn="1"/>
          </p:nvSpPr>
          <p:spPr bwMode="auto">
            <a:xfrm>
              <a:off x="10012278" y="5068039"/>
              <a:ext cx="177674" cy="100398"/>
            </a:xfrm>
            <a:custGeom>
              <a:avLst/>
              <a:gdLst>
                <a:gd name="T0" fmla="*/ 183 w 209"/>
                <a:gd name="T1" fmla="*/ 0 h 118"/>
                <a:gd name="T2" fmla="*/ 59 w 209"/>
                <a:gd name="T3" fmla="*/ 0 h 118"/>
                <a:gd name="T4" fmla="*/ 0 w 209"/>
                <a:gd name="T5" fmla="*/ 59 h 118"/>
                <a:gd name="T6" fmla="*/ 59 w 209"/>
                <a:gd name="T7" fmla="*/ 118 h 118"/>
                <a:gd name="T8" fmla="*/ 183 w 209"/>
                <a:gd name="T9" fmla="*/ 118 h 118"/>
                <a:gd name="T10" fmla="*/ 209 w 209"/>
                <a:gd name="T11" fmla="*/ 91 h 118"/>
                <a:gd name="T12" fmla="*/ 209 w 209"/>
                <a:gd name="T13" fmla="*/ 26 h 118"/>
                <a:gd name="T14" fmla="*/ 183 w 209"/>
                <a:gd name="T15" fmla="*/ 0 h 118"/>
                <a:gd name="T16" fmla="*/ 59 w 209"/>
                <a:gd name="T17" fmla="*/ 78 h 118"/>
                <a:gd name="T18" fmla="*/ 39 w 209"/>
                <a:gd name="T19" fmla="*/ 59 h 118"/>
                <a:gd name="T20" fmla="*/ 59 w 209"/>
                <a:gd name="T21" fmla="*/ 39 h 118"/>
                <a:gd name="T22" fmla="*/ 79 w 209"/>
                <a:gd name="T23" fmla="*/ 59 h 118"/>
                <a:gd name="T24" fmla="*/ 59 w 209"/>
                <a:gd name="T25" fmla="*/ 7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118">
                  <a:moveTo>
                    <a:pt x="183" y="0"/>
                  </a:moveTo>
                  <a:cubicBezTo>
                    <a:pt x="59" y="0"/>
                    <a:pt x="59" y="0"/>
                    <a:pt x="59" y="0"/>
                  </a:cubicBezTo>
                  <a:cubicBezTo>
                    <a:pt x="27" y="0"/>
                    <a:pt x="0" y="27"/>
                    <a:pt x="0" y="59"/>
                  </a:cubicBezTo>
                  <a:cubicBezTo>
                    <a:pt x="0" y="91"/>
                    <a:pt x="27" y="118"/>
                    <a:pt x="59" y="118"/>
                  </a:cubicBezTo>
                  <a:cubicBezTo>
                    <a:pt x="183" y="118"/>
                    <a:pt x="183" y="118"/>
                    <a:pt x="183" y="118"/>
                  </a:cubicBezTo>
                  <a:cubicBezTo>
                    <a:pt x="197" y="118"/>
                    <a:pt x="209" y="106"/>
                    <a:pt x="209" y="91"/>
                  </a:cubicBezTo>
                  <a:cubicBezTo>
                    <a:pt x="209" y="26"/>
                    <a:pt x="209" y="26"/>
                    <a:pt x="209" y="26"/>
                  </a:cubicBezTo>
                  <a:cubicBezTo>
                    <a:pt x="209" y="12"/>
                    <a:pt x="197" y="0"/>
                    <a:pt x="183" y="0"/>
                  </a:cubicBezTo>
                  <a:close/>
                  <a:moveTo>
                    <a:pt x="59" y="78"/>
                  </a:moveTo>
                  <a:cubicBezTo>
                    <a:pt x="48" y="78"/>
                    <a:pt x="39" y="70"/>
                    <a:pt x="39" y="59"/>
                  </a:cubicBezTo>
                  <a:cubicBezTo>
                    <a:pt x="39" y="48"/>
                    <a:pt x="48" y="39"/>
                    <a:pt x="59" y="39"/>
                  </a:cubicBezTo>
                  <a:cubicBezTo>
                    <a:pt x="70" y="39"/>
                    <a:pt x="79" y="48"/>
                    <a:pt x="79" y="59"/>
                  </a:cubicBezTo>
                  <a:cubicBezTo>
                    <a:pt x="79" y="70"/>
                    <a:pt x="70" y="78"/>
                    <a:pt x="59"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29" name="Freeform 51"/>
          <p:cNvSpPr>
            <a:spLocks noEditPoints="1"/>
          </p:cNvSpPr>
          <p:nvPr userDrawn="1"/>
        </p:nvSpPr>
        <p:spPr bwMode="auto">
          <a:xfrm>
            <a:off x="10295611" y="5531971"/>
            <a:ext cx="216472" cy="247068"/>
          </a:xfrm>
          <a:custGeom>
            <a:avLst/>
            <a:gdLst>
              <a:gd name="T0" fmla="*/ 177 w 354"/>
              <a:gd name="T1" fmla="*/ 0 h 404"/>
              <a:gd name="T2" fmla="*/ 196 w 354"/>
              <a:gd name="T3" fmla="*/ 19 h 404"/>
              <a:gd name="T4" fmla="*/ 177 w 354"/>
              <a:gd name="T5" fmla="*/ 38 h 404"/>
              <a:gd name="T6" fmla="*/ 88 w 354"/>
              <a:gd name="T7" fmla="*/ 70 h 404"/>
              <a:gd name="T8" fmla="*/ 88 w 354"/>
              <a:gd name="T9" fmla="*/ 70 h 404"/>
              <a:gd name="T10" fmla="*/ 70 w 354"/>
              <a:gd name="T11" fmla="*/ 88 h 404"/>
              <a:gd name="T12" fmla="*/ 70 w 354"/>
              <a:gd name="T13" fmla="*/ 88 h 404"/>
              <a:gd name="T14" fmla="*/ 38 w 354"/>
              <a:gd name="T15" fmla="*/ 177 h 404"/>
              <a:gd name="T16" fmla="*/ 79 w 354"/>
              <a:gd name="T17" fmla="*/ 275 h 404"/>
              <a:gd name="T18" fmla="*/ 177 w 354"/>
              <a:gd name="T19" fmla="*/ 316 h 404"/>
              <a:gd name="T20" fmla="*/ 266 w 354"/>
              <a:gd name="T21" fmla="*/ 284 h 404"/>
              <a:gd name="T22" fmla="*/ 266 w 354"/>
              <a:gd name="T23" fmla="*/ 284 h 404"/>
              <a:gd name="T24" fmla="*/ 284 w 354"/>
              <a:gd name="T25" fmla="*/ 266 h 404"/>
              <a:gd name="T26" fmla="*/ 284 w 354"/>
              <a:gd name="T27" fmla="*/ 266 h 404"/>
              <a:gd name="T28" fmla="*/ 316 w 354"/>
              <a:gd name="T29" fmla="*/ 177 h 404"/>
              <a:gd name="T30" fmla="*/ 335 w 354"/>
              <a:gd name="T31" fmla="*/ 158 h 404"/>
              <a:gd name="T32" fmla="*/ 354 w 354"/>
              <a:gd name="T33" fmla="*/ 177 h 404"/>
              <a:gd name="T34" fmla="*/ 311 w 354"/>
              <a:gd name="T35" fmla="*/ 293 h 404"/>
              <a:gd name="T36" fmla="*/ 325 w 354"/>
              <a:gd name="T37" fmla="*/ 307 h 404"/>
              <a:gd name="T38" fmla="*/ 325 w 354"/>
              <a:gd name="T39" fmla="*/ 325 h 404"/>
              <a:gd name="T40" fmla="*/ 307 w 354"/>
              <a:gd name="T41" fmla="*/ 325 h 404"/>
              <a:gd name="T42" fmla="*/ 293 w 354"/>
              <a:gd name="T43" fmla="*/ 311 h 404"/>
              <a:gd name="T44" fmla="*/ 196 w 354"/>
              <a:gd name="T45" fmla="*/ 353 h 404"/>
              <a:gd name="T46" fmla="*/ 196 w 354"/>
              <a:gd name="T47" fmla="*/ 366 h 404"/>
              <a:gd name="T48" fmla="*/ 246 w 354"/>
              <a:gd name="T49" fmla="*/ 366 h 404"/>
              <a:gd name="T50" fmla="*/ 265 w 354"/>
              <a:gd name="T51" fmla="*/ 385 h 404"/>
              <a:gd name="T52" fmla="*/ 246 w 354"/>
              <a:gd name="T53" fmla="*/ 404 h 404"/>
              <a:gd name="T54" fmla="*/ 107 w 354"/>
              <a:gd name="T55" fmla="*/ 404 h 404"/>
              <a:gd name="T56" fmla="*/ 89 w 354"/>
              <a:gd name="T57" fmla="*/ 385 h 404"/>
              <a:gd name="T58" fmla="*/ 107 w 354"/>
              <a:gd name="T59" fmla="*/ 366 h 404"/>
              <a:gd name="T60" fmla="*/ 158 w 354"/>
              <a:gd name="T61" fmla="*/ 366 h 404"/>
              <a:gd name="T62" fmla="*/ 158 w 354"/>
              <a:gd name="T63" fmla="*/ 353 h 404"/>
              <a:gd name="T64" fmla="*/ 52 w 354"/>
              <a:gd name="T65" fmla="*/ 302 h 404"/>
              <a:gd name="T66" fmla="*/ 0 w 354"/>
              <a:gd name="T67" fmla="*/ 177 h 404"/>
              <a:gd name="T68" fmla="*/ 43 w 354"/>
              <a:gd name="T69" fmla="*/ 61 h 404"/>
              <a:gd name="T70" fmla="*/ 29 w 354"/>
              <a:gd name="T71" fmla="*/ 47 h 404"/>
              <a:gd name="T72" fmla="*/ 29 w 354"/>
              <a:gd name="T73" fmla="*/ 29 h 404"/>
              <a:gd name="T74" fmla="*/ 47 w 354"/>
              <a:gd name="T75" fmla="*/ 29 h 404"/>
              <a:gd name="T76" fmla="*/ 61 w 354"/>
              <a:gd name="T77" fmla="*/ 43 h 404"/>
              <a:gd name="T78" fmla="*/ 177 w 354"/>
              <a:gd name="T79" fmla="*/ 0 h 404"/>
              <a:gd name="T80" fmla="*/ 177 w 354"/>
              <a:gd name="T81" fmla="*/ 63 h 404"/>
              <a:gd name="T82" fmla="*/ 63 w 354"/>
              <a:gd name="T83" fmla="*/ 177 h 404"/>
              <a:gd name="T84" fmla="*/ 177 w 354"/>
              <a:gd name="T85" fmla="*/ 291 h 404"/>
              <a:gd name="T86" fmla="*/ 291 w 354"/>
              <a:gd name="T87" fmla="*/ 177 h 404"/>
              <a:gd name="T88" fmla="*/ 177 w 354"/>
              <a:gd name="T89" fmla="*/ 6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54" h="404">
                <a:moveTo>
                  <a:pt x="177" y="0"/>
                </a:moveTo>
                <a:cubicBezTo>
                  <a:pt x="187" y="0"/>
                  <a:pt x="196" y="9"/>
                  <a:pt x="196" y="19"/>
                </a:cubicBezTo>
                <a:cubicBezTo>
                  <a:pt x="196" y="30"/>
                  <a:pt x="187" y="38"/>
                  <a:pt x="177" y="38"/>
                </a:cubicBezTo>
                <a:cubicBezTo>
                  <a:pt x="143" y="38"/>
                  <a:pt x="112" y="50"/>
                  <a:pt x="88" y="70"/>
                </a:cubicBezTo>
                <a:cubicBezTo>
                  <a:pt x="88" y="70"/>
                  <a:pt x="88" y="70"/>
                  <a:pt x="88" y="70"/>
                </a:cubicBezTo>
                <a:cubicBezTo>
                  <a:pt x="82" y="76"/>
                  <a:pt x="76" y="82"/>
                  <a:pt x="70" y="88"/>
                </a:cubicBezTo>
                <a:cubicBezTo>
                  <a:pt x="70" y="88"/>
                  <a:pt x="70" y="88"/>
                  <a:pt x="70" y="88"/>
                </a:cubicBezTo>
                <a:cubicBezTo>
                  <a:pt x="50" y="112"/>
                  <a:pt x="38" y="143"/>
                  <a:pt x="38" y="177"/>
                </a:cubicBezTo>
                <a:cubicBezTo>
                  <a:pt x="38" y="215"/>
                  <a:pt x="54" y="250"/>
                  <a:pt x="79" y="275"/>
                </a:cubicBezTo>
                <a:cubicBezTo>
                  <a:pt x="104" y="300"/>
                  <a:pt x="139" y="316"/>
                  <a:pt x="177" y="316"/>
                </a:cubicBezTo>
                <a:cubicBezTo>
                  <a:pt x="211" y="316"/>
                  <a:pt x="242" y="304"/>
                  <a:pt x="266" y="284"/>
                </a:cubicBezTo>
                <a:cubicBezTo>
                  <a:pt x="266" y="284"/>
                  <a:pt x="266" y="284"/>
                  <a:pt x="266" y="284"/>
                </a:cubicBezTo>
                <a:cubicBezTo>
                  <a:pt x="272" y="278"/>
                  <a:pt x="278" y="272"/>
                  <a:pt x="284" y="266"/>
                </a:cubicBezTo>
                <a:cubicBezTo>
                  <a:pt x="284" y="266"/>
                  <a:pt x="284" y="266"/>
                  <a:pt x="284" y="266"/>
                </a:cubicBezTo>
                <a:cubicBezTo>
                  <a:pt x="304" y="242"/>
                  <a:pt x="316" y="211"/>
                  <a:pt x="316" y="177"/>
                </a:cubicBezTo>
                <a:cubicBezTo>
                  <a:pt x="316" y="166"/>
                  <a:pt x="324" y="158"/>
                  <a:pt x="335" y="158"/>
                </a:cubicBezTo>
                <a:cubicBezTo>
                  <a:pt x="345" y="158"/>
                  <a:pt x="354" y="166"/>
                  <a:pt x="354" y="177"/>
                </a:cubicBezTo>
                <a:cubicBezTo>
                  <a:pt x="354" y="221"/>
                  <a:pt x="337" y="262"/>
                  <a:pt x="311" y="293"/>
                </a:cubicBezTo>
                <a:cubicBezTo>
                  <a:pt x="325" y="307"/>
                  <a:pt x="325" y="307"/>
                  <a:pt x="325" y="307"/>
                </a:cubicBezTo>
                <a:cubicBezTo>
                  <a:pt x="330" y="312"/>
                  <a:pt x="330" y="320"/>
                  <a:pt x="325" y="325"/>
                </a:cubicBezTo>
                <a:cubicBezTo>
                  <a:pt x="320" y="330"/>
                  <a:pt x="312" y="330"/>
                  <a:pt x="307" y="325"/>
                </a:cubicBezTo>
                <a:cubicBezTo>
                  <a:pt x="293" y="311"/>
                  <a:pt x="293" y="311"/>
                  <a:pt x="293" y="311"/>
                </a:cubicBezTo>
                <a:cubicBezTo>
                  <a:pt x="266" y="334"/>
                  <a:pt x="233" y="349"/>
                  <a:pt x="196" y="353"/>
                </a:cubicBezTo>
                <a:cubicBezTo>
                  <a:pt x="196" y="366"/>
                  <a:pt x="196" y="366"/>
                  <a:pt x="196" y="366"/>
                </a:cubicBezTo>
                <a:cubicBezTo>
                  <a:pt x="246" y="366"/>
                  <a:pt x="246" y="366"/>
                  <a:pt x="246" y="366"/>
                </a:cubicBezTo>
                <a:cubicBezTo>
                  <a:pt x="257" y="366"/>
                  <a:pt x="265" y="375"/>
                  <a:pt x="265" y="385"/>
                </a:cubicBezTo>
                <a:cubicBezTo>
                  <a:pt x="265" y="396"/>
                  <a:pt x="257" y="404"/>
                  <a:pt x="246" y="404"/>
                </a:cubicBezTo>
                <a:cubicBezTo>
                  <a:pt x="107" y="404"/>
                  <a:pt x="107" y="404"/>
                  <a:pt x="107" y="404"/>
                </a:cubicBezTo>
                <a:cubicBezTo>
                  <a:pt x="97" y="404"/>
                  <a:pt x="89" y="396"/>
                  <a:pt x="89" y="385"/>
                </a:cubicBezTo>
                <a:cubicBezTo>
                  <a:pt x="89" y="375"/>
                  <a:pt x="97" y="366"/>
                  <a:pt x="107" y="366"/>
                </a:cubicBezTo>
                <a:cubicBezTo>
                  <a:pt x="158" y="366"/>
                  <a:pt x="158" y="366"/>
                  <a:pt x="158" y="366"/>
                </a:cubicBezTo>
                <a:cubicBezTo>
                  <a:pt x="158" y="353"/>
                  <a:pt x="158" y="353"/>
                  <a:pt x="158" y="353"/>
                </a:cubicBezTo>
                <a:cubicBezTo>
                  <a:pt x="117" y="348"/>
                  <a:pt x="80" y="330"/>
                  <a:pt x="52" y="302"/>
                </a:cubicBezTo>
                <a:cubicBezTo>
                  <a:pt x="20" y="270"/>
                  <a:pt x="0" y="226"/>
                  <a:pt x="0" y="177"/>
                </a:cubicBezTo>
                <a:cubicBezTo>
                  <a:pt x="0" y="133"/>
                  <a:pt x="16" y="92"/>
                  <a:pt x="43" y="61"/>
                </a:cubicBezTo>
                <a:cubicBezTo>
                  <a:pt x="29" y="47"/>
                  <a:pt x="29" y="47"/>
                  <a:pt x="29" y="47"/>
                </a:cubicBezTo>
                <a:cubicBezTo>
                  <a:pt x="24" y="42"/>
                  <a:pt x="24" y="34"/>
                  <a:pt x="29" y="29"/>
                </a:cubicBezTo>
                <a:cubicBezTo>
                  <a:pt x="34" y="24"/>
                  <a:pt x="42" y="24"/>
                  <a:pt x="47" y="29"/>
                </a:cubicBezTo>
                <a:cubicBezTo>
                  <a:pt x="61" y="43"/>
                  <a:pt x="61" y="43"/>
                  <a:pt x="61" y="43"/>
                </a:cubicBezTo>
                <a:cubicBezTo>
                  <a:pt x="92" y="16"/>
                  <a:pt x="133" y="0"/>
                  <a:pt x="177" y="0"/>
                </a:cubicBezTo>
                <a:close/>
                <a:moveTo>
                  <a:pt x="177" y="63"/>
                </a:moveTo>
                <a:cubicBezTo>
                  <a:pt x="114" y="63"/>
                  <a:pt x="63" y="114"/>
                  <a:pt x="63" y="177"/>
                </a:cubicBezTo>
                <a:cubicBezTo>
                  <a:pt x="63" y="240"/>
                  <a:pt x="114" y="291"/>
                  <a:pt x="177" y="291"/>
                </a:cubicBezTo>
                <a:cubicBezTo>
                  <a:pt x="240" y="291"/>
                  <a:pt x="291" y="240"/>
                  <a:pt x="291" y="177"/>
                </a:cubicBezTo>
                <a:cubicBezTo>
                  <a:pt x="291" y="114"/>
                  <a:pt x="240" y="63"/>
                  <a:pt x="177" y="6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1" name="Freeform 6"/>
          <p:cNvSpPr>
            <a:spLocks noEditPoints="1"/>
          </p:cNvSpPr>
          <p:nvPr userDrawn="1"/>
        </p:nvSpPr>
        <p:spPr bwMode="auto">
          <a:xfrm>
            <a:off x="9601629" y="6720584"/>
            <a:ext cx="218360" cy="217822"/>
          </a:xfrm>
          <a:custGeom>
            <a:avLst/>
            <a:gdLst>
              <a:gd name="T0" fmla="*/ 457 w 457"/>
              <a:gd name="T1" fmla="*/ 28 h 456"/>
              <a:gd name="T2" fmla="*/ 457 w 457"/>
              <a:gd name="T3" fmla="*/ 200 h 456"/>
              <a:gd name="T4" fmla="*/ 457 w 457"/>
              <a:gd name="T5" fmla="*/ 200 h 456"/>
              <a:gd name="T6" fmla="*/ 448 w 457"/>
              <a:gd name="T7" fmla="*/ 220 h 456"/>
              <a:gd name="T8" fmla="*/ 220 w 457"/>
              <a:gd name="T9" fmla="*/ 448 h 456"/>
              <a:gd name="T10" fmla="*/ 200 w 457"/>
              <a:gd name="T11" fmla="*/ 456 h 456"/>
              <a:gd name="T12" fmla="*/ 180 w 457"/>
              <a:gd name="T13" fmla="*/ 448 h 456"/>
              <a:gd name="T14" fmla="*/ 9 w 457"/>
              <a:gd name="T15" fmla="*/ 277 h 456"/>
              <a:gd name="T16" fmla="*/ 0 w 457"/>
              <a:gd name="T17" fmla="*/ 257 h 456"/>
              <a:gd name="T18" fmla="*/ 9 w 457"/>
              <a:gd name="T19" fmla="*/ 237 h 456"/>
              <a:gd name="T20" fmla="*/ 237 w 457"/>
              <a:gd name="T21" fmla="*/ 8 h 456"/>
              <a:gd name="T22" fmla="*/ 257 w 457"/>
              <a:gd name="T23" fmla="*/ 0 h 456"/>
              <a:gd name="T24" fmla="*/ 428 w 457"/>
              <a:gd name="T25" fmla="*/ 0 h 456"/>
              <a:gd name="T26" fmla="*/ 457 w 457"/>
              <a:gd name="T27" fmla="*/ 28 h 456"/>
              <a:gd name="T28" fmla="*/ 385 w 457"/>
              <a:gd name="T29" fmla="*/ 100 h 456"/>
              <a:gd name="T30" fmla="*/ 414 w 457"/>
              <a:gd name="T31" fmla="*/ 71 h 456"/>
              <a:gd name="T32" fmla="*/ 385 w 457"/>
              <a:gd name="T33" fmla="*/ 43 h 456"/>
              <a:gd name="T34" fmla="*/ 357 w 457"/>
              <a:gd name="T35" fmla="*/ 71 h 456"/>
              <a:gd name="T36" fmla="*/ 385 w 457"/>
              <a:gd name="T37" fmla="*/ 10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7" h="456">
                <a:moveTo>
                  <a:pt x="457" y="28"/>
                </a:moveTo>
                <a:cubicBezTo>
                  <a:pt x="457" y="200"/>
                  <a:pt x="457" y="200"/>
                  <a:pt x="457" y="200"/>
                </a:cubicBezTo>
                <a:cubicBezTo>
                  <a:pt x="457" y="200"/>
                  <a:pt x="457" y="200"/>
                  <a:pt x="457" y="200"/>
                </a:cubicBezTo>
                <a:cubicBezTo>
                  <a:pt x="457" y="207"/>
                  <a:pt x="454" y="214"/>
                  <a:pt x="448" y="220"/>
                </a:cubicBezTo>
                <a:cubicBezTo>
                  <a:pt x="220" y="448"/>
                  <a:pt x="220" y="448"/>
                  <a:pt x="220" y="448"/>
                </a:cubicBezTo>
                <a:cubicBezTo>
                  <a:pt x="215" y="454"/>
                  <a:pt x="207" y="456"/>
                  <a:pt x="200" y="456"/>
                </a:cubicBezTo>
                <a:cubicBezTo>
                  <a:pt x="193" y="456"/>
                  <a:pt x="185" y="454"/>
                  <a:pt x="180" y="448"/>
                </a:cubicBezTo>
                <a:cubicBezTo>
                  <a:pt x="9" y="277"/>
                  <a:pt x="9" y="277"/>
                  <a:pt x="9" y="277"/>
                </a:cubicBezTo>
                <a:cubicBezTo>
                  <a:pt x="3" y="271"/>
                  <a:pt x="0" y="264"/>
                  <a:pt x="0" y="257"/>
                </a:cubicBezTo>
                <a:cubicBezTo>
                  <a:pt x="0" y="249"/>
                  <a:pt x="3" y="242"/>
                  <a:pt x="9" y="237"/>
                </a:cubicBezTo>
                <a:cubicBezTo>
                  <a:pt x="237" y="8"/>
                  <a:pt x="237" y="8"/>
                  <a:pt x="237" y="8"/>
                </a:cubicBezTo>
                <a:cubicBezTo>
                  <a:pt x="242" y="3"/>
                  <a:pt x="249" y="0"/>
                  <a:pt x="257" y="0"/>
                </a:cubicBezTo>
                <a:cubicBezTo>
                  <a:pt x="428" y="0"/>
                  <a:pt x="428" y="0"/>
                  <a:pt x="428" y="0"/>
                </a:cubicBezTo>
                <a:cubicBezTo>
                  <a:pt x="444" y="0"/>
                  <a:pt x="457" y="13"/>
                  <a:pt x="457" y="28"/>
                </a:cubicBezTo>
                <a:close/>
                <a:moveTo>
                  <a:pt x="385" y="100"/>
                </a:moveTo>
                <a:cubicBezTo>
                  <a:pt x="401" y="100"/>
                  <a:pt x="414" y="87"/>
                  <a:pt x="414" y="71"/>
                </a:cubicBezTo>
                <a:cubicBezTo>
                  <a:pt x="414" y="55"/>
                  <a:pt x="401" y="43"/>
                  <a:pt x="385" y="43"/>
                </a:cubicBezTo>
                <a:cubicBezTo>
                  <a:pt x="370" y="43"/>
                  <a:pt x="357" y="55"/>
                  <a:pt x="357" y="71"/>
                </a:cubicBezTo>
                <a:cubicBezTo>
                  <a:pt x="357" y="87"/>
                  <a:pt x="370" y="100"/>
                  <a:pt x="385" y="10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7" name="Freeform 6"/>
          <p:cNvSpPr>
            <a:spLocks noEditPoints="1"/>
          </p:cNvSpPr>
          <p:nvPr userDrawn="1"/>
        </p:nvSpPr>
        <p:spPr bwMode="auto">
          <a:xfrm>
            <a:off x="10279962" y="6121000"/>
            <a:ext cx="235259" cy="234884"/>
          </a:xfrm>
          <a:custGeom>
            <a:avLst/>
            <a:gdLst>
              <a:gd name="T0" fmla="*/ 0 w 313"/>
              <a:gd name="T1" fmla="*/ 156 h 312"/>
              <a:gd name="T2" fmla="*/ 313 w 313"/>
              <a:gd name="T3" fmla="*/ 156 h 312"/>
              <a:gd name="T4" fmla="*/ 165 w 313"/>
              <a:gd name="T5" fmla="*/ 183 h 312"/>
              <a:gd name="T6" fmla="*/ 143 w 313"/>
              <a:gd name="T7" fmla="*/ 180 h 312"/>
              <a:gd name="T8" fmla="*/ 114 w 313"/>
              <a:gd name="T9" fmla="*/ 178 h 312"/>
              <a:gd name="T10" fmla="*/ 100 w 313"/>
              <a:gd name="T11" fmla="*/ 186 h 312"/>
              <a:gd name="T12" fmla="*/ 82 w 313"/>
              <a:gd name="T13" fmla="*/ 174 h 312"/>
              <a:gd name="T14" fmla="*/ 80 w 313"/>
              <a:gd name="T15" fmla="*/ 160 h 312"/>
              <a:gd name="T16" fmla="*/ 101 w 313"/>
              <a:gd name="T17" fmla="*/ 153 h 312"/>
              <a:gd name="T18" fmla="*/ 109 w 313"/>
              <a:gd name="T19" fmla="*/ 148 h 312"/>
              <a:gd name="T20" fmla="*/ 111 w 313"/>
              <a:gd name="T21" fmla="*/ 131 h 312"/>
              <a:gd name="T22" fmla="*/ 114 w 313"/>
              <a:gd name="T23" fmla="*/ 111 h 312"/>
              <a:gd name="T24" fmla="*/ 116 w 313"/>
              <a:gd name="T25" fmla="*/ 93 h 312"/>
              <a:gd name="T26" fmla="*/ 120 w 313"/>
              <a:gd name="T27" fmla="*/ 79 h 312"/>
              <a:gd name="T28" fmla="*/ 95 w 313"/>
              <a:gd name="T29" fmla="*/ 80 h 312"/>
              <a:gd name="T30" fmla="*/ 80 w 313"/>
              <a:gd name="T31" fmla="*/ 91 h 312"/>
              <a:gd name="T32" fmla="*/ 84 w 313"/>
              <a:gd name="T33" fmla="*/ 75 h 312"/>
              <a:gd name="T34" fmla="*/ 89 w 313"/>
              <a:gd name="T35" fmla="*/ 68 h 312"/>
              <a:gd name="T36" fmla="*/ 99 w 313"/>
              <a:gd name="T37" fmla="*/ 59 h 312"/>
              <a:gd name="T38" fmla="*/ 113 w 313"/>
              <a:gd name="T39" fmla="*/ 59 h 312"/>
              <a:gd name="T40" fmla="*/ 123 w 313"/>
              <a:gd name="T41" fmla="*/ 42 h 312"/>
              <a:gd name="T42" fmla="*/ 142 w 313"/>
              <a:gd name="T43" fmla="*/ 47 h 312"/>
              <a:gd name="T44" fmla="*/ 156 w 313"/>
              <a:gd name="T45" fmla="*/ 54 h 312"/>
              <a:gd name="T46" fmla="*/ 162 w 313"/>
              <a:gd name="T47" fmla="*/ 46 h 312"/>
              <a:gd name="T48" fmla="*/ 151 w 313"/>
              <a:gd name="T49" fmla="*/ 37 h 312"/>
              <a:gd name="T50" fmla="*/ 172 w 313"/>
              <a:gd name="T51" fmla="*/ 38 h 312"/>
              <a:gd name="T52" fmla="*/ 170 w 313"/>
              <a:gd name="T53" fmla="*/ 57 h 312"/>
              <a:gd name="T54" fmla="*/ 168 w 313"/>
              <a:gd name="T55" fmla="*/ 71 h 312"/>
              <a:gd name="T56" fmla="*/ 158 w 313"/>
              <a:gd name="T57" fmla="*/ 91 h 312"/>
              <a:gd name="T58" fmla="*/ 171 w 313"/>
              <a:gd name="T59" fmla="*/ 104 h 312"/>
              <a:gd name="T60" fmla="*/ 185 w 313"/>
              <a:gd name="T61" fmla="*/ 89 h 312"/>
              <a:gd name="T62" fmla="*/ 194 w 313"/>
              <a:gd name="T63" fmla="*/ 76 h 312"/>
              <a:gd name="T64" fmla="*/ 210 w 313"/>
              <a:gd name="T65" fmla="*/ 81 h 312"/>
              <a:gd name="T66" fmla="*/ 208 w 313"/>
              <a:gd name="T67" fmla="*/ 78 h 312"/>
              <a:gd name="T68" fmla="*/ 225 w 313"/>
              <a:gd name="T69" fmla="*/ 78 h 312"/>
              <a:gd name="T70" fmla="*/ 220 w 313"/>
              <a:gd name="T71" fmla="*/ 92 h 312"/>
              <a:gd name="T72" fmla="*/ 204 w 313"/>
              <a:gd name="T73" fmla="*/ 104 h 312"/>
              <a:gd name="T74" fmla="*/ 185 w 313"/>
              <a:gd name="T75" fmla="*/ 110 h 312"/>
              <a:gd name="T76" fmla="*/ 175 w 313"/>
              <a:gd name="T77" fmla="*/ 125 h 312"/>
              <a:gd name="T78" fmla="*/ 177 w 313"/>
              <a:gd name="T79" fmla="*/ 154 h 312"/>
              <a:gd name="T80" fmla="*/ 192 w 313"/>
              <a:gd name="T81" fmla="*/ 165 h 312"/>
              <a:gd name="T82" fmla="*/ 211 w 313"/>
              <a:gd name="T83" fmla="*/ 162 h 312"/>
              <a:gd name="T84" fmla="*/ 227 w 313"/>
              <a:gd name="T85" fmla="*/ 165 h 312"/>
              <a:gd name="T86" fmla="*/ 243 w 313"/>
              <a:gd name="T87" fmla="*/ 187 h 312"/>
              <a:gd name="T88" fmla="*/ 265 w 313"/>
              <a:gd name="T89" fmla="*/ 202 h 312"/>
              <a:gd name="T90" fmla="*/ 222 w 313"/>
              <a:gd name="T91" fmla="*/ 261 h 312"/>
              <a:gd name="T92" fmla="*/ 175 w 313"/>
              <a:gd name="T93" fmla="*/ 276 h 312"/>
              <a:gd name="T94" fmla="*/ 173 w 313"/>
              <a:gd name="T95" fmla="*/ 253 h 312"/>
              <a:gd name="T96" fmla="*/ 172 w 313"/>
              <a:gd name="T97" fmla="*/ 199 h 312"/>
              <a:gd name="T98" fmla="*/ 165 w 313"/>
              <a:gd name="T99" fmla="*/ 183 h 312"/>
              <a:gd name="T100" fmla="*/ 128 w 313"/>
              <a:gd name="T101" fmla="*/ 276 h 312"/>
              <a:gd name="T102" fmla="*/ 36 w 313"/>
              <a:gd name="T103" fmla="*/ 184 h 312"/>
              <a:gd name="T104" fmla="*/ 47 w 313"/>
              <a:gd name="T105" fmla="*/ 179 h 312"/>
              <a:gd name="T106" fmla="*/ 63 w 313"/>
              <a:gd name="T107" fmla="*/ 182 h 312"/>
              <a:gd name="T108" fmla="*/ 88 w 313"/>
              <a:gd name="T109" fmla="*/ 189 h 312"/>
              <a:gd name="T110" fmla="*/ 105 w 313"/>
              <a:gd name="T111" fmla="*/ 193 h 312"/>
              <a:gd name="T112" fmla="*/ 110 w 313"/>
              <a:gd name="T113" fmla="*/ 213 h 312"/>
              <a:gd name="T114" fmla="*/ 127 w 313"/>
              <a:gd name="T115" fmla="*/ 224 h 312"/>
              <a:gd name="T116" fmla="*/ 146 w 313"/>
              <a:gd name="T117" fmla="*/ 241 h 312"/>
              <a:gd name="T118" fmla="*/ 160 w 313"/>
              <a:gd name="T119" fmla="*/ 27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3" h="312">
                <a:moveTo>
                  <a:pt x="156" y="0"/>
                </a:moveTo>
                <a:cubicBezTo>
                  <a:pt x="70" y="0"/>
                  <a:pt x="0" y="70"/>
                  <a:pt x="0" y="156"/>
                </a:cubicBezTo>
                <a:cubicBezTo>
                  <a:pt x="0" y="242"/>
                  <a:pt x="70" y="312"/>
                  <a:pt x="156" y="312"/>
                </a:cubicBezTo>
                <a:cubicBezTo>
                  <a:pt x="243" y="312"/>
                  <a:pt x="313" y="242"/>
                  <a:pt x="313" y="156"/>
                </a:cubicBezTo>
                <a:cubicBezTo>
                  <a:pt x="313" y="70"/>
                  <a:pt x="243" y="0"/>
                  <a:pt x="156" y="0"/>
                </a:cubicBezTo>
                <a:close/>
                <a:moveTo>
                  <a:pt x="165" y="183"/>
                </a:moveTo>
                <a:cubicBezTo>
                  <a:pt x="160" y="181"/>
                  <a:pt x="160" y="181"/>
                  <a:pt x="160" y="181"/>
                </a:cubicBezTo>
                <a:cubicBezTo>
                  <a:pt x="156" y="179"/>
                  <a:pt x="148" y="179"/>
                  <a:pt x="143" y="180"/>
                </a:cubicBezTo>
                <a:cubicBezTo>
                  <a:pt x="138" y="181"/>
                  <a:pt x="132" y="180"/>
                  <a:pt x="128" y="178"/>
                </a:cubicBezTo>
                <a:cubicBezTo>
                  <a:pt x="125" y="175"/>
                  <a:pt x="118" y="176"/>
                  <a:pt x="114" y="178"/>
                </a:cubicBezTo>
                <a:cubicBezTo>
                  <a:pt x="110" y="181"/>
                  <a:pt x="107" y="184"/>
                  <a:pt x="107" y="185"/>
                </a:cubicBezTo>
                <a:cubicBezTo>
                  <a:pt x="106" y="187"/>
                  <a:pt x="103" y="187"/>
                  <a:pt x="100" y="186"/>
                </a:cubicBezTo>
                <a:cubicBezTo>
                  <a:pt x="97" y="185"/>
                  <a:pt x="92" y="181"/>
                  <a:pt x="90" y="178"/>
                </a:cubicBezTo>
                <a:cubicBezTo>
                  <a:pt x="87" y="175"/>
                  <a:pt x="84" y="173"/>
                  <a:pt x="82" y="174"/>
                </a:cubicBezTo>
                <a:cubicBezTo>
                  <a:pt x="80" y="174"/>
                  <a:pt x="78" y="172"/>
                  <a:pt x="77" y="169"/>
                </a:cubicBezTo>
                <a:cubicBezTo>
                  <a:pt x="76" y="167"/>
                  <a:pt x="77" y="162"/>
                  <a:pt x="80" y="160"/>
                </a:cubicBezTo>
                <a:cubicBezTo>
                  <a:pt x="82" y="157"/>
                  <a:pt x="87" y="153"/>
                  <a:pt x="91" y="151"/>
                </a:cubicBezTo>
                <a:cubicBezTo>
                  <a:pt x="94" y="149"/>
                  <a:pt x="99" y="150"/>
                  <a:pt x="101" y="153"/>
                </a:cubicBezTo>
                <a:cubicBezTo>
                  <a:pt x="104" y="156"/>
                  <a:pt x="107" y="158"/>
                  <a:pt x="109" y="156"/>
                </a:cubicBezTo>
                <a:cubicBezTo>
                  <a:pt x="111" y="155"/>
                  <a:pt x="111" y="152"/>
                  <a:pt x="109" y="148"/>
                </a:cubicBezTo>
                <a:cubicBezTo>
                  <a:pt x="108" y="144"/>
                  <a:pt x="107" y="140"/>
                  <a:pt x="107" y="138"/>
                </a:cubicBezTo>
                <a:cubicBezTo>
                  <a:pt x="107" y="136"/>
                  <a:pt x="109" y="133"/>
                  <a:pt x="111" y="131"/>
                </a:cubicBezTo>
                <a:cubicBezTo>
                  <a:pt x="113" y="129"/>
                  <a:pt x="115" y="125"/>
                  <a:pt x="115" y="121"/>
                </a:cubicBezTo>
                <a:cubicBezTo>
                  <a:pt x="116" y="118"/>
                  <a:pt x="115" y="113"/>
                  <a:pt x="114" y="111"/>
                </a:cubicBezTo>
                <a:cubicBezTo>
                  <a:pt x="114" y="110"/>
                  <a:pt x="115" y="106"/>
                  <a:pt x="116" y="104"/>
                </a:cubicBezTo>
                <a:cubicBezTo>
                  <a:pt x="118" y="102"/>
                  <a:pt x="118" y="97"/>
                  <a:pt x="116" y="93"/>
                </a:cubicBezTo>
                <a:cubicBezTo>
                  <a:pt x="113" y="89"/>
                  <a:pt x="114" y="86"/>
                  <a:pt x="117" y="85"/>
                </a:cubicBezTo>
                <a:cubicBezTo>
                  <a:pt x="120" y="84"/>
                  <a:pt x="121" y="81"/>
                  <a:pt x="120" y="79"/>
                </a:cubicBezTo>
                <a:cubicBezTo>
                  <a:pt x="118" y="76"/>
                  <a:pt x="113" y="74"/>
                  <a:pt x="108" y="74"/>
                </a:cubicBezTo>
                <a:cubicBezTo>
                  <a:pt x="104" y="73"/>
                  <a:pt x="98" y="76"/>
                  <a:pt x="95" y="80"/>
                </a:cubicBezTo>
                <a:cubicBezTo>
                  <a:pt x="93" y="83"/>
                  <a:pt x="93" y="83"/>
                  <a:pt x="93" y="83"/>
                </a:cubicBezTo>
                <a:cubicBezTo>
                  <a:pt x="90" y="87"/>
                  <a:pt x="84" y="91"/>
                  <a:pt x="80" y="91"/>
                </a:cubicBezTo>
                <a:cubicBezTo>
                  <a:pt x="76" y="92"/>
                  <a:pt x="74" y="90"/>
                  <a:pt x="75" y="86"/>
                </a:cubicBezTo>
                <a:cubicBezTo>
                  <a:pt x="76" y="83"/>
                  <a:pt x="80" y="78"/>
                  <a:pt x="84" y="75"/>
                </a:cubicBezTo>
                <a:cubicBezTo>
                  <a:pt x="85" y="75"/>
                  <a:pt x="85" y="75"/>
                  <a:pt x="85" y="75"/>
                </a:cubicBezTo>
                <a:cubicBezTo>
                  <a:pt x="90" y="72"/>
                  <a:pt x="91" y="69"/>
                  <a:pt x="89" y="68"/>
                </a:cubicBezTo>
                <a:cubicBezTo>
                  <a:pt x="87" y="67"/>
                  <a:pt x="86" y="64"/>
                  <a:pt x="88" y="61"/>
                </a:cubicBezTo>
                <a:cubicBezTo>
                  <a:pt x="89" y="59"/>
                  <a:pt x="95" y="58"/>
                  <a:pt x="99" y="59"/>
                </a:cubicBezTo>
                <a:cubicBezTo>
                  <a:pt x="100" y="59"/>
                  <a:pt x="100" y="59"/>
                  <a:pt x="100" y="59"/>
                </a:cubicBezTo>
                <a:cubicBezTo>
                  <a:pt x="105" y="60"/>
                  <a:pt x="111" y="60"/>
                  <a:pt x="113" y="59"/>
                </a:cubicBezTo>
                <a:cubicBezTo>
                  <a:pt x="115" y="57"/>
                  <a:pt x="118" y="54"/>
                  <a:pt x="119" y="50"/>
                </a:cubicBezTo>
                <a:cubicBezTo>
                  <a:pt x="119" y="47"/>
                  <a:pt x="122" y="43"/>
                  <a:pt x="123" y="42"/>
                </a:cubicBezTo>
                <a:cubicBezTo>
                  <a:pt x="125" y="41"/>
                  <a:pt x="129" y="40"/>
                  <a:pt x="132" y="41"/>
                </a:cubicBezTo>
                <a:cubicBezTo>
                  <a:pt x="134" y="42"/>
                  <a:pt x="139" y="44"/>
                  <a:pt x="142" y="47"/>
                </a:cubicBezTo>
                <a:cubicBezTo>
                  <a:pt x="145" y="50"/>
                  <a:pt x="149" y="51"/>
                  <a:pt x="150" y="51"/>
                </a:cubicBezTo>
                <a:cubicBezTo>
                  <a:pt x="152" y="51"/>
                  <a:pt x="155" y="52"/>
                  <a:pt x="156" y="54"/>
                </a:cubicBezTo>
                <a:cubicBezTo>
                  <a:pt x="158" y="56"/>
                  <a:pt x="160" y="55"/>
                  <a:pt x="161" y="53"/>
                </a:cubicBezTo>
                <a:cubicBezTo>
                  <a:pt x="163" y="51"/>
                  <a:pt x="163" y="48"/>
                  <a:pt x="162" y="46"/>
                </a:cubicBezTo>
                <a:cubicBezTo>
                  <a:pt x="161" y="43"/>
                  <a:pt x="157" y="41"/>
                  <a:pt x="154" y="40"/>
                </a:cubicBezTo>
                <a:cubicBezTo>
                  <a:pt x="151" y="40"/>
                  <a:pt x="149" y="38"/>
                  <a:pt x="151" y="37"/>
                </a:cubicBezTo>
                <a:cubicBezTo>
                  <a:pt x="152" y="36"/>
                  <a:pt x="158" y="35"/>
                  <a:pt x="162" y="34"/>
                </a:cubicBezTo>
                <a:cubicBezTo>
                  <a:pt x="167" y="34"/>
                  <a:pt x="172" y="35"/>
                  <a:pt x="172" y="38"/>
                </a:cubicBezTo>
                <a:cubicBezTo>
                  <a:pt x="173" y="41"/>
                  <a:pt x="173" y="45"/>
                  <a:pt x="171" y="48"/>
                </a:cubicBezTo>
                <a:cubicBezTo>
                  <a:pt x="170" y="52"/>
                  <a:pt x="169" y="55"/>
                  <a:pt x="170" y="57"/>
                </a:cubicBezTo>
                <a:cubicBezTo>
                  <a:pt x="171" y="58"/>
                  <a:pt x="171" y="61"/>
                  <a:pt x="169" y="64"/>
                </a:cubicBezTo>
                <a:cubicBezTo>
                  <a:pt x="167" y="66"/>
                  <a:pt x="167" y="69"/>
                  <a:pt x="168" y="71"/>
                </a:cubicBezTo>
                <a:cubicBezTo>
                  <a:pt x="170" y="73"/>
                  <a:pt x="168" y="77"/>
                  <a:pt x="165" y="80"/>
                </a:cubicBezTo>
                <a:cubicBezTo>
                  <a:pt x="161" y="83"/>
                  <a:pt x="158" y="88"/>
                  <a:pt x="158" y="91"/>
                </a:cubicBezTo>
                <a:cubicBezTo>
                  <a:pt x="158" y="95"/>
                  <a:pt x="160" y="100"/>
                  <a:pt x="161" y="102"/>
                </a:cubicBezTo>
                <a:cubicBezTo>
                  <a:pt x="163" y="104"/>
                  <a:pt x="167" y="105"/>
                  <a:pt x="171" y="104"/>
                </a:cubicBezTo>
                <a:cubicBezTo>
                  <a:pt x="175" y="104"/>
                  <a:pt x="179" y="101"/>
                  <a:pt x="182" y="99"/>
                </a:cubicBezTo>
                <a:cubicBezTo>
                  <a:pt x="184" y="96"/>
                  <a:pt x="185" y="92"/>
                  <a:pt x="185" y="89"/>
                </a:cubicBezTo>
                <a:cubicBezTo>
                  <a:pt x="184" y="86"/>
                  <a:pt x="185" y="82"/>
                  <a:pt x="187" y="81"/>
                </a:cubicBezTo>
                <a:cubicBezTo>
                  <a:pt x="189" y="80"/>
                  <a:pt x="192" y="78"/>
                  <a:pt x="194" y="76"/>
                </a:cubicBezTo>
                <a:cubicBezTo>
                  <a:pt x="195" y="75"/>
                  <a:pt x="198" y="76"/>
                  <a:pt x="200" y="79"/>
                </a:cubicBezTo>
                <a:cubicBezTo>
                  <a:pt x="202" y="83"/>
                  <a:pt x="207" y="83"/>
                  <a:pt x="210" y="81"/>
                </a:cubicBezTo>
                <a:cubicBezTo>
                  <a:pt x="210" y="81"/>
                  <a:pt x="210" y="81"/>
                  <a:pt x="209" y="80"/>
                </a:cubicBezTo>
                <a:cubicBezTo>
                  <a:pt x="208" y="78"/>
                  <a:pt x="208" y="78"/>
                  <a:pt x="208" y="78"/>
                </a:cubicBezTo>
                <a:cubicBezTo>
                  <a:pt x="211" y="76"/>
                  <a:pt x="215" y="75"/>
                  <a:pt x="216" y="74"/>
                </a:cubicBezTo>
                <a:cubicBezTo>
                  <a:pt x="218" y="74"/>
                  <a:pt x="222" y="75"/>
                  <a:pt x="225" y="78"/>
                </a:cubicBezTo>
                <a:cubicBezTo>
                  <a:pt x="227" y="80"/>
                  <a:pt x="229" y="83"/>
                  <a:pt x="229" y="85"/>
                </a:cubicBezTo>
                <a:cubicBezTo>
                  <a:pt x="228" y="87"/>
                  <a:pt x="225" y="90"/>
                  <a:pt x="220" y="92"/>
                </a:cubicBezTo>
                <a:cubicBezTo>
                  <a:pt x="216" y="94"/>
                  <a:pt x="212" y="97"/>
                  <a:pt x="211" y="100"/>
                </a:cubicBezTo>
                <a:cubicBezTo>
                  <a:pt x="210" y="102"/>
                  <a:pt x="207" y="104"/>
                  <a:pt x="204" y="104"/>
                </a:cubicBezTo>
                <a:cubicBezTo>
                  <a:pt x="201" y="104"/>
                  <a:pt x="196" y="104"/>
                  <a:pt x="194" y="104"/>
                </a:cubicBezTo>
                <a:cubicBezTo>
                  <a:pt x="191" y="104"/>
                  <a:pt x="187" y="107"/>
                  <a:pt x="185" y="110"/>
                </a:cubicBezTo>
                <a:cubicBezTo>
                  <a:pt x="183" y="112"/>
                  <a:pt x="181" y="116"/>
                  <a:pt x="181" y="117"/>
                </a:cubicBezTo>
                <a:cubicBezTo>
                  <a:pt x="180" y="119"/>
                  <a:pt x="178" y="122"/>
                  <a:pt x="175" y="125"/>
                </a:cubicBezTo>
                <a:cubicBezTo>
                  <a:pt x="173" y="127"/>
                  <a:pt x="171" y="133"/>
                  <a:pt x="171" y="138"/>
                </a:cubicBezTo>
                <a:cubicBezTo>
                  <a:pt x="172" y="143"/>
                  <a:pt x="174" y="150"/>
                  <a:pt x="177" y="154"/>
                </a:cubicBezTo>
                <a:cubicBezTo>
                  <a:pt x="179" y="158"/>
                  <a:pt x="179" y="158"/>
                  <a:pt x="179" y="158"/>
                </a:cubicBezTo>
                <a:cubicBezTo>
                  <a:pt x="182" y="162"/>
                  <a:pt x="188" y="166"/>
                  <a:pt x="192" y="165"/>
                </a:cubicBezTo>
                <a:cubicBezTo>
                  <a:pt x="196" y="165"/>
                  <a:pt x="204" y="164"/>
                  <a:pt x="209" y="162"/>
                </a:cubicBezTo>
                <a:cubicBezTo>
                  <a:pt x="211" y="162"/>
                  <a:pt x="211" y="162"/>
                  <a:pt x="211" y="162"/>
                </a:cubicBezTo>
                <a:cubicBezTo>
                  <a:pt x="216" y="160"/>
                  <a:pt x="223" y="161"/>
                  <a:pt x="226" y="165"/>
                </a:cubicBezTo>
                <a:cubicBezTo>
                  <a:pt x="227" y="165"/>
                  <a:pt x="227" y="165"/>
                  <a:pt x="227" y="165"/>
                </a:cubicBezTo>
                <a:cubicBezTo>
                  <a:pt x="230" y="168"/>
                  <a:pt x="236" y="174"/>
                  <a:pt x="238" y="178"/>
                </a:cubicBezTo>
                <a:cubicBezTo>
                  <a:pt x="243" y="187"/>
                  <a:pt x="243" y="187"/>
                  <a:pt x="243" y="187"/>
                </a:cubicBezTo>
                <a:cubicBezTo>
                  <a:pt x="246" y="191"/>
                  <a:pt x="251" y="195"/>
                  <a:pt x="254" y="196"/>
                </a:cubicBezTo>
                <a:cubicBezTo>
                  <a:pt x="257" y="196"/>
                  <a:pt x="262" y="199"/>
                  <a:pt x="265" y="202"/>
                </a:cubicBezTo>
                <a:cubicBezTo>
                  <a:pt x="266" y="203"/>
                  <a:pt x="268" y="204"/>
                  <a:pt x="270" y="204"/>
                </a:cubicBezTo>
                <a:cubicBezTo>
                  <a:pt x="260" y="227"/>
                  <a:pt x="244" y="247"/>
                  <a:pt x="222" y="261"/>
                </a:cubicBezTo>
                <a:cubicBezTo>
                  <a:pt x="207" y="270"/>
                  <a:pt x="192" y="276"/>
                  <a:pt x="175" y="278"/>
                </a:cubicBezTo>
                <a:cubicBezTo>
                  <a:pt x="175" y="277"/>
                  <a:pt x="175" y="277"/>
                  <a:pt x="175" y="276"/>
                </a:cubicBezTo>
                <a:cubicBezTo>
                  <a:pt x="175" y="271"/>
                  <a:pt x="175" y="271"/>
                  <a:pt x="175" y="271"/>
                </a:cubicBezTo>
                <a:cubicBezTo>
                  <a:pt x="174" y="266"/>
                  <a:pt x="173" y="258"/>
                  <a:pt x="173" y="253"/>
                </a:cubicBezTo>
                <a:cubicBezTo>
                  <a:pt x="171" y="217"/>
                  <a:pt x="171" y="217"/>
                  <a:pt x="171" y="217"/>
                </a:cubicBezTo>
                <a:cubicBezTo>
                  <a:pt x="171" y="212"/>
                  <a:pt x="172" y="204"/>
                  <a:pt x="172" y="199"/>
                </a:cubicBezTo>
                <a:cubicBezTo>
                  <a:pt x="173" y="196"/>
                  <a:pt x="173" y="196"/>
                  <a:pt x="173" y="196"/>
                </a:cubicBezTo>
                <a:cubicBezTo>
                  <a:pt x="173" y="191"/>
                  <a:pt x="170" y="185"/>
                  <a:pt x="165" y="183"/>
                </a:cubicBezTo>
                <a:close/>
                <a:moveTo>
                  <a:pt x="159" y="279"/>
                </a:moveTo>
                <a:cubicBezTo>
                  <a:pt x="149" y="280"/>
                  <a:pt x="139" y="279"/>
                  <a:pt x="128" y="276"/>
                </a:cubicBezTo>
                <a:cubicBezTo>
                  <a:pt x="96" y="269"/>
                  <a:pt x="69" y="249"/>
                  <a:pt x="52" y="221"/>
                </a:cubicBezTo>
                <a:cubicBezTo>
                  <a:pt x="44" y="210"/>
                  <a:pt x="39" y="197"/>
                  <a:pt x="36" y="184"/>
                </a:cubicBezTo>
                <a:cubicBezTo>
                  <a:pt x="37" y="184"/>
                  <a:pt x="37" y="184"/>
                  <a:pt x="37" y="183"/>
                </a:cubicBezTo>
                <a:cubicBezTo>
                  <a:pt x="39" y="179"/>
                  <a:pt x="44" y="177"/>
                  <a:pt x="47" y="179"/>
                </a:cubicBezTo>
                <a:cubicBezTo>
                  <a:pt x="50" y="181"/>
                  <a:pt x="54" y="181"/>
                  <a:pt x="56" y="180"/>
                </a:cubicBezTo>
                <a:cubicBezTo>
                  <a:pt x="58" y="179"/>
                  <a:pt x="61" y="180"/>
                  <a:pt x="63" y="182"/>
                </a:cubicBezTo>
                <a:cubicBezTo>
                  <a:pt x="66" y="184"/>
                  <a:pt x="71" y="187"/>
                  <a:pt x="75" y="187"/>
                </a:cubicBezTo>
                <a:cubicBezTo>
                  <a:pt x="79" y="187"/>
                  <a:pt x="85" y="188"/>
                  <a:pt x="88" y="189"/>
                </a:cubicBezTo>
                <a:cubicBezTo>
                  <a:pt x="92" y="190"/>
                  <a:pt x="97" y="191"/>
                  <a:pt x="100" y="191"/>
                </a:cubicBezTo>
                <a:cubicBezTo>
                  <a:pt x="103" y="192"/>
                  <a:pt x="105" y="193"/>
                  <a:pt x="105" y="193"/>
                </a:cubicBezTo>
                <a:cubicBezTo>
                  <a:pt x="105" y="194"/>
                  <a:pt x="106" y="197"/>
                  <a:pt x="108" y="201"/>
                </a:cubicBezTo>
                <a:cubicBezTo>
                  <a:pt x="110" y="204"/>
                  <a:pt x="111" y="209"/>
                  <a:pt x="110" y="213"/>
                </a:cubicBezTo>
                <a:cubicBezTo>
                  <a:pt x="109" y="216"/>
                  <a:pt x="112" y="220"/>
                  <a:pt x="115" y="222"/>
                </a:cubicBezTo>
                <a:cubicBezTo>
                  <a:pt x="119" y="224"/>
                  <a:pt x="124" y="224"/>
                  <a:pt x="127" y="224"/>
                </a:cubicBezTo>
                <a:cubicBezTo>
                  <a:pt x="129" y="223"/>
                  <a:pt x="133" y="225"/>
                  <a:pt x="136" y="228"/>
                </a:cubicBezTo>
                <a:cubicBezTo>
                  <a:pt x="139" y="231"/>
                  <a:pt x="144" y="237"/>
                  <a:pt x="146" y="241"/>
                </a:cubicBezTo>
                <a:cubicBezTo>
                  <a:pt x="158" y="262"/>
                  <a:pt x="158" y="262"/>
                  <a:pt x="158" y="262"/>
                </a:cubicBezTo>
                <a:cubicBezTo>
                  <a:pt x="161" y="266"/>
                  <a:pt x="161" y="273"/>
                  <a:pt x="160" y="276"/>
                </a:cubicBezTo>
                <a:cubicBezTo>
                  <a:pt x="159" y="277"/>
                  <a:pt x="159" y="278"/>
                  <a:pt x="159" y="27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4" name="Freeform 24"/>
          <p:cNvSpPr>
            <a:spLocks/>
          </p:cNvSpPr>
          <p:nvPr userDrawn="1"/>
        </p:nvSpPr>
        <p:spPr bwMode="auto">
          <a:xfrm>
            <a:off x="8249405" y="2161329"/>
            <a:ext cx="258150" cy="257706"/>
          </a:xfrm>
          <a:custGeom>
            <a:avLst/>
            <a:gdLst>
              <a:gd name="T0" fmla="*/ 46 w 415"/>
              <a:gd name="T1" fmla="*/ 408 h 415"/>
              <a:gd name="T2" fmla="*/ 65 w 415"/>
              <a:gd name="T3" fmla="*/ 415 h 415"/>
              <a:gd name="T4" fmla="*/ 83 w 415"/>
              <a:gd name="T5" fmla="*/ 408 h 415"/>
              <a:gd name="T6" fmla="*/ 207 w 415"/>
              <a:gd name="T7" fmla="*/ 283 h 415"/>
              <a:gd name="T8" fmla="*/ 332 w 415"/>
              <a:gd name="T9" fmla="*/ 408 h 415"/>
              <a:gd name="T10" fmla="*/ 350 w 415"/>
              <a:gd name="T11" fmla="*/ 415 h 415"/>
              <a:gd name="T12" fmla="*/ 369 w 415"/>
              <a:gd name="T13" fmla="*/ 408 h 415"/>
              <a:gd name="T14" fmla="*/ 408 w 415"/>
              <a:gd name="T15" fmla="*/ 369 h 415"/>
              <a:gd name="T16" fmla="*/ 415 w 415"/>
              <a:gd name="T17" fmla="*/ 351 h 415"/>
              <a:gd name="T18" fmla="*/ 408 w 415"/>
              <a:gd name="T19" fmla="*/ 332 h 415"/>
              <a:gd name="T20" fmla="*/ 283 w 415"/>
              <a:gd name="T21" fmla="*/ 208 h 415"/>
              <a:gd name="T22" fmla="*/ 408 w 415"/>
              <a:gd name="T23" fmla="*/ 83 h 415"/>
              <a:gd name="T24" fmla="*/ 415 w 415"/>
              <a:gd name="T25" fmla="*/ 65 h 415"/>
              <a:gd name="T26" fmla="*/ 408 w 415"/>
              <a:gd name="T27" fmla="*/ 46 h 415"/>
              <a:gd name="T28" fmla="*/ 369 w 415"/>
              <a:gd name="T29" fmla="*/ 7 h 415"/>
              <a:gd name="T30" fmla="*/ 350 w 415"/>
              <a:gd name="T31" fmla="*/ 0 h 415"/>
              <a:gd name="T32" fmla="*/ 332 w 415"/>
              <a:gd name="T33" fmla="*/ 7 h 415"/>
              <a:gd name="T34" fmla="*/ 207 w 415"/>
              <a:gd name="T35" fmla="*/ 132 h 415"/>
              <a:gd name="T36" fmla="*/ 83 w 415"/>
              <a:gd name="T37" fmla="*/ 7 h 415"/>
              <a:gd name="T38" fmla="*/ 65 w 415"/>
              <a:gd name="T39" fmla="*/ 0 h 415"/>
              <a:gd name="T40" fmla="*/ 46 w 415"/>
              <a:gd name="T41" fmla="*/ 7 h 415"/>
              <a:gd name="T42" fmla="*/ 7 w 415"/>
              <a:gd name="T43" fmla="*/ 46 h 415"/>
              <a:gd name="T44" fmla="*/ 0 w 415"/>
              <a:gd name="T45" fmla="*/ 65 h 415"/>
              <a:gd name="T46" fmla="*/ 7 w 415"/>
              <a:gd name="T47" fmla="*/ 83 h 415"/>
              <a:gd name="T48" fmla="*/ 132 w 415"/>
              <a:gd name="T49" fmla="*/ 208 h 415"/>
              <a:gd name="T50" fmla="*/ 7 w 415"/>
              <a:gd name="T51" fmla="*/ 332 h 415"/>
              <a:gd name="T52" fmla="*/ 0 w 415"/>
              <a:gd name="T53" fmla="*/ 351 h 415"/>
              <a:gd name="T54" fmla="*/ 7 w 415"/>
              <a:gd name="T55" fmla="*/ 369 h 415"/>
              <a:gd name="T56" fmla="*/ 46 w 415"/>
              <a:gd name="T57" fmla="*/ 40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5" h="415">
                <a:moveTo>
                  <a:pt x="46" y="408"/>
                </a:moveTo>
                <a:cubicBezTo>
                  <a:pt x="51" y="413"/>
                  <a:pt x="57" y="415"/>
                  <a:pt x="65" y="415"/>
                </a:cubicBezTo>
                <a:cubicBezTo>
                  <a:pt x="72" y="415"/>
                  <a:pt x="78" y="413"/>
                  <a:pt x="83" y="408"/>
                </a:cubicBezTo>
                <a:cubicBezTo>
                  <a:pt x="207" y="283"/>
                  <a:pt x="207" y="283"/>
                  <a:pt x="207" y="283"/>
                </a:cubicBezTo>
                <a:cubicBezTo>
                  <a:pt x="332" y="408"/>
                  <a:pt x="332" y="408"/>
                  <a:pt x="332" y="408"/>
                </a:cubicBezTo>
                <a:cubicBezTo>
                  <a:pt x="337" y="413"/>
                  <a:pt x="343" y="415"/>
                  <a:pt x="350" y="415"/>
                </a:cubicBezTo>
                <a:cubicBezTo>
                  <a:pt x="358" y="415"/>
                  <a:pt x="364" y="413"/>
                  <a:pt x="369" y="408"/>
                </a:cubicBezTo>
                <a:cubicBezTo>
                  <a:pt x="408" y="369"/>
                  <a:pt x="408" y="369"/>
                  <a:pt x="408" y="369"/>
                </a:cubicBezTo>
                <a:cubicBezTo>
                  <a:pt x="412" y="364"/>
                  <a:pt x="415" y="358"/>
                  <a:pt x="415" y="351"/>
                </a:cubicBezTo>
                <a:cubicBezTo>
                  <a:pt x="415" y="343"/>
                  <a:pt x="412" y="337"/>
                  <a:pt x="408" y="332"/>
                </a:cubicBezTo>
                <a:cubicBezTo>
                  <a:pt x="283" y="208"/>
                  <a:pt x="283" y="208"/>
                  <a:pt x="283" y="208"/>
                </a:cubicBezTo>
                <a:cubicBezTo>
                  <a:pt x="408" y="83"/>
                  <a:pt x="408" y="83"/>
                  <a:pt x="408" y="83"/>
                </a:cubicBezTo>
                <a:cubicBezTo>
                  <a:pt x="412" y="78"/>
                  <a:pt x="415" y="72"/>
                  <a:pt x="415" y="65"/>
                </a:cubicBezTo>
                <a:cubicBezTo>
                  <a:pt x="415" y="57"/>
                  <a:pt x="412" y="51"/>
                  <a:pt x="408" y="46"/>
                </a:cubicBezTo>
                <a:cubicBezTo>
                  <a:pt x="369" y="7"/>
                  <a:pt x="369" y="7"/>
                  <a:pt x="369" y="7"/>
                </a:cubicBezTo>
                <a:cubicBezTo>
                  <a:pt x="364" y="3"/>
                  <a:pt x="358" y="0"/>
                  <a:pt x="350" y="0"/>
                </a:cubicBezTo>
                <a:cubicBezTo>
                  <a:pt x="343" y="0"/>
                  <a:pt x="337" y="3"/>
                  <a:pt x="332" y="7"/>
                </a:cubicBezTo>
                <a:cubicBezTo>
                  <a:pt x="207" y="132"/>
                  <a:pt x="207" y="132"/>
                  <a:pt x="207" y="132"/>
                </a:cubicBezTo>
                <a:cubicBezTo>
                  <a:pt x="83" y="7"/>
                  <a:pt x="83" y="7"/>
                  <a:pt x="83" y="7"/>
                </a:cubicBezTo>
                <a:cubicBezTo>
                  <a:pt x="78" y="3"/>
                  <a:pt x="72" y="0"/>
                  <a:pt x="65" y="0"/>
                </a:cubicBezTo>
                <a:cubicBezTo>
                  <a:pt x="57" y="0"/>
                  <a:pt x="51" y="3"/>
                  <a:pt x="46" y="7"/>
                </a:cubicBezTo>
                <a:cubicBezTo>
                  <a:pt x="7" y="46"/>
                  <a:pt x="7" y="46"/>
                  <a:pt x="7" y="46"/>
                </a:cubicBezTo>
                <a:cubicBezTo>
                  <a:pt x="3" y="51"/>
                  <a:pt x="0" y="57"/>
                  <a:pt x="0" y="65"/>
                </a:cubicBezTo>
                <a:cubicBezTo>
                  <a:pt x="0" y="72"/>
                  <a:pt x="3" y="78"/>
                  <a:pt x="7" y="83"/>
                </a:cubicBezTo>
                <a:cubicBezTo>
                  <a:pt x="132" y="208"/>
                  <a:pt x="132" y="208"/>
                  <a:pt x="132" y="208"/>
                </a:cubicBezTo>
                <a:cubicBezTo>
                  <a:pt x="7" y="332"/>
                  <a:pt x="7" y="332"/>
                  <a:pt x="7" y="332"/>
                </a:cubicBezTo>
                <a:cubicBezTo>
                  <a:pt x="3" y="337"/>
                  <a:pt x="0" y="343"/>
                  <a:pt x="0" y="351"/>
                </a:cubicBezTo>
                <a:cubicBezTo>
                  <a:pt x="0" y="358"/>
                  <a:pt x="3" y="364"/>
                  <a:pt x="7" y="369"/>
                </a:cubicBezTo>
                <a:lnTo>
                  <a:pt x="46" y="4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449"/>
          <p:cNvSpPr>
            <a:spLocks noEditPoints="1"/>
          </p:cNvSpPr>
          <p:nvPr userDrawn="1"/>
        </p:nvSpPr>
        <p:spPr bwMode="auto">
          <a:xfrm>
            <a:off x="8266182" y="2632643"/>
            <a:ext cx="238003" cy="283666"/>
          </a:xfrm>
          <a:custGeom>
            <a:avLst/>
            <a:gdLst>
              <a:gd name="T0" fmla="*/ 163 w 200"/>
              <a:gd name="T1" fmla="*/ 14 h 238"/>
              <a:gd name="T2" fmla="*/ 163 w 200"/>
              <a:gd name="T3" fmla="*/ 27 h 238"/>
              <a:gd name="T4" fmla="*/ 123 w 200"/>
              <a:gd name="T5" fmla="*/ 18 h 238"/>
              <a:gd name="T6" fmla="*/ 123 w 200"/>
              <a:gd name="T7" fmla="*/ 5 h 238"/>
              <a:gd name="T8" fmla="*/ 100 w 200"/>
              <a:gd name="T9" fmla="*/ 0 h 238"/>
              <a:gd name="T10" fmla="*/ 77 w 200"/>
              <a:gd name="T11" fmla="*/ 5 h 238"/>
              <a:gd name="T12" fmla="*/ 77 w 200"/>
              <a:gd name="T13" fmla="*/ 18 h 238"/>
              <a:gd name="T14" fmla="*/ 37 w 200"/>
              <a:gd name="T15" fmla="*/ 27 h 238"/>
              <a:gd name="T16" fmla="*/ 37 w 200"/>
              <a:gd name="T17" fmla="*/ 14 h 238"/>
              <a:gd name="T18" fmla="*/ 0 w 200"/>
              <a:gd name="T19" fmla="*/ 22 h 238"/>
              <a:gd name="T20" fmla="*/ 0 w 200"/>
              <a:gd name="T21" fmla="*/ 93 h 238"/>
              <a:gd name="T22" fmla="*/ 100 w 200"/>
              <a:gd name="T23" fmla="*/ 238 h 238"/>
              <a:gd name="T24" fmla="*/ 200 w 200"/>
              <a:gd name="T25" fmla="*/ 93 h 238"/>
              <a:gd name="T26" fmla="*/ 200 w 200"/>
              <a:gd name="T27" fmla="*/ 22 h 238"/>
              <a:gd name="T28" fmla="*/ 163 w 200"/>
              <a:gd name="T29" fmla="*/ 14 h 238"/>
              <a:gd name="T30" fmla="*/ 173 w 200"/>
              <a:gd name="T31" fmla="*/ 93 h 238"/>
              <a:gd name="T32" fmla="*/ 170 w 200"/>
              <a:gd name="T33" fmla="*/ 119 h 238"/>
              <a:gd name="T34" fmla="*/ 100 w 200"/>
              <a:gd name="T35" fmla="*/ 119 h 238"/>
              <a:gd name="T36" fmla="*/ 100 w 200"/>
              <a:gd name="T37" fmla="*/ 208 h 238"/>
              <a:gd name="T38" fmla="*/ 30 w 200"/>
              <a:gd name="T39" fmla="*/ 119 h 238"/>
              <a:gd name="T40" fmla="*/ 100 w 200"/>
              <a:gd name="T41" fmla="*/ 119 h 238"/>
              <a:gd name="T42" fmla="*/ 100 w 200"/>
              <a:gd name="T43" fmla="*/ 41 h 238"/>
              <a:gd name="T44" fmla="*/ 173 w 200"/>
              <a:gd name="T45" fmla="*/ 57 h 238"/>
              <a:gd name="T46" fmla="*/ 173 w 200"/>
              <a:gd name="T47" fmla="*/ 93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0" h="238">
                <a:moveTo>
                  <a:pt x="163" y="14"/>
                </a:moveTo>
                <a:cubicBezTo>
                  <a:pt x="163" y="27"/>
                  <a:pt x="163" y="27"/>
                  <a:pt x="163" y="27"/>
                </a:cubicBezTo>
                <a:cubicBezTo>
                  <a:pt x="123" y="18"/>
                  <a:pt x="123" y="18"/>
                  <a:pt x="123" y="18"/>
                </a:cubicBezTo>
                <a:cubicBezTo>
                  <a:pt x="123" y="5"/>
                  <a:pt x="123" y="5"/>
                  <a:pt x="123" y="5"/>
                </a:cubicBezTo>
                <a:cubicBezTo>
                  <a:pt x="100" y="0"/>
                  <a:pt x="100" y="0"/>
                  <a:pt x="100" y="0"/>
                </a:cubicBezTo>
                <a:cubicBezTo>
                  <a:pt x="77" y="5"/>
                  <a:pt x="77" y="5"/>
                  <a:pt x="77" y="5"/>
                </a:cubicBezTo>
                <a:cubicBezTo>
                  <a:pt x="77" y="18"/>
                  <a:pt x="77" y="18"/>
                  <a:pt x="77" y="18"/>
                </a:cubicBezTo>
                <a:cubicBezTo>
                  <a:pt x="37" y="27"/>
                  <a:pt x="37" y="27"/>
                  <a:pt x="37" y="27"/>
                </a:cubicBezTo>
                <a:cubicBezTo>
                  <a:pt x="37" y="14"/>
                  <a:pt x="37" y="14"/>
                  <a:pt x="37" y="14"/>
                </a:cubicBezTo>
                <a:cubicBezTo>
                  <a:pt x="0" y="22"/>
                  <a:pt x="0" y="22"/>
                  <a:pt x="0" y="22"/>
                </a:cubicBezTo>
                <a:cubicBezTo>
                  <a:pt x="0" y="93"/>
                  <a:pt x="0" y="93"/>
                  <a:pt x="0" y="93"/>
                </a:cubicBezTo>
                <a:cubicBezTo>
                  <a:pt x="0" y="158"/>
                  <a:pt x="41" y="214"/>
                  <a:pt x="100" y="238"/>
                </a:cubicBezTo>
                <a:cubicBezTo>
                  <a:pt x="159" y="214"/>
                  <a:pt x="200" y="158"/>
                  <a:pt x="200" y="93"/>
                </a:cubicBezTo>
                <a:cubicBezTo>
                  <a:pt x="200" y="22"/>
                  <a:pt x="200" y="22"/>
                  <a:pt x="200" y="22"/>
                </a:cubicBezTo>
                <a:lnTo>
                  <a:pt x="163" y="14"/>
                </a:lnTo>
                <a:close/>
                <a:moveTo>
                  <a:pt x="173" y="93"/>
                </a:moveTo>
                <a:cubicBezTo>
                  <a:pt x="173" y="102"/>
                  <a:pt x="172" y="110"/>
                  <a:pt x="170" y="119"/>
                </a:cubicBezTo>
                <a:cubicBezTo>
                  <a:pt x="100" y="119"/>
                  <a:pt x="100" y="119"/>
                  <a:pt x="100" y="119"/>
                </a:cubicBezTo>
                <a:cubicBezTo>
                  <a:pt x="100" y="208"/>
                  <a:pt x="100" y="208"/>
                  <a:pt x="100" y="208"/>
                </a:cubicBezTo>
                <a:cubicBezTo>
                  <a:pt x="64" y="189"/>
                  <a:pt x="38" y="157"/>
                  <a:pt x="30" y="119"/>
                </a:cubicBezTo>
                <a:cubicBezTo>
                  <a:pt x="100" y="119"/>
                  <a:pt x="100" y="119"/>
                  <a:pt x="100" y="119"/>
                </a:cubicBezTo>
                <a:cubicBezTo>
                  <a:pt x="100" y="41"/>
                  <a:pt x="100" y="41"/>
                  <a:pt x="100" y="41"/>
                </a:cubicBezTo>
                <a:cubicBezTo>
                  <a:pt x="173" y="57"/>
                  <a:pt x="173" y="57"/>
                  <a:pt x="173" y="57"/>
                </a:cubicBezTo>
                <a:lnTo>
                  <a:pt x="173" y="9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Freeform 14"/>
          <p:cNvSpPr>
            <a:spLocks noEditPoints="1"/>
          </p:cNvSpPr>
          <p:nvPr userDrawn="1"/>
        </p:nvSpPr>
        <p:spPr bwMode="auto">
          <a:xfrm>
            <a:off x="8273674" y="3226207"/>
            <a:ext cx="229009" cy="283666"/>
          </a:xfrm>
          <a:custGeom>
            <a:avLst/>
            <a:gdLst>
              <a:gd name="T0" fmla="*/ 109 w 192"/>
              <a:gd name="T1" fmla="*/ 37 h 238"/>
              <a:gd name="T2" fmla="*/ 128 w 192"/>
              <a:gd name="T3" fmla="*/ 18 h 238"/>
              <a:gd name="T4" fmla="*/ 109 w 192"/>
              <a:gd name="T5" fmla="*/ 0 h 238"/>
              <a:gd name="T6" fmla="*/ 91 w 192"/>
              <a:gd name="T7" fmla="*/ 18 h 238"/>
              <a:gd name="T8" fmla="*/ 109 w 192"/>
              <a:gd name="T9" fmla="*/ 37 h 238"/>
              <a:gd name="T10" fmla="*/ 64 w 192"/>
              <a:gd name="T11" fmla="*/ 82 h 238"/>
              <a:gd name="T12" fmla="*/ 82 w 192"/>
              <a:gd name="T13" fmla="*/ 64 h 238"/>
              <a:gd name="T14" fmla="*/ 64 w 192"/>
              <a:gd name="T15" fmla="*/ 46 h 238"/>
              <a:gd name="T16" fmla="*/ 45 w 192"/>
              <a:gd name="T17" fmla="*/ 64 h 238"/>
              <a:gd name="T18" fmla="*/ 64 w 192"/>
              <a:gd name="T19" fmla="*/ 82 h 238"/>
              <a:gd name="T20" fmla="*/ 64 w 192"/>
              <a:gd name="T21" fmla="*/ 128 h 238"/>
              <a:gd name="T22" fmla="*/ 82 w 192"/>
              <a:gd name="T23" fmla="*/ 110 h 238"/>
              <a:gd name="T24" fmla="*/ 64 w 192"/>
              <a:gd name="T25" fmla="*/ 92 h 238"/>
              <a:gd name="T26" fmla="*/ 45 w 192"/>
              <a:gd name="T27" fmla="*/ 110 h 238"/>
              <a:gd name="T28" fmla="*/ 64 w 192"/>
              <a:gd name="T29" fmla="*/ 128 h 238"/>
              <a:gd name="T30" fmla="*/ 64 w 192"/>
              <a:gd name="T31" fmla="*/ 37 h 238"/>
              <a:gd name="T32" fmla="*/ 82 w 192"/>
              <a:gd name="T33" fmla="*/ 18 h 238"/>
              <a:gd name="T34" fmla="*/ 64 w 192"/>
              <a:gd name="T35" fmla="*/ 0 h 238"/>
              <a:gd name="T36" fmla="*/ 45 w 192"/>
              <a:gd name="T37" fmla="*/ 18 h 238"/>
              <a:gd name="T38" fmla="*/ 64 w 192"/>
              <a:gd name="T39" fmla="*/ 37 h 238"/>
              <a:gd name="T40" fmla="*/ 18 w 192"/>
              <a:gd name="T41" fmla="*/ 46 h 238"/>
              <a:gd name="T42" fmla="*/ 0 w 192"/>
              <a:gd name="T43" fmla="*/ 64 h 238"/>
              <a:gd name="T44" fmla="*/ 18 w 192"/>
              <a:gd name="T45" fmla="*/ 82 h 238"/>
              <a:gd name="T46" fmla="*/ 36 w 192"/>
              <a:gd name="T47" fmla="*/ 64 h 238"/>
              <a:gd name="T48" fmla="*/ 18 w 192"/>
              <a:gd name="T49" fmla="*/ 46 h 238"/>
              <a:gd name="T50" fmla="*/ 18 w 192"/>
              <a:gd name="T51" fmla="*/ 92 h 238"/>
              <a:gd name="T52" fmla="*/ 0 w 192"/>
              <a:gd name="T53" fmla="*/ 110 h 238"/>
              <a:gd name="T54" fmla="*/ 18 w 192"/>
              <a:gd name="T55" fmla="*/ 128 h 238"/>
              <a:gd name="T56" fmla="*/ 36 w 192"/>
              <a:gd name="T57" fmla="*/ 110 h 238"/>
              <a:gd name="T58" fmla="*/ 18 w 192"/>
              <a:gd name="T59" fmla="*/ 92 h 238"/>
              <a:gd name="T60" fmla="*/ 18 w 192"/>
              <a:gd name="T61" fmla="*/ 0 h 238"/>
              <a:gd name="T62" fmla="*/ 0 w 192"/>
              <a:gd name="T63" fmla="*/ 18 h 238"/>
              <a:gd name="T64" fmla="*/ 18 w 192"/>
              <a:gd name="T65" fmla="*/ 37 h 238"/>
              <a:gd name="T66" fmla="*/ 36 w 192"/>
              <a:gd name="T67" fmla="*/ 18 h 238"/>
              <a:gd name="T68" fmla="*/ 18 w 192"/>
              <a:gd name="T69" fmla="*/ 0 h 238"/>
              <a:gd name="T70" fmla="*/ 128 w 192"/>
              <a:gd name="T71" fmla="*/ 122 h 238"/>
              <a:gd name="T72" fmla="*/ 128 w 192"/>
              <a:gd name="T73" fmla="*/ 64 h 238"/>
              <a:gd name="T74" fmla="*/ 109 w 192"/>
              <a:gd name="T75" fmla="*/ 46 h 238"/>
              <a:gd name="T76" fmla="*/ 91 w 192"/>
              <a:gd name="T77" fmla="*/ 64 h 238"/>
              <a:gd name="T78" fmla="*/ 91 w 192"/>
              <a:gd name="T79" fmla="*/ 169 h 238"/>
              <a:gd name="T80" fmla="*/ 82 w 192"/>
              <a:gd name="T81" fmla="*/ 152 h 238"/>
              <a:gd name="T82" fmla="*/ 57 w 192"/>
              <a:gd name="T83" fmla="*/ 145 h 238"/>
              <a:gd name="T84" fmla="*/ 57 w 192"/>
              <a:gd name="T85" fmla="*/ 145 h 238"/>
              <a:gd name="T86" fmla="*/ 50 w 192"/>
              <a:gd name="T87" fmla="*/ 170 h 238"/>
              <a:gd name="T88" fmla="*/ 88 w 192"/>
              <a:gd name="T89" fmla="*/ 238 h 238"/>
              <a:gd name="T90" fmla="*/ 178 w 192"/>
              <a:gd name="T91" fmla="*/ 238 h 238"/>
              <a:gd name="T92" fmla="*/ 192 w 192"/>
              <a:gd name="T93" fmla="*/ 153 h 238"/>
              <a:gd name="T94" fmla="*/ 128 w 192"/>
              <a:gd name="T95" fmla="*/ 1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2" h="238">
                <a:moveTo>
                  <a:pt x="109" y="37"/>
                </a:moveTo>
                <a:cubicBezTo>
                  <a:pt x="120" y="37"/>
                  <a:pt x="128" y="28"/>
                  <a:pt x="128" y="18"/>
                </a:cubicBezTo>
                <a:cubicBezTo>
                  <a:pt x="128" y="8"/>
                  <a:pt x="120" y="0"/>
                  <a:pt x="109" y="0"/>
                </a:cubicBezTo>
                <a:cubicBezTo>
                  <a:pt x="99" y="0"/>
                  <a:pt x="91" y="8"/>
                  <a:pt x="91" y="18"/>
                </a:cubicBezTo>
                <a:cubicBezTo>
                  <a:pt x="91" y="28"/>
                  <a:pt x="99" y="37"/>
                  <a:pt x="109" y="37"/>
                </a:cubicBezTo>
                <a:close/>
                <a:moveTo>
                  <a:pt x="64" y="82"/>
                </a:moveTo>
                <a:cubicBezTo>
                  <a:pt x="74" y="82"/>
                  <a:pt x="82" y="74"/>
                  <a:pt x="82" y="64"/>
                </a:cubicBezTo>
                <a:cubicBezTo>
                  <a:pt x="82" y="54"/>
                  <a:pt x="74" y="46"/>
                  <a:pt x="64" y="46"/>
                </a:cubicBezTo>
                <a:cubicBezTo>
                  <a:pt x="54" y="46"/>
                  <a:pt x="45" y="54"/>
                  <a:pt x="45" y="64"/>
                </a:cubicBezTo>
                <a:cubicBezTo>
                  <a:pt x="45" y="74"/>
                  <a:pt x="54" y="82"/>
                  <a:pt x="64" y="82"/>
                </a:cubicBezTo>
                <a:close/>
                <a:moveTo>
                  <a:pt x="64" y="128"/>
                </a:moveTo>
                <a:cubicBezTo>
                  <a:pt x="74" y="128"/>
                  <a:pt x="82" y="120"/>
                  <a:pt x="82" y="110"/>
                </a:cubicBezTo>
                <a:cubicBezTo>
                  <a:pt x="82" y="100"/>
                  <a:pt x="74" y="92"/>
                  <a:pt x="64" y="92"/>
                </a:cubicBezTo>
                <a:cubicBezTo>
                  <a:pt x="54" y="92"/>
                  <a:pt x="45" y="100"/>
                  <a:pt x="45" y="110"/>
                </a:cubicBezTo>
                <a:cubicBezTo>
                  <a:pt x="45" y="120"/>
                  <a:pt x="54" y="128"/>
                  <a:pt x="64" y="128"/>
                </a:cubicBezTo>
                <a:close/>
                <a:moveTo>
                  <a:pt x="64" y="37"/>
                </a:moveTo>
                <a:cubicBezTo>
                  <a:pt x="74" y="37"/>
                  <a:pt x="82" y="28"/>
                  <a:pt x="82" y="18"/>
                </a:cubicBezTo>
                <a:cubicBezTo>
                  <a:pt x="82" y="8"/>
                  <a:pt x="74" y="0"/>
                  <a:pt x="64" y="0"/>
                </a:cubicBezTo>
                <a:cubicBezTo>
                  <a:pt x="54" y="0"/>
                  <a:pt x="45" y="8"/>
                  <a:pt x="45" y="18"/>
                </a:cubicBezTo>
                <a:cubicBezTo>
                  <a:pt x="45" y="28"/>
                  <a:pt x="54" y="37"/>
                  <a:pt x="64" y="37"/>
                </a:cubicBezTo>
                <a:close/>
                <a:moveTo>
                  <a:pt x="18" y="46"/>
                </a:moveTo>
                <a:cubicBezTo>
                  <a:pt x="8" y="46"/>
                  <a:pt x="0" y="54"/>
                  <a:pt x="0" y="64"/>
                </a:cubicBezTo>
                <a:cubicBezTo>
                  <a:pt x="0" y="74"/>
                  <a:pt x="8" y="82"/>
                  <a:pt x="18" y="82"/>
                </a:cubicBezTo>
                <a:cubicBezTo>
                  <a:pt x="28" y="82"/>
                  <a:pt x="36" y="74"/>
                  <a:pt x="36" y="64"/>
                </a:cubicBezTo>
                <a:cubicBezTo>
                  <a:pt x="36" y="54"/>
                  <a:pt x="28" y="46"/>
                  <a:pt x="18" y="46"/>
                </a:cubicBezTo>
                <a:close/>
                <a:moveTo>
                  <a:pt x="18" y="92"/>
                </a:moveTo>
                <a:cubicBezTo>
                  <a:pt x="8" y="92"/>
                  <a:pt x="0" y="100"/>
                  <a:pt x="0" y="110"/>
                </a:cubicBezTo>
                <a:cubicBezTo>
                  <a:pt x="0" y="120"/>
                  <a:pt x="8" y="128"/>
                  <a:pt x="18" y="128"/>
                </a:cubicBezTo>
                <a:cubicBezTo>
                  <a:pt x="28" y="128"/>
                  <a:pt x="36" y="120"/>
                  <a:pt x="36" y="110"/>
                </a:cubicBezTo>
                <a:cubicBezTo>
                  <a:pt x="36" y="100"/>
                  <a:pt x="28" y="92"/>
                  <a:pt x="18" y="92"/>
                </a:cubicBezTo>
                <a:close/>
                <a:moveTo>
                  <a:pt x="18" y="0"/>
                </a:moveTo>
                <a:cubicBezTo>
                  <a:pt x="8" y="0"/>
                  <a:pt x="0" y="8"/>
                  <a:pt x="0" y="18"/>
                </a:cubicBezTo>
                <a:cubicBezTo>
                  <a:pt x="0" y="28"/>
                  <a:pt x="8" y="37"/>
                  <a:pt x="18" y="37"/>
                </a:cubicBezTo>
                <a:cubicBezTo>
                  <a:pt x="28" y="37"/>
                  <a:pt x="36" y="28"/>
                  <a:pt x="36" y="18"/>
                </a:cubicBezTo>
                <a:cubicBezTo>
                  <a:pt x="36" y="8"/>
                  <a:pt x="28" y="0"/>
                  <a:pt x="18" y="0"/>
                </a:cubicBezTo>
                <a:close/>
                <a:moveTo>
                  <a:pt x="128" y="122"/>
                </a:moveTo>
                <a:cubicBezTo>
                  <a:pt x="128" y="64"/>
                  <a:pt x="128" y="64"/>
                  <a:pt x="128" y="64"/>
                </a:cubicBezTo>
                <a:cubicBezTo>
                  <a:pt x="128" y="54"/>
                  <a:pt x="120" y="46"/>
                  <a:pt x="109" y="46"/>
                </a:cubicBezTo>
                <a:cubicBezTo>
                  <a:pt x="99" y="46"/>
                  <a:pt x="91" y="54"/>
                  <a:pt x="91" y="64"/>
                </a:cubicBezTo>
                <a:cubicBezTo>
                  <a:pt x="91" y="169"/>
                  <a:pt x="91" y="169"/>
                  <a:pt x="91" y="169"/>
                </a:cubicBezTo>
                <a:cubicBezTo>
                  <a:pt x="82" y="152"/>
                  <a:pt x="82" y="152"/>
                  <a:pt x="82" y="152"/>
                </a:cubicBezTo>
                <a:cubicBezTo>
                  <a:pt x="77" y="144"/>
                  <a:pt x="65" y="141"/>
                  <a:pt x="57" y="145"/>
                </a:cubicBezTo>
                <a:cubicBezTo>
                  <a:pt x="57" y="145"/>
                  <a:pt x="57" y="145"/>
                  <a:pt x="57" y="145"/>
                </a:cubicBezTo>
                <a:cubicBezTo>
                  <a:pt x="48" y="150"/>
                  <a:pt x="45" y="162"/>
                  <a:pt x="50" y="170"/>
                </a:cubicBezTo>
                <a:cubicBezTo>
                  <a:pt x="88" y="238"/>
                  <a:pt x="88" y="238"/>
                  <a:pt x="88" y="238"/>
                </a:cubicBezTo>
                <a:cubicBezTo>
                  <a:pt x="178" y="238"/>
                  <a:pt x="178" y="238"/>
                  <a:pt x="178" y="238"/>
                </a:cubicBezTo>
                <a:cubicBezTo>
                  <a:pt x="192" y="153"/>
                  <a:pt x="192" y="153"/>
                  <a:pt x="192" y="153"/>
                </a:cubicBezTo>
                <a:lnTo>
                  <a:pt x="128" y="12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Freeform 15"/>
          <p:cNvSpPr>
            <a:spLocks noEditPoints="1"/>
          </p:cNvSpPr>
          <p:nvPr userDrawn="1"/>
        </p:nvSpPr>
        <p:spPr bwMode="auto">
          <a:xfrm>
            <a:off x="7582201" y="3746856"/>
            <a:ext cx="240770" cy="283666"/>
          </a:xfrm>
          <a:custGeom>
            <a:avLst/>
            <a:gdLst>
              <a:gd name="T0" fmla="*/ 253 w 348"/>
              <a:gd name="T1" fmla="*/ 205 h 410"/>
              <a:gd name="T2" fmla="*/ 253 w 348"/>
              <a:gd name="T3" fmla="*/ 141 h 410"/>
              <a:gd name="T4" fmla="*/ 174 w 348"/>
              <a:gd name="T5" fmla="*/ 93 h 410"/>
              <a:gd name="T6" fmla="*/ 95 w 348"/>
              <a:gd name="T7" fmla="*/ 141 h 410"/>
              <a:gd name="T8" fmla="*/ 95 w 348"/>
              <a:gd name="T9" fmla="*/ 205 h 410"/>
              <a:gd name="T10" fmla="*/ 174 w 348"/>
              <a:gd name="T11" fmla="*/ 157 h 410"/>
              <a:gd name="T12" fmla="*/ 253 w 348"/>
              <a:gd name="T13" fmla="*/ 205 h 410"/>
              <a:gd name="T14" fmla="*/ 253 w 348"/>
              <a:gd name="T15" fmla="*/ 110 h 410"/>
              <a:gd name="T16" fmla="*/ 253 w 348"/>
              <a:gd name="T17" fmla="*/ 46 h 410"/>
              <a:gd name="T18" fmla="*/ 174 w 348"/>
              <a:gd name="T19" fmla="*/ 0 h 410"/>
              <a:gd name="T20" fmla="*/ 95 w 348"/>
              <a:gd name="T21" fmla="*/ 46 h 410"/>
              <a:gd name="T22" fmla="*/ 95 w 348"/>
              <a:gd name="T23" fmla="*/ 110 h 410"/>
              <a:gd name="T24" fmla="*/ 174 w 348"/>
              <a:gd name="T25" fmla="*/ 62 h 410"/>
              <a:gd name="T26" fmla="*/ 253 w 348"/>
              <a:gd name="T27" fmla="*/ 110 h 410"/>
              <a:gd name="T28" fmla="*/ 253 w 348"/>
              <a:gd name="T29" fmla="*/ 298 h 410"/>
              <a:gd name="T30" fmla="*/ 253 w 348"/>
              <a:gd name="T31" fmla="*/ 234 h 410"/>
              <a:gd name="T32" fmla="*/ 174 w 348"/>
              <a:gd name="T33" fmla="*/ 188 h 410"/>
              <a:gd name="T34" fmla="*/ 95 w 348"/>
              <a:gd name="T35" fmla="*/ 234 h 410"/>
              <a:gd name="T36" fmla="*/ 95 w 348"/>
              <a:gd name="T37" fmla="*/ 298 h 410"/>
              <a:gd name="T38" fmla="*/ 174 w 348"/>
              <a:gd name="T39" fmla="*/ 251 h 410"/>
              <a:gd name="T40" fmla="*/ 253 w 348"/>
              <a:gd name="T41" fmla="*/ 298 h 410"/>
              <a:gd name="T42" fmla="*/ 291 w 348"/>
              <a:gd name="T43" fmla="*/ 362 h 410"/>
              <a:gd name="T44" fmla="*/ 291 w 348"/>
              <a:gd name="T45" fmla="*/ 331 h 410"/>
              <a:gd name="T46" fmla="*/ 253 w 348"/>
              <a:gd name="T47" fmla="*/ 331 h 410"/>
              <a:gd name="T48" fmla="*/ 174 w 348"/>
              <a:gd name="T49" fmla="*/ 282 h 410"/>
              <a:gd name="T50" fmla="*/ 95 w 348"/>
              <a:gd name="T51" fmla="*/ 331 h 410"/>
              <a:gd name="T52" fmla="*/ 55 w 348"/>
              <a:gd name="T53" fmla="*/ 331 h 410"/>
              <a:gd name="T54" fmla="*/ 55 w 348"/>
              <a:gd name="T55" fmla="*/ 362 h 410"/>
              <a:gd name="T56" fmla="*/ 0 w 348"/>
              <a:gd name="T57" fmla="*/ 362 h 410"/>
              <a:gd name="T58" fmla="*/ 0 w 348"/>
              <a:gd name="T59" fmla="*/ 410 h 410"/>
              <a:gd name="T60" fmla="*/ 348 w 348"/>
              <a:gd name="T61" fmla="*/ 410 h 410"/>
              <a:gd name="T62" fmla="*/ 348 w 348"/>
              <a:gd name="T63" fmla="*/ 362 h 410"/>
              <a:gd name="T64" fmla="*/ 291 w 348"/>
              <a:gd name="T65" fmla="*/ 36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8" h="410">
                <a:moveTo>
                  <a:pt x="253" y="205"/>
                </a:moveTo>
                <a:lnTo>
                  <a:pt x="253" y="141"/>
                </a:lnTo>
                <a:lnTo>
                  <a:pt x="174" y="93"/>
                </a:lnTo>
                <a:lnTo>
                  <a:pt x="95" y="141"/>
                </a:lnTo>
                <a:lnTo>
                  <a:pt x="95" y="205"/>
                </a:lnTo>
                <a:lnTo>
                  <a:pt x="174" y="157"/>
                </a:lnTo>
                <a:lnTo>
                  <a:pt x="253" y="205"/>
                </a:lnTo>
                <a:close/>
                <a:moveTo>
                  <a:pt x="253" y="110"/>
                </a:moveTo>
                <a:lnTo>
                  <a:pt x="253" y="46"/>
                </a:lnTo>
                <a:lnTo>
                  <a:pt x="174" y="0"/>
                </a:lnTo>
                <a:lnTo>
                  <a:pt x="95" y="46"/>
                </a:lnTo>
                <a:lnTo>
                  <a:pt x="95" y="110"/>
                </a:lnTo>
                <a:lnTo>
                  <a:pt x="174" y="62"/>
                </a:lnTo>
                <a:lnTo>
                  <a:pt x="253" y="110"/>
                </a:lnTo>
                <a:close/>
                <a:moveTo>
                  <a:pt x="253" y="298"/>
                </a:moveTo>
                <a:lnTo>
                  <a:pt x="253" y="234"/>
                </a:lnTo>
                <a:lnTo>
                  <a:pt x="174" y="188"/>
                </a:lnTo>
                <a:lnTo>
                  <a:pt x="95" y="234"/>
                </a:lnTo>
                <a:lnTo>
                  <a:pt x="95" y="298"/>
                </a:lnTo>
                <a:lnTo>
                  <a:pt x="174" y="251"/>
                </a:lnTo>
                <a:lnTo>
                  <a:pt x="253" y="298"/>
                </a:lnTo>
                <a:close/>
                <a:moveTo>
                  <a:pt x="291" y="362"/>
                </a:moveTo>
                <a:lnTo>
                  <a:pt x="291" y="331"/>
                </a:lnTo>
                <a:lnTo>
                  <a:pt x="253" y="331"/>
                </a:lnTo>
                <a:lnTo>
                  <a:pt x="174" y="282"/>
                </a:lnTo>
                <a:lnTo>
                  <a:pt x="95" y="331"/>
                </a:lnTo>
                <a:lnTo>
                  <a:pt x="55" y="331"/>
                </a:lnTo>
                <a:lnTo>
                  <a:pt x="55" y="362"/>
                </a:lnTo>
                <a:lnTo>
                  <a:pt x="0" y="362"/>
                </a:lnTo>
                <a:lnTo>
                  <a:pt x="0" y="410"/>
                </a:lnTo>
                <a:lnTo>
                  <a:pt x="348" y="410"/>
                </a:lnTo>
                <a:lnTo>
                  <a:pt x="348" y="362"/>
                </a:lnTo>
                <a:lnTo>
                  <a:pt x="291" y="36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28" name="Freeform 11"/>
          <p:cNvSpPr>
            <a:spLocks noEditPoints="1"/>
          </p:cNvSpPr>
          <p:nvPr userDrawn="1"/>
        </p:nvSpPr>
        <p:spPr bwMode="auto">
          <a:xfrm>
            <a:off x="8993826" y="5013275"/>
            <a:ext cx="261706" cy="261706"/>
          </a:xfrm>
          <a:custGeom>
            <a:avLst/>
            <a:gdLst>
              <a:gd name="T0" fmla="*/ 253 w 462"/>
              <a:gd name="T1" fmla="*/ 357 h 462"/>
              <a:gd name="T2" fmla="*/ 253 w 462"/>
              <a:gd name="T3" fmla="*/ 405 h 462"/>
              <a:gd name="T4" fmla="*/ 289 w 462"/>
              <a:gd name="T5" fmla="*/ 414 h 462"/>
              <a:gd name="T6" fmla="*/ 328 w 462"/>
              <a:gd name="T7" fmla="*/ 437 h 462"/>
              <a:gd name="T8" fmla="*/ 328 w 462"/>
              <a:gd name="T9" fmla="*/ 457 h 462"/>
              <a:gd name="T10" fmla="*/ 317 w 462"/>
              <a:gd name="T11" fmla="*/ 462 h 462"/>
              <a:gd name="T12" fmla="*/ 231 w 462"/>
              <a:gd name="T13" fmla="*/ 462 h 462"/>
              <a:gd name="T14" fmla="*/ 144 w 462"/>
              <a:gd name="T15" fmla="*/ 462 h 462"/>
              <a:gd name="T16" fmla="*/ 134 w 462"/>
              <a:gd name="T17" fmla="*/ 457 h 462"/>
              <a:gd name="T18" fmla="*/ 134 w 462"/>
              <a:gd name="T19" fmla="*/ 437 h 462"/>
              <a:gd name="T20" fmla="*/ 173 w 462"/>
              <a:gd name="T21" fmla="*/ 414 h 462"/>
              <a:gd name="T22" fmla="*/ 209 w 462"/>
              <a:gd name="T23" fmla="*/ 405 h 462"/>
              <a:gd name="T24" fmla="*/ 209 w 462"/>
              <a:gd name="T25" fmla="*/ 357 h 462"/>
              <a:gd name="T26" fmla="*/ 200 w 462"/>
              <a:gd name="T27" fmla="*/ 351 h 462"/>
              <a:gd name="T28" fmla="*/ 43 w 462"/>
              <a:gd name="T29" fmla="*/ 202 h 462"/>
              <a:gd name="T30" fmla="*/ 0 w 462"/>
              <a:gd name="T31" fmla="*/ 94 h 462"/>
              <a:gd name="T32" fmla="*/ 24 w 462"/>
              <a:gd name="T33" fmla="*/ 27 h 462"/>
              <a:gd name="T34" fmla="*/ 87 w 462"/>
              <a:gd name="T35" fmla="*/ 0 h 462"/>
              <a:gd name="T36" fmla="*/ 116 w 462"/>
              <a:gd name="T37" fmla="*/ 0 h 462"/>
              <a:gd name="T38" fmla="*/ 137 w 462"/>
              <a:gd name="T39" fmla="*/ 22 h 462"/>
              <a:gd name="T40" fmla="*/ 137 w 462"/>
              <a:gd name="T41" fmla="*/ 65 h 462"/>
              <a:gd name="T42" fmla="*/ 231 w 462"/>
              <a:gd name="T43" fmla="*/ 65 h 462"/>
              <a:gd name="T44" fmla="*/ 325 w 462"/>
              <a:gd name="T45" fmla="*/ 65 h 462"/>
              <a:gd name="T46" fmla="*/ 325 w 462"/>
              <a:gd name="T47" fmla="*/ 22 h 462"/>
              <a:gd name="T48" fmla="*/ 346 w 462"/>
              <a:gd name="T49" fmla="*/ 0 h 462"/>
              <a:gd name="T50" fmla="*/ 375 w 462"/>
              <a:gd name="T51" fmla="*/ 0 h 462"/>
              <a:gd name="T52" fmla="*/ 438 w 462"/>
              <a:gd name="T53" fmla="*/ 27 h 462"/>
              <a:gd name="T54" fmla="*/ 462 w 462"/>
              <a:gd name="T55" fmla="*/ 94 h 462"/>
              <a:gd name="T56" fmla="*/ 419 w 462"/>
              <a:gd name="T57" fmla="*/ 202 h 462"/>
              <a:gd name="T58" fmla="*/ 262 w 462"/>
              <a:gd name="T59" fmla="*/ 351 h 462"/>
              <a:gd name="T60" fmla="*/ 253 w 462"/>
              <a:gd name="T61" fmla="*/ 357 h 462"/>
              <a:gd name="T62" fmla="*/ 94 w 462"/>
              <a:gd name="T63" fmla="*/ 111 h 462"/>
              <a:gd name="T64" fmla="*/ 94 w 462"/>
              <a:gd name="T65" fmla="*/ 43 h 462"/>
              <a:gd name="T66" fmla="*/ 87 w 462"/>
              <a:gd name="T67" fmla="*/ 43 h 462"/>
              <a:gd name="T68" fmla="*/ 56 w 462"/>
              <a:gd name="T69" fmla="*/ 56 h 462"/>
              <a:gd name="T70" fmla="*/ 43 w 462"/>
              <a:gd name="T71" fmla="*/ 94 h 462"/>
              <a:gd name="T72" fmla="*/ 78 w 462"/>
              <a:gd name="T73" fmla="*/ 176 h 462"/>
              <a:gd name="T74" fmla="*/ 97 w 462"/>
              <a:gd name="T75" fmla="*/ 200 h 462"/>
              <a:gd name="T76" fmla="*/ 94 w 462"/>
              <a:gd name="T77" fmla="*/ 111 h 462"/>
              <a:gd name="T78" fmla="*/ 368 w 462"/>
              <a:gd name="T79" fmla="*/ 111 h 462"/>
              <a:gd name="T80" fmla="*/ 365 w 462"/>
              <a:gd name="T81" fmla="*/ 200 h 462"/>
              <a:gd name="T82" fmla="*/ 384 w 462"/>
              <a:gd name="T83" fmla="*/ 176 h 462"/>
              <a:gd name="T84" fmla="*/ 418 w 462"/>
              <a:gd name="T85" fmla="*/ 94 h 462"/>
              <a:gd name="T86" fmla="*/ 405 w 462"/>
              <a:gd name="T87" fmla="*/ 56 h 462"/>
              <a:gd name="T88" fmla="*/ 375 w 462"/>
              <a:gd name="T89" fmla="*/ 43 h 462"/>
              <a:gd name="T90" fmla="*/ 368 w 462"/>
              <a:gd name="T91" fmla="*/ 43 h 462"/>
              <a:gd name="T92" fmla="*/ 368 w 462"/>
              <a:gd name="T93" fmla="*/ 111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462">
                <a:moveTo>
                  <a:pt x="253" y="357"/>
                </a:moveTo>
                <a:cubicBezTo>
                  <a:pt x="253" y="405"/>
                  <a:pt x="253" y="405"/>
                  <a:pt x="253" y="405"/>
                </a:cubicBezTo>
                <a:cubicBezTo>
                  <a:pt x="263" y="406"/>
                  <a:pt x="276" y="409"/>
                  <a:pt x="289" y="414"/>
                </a:cubicBezTo>
                <a:cubicBezTo>
                  <a:pt x="303" y="419"/>
                  <a:pt x="317" y="426"/>
                  <a:pt x="328" y="437"/>
                </a:cubicBezTo>
                <a:cubicBezTo>
                  <a:pt x="333" y="443"/>
                  <a:pt x="333" y="452"/>
                  <a:pt x="328" y="457"/>
                </a:cubicBezTo>
                <a:cubicBezTo>
                  <a:pt x="325" y="460"/>
                  <a:pt x="321" y="462"/>
                  <a:pt x="317" y="462"/>
                </a:cubicBezTo>
                <a:cubicBezTo>
                  <a:pt x="231" y="462"/>
                  <a:pt x="231" y="462"/>
                  <a:pt x="231" y="462"/>
                </a:cubicBezTo>
                <a:cubicBezTo>
                  <a:pt x="144" y="462"/>
                  <a:pt x="144" y="462"/>
                  <a:pt x="144" y="462"/>
                </a:cubicBezTo>
                <a:cubicBezTo>
                  <a:pt x="140" y="462"/>
                  <a:pt x="137" y="460"/>
                  <a:pt x="134" y="457"/>
                </a:cubicBezTo>
                <a:cubicBezTo>
                  <a:pt x="128" y="452"/>
                  <a:pt x="128" y="443"/>
                  <a:pt x="134" y="437"/>
                </a:cubicBezTo>
                <a:cubicBezTo>
                  <a:pt x="145" y="426"/>
                  <a:pt x="159" y="419"/>
                  <a:pt x="173" y="414"/>
                </a:cubicBezTo>
                <a:cubicBezTo>
                  <a:pt x="186" y="409"/>
                  <a:pt x="199" y="406"/>
                  <a:pt x="209" y="405"/>
                </a:cubicBezTo>
                <a:cubicBezTo>
                  <a:pt x="209" y="357"/>
                  <a:pt x="209" y="357"/>
                  <a:pt x="209" y="357"/>
                </a:cubicBezTo>
                <a:cubicBezTo>
                  <a:pt x="206" y="355"/>
                  <a:pt x="203" y="353"/>
                  <a:pt x="200" y="351"/>
                </a:cubicBezTo>
                <a:cubicBezTo>
                  <a:pt x="140" y="313"/>
                  <a:pt x="85" y="259"/>
                  <a:pt x="43" y="202"/>
                </a:cubicBezTo>
                <a:cubicBezTo>
                  <a:pt x="18" y="168"/>
                  <a:pt x="0" y="131"/>
                  <a:pt x="0" y="94"/>
                </a:cubicBezTo>
                <a:cubicBezTo>
                  <a:pt x="0" y="69"/>
                  <a:pt x="8" y="45"/>
                  <a:pt x="24" y="27"/>
                </a:cubicBezTo>
                <a:cubicBezTo>
                  <a:pt x="39" y="11"/>
                  <a:pt x="60" y="0"/>
                  <a:pt x="87" y="0"/>
                </a:cubicBezTo>
                <a:cubicBezTo>
                  <a:pt x="116" y="0"/>
                  <a:pt x="116" y="0"/>
                  <a:pt x="116" y="0"/>
                </a:cubicBezTo>
                <a:cubicBezTo>
                  <a:pt x="127" y="0"/>
                  <a:pt x="137" y="10"/>
                  <a:pt x="137" y="22"/>
                </a:cubicBezTo>
                <a:cubicBezTo>
                  <a:pt x="137" y="65"/>
                  <a:pt x="137" y="65"/>
                  <a:pt x="137" y="65"/>
                </a:cubicBezTo>
                <a:cubicBezTo>
                  <a:pt x="231" y="65"/>
                  <a:pt x="231" y="65"/>
                  <a:pt x="231" y="65"/>
                </a:cubicBezTo>
                <a:cubicBezTo>
                  <a:pt x="325" y="65"/>
                  <a:pt x="325" y="65"/>
                  <a:pt x="325" y="65"/>
                </a:cubicBezTo>
                <a:cubicBezTo>
                  <a:pt x="325" y="22"/>
                  <a:pt x="325" y="22"/>
                  <a:pt x="325" y="22"/>
                </a:cubicBezTo>
                <a:cubicBezTo>
                  <a:pt x="325" y="10"/>
                  <a:pt x="334" y="0"/>
                  <a:pt x="346" y="0"/>
                </a:cubicBezTo>
                <a:cubicBezTo>
                  <a:pt x="375" y="0"/>
                  <a:pt x="375" y="0"/>
                  <a:pt x="375" y="0"/>
                </a:cubicBezTo>
                <a:cubicBezTo>
                  <a:pt x="402" y="0"/>
                  <a:pt x="423" y="11"/>
                  <a:pt x="438" y="27"/>
                </a:cubicBezTo>
                <a:cubicBezTo>
                  <a:pt x="454" y="45"/>
                  <a:pt x="462" y="69"/>
                  <a:pt x="462" y="94"/>
                </a:cubicBezTo>
                <a:cubicBezTo>
                  <a:pt x="462" y="131"/>
                  <a:pt x="444" y="168"/>
                  <a:pt x="419" y="202"/>
                </a:cubicBezTo>
                <a:cubicBezTo>
                  <a:pt x="377" y="259"/>
                  <a:pt x="322" y="313"/>
                  <a:pt x="262" y="351"/>
                </a:cubicBezTo>
                <a:cubicBezTo>
                  <a:pt x="259" y="353"/>
                  <a:pt x="256" y="355"/>
                  <a:pt x="253" y="357"/>
                </a:cubicBezTo>
                <a:close/>
                <a:moveTo>
                  <a:pt x="94" y="111"/>
                </a:moveTo>
                <a:cubicBezTo>
                  <a:pt x="94" y="43"/>
                  <a:pt x="94" y="43"/>
                  <a:pt x="94" y="43"/>
                </a:cubicBezTo>
                <a:cubicBezTo>
                  <a:pt x="87" y="43"/>
                  <a:pt x="87" y="43"/>
                  <a:pt x="87" y="43"/>
                </a:cubicBezTo>
                <a:cubicBezTo>
                  <a:pt x="73" y="43"/>
                  <a:pt x="63" y="48"/>
                  <a:pt x="56" y="56"/>
                </a:cubicBezTo>
                <a:cubicBezTo>
                  <a:pt x="48" y="65"/>
                  <a:pt x="43" y="79"/>
                  <a:pt x="43" y="94"/>
                </a:cubicBezTo>
                <a:cubicBezTo>
                  <a:pt x="43" y="120"/>
                  <a:pt x="58" y="149"/>
                  <a:pt x="78" y="176"/>
                </a:cubicBezTo>
                <a:cubicBezTo>
                  <a:pt x="84" y="184"/>
                  <a:pt x="90" y="192"/>
                  <a:pt x="97" y="200"/>
                </a:cubicBezTo>
                <a:cubicBezTo>
                  <a:pt x="95" y="176"/>
                  <a:pt x="94" y="147"/>
                  <a:pt x="94" y="111"/>
                </a:cubicBezTo>
                <a:close/>
                <a:moveTo>
                  <a:pt x="368" y="111"/>
                </a:moveTo>
                <a:cubicBezTo>
                  <a:pt x="368" y="147"/>
                  <a:pt x="367" y="176"/>
                  <a:pt x="365" y="200"/>
                </a:cubicBezTo>
                <a:cubicBezTo>
                  <a:pt x="372" y="192"/>
                  <a:pt x="378" y="184"/>
                  <a:pt x="384" y="176"/>
                </a:cubicBezTo>
                <a:cubicBezTo>
                  <a:pt x="404" y="149"/>
                  <a:pt x="418" y="120"/>
                  <a:pt x="418" y="94"/>
                </a:cubicBezTo>
                <a:cubicBezTo>
                  <a:pt x="418" y="79"/>
                  <a:pt x="414" y="65"/>
                  <a:pt x="405" y="56"/>
                </a:cubicBezTo>
                <a:cubicBezTo>
                  <a:pt x="399" y="48"/>
                  <a:pt x="389" y="43"/>
                  <a:pt x="375" y="43"/>
                </a:cubicBezTo>
                <a:cubicBezTo>
                  <a:pt x="368" y="43"/>
                  <a:pt x="368" y="43"/>
                  <a:pt x="368" y="43"/>
                </a:cubicBezTo>
                <a:lnTo>
                  <a:pt x="368" y="11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90" name="Group 689"/>
          <p:cNvGrpSpPr/>
          <p:nvPr userDrawn="1"/>
        </p:nvGrpSpPr>
        <p:grpSpPr>
          <a:xfrm>
            <a:off x="8914545" y="6150345"/>
            <a:ext cx="356895" cy="176194"/>
            <a:chOff x="7645734" y="6227350"/>
            <a:chExt cx="594494" cy="293493"/>
          </a:xfrm>
          <a:solidFill>
            <a:schemeClr val="tx1"/>
          </a:solidFill>
        </p:grpSpPr>
        <p:sp>
          <p:nvSpPr>
            <p:cNvPr id="639" name="Freeform 7"/>
            <p:cNvSpPr>
              <a:spLocks/>
            </p:cNvSpPr>
            <p:nvPr userDrawn="1"/>
          </p:nvSpPr>
          <p:spPr bwMode="auto">
            <a:xfrm>
              <a:off x="8140173" y="6382851"/>
              <a:ext cx="52529" cy="122984"/>
            </a:xfrm>
            <a:custGeom>
              <a:avLst/>
              <a:gdLst>
                <a:gd name="T0" fmla="*/ 30 w 42"/>
                <a:gd name="T1" fmla="*/ 44 h 98"/>
                <a:gd name="T2" fmla="*/ 30 w 42"/>
                <a:gd name="T3" fmla="*/ 0 h 98"/>
                <a:gd name="T4" fmla="*/ 10 w 42"/>
                <a:gd name="T5" fmla="*/ 8 h 98"/>
                <a:gd name="T6" fmla="*/ 10 w 42"/>
                <a:gd name="T7" fmla="*/ 44 h 98"/>
                <a:gd name="T8" fmla="*/ 0 w 42"/>
                <a:gd name="T9" fmla="*/ 62 h 98"/>
                <a:gd name="T10" fmla="*/ 1 w 42"/>
                <a:gd name="T11" fmla="*/ 98 h 98"/>
                <a:gd name="T12" fmla="*/ 42 w 42"/>
                <a:gd name="T13" fmla="*/ 97 h 98"/>
                <a:gd name="T14" fmla="*/ 41 w 42"/>
                <a:gd name="T15" fmla="*/ 61 h 98"/>
                <a:gd name="T16" fmla="*/ 30 w 42"/>
                <a:gd name="T1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98">
                  <a:moveTo>
                    <a:pt x="30" y="44"/>
                  </a:moveTo>
                  <a:cubicBezTo>
                    <a:pt x="30" y="0"/>
                    <a:pt x="30" y="0"/>
                    <a:pt x="30" y="0"/>
                  </a:cubicBezTo>
                  <a:cubicBezTo>
                    <a:pt x="10" y="8"/>
                    <a:pt x="10" y="8"/>
                    <a:pt x="10" y="8"/>
                  </a:cubicBezTo>
                  <a:cubicBezTo>
                    <a:pt x="10" y="44"/>
                    <a:pt x="10" y="44"/>
                    <a:pt x="10" y="44"/>
                  </a:cubicBezTo>
                  <a:cubicBezTo>
                    <a:pt x="4" y="48"/>
                    <a:pt x="0" y="55"/>
                    <a:pt x="0" y="62"/>
                  </a:cubicBezTo>
                  <a:cubicBezTo>
                    <a:pt x="1" y="98"/>
                    <a:pt x="1" y="98"/>
                    <a:pt x="1" y="98"/>
                  </a:cubicBezTo>
                  <a:cubicBezTo>
                    <a:pt x="42" y="97"/>
                    <a:pt x="42" y="97"/>
                    <a:pt x="42" y="97"/>
                  </a:cubicBezTo>
                  <a:cubicBezTo>
                    <a:pt x="41" y="61"/>
                    <a:pt x="41" y="61"/>
                    <a:pt x="41" y="61"/>
                  </a:cubicBezTo>
                  <a:cubicBezTo>
                    <a:pt x="41" y="54"/>
                    <a:pt x="36" y="47"/>
                    <a:pt x="3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0" name="Freeform 8"/>
            <p:cNvSpPr>
              <a:spLocks noEditPoints="1"/>
            </p:cNvSpPr>
            <p:nvPr userDrawn="1"/>
          </p:nvSpPr>
          <p:spPr bwMode="auto">
            <a:xfrm>
              <a:off x="7645734" y="6227350"/>
              <a:ext cx="594494" cy="293493"/>
            </a:xfrm>
            <a:custGeom>
              <a:avLst/>
              <a:gdLst>
                <a:gd name="T0" fmla="*/ 475 w 475"/>
                <a:gd name="T1" fmla="*/ 83 h 234"/>
                <a:gd name="T2" fmla="*/ 236 w 475"/>
                <a:gd name="T3" fmla="*/ 0 h 234"/>
                <a:gd name="T4" fmla="*/ 0 w 475"/>
                <a:gd name="T5" fmla="*/ 93 h 234"/>
                <a:gd name="T6" fmla="*/ 118 w 475"/>
                <a:gd name="T7" fmla="*/ 139 h 234"/>
                <a:gd name="T8" fmla="*/ 119 w 475"/>
                <a:gd name="T9" fmla="*/ 200 h 234"/>
                <a:gd name="T10" fmla="*/ 119 w 475"/>
                <a:gd name="T11" fmla="*/ 200 h 234"/>
                <a:gd name="T12" fmla="*/ 240 w 475"/>
                <a:gd name="T13" fmla="*/ 233 h 234"/>
                <a:gd name="T14" fmla="*/ 359 w 475"/>
                <a:gd name="T15" fmla="*/ 195 h 234"/>
                <a:gd name="T16" fmla="*/ 358 w 475"/>
                <a:gd name="T17" fmla="*/ 134 h 234"/>
                <a:gd name="T18" fmla="*/ 475 w 475"/>
                <a:gd name="T19" fmla="*/ 83 h 234"/>
                <a:gd name="T20" fmla="*/ 313 w 475"/>
                <a:gd name="T21" fmla="*/ 200 h 234"/>
                <a:gd name="T22" fmla="*/ 239 w 475"/>
                <a:gd name="T23" fmla="*/ 209 h 234"/>
                <a:gd name="T24" fmla="*/ 166 w 475"/>
                <a:gd name="T25" fmla="*/ 203 h 234"/>
                <a:gd name="T26" fmla="*/ 137 w 475"/>
                <a:gd name="T27" fmla="*/ 192 h 234"/>
                <a:gd name="T28" fmla="*/ 166 w 475"/>
                <a:gd name="T29" fmla="*/ 180 h 234"/>
                <a:gd name="T30" fmla="*/ 239 w 475"/>
                <a:gd name="T31" fmla="*/ 171 h 234"/>
                <a:gd name="T32" fmla="*/ 312 w 475"/>
                <a:gd name="T33" fmla="*/ 177 h 234"/>
                <a:gd name="T34" fmla="*/ 341 w 475"/>
                <a:gd name="T35" fmla="*/ 188 h 234"/>
                <a:gd name="T36" fmla="*/ 313 w 475"/>
                <a:gd name="T37" fmla="*/ 20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5" h="234">
                  <a:moveTo>
                    <a:pt x="475" y="83"/>
                  </a:moveTo>
                  <a:cubicBezTo>
                    <a:pt x="236" y="0"/>
                    <a:pt x="236" y="0"/>
                    <a:pt x="236" y="0"/>
                  </a:cubicBezTo>
                  <a:cubicBezTo>
                    <a:pt x="0" y="93"/>
                    <a:pt x="0" y="93"/>
                    <a:pt x="0" y="93"/>
                  </a:cubicBezTo>
                  <a:cubicBezTo>
                    <a:pt x="118" y="139"/>
                    <a:pt x="118" y="139"/>
                    <a:pt x="118" y="139"/>
                  </a:cubicBezTo>
                  <a:cubicBezTo>
                    <a:pt x="119" y="200"/>
                    <a:pt x="119" y="200"/>
                    <a:pt x="119" y="200"/>
                  </a:cubicBezTo>
                  <a:cubicBezTo>
                    <a:pt x="119" y="200"/>
                    <a:pt x="119" y="200"/>
                    <a:pt x="119" y="200"/>
                  </a:cubicBezTo>
                  <a:cubicBezTo>
                    <a:pt x="119" y="219"/>
                    <a:pt x="173" y="234"/>
                    <a:pt x="240" y="233"/>
                  </a:cubicBezTo>
                  <a:cubicBezTo>
                    <a:pt x="306" y="231"/>
                    <a:pt x="360" y="214"/>
                    <a:pt x="359" y="195"/>
                  </a:cubicBezTo>
                  <a:cubicBezTo>
                    <a:pt x="358" y="134"/>
                    <a:pt x="358" y="134"/>
                    <a:pt x="358" y="134"/>
                  </a:cubicBezTo>
                  <a:lnTo>
                    <a:pt x="475" y="83"/>
                  </a:lnTo>
                  <a:close/>
                  <a:moveTo>
                    <a:pt x="313" y="200"/>
                  </a:moveTo>
                  <a:cubicBezTo>
                    <a:pt x="292" y="205"/>
                    <a:pt x="266" y="208"/>
                    <a:pt x="239" y="209"/>
                  </a:cubicBezTo>
                  <a:cubicBezTo>
                    <a:pt x="213" y="210"/>
                    <a:pt x="186" y="207"/>
                    <a:pt x="166" y="203"/>
                  </a:cubicBezTo>
                  <a:cubicBezTo>
                    <a:pt x="150" y="199"/>
                    <a:pt x="141" y="195"/>
                    <a:pt x="137" y="192"/>
                  </a:cubicBezTo>
                  <a:cubicBezTo>
                    <a:pt x="141" y="189"/>
                    <a:pt x="150" y="185"/>
                    <a:pt x="166" y="180"/>
                  </a:cubicBezTo>
                  <a:cubicBezTo>
                    <a:pt x="186" y="175"/>
                    <a:pt x="212" y="172"/>
                    <a:pt x="239" y="171"/>
                  </a:cubicBezTo>
                  <a:cubicBezTo>
                    <a:pt x="266" y="171"/>
                    <a:pt x="292" y="173"/>
                    <a:pt x="312" y="177"/>
                  </a:cubicBezTo>
                  <a:cubicBezTo>
                    <a:pt x="328" y="181"/>
                    <a:pt x="337" y="185"/>
                    <a:pt x="341" y="188"/>
                  </a:cubicBezTo>
                  <a:cubicBezTo>
                    <a:pt x="337" y="191"/>
                    <a:pt x="329" y="195"/>
                    <a:pt x="313" y="2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91" name="Group 690"/>
          <p:cNvGrpSpPr/>
          <p:nvPr userDrawn="1"/>
        </p:nvGrpSpPr>
        <p:grpSpPr>
          <a:xfrm>
            <a:off x="8992089" y="5525236"/>
            <a:ext cx="263792" cy="260538"/>
            <a:chOff x="6999421" y="5535598"/>
            <a:chExt cx="439408" cy="433988"/>
          </a:xfrm>
          <a:solidFill>
            <a:schemeClr val="tx1"/>
          </a:solidFill>
        </p:grpSpPr>
        <p:sp>
          <p:nvSpPr>
            <p:cNvPr id="642" name="Freeform 9"/>
            <p:cNvSpPr>
              <a:spLocks/>
            </p:cNvSpPr>
            <p:nvPr userDrawn="1"/>
          </p:nvSpPr>
          <p:spPr bwMode="auto">
            <a:xfrm>
              <a:off x="7079465" y="5672340"/>
              <a:ext cx="215327" cy="216994"/>
            </a:xfrm>
            <a:custGeom>
              <a:avLst/>
              <a:gdLst>
                <a:gd name="T0" fmla="*/ 156 w 172"/>
                <a:gd name="T1" fmla="*/ 84 h 173"/>
                <a:gd name="T2" fmla="*/ 155 w 172"/>
                <a:gd name="T3" fmla="*/ 85 h 173"/>
                <a:gd name="T4" fmla="*/ 137 w 172"/>
                <a:gd name="T5" fmla="*/ 99 h 173"/>
                <a:gd name="T6" fmla="*/ 86 w 172"/>
                <a:gd name="T7" fmla="*/ 139 h 173"/>
                <a:gd name="T8" fmla="*/ 34 w 172"/>
                <a:gd name="T9" fmla="*/ 87 h 173"/>
                <a:gd name="T10" fmla="*/ 83 w 172"/>
                <a:gd name="T11" fmla="*/ 34 h 173"/>
                <a:gd name="T12" fmla="*/ 93 w 172"/>
                <a:gd name="T13" fmla="*/ 23 h 173"/>
                <a:gd name="T14" fmla="*/ 94 w 172"/>
                <a:gd name="T15" fmla="*/ 22 h 173"/>
                <a:gd name="T16" fmla="*/ 111 w 172"/>
                <a:gd name="T17" fmla="*/ 6 h 173"/>
                <a:gd name="T18" fmla="*/ 112 w 172"/>
                <a:gd name="T19" fmla="*/ 5 h 173"/>
                <a:gd name="T20" fmla="*/ 112 w 172"/>
                <a:gd name="T21" fmla="*/ 5 h 173"/>
                <a:gd name="T22" fmla="*/ 86 w 172"/>
                <a:gd name="T23" fmla="*/ 0 h 173"/>
                <a:gd name="T24" fmla="*/ 0 w 172"/>
                <a:gd name="T25" fmla="*/ 87 h 173"/>
                <a:gd name="T26" fmla="*/ 86 w 172"/>
                <a:gd name="T27" fmla="*/ 172 h 173"/>
                <a:gd name="T28" fmla="*/ 172 w 172"/>
                <a:gd name="T29" fmla="*/ 86 h 173"/>
                <a:gd name="T30" fmla="*/ 170 w 172"/>
                <a:gd name="T31" fmla="*/ 69 h 173"/>
                <a:gd name="T32" fmla="*/ 156 w 172"/>
                <a:gd name="T33" fmla="*/ 84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2" h="173">
                  <a:moveTo>
                    <a:pt x="156" y="84"/>
                  </a:moveTo>
                  <a:cubicBezTo>
                    <a:pt x="155" y="85"/>
                    <a:pt x="155" y="85"/>
                    <a:pt x="155" y="85"/>
                  </a:cubicBezTo>
                  <a:cubicBezTo>
                    <a:pt x="149" y="90"/>
                    <a:pt x="143" y="95"/>
                    <a:pt x="137" y="99"/>
                  </a:cubicBezTo>
                  <a:cubicBezTo>
                    <a:pt x="131" y="122"/>
                    <a:pt x="111" y="139"/>
                    <a:pt x="86" y="139"/>
                  </a:cubicBezTo>
                  <a:cubicBezTo>
                    <a:pt x="57" y="139"/>
                    <a:pt x="34" y="115"/>
                    <a:pt x="34" y="87"/>
                  </a:cubicBezTo>
                  <a:cubicBezTo>
                    <a:pt x="34" y="58"/>
                    <a:pt x="56" y="36"/>
                    <a:pt x="83" y="34"/>
                  </a:cubicBezTo>
                  <a:cubicBezTo>
                    <a:pt x="86" y="30"/>
                    <a:pt x="90" y="27"/>
                    <a:pt x="93" y="23"/>
                  </a:cubicBezTo>
                  <a:cubicBezTo>
                    <a:pt x="94" y="22"/>
                    <a:pt x="94" y="22"/>
                    <a:pt x="94" y="22"/>
                  </a:cubicBezTo>
                  <a:cubicBezTo>
                    <a:pt x="111" y="6"/>
                    <a:pt x="111" y="6"/>
                    <a:pt x="111" y="6"/>
                  </a:cubicBezTo>
                  <a:cubicBezTo>
                    <a:pt x="112" y="5"/>
                    <a:pt x="112" y="5"/>
                    <a:pt x="112" y="5"/>
                  </a:cubicBezTo>
                  <a:cubicBezTo>
                    <a:pt x="112" y="5"/>
                    <a:pt x="112" y="5"/>
                    <a:pt x="112" y="5"/>
                  </a:cubicBezTo>
                  <a:cubicBezTo>
                    <a:pt x="104" y="2"/>
                    <a:pt x="95" y="0"/>
                    <a:pt x="86" y="0"/>
                  </a:cubicBezTo>
                  <a:cubicBezTo>
                    <a:pt x="38" y="1"/>
                    <a:pt x="0" y="39"/>
                    <a:pt x="0" y="87"/>
                  </a:cubicBezTo>
                  <a:cubicBezTo>
                    <a:pt x="0" y="134"/>
                    <a:pt x="39" y="173"/>
                    <a:pt x="86" y="172"/>
                  </a:cubicBezTo>
                  <a:cubicBezTo>
                    <a:pt x="134" y="172"/>
                    <a:pt x="172" y="134"/>
                    <a:pt x="172" y="86"/>
                  </a:cubicBezTo>
                  <a:cubicBezTo>
                    <a:pt x="172" y="80"/>
                    <a:pt x="172" y="74"/>
                    <a:pt x="170" y="69"/>
                  </a:cubicBezTo>
                  <a:lnTo>
                    <a:pt x="156"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3" name="Freeform 10"/>
            <p:cNvSpPr>
              <a:spLocks/>
            </p:cNvSpPr>
            <p:nvPr userDrawn="1"/>
          </p:nvSpPr>
          <p:spPr bwMode="auto">
            <a:xfrm>
              <a:off x="6999421" y="5592087"/>
              <a:ext cx="375415" cy="377499"/>
            </a:xfrm>
            <a:custGeom>
              <a:avLst/>
              <a:gdLst>
                <a:gd name="T0" fmla="*/ 270 w 300"/>
                <a:gd name="T1" fmla="*/ 78 h 301"/>
                <a:gd name="T2" fmla="*/ 258 w 300"/>
                <a:gd name="T3" fmla="*/ 101 h 301"/>
                <a:gd name="T4" fmla="*/ 268 w 300"/>
                <a:gd name="T5" fmla="*/ 150 h 301"/>
                <a:gd name="T6" fmla="*/ 150 w 300"/>
                <a:gd name="T7" fmla="*/ 269 h 301"/>
                <a:gd name="T8" fmla="*/ 32 w 300"/>
                <a:gd name="T9" fmla="*/ 151 h 301"/>
                <a:gd name="T10" fmla="*/ 150 w 300"/>
                <a:gd name="T11" fmla="*/ 32 h 301"/>
                <a:gd name="T12" fmla="*/ 207 w 300"/>
                <a:gd name="T13" fmla="*/ 47 h 301"/>
                <a:gd name="T14" fmla="*/ 228 w 300"/>
                <a:gd name="T15" fmla="*/ 36 h 301"/>
                <a:gd name="T16" fmla="*/ 226 w 300"/>
                <a:gd name="T17" fmla="*/ 21 h 301"/>
                <a:gd name="T18" fmla="*/ 150 w 300"/>
                <a:gd name="T19" fmla="*/ 0 h 301"/>
                <a:gd name="T20" fmla="*/ 0 w 300"/>
                <a:gd name="T21" fmla="*/ 151 h 301"/>
                <a:gd name="T22" fmla="*/ 151 w 300"/>
                <a:gd name="T23" fmla="*/ 300 h 301"/>
                <a:gd name="T24" fmla="*/ 300 w 300"/>
                <a:gd name="T25" fmla="*/ 150 h 301"/>
                <a:gd name="T26" fmla="*/ 282 w 300"/>
                <a:gd name="T27" fmla="*/ 80 h 301"/>
                <a:gd name="T28" fmla="*/ 270 w 300"/>
                <a:gd name="T29" fmla="*/ 78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0" h="301">
                  <a:moveTo>
                    <a:pt x="270" y="78"/>
                  </a:moveTo>
                  <a:cubicBezTo>
                    <a:pt x="266" y="86"/>
                    <a:pt x="262" y="93"/>
                    <a:pt x="258" y="101"/>
                  </a:cubicBezTo>
                  <a:cubicBezTo>
                    <a:pt x="264" y="116"/>
                    <a:pt x="268" y="133"/>
                    <a:pt x="268" y="150"/>
                  </a:cubicBezTo>
                  <a:cubicBezTo>
                    <a:pt x="269" y="215"/>
                    <a:pt x="216" y="268"/>
                    <a:pt x="150" y="269"/>
                  </a:cubicBezTo>
                  <a:cubicBezTo>
                    <a:pt x="85" y="269"/>
                    <a:pt x="32" y="216"/>
                    <a:pt x="32" y="151"/>
                  </a:cubicBezTo>
                  <a:cubicBezTo>
                    <a:pt x="32" y="85"/>
                    <a:pt x="85" y="32"/>
                    <a:pt x="150" y="32"/>
                  </a:cubicBezTo>
                  <a:cubicBezTo>
                    <a:pt x="171" y="32"/>
                    <a:pt x="190" y="37"/>
                    <a:pt x="207" y="47"/>
                  </a:cubicBezTo>
                  <a:cubicBezTo>
                    <a:pt x="214" y="43"/>
                    <a:pt x="221" y="39"/>
                    <a:pt x="228" y="36"/>
                  </a:cubicBezTo>
                  <a:cubicBezTo>
                    <a:pt x="226" y="21"/>
                    <a:pt x="226" y="21"/>
                    <a:pt x="226" y="21"/>
                  </a:cubicBezTo>
                  <a:cubicBezTo>
                    <a:pt x="204" y="8"/>
                    <a:pt x="178" y="0"/>
                    <a:pt x="150" y="0"/>
                  </a:cubicBezTo>
                  <a:cubicBezTo>
                    <a:pt x="67" y="1"/>
                    <a:pt x="0" y="68"/>
                    <a:pt x="0" y="151"/>
                  </a:cubicBezTo>
                  <a:cubicBezTo>
                    <a:pt x="0" y="234"/>
                    <a:pt x="68" y="301"/>
                    <a:pt x="151" y="300"/>
                  </a:cubicBezTo>
                  <a:cubicBezTo>
                    <a:pt x="233" y="300"/>
                    <a:pt x="300" y="233"/>
                    <a:pt x="300" y="150"/>
                  </a:cubicBezTo>
                  <a:cubicBezTo>
                    <a:pt x="300" y="125"/>
                    <a:pt x="294" y="101"/>
                    <a:pt x="282" y="80"/>
                  </a:cubicBezTo>
                  <a:lnTo>
                    <a:pt x="270"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4" name="Freeform 11"/>
            <p:cNvSpPr>
              <a:spLocks/>
            </p:cNvSpPr>
            <p:nvPr userDrawn="1"/>
          </p:nvSpPr>
          <p:spPr bwMode="auto">
            <a:xfrm>
              <a:off x="7169514" y="5535598"/>
              <a:ext cx="269315" cy="269731"/>
            </a:xfrm>
            <a:custGeom>
              <a:avLst/>
              <a:gdLst>
                <a:gd name="T0" fmla="*/ 214 w 215"/>
                <a:gd name="T1" fmla="*/ 59 h 215"/>
                <a:gd name="T2" fmla="*/ 211 w 215"/>
                <a:gd name="T3" fmla="*/ 57 h 215"/>
                <a:gd name="T4" fmla="*/ 172 w 215"/>
                <a:gd name="T5" fmla="*/ 53 h 215"/>
                <a:gd name="T6" fmla="*/ 187 w 215"/>
                <a:gd name="T7" fmla="*/ 32 h 215"/>
                <a:gd name="T8" fmla="*/ 186 w 215"/>
                <a:gd name="T9" fmla="*/ 28 h 215"/>
                <a:gd name="T10" fmla="*/ 182 w 215"/>
                <a:gd name="T11" fmla="*/ 28 h 215"/>
                <a:gd name="T12" fmla="*/ 162 w 215"/>
                <a:gd name="T13" fmla="*/ 42 h 215"/>
                <a:gd name="T14" fmla="*/ 159 w 215"/>
                <a:gd name="T15" fmla="*/ 4 h 215"/>
                <a:gd name="T16" fmla="*/ 156 w 215"/>
                <a:gd name="T17" fmla="*/ 1 h 215"/>
                <a:gd name="T18" fmla="*/ 153 w 215"/>
                <a:gd name="T19" fmla="*/ 1 h 215"/>
                <a:gd name="T20" fmla="*/ 109 w 215"/>
                <a:gd name="T21" fmla="*/ 45 h 215"/>
                <a:gd name="T22" fmla="*/ 109 w 215"/>
                <a:gd name="T23" fmla="*/ 48 h 215"/>
                <a:gd name="T24" fmla="*/ 112 w 215"/>
                <a:gd name="T25" fmla="*/ 87 h 215"/>
                <a:gd name="T26" fmla="*/ 113 w 215"/>
                <a:gd name="T27" fmla="*/ 89 h 215"/>
                <a:gd name="T28" fmla="*/ 115 w 215"/>
                <a:gd name="T29" fmla="*/ 90 h 215"/>
                <a:gd name="T30" fmla="*/ 118 w 215"/>
                <a:gd name="T31" fmla="*/ 90 h 215"/>
                <a:gd name="T32" fmla="*/ 118 w 215"/>
                <a:gd name="T33" fmla="*/ 90 h 215"/>
                <a:gd name="T34" fmla="*/ 114 w 215"/>
                <a:gd name="T35" fmla="*/ 94 h 215"/>
                <a:gd name="T36" fmla="*/ 53 w 215"/>
                <a:gd name="T37" fmla="*/ 129 h 215"/>
                <a:gd name="T38" fmla="*/ 36 w 215"/>
                <a:gd name="T39" fmla="*/ 145 h 215"/>
                <a:gd name="T40" fmla="*/ 12 w 215"/>
                <a:gd name="T41" fmla="*/ 190 h 215"/>
                <a:gd name="T42" fmla="*/ 0 w 215"/>
                <a:gd name="T43" fmla="*/ 210 h 215"/>
                <a:gd name="T44" fmla="*/ 0 w 215"/>
                <a:gd name="T45" fmla="*/ 210 h 215"/>
                <a:gd name="T46" fmla="*/ 0 w 215"/>
                <a:gd name="T47" fmla="*/ 210 h 215"/>
                <a:gd name="T48" fmla="*/ 0 w 215"/>
                <a:gd name="T49" fmla="*/ 210 h 215"/>
                <a:gd name="T50" fmla="*/ 0 w 215"/>
                <a:gd name="T51" fmla="*/ 210 h 215"/>
                <a:gd name="T52" fmla="*/ 0 w 215"/>
                <a:gd name="T53" fmla="*/ 210 h 215"/>
                <a:gd name="T54" fmla="*/ 0 w 215"/>
                <a:gd name="T55" fmla="*/ 210 h 215"/>
                <a:gd name="T56" fmla="*/ 0 w 215"/>
                <a:gd name="T57" fmla="*/ 210 h 215"/>
                <a:gd name="T58" fmla="*/ 0 w 215"/>
                <a:gd name="T59" fmla="*/ 210 h 215"/>
                <a:gd name="T60" fmla="*/ 1 w 215"/>
                <a:gd name="T61" fmla="*/ 213 h 215"/>
                <a:gd name="T62" fmla="*/ 2 w 215"/>
                <a:gd name="T63" fmla="*/ 213 h 215"/>
                <a:gd name="T64" fmla="*/ 2 w 215"/>
                <a:gd name="T65" fmla="*/ 214 h 215"/>
                <a:gd name="T66" fmla="*/ 4 w 215"/>
                <a:gd name="T67" fmla="*/ 215 h 215"/>
                <a:gd name="T68" fmla="*/ 4 w 215"/>
                <a:gd name="T69" fmla="*/ 215 h 215"/>
                <a:gd name="T70" fmla="*/ 5 w 215"/>
                <a:gd name="T71" fmla="*/ 215 h 215"/>
                <a:gd name="T72" fmla="*/ 5 w 215"/>
                <a:gd name="T73" fmla="*/ 215 h 215"/>
                <a:gd name="T74" fmla="*/ 5 w 215"/>
                <a:gd name="T75" fmla="*/ 215 h 215"/>
                <a:gd name="T76" fmla="*/ 5 w 215"/>
                <a:gd name="T77" fmla="*/ 215 h 215"/>
                <a:gd name="T78" fmla="*/ 5 w 215"/>
                <a:gd name="T79" fmla="*/ 215 h 215"/>
                <a:gd name="T80" fmla="*/ 5 w 215"/>
                <a:gd name="T81" fmla="*/ 215 h 215"/>
                <a:gd name="T82" fmla="*/ 5 w 215"/>
                <a:gd name="T83" fmla="*/ 215 h 215"/>
                <a:gd name="T84" fmla="*/ 25 w 215"/>
                <a:gd name="T85" fmla="*/ 203 h 215"/>
                <a:gd name="T86" fmla="*/ 69 w 215"/>
                <a:gd name="T87" fmla="*/ 179 h 215"/>
                <a:gd name="T88" fmla="*/ 86 w 215"/>
                <a:gd name="T89" fmla="*/ 162 h 215"/>
                <a:gd name="T90" fmla="*/ 121 w 215"/>
                <a:gd name="T91" fmla="*/ 101 h 215"/>
                <a:gd name="T92" fmla="*/ 125 w 215"/>
                <a:gd name="T93" fmla="*/ 97 h 215"/>
                <a:gd name="T94" fmla="*/ 125 w 215"/>
                <a:gd name="T95" fmla="*/ 97 h 215"/>
                <a:gd name="T96" fmla="*/ 124 w 215"/>
                <a:gd name="T97" fmla="*/ 100 h 215"/>
                <a:gd name="T98" fmla="*/ 125 w 215"/>
                <a:gd name="T99" fmla="*/ 102 h 215"/>
                <a:gd name="T100" fmla="*/ 127 w 215"/>
                <a:gd name="T101" fmla="*/ 103 h 215"/>
                <a:gd name="T102" fmla="*/ 167 w 215"/>
                <a:gd name="T103" fmla="*/ 107 h 215"/>
                <a:gd name="T104" fmla="*/ 170 w 215"/>
                <a:gd name="T105" fmla="*/ 106 h 215"/>
                <a:gd name="T106" fmla="*/ 213 w 215"/>
                <a:gd name="T107" fmla="*/ 62 h 215"/>
                <a:gd name="T108" fmla="*/ 214 w 215"/>
                <a:gd name="T109" fmla="*/ 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5" h="215">
                  <a:moveTo>
                    <a:pt x="214" y="59"/>
                  </a:moveTo>
                  <a:cubicBezTo>
                    <a:pt x="214" y="58"/>
                    <a:pt x="212" y="57"/>
                    <a:pt x="211" y="57"/>
                  </a:cubicBezTo>
                  <a:cubicBezTo>
                    <a:pt x="172" y="53"/>
                    <a:pt x="172" y="53"/>
                    <a:pt x="172" y="53"/>
                  </a:cubicBezTo>
                  <a:cubicBezTo>
                    <a:pt x="187" y="32"/>
                    <a:pt x="187" y="32"/>
                    <a:pt x="187" y="32"/>
                  </a:cubicBezTo>
                  <a:cubicBezTo>
                    <a:pt x="188" y="31"/>
                    <a:pt x="187" y="29"/>
                    <a:pt x="186" y="28"/>
                  </a:cubicBezTo>
                  <a:cubicBezTo>
                    <a:pt x="185" y="27"/>
                    <a:pt x="183" y="27"/>
                    <a:pt x="182" y="28"/>
                  </a:cubicBezTo>
                  <a:cubicBezTo>
                    <a:pt x="162" y="42"/>
                    <a:pt x="162" y="42"/>
                    <a:pt x="162" y="42"/>
                  </a:cubicBezTo>
                  <a:cubicBezTo>
                    <a:pt x="159" y="4"/>
                    <a:pt x="159" y="4"/>
                    <a:pt x="159" y="4"/>
                  </a:cubicBezTo>
                  <a:cubicBezTo>
                    <a:pt x="158" y="2"/>
                    <a:pt x="158" y="1"/>
                    <a:pt x="156" y="1"/>
                  </a:cubicBezTo>
                  <a:cubicBezTo>
                    <a:pt x="155" y="0"/>
                    <a:pt x="154" y="0"/>
                    <a:pt x="153" y="1"/>
                  </a:cubicBezTo>
                  <a:cubicBezTo>
                    <a:pt x="109" y="45"/>
                    <a:pt x="109" y="45"/>
                    <a:pt x="109" y="45"/>
                  </a:cubicBezTo>
                  <a:cubicBezTo>
                    <a:pt x="109" y="46"/>
                    <a:pt x="108" y="47"/>
                    <a:pt x="109" y="48"/>
                  </a:cubicBezTo>
                  <a:cubicBezTo>
                    <a:pt x="112" y="87"/>
                    <a:pt x="112" y="87"/>
                    <a:pt x="112" y="87"/>
                  </a:cubicBezTo>
                  <a:cubicBezTo>
                    <a:pt x="112" y="88"/>
                    <a:pt x="113" y="89"/>
                    <a:pt x="113" y="89"/>
                  </a:cubicBezTo>
                  <a:cubicBezTo>
                    <a:pt x="114" y="90"/>
                    <a:pt x="114" y="90"/>
                    <a:pt x="115" y="90"/>
                  </a:cubicBezTo>
                  <a:cubicBezTo>
                    <a:pt x="116" y="91"/>
                    <a:pt x="117" y="90"/>
                    <a:pt x="118" y="90"/>
                  </a:cubicBezTo>
                  <a:cubicBezTo>
                    <a:pt x="118" y="90"/>
                    <a:pt x="118" y="90"/>
                    <a:pt x="118" y="90"/>
                  </a:cubicBezTo>
                  <a:cubicBezTo>
                    <a:pt x="114" y="94"/>
                    <a:pt x="114" y="94"/>
                    <a:pt x="114" y="94"/>
                  </a:cubicBezTo>
                  <a:cubicBezTo>
                    <a:pt x="96" y="100"/>
                    <a:pt x="75" y="111"/>
                    <a:pt x="53" y="129"/>
                  </a:cubicBezTo>
                  <a:cubicBezTo>
                    <a:pt x="36" y="145"/>
                    <a:pt x="36" y="145"/>
                    <a:pt x="36" y="145"/>
                  </a:cubicBezTo>
                  <a:cubicBezTo>
                    <a:pt x="19" y="163"/>
                    <a:pt x="12" y="179"/>
                    <a:pt x="12" y="190"/>
                  </a:cubicBezTo>
                  <a:cubicBezTo>
                    <a:pt x="12" y="191"/>
                    <a:pt x="0" y="209"/>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1"/>
                    <a:pt x="1" y="212"/>
                    <a:pt x="1" y="213"/>
                  </a:cubicBezTo>
                  <a:cubicBezTo>
                    <a:pt x="2" y="213"/>
                    <a:pt x="2" y="213"/>
                    <a:pt x="2" y="213"/>
                  </a:cubicBezTo>
                  <a:cubicBezTo>
                    <a:pt x="2" y="214"/>
                    <a:pt x="2" y="214"/>
                    <a:pt x="2" y="214"/>
                  </a:cubicBezTo>
                  <a:cubicBezTo>
                    <a:pt x="3" y="214"/>
                    <a:pt x="3" y="215"/>
                    <a:pt x="4" y="215"/>
                  </a:cubicBezTo>
                  <a:cubicBezTo>
                    <a:pt x="4" y="215"/>
                    <a:pt x="4" y="215"/>
                    <a:pt x="4" y="215"/>
                  </a:cubicBezTo>
                  <a:cubicBezTo>
                    <a:pt x="4" y="215"/>
                    <a:pt x="5" y="215"/>
                    <a:pt x="5" y="215"/>
                  </a:cubicBezTo>
                  <a:cubicBezTo>
                    <a:pt x="5" y="215"/>
                    <a:pt x="5" y="215"/>
                    <a:pt x="5" y="215"/>
                  </a:cubicBezTo>
                  <a:cubicBezTo>
                    <a:pt x="5" y="215"/>
                    <a:pt x="5" y="215"/>
                    <a:pt x="5" y="215"/>
                  </a:cubicBezTo>
                  <a:cubicBezTo>
                    <a:pt x="5" y="215"/>
                    <a:pt x="5" y="215"/>
                    <a:pt x="5" y="215"/>
                  </a:cubicBezTo>
                  <a:cubicBezTo>
                    <a:pt x="5" y="215"/>
                    <a:pt x="5" y="215"/>
                    <a:pt x="5" y="215"/>
                  </a:cubicBezTo>
                  <a:cubicBezTo>
                    <a:pt x="5" y="215"/>
                    <a:pt x="5" y="215"/>
                    <a:pt x="5" y="215"/>
                  </a:cubicBezTo>
                  <a:cubicBezTo>
                    <a:pt x="5" y="215"/>
                    <a:pt x="5" y="215"/>
                    <a:pt x="5" y="215"/>
                  </a:cubicBezTo>
                  <a:cubicBezTo>
                    <a:pt x="6" y="215"/>
                    <a:pt x="24" y="202"/>
                    <a:pt x="25" y="203"/>
                  </a:cubicBezTo>
                  <a:cubicBezTo>
                    <a:pt x="36" y="203"/>
                    <a:pt x="52" y="195"/>
                    <a:pt x="69" y="179"/>
                  </a:cubicBezTo>
                  <a:cubicBezTo>
                    <a:pt x="86" y="162"/>
                    <a:pt x="86" y="162"/>
                    <a:pt x="86" y="162"/>
                  </a:cubicBezTo>
                  <a:cubicBezTo>
                    <a:pt x="104" y="140"/>
                    <a:pt x="115" y="119"/>
                    <a:pt x="121" y="101"/>
                  </a:cubicBezTo>
                  <a:cubicBezTo>
                    <a:pt x="125" y="97"/>
                    <a:pt x="125" y="97"/>
                    <a:pt x="125" y="97"/>
                  </a:cubicBezTo>
                  <a:cubicBezTo>
                    <a:pt x="125" y="97"/>
                    <a:pt x="125" y="97"/>
                    <a:pt x="125" y="97"/>
                  </a:cubicBezTo>
                  <a:cubicBezTo>
                    <a:pt x="124" y="98"/>
                    <a:pt x="124" y="99"/>
                    <a:pt x="124" y="100"/>
                  </a:cubicBezTo>
                  <a:cubicBezTo>
                    <a:pt x="125" y="101"/>
                    <a:pt x="125" y="101"/>
                    <a:pt x="125" y="102"/>
                  </a:cubicBezTo>
                  <a:cubicBezTo>
                    <a:pt x="126" y="102"/>
                    <a:pt x="127" y="103"/>
                    <a:pt x="127" y="103"/>
                  </a:cubicBezTo>
                  <a:cubicBezTo>
                    <a:pt x="167" y="107"/>
                    <a:pt x="167" y="107"/>
                    <a:pt x="167" y="107"/>
                  </a:cubicBezTo>
                  <a:cubicBezTo>
                    <a:pt x="168" y="107"/>
                    <a:pt x="169" y="106"/>
                    <a:pt x="170" y="106"/>
                  </a:cubicBezTo>
                  <a:cubicBezTo>
                    <a:pt x="213" y="62"/>
                    <a:pt x="213" y="62"/>
                    <a:pt x="213" y="62"/>
                  </a:cubicBezTo>
                  <a:cubicBezTo>
                    <a:pt x="214" y="61"/>
                    <a:pt x="215" y="60"/>
                    <a:pt x="21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20" name="Freeform 11"/>
          <p:cNvSpPr>
            <a:spLocks noEditPoints="1"/>
          </p:cNvSpPr>
          <p:nvPr userDrawn="1"/>
        </p:nvSpPr>
        <p:spPr bwMode="auto">
          <a:xfrm>
            <a:off x="6519428" y="4990925"/>
            <a:ext cx="268648" cy="317109"/>
          </a:xfrm>
          <a:custGeom>
            <a:avLst/>
            <a:gdLst>
              <a:gd name="T0" fmla="*/ 357 w 390"/>
              <a:gd name="T1" fmla="*/ 124 h 460"/>
              <a:gd name="T2" fmla="*/ 346 w 390"/>
              <a:gd name="T3" fmla="*/ 72 h 460"/>
              <a:gd name="T4" fmla="*/ 310 w 390"/>
              <a:gd name="T5" fmla="*/ 110 h 460"/>
              <a:gd name="T6" fmla="*/ 335 w 390"/>
              <a:gd name="T7" fmla="*/ 121 h 460"/>
              <a:gd name="T8" fmla="*/ 335 w 390"/>
              <a:gd name="T9" fmla="*/ 270 h 460"/>
              <a:gd name="T10" fmla="*/ 297 w 390"/>
              <a:gd name="T11" fmla="*/ 437 h 460"/>
              <a:gd name="T12" fmla="*/ 317 w 390"/>
              <a:gd name="T13" fmla="*/ 351 h 460"/>
              <a:gd name="T14" fmla="*/ 356 w 390"/>
              <a:gd name="T15" fmla="*/ 432 h 460"/>
              <a:gd name="T16" fmla="*/ 361 w 390"/>
              <a:gd name="T17" fmla="*/ 190 h 460"/>
              <a:gd name="T18" fmla="*/ 387 w 390"/>
              <a:gd name="T19" fmla="*/ 261 h 460"/>
              <a:gd name="T20" fmla="*/ 241 w 390"/>
              <a:gd name="T21" fmla="*/ 96 h 460"/>
              <a:gd name="T22" fmla="*/ 244 w 390"/>
              <a:gd name="T23" fmla="*/ 96 h 460"/>
              <a:gd name="T24" fmla="*/ 276 w 390"/>
              <a:gd name="T25" fmla="*/ 55 h 460"/>
              <a:gd name="T26" fmla="*/ 243 w 390"/>
              <a:gd name="T27" fmla="*/ 10 h 460"/>
              <a:gd name="T28" fmla="*/ 212 w 390"/>
              <a:gd name="T29" fmla="*/ 43 h 460"/>
              <a:gd name="T30" fmla="*/ 104 w 390"/>
              <a:gd name="T31" fmla="*/ 113 h 460"/>
              <a:gd name="T32" fmla="*/ 194 w 390"/>
              <a:gd name="T33" fmla="*/ 109 h 460"/>
              <a:gd name="T34" fmla="*/ 182 w 390"/>
              <a:gd name="T35" fmla="*/ 52 h 460"/>
              <a:gd name="T36" fmla="*/ 141 w 390"/>
              <a:gd name="T37" fmla="*/ 98 h 460"/>
              <a:gd name="T38" fmla="*/ 190 w 390"/>
              <a:gd name="T39" fmla="*/ 220 h 460"/>
              <a:gd name="T40" fmla="*/ 213 w 390"/>
              <a:gd name="T41" fmla="*/ 277 h 460"/>
              <a:gd name="T42" fmla="*/ 153 w 390"/>
              <a:gd name="T43" fmla="*/ 160 h 460"/>
              <a:gd name="T44" fmla="*/ 102 w 390"/>
              <a:gd name="T45" fmla="*/ 115 h 460"/>
              <a:gd name="T46" fmla="*/ 104 w 390"/>
              <a:gd name="T47" fmla="*/ 262 h 460"/>
              <a:gd name="T48" fmla="*/ 98 w 390"/>
              <a:gd name="T49" fmla="*/ 359 h 460"/>
              <a:gd name="T50" fmla="*/ 114 w 390"/>
              <a:gd name="T51" fmla="*/ 408 h 460"/>
              <a:gd name="T52" fmla="*/ 149 w 390"/>
              <a:gd name="T53" fmla="*/ 433 h 460"/>
              <a:gd name="T54" fmla="*/ 174 w 390"/>
              <a:gd name="T55" fmla="*/ 460 h 460"/>
              <a:gd name="T56" fmla="*/ 193 w 390"/>
              <a:gd name="T57" fmla="*/ 109 h 460"/>
              <a:gd name="T58" fmla="*/ 264 w 390"/>
              <a:gd name="T59" fmla="*/ 98 h 460"/>
              <a:gd name="T60" fmla="*/ 249 w 390"/>
              <a:gd name="T61" fmla="*/ 108 h 460"/>
              <a:gd name="T62" fmla="*/ 235 w 390"/>
              <a:gd name="T63" fmla="*/ 100 h 460"/>
              <a:gd name="T64" fmla="*/ 235 w 390"/>
              <a:gd name="T65" fmla="*/ 150 h 460"/>
              <a:gd name="T66" fmla="*/ 215 w 390"/>
              <a:gd name="T67" fmla="*/ 118 h 460"/>
              <a:gd name="T68" fmla="*/ 208 w 390"/>
              <a:gd name="T69" fmla="*/ 284 h 460"/>
              <a:gd name="T70" fmla="*/ 199 w 390"/>
              <a:gd name="T71" fmla="*/ 367 h 460"/>
              <a:gd name="T72" fmla="*/ 239 w 390"/>
              <a:gd name="T73" fmla="*/ 447 h 460"/>
              <a:gd name="T74" fmla="*/ 246 w 390"/>
              <a:gd name="T75" fmla="*/ 432 h 460"/>
              <a:gd name="T76" fmla="*/ 289 w 390"/>
              <a:gd name="T77" fmla="*/ 187 h 460"/>
              <a:gd name="T78" fmla="*/ 314 w 390"/>
              <a:gd name="T79" fmla="*/ 286 h 460"/>
              <a:gd name="T80" fmla="*/ 107 w 390"/>
              <a:gd name="T81" fmla="*/ 434 h 460"/>
              <a:gd name="T82" fmla="*/ 98 w 390"/>
              <a:gd name="T83" fmla="*/ 284 h 460"/>
              <a:gd name="T84" fmla="*/ 83 w 390"/>
              <a:gd name="T85" fmla="*/ 430 h 460"/>
              <a:gd name="T86" fmla="*/ 54 w 390"/>
              <a:gd name="T87" fmla="*/ 82 h 460"/>
              <a:gd name="T88" fmla="*/ 80 w 390"/>
              <a:gd name="T89" fmla="*/ 109 h 460"/>
              <a:gd name="T90" fmla="*/ 106 w 390"/>
              <a:gd name="T91" fmla="*/ 82 h 460"/>
              <a:gd name="T92" fmla="*/ 81 w 390"/>
              <a:gd name="T93" fmla="*/ 31 h 460"/>
              <a:gd name="T94" fmla="*/ 79 w 390"/>
              <a:gd name="T95" fmla="*/ 31 h 460"/>
              <a:gd name="T96" fmla="*/ 77 w 390"/>
              <a:gd name="T97" fmla="*/ 278 h 460"/>
              <a:gd name="T98" fmla="*/ 84 w 390"/>
              <a:gd name="T99" fmla="*/ 122 h 460"/>
              <a:gd name="T100" fmla="*/ 79 w 390"/>
              <a:gd name="T101" fmla="*/ 113 h 460"/>
              <a:gd name="T102" fmla="*/ 77 w 390"/>
              <a:gd name="T103" fmla="*/ 122 h 460"/>
              <a:gd name="T104" fmla="*/ 11 w 390"/>
              <a:gd name="T105" fmla="*/ 145 h 460"/>
              <a:gd name="T106" fmla="*/ 28 w 390"/>
              <a:gd name="T107" fmla="*/ 269 h 460"/>
              <a:gd name="T108" fmla="*/ 37 w 390"/>
              <a:gd name="T109" fmla="*/ 417 h 460"/>
              <a:gd name="T110" fmla="*/ 77 w 390"/>
              <a:gd name="T111" fmla="*/ 278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0" h="460">
                <a:moveTo>
                  <a:pt x="288" y="100"/>
                </a:moveTo>
                <a:cubicBezTo>
                  <a:pt x="286" y="87"/>
                  <a:pt x="283" y="61"/>
                  <a:pt x="290" y="49"/>
                </a:cubicBezTo>
                <a:cubicBezTo>
                  <a:pt x="290" y="49"/>
                  <a:pt x="304" y="25"/>
                  <a:pt x="335" y="35"/>
                </a:cubicBezTo>
                <a:cubicBezTo>
                  <a:pt x="335" y="35"/>
                  <a:pt x="354" y="41"/>
                  <a:pt x="354" y="67"/>
                </a:cubicBezTo>
                <a:cubicBezTo>
                  <a:pt x="353" y="89"/>
                  <a:pt x="351" y="114"/>
                  <a:pt x="357" y="124"/>
                </a:cubicBezTo>
                <a:cubicBezTo>
                  <a:pt x="349" y="121"/>
                  <a:pt x="341" y="119"/>
                  <a:pt x="335" y="118"/>
                </a:cubicBezTo>
                <a:cubicBezTo>
                  <a:pt x="334" y="116"/>
                  <a:pt x="334" y="115"/>
                  <a:pt x="334" y="111"/>
                </a:cubicBezTo>
                <a:cubicBezTo>
                  <a:pt x="334" y="111"/>
                  <a:pt x="343" y="100"/>
                  <a:pt x="343" y="88"/>
                </a:cubicBezTo>
                <a:cubicBezTo>
                  <a:pt x="343" y="88"/>
                  <a:pt x="348" y="91"/>
                  <a:pt x="348" y="76"/>
                </a:cubicBezTo>
                <a:cubicBezTo>
                  <a:pt x="348" y="76"/>
                  <a:pt x="348" y="73"/>
                  <a:pt x="346" y="72"/>
                </a:cubicBezTo>
                <a:cubicBezTo>
                  <a:pt x="346" y="72"/>
                  <a:pt x="344" y="72"/>
                  <a:pt x="343" y="76"/>
                </a:cubicBezTo>
                <a:cubicBezTo>
                  <a:pt x="343" y="76"/>
                  <a:pt x="346" y="57"/>
                  <a:pt x="335" y="55"/>
                </a:cubicBezTo>
                <a:cubicBezTo>
                  <a:pt x="335" y="55"/>
                  <a:pt x="326" y="73"/>
                  <a:pt x="314" y="77"/>
                </a:cubicBezTo>
                <a:cubicBezTo>
                  <a:pt x="303" y="80"/>
                  <a:pt x="304" y="93"/>
                  <a:pt x="308" y="100"/>
                </a:cubicBezTo>
                <a:cubicBezTo>
                  <a:pt x="309" y="101"/>
                  <a:pt x="310" y="106"/>
                  <a:pt x="310" y="110"/>
                </a:cubicBezTo>
                <a:cubicBezTo>
                  <a:pt x="309" y="110"/>
                  <a:pt x="309" y="109"/>
                  <a:pt x="308" y="109"/>
                </a:cubicBezTo>
                <a:cubicBezTo>
                  <a:pt x="302" y="105"/>
                  <a:pt x="295" y="102"/>
                  <a:pt x="288" y="100"/>
                </a:cubicBezTo>
                <a:close/>
                <a:moveTo>
                  <a:pt x="371" y="136"/>
                </a:moveTo>
                <a:cubicBezTo>
                  <a:pt x="370" y="132"/>
                  <a:pt x="361" y="128"/>
                  <a:pt x="361" y="128"/>
                </a:cubicBezTo>
                <a:cubicBezTo>
                  <a:pt x="354" y="125"/>
                  <a:pt x="342" y="122"/>
                  <a:pt x="335" y="121"/>
                </a:cubicBezTo>
                <a:cubicBezTo>
                  <a:pt x="334" y="127"/>
                  <a:pt x="331" y="139"/>
                  <a:pt x="328" y="149"/>
                </a:cubicBezTo>
                <a:cubicBezTo>
                  <a:pt x="328" y="149"/>
                  <a:pt x="328" y="149"/>
                  <a:pt x="328" y="149"/>
                </a:cubicBezTo>
                <a:cubicBezTo>
                  <a:pt x="333" y="175"/>
                  <a:pt x="337" y="200"/>
                  <a:pt x="335" y="227"/>
                </a:cubicBezTo>
                <a:cubicBezTo>
                  <a:pt x="335" y="236"/>
                  <a:pt x="335" y="245"/>
                  <a:pt x="335" y="254"/>
                </a:cubicBezTo>
                <a:cubicBezTo>
                  <a:pt x="335" y="259"/>
                  <a:pt x="335" y="264"/>
                  <a:pt x="335" y="270"/>
                </a:cubicBezTo>
                <a:cubicBezTo>
                  <a:pt x="335" y="282"/>
                  <a:pt x="333" y="293"/>
                  <a:pt x="314" y="294"/>
                </a:cubicBezTo>
                <a:cubicBezTo>
                  <a:pt x="314" y="294"/>
                  <a:pt x="313" y="294"/>
                  <a:pt x="313" y="294"/>
                </a:cubicBezTo>
                <a:cubicBezTo>
                  <a:pt x="308" y="294"/>
                  <a:pt x="301" y="293"/>
                  <a:pt x="297" y="288"/>
                </a:cubicBezTo>
                <a:cubicBezTo>
                  <a:pt x="297" y="433"/>
                  <a:pt x="297" y="433"/>
                  <a:pt x="297" y="433"/>
                </a:cubicBezTo>
                <a:cubicBezTo>
                  <a:pt x="297" y="434"/>
                  <a:pt x="297" y="436"/>
                  <a:pt x="297" y="437"/>
                </a:cubicBezTo>
                <a:cubicBezTo>
                  <a:pt x="297" y="439"/>
                  <a:pt x="297" y="440"/>
                  <a:pt x="297" y="442"/>
                </a:cubicBezTo>
                <a:cubicBezTo>
                  <a:pt x="298" y="442"/>
                  <a:pt x="299" y="442"/>
                  <a:pt x="301" y="442"/>
                </a:cubicBezTo>
                <a:cubicBezTo>
                  <a:pt x="315" y="442"/>
                  <a:pt x="316" y="440"/>
                  <a:pt x="317" y="430"/>
                </a:cubicBezTo>
                <a:cubicBezTo>
                  <a:pt x="317" y="426"/>
                  <a:pt x="317" y="422"/>
                  <a:pt x="317" y="418"/>
                </a:cubicBezTo>
                <a:cubicBezTo>
                  <a:pt x="317" y="351"/>
                  <a:pt x="317" y="351"/>
                  <a:pt x="317" y="351"/>
                </a:cubicBezTo>
                <a:cubicBezTo>
                  <a:pt x="324" y="351"/>
                  <a:pt x="324" y="351"/>
                  <a:pt x="324" y="351"/>
                </a:cubicBezTo>
                <a:cubicBezTo>
                  <a:pt x="324" y="425"/>
                  <a:pt x="324" y="425"/>
                  <a:pt x="324" y="425"/>
                </a:cubicBezTo>
                <a:cubicBezTo>
                  <a:pt x="324" y="427"/>
                  <a:pt x="324" y="429"/>
                  <a:pt x="324" y="430"/>
                </a:cubicBezTo>
                <a:cubicBezTo>
                  <a:pt x="325" y="440"/>
                  <a:pt x="326" y="442"/>
                  <a:pt x="340" y="442"/>
                </a:cubicBezTo>
                <a:cubicBezTo>
                  <a:pt x="353" y="442"/>
                  <a:pt x="355" y="440"/>
                  <a:pt x="356" y="432"/>
                </a:cubicBezTo>
                <a:cubicBezTo>
                  <a:pt x="356" y="351"/>
                  <a:pt x="356" y="351"/>
                  <a:pt x="356" y="351"/>
                </a:cubicBezTo>
                <a:cubicBezTo>
                  <a:pt x="368" y="351"/>
                  <a:pt x="368" y="351"/>
                  <a:pt x="368" y="351"/>
                </a:cubicBezTo>
                <a:cubicBezTo>
                  <a:pt x="369" y="351"/>
                  <a:pt x="370" y="351"/>
                  <a:pt x="370" y="351"/>
                </a:cubicBezTo>
                <a:cubicBezTo>
                  <a:pt x="370" y="338"/>
                  <a:pt x="360" y="247"/>
                  <a:pt x="354" y="224"/>
                </a:cubicBezTo>
                <a:cubicBezTo>
                  <a:pt x="353" y="222"/>
                  <a:pt x="358" y="205"/>
                  <a:pt x="361" y="190"/>
                </a:cubicBezTo>
                <a:cubicBezTo>
                  <a:pt x="361" y="191"/>
                  <a:pt x="361" y="192"/>
                  <a:pt x="362" y="193"/>
                </a:cubicBezTo>
                <a:cubicBezTo>
                  <a:pt x="363" y="204"/>
                  <a:pt x="365" y="215"/>
                  <a:pt x="365" y="221"/>
                </a:cubicBezTo>
                <a:cubicBezTo>
                  <a:pt x="366" y="239"/>
                  <a:pt x="365" y="245"/>
                  <a:pt x="365" y="262"/>
                </a:cubicBezTo>
                <a:cubicBezTo>
                  <a:pt x="365" y="273"/>
                  <a:pt x="367" y="275"/>
                  <a:pt x="375" y="276"/>
                </a:cubicBezTo>
                <a:cubicBezTo>
                  <a:pt x="383" y="277"/>
                  <a:pt x="387" y="272"/>
                  <a:pt x="387" y="261"/>
                </a:cubicBezTo>
                <a:cubicBezTo>
                  <a:pt x="387" y="248"/>
                  <a:pt x="390" y="162"/>
                  <a:pt x="371" y="136"/>
                </a:cubicBezTo>
                <a:close/>
                <a:moveTo>
                  <a:pt x="214" y="66"/>
                </a:moveTo>
                <a:cubicBezTo>
                  <a:pt x="214" y="66"/>
                  <a:pt x="214" y="66"/>
                  <a:pt x="215" y="66"/>
                </a:cubicBezTo>
                <a:cubicBezTo>
                  <a:pt x="215" y="68"/>
                  <a:pt x="215" y="71"/>
                  <a:pt x="216" y="72"/>
                </a:cubicBezTo>
                <a:cubicBezTo>
                  <a:pt x="225" y="88"/>
                  <a:pt x="229" y="95"/>
                  <a:pt x="241" y="96"/>
                </a:cubicBezTo>
                <a:cubicBezTo>
                  <a:pt x="241" y="96"/>
                  <a:pt x="241" y="96"/>
                  <a:pt x="241" y="96"/>
                </a:cubicBezTo>
                <a:cubicBezTo>
                  <a:pt x="241" y="96"/>
                  <a:pt x="242" y="96"/>
                  <a:pt x="242" y="96"/>
                </a:cubicBezTo>
                <a:cubicBezTo>
                  <a:pt x="242" y="96"/>
                  <a:pt x="242" y="96"/>
                  <a:pt x="243" y="96"/>
                </a:cubicBezTo>
                <a:cubicBezTo>
                  <a:pt x="243" y="96"/>
                  <a:pt x="243" y="96"/>
                  <a:pt x="243" y="96"/>
                </a:cubicBezTo>
                <a:cubicBezTo>
                  <a:pt x="243" y="96"/>
                  <a:pt x="244" y="96"/>
                  <a:pt x="244" y="96"/>
                </a:cubicBezTo>
                <a:cubicBezTo>
                  <a:pt x="244" y="96"/>
                  <a:pt x="244" y="96"/>
                  <a:pt x="244" y="96"/>
                </a:cubicBezTo>
                <a:cubicBezTo>
                  <a:pt x="256" y="95"/>
                  <a:pt x="260" y="88"/>
                  <a:pt x="269" y="72"/>
                </a:cubicBezTo>
                <a:cubicBezTo>
                  <a:pt x="270" y="71"/>
                  <a:pt x="270" y="68"/>
                  <a:pt x="270" y="66"/>
                </a:cubicBezTo>
                <a:cubicBezTo>
                  <a:pt x="271" y="66"/>
                  <a:pt x="271" y="66"/>
                  <a:pt x="271" y="66"/>
                </a:cubicBezTo>
                <a:cubicBezTo>
                  <a:pt x="273" y="66"/>
                  <a:pt x="275" y="61"/>
                  <a:pt x="276" y="55"/>
                </a:cubicBezTo>
                <a:cubicBezTo>
                  <a:pt x="276" y="52"/>
                  <a:pt x="276" y="46"/>
                  <a:pt x="275" y="44"/>
                </a:cubicBezTo>
                <a:cubicBezTo>
                  <a:pt x="274" y="43"/>
                  <a:pt x="274" y="43"/>
                  <a:pt x="273" y="43"/>
                </a:cubicBezTo>
                <a:cubicBezTo>
                  <a:pt x="270" y="20"/>
                  <a:pt x="259" y="11"/>
                  <a:pt x="244" y="10"/>
                </a:cubicBezTo>
                <a:cubicBezTo>
                  <a:pt x="244" y="10"/>
                  <a:pt x="244" y="10"/>
                  <a:pt x="244" y="10"/>
                </a:cubicBezTo>
                <a:cubicBezTo>
                  <a:pt x="244" y="10"/>
                  <a:pt x="243" y="10"/>
                  <a:pt x="243" y="10"/>
                </a:cubicBezTo>
                <a:cubicBezTo>
                  <a:pt x="243" y="10"/>
                  <a:pt x="243" y="10"/>
                  <a:pt x="243" y="10"/>
                </a:cubicBezTo>
                <a:cubicBezTo>
                  <a:pt x="242" y="10"/>
                  <a:pt x="242" y="10"/>
                  <a:pt x="242" y="10"/>
                </a:cubicBezTo>
                <a:cubicBezTo>
                  <a:pt x="242" y="10"/>
                  <a:pt x="241" y="10"/>
                  <a:pt x="241" y="10"/>
                </a:cubicBezTo>
                <a:cubicBezTo>
                  <a:pt x="241" y="10"/>
                  <a:pt x="241" y="10"/>
                  <a:pt x="241" y="10"/>
                </a:cubicBezTo>
                <a:cubicBezTo>
                  <a:pt x="227" y="11"/>
                  <a:pt x="215" y="20"/>
                  <a:pt x="212" y="43"/>
                </a:cubicBezTo>
                <a:cubicBezTo>
                  <a:pt x="211" y="43"/>
                  <a:pt x="211" y="43"/>
                  <a:pt x="210" y="44"/>
                </a:cubicBezTo>
                <a:cubicBezTo>
                  <a:pt x="209" y="46"/>
                  <a:pt x="209" y="52"/>
                  <a:pt x="209" y="55"/>
                </a:cubicBezTo>
                <a:cubicBezTo>
                  <a:pt x="210" y="61"/>
                  <a:pt x="212" y="66"/>
                  <a:pt x="214" y="66"/>
                </a:cubicBezTo>
                <a:close/>
                <a:moveTo>
                  <a:pt x="108" y="114"/>
                </a:moveTo>
                <a:cubicBezTo>
                  <a:pt x="107" y="114"/>
                  <a:pt x="106" y="113"/>
                  <a:pt x="104" y="113"/>
                </a:cubicBezTo>
                <a:cubicBezTo>
                  <a:pt x="111" y="107"/>
                  <a:pt x="120" y="97"/>
                  <a:pt x="119" y="90"/>
                </a:cubicBezTo>
                <a:cubicBezTo>
                  <a:pt x="119" y="90"/>
                  <a:pt x="108" y="44"/>
                  <a:pt x="119" y="26"/>
                </a:cubicBezTo>
                <a:cubicBezTo>
                  <a:pt x="119" y="26"/>
                  <a:pt x="135" y="0"/>
                  <a:pt x="169" y="11"/>
                </a:cubicBezTo>
                <a:cubicBezTo>
                  <a:pt x="169" y="11"/>
                  <a:pt x="190" y="18"/>
                  <a:pt x="190" y="46"/>
                </a:cubicBezTo>
                <a:cubicBezTo>
                  <a:pt x="189" y="70"/>
                  <a:pt x="187" y="98"/>
                  <a:pt x="194" y="109"/>
                </a:cubicBezTo>
                <a:cubicBezTo>
                  <a:pt x="184" y="105"/>
                  <a:pt x="176" y="103"/>
                  <a:pt x="169" y="103"/>
                </a:cubicBezTo>
                <a:cubicBezTo>
                  <a:pt x="168" y="101"/>
                  <a:pt x="168" y="99"/>
                  <a:pt x="168" y="95"/>
                </a:cubicBezTo>
                <a:cubicBezTo>
                  <a:pt x="168" y="95"/>
                  <a:pt x="178" y="83"/>
                  <a:pt x="178" y="69"/>
                </a:cubicBezTo>
                <a:cubicBezTo>
                  <a:pt x="178" y="69"/>
                  <a:pt x="183" y="73"/>
                  <a:pt x="183" y="57"/>
                </a:cubicBezTo>
                <a:cubicBezTo>
                  <a:pt x="183" y="57"/>
                  <a:pt x="184" y="53"/>
                  <a:pt x="182" y="52"/>
                </a:cubicBezTo>
                <a:cubicBezTo>
                  <a:pt x="181" y="52"/>
                  <a:pt x="179" y="52"/>
                  <a:pt x="178" y="56"/>
                </a:cubicBezTo>
                <a:cubicBezTo>
                  <a:pt x="178" y="56"/>
                  <a:pt x="181" y="35"/>
                  <a:pt x="169" y="33"/>
                </a:cubicBezTo>
                <a:cubicBezTo>
                  <a:pt x="169" y="33"/>
                  <a:pt x="159" y="53"/>
                  <a:pt x="145" y="57"/>
                </a:cubicBezTo>
                <a:cubicBezTo>
                  <a:pt x="134" y="60"/>
                  <a:pt x="135" y="75"/>
                  <a:pt x="139" y="82"/>
                </a:cubicBezTo>
                <a:cubicBezTo>
                  <a:pt x="141" y="85"/>
                  <a:pt x="142" y="92"/>
                  <a:pt x="141" y="98"/>
                </a:cubicBezTo>
                <a:cubicBezTo>
                  <a:pt x="132" y="120"/>
                  <a:pt x="120" y="117"/>
                  <a:pt x="108" y="114"/>
                </a:cubicBezTo>
                <a:close/>
                <a:moveTo>
                  <a:pt x="192" y="360"/>
                </a:moveTo>
                <a:cubicBezTo>
                  <a:pt x="206" y="360"/>
                  <a:pt x="206" y="360"/>
                  <a:pt x="206" y="360"/>
                </a:cubicBezTo>
                <a:cubicBezTo>
                  <a:pt x="206" y="360"/>
                  <a:pt x="207" y="360"/>
                  <a:pt x="208" y="359"/>
                </a:cubicBezTo>
                <a:cubicBezTo>
                  <a:pt x="208" y="346"/>
                  <a:pt x="197" y="245"/>
                  <a:pt x="190" y="220"/>
                </a:cubicBezTo>
                <a:cubicBezTo>
                  <a:pt x="189" y="217"/>
                  <a:pt x="194" y="198"/>
                  <a:pt x="198" y="182"/>
                </a:cubicBezTo>
                <a:cubicBezTo>
                  <a:pt x="198" y="183"/>
                  <a:pt x="198" y="184"/>
                  <a:pt x="198" y="185"/>
                </a:cubicBezTo>
                <a:cubicBezTo>
                  <a:pt x="200" y="197"/>
                  <a:pt x="202" y="210"/>
                  <a:pt x="202" y="216"/>
                </a:cubicBezTo>
                <a:cubicBezTo>
                  <a:pt x="204" y="236"/>
                  <a:pt x="202" y="242"/>
                  <a:pt x="202" y="262"/>
                </a:cubicBezTo>
                <a:cubicBezTo>
                  <a:pt x="202" y="274"/>
                  <a:pt x="204" y="276"/>
                  <a:pt x="213" y="277"/>
                </a:cubicBezTo>
                <a:cubicBezTo>
                  <a:pt x="222" y="278"/>
                  <a:pt x="226" y="273"/>
                  <a:pt x="226" y="260"/>
                </a:cubicBezTo>
                <a:cubicBezTo>
                  <a:pt x="226" y="246"/>
                  <a:pt x="229" y="151"/>
                  <a:pt x="209" y="122"/>
                </a:cubicBezTo>
                <a:cubicBezTo>
                  <a:pt x="207" y="118"/>
                  <a:pt x="197" y="114"/>
                  <a:pt x="197" y="114"/>
                </a:cubicBezTo>
                <a:cubicBezTo>
                  <a:pt x="190" y="111"/>
                  <a:pt x="177" y="107"/>
                  <a:pt x="169" y="106"/>
                </a:cubicBezTo>
                <a:cubicBezTo>
                  <a:pt x="167" y="121"/>
                  <a:pt x="153" y="159"/>
                  <a:pt x="153" y="160"/>
                </a:cubicBezTo>
                <a:cubicBezTo>
                  <a:pt x="152" y="159"/>
                  <a:pt x="144" y="136"/>
                  <a:pt x="139" y="117"/>
                </a:cubicBezTo>
                <a:cubicBezTo>
                  <a:pt x="138" y="116"/>
                  <a:pt x="138" y="113"/>
                  <a:pt x="137" y="110"/>
                </a:cubicBezTo>
                <a:cubicBezTo>
                  <a:pt x="132" y="117"/>
                  <a:pt x="126" y="118"/>
                  <a:pt x="120" y="118"/>
                </a:cubicBezTo>
                <a:cubicBezTo>
                  <a:pt x="116" y="118"/>
                  <a:pt x="111" y="117"/>
                  <a:pt x="108" y="117"/>
                </a:cubicBezTo>
                <a:cubicBezTo>
                  <a:pt x="106" y="116"/>
                  <a:pt x="104" y="116"/>
                  <a:pt x="102" y="115"/>
                </a:cubicBezTo>
                <a:cubicBezTo>
                  <a:pt x="102" y="115"/>
                  <a:pt x="102" y="115"/>
                  <a:pt x="102" y="115"/>
                </a:cubicBezTo>
                <a:cubicBezTo>
                  <a:pt x="99" y="118"/>
                  <a:pt x="97" y="119"/>
                  <a:pt x="97" y="119"/>
                </a:cubicBezTo>
                <a:cubicBezTo>
                  <a:pt x="76" y="140"/>
                  <a:pt x="79" y="246"/>
                  <a:pt x="79" y="260"/>
                </a:cubicBezTo>
                <a:cubicBezTo>
                  <a:pt x="80" y="273"/>
                  <a:pt x="83" y="278"/>
                  <a:pt x="93" y="277"/>
                </a:cubicBezTo>
                <a:cubicBezTo>
                  <a:pt x="102" y="276"/>
                  <a:pt x="104" y="274"/>
                  <a:pt x="104" y="262"/>
                </a:cubicBezTo>
                <a:cubicBezTo>
                  <a:pt x="104" y="242"/>
                  <a:pt x="102" y="236"/>
                  <a:pt x="104" y="216"/>
                </a:cubicBezTo>
                <a:cubicBezTo>
                  <a:pt x="104" y="210"/>
                  <a:pt x="105" y="197"/>
                  <a:pt x="107" y="185"/>
                </a:cubicBezTo>
                <a:cubicBezTo>
                  <a:pt x="107" y="184"/>
                  <a:pt x="108" y="183"/>
                  <a:pt x="108" y="182"/>
                </a:cubicBezTo>
                <a:cubicBezTo>
                  <a:pt x="111" y="198"/>
                  <a:pt x="116" y="217"/>
                  <a:pt x="116" y="220"/>
                </a:cubicBezTo>
                <a:cubicBezTo>
                  <a:pt x="109" y="245"/>
                  <a:pt x="98" y="346"/>
                  <a:pt x="98" y="359"/>
                </a:cubicBezTo>
                <a:cubicBezTo>
                  <a:pt x="114" y="359"/>
                  <a:pt x="114" y="359"/>
                  <a:pt x="114" y="359"/>
                </a:cubicBezTo>
                <a:cubicBezTo>
                  <a:pt x="114" y="360"/>
                  <a:pt x="114" y="360"/>
                  <a:pt x="114" y="360"/>
                </a:cubicBezTo>
                <a:cubicBezTo>
                  <a:pt x="114" y="360"/>
                  <a:pt x="114" y="360"/>
                  <a:pt x="114" y="360"/>
                </a:cubicBezTo>
                <a:cubicBezTo>
                  <a:pt x="114" y="361"/>
                  <a:pt x="114" y="361"/>
                  <a:pt x="114" y="362"/>
                </a:cubicBezTo>
                <a:cubicBezTo>
                  <a:pt x="114" y="408"/>
                  <a:pt x="114" y="408"/>
                  <a:pt x="114" y="408"/>
                </a:cubicBezTo>
                <a:cubicBezTo>
                  <a:pt x="114" y="416"/>
                  <a:pt x="114" y="425"/>
                  <a:pt x="114" y="434"/>
                </a:cubicBezTo>
                <a:cubicBezTo>
                  <a:pt x="114" y="439"/>
                  <a:pt x="114" y="442"/>
                  <a:pt x="114" y="448"/>
                </a:cubicBezTo>
                <a:cubicBezTo>
                  <a:pt x="114" y="458"/>
                  <a:pt x="116" y="460"/>
                  <a:pt x="131" y="460"/>
                </a:cubicBezTo>
                <a:cubicBezTo>
                  <a:pt x="147" y="460"/>
                  <a:pt x="148" y="458"/>
                  <a:pt x="149" y="447"/>
                </a:cubicBezTo>
                <a:cubicBezTo>
                  <a:pt x="149" y="443"/>
                  <a:pt x="149" y="438"/>
                  <a:pt x="149" y="433"/>
                </a:cubicBezTo>
                <a:cubicBezTo>
                  <a:pt x="149" y="360"/>
                  <a:pt x="149" y="360"/>
                  <a:pt x="149" y="360"/>
                </a:cubicBezTo>
                <a:cubicBezTo>
                  <a:pt x="157" y="360"/>
                  <a:pt x="157" y="360"/>
                  <a:pt x="157" y="360"/>
                </a:cubicBezTo>
                <a:cubicBezTo>
                  <a:pt x="157" y="442"/>
                  <a:pt x="157" y="442"/>
                  <a:pt x="157" y="442"/>
                </a:cubicBezTo>
                <a:cubicBezTo>
                  <a:pt x="157" y="444"/>
                  <a:pt x="157" y="445"/>
                  <a:pt x="157" y="447"/>
                </a:cubicBezTo>
                <a:cubicBezTo>
                  <a:pt x="158" y="458"/>
                  <a:pt x="159" y="460"/>
                  <a:pt x="174" y="460"/>
                </a:cubicBezTo>
                <a:cubicBezTo>
                  <a:pt x="188" y="460"/>
                  <a:pt x="191" y="458"/>
                  <a:pt x="192" y="449"/>
                </a:cubicBezTo>
                <a:lnTo>
                  <a:pt x="192" y="360"/>
                </a:lnTo>
                <a:close/>
                <a:moveTo>
                  <a:pt x="194" y="109"/>
                </a:moveTo>
                <a:cubicBezTo>
                  <a:pt x="193" y="109"/>
                  <a:pt x="193" y="109"/>
                  <a:pt x="193" y="109"/>
                </a:cubicBezTo>
                <a:cubicBezTo>
                  <a:pt x="193" y="109"/>
                  <a:pt x="193" y="109"/>
                  <a:pt x="193" y="109"/>
                </a:cubicBezTo>
                <a:cubicBezTo>
                  <a:pt x="193" y="109"/>
                  <a:pt x="193" y="109"/>
                  <a:pt x="194" y="109"/>
                </a:cubicBezTo>
                <a:close/>
                <a:moveTo>
                  <a:pt x="320" y="150"/>
                </a:moveTo>
                <a:cubicBezTo>
                  <a:pt x="320" y="145"/>
                  <a:pt x="319" y="140"/>
                  <a:pt x="318" y="135"/>
                </a:cubicBezTo>
                <a:cubicBezTo>
                  <a:pt x="316" y="128"/>
                  <a:pt x="311" y="119"/>
                  <a:pt x="305" y="115"/>
                </a:cubicBezTo>
                <a:cubicBezTo>
                  <a:pt x="292" y="108"/>
                  <a:pt x="278" y="104"/>
                  <a:pt x="264" y="98"/>
                </a:cubicBezTo>
                <a:cubicBezTo>
                  <a:pt x="261" y="117"/>
                  <a:pt x="257" y="134"/>
                  <a:pt x="254" y="150"/>
                </a:cubicBezTo>
                <a:cubicBezTo>
                  <a:pt x="253" y="150"/>
                  <a:pt x="252" y="150"/>
                  <a:pt x="250" y="150"/>
                </a:cubicBezTo>
                <a:cubicBezTo>
                  <a:pt x="250" y="139"/>
                  <a:pt x="247" y="117"/>
                  <a:pt x="246" y="111"/>
                </a:cubicBezTo>
                <a:cubicBezTo>
                  <a:pt x="247" y="111"/>
                  <a:pt x="247" y="111"/>
                  <a:pt x="247" y="111"/>
                </a:cubicBezTo>
                <a:cubicBezTo>
                  <a:pt x="248" y="111"/>
                  <a:pt x="249" y="110"/>
                  <a:pt x="249" y="108"/>
                </a:cubicBezTo>
                <a:cubicBezTo>
                  <a:pt x="251" y="103"/>
                  <a:pt x="251" y="103"/>
                  <a:pt x="251" y="103"/>
                </a:cubicBezTo>
                <a:cubicBezTo>
                  <a:pt x="252" y="102"/>
                  <a:pt x="251" y="101"/>
                  <a:pt x="250" y="100"/>
                </a:cubicBezTo>
                <a:cubicBezTo>
                  <a:pt x="244" y="100"/>
                  <a:pt x="244" y="100"/>
                  <a:pt x="244" y="100"/>
                </a:cubicBezTo>
                <a:cubicBezTo>
                  <a:pt x="241" y="100"/>
                  <a:pt x="241" y="100"/>
                  <a:pt x="241" y="100"/>
                </a:cubicBezTo>
                <a:cubicBezTo>
                  <a:pt x="235" y="100"/>
                  <a:pt x="235" y="100"/>
                  <a:pt x="235" y="100"/>
                </a:cubicBezTo>
                <a:cubicBezTo>
                  <a:pt x="234" y="101"/>
                  <a:pt x="233" y="102"/>
                  <a:pt x="234" y="103"/>
                </a:cubicBezTo>
                <a:cubicBezTo>
                  <a:pt x="236" y="108"/>
                  <a:pt x="236" y="108"/>
                  <a:pt x="236" y="108"/>
                </a:cubicBezTo>
                <a:cubicBezTo>
                  <a:pt x="236" y="110"/>
                  <a:pt x="237" y="111"/>
                  <a:pt x="238" y="111"/>
                </a:cubicBezTo>
                <a:cubicBezTo>
                  <a:pt x="239" y="111"/>
                  <a:pt x="239" y="111"/>
                  <a:pt x="239" y="111"/>
                </a:cubicBezTo>
                <a:cubicBezTo>
                  <a:pt x="238" y="117"/>
                  <a:pt x="235" y="139"/>
                  <a:pt x="235" y="150"/>
                </a:cubicBezTo>
                <a:cubicBezTo>
                  <a:pt x="233" y="150"/>
                  <a:pt x="232" y="150"/>
                  <a:pt x="231" y="150"/>
                </a:cubicBezTo>
                <a:cubicBezTo>
                  <a:pt x="228" y="134"/>
                  <a:pt x="224" y="117"/>
                  <a:pt x="221" y="98"/>
                </a:cubicBezTo>
                <a:cubicBezTo>
                  <a:pt x="214" y="101"/>
                  <a:pt x="207" y="104"/>
                  <a:pt x="200" y="106"/>
                </a:cubicBezTo>
                <a:cubicBezTo>
                  <a:pt x="200" y="107"/>
                  <a:pt x="201" y="107"/>
                  <a:pt x="201" y="107"/>
                </a:cubicBezTo>
                <a:cubicBezTo>
                  <a:pt x="204" y="109"/>
                  <a:pt x="212" y="113"/>
                  <a:pt x="215" y="118"/>
                </a:cubicBezTo>
                <a:cubicBezTo>
                  <a:pt x="229" y="138"/>
                  <a:pt x="235" y="184"/>
                  <a:pt x="234" y="257"/>
                </a:cubicBezTo>
                <a:cubicBezTo>
                  <a:pt x="234" y="258"/>
                  <a:pt x="234" y="259"/>
                  <a:pt x="234" y="260"/>
                </a:cubicBezTo>
                <a:cubicBezTo>
                  <a:pt x="233" y="280"/>
                  <a:pt x="223" y="285"/>
                  <a:pt x="215" y="285"/>
                </a:cubicBezTo>
                <a:cubicBezTo>
                  <a:pt x="214" y="285"/>
                  <a:pt x="213" y="285"/>
                  <a:pt x="212" y="284"/>
                </a:cubicBezTo>
                <a:cubicBezTo>
                  <a:pt x="211" y="284"/>
                  <a:pt x="209" y="284"/>
                  <a:pt x="208" y="284"/>
                </a:cubicBezTo>
                <a:cubicBezTo>
                  <a:pt x="212" y="317"/>
                  <a:pt x="215" y="351"/>
                  <a:pt x="215" y="360"/>
                </a:cubicBezTo>
                <a:cubicBezTo>
                  <a:pt x="215" y="364"/>
                  <a:pt x="212" y="367"/>
                  <a:pt x="208" y="367"/>
                </a:cubicBezTo>
                <a:cubicBezTo>
                  <a:pt x="207" y="367"/>
                  <a:pt x="207" y="367"/>
                  <a:pt x="206" y="367"/>
                </a:cubicBezTo>
                <a:cubicBezTo>
                  <a:pt x="206" y="367"/>
                  <a:pt x="206" y="367"/>
                  <a:pt x="206" y="367"/>
                </a:cubicBezTo>
                <a:cubicBezTo>
                  <a:pt x="199" y="367"/>
                  <a:pt x="199" y="367"/>
                  <a:pt x="199" y="367"/>
                </a:cubicBezTo>
                <a:cubicBezTo>
                  <a:pt x="199" y="449"/>
                  <a:pt x="199" y="449"/>
                  <a:pt x="199" y="449"/>
                </a:cubicBezTo>
                <a:cubicBezTo>
                  <a:pt x="199" y="449"/>
                  <a:pt x="199" y="449"/>
                  <a:pt x="199" y="449"/>
                </a:cubicBezTo>
                <a:cubicBezTo>
                  <a:pt x="199" y="452"/>
                  <a:pt x="199" y="454"/>
                  <a:pt x="198" y="456"/>
                </a:cubicBezTo>
                <a:cubicBezTo>
                  <a:pt x="201" y="459"/>
                  <a:pt x="207" y="460"/>
                  <a:pt x="219" y="460"/>
                </a:cubicBezTo>
                <a:cubicBezTo>
                  <a:pt x="235" y="460"/>
                  <a:pt x="238" y="458"/>
                  <a:pt x="239" y="447"/>
                </a:cubicBezTo>
                <a:cubicBezTo>
                  <a:pt x="239" y="442"/>
                  <a:pt x="239" y="437"/>
                  <a:pt x="239" y="432"/>
                </a:cubicBezTo>
                <a:cubicBezTo>
                  <a:pt x="239" y="380"/>
                  <a:pt x="239" y="327"/>
                  <a:pt x="239" y="274"/>
                </a:cubicBezTo>
                <a:cubicBezTo>
                  <a:pt x="240" y="274"/>
                  <a:pt x="244" y="274"/>
                  <a:pt x="244" y="274"/>
                </a:cubicBezTo>
                <a:cubicBezTo>
                  <a:pt x="244" y="274"/>
                  <a:pt x="245" y="274"/>
                  <a:pt x="246" y="274"/>
                </a:cubicBezTo>
                <a:cubicBezTo>
                  <a:pt x="246" y="327"/>
                  <a:pt x="246" y="380"/>
                  <a:pt x="246" y="432"/>
                </a:cubicBezTo>
                <a:cubicBezTo>
                  <a:pt x="246" y="437"/>
                  <a:pt x="246" y="442"/>
                  <a:pt x="246" y="447"/>
                </a:cubicBezTo>
                <a:cubicBezTo>
                  <a:pt x="247" y="458"/>
                  <a:pt x="250" y="460"/>
                  <a:pt x="266" y="460"/>
                </a:cubicBezTo>
                <a:cubicBezTo>
                  <a:pt x="285" y="460"/>
                  <a:pt x="289" y="458"/>
                  <a:pt x="289" y="447"/>
                </a:cubicBezTo>
                <a:cubicBezTo>
                  <a:pt x="290" y="443"/>
                  <a:pt x="289" y="438"/>
                  <a:pt x="289" y="433"/>
                </a:cubicBezTo>
                <a:cubicBezTo>
                  <a:pt x="289" y="351"/>
                  <a:pt x="289" y="269"/>
                  <a:pt x="289" y="187"/>
                </a:cubicBezTo>
                <a:cubicBezTo>
                  <a:pt x="289" y="183"/>
                  <a:pt x="289" y="178"/>
                  <a:pt x="289" y="173"/>
                </a:cubicBezTo>
                <a:cubicBezTo>
                  <a:pt x="290" y="173"/>
                  <a:pt x="291" y="173"/>
                  <a:pt x="291" y="173"/>
                </a:cubicBezTo>
                <a:cubicBezTo>
                  <a:pt x="295" y="185"/>
                  <a:pt x="300" y="197"/>
                  <a:pt x="299" y="211"/>
                </a:cubicBezTo>
                <a:cubicBezTo>
                  <a:pt x="298" y="230"/>
                  <a:pt x="299" y="251"/>
                  <a:pt x="299" y="271"/>
                </a:cubicBezTo>
                <a:cubicBezTo>
                  <a:pt x="299" y="283"/>
                  <a:pt x="303" y="287"/>
                  <a:pt x="314" y="286"/>
                </a:cubicBezTo>
                <a:cubicBezTo>
                  <a:pt x="325" y="286"/>
                  <a:pt x="328" y="282"/>
                  <a:pt x="328" y="270"/>
                </a:cubicBezTo>
                <a:cubicBezTo>
                  <a:pt x="328" y="255"/>
                  <a:pt x="327" y="241"/>
                  <a:pt x="328" y="226"/>
                </a:cubicBezTo>
                <a:cubicBezTo>
                  <a:pt x="330" y="200"/>
                  <a:pt x="325" y="175"/>
                  <a:pt x="320" y="150"/>
                </a:cubicBezTo>
                <a:close/>
                <a:moveTo>
                  <a:pt x="107" y="437"/>
                </a:moveTo>
                <a:cubicBezTo>
                  <a:pt x="107" y="434"/>
                  <a:pt x="107" y="434"/>
                  <a:pt x="107" y="434"/>
                </a:cubicBezTo>
                <a:cubicBezTo>
                  <a:pt x="107" y="425"/>
                  <a:pt x="107" y="416"/>
                  <a:pt x="106" y="408"/>
                </a:cubicBezTo>
                <a:cubicBezTo>
                  <a:pt x="106" y="367"/>
                  <a:pt x="106" y="367"/>
                  <a:pt x="106" y="367"/>
                </a:cubicBezTo>
                <a:cubicBezTo>
                  <a:pt x="98" y="367"/>
                  <a:pt x="98" y="367"/>
                  <a:pt x="98" y="367"/>
                </a:cubicBezTo>
                <a:cubicBezTo>
                  <a:pt x="94" y="367"/>
                  <a:pt x="91" y="364"/>
                  <a:pt x="91" y="360"/>
                </a:cubicBezTo>
                <a:cubicBezTo>
                  <a:pt x="91" y="351"/>
                  <a:pt x="94" y="317"/>
                  <a:pt x="98" y="284"/>
                </a:cubicBezTo>
                <a:cubicBezTo>
                  <a:pt x="97" y="284"/>
                  <a:pt x="95" y="284"/>
                  <a:pt x="93" y="284"/>
                </a:cubicBezTo>
                <a:cubicBezTo>
                  <a:pt x="92" y="285"/>
                  <a:pt x="92" y="285"/>
                  <a:pt x="91" y="285"/>
                </a:cubicBezTo>
                <a:cubicBezTo>
                  <a:pt x="88" y="285"/>
                  <a:pt x="86" y="284"/>
                  <a:pt x="83" y="283"/>
                </a:cubicBezTo>
                <a:cubicBezTo>
                  <a:pt x="83" y="328"/>
                  <a:pt x="83" y="372"/>
                  <a:pt x="83" y="417"/>
                </a:cubicBezTo>
                <a:cubicBezTo>
                  <a:pt x="83" y="421"/>
                  <a:pt x="83" y="425"/>
                  <a:pt x="83" y="430"/>
                </a:cubicBezTo>
                <a:cubicBezTo>
                  <a:pt x="84" y="440"/>
                  <a:pt x="87" y="442"/>
                  <a:pt x="102" y="442"/>
                </a:cubicBezTo>
                <a:cubicBezTo>
                  <a:pt x="104" y="442"/>
                  <a:pt x="105" y="442"/>
                  <a:pt x="106" y="442"/>
                </a:cubicBezTo>
                <a:cubicBezTo>
                  <a:pt x="106" y="440"/>
                  <a:pt x="106" y="439"/>
                  <a:pt x="107" y="437"/>
                </a:cubicBezTo>
                <a:close/>
                <a:moveTo>
                  <a:pt x="54" y="82"/>
                </a:moveTo>
                <a:cubicBezTo>
                  <a:pt x="54" y="82"/>
                  <a:pt x="54" y="82"/>
                  <a:pt x="54" y="82"/>
                </a:cubicBezTo>
                <a:cubicBezTo>
                  <a:pt x="55" y="84"/>
                  <a:pt x="55" y="86"/>
                  <a:pt x="56" y="87"/>
                </a:cubicBezTo>
                <a:cubicBezTo>
                  <a:pt x="64" y="102"/>
                  <a:pt x="67" y="108"/>
                  <a:pt x="79" y="109"/>
                </a:cubicBezTo>
                <a:cubicBezTo>
                  <a:pt x="79" y="109"/>
                  <a:pt x="79" y="109"/>
                  <a:pt x="79" y="109"/>
                </a:cubicBezTo>
                <a:cubicBezTo>
                  <a:pt x="79" y="109"/>
                  <a:pt x="79" y="109"/>
                  <a:pt x="79" y="109"/>
                </a:cubicBezTo>
                <a:cubicBezTo>
                  <a:pt x="80" y="109"/>
                  <a:pt x="80" y="109"/>
                  <a:pt x="80" y="109"/>
                </a:cubicBezTo>
                <a:cubicBezTo>
                  <a:pt x="80" y="109"/>
                  <a:pt x="80" y="109"/>
                  <a:pt x="81" y="109"/>
                </a:cubicBezTo>
                <a:cubicBezTo>
                  <a:pt x="81" y="109"/>
                  <a:pt x="81" y="109"/>
                  <a:pt x="81" y="109"/>
                </a:cubicBezTo>
                <a:cubicBezTo>
                  <a:pt x="81" y="109"/>
                  <a:pt x="81" y="109"/>
                  <a:pt x="81" y="109"/>
                </a:cubicBezTo>
                <a:cubicBezTo>
                  <a:pt x="93" y="108"/>
                  <a:pt x="96" y="102"/>
                  <a:pt x="104" y="87"/>
                </a:cubicBezTo>
                <a:cubicBezTo>
                  <a:pt x="105" y="86"/>
                  <a:pt x="105" y="84"/>
                  <a:pt x="106" y="82"/>
                </a:cubicBezTo>
                <a:cubicBezTo>
                  <a:pt x="106" y="82"/>
                  <a:pt x="106" y="82"/>
                  <a:pt x="106" y="82"/>
                </a:cubicBezTo>
                <a:cubicBezTo>
                  <a:pt x="107" y="82"/>
                  <a:pt x="108" y="80"/>
                  <a:pt x="109" y="77"/>
                </a:cubicBezTo>
                <a:cubicBezTo>
                  <a:pt x="108" y="71"/>
                  <a:pt x="107" y="63"/>
                  <a:pt x="107" y="55"/>
                </a:cubicBezTo>
                <a:cubicBezTo>
                  <a:pt x="103" y="38"/>
                  <a:pt x="93" y="31"/>
                  <a:pt x="81" y="31"/>
                </a:cubicBezTo>
                <a:cubicBezTo>
                  <a:pt x="81" y="31"/>
                  <a:pt x="81" y="31"/>
                  <a:pt x="81" y="31"/>
                </a:cubicBezTo>
                <a:cubicBezTo>
                  <a:pt x="81" y="31"/>
                  <a:pt x="81" y="31"/>
                  <a:pt x="81" y="31"/>
                </a:cubicBezTo>
                <a:cubicBezTo>
                  <a:pt x="80" y="31"/>
                  <a:pt x="80" y="31"/>
                  <a:pt x="80" y="31"/>
                </a:cubicBezTo>
                <a:cubicBezTo>
                  <a:pt x="80" y="31"/>
                  <a:pt x="80" y="31"/>
                  <a:pt x="79" y="31"/>
                </a:cubicBezTo>
                <a:cubicBezTo>
                  <a:pt x="79" y="31"/>
                  <a:pt x="79" y="31"/>
                  <a:pt x="79" y="31"/>
                </a:cubicBezTo>
                <a:cubicBezTo>
                  <a:pt x="79" y="31"/>
                  <a:pt x="79" y="31"/>
                  <a:pt x="79" y="31"/>
                </a:cubicBezTo>
                <a:cubicBezTo>
                  <a:pt x="65" y="31"/>
                  <a:pt x="54" y="40"/>
                  <a:pt x="52" y="61"/>
                </a:cubicBezTo>
                <a:cubicBezTo>
                  <a:pt x="52" y="61"/>
                  <a:pt x="51" y="61"/>
                  <a:pt x="51" y="62"/>
                </a:cubicBezTo>
                <a:cubicBezTo>
                  <a:pt x="50" y="63"/>
                  <a:pt x="49" y="69"/>
                  <a:pt x="50" y="72"/>
                </a:cubicBezTo>
                <a:cubicBezTo>
                  <a:pt x="50" y="77"/>
                  <a:pt x="52" y="82"/>
                  <a:pt x="54" y="82"/>
                </a:cubicBezTo>
                <a:close/>
                <a:moveTo>
                  <a:pt x="77" y="278"/>
                </a:moveTo>
                <a:cubicBezTo>
                  <a:pt x="74" y="275"/>
                  <a:pt x="72" y="269"/>
                  <a:pt x="72" y="260"/>
                </a:cubicBezTo>
                <a:cubicBezTo>
                  <a:pt x="72" y="260"/>
                  <a:pt x="72" y="258"/>
                  <a:pt x="72" y="257"/>
                </a:cubicBezTo>
                <a:cubicBezTo>
                  <a:pt x="71" y="192"/>
                  <a:pt x="75" y="150"/>
                  <a:pt x="84" y="127"/>
                </a:cubicBezTo>
                <a:cubicBezTo>
                  <a:pt x="83" y="125"/>
                  <a:pt x="83" y="123"/>
                  <a:pt x="83" y="122"/>
                </a:cubicBezTo>
                <a:cubicBezTo>
                  <a:pt x="84" y="122"/>
                  <a:pt x="84" y="122"/>
                  <a:pt x="84" y="122"/>
                </a:cubicBezTo>
                <a:cubicBezTo>
                  <a:pt x="85" y="122"/>
                  <a:pt x="86" y="122"/>
                  <a:pt x="86" y="120"/>
                </a:cubicBezTo>
                <a:cubicBezTo>
                  <a:pt x="88" y="115"/>
                  <a:pt x="88" y="115"/>
                  <a:pt x="88" y="115"/>
                </a:cubicBezTo>
                <a:cubicBezTo>
                  <a:pt x="88" y="114"/>
                  <a:pt x="88" y="113"/>
                  <a:pt x="86" y="113"/>
                </a:cubicBezTo>
                <a:cubicBezTo>
                  <a:pt x="81" y="113"/>
                  <a:pt x="81" y="113"/>
                  <a:pt x="81" y="113"/>
                </a:cubicBezTo>
                <a:cubicBezTo>
                  <a:pt x="79" y="113"/>
                  <a:pt x="79" y="113"/>
                  <a:pt x="79" y="113"/>
                </a:cubicBezTo>
                <a:cubicBezTo>
                  <a:pt x="74" y="113"/>
                  <a:pt x="74" y="113"/>
                  <a:pt x="74" y="113"/>
                </a:cubicBezTo>
                <a:cubicBezTo>
                  <a:pt x="72" y="113"/>
                  <a:pt x="72" y="114"/>
                  <a:pt x="72" y="115"/>
                </a:cubicBezTo>
                <a:cubicBezTo>
                  <a:pt x="74" y="120"/>
                  <a:pt x="74" y="120"/>
                  <a:pt x="74" y="120"/>
                </a:cubicBezTo>
                <a:cubicBezTo>
                  <a:pt x="74" y="122"/>
                  <a:pt x="75" y="122"/>
                  <a:pt x="76" y="122"/>
                </a:cubicBezTo>
                <a:cubicBezTo>
                  <a:pt x="77" y="122"/>
                  <a:pt x="77" y="122"/>
                  <a:pt x="77" y="122"/>
                </a:cubicBezTo>
                <a:cubicBezTo>
                  <a:pt x="76" y="128"/>
                  <a:pt x="73" y="149"/>
                  <a:pt x="73" y="158"/>
                </a:cubicBezTo>
                <a:cubicBezTo>
                  <a:pt x="72" y="159"/>
                  <a:pt x="70" y="159"/>
                  <a:pt x="69" y="159"/>
                </a:cubicBezTo>
                <a:cubicBezTo>
                  <a:pt x="66" y="143"/>
                  <a:pt x="63" y="128"/>
                  <a:pt x="60" y="111"/>
                </a:cubicBezTo>
                <a:cubicBezTo>
                  <a:pt x="47" y="116"/>
                  <a:pt x="34" y="120"/>
                  <a:pt x="23" y="127"/>
                </a:cubicBezTo>
                <a:cubicBezTo>
                  <a:pt x="17" y="130"/>
                  <a:pt x="13" y="138"/>
                  <a:pt x="11" y="145"/>
                </a:cubicBezTo>
                <a:cubicBezTo>
                  <a:pt x="10" y="149"/>
                  <a:pt x="9" y="154"/>
                  <a:pt x="9" y="159"/>
                </a:cubicBezTo>
                <a:cubicBezTo>
                  <a:pt x="4" y="182"/>
                  <a:pt x="0" y="204"/>
                  <a:pt x="2" y="228"/>
                </a:cubicBezTo>
                <a:cubicBezTo>
                  <a:pt x="3" y="241"/>
                  <a:pt x="2" y="254"/>
                  <a:pt x="2" y="268"/>
                </a:cubicBezTo>
                <a:cubicBezTo>
                  <a:pt x="2" y="279"/>
                  <a:pt x="5" y="283"/>
                  <a:pt x="15" y="283"/>
                </a:cubicBezTo>
                <a:cubicBezTo>
                  <a:pt x="25" y="283"/>
                  <a:pt x="28" y="280"/>
                  <a:pt x="28" y="269"/>
                </a:cubicBezTo>
                <a:cubicBezTo>
                  <a:pt x="28" y="250"/>
                  <a:pt x="29" y="232"/>
                  <a:pt x="28" y="214"/>
                </a:cubicBezTo>
                <a:cubicBezTo>
                  <a:pt x="27" y="202"/>
                  <a:pt x="32" y="191"/>
                  <a:pt x="35" y="179"/>
                </a:cubicBezTo>
                <a:cubicBezTo>
                  <a:pt x="36" y="179"/>
                  <a:pt x="37" y="179"/>
                  <a:pt x="37" y="179"/>
                </a:cubicBezTo>
                <a:cubicBezTo>
                  <a:pt x="37" y="184"/>
                  <a:pt x="37" y="188"/>
                  <a:pt x="37" y="193"/>
                </a:cubicBezTo>
                <a:cubicBezTo>
                  <a:pt x="37" y="267"/>
                  <a:pt x="37" y="342"/>
                  <a:pt x="37" y="417"/>
                </a:cubicBezTo>
                <a:cubicBezTo>
                  <a:pt x="37" y="421"/>
                  <a:pt x="37" y="426"/>
                  <a:pt x="37" y="430"/>
                </a:cubicBezTo>
                <a:cubicBezTo>
                  <a:pt x="38" y="440"/>
                  <a:pt x="41" y="442"/>
                  <a:pt x="58" y="442"/>
                </a:cubicBezTo>
                <a:cubicBezTo>
                  <a:pt x="73" y="442"/>
                  <a:pt x="76" y="440"/>
                  <a:pt x="77" y="430"/>
                </a:cubicBezTo>
                <a:cubicBezTo>
                  <a:pt x="77" y="425"/>
                  <a:pt x="77" y="421"/>
                  <a:pt x="77" y="417"/>
                </a:cubicBezTo>
                <a:cubicBezTo>
                  <a:pt x="77" y="371"/>
                  <a:pt x="77" y="324"/>
                  <a:pt x="77" y="27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26" name="Group 425"/>
          <p:cNvGrpSpPr/>
          <p:nvPr userDrawn="1"/>
        </p:nvGrpSpPr>
        <p:grpSpPr>
          <a:xfrm>
            <a:off x="6544079" y="5473945"/>
            <a:ext cx="218597" cy="270568"/>
            <a:chOff x="1984375" y="6950076"/>
            <a:chExt cx="1101725" cy="1363662"/>
          </a:xfrm>
          <a:solidFill>
            <a:schemeClr val="tx1"/>
          </a:solidFill>
        </p:grpSpPr>
        <p:sp>
          <p:nvSpPr>
            <p:cNvPr id="427" name="Freeform 29"/>
            <p:cNvSpPr>
              <a:spLocks/>
            </p:cNvSpPr>
            <p:nvPr/>
          </p:nvSpPr>
          <p:spPr bwMode="auto">
            <a:xfrm>
              <a:off x="2155825" y="6950076"/>
              <a:ext cx="698500" cy="931863"/>
            </a:xfrm>
            <a:custGeom>
              <a:avLst/>
              <a:gdLst>
                <a:gd name="T0" fmla="*/ 0 w 245"/>
                <a:gd name="T1" fmla="*/ 309 h 327"/>
                <a:gd name="T2" fmla="*/ 11 w 245"/>
                <a:gd name="T3" fmla="*/ 311 h 327"/>
                <a:gd name="T4" fmla="*/ 102 w 245"/>
                <a:gd name="T5" fmla="*/ 267 h 327"/>
                <a:gd name="T6" fmla="*/ 96 w 245"/>
                <a:gd name="T7" fmla="*/ 225 h 327"/>
                <a:gd name="T8" fmla="*/ 113 w 245"/>
                <a:gd name="T9" fmla="*/ 156 h 327"/>
                <a:gd name="T10" fmla="*/ 178 w 245"/>
                <a:gd name="T11" fmla="*/ 91 h 327"/>
                <a:gd name="T12" fmla="*/ 202 w 245"/>
                <a:gd name="T13" fmla="*/ 153 h 327"/>
                <a:gd name="T14" fmla="*/ 213 w 245"/>
                <a:gd name="T15" fmla="*/ 142 h 327"/>
                <a:gd name="T16" fmla="*/ 217 w 245"/>
                <a:gd name="T17" fmla="*/ 155 h 327"/>
                <a:gd name="T18" fmla="*/ 203 w 245"/>
                <a:gd name="T19" fmla="*/ 189 h 327"/>
                <a:gd name="T20" fmla="*/ 175 w 245"/>
                <a:gd name="T21" fmla="*/ 259 h 327"/>
                <a:gd name="T22" fmla="*/ 177 w 245"/>
                <a:gd name="T23" fmla="*/ 280 h 327"/>
                <a:gd name="T24" fmla="*/ 245 w 245"/>
                <a:gd name="T25" fmla="*/ 298 h 327"/>
                <a:gd name="T26" fmla="*/ 234 w 245"/>
                <a:gd name="T27" fmla="*/ 125 h 327"/>
                <a:gd name="T28" fmla="*/ 178 w 245"/>
                <a:gd name="T29" fmla="*/ 30 h 327"/>
                <a:gd name="T30" fmla="*/ 42 w 245"/>
                <a:gd name="T31" fmla="*/ 71 h 327"/>
                <a:gd name="T32" fmla="*/ 41 w 245"/>
                <a:gd name="T33" fmla="*/ 246 h 327"/>
                <a:gd name="T34" fmla="*/ 0 w 245"/>
                <a:gd name="T35" fmla="*/ 30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 h="327">
                  <a:moveTo>
                    <a:pt x="0" y="309"/>
                  </a:moveTo>
                  <a:cubicBezTo>
                    <a:pt x="4" y="310"/>
                    <a:pt x="8" y="311"/>
                    <a:pt x="11" y="311"/>
                  </a:cubicBezTo>
                  <a:cubicBezTo>
                    <a:pt x="42" y="319"/>
                    <a:pt x="78" y="327"/>
                    <a:pt x="102" y="267"/>
                  </a:cubicBezTo>
                  <a:cubicBezTo>
                    <a:pt x="104" y="251"/>
                    <a:pt x="100" y="232"/>
                    <a:pt x="96" y="225"/>
                  </a:cubicBezTo>
                  <a:cubicBezTo>
                    <a:pt x="84" y="204"/>
                    <a:pt x="81" y="164"/>
                    <a:pt x="113" y="156"/>
                  </a:cubicBezTo>
                  <a:cubicBezTo>
                    <a:pt x="151" y="145"/>
                    <a:pt x="178" y="91"/>
                    <a:pt x="178" y="91"/>
                  </a:cubicBezTo>
                  <a:cubicBezTo>
                    <a:pt x="210" y="96"/>
                    <a:pt x="202" y="153"/>
                    <a:pt x="202" y="153"/>
                  </a:cubicBezTo>
                  <a:cubicBezTo>
                    <a:pt x="206" y="142"/>
                    <a:pt x="210" y="142"/>
                    <a:pt x="213" y="142"/>
                  </a:cubicBezTo>
                  <a:cubicBezTo>
                    <a:pt x="218" y="144"/>
                    <a:pt x="217" y="155"/>
                    <a:pt x="217" y="155"/>
                  </a:cubicBezTo>
                  <a:cubicBezTo>
                    <a:pt x="216" y="200"/>
                    <a:pt x="203" y="189"/>
                    <a:pt x="203" y="189"/>
                  </a:cubicBezTo>
                  <a:cubicBezTo>
                    <a:pt x="203" y="226"/>
                    <a:pt x="175" y="259"/>
                    <a:pt x="175" y="259"/>
                  </a:cubicBezTo>
                  <a:cubicBezTo>
                    <a:pt x="176" y="270"/>
                    <a:pt x="174" y="275"/>
                    <a:pt x="177" y="280"/>
                  </a:cubicBezTo>
                  <a:cubicBezTo>
                    <a:pt x="196" y="283"/>
                    <a:pt x="219" y="288"/>
                    <a:pt x="245" y="298"/>
                  </a:cubicBezTo>
                  <a:cubicBezTo>
                    <a:pt x="227" y="267"/>
                    <a:pt x="232" y="191"/>
                    <a:pt x="234" y="125"/>
                  </a:cubicBezTo>
                  <a:cubicBezTo>
                    <a:pt x="236" y="47"/>
                    <a:pt x="178" y="30"/>
                    <a:pt x="178" y="30"/>
                  </a:cubicBezTo>
                  <a:cubicBezTo>
                    <a:pt x="84" y="0"/>
                    <a:pt x="42" y="71"/>
                    <a:pt x="42" y="71"/>
                  </a:cubicBezTo>
                  <a:cubicBezTo>
                    <a:pt x="11" y="120"/>
                    <a:pt x="41" y="246"/>
                    <a:pt x="41" y="246"/>
                  </a:cubicBezTo>
                  <a:cubicBezTo>
                    <a:pt x="44" y="266"/>
                    <a:pt x="19" y="292"/>
                    <a:pt x="0" y="3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8" name="Freeform 30"/>
            <p:cNvSpPr>
              <a:spLocks/>
            </p:cNvSpPr>
            <p:nvPr/>
          </p:nvSpPr>
          <p:spPr bwMode="auto">
            <a:xfrm>
              <a:off x="1984375" y="7770813"/>
              <a:ext cx="1101725" cy="542925"/>
            </a:xfrm>
            <a:custGeom>
              <a:avLst/>
              <a:gdLst>
                <a:gd name="T0" fmla="*/ 325 w 386"/>
                <a:gd name="T1" fmla="*/ 25 h 190"/>
                <a:gd name="T2" fmla="*/ 238 w 386"/>
                <a:gd name="T3" fmla="*/ 0 h 190"/>
                <a:gd name="T4" fmla="*/ 232 w 386"/>
                <a:gd name="T5" fmla="*/ 29 h 190"/>
                <a:gd name="T6" fmla="*/ 194 w 386"/>
                <a:gd name="T7" fmla="*/ 150 h 190"/>
                <a:gd name="T8" fmla="*/ 155 w 386"/>
                <a:gd name="T9" fmla="*/ 31 h 190"/>
                <a:gd name="T10" fmla="*/ 150 w 386"/>
                <a:gd name="T11" fmla="*/ 14 h 190"/>
                <a:gd name="T12" fmla="*/ 104 w 386"/>
                <a:gd name="T13" fmla="*/ 36 h 190"/>
                <a:gd name="T14" fmla="*/ 70 w 386"/>
                <a:gd name="T15" fmla="*/ 31 h 190"/>
                <a:gd name="T16" fmla="*/ 54 w 386"/>
                <a:gd name="T17" fmla="*/ 27 h 190"/>
                <a:gd name="T18" fmla="*/ 53 w 386"/>
                <a:gd name="T19" fmla="*/ 27 h 190"/>
                <a:gd name="T20" fmla="*/ 0 w 386"/>
                <a:gd name="T21" fmla="*/ 190 h 190"/>
                <a:gd name="T22" fmla="*/ 386 w 386"/>
                <a:gd name="T23" fmla="*/ 190 h 190"/>
                <a:gd name="T24" fmla="*/ 325 w 386"/>
                <a:gd name="T25" fmla="*/ 2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6" h="190">
                  <a:moveTo>
                    <a:pt x="325" y="25"/>
                  </a:moveTo>
                  <a:cubicBezTo>
                    <a:pt x="291" y="11"/>
                    <a:pt x="262" y="3"/>
                    <a:pt x="238" y="0"/>
                  </a:cubicBezTo>
                  <a:cubicBezTo>
                    <a:pt x="236" y="11"/>
                    <a:pt x="233" y="24"/>
                    <a:pt x="232" y="29"/>
                  </a:cubicBezTo>
                  <a:cubicBezTo>
                    <a:pt x="217" y="89"/>
                    <a:pt x="194" y="150"/>
                    <a:pt x="194" y="150"/>
                  </a:cubicBezTo>
                  <a:cubicBezTo>
                    <a:pt x="194" y="150"/>
                    <a:pt x="171" y="86"/>
                    <a:pt x="155" y="31"/>
                  </a:cubicBezTo>
                  <a:cubicBezTo>
                    <a:pt x="154" y="28"/>
                    <a:pt x="152" y="20"/>
                    <a:pt x="150" y="14"/>
                  </a:cubicBezTo>
                  <a:cubicBezTo>
                    <a:pt x="136" y="31"/>
                    <a:pt x="120" y="36"/>
                    <a:pt x="104" y="36"/>
                  </a:cubicBezTo>
                  <a:cubicBezTo>
                    <a:pt x="92" y="36"/>
                    <a:pt x="80" y="33"/>
                    <a:pt x="70" y="31"/>
                  </a:cubicBezTo>
                  <a:cubicBezTo>
                    <a:pt x="64" y="29"/>
                    <a:pt x="59" y="28"/>
                    <a:pt x="54" y="27"/>
                  </a:cubicBezTo>
                  <a:cubicBezTo>
                    <a:pt x="53" y="27"/>
                    <a:pt x="53" y="27"/>
                    <a:pt x="53" y="27"/>
                  </a:cubicBezTo>
                  <a:cubicBezTo>
                    <a:pt x="26" y="44"/>
                    <a:pt x="6" y="99"/>
                    <a:pt x="0" y="190"/>
                  </a:cubicBezTo>
                  <a:cubicBezTo>
                    <a:pt x="386" y="190"/>
                    <a:pt x="386" y="190"/>
                    <a:pt x="386" y="190"/>
                  </a:cubicBezTo>
                  <a:cubicBezTo>
                    <a:pt x="383" y="155"/>
                    <a:pt x="377" y="59"/>
                    <a:pt x="32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29" name="Group 428"/>
          <p:cNvGrpSpPr/>
          <p:nvPr userDrawn="1"/>
        </p:nvGrpSpPr>
        <p:grpSpPr>
          <a:xfrm>
            <a:off x="6503197" y="6110751"/>
            <a:ext cx="267684" cy="267000"/>
            <a:chOff x="-1635125" y="6926263"/>
            <a:chExt cx="1239837" cy="1236662"/>
          </a:xfrm>
          <a:solidFill>
            <a:schemeClr val="tx1"/>
          </a:solidFill>
        </p:grpSpPr>
        <p:sp>
          <p:nvSpPr>
            <p:cNvPr id="430" name="Freeform 34"/>
            <p:cNvSpPr>
              <a:spLocks/>
            </p:cNvSpPr>
            <p:nvPr/>
          </p:nvSpPr>
          <p:spPr bwMode="auto">
            <a:xfrm>
              <a:off x="-1635125" y="7597775"/>
              <a:ext cx="1239837" cy="565150"/>
            </a:xfrm>
            <a:custGeom>
              <a:avLst/>
              <a:gdLst>
                <a:gd name="T0" fmla="*/ 424 w 434"/>
                <a:gd name="T1" fmla="*/ 98 h 198"/>
                <a:gd name="T2" fmla="*/ 388 w 434"/>
                <a:gd name="T3" fmla="*/ 44 h 198"/>
                <a:gd name="T4" fmla="*/ 280 w 434"/>
                <a:gd name="T5" fmla="*/ 0 h 198"/>
                <a:gd name="T6" fmla="*/ 254 w 434"/>
                <a:gd name="T7" fmla="*/ 138 h 198"/>
                <a:gd name="T8" fmla="*/ 244 w 434"/>
                <a:gd name="T9" fmla="*/ 137 h 198"/>
                <a:gd name="T10" fmla="*/ 231 w 434"/>
                <a:gd name="T11" fmla="*/ 32 h 198"/>
                <a:gd name="T12" fmla="*/ 235 w 434"/>
                <a:gd name="T13" fmla="*/ 32 h 198"/>
                <a:gd name="T14" fmla="*/ 241 w 434"/>
                <a:gd name="T15" fmla="*/ 26 h 198"/>
                <a:gd name="T16" fmla="*/ 246 w 434"/>
                <a:gd name="T17" fmla="*/ 11 h 198"/>
                <a:gd name="T18" fmla="*/ 241 w 434"/>
                <a:gd name="T19" fmla="*/ 5 h 198"/>
                <a:gd name="T20" fmla="*/ 206 w 434"/>
                <a:gd name="T21" fmla="*/ 5 h 198"/>
                <a:gd name="T22" fmla="*/ 201 w 434"/>
                <a:gd name="T23" fmla="*/ 11 h 198"/>
                <a:gd name="T24" fmla="*/ 205 w 434"/>
                <a:gd name="T25" fmla="*/ 26 h 198"/>
                <a:gd name="T26" fmla="*/ 211 w 434"/>
                <a:gd name="T27" fmla="*/ 32 h 198"/>
                <a:gd name="T28" fmla="*/ 214 w 434"/>
                <a:gd name="T29" fmla="*/ 32 h 198"/>
                <a:gd name="T30" fmla="*/ 199 w 434"/>
                <a:gd name="T31" fmla="*/ 138 h 198"/>
                <a:gd name="T32" fmla="*/ 189 w 434"/>
                <a:gd name="T33" fmla="*/ 138 h 198"/>
                <a:gd name="T34" fmla="*/ 164 w 434"/>
                <a:gd name="T35" fmla="*/ 3 h 198"/>
                <a:gd name="T36" fmla="*/ 15 w 434"/>
                <a:gd name="T37" fmla="*/ 198 h 198"/>
                <a:gd name="T38" fmla="*/ 434 w 434"/>
                <a:gd name="T39" fmla="*/ 198 h 198"/>
                <a:gd name="T40" fmla="*/ 424 w 434"/>
                <a:gd name="T41"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4" h="198">
                  <a:moveTo>
                    <a:pt x="424" y="98"/>
                  </a:moveTo>
                  <a:cubicBezTo>
                    <a:pt x="419" y="78"/>
                    <a:pt x="405" y="54"/>
                    <a:pt x="388" y="44"/>
                  </a:cubicBezTo>
                  <a:cubicBezTo>
                    <a:pt x="356" y="25"/>
                    <a:pt x="318" y="15"/>
                    <a:pt x="280" y="0"/>
                  </a:cubicBezTo>
                  <a:cubicBezTo>
                    <a:pt x="271" y="48"/>
                    <a:pt x="263" y="93"/>
                    <a:pt x="254" y="138"/>
                  </a:cubicBezTo>
                  <a:cubicBezTo>
                    <a:pt x="251" y="138"/>
                    <a:pt x="247" y="137"/>
                    <a:pt x="244" y="137"/>
                  </a:cubicBezTo>
                  <a:cubicBezTo>
                    <a:pt x="242" y="109"/>
                    <a:pt x="234" y="48"/>
                    <a:pt x="231" y="32"/>
                  </a:cubicBezTo>
                  <a:cubicBezTo>
                    <a:pt x="235" y="32"/>
                    <a:pt x="235" y="32"/>
                    <a:pt x="235" y="32"/>
                  </a:cubicBezTo>
                  <a:cubicBezTo>
                    <a:pt x="238" y="32"/>
                    <a:pt x="240" y="30"/>
                    <a:pt x="241" y="26"/>
                  </a:cubicBezTo>
                  <a:cubicBezTo>
                    <a:pt x="246" y="11"/>
                    <a:pt x="246" y="11"/>
                    <a:pt x="246" y="11"/>
                  </a:cubicBezTo>
                  <a:cubicBezTo>
                    <a:pt x="247" y="8"/>
                    <a:pt x="245" y="6"/>
                    <a:pt x="241" y="5"/>
                  </a:cubicBezTo>
                  <a:cubicBezTo>
                    <a:pt x="206" y="5"/>
                    <a:pt x="206" y="5"/>
                    <a:pt x="206" y="5"/>
                  </a:cubicBezTo>
                  <a:cubicBezTo>
                    <a:pt x="201" y="5"/>
                    <a:pt x="200" y="8"/>
                    <a:pt x="201" y="11"/>
                  </a:cubicBezTo>
                  <a:cubicBezTo>
                    <a:pt x="205" y="26"/>
                    <a:pt x="205" y="26"/>
                    <a:pt x="205" y="26"/>
                  </a:cubicBezTo>
                  <a:cubicBezTo>
                    <a:pt x="206" y="29"/>
                    <a:pt x="208" y="32"/>
                    <a:pt x="211" y="32"/>
                  </a:cubicBezTo>
                  <a:cubicBezTo>
                    <a:pt x="214" y="32"/>
                    <a:pt x="214" y="32"/>
                    <a:pt x="214" y="32"/>
                  </a:cubicBezTo>
                  <a:cubicBezTo>
                    <a:pt x="211" y="49"/>
                    <a:pt x="201" y="110"/>
                    <a:pt x="199" y="138"/>
                  </a:cubicBezTo>
                  <a:cubicBezTo>
                    <a:pt x="196" y="138"/>
                    <a:pt x="192" y="138"/>
                    <a:pt x="189" y="138"/>
                  </a:cubicBezTo>
                  <a:cubicBezTo>
                    <a:pt x="181" y="93"/>
                    <a:pt x="173" y="48"/>
                    <a:pt x="164" y="3"/>
                  </a:cubicBezTo>
                  <a:cubicBezTo>
                    <a:pt x="37" y="29"/>
                    <a:pt x="0" y="77"/>
                    <a:pt x="15" y="198"/>
                  </a:cubicBezTo>
                  <a:cubicBezTo>
                    <a:pt x="154" y="198"/>
                    <a:pt x="292" y="198"/>
                    <a:pt x="434" y="198"/>
                  </a:cubicBezTo>
                  <a:cubicBezTo>
                    <a:pt x="431" y="163"/>
                    <a:pt x="432" y="129"/>
                    <a:pt x="424"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1" name="Freeform 35"/>
            <p:cNvSpPr>
              <a:spLocks/>
            </p:cNvSpPr>
            <p:nvPr/>
          </p:nvSpPr>
          <p:spPr bwMode="auto">
            <a:xfrm>
              <a:off x="-1263650" y="6926263"/>
              <a:ext cx="520700" cy="650875"/>
            </a:xfrm>
            <a:custGeom>
              <a:avLst/>
              <a:gdLst>
                <a:gd name="T0" fmla="*/ 11 w 182"/>
                <a:gd name="T1" fmla="*/ 149 h 228"/>
                <a:gd name="T2" fmla="*/ 14 w 182"/>
                <a:gd name="T3" fmla="*/ 148 h 228"/>
                <a:gd name="T4" fmla="*/ 17 w 182"/>
                <a:gd name="T5" fmla="*/ 162 h 228"/>
                <a:gd name="T6" fmla="*/ 91 w 182"/>
                <a:gd name="T7" fmla="*/ 228 h 228"/>
                <a:gd name="T8" fmla="*/ 163 w 182"/>
                <a:gd name="T9" fmla="*/ 164 h 228"/>
                <a:gd name="T10" fmla="*/ 167 w 182"/>
                <a:gd name="T11" fmla="*/ 148 h 228"/>
                <a:gd name="T12" fmla="*/ 168 w 182"/>
                <a:gd name="T13" fmla="*/ 149 h 228"/>
                <a:gd name="T14" fmla="*/ 181 w 182"/>
                <a:gd name="T15" fmla="*/ 120 h 228"/>
                <a:gd name="T16" fmla="*/ 178 w 182"/>
                <a:gd name="T17" fmla="*/ 90 h 228"/>
                <a:gd name="T18" fmla="*/ 174 w 182"/>
                <a:gd name="T19" fmla="*/ 87 h 228"/>
                <a:gd name="T20" fmla="*/ 91 w 182"/>
                <a:gd name="T21" fmla="*/ 0 h 228"/>
                <a:gd name="T22" fmla="*/ 7 w 182"/>
                <a:gd name="T23" fmla="*/ 87 h 228"/>
                <a:gd name="T24" fmla="*/ 4 w 182"/>
                <a:gd name="T25" fmla="*/ 90 h 228"/>
                <a:gd name="T26" fmla="*/ 0 w 182"/>
                <a:gd name="T27" fmla="*/ 120 h 228"/>
                <a:gd name="T28" fmla="*/ 11 w 182"/>
                <a:gd name="T29"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2" h="228">
                  <a:moveTo>
                    <a:pt x="11" y="149"/>
                  </a:moveTo>
                  <a:cubicBezTo>
                    <a:pt x="12" y="149"/>
                    <a:pt x="13" y="148"/>
                    <a:pt x="14" y="148"/>
                  </a:cubicBezTo>
                  <a:cubicBezTo>
                    <a:pt x="15" y="154"/>
                    <a:pt x="15" y="159"/>
                    <a:pt x="17" y="162"/>
                  </a:cubicBezTo>
                  <a:cubicBezTo>
                    <a:pt x="42" y="216"/>
                    <a:pt x="52" y="228"/>
                    <a:pt x="91" y="228"/>
                  </a:cubicBezTo>
                  <a:cubicBezTo>
                    <a:pt x="128" y="228"/>
                    <a:pt x="138" y="209"/>
                    <a:pt x="163" y="164"/>
                  </a:cubicBezTo>
                  <a:cubicBezTo>
                    <a:pt x="165" y="161"/>
                    <a:pt x="166" y="155"/>
                    <a:pt x="167" y="148"/>
                  </a:cubicBezTo>
                  <a:cubicBezTo>
                    <a:pt x="167" y="148"/>
                    <a:pt x="168" y="149"/>
                    <a:pt x="168" y="149"/>
                  </a:cubicBezTo>
                  <a:cubicBezTo>
                    <a:pt x="173" y="149"/>
                    <a:pt x="179" y="136"/>
                    <a:pt x="181" y="120"/>
                  </a:cubicBezTo>
                  <a:cubicBezTo>
                    <a:pt x="182" y="112"/>
                    <a:pt x="181" y="95"/>
                    <a:pt x="178" y="90"/>
                  </a:cubicBezTo>
                  <a:cubicBezTo>
                    <a:pt x="177" y="88"/>
                    <a:pt x="176" y="87"/>
                    <a:pt x="174" y="87"/>
                  </a:cubicBezTo>
                  <a:cubicBezTo>
                    <a:pt x="167" y="23"/>
                    <a:pt x="132" y="0"/>
                    <a:pt x="91" y="0"/>
                  </a:cubicBezTo>
                  <a:cubicBezTo>
                    <a:pt x="49" y="0"/>
                    <a:pt x="14" y="23"/>
                    <a:pt x="7" y="87"/>
                  </a:cubicBezTo>
                  <a:cubicBezTo>
                    <a:pt x="6" y="87"/>
                    <a:pt x="5" y="88"/>
                    <a:pt x="4" y="90"/>
                  </a:cubicBezTo>
                  <a:cubicBezTo>
                    <a:pt x="1" y="95"/>
                    <a:pt x="0" y="111"/>
                    <a:pt x="0" y="120"/>
                  </a:cubicBezTo>
                  <a:cubicBezTo>
                    <a:pt x="1" y="136"/>
                    <a:pt x="6" y="149"/>
                    <a:pt x="11"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0" name="Freeform 31"/>
          <p:cNvSpPr>
            <a:spLocks noEditPoints="1"/>
          </p:cNvSpPr>
          <p:nvPr userDrawn="1"/>
        </p:nvSpPr>
        <p:spPr bwMode="auto">
          <a:xfrm>
            <a:off x="6939209" y="2639217"/>
            <a:ext cx="236815" cy="270518"/>
          </a:xfrm>
          <a:custGeom>
            <a:avLst/>
            <a:gdLst>
              <a:gd name="T0" fmla="*/ 6 w 365"/>
              <a:gd name="T1" fmla="*/ 41 h 417"/>
              <a:gd name="T2" fmla="*/ 183 w 365"/>
              <a:gd name="T3" fmla="*/ 0 h 417"/>
              <a:gd name="T4" fmla="*/ 283 w 365"/>
              <a:gd name="T5" fmla="*/ 11 h 417"/>
              <a:gd name="T6" fmla="*/ 359 w 365"/>
              <a:gd name="T7" fmla="*/ 41 h 417"/>
              <a:gd name="T8" fmla="*/ 365 w 365"/>
              <a:gd name="T9" fmla="*/ 52 h 417"/>
              <a:gd name="T10" fmla="*/ 365 w 365"/>
              <a:gd name="T11" fmla="*/ 208 h 417"/>
              <a:gd name="T12" fmla="*/ 314 w 365"/>
              <a:gd name="T13" fmla="*/ 329 h 417"/>
              <a:gd name="T14" fmla="*/ 187 w 365"/>
              <a:gd name="T15" fmla="*/ 416 h 417"/>
              <a:gd name="T16" fmla="*/ 183 w 365"/>
              <a:gd name="T17" fmla="*/ 417 h 417"/>
              <a:gd name="T18" fmla="*/ 178 w 365"/>
              <a:gd name="T19" fmla="*/ 416 h 417"/>
              <a:gd name="T20" fmla="*/ 52 w 365"/>
              <a:gd name="T21" fmla="*/ 329 h 417"/>
              <a:gd name="T22" fmla="*/ 0 w 365"/>
              <a:gd name="T23" fmla="*/ 208 h 417"/>
              <a:gd name="T24" fmla="*/ 0 w 365"/>
              <a:gd name="T25" fmla="*/ 52 h 417"/>
              <a:gd name="T26" fmla="*/ 6 w 365"/>
              <a:gd name="T27" fmla="*/ 41 h 417"/>
              <a:gd name="T28" fmla="*/ 66 w 365"/>
              <a:gd name="T29" fmla="*/ 84 h 417"/>
              <a:gd name="T30" fmla="*/ 66 w 365"/>
              <a:gd name="T31" fmla="*/ 208 h 417"/>
              <a:gd name="T32" fmla="*/ 102 w 365"/>
              <a:gd name="T33" fmla="*/ 286 h 417"/>
              <a:gd name="T34" fmla="*/ 183 w 365"/>
              <a:gd name="T35" fmla="*/ 348 h 417"/>
              <a:gd name="T36" fmla="*/ 264 w 365"/>
              <a:gd name="T37" fmla="*/ 286 h 417"/>
              <a:gd name="T38" fmla="*/ 300 w 365"/>
              <a:gd name="T39" fmla="*/ 208 h 417"/>
              <a:gd name="T40" fmla="*/ 300 w 365"/>
              <a:gd name="T41" fmla="*/ 84 h 417"/>
              <a:gd name="T42" fmla="*/ 268 w 365"/>
              <a:gd name="T43" fmla="*/ 74 h 417"/>
              <a:gd name="T44" fmla="*/ 183 w 365"/>
              <a:gd name="T45" fmla="*/ 65 h 417"/>
              <a:gd name="T46" fmla="*/ 66 w 365"/>
              <a:gd name="T47" fmla="*/ 84 h 417"/>
              <a:gd name="T48" fmla="*/ 39 w 365"/>
              <a:gd name="T49" fmla="*/ 67 h 417"/>
              <a:gd name="T50" fmla="*/ 39 w 365"/>
              <a:gd name="T51" fmla="*/ 208 h 417"/>
              <a:gd name="T52" fmla="*/ 82 w 365"/>
              <a:gd name="T53" fmla="*/ 303 h 417"/>
              <a:gd name="T54" fmla="*/ 183 w 365"/>
              <a:gd name="T55" fmla="*/ 376 h 417"/>
              <a:gd name="T56" fmla="*/ 284 w 365"/>
              <a:gd name="T57" fmla="*/ 303 h 417"/>
              <a:gd name="T58" fmla="*/ 326 w 365"/>
              <a:gd name="T59" fmla="*/ 208 h 417"/>
              <a:gd name="T60" fmla="*/ 326 w 365"/>
              <a:gd name="T61" fmla="*/ 67 h 417"/>
              <a:gd name="T62" fmla="*/ 274 w 365"/>
              <a:gd name="T63" fmla="*/ 49 h 417"/>
              <a:gd name="T64" fmla="*/ 183 w 365"/>
              <a:gd name="T65" fmla="*/ 39 h 417"/>
              <a:gd name="T66" fmla="*/ 39 w 365"/>
              <a:gd name="T67" fmla="*/ 6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5" h="417">
                <a:moveTo>
                  <a:pt x="6" y="41"/>
                </a:moveTo>
                <a:cubicBezTo>
                  <a:pt x="48" y="13"/>
                  <a:pt x="122" y="0"/>
                  <a:pt x="183" y="0"/>
                </a:cubicBezTo>
                <a:cubicBezTo>
                  <a:pt x="215" y="0"/>
                  <a:pt x="250" y="3"/>
                  <a:pt x="283" y="11"/>
                </a:cubicBezTo>
                <a:cubicBezTo>
                  <a:pt x="313" y="18"/>
                  <a:pt x="340" y="28"/>
                  <a:pt x="359" y="41"/>
                </a:cubicBezTo>
                <a:cubicBezTo>
                  <a:pt x="363" y="43"/>
                  <a:pt x="365" y="47"/>
                  <a:pt x="365" y="52"/>
                </a:cubicBezTo>
                <a:cubicBezTo>
                  <a:pt x="365" y="208"/>
                  <a:pt x="365" y="208"/>
                  <a:pt x="365" y="208"/>
                </a:cubicBezTo>
                <a:cubicBezTo>
                  <a:pt x="365" y="252"/>
                  <a:pt x="344" y="294"/>
                  <a:pt x="314" y="329"/>
                </a:cubicBezTo>
                <a:cubicBezTo>
                  <a:pt x="276" y="372"/>
                  <a:pt x="226" y="404"/>
                  <a:pt x="187" y="416"/>
                </a:cubicBezTo>
                <a:cubicBezTo>
                  <a:pt x="186" y="417"/>
                  <a:pt x="184" y="417"/>
                  <a:pt x="183" y="417"/>
                </a:cubicBezTo>
                <a:cubicBezTo>
                  <a:pt x="181" y="417"/>
                  <a:pt x="180" y="417"/>
                  <a:pt x="178" y="416"/>
                </a:cubicBezTo>
                <a:cubicBezTo>
                  <a:pt x="140" y="404"/>
                  <a:pt x="89" y="372"/>
                  <a:pt x="52" y="329"/>
                </a:cubicBezTo>
                <a:cubicBezTo>
                  <a:pt x="22" y="294"/>
                  <a:pt x="0" y="252"/>
                  <a:pt x="0" y="208"/>
                </a:cubicBezTo>
                <a:cubicBezTo>
                  <a:pt x="0" y="52"/>
                  <a:pt x="0" y="52"/>
                  <a:pt x="0" y="52"/>
                </a:cubicBezTo>
                <a:cubicBezTo>
                  <a:pt x="0" y="47"/>
                  <a:pt x="3" y="43"/>
                  <a:pt x="6" y="41"/>
                </a:cubicBezTo>
                <a:close/>
                <a:moveTo>
                  <a:pt x="66" y="84"/>
                </a:moveTo>
                <a:cubicBezTo>
                  <a:pt x="66" y="208"/>
                  <a:pt x="66" y="208"/>
                  <a:pt x="66" y="208"/>
                </a:cubicBezTo>
                <a:cubicBezTo>
                  <a:pt x="66" y="237"/>
                  <a:pt x="84" y="265"/>
                  <a:pt x="102" y="286"/>
                </a:cubicBezTo>
                <a:cubicBezTo>
                  <a:pt x="122" y="310"/>
                  <a:pt x="153" y="335"/>
                  <a:pt x="183" y="348"/>
                </a:cubicBezTo>
                <a:cubicBezTo>
                  <a:pt x="213" y="335"/>
                  <a:pt x="244" y="310"/>
                  <a:pt x="264" y="286"/>
                </a:cubicBezTo>
                <a:cubicBezTo>
                  <a:pt x="282" y="265"/>
                  <a:pt x="300" y="237"/>
                  <a:pt x="300" y="208"/>
                </a:cubicBezTo>
                <a:cubicBezTo>
                  <a:pt x="300" y="84"/>
                  <a:pt x="300" y="84"/>
                  <a:pt x="300" y="84"/>
                </a:cubicBezTo>
                <a:cubicBezTo>
                  <a:pt x="290" y="80"/>
                  <a:pt x="279" y="77"/>
                  <a:pt x="268" y="74"/>
                </a:cubicBezTo>
                <a:cubicBezTo>
                  <a:pt x="241" y="68"/>
                  <a:pt x="211" y="65"/>
                  <a:pt x="183" y="65"/>
                </a:cubicBezTo>
                <a:cubicBezTo>
                  <a:pt x="149" y="65"/>
                  <a:pt x="100" y="71"/>
                  <a:pt x="66" y="84"/>
                </a:cubicBezTo>
                <a:close/>
                <a:moveTo>
                  <a:pt x="39" y="67"/>
                </a:moveTo>
                <a:cubicBezTo>
                  <a:pt x="39" y="208"/>
                  <a:pt x="39" y="208"/>
                  <a:pt x="39" y="208"/>
                </a:cubicBezTo>
                <a:cubicBezTo>
                  <a:pt x="39" y="244"/>
                  <a:pt x="59" y="277"/>
                  <a:pt x="82" y="303"/>
                </a:cubicBezTo>
                <a:cubicBezTo>
                  <a:pt x="106" y="332"/>
                  <a:pt x="146" y="363"/>
                  <a:pt x="183" y="376"/>
                </a:cubicBezTo>
                <a:cubicBezTo>
                  <a:pt x="220" y="363"/>
                  <a:pt x="259" y="332"/>
                  <a:pt x="284" y="303"/>
                </a:cubicBezTo>
                <a:cubicBezTo>
                  <a:pt x="306" y="277"/>
                  <a:pt x="326" y="244"/>
                  <a:pt x="326" y="208"/>
                </a:cubicBezTo>
                <a:cubicBezTo>
                  <a:pt x="326" y="67"/>
                  <a:pt x="326" y="67"/>
                  <a:pt x="326" y="67"/>
                </a:cubicBezTo>
                <a:cubicBezTo>
                  <a:pt x="310" y="59"/>
                  <a:pt x="291" y="53"/>
                  <a:pt x="274" y="49"/>
                </a:cubicBezTo>
                <a:cubicBezTo>
                  <a:pt x="245" y="42"/>
                  <a:pt x="213" y="39"/>
                  <a:pt x="183" y="39"/>
                </a:cubicBezTo>
                <a:cubicBezTo>
                  <a:pt x="142" y="39"/>
                  <a:pt x="79" y="47"/>
                  <a:pt x="39" y="6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39"/>
          <p:cNvSpPr>
            <a:spLocks noEditPoints="1"/>
          </p:cNvSpPr>
          <p:nvPr userDrawn="1"/>
        </p:nvSpPr>
        <p:spPr bwMode="auto">
          <a:xfrm>
            <a:off x="6921811" y="2161329"/>
            <a:ext cx="257706" cy="257706"/>
          </a:xfrm>
          <a:custGeom>
            <a:avLst/>
            <a:gdLst>
              <a:gd name="T0" fmla="*/ 221 w 441"/>
              <a:gd name="T1" fmla="*/ 0 h 441"/>
              <a:gd name="T2" fmla="*/ 0 w 441"/>
              <a:gd name="T3" fmla="*/ 221 h 441"/>
              <a:gd name="T4" fmla="*/ 221 w 441"/>
              <a:gd name="T5" fmla="*/ 441 h 441"/>
              <a:gd name="T6" fmla="*/ 441 w 441"/>
              <a:gd name="T7" fmla="*/ 221 h 441"/>
              <a:gd name="T8" fmla="*/ 221 w 441"/>
              <a:gd name="T9" fmla="*/ 0 h 441"/>
              <a:gd name="T10" fmla="*/ 356 w 441"/>
              <a:gd name="T11" fmla="*/ 125 h 441"/>
              <a:gd name="T12" fmla="*/ 386 w 441"/>
              <a:gd name="T13" fmla="*/ 221 h 441"/>
              <a:gd name="T14" fmla="*/ 221 w 441"/>
              <a:gd name="T15" fmla="*/ 386 h 441"/>
              <a:gd name="T16" fmla="*/ 125 w 441"/>
              <a:gd name="T17" fmla="*/ 355 h 441"/>
              <a:gd name="T18" fmla="*/ 356 w 441"/>
              <a:gd name="T19" fmla="*/ 125 h 441"/>
              <a:gd name="T20" fmla="*/ 86 w 441"/>
              <a:gd name="T21" fmla="*/ 316 h 441"/>
              <a:gd name="T22" fmla="*/ 56 w 441"/>
              <a:gd name="T23" fmla="*/ 221 h 441"/>
              <a:gd name="T24" fmla="*/ 221 w 441"/>
              <a:gd name="T25" fmla="*/ 55 h 441"/>
              <a:gd name="T26" fmla="*/ 317 w 441"/>
              <a:gd name="T27" fmla="*/ 86 h 441"/>
              <a:gd name="T28" fmla="*/ 86 w 441"/>
              <a:gd name="T29" fmla="*/ 316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1" h="441">
                <a:moveTo>
                  <a:pt x="221" y="0"/>
                </a:moveTo>
                <a:cubicBezTo>
                  <a:pt x="99" y="0"/>
                  <a:pt x="0" y="99"/>
                  <a:pt x="0" y="221"/>
                </a:cubicBezTo>
                <a:cubicBezTo>
                  <a:pt x="0" y="342"/>
                  <a:pt x="99" y="441"/>
                  <a:pt x="221" y="441"/>
                </a:cubicBezTo>
                <a:cubicBezTo>
                  <a:pt x="343" y="441"/>
                  <a:pt x="441" y="342"/>
                  <a:pt x="441" y="221"/>
                </a:cubicBezTo>
                <a:cubicBezTo>
                  <a:pt x="441" y="99"/>
                  <a:pt x="343" y="0"/>
                  <a:pt x="221" y="0"/>
                </a:cubicBezTo>
                <a:close/>
                <a:moveTo>
                  <a:pt x="356" y="125"/>
                </a:moveTo>
                <a:cubicBezTo>
                  <a:pt x="375" y="152"/>
                  <a:pt x="386" y="185"/>
                  <a:pt x="386" y="221"/>
                </a:cubicBezTo>
                <a:cubicBezTo>
                  <a:pt x="386" y="312"/>
                  <a:pt x="312" y="386"/>
                  <a:pt x="221" y="386"/>
                </a:cubicBezTo>
                <a:cubicBezTo>
                  <a:pt x="185" y="386"/>
                  <a:pt x="152" y="375"/>
                  <a:pt x="125" y="355"/>
                </a:cubicBezTo>
                <a:cubicBezTo>
                  <a:pt x="356" y="125"/>
                  <a:pt x="356" y="125"/>
                  <a:pt x="356" y="125"/>
                </a:cubicBezTo>
                <a:close/>
                <a:moveTo>
                  <a:pt x="86" y="316"/>
                </a:moveTo>
                <a:cubicBezTo>
                  <a:pt x="67" y="289"/>
                  <a:pt x="56" y="256"/>
                  <a:pt x="56" y="221"/>
                </a:cubicBezTo>
                <a:cubicBezTo>
                  <a:pt x="56" y="129"/>
                  <a:pt x="130" y="55"/>
                  <a:pt x="221" y="55"/>
                </a:cubicBezTo>
                <a:cubicBezTo>
                  <a:pt x="257" y="55"/>
                  <a:pt x="290" y="67"/>
                  <a:pt x="317" y="86"/>
                </a:cubicBezTo>
                <a:lnTo>
                  <a:pt x="86" y="31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9" name="Freeform 6"/>
          <p:cNvSpPr>
            <a:spLocks noEditPoints="1"/>
          </p:cNvSpPr>
          <p:nvPr userDrawn="1"/>
        </p:nvSpPr>
        <p:spPr bwMode="auto">
          <a:xfrm>
            <a:off x="6900189" y="3232087"/>
            <a:ext cx="283666" cy="271906"/>
          </a:xfrm>
          <a:custGeom>
            <a:avLst/>
            <a:gdLst>
              <a:gd name="T0" fmla="*/ 232 w 238"/>
              <a:gd name="T1" fmla="*/ 87 h 228"/>
              <a:gd name="T2" fmla="*/ 194 w 238"/>
              <a:gd name="T3" fmla="*/ 98 h 228"/>
              <a:gd name="T4" fmla="*/ 166 w 238"/>
              <a:gd name="T5" fmla="*/ 90 h 228"/>
              <a:gd name="T6" fmla="*/ 150 w 238"/>
              <a:gd name="T7" fmla="*/ 111 h 228"/>
              <a:gd name="T8" fmla="*/ 204 w 238"/>
              <a:gd name="T9" fmla="*/ 18 h 228"/>
              <a:gd name="T10" fmla="*/ 204 w 238"/>
              <a:gd name="T11" fmla="*/ 13 h 228"/>
              <a:gd name="T12" fmla="*/ 198 w 238"/>
              <a:gd name="T13" fmla="*/ 12 h 228"/>
              <a:gd name="T14" fmla="*/ 197 w 238"/>
              <a:gd name="T15" fmla="*/ 13 h 228"/>
              <a:gd name="T16" fmla="*/ 125 w 238"/>
              <a:gd name="T17" fmla="*/ 86 h 228"/>
              <a:gd name="T18" fmla="*/ 152 w 238"/>
              <a:gd name="T19" fmla="*/ 8 h 228"/>
              <a:gd name="T20" fmla="*/ 145 w 238"/>
              <a:gd name="T21" fmla="*/ 2 h 228"/>
              <a:gd name="T22" fmla="*/ 144 w 238"/>
              <a:gd name="T23" fmla="*/ 4 h 228"/>
              <a:gd name="T24" fmla="*/ 113 w 238"/>
              <a:gd name="T25" fmla="*/ 66 h 228"/>
              <a:gd name="T26" fmla="*/ 40 w 238"/>
              <a:gd name="T27" fmla="*/ 9 h 228"/>
              <a:gd name="T28" fmla="*/ 32 w 238"/>
              <a:gd name="T29" fmla="*/ 13 h 228"/>
              <a:gd name="T30" fmla="*/ 33 w 238"/>
              <a:gd name="T31" fmla="*/ 15 h 228"/>
              <a:gd name="T32" fmla="*/ 81 w 238"/>
              <a:gd name="T33" fmla="*/ 82 h 228"/>
              <a:gd name="T34" fmla="*/ 19 w 238"/>
              <a:gd name="T35" fmla="*/ 40 h 228"/>
              <a:gd name="T36" fmla="*/ 19 w 238"/>
              <a:gd name="T37" fmla="*/ 40 h 228"/>
              <a:gd name="T38" fmla="*/ 12 w 238"/>
              <a:gd name="T39" fmla="*/ 39 h 228"/>
              <a:gd name="T40" fmla="*/ 11 w 238"/>
              <a:gd name="T41" fmla="*/ 45 h 228"/>
              <a:gd name="T42" fmla="*/ 45 w 238"/>
              <a:gd name="T43" fmla="*/ 82 h 228"/>
              <a:gd name="T44" fmla="*/ 6 w 238"/>
              <a:gd name="T45" fmla="*/ 104 h 228"/>
              <a:gd name="T46" fmla="*/ 6 w 238"/>
              <a:gd name="T47" fmla="*/ 104 h 228"/>
              <a:gd name="T48" fmla="*/ 0 w 238"/>
              <a:gd name="T49" fmla="*/ 107 h 228"/>
              <a:gd name="T50" fmla="*/ 4 w 238"/>
              <a:gd name="T51" fmla="*/ 113 h 228"/>
              <a:gd name="T52" fmla="*/ 35 w 238"/>
              <a:gd name="T53" fmla="*/ 187 h 228"/>
              <a:gd name="T54" fmla="*/ 38 w 238"/>
              <a:gd name="T55" fmla="*/ 193 h 228"/>
              <a:gd name="T56" fmla="*/ 65 w 238"/>
              <a:gd name="T57" fmla="*/ 155 h 228"/>
              <a:gd name="T58" fmla="*/ 81 w 238"/>
              <a:gd name="T59" fmla="*/ 167 h 228"/>
              <a:gd name="T60" fmla="*/ 61 w 238"/>
              <a:gd name="T61" fmla="*/ 226 h 228"/>
              <a:gd name="T62" fmla="*/ 67 w 238"/>
              <a:gd name="T63" fmla="*/ 224 h 228"/>
              <a:gd name="T64" fmla="*/ 67 w 238"/>
              <a:gd name="T65" fmla="*/ 223 h 228"/>
              <a:gd name="T66" fmla="*/ 133 w 238"/>
              <a:gd name="T67" fmla="*/ 179 h 228"/>
              <a:gd name="T68" fmla="*/ 157 w 238"/>
              <a:gd name="T69" fmla="*/ 228 h 228"/>
              <a:gd name="T70" fmla="*/ 160 w 238"/>
              <a:gd name="T71" fmla="*/ 220 h 228"/>
              <a:gd name="T72" fmla="*/ 142 w 238"/>
              <a:gd name="T73" fmla="*/ 171 h 228"/>
              <a:gd name="T74" fmla="*/ 146 w 238"/>
              <a:gd name="T75" fmla="*/ 155 h 228"/>
              <a:gd name="T76" fmla="*/ 211 w 238"/>
              <a:gd name="T77" fmla="*/ 216 h 228"/>
              <a:gd name="T78" fmla="*/ 217 w 238"/>
              <a:gd name="T79" fmla="*/ 216 h 228"/>
              <a:gd name="T80" fmla="*/ 174 w 238"/>
              <a:gd name="T81" fmla="*/ 163 h 228"/>
              <a:gd name="T82" fmla="*/ 198 w 238"/>
              <a:gd name="T83" fmla="*/ 159 h 228"/>
              <a:gd name="T84" fmla="*/ 142 w 238"/>
              <a:gd name="T85" fmla="*/ 131 h 228"/>
              <a:gd name="T86" fmla="*/ 235 w 238"/>
              <a:gd name="T87" fmla="*/ 96 h 228"/>
              <a:gd name="T88" fmla="*/ 234 w 238"/>
              <a:gd name="T89" fmla="*/ 87 h 228"/>
              <a:gd name="T90" fmla="*/ 109 w 238"/>
              <a:gd name="T91" fmla="*/ 90 h 228"/>
              <a:gd name="T92" fmla="*/ 93 w 238"/>
              <a:gd name="T93" fmla="*/ 74 h 228"/>
              <a:gd name="T94" fmla="*/ 45 w 238"/>
              <a:gd name="T95" fmla="*/ 115 h 228"/>
              <a:gd name="T96" fmla="*/ 69 w 238"/>
              <a:gd name="T97" fmla="*/ 115 h 228"/>
              <a:gd name="T98" fmla="*/ 85 w 238"/>
              <a:gd name="T99" fmla="*/ 187 h 228"/>
              <a:gd name="T100" fmla="*/ 113 w 238"/>
              <a:gd name="T101" fmla="*/ 151 h 228"/>
              <a:gd name="T102" fmla="*/ 85 w 238"/>
              <a:gd name="T103" fmla="*/ 187 h 228"/>
              <a:gd name="T104" fmla="*/ 142 w 238"/>
              <a:gd name="T105" fmla="*/ 147 h 228"/>
              <a:gd name="T106" fmla="*/ 101 w 238"/>
              <a:gd name="T107" fmla="*/ 147 h 228"/>
              <a:gd name="T108" fmla="*/ 85 w 238"/>
              <a:gd name="T109" fmla="*/ 143 h 228"/>
              <a:gd name="T110" fmla="*/ 81 w 238"/>
              <a:gd name="T111" fmla="*/ 127 h 228"/>
              <a:gd name="T112" fmla="*/ 77 w 238"/>
              <a:gd name="T113" fmla="*/ 107 h 228"/>
              <a:gd name="T114" fmla="*/ 105 w 238"/>
              <a:gd name="T115" fmla="*/ 107 h 228"/>
              <a:gd name="T116" fmla="*/ 129 w 238"/>
              <a:gd name="T117" fmla="*/ 111 h 228"/>
              <a:gd name="T118" fmla="*/ 146 w 238"/>
              <a:gd name="T119" fmla="*/ 123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8" h="228">
                <a:moveTo>
                  <a:pt x="234" y="87"/>
                </a:moveTo>
                <a:cubicBezTo>
                  <a:pt x="233" y="87"/>
                  <a:pt x="233" y="87"/>
                  <a:pt x="232" y="87"/>
                </a:cubicBezTo>
                <a:cubicBezTo>
                  <a:pt x="232" y="87"/>
                  <a:pt x="232" y="87"/>
                  <a:pt x="232" y="87"/>
                </a:cubicBezTo>
                <a:cubicBezTo>
                  <a:pt x="194" y="98"/>
                  <a:pt x="194" y="98"/>
                  <a:pt x="194" y="98"/>
                </a:cubicBezTo>
                <a:cubicBezTo>
                  <a:pt x="166" y="86"/>
                  <a:pt x="166" y="86"/>
                  <a:pt x="166" y="86"/>
                </a:cubicBezTo>
                <a:cubicBezTo>
                  <a:pt x="166" y="90"/>
                  <a:pt x="166" y="90"/>
                  <a:pt x="166" y="90"/>
                </a:cubicBezTo>
                <a:cubicBezTo>
                  <a:pt x="182" y="103"/>
                  <a:pt x="182" y="103"/>
                  <a:pt x="182" y="103"/>
                </a:cubicBezTo>
                <a:cubicBezTo>
                  <a:pt x="150" y="111"/>
                  <a:pt x="150" y="111"/>
                  <a:pt x="150" y="111"/>
                </a:cubicBezTo>
                <a:cubicBezTo>
                  <a:pt x="150" y="111"/>
                  <a:pt x="146" y="104"/>
                  <a:pt x="146" y="103"/>
                </a:cubicBezTo>
                <a:cubicBezTo>
                  <a:pt x="204" y="18"/>
                  <a:pt x="204" y="18"/>
                  <a:pt x="204" y="18"/>
                </a:cubicBezTo>
                <a:cubicBezTo>
                  <a:pt x="206" y="17"/>
                  <a:pt x="206" y="14"/>
                  <a:pt x="205" y="13"/>
                </a:cubicBezTo>
                <a:cubicBezTo>
                  <a:pt x="205" y="13"/>
                  <a:pt x="204" y="13"/>
                  <a:pt x="204" y="13"/>
                </a:cubicBezTo>
                <a:cubicBezTo>
                  <a:pt x="204" y="13"/>
                  <a:pt x="204" y="12"/>
                  <a:pt x="204" y="12"/>
                </a:cubicBezTo>
                <a:cubicBezTo>
                  <a:pt x="203" y="11"/>
                  <a:pt x="200" y="10"/>
                  <a:pt x="198" y="12"/>
                </a:cubicBezTo>
                <a:cubicBezTo>
                  <a:pt x="198" y="12"/>
                  <a:pt x="198" y="12"/>
                  <a:pt x="198" y="12"/>
                </a:cubicBezTo>
                <a:cubicBezTo>
                  <a:pt x="197" y="12"/>
                  <a:pt x="197" y="12"/>
                  <a:pt x="197" y="13"/>
                </a:cubicBezTo>
                <a:cubicBezTo>
                  <a:pt x="137" y="86"/>
                  <a:pt x="137" y="86"/>
                  <a:pt x="137" y="86"/>
                </a:cubicBezTo>
                <a:cubicBezTo>
                  <a:pt x="125" y="86"/>
                  <a:pt x="125" y="86"/>
                  <a:pt x="125" y="86"/>
                </a:cubicBezTo>
                <a:cubicBezTo>
                  <a:pt x="125" y="74"/>
                  <a:pt x="125" y="74"/>
                  <a:pt x="125" y="74"/>
                </a:cubicBezTo>
                <a:cubicBezTo>
                  <a:pt x="152" y="8"/>
                  <a:pt x="152" y="8"/>
                  <a:pt x="152" y="8"/>
                </a:cubicBezTo>
                <a:cubicBezTo>
                  <a:pt x="153" y="6"/>
                  <a:pt x="152" y="4"/>
                  <a:pt x="151" y="3"/>
                </a:cubicBezTo>
                <a:cubicBezTo>
                  <a:pt x="150" y="1"/>
                  <a:pt x="147" y="0"/>
                  <a:pt x="145" y="2"/>
                </a:cubicBezTo>
                <a:cubicBezTo>
                  <a:pt x="144" y="2"/>
                  <a:pt x="144" y="3"/>
                  <a:pt x="144" y="4"/>
                </a:cubicBezTo>
                <a:cubicBezTo>
                  <a:pt x="144" y="4"/>
                  <a:pt x="144" y="4"/>
                  <a:pt x="144" y="4"/>
                </a:cubicBezTo>
                <a:cubicBezTo>
                  <a:pt x="144" y="4"/>
                  <a:pt x="144" y="4"/>
                  <a:pt x="144" y="4"/>
                </a:cubicBezTo>
                <a:cubicBezTo>
                  <a:pt x="113" y="66"/>
                  <a:pt x="113" y="66"/>
                  <a:pt x="113" y="66"/>
                </a:cubicBezTo>
                <a:cubicBezTo>
                  <a:pt x="85" y="62"/>
                  <a:pt x="85" y="62"/>
                  <a:pt x="85" y="62"/>
                </a:cubicBezTo>
                <a:cubicBezTo>
                  <a:pt x="40" y="9"/>
                  <a:pt x="40" y="9"/>
                  <a:pt x="40" y="9"/>
                </a:cubicBezTo>
                <a:cubicBezTo>
                  <a:pt x="39" y="8"/>
                  <a:pt x="37" y="7"/>
                  <a:pt x="35" y="8"/>
                </a:cubicBezTo>
                <a:cubicBezTo>
                  <a:pt x="33" y="8"/>
                  <a:pt x="31" y="11"/>
                  <a:pt x="32" y="13"/>
                </a:cubicBezTo>
                <a:cubicBezTo>
                  <a:pt x="32" y="14"/>
                  <a:pt x="33" y="14"/>
                  <a:pt x="33" y="15"/>
                </a:cubicBezTo>
                <a:cubicBezTo>
                  <a:pt x="33" y="15"/>
                  <a:pt x="33" y="15"/>
                  <a:pt x="33" y="15"/>
                </a:cubicBezTo>
                <a:cubicBezTo>
                  <a:pt x="33" y="15"/>
                  <a:pt x="33" y="15"/>
                  <a:pt x="33" y="15"/>
                </a:cubicBezTo>
                <a:cubicBezTo>
                  <a:pt x="81" y="82"/>
                  <a:pt x="81" y="82"/>
                  <a:pt x="81" y="82"/>
                </a:cubicBezTo>
                <a:cubicBezTo>
                  <a:pt x="73" y="94"/>
                  <a:pt x="73" y="94"/>
                  <a:pt x="73" y="94"/>
                </a:cubicBezTo>
                <a:cubicBezTo>
                  <a:pt x="19" y="40"/>
                  <a:pt x="19" y="40"/>
                  <a:pt x="19" y="40"/>
                </a:cubicBezTo>
                <a:cubicBezTo>
                  <a:pt x="19" y="40"/>
                  <a:pt x="19" y="40"/>
                  <a:pt x="19" y="40"/>
                </a:cubicBezTo>
                <a:cubicBezTo>
                  <a:pt x="19" y="40"/>
                  <a:pt x="19" y="40"/>
                  <a:pt x="19" y="40"/>
                </a:cubicBezTo>
                <a:cubicBezTo>
                  <a:pt x="17" y="38"/>
                  <a:pt x="15" y="38"/>
                  <a:pt x="13" y="39"/>
                </a:cubicBezTo>
                <a:cubicBezTo>
                  <a:pt x="13" y="39"/>
                  <a:pt x="12" y="39"/>
                  <a:pt x="12" y="39"/>
                </a:cubicBezTo>
                <a:cubicBezTo>
                  <a:pt x="12" y="39"/>
                  <a:pt x="12" y="39"/>
                  <a:pt x="12" y="39"/>
                </a:cubicBezTo>
                <a:cubicBezTo>
                  <a:pt x="10" y="41"/>
                  <a:pt x="10" y="43"/>
                  <a:pt x="11" y="45"/>
                </a:cubicBezTo>
                <a:cubicBezTo>
                  <a:pt x="11" y="46"/>
                  <a:pt x="12" y="46"/>
                  <a:pt x="12" y="46"/>
                </a:cubicBezTo>
                <a:cubicBezTo>
                  <a:pt x="45" y="82"/>
                  <a:pt x="45" y="82"/>
                  <a:pt x="45" y="82"/>
                </a:cubicBezTo>
                <a:cubicBezTo>
                  <a:pt x="37" y="111"/>
                  <a:pt x="37" y="111"/>
                  <a:pt x="37" y="111"/>
                </a:cubicBezTo>
                <a:cubicBezTo>
                  <a:pt x="6" y="104"/>
                  <a:pt x="6" y="104"/>
                  <a:pt x="6" y="104"/>
                </a:cubicBezTo>
                <a:cubicBezTo>
                  <a:pt x="6" y="104"/>
                  <a:pt x="6" y="104"/>
                  <a:pt x="6" y="104"/>
                </a:cubicBezTo>
                <a:cubicBezTo>
                  <a:pt x="6" y="104"/>
                  <a:pt x="6" y="104"/>
                  <a:pt x="6" y="104"/>
                </a:cubicBezTo>
                <a:cubicBezTo>
                  <a:pt x="3" y="103"/>
                  <a:pt x="1" y="105"/>
                  <a:pt x="1" y="107"/>
                </a:cubicBezTo>
                <a:cubicBezTo>
                  <a:pt x="0" y="107"/>
                  <a:pt x="0" y="107"/>
                  <a:pt x="0" y="107"/>
                </a:cubicBezTo>
                <a:cubicBezTo>
                  <a:pt x="0" y="108"/>
                  <a:pt x="0" y="108"/>
                  <a:pt x="0" y="108"/>
                </a:cubicBezTo>
                <a:cubicBezTo>
                  <a:pt x="0" y="111"/>
                  <a:pt x="2" y="112"/>
                  <a:pt x="4" y="113"/>
                </a:cubicBezTo>
                <a:cubicBezTo>
                  <a:pt x="65" y="131"/>
                  <a:pt x="65" y="131"/>
                  <a:pt x="65" y="131"/>
                </a:cubicBezTo>
                <a:cubicBezTo>
                  <a:pt x="35" y="187"/>
                  <a:pt x="35" y="187"/>
                  <a:pt x="35" y="187"/>
                </a:cubicBezTo>
                <a:cubicBezTo>
                  <a:pt x="34" y="189"/>
                  <a:pt x="35" y="192"/>
                  <a:pt x="37" y="193"/>
                </a:cubicBezTo>
                <a:cubicBezTo>
                  <a:pt x="37" y="193"/>
                  <a:pt x="38" y="193"/>
                  <a:pt x="38" y="193"/>
                </a:cubicBezTo>
                <a:cubicBezTo>
                  <a:pt x="40" y="194"/>
                  <a:pt x="43" y="193"/>
                  <a:pt x="44" y="190"/>
                </a:cubicBezTo>
                <a:cubicBezTo>
                  <a:pt x="65" y="155"/>
                  <a:pt x="65" y="155"/>
                  <a:pt x="65" y="155"/>
                </a:cubicBezTo>
                <a:cubicBezTo>
                  <a:pt x="77" y="155"/>
                  <a:pt x="77" y="155"/>
                  <a:pt x="77" y="155"/>
                </a:cubicBezTo>
                <a:cubicBezTo>
                  <a:pt x="81" y="167"/>
                  <a:pt x="81" y="167"/>
                  <a:pt x="81" y="167"/>
                </a:cubicBezTo>
                <a:cubicBezTo>
                  <a:pt x="59" y="220"/>
                  <a:pt x="59" y="220"/>
                  <a:pt x="59" y="220"/>
                </a:cubicBezTo>
                <a:cubicBezTo>
                  <a:pt x="58" y="222"/>
                  <a:pt x="59" y="224"/>
                  <a:pt x="61" y="226"/>
                </a:cubicBezTo>
                <a:cubicBezTo>
                  <a:pt x="63" y="227"/>
                  <a:pt x="66" y="226"/>
                  <a:pt x="67" y="224"/>
                </a:cubicBezTo>
                <a:cubicBezTo>
                  <a:pt x="67" y="224"/>
                  <a:pt x="67" y="224"/>
                  <a:pt x="67" y="224"/>
                </a:cubicBezTo>
                <a:cubicBezTo>
                  <a:pt x="67" y="224"/>
                  <a:pt x="67" y="223"/>
                  <a:pt x="67" y="223"/>
                </a:cubicBezTo>
                <a:cubicBezTo>
                  <a:pt x="67" y="223"/>
                  <a:pt x="67" y="223"/>
                  <a:pt x="67" y="223"/>
                </a:cubicBezTo>
                <a:cubicBezTo>
                  <a:pt x="71" y="214"/>
                  <a:pt x="79" y="196"/>
                  <a:pt x="81" y="191"/>
                </a:cubicBezTo>
                <a:cubicBezTo>
                  <a:pt x="133" y="179"/>
                  <a:pt x="133" y="179"/>
                  <a:pt x="133" y="179"/>
                </a:cubicBezTo>
                <a:cubicBezTo>
                  <a:pt x="152" y="225"/>
                  <a:pt x="152" y="225"/>
                  <a:pt x="152" y="225"/>
                </a:cubicBezTo>
                <a:cubicBezTo>
                  <a:pt x="153" y="227"/>
                  <a:pt x="155" y="228"/>
                  <a:pt x="157" y="228"/>
                </a:cubicBezTo>
                <a:cubicBezTo>
                  <a:pt x="159" y="228"/>
                  <a:pt x="161" y="226"/>
                  <a:pt x="161" y="223"/>
                </a:cubicBezTo>
                <a:cubicBezTo>
                  <a:pt x="161" y="222"/>
                  <a:pt x="161" y="221"/>
                  <a:pt x="160" y="220"/>
                </a:cubicBezTo>
                <a:cubicBezTo>
                  <a:pt x="160" y="220"/>
                  <a:pt x="160" y="220"/>
                  <a:pt x="160" y="220"/>
                </a:cubicBezTo>
                <a:cubicBezTo>
                  <a:pt x="142" y="171"/>
                  <a:pt x="142" y="171"/>
                  <a:pt x="142" y="171"/>
                </a:cubicBezTo>
                <a:cubicBezTo>
                  <a:pt x="129" y="155"/>
                  <a:pt x="129" y="155"/>
                  <a:pt x="129" y="155"/>
                </a:cubicBezTo>
                <a:cubicBezTo>
                  <a:pt x="129" y="155"/>
                  <a:pt x="145" y="155"/>
                  <a:pt x="146" y="155"/>
                </a:cubicBezTo>
                <a:cubicBezTo>
                  <a:pt x="211" y="216"/>
                  <a:pt x="211" y="216"/>
                  <a:pt x="211" y="216"/>
                </a:cubicBezTo>
                <a:cubicBezTo>
                  <a:pt x="211" y="216"/>
                  <a:pt x="211" y="216"/>
                  <a:pt x="211" y="216"/>
                </a:cubicBezTo>
                <a:cubicBezTo>
                  <a:pt x="211" y="216"/>
                  <a:pt x="211" y="216"/>
                  <a:pt x="211" y="216"/>
                </a:cubicBezTo>
                <a:cubicBezTo>
                  <a:pt x="213" y="217"/>
                  <a:pt x="216" y="217"/>
                  <a:pt x="217" y="216"/>
                </a:cubicBezTo>
                <a:cubicBezTo>
                  <a:pt x="219" y="214"/>
                  <a:pt x="219" y="211"/>
                  <a:pt x="218" y="209"/>
                </a:cubicBezTo>
                <a:cubicBezTo>
                  <a:pt x="174" y="163"/>
                  <a:pt x="174" y="163"/>
                  <a:pt x="174" y="163"/>
                </a:cubicBezTo>
                <a:cubicBezTo>
                  <a:pt x="198" y="163"/>
                  <a:pt x="198" y="163"/>
                  <a:pt x="198" y="163"/>
                </a:cubicBezTo>
                <a:cubicBezTo>
                  <a:pt x="198" y="159"/>
                  <a:pt x="198" y="159"/>
                  <a:pt x="198" y="159"/>
                </a:cubicBezTo>
                <a:cubicBezTo>
                  <a:pt x="166" y="155"/>
                  <a:pt x="166" y="155"/>
                  <a:pt x="166" y="155"/>
                </a:cubicBezTo>
                <a:cubicBezTo>
                  <a:pt x="142" y="131"/>
                  <a:pt x="142" y="131"/>
                  <a:pt x="142" y="131"/>
                </a:cubicBezTo>
                <a:cubicBezTo>
                  <a:pt x="150" y="127"/>
                  <a:pt x="150" y="127"/>
                  <a:pt x="150" y="127"/>
                </a:cubicBezTo>
                <a:cubicBezTo>
                  <a:pt x="235" y="96"/>
                  <a:pt x="235" y="96"/>
                  <a:pt x="235" y="96"/>
                </a:cubicBezTo>
                <a:cubicBezTo>
                  <a:pt x="237" y="95"/>
                  <a:pt x="238" y="93"/>
                  <a:pt x="238" y="91"/>
                </a:cubicBezTo>
                <a:cubicBezTo>
                  <a:pt x="238" y="89"/>
                  <a:pt x="236" y="87"/>
                  <a:pt x="234" y="87"/>
                </a:cubicBezTo>
                <a:close/>
                <a:moveTo>
                  <a:pt x="109" y="74"/>
                </a:moveTo>
                <a:cubicBezTo>
                  <a:pt x="109" y="90"/>
                  <a:pt x="109" y="90"/>
                  <a:pt x="109" y="90"/>
                </a:cubicBezTo>
                <a:cubicBezTo>
                  <a:pt x="97" y="86"/>
                  <a:pt x="97" y="86"/>
                  <a:pt x="97" y="86"/>
                </a:cubicBezTo>
                <a:cubicBezTo>
                  <a:pt x="93" y="74"/>
                  <a:pt x="93" y="74"/>
                  <a:pt x="93" y="74"/>
                </a:cubicBezTo>
                <a:lnTo>
                  <a:pt x="109" y="74"/>
                </a:lnTo>
                <a:close/>
                <a:moveTo>
                  <a:pt x="45" y="115"/>
                </a:moveTo>
                <a:cubicBezTo>
                  <a:pt x="53" y="90"/>
                  <a:pt x="53" y="90"/>
                  <a:pt x="53" y="90"/>
                </a:cubicBezTo>
                <a:cubicBezTo>
                  <a:pt x="69" y="115"/>
                  <a:pt x="69" y="115"/>
                  <a:pt x="69" y="115"/>
                </a:cubicBezTo>
                <a:lnTo>
                  <a:pt x="45" y="115"/>
                </a:lnTo>
                <a:close/>
                <a:moveTo>
                  <a:pt x="85" y="187"/>
                </a:moveTo>
                <a:cubicBezTo>
                  <a:pt x="87" y="184"/>
                  <a:pt x="102" y="161"/>
                  <a:pt x="105" y="155"/>
                </a:cubicBezTo>
                <a:cubicBezTo>
                  <a:pt x="113" y="151"/>
                  <a:pt x="113" y="151"/>
                  <a:pt x="113" y="151"/>
                </a:cubicBezTo>
                <a:cubicBezTo>
                  <a:pt x="129" y="171"/>
                  <a:pt x="129" y="171"/>
                  <a:pt x="129" y="171"/>
                </a:cubicBezTo>
                <a:lnTo>
                  <a:pt x="85" y="187"/>
                </a:lnTo>
                <a:close/>
                <a:moveTo>
                  <a:pt x="129" y="127"/>
                </a:moveTo>
                <a:cubicBezTo>
                  <a:pt x="142" y="147"/>
                  <a:pt x="142" y="147"/>
                  <a:pt x="142" y="147"/>
                </a:cubicBezTo>
                <a:cubicBezTo>
                  <a:pt x="121" y="143"/>
                  <a:pt x="121" y="143"/>
                  <a:pt x="121" y="143"/>
                </a:cubicBezTo>
                <a:cubicBezTo>
                  <a:pt x="101" y="147"/>
                  <a:pt x="101" y="147"/>
                  <a:pt x="101" y="147"/>
                </a:cubicBezTo>
                <a:cubicBezTo>
                  <a:pt x="89" y="159"/>
                  <a:pt x="89" y="159"/>
                  <a:pt x="89" y="159"/>
                </a:cubicBezTo>
                <a:cubicBezTo>
                  <a:pt x="85" y="143"/>
                  <a:pt x="85" y="143"/>
                  <a:pt x="85" y="143"/>
                </a:cubicBezTo>
                <a:cubicBezTo>
                  <a:pt x="69" y="147"/>
                  <a:pt x="69" y="147"/>
                  <a:pt x="69" y="147"/>
                </a:cubicBezTo>
                <a:cubicBezTo>
                  <a:pt x="81" y="127"/>
                  <a:pt x="81" y="127"/>
                  <a:pt x="81" y="127"/>
                </a:cubicBezTo>
                <a:cubicBezTo>
                  <a:pt x="77" y="111"/>
                  <a:pt x="77" y="111"/>
                  <a:pt x="77" y="111"/>
                </a:cubicBezTo>
                <a:cubicBezTo>
                  <a:pt x="77" y="107"/>
                  <a:pt x="77" y="107"/>
                  <a:pt x="77" y="107"/>
                </a:cubicBezTo>
                <a:cubicBezTo>
                  <a:pt x="89" y="90"/>
                  <a:pt x="89" y="90"/>
                  <a:pt x="89" y="90"/>
                </a:cubicBezTo>
                <a:cubicBezTo>
                  <a:pt x="105" y="107"/>
                  <a:pt x="105" y="107"/>
                  <a:pt x="105" y="107"/>
                </a:cubicBezTo>
                <a:cubicBezTo>
                  <a:pt x="117" y="98"/>
                  <a:pt x="117" y="98"/>
                  <a:pt x="117" y="98"/>
                </a:cubicBezTo>
                <a:cubicBezTo>
                  <a:pt x="129" y="111"/>
                  <a:pt x="129" y="111"/>
                  <a:pt x="129" y="111"/>
                </a:cubicBezTo>
                <a:cubicBezTo>
                  <a:pt x="137" y="111"/>
                  <a:pt x="137" y="111"/>
                  <a:pt x="137" y="111"/>
                </a:cubicBezTo>
                <a:cubicBezTo>
                  <a:pt x="146" y="123"/>
                  <a:pt x="146" y="123"/>
                  <a:pt x="146" y="123"/>
                </a:cubicBezTo>
                <a:lnTo>
                  <a:pt x="129" y="12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7" name="Rectangle 686"/>
          <p:cNvSpPr/>
          <p:nvPr userDrawn="1"/>
        </p:nvSpPr>
        <p:spPr>
          <a:xfrm>
            <a:off x="8797242" y="4474853"/>
            <a:ext cx="1459054"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Miscellaneous</a:t>
            </a:r>
          </a:p>
        </p:txBody>
      </p:sp>
      <p:sp>
        <p:nvSpPr>
          <p:cNvPr id="229" name="object 19">
            <a:extLst>
              <a:ext uri="{FF2B5EF4-FFF2-40B4-BE49-F238E27FC236}">
                <a16:creationId xmlns:a16="http://schemas.microsoft.com/office/drawing/2014/main" id="{E7100252-F278-483D-A579-BFFE87F3F602}"/>
              </a:ext>
            </a:extLst>
          </p:cNvPr>
          <p:cNvSpPr/>
          <p:nvPr userDrawn="1"/>
        </p:nvSpPr>
        <p:spPr>
          <a:xfrm>
            <a:off x="10893494" y="6066997"/>
            <a:ext cx="273650" cy="342891"/>
          </a:xfrm>
          <a:custGeom>
            <a:avLst/>
            <a:gdLst/>
            <a:ahLst/>
            <a:cxnLst/>
            <a:rect l="l" t="t" r="r" b="b"/>
            <a:pathLst>
              <a:path w="524510" h="657225">
                <a:moveTo>
                  <a:pt x="406908" y="200660"/>
                </a:moveTo>
                <a:lnTo>
                  <a:pt x="399529" y="154482"/>
                </a:lnTo>
                <a:lnTo>
                  <a:pt x="380466" y="117348"/>
                </a:lnTo>
                <a:lnTo>
                  <a:pt x="378980" y="114452"/>
                </a:lnTo>
                <a:lnTo>
                  <a:pt x="347611" y="82931"/>
                </a:lnTo>
                <a:lnTo>
                  <a:pt x="344766" y="81457"/>
                </a:lnTo>
                <a:lnTo>
                  <a:pt x="344766" y="200660"/>
                </a:lnTo>
                <a:lnTo>
                  <a:pt x="338366" y="233845"/>
                </a:lnTo>
                <a:lnTo>
                  <a:pt x="320802" y="261162"/>
                </a:lnTo>
                <a:lnTo>
                  <a:pt x="294500" y="279692"/>
                </a:lnTo>
                <a:lnTo>
                  <a:pt x="261899" y="286512"/>
                </a:lnTo>
                <a:lnTo>
                  <a:pt x="228879" y="279692"/>
                </a:lnTo>
                <a:lnTo>
                  <a:pt x="201688" y="261162"/>
                </a:lnTo>
                <a:lnTo>
                  <a:pt x="183235" y="233845"/>
                </a:lnTo>
                <a:lnTo>
                  <a:pt x="176441" y="200660"/>
                </a:lnTo>
                <a:lnTo>
                  <a:pt x="183235" y="167881"/>
                </a:lnTo>
                <a:lnTo>
                  <a:pt x="201688" y="141439"/>
                </a:lnTo>
                <a:lnTo>
                  <a:pt x="228879" y="123786"/>
                </a:lnTo>
                <a:lnTo>
                  <a:pt x="261899" y="117348"/>
                </a:lnTo>
                <a:lnTo>
                  <a:pt x="294500" y="123786"/>
                </a:lnTo>
                <a:lnTo>
                  <a:pt x="320802" y="141439"/>
                </a:lnTo>
                <a:lnTo>
                  <a:pt x="338366" y="167881"/>
                </a:lnTo>
                <a:lnTo>
                  <a:pt x="344766" y="200660"/>
                </a:lnTo>
                <a:lnTo>
                  <a:pt x="344766" y="81457"/>
                </a:lnTo>
                <a:lnTo>
                  <a:pt x="307797" y="62280"/>
                </a:lnTo>
                <a:lnTo>
                  <a:pt x="261899" y="54864"/>
                </a:lnTo>
                <a:lnTo>
                  <a:pt x="215722" y="62280"/>
                </a:lnTo>
                <a:lnTo>
                  <a:pt x="175260" y="82931"/>
                </a:lnTo>
                <a:lnTo>
                  <a:pt x="143129" y="114452"/>
                </a:lnTo>
                <a:lnTo>
                  <a:pt x="121932" y="154482"/>
                </a:lnTo>
                <a:lnTo>
                  <a:pt x="114300" y="200660"/>
                </a:lnTo>
                <a:lnTo>
                  <a:pt x="121932" y="248081"/>
                </a:lnTo>
                <a:lnTo>
                  <a:pt x="143129" y="288874"/>
                </a:lnTo>
                <a:lnTo>
                  <a:pt x="175260" y="320776"/>
                </a:lnTo>
                <a:lnTo>
                  <a:pt x="215722" y="341579"/>
                </a:lnTo>
                <a:lnTo>
                  <a:pt x="261899" y="348996"/>
                </a:lnTo>
                <a:lnTo>
                  <a:pt x="307797" y="341579"/>
                </a:lnTo>
                <a:lnTo>
                  <a:pt x="347611" y="320776"/>
                </a:lnTo>
                <a:lnTo>
                  <a:pt x="378980" y="288874"/>
                </a:lnTo>
                <a:lnTo>
                  <a:pt x="380161" y="286512"/>
                </a:lnTo>
                <a:lnTo>
                  <a:pt x="399529" y="248081"/>
                </a:lnTo>
                <a:lnTo>
                  <a:pt x="406908" y="200660"/>
                </a:lnTo>
                <a:close/>
              </a:path>
              <a:path w="524510" h="657225">
                <a:moveTo>
                  <a:pt x="524256" y="563372"/>
                </a:moveTo>
                <a:lnTo>
                  <a:pt x="511594" y="537464"/>
                </a:lnTo>
                <a:lnTo>
                  <a:pt x="474941" y="462419"/>
                </a:lnTo>
                <a:lnTo>
                  <a:pt x="474941" y="534797"/>
                </a:lnTo>
                <a:lnTo>
                  <a:pt x="428231" y="537464"/>
                </a:lnTo>
                <a:lnTo>
                  <a:pt x="373722" y="422808"/>
                </a:lnTo>
                <a:lnTo>
                  <a:pt x="373722" y="563372"/>
                </a:lnTo>
                <a:lnTo>
                  <a:pt x="342582" y="599694"/>
                </a:lnTo>
                <a:lnTo>
                  <a:pt x="296125" y="501015"/>
                </a:lnTo>
                <a:lnTo>
                  <a:pt x="280289" y="467360"/>
                </a:lnTo>
                <a:lnTo>
                  <a:pt x="262128" y="430911"/>
                </a:lnTo>
                <a:lnTo>
                  <a:pt x="255028" y="417957"/>
                </a:lnTo>
                <a:lnTo>
                  <a:pt x="246557" y="402463"/>
                </a:lnTo>
                <a:lnTo>
                  <a:pt x="262128" y="402463"/>
                </a:lnTo>
                <a:lnTo>
                  <a:pt x="269900" y="402056"/>
                </a:lnTo>
                <a:lnTo>
                  <a:pt x="285483" y="400215"/>
                </a:lnTo>
                <a:lnTo>
                  <a:pt x="293268" y="399796"/>
                </a:lnTo>
                <a:lnTo>
                  <a:pt x="303657" y="417957"/>
                </a:lnTo>
                <a:lnTo>
                  <a:pt x="373722" y="563372"/>
                </a:lnTo>
                <a:lnTo>
                  <a:pt x="373722" y="422808"/>
                </a:lnTo>
                <a:lnTo>
                  <a:pt x="362788" y="399796"/>
                </a:lnTo>
                <a:lnTo>
                  <a:pt x="352958" y="379095"/>
                </a:lnTo>
                <a:lnTo>
                  <a:pt x="362280" y="374700"/>
                </a:lnTo>
                <a:lnTo>
                  <a:pt x="367995" y="371221"/>
                </a:lnTo>
                <a:lnTo>
                  <a:pt x="371119" y="369328"/>
                </a:lnTo>
                <a:lnTo>
                  <a:pt x="379958" y="362991"/>
                </a:lnTo>
                <a:lnTo>
                  <a:pt x="389293" y="355727"/>
                </a:lnTo>
                <a:lnTo>
                  <a:pt x="474941" y="534797"/>
                </a:lnTo>
                <a:lnTo>
                  <a:pt x="474941" y="462419"/>
                </a:lnTo>
                <a:lnTo>
                  <a:pt x="422833" y="355727"/>
                </a:lnTo>
                <a:lnTo>
                  <a:pt x="412661" y="334899"/>
                </a:lnTo>
                <a:lnTo>
                  <a:pt x="433501" y="305790"/>
                </a:lnTo>
                <a:lnTo>
                  <a:pt x="448983" y="273265"/>
                </a:lnTo>
                <a:lnTo>
                  <a:pt x="458635" y="237807"/>
                </a:lnTo>
                <a:lnTo>
                  <a:pt x="461962" y="199898"/>
                </a:lnTo>
                <a:lnTo>
                  <a:pt x="456742" y="154482"/>
                </a:lnTo>
                <a:lnTo>
                  <a:pt x="441858" y="112560"/>
                </a:lnTo>
                <a:lnTo>
                  <a:pt x="430822" y="95072"/>
                </a:lnTo>
                <a:lnTo>
                  <a:pt x="430822" y="199898"/>
                </a:lnTo>
                <a:lnTo>
                  <a:pt x="428459" y="228561"/>
                </a:lnTo>
                <a:lnTo>
                  <a:pt x="411111" y="280987"/>
                </a:lnTo>
                <a:lnTo>
                  <a:pt x="373722" y="327152"/>
                </a:lnTo>
                <a:lnTo>
                  <a:pt x="339991" y="353060"/>
                </a:lnTo>
                <a:lnTo>
                  <a:pt x="294728" y="367360"/>
                </a:lnTo>
                <a:lnTo>
                  <a:pt x="277698" y="368681"/>
                </a:lnTo>
                <a:lnTo>
                  <a:pt x="277698" y="371221"/>
                </a:lnTo>
                <a:lnTo>
                  <a:pt x="262128" y="371221"/>
                </a:lnTo>
                <a:lnTo>
                  <a:pt x="243967" y="370039"/>
                </a:lnTo>
                <a:lnTo>
                  <a:pt x="243967" y="467360"/>
                </a:lnTo>
                <a:lnTo>
                  <a:pt x="179082" y="599694"/>
                </a:lnTo>
                <a:lnTo>
                  <a:pt x="150533" y="563372"/>
                </a:lnTo>
                <a:lnTo>
                  <a:pt x="163004" y="537464"/>
                </a:lnTo>
                <a:lnTo>
                  <a:pt x="220599" y="417957"/>
                </a:lnTo>
                <a:lnTo>
                  <a:pt x="243967" y="467360"/>
                </a:lnTo>
                <a:lnTo>
                  <a:pt x="243967" y="370039"/>
                </a:lnTo>
                <a:lnTo>
                  <a:pt x="241198" y="369849"/>
                </a:lnTo>
                <a:lnTo>
                  <a:pt x="221246" y="366052"/>
                </a:lnTo>
                <a:lnTo>
                  <a:pt x="202272" y="360299"/>
                </a:lnTo>
                <a:lnTo>
                  <a:pt x="190906" y="355727"/>
                </a:lnTo>
                <a:lnTo>
                  <a:pt x="184264" y="353060"/>
                </a:lnTo>
                <a:lnTo>
                  <a:pt x="174929" y="347218"/>
                </a:lnTo>
                <a:lnTo>
                  <a:pt x="171297" y="344716"/>
                </a:lnTo>
                <a:lnTo>
                  <a:pt x="171297" y="379095"/>
                </a:lnTo>
                <a:lnTo>
                  <a:pt x="93433" y="537464"/>
                </a:lnTo>
                <a:lnTo>
                  <a:pt x="49314" y="534797"/>
                </a:lnTo>
                <a:lnTo>
                  <a:pt x="134962" y="355727"/>
                </a:lnTo>
                <a:lnTo>
                  <a:pt x="143179" y="362991"/>
                </a:lnTo>
                <a:lnTo>
                  <a:pt x="152146" y="369328"/>
                </a:lnTo>
                <a:lnTo>
                  <a:pt x="161594" y="374700"/>
                </a:lnTo>
                <a:lnTo>
                  <a:pt x="171297" y="379095"/>
                </a:lnTo>
                <a:lnTo>
                  <a:pt x="171297" y="344716"/>
                </a:lnTo>
                <a:lnTo>
                  <a:pt x="166090" y="341109"/>
                </a:lnTo>
                <a:lnTo>
                  <a:pt x="157251" y="334505"/>
                </a:lnTo>
                <a:lnTo>
                  <a:pt x="127165" y="303784"/>
                </a:lnTo>
                <a:lnTo>
                  <a:pt x="100228" y="255752"/>
                </a:lnTo>
                <a:lnTo>
                  <a:pt x="90830" y="199898"/>
                </a:lnTo>
                <a:lnTo>
                  <a:pt x="97028" y="154940"/>
                </a:lnTo>
                <a:lnTo>
                  <a:pt x="114477" y="114604"/>
                </a:lnTo>
                <a:lnTo>
                  <a:pt x="141439" y="80454"/>
                </a:lnTo>
                <a:lnTo>
                  <a:pt x="176187" y="54102"/>
                </a:lnTo>
                <a:lnTo>
                  <a:pt x="216992" y="37134"/>
                </a:lnTo>
                <a:lnTo>
                  <a:pt x="262128" y="31115"/>
                </a:lnTo>
                <a:lnTo>
                  <a:pt x="307060" y="37134"/>
                </a:lnTo>
                <a:lnTo>
                  <a:pt x="347383" y="54102"/>
                </a:lnTo>
                <a:lnTo>
                  <a:pt x="381508" y="80454"/>
                </a:lnTo>
                <a:lnTo>
                  <a:pt x="407847" y="114604"/>
                </a:lnTo>
                <a:lnTo>
                  <a:pt x="424802" y="154940"/>
                </a:lnTo>
                <a:lnTo>
                  <a:pt x="430822" y="199898"/>
                </a:lnTo>
                <a:lnTo>
                  <a:pt x="430822" y="95072"/>
                </a:lnTo>
                <a:lnTo>
                  <a:pt x="418439" y="75425"/>
                </a:lnTo>
                <a:lnTo>
                  <a:pt x="387629" y="44335"/>
                </a:lnTo>
                <a:lnTo>
                  <a:pt x="367017" y="31115"/>
                </a:lnTo>
                <a:lnTo>
                  <a:pt x="350545" y="20548"/>
                </a:lnTo>
                <a:lnTo>
                  <a:pt x="308330" y="5359"/>
                </a:lnTo>
                <a:lnTo>
                  <a:pt x="262128" y="0"/>
                </a:lnTo>
                <a:lnTo>
                  <a:pt x="215773" y="5359"/>
                </a:lnTo>
                <a:lnTo>
                  <a:pt x="173189" y="20548"/>
                </a:lnTo>
                <a:lnTo>
                  <a:pt x="135597" y="44335"/>
                </a:lnTo>
                <a:lnTo>
                  <a:pt x="104228" y="75425"/>
                </a:lnTo>
                <a:lnTo>
                  <a:pt x="80302" y="112560"/>
                </a:lnTo>
                <a:lnTo>
                  <a:pt x="65036" y="154482"/>
                </a:lnTo>
                <a:lnTo>
                  <a:pt x="59690" y="199898"/>
                </a:lnTo>
                <a:lnTo>
                  <a:pt x="63411" y="237807"/>
                </a:lnTo>
                <a:lnTo>
                  <a:pt x="73964" y="273265"/>
                </a:lnTo>
                <a:lnTo>
                  <a:pt x="90335" y="305790"/>
                </a:lnTo>
                <a:lnTo>
                  <a:pt x="111594" y="334899"/>
                </a:lnTo>
                <a:lnTo>
                  <a:pt x="0" y="563372"/>
                </a:lnTo>
                <a:lnTo>
                  <a:pt x="114198" y="568579"/>
                </a:lnTo>
                <a:lnTo>
                  <a:pt x="186867" y="656844"/>
                </a:lnTo>
                <a:lnTo>
                  <a:pt x="214464" y="599694"/>
                </a:lnTo>
                <a:lnTo>
                  <a:pt x="262128" y="501015"/>
                </a:lnTo>
                <a:lnTo>
                  <a:pt x="337388" y="656844"/>
                </a:lnTo>
                <a:lnTo>
                  <a:pt x="384429" y="599694"/>
                </a:lnTo>
                <a:lnTo>
                  <a:pt x="410057" y="568579"/>
                </a:lnTo>
                <a:lnTo>
                  <a:pt x="524256" y="563372"/>
                </a:lnTo>
                <a:close/>
              </a:path>
            </a:pathLst>
          </a:custGeom>
          <a:solidFill>
            <a:schemeClr val="tx1"/>
          </a:solidFill>
        </p:spPr>
        <p:txBody>
          <a:bodyPr wrap="square" lIns="0" tIns="0" rIns="0" bIns="0" rtlCol="0"/>
          <a:lstStyle/>
          <a:p>
            <a:endParaRPr/>
          </a:p>
        </p:txBody>
      </p:sp>
      <p:grpSp>
        <p:nvGrpSpPr>
          <p:cNvPr id="237" name="Group 63">
            <a:extLst>
              <a:ext uri="{FF2B5EF4-FFF2-40B4-BE49-F238E27FC236}">
                <a16:creationId xmlns:a16="http://schemas.microsoft.com/office/drawing/2014/main" id="{63D7CBA3-4F77-4DD5-A716-49D0FECF37C3}"/>
              </a:ext>
            </a:extLst>
          </p:cNvPr>
          <p:cNvGrpSpPr>
            <a:grpSpLocks noChangeAspect="1"/>
          </p:cNvGrpSpPr>
          <p:nvPr userDrawn="1"/>
        </p:nvGrpSpPr>
        <p:grpSpPr bwMode="auto">
          <a:xfrm>
            <a:off x="7084165" y="6713845"/>
            <a:ext cx="417620" cy="246640"/>
            <a:chOff x="3908" y="2178"/>
            <a:chExt cx="1402" cy="828"/>
          </a:xfrm>
          <a:solidFill>
            <a:schemeClr val="tx1"/>
          </a:solidFill>
        </p:grpSpPr>
        <p:sp>
          <p:nvSpPr>
            <p:cNvPr id="238" name="Freeform 64">
              <a:extLst>
                <a:ext uri="{FF2B5EF4-FFF2-40B4-BE49-F238E27FC236}">
                  <a16:creationId xmlns:a16="http://schemas.microsoft.com/office/drawing/2014/main" id="{6647BC27-2D89-46CE-BC4F-D2B839639030}"/>
                </a:ext>
              </a:extLst>
            </p:cNvPr>
            <p:cNvSpPr>
              <a:spLocks/>
            </p:cNvSpPr>
            <p:nvPr userDrawn="1"/>
          </p:nvSpPr>
          <p:spPr bwMode="auto">
            <a:xfrm>
              <a:off x="3979" y="2461"/>
              <a:ext cx="316" cy="319"/>
            </a:xfrm>
            <a:custGeom>
              <a:avLst/>
              <a:gdLst>
                <a:gd name="T0" fmla="*/ 55 w 152"/>
                <a:gd name="T1" fmla="*/ 149 h 152"/>
                <a:gd name="T2" fmla="*/ 76 w 152"/>
                <a:gd name="T3" fmla="*/ 152 h 152"/>
                <a:gd name="T4" fmla="*/ 152 w 152"/>
                <a:gd name="T5" fmla="*/ 76 h 152"/>
                <a:gd name="T6" fmla="*/ 76 w 152"/>
                <a:gd name="T7" fmla="*/ 0 h 152"/>
                <a:gd name="T8" fmla="*/ 55 w 152"/>
                <a:gd name="T9" fmla="*/ 3 h 152"/>
                <a:gd name="T10" fmla="*/ 0 w 152"/>
                <a:gd name="T11" fmla="*/ 76 h 152"/>
                <a:gd name="T12" fmla="*/ 55 w 152"/>
                <a:gd name="T13" fmla="*/ 149 h 152"/>
              </a:gdLst>
              <a:ahLst/>
              <a:cxnLst>
                <a:cxn ang="0">
                  <a:pos x="T0" y="T1"/>
                </a:cxn>
                <a:cxn ang="0">
                  <a:pos x="T2" y="T3"/>
                </a:cxn>
                <a:cxn ang="0">
                  <a:pos x="T4" y="T5"/>
                </a:cxn>
                <a:cxn ang="0">
                  <a:pos x="T6" y="T7"/>
                </a:cxn>
                <a:cxn ang="0">
                  <a:pos x="T8" y="T9"/>
                </a:cxn>
                <a:cxn ang="0">
                  <a:pos x="T10" y="T11"/>
                </a:cxn>
                <a:cxn ang="0">
                  <a:pos x="T12" y="T13"/>
                </a:cxn>
              </a:cxnLst>
              <a:rect l="0" t="0" r="r" b="b"/>
              <a:pathLst>
                <a:path w="152" h="152">
                  <a:moveTo>
                    <a:pt x="55" y="149"/>
                  </a:moveTo>
                  <a:cubicBezTo>
                    <a:pt x="62" y="151"/>
                    <a:pt x="69" y="152"/>
                    <a:pt x="76" y="152"/>
                  </a:cubicBezTo>
                  <a:cubicBezTo>
                    <a:pt x="118" y="152"/>
                    <a:pt x="152" y="118"/>
                    <a:pt x="152" y="76"/>
                  </a:cubicBezTo>
                  <a:cubicBezTo>
                    <a:pt x="152" y="34"/>
                    <a:pt x="118" y="0"/>
                    <a:pt x="76" y="0"/>
                  </a:cubicBezTo>
                  <a:cubicBezTo>
                    <a:pt x="69" y="0"/>
                    <a:pt x="62" y="1"/>
                    <a:pt x="55" y="3"/>
                  </a:cubicBezTo>
                  <a:cubicBezTo>
                    <a:pt x="23" y="12"/>
                    <a:pt x="0" y="41"/>
                    <a:pt x="0" y="76"/>
                  </a:cubicBezTo>
                  <a:cubicBezTo>
                    <a:pt x="0" y="111"/>
                    <a:pt x="23" y="140"/>
                    <a:pt x="55"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65">
              <a:extLst>
                <a:ext uri="{FF2B5EF4-FFF2-40B4-BE49-F238E27FC236}">
                  <a16:creationId xmlns:a16="http://schemas.microsoft.com/office/drawing/2014/main" id="{9630D475-4E19-4D45-A883-FEE1A4486CFA}"/>
                </a:ext>
              </a:extLst>
            </p:cNvPr>
            <p:cNvSpPr>
              <a:spLocks/>
            </p:cNvSpPr>
            <p:nvPr userDrawn="1"/>
          </p:nvSpPr>
          <p:spPr bwMode="auto">
            <a:xfrm>
              <a:off x="4923" y="2461"/>
              <a:ext cx="316" cy="319"/>
            </a:xfrm>
            <a:custGeom>
              <a:avLst/>
              <a:gdLst>
                <a:gd name="T0" fmla="*/ 76 w 152"/>
                <a:gd name="T1" fmla="*/ 152 h 152"/>
                <a:gd name="T2" fmla="*/ 94 w 152"/>
                <a:gd name="T3" fmla="*/ 150 h 152"/>
                <a:gd name="T4" fmla="*/ 152 w 152"/>
                <a:gd name="T5" fmla="*/ 76 h 152"/>
                <a:gd name="T6" fmla="*/ 94 w 152"/>
                <a:gd name="T7" fmla="*/ 2 h 152"/>
                <a:gd name="T8" fmla="*/ 76 w 152"/>
                <a:gd name="T9" fmla="*/ 0 h 152"/>
                <a:gd name="T10" fmla="*/ 0 w 152"/>
                <a:gd name="T11" fmla="*/ 76 h 152"/>
                <a:gd name="T12" fmla="*/ 76 w 152"/>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152" h="152">
                  <a:moveTo>
                    <a:pt x="76" y="152"/>
                  </a:moveTo>
                  <a:cubicBezTo>
                    <a:pt x="82" y="152"/>
                    <a:pt x="88" y="151"/>
                    <a:pt x="94" y="150"/>
                  </a:cubicBezTo>
                  <a:cubicBezTo>
                    <a:pt x="127" y="142"/>
                    <a:pt x="152" y="112"/>
                    <a:pt x="152" y="76"/>
                  </a:cubicBezTo>
                  <a:cubicBezTo>
                    <a:pt x="152" y="40"/>
                    <a:pt x="127" y="10"/>
                    <a:pt x="94" y="2"/>
                  </a:cubicBezTo>
                  <a:cubicBezTo>
                    <a:pt x="88" y="1"/>
                    <a:pt x="82" y="0"/>
                    <a:pt x="76" y="0"/>
                  </a:cubicBezTo>
                  <a:cubicBezTo>
                    <a:pt x="34" y="0"/>
                    <a:pt x="0" y="34"/>
                    <a:pt x="0" y="76"/>
                  </a:cubicBezTo>
                  <a:cubicBezTo>
                    <a:pt x="0" y="118"/>
                    <a:pt x="34" y="152"/>
                    <a:pt x="7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66">
              <a:extLst>
                <a:ext uri="{FF2B5EF4-FFF2-40B4-BE49-F238E27FC236}">
                  <a16:creationId xmlns:a16="http://schemas.microsoft.com/office/drawing/2014/main" id="{ACB79F8A-B823-44FB-9983-3C66D9C331BC}"/>
                </a:ext>
              </a:extLst>
            </p:cNvPr>
            <p:cNvSpPr>
              <a:spLocks/>
            </p:cNvSpPr>
            <p:nvPr userDrawn="1"/>
          </p:nvSpPr>
          <p:spPr bwMode="auto">
            <a:xfrm>
              <a:off x="4956" y="2786"/>
              <a:ext cx="354" cy="187"/>
            </a:xfrm>
            <a:custGeom>
              <a:avLst/>
              <a:gdLst>
                <a:gd name="T0" fmla="*/ 170 w 170"/>
                <a:gd name="T1" fmla="*/ 88 h 89"/>
                <a:gd name="T2" fmla="*/ 137 w 170"/>
                <a:gd name="T3" fmla="*/ 39 h 89"/>
                <a:gd name="T4" fmla="*/ 99 w 170"/>
                <a:gd name="T5" fmla="*/ 0 h 89"/>
                <a:gd name="T6" fmla="*/ 78 w 170"/>
                <a:gd name="T7" fmla="*/ 7 h 89"/>
                <a:gd name="T8" fmla="*/ 60 w 170"/>
                <a:gd name="T9" fmla="*/ 9 h 89"/>
                <a:gd name="T10" fmla="*/ 21 w 170"/>
                <a:gd name="T11" fmla="*/ 0 h 89"/>
                <a:gd name="T12" fmla="*/ 0 w 170"/>
                <a:gd name="T13" fmla="*/ 29 h 89"/>
                <a:gd name="T14" fmla="*/ 29 w 170"/>
                <a:gd name="T15" fmla="*/ 89 h 89"/>
                <a:gd name="T16" fmla="*/ 78 w 170"/>
                <a:gd name="T17" fmla="*/ 89 h 89"/>
                <a:gd name="T18" fmla="*/ 170 w 170"/>
                <a:gd name="T19" fmla="*/ 89 h 89"/>
                <a:gd name="T20" fmla="*/ 170 w 170"/>
                <a:gd name="T21" fmla="*/ 8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0" h="89">
                  <a:moveTo>
                    <a:pt x="170" y="88"/>
                  </a:moveTo>
                  <a:cubicBezTo>
                    <a:pt x="170" y="55"/>
                    <a:pt x="155" y="47"/>
                    <a:pt x="137" y="39"/>
                  </a:cubicBezTo>
                  <a:cubicBezTo>
                    <a:pt x="123" y="32"/>
                    <a:pt x="106" y="23"/>
                    <a:pt x="99" y="0"/>
                  </a:cubicBezTo>
                  <a:cubicBezTo>
                    <a:pt x="92" y="3"/>
                    <a:pt x="85" y="6"/>
                    <a:pt x="78" y="7"/>
                  </a:cubicBezTo>
                  <a:cubicBezTo>
                    <a:pt x="72" y="8"/>
                    <a:pt x="66" y="9"/>
                    <a:pt x="60" y="9"/>
                  </a:cubicBezTo>
                  <a:cubicBezTo>
                    <a:pt x="46" y="9"/>
                    <a:pt x="33" y="6"/>
                    <a:pt x="21" y="0"/>
                  </a:cubicBezTo>
                  <a:cubicBezTo>
                    <a:pt x="16" y="14"/>
                    <a:pt x="8" y="23"/>
                    <a:pt x="0" y="29"/>
                  </a:cubicBezTo>
                  <a:cubicBezTo>
                    <a:pt x="15" y="41"/>
                    <a:pt x="26" y="58"/>
                    <a:pt x="29" y="89"/>
                  </a:cubicBezTo>
                  <a:cubicBezTo>
                    <a:pt x="78" y="89"/>
                    <a:pt x="78" y="89"/>
                    <a:pt x="78" y="89"/>
                  </a:cubicBezTo>
                  <a:cubicBezTo>
                    <a:pt x="170" y="89"/>
                    <a:pt x="170" y="89"/>
                    <a:pt x="170" y="89"/>
                  </a:cubicBezTo>
                  <a:cubicBezTo>
                    <a:pt x="170" y="89"/>
                    <a:pt x="170" y="89"/>
                    <a:pt x="1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1" name="Freeform 67">
              <a:extLst>
                <a:ext uri="{FF2B5EF4-FFF2-40B4-BE49-F238E27FC236}">
                  <a16:creationId xmlns:a16="http://schemas.microsoft.com/office/drawing/2014/main" id="{8E2CDEC9-C1BE-4D78-A4E7-A7229CFEC772}"/>
                </a:ext>
              </a:extLst>
            </p:cNvPr>
            <p:cNvSpPr>
              <a:spLocks/>
            </p:cNvSpPr>
            <p:nvPr userDrawn="1"/>
          </p:nvSpPr>
          <p:spPr bwMode="auto">
            <a:xfrm>
              <a:off x="4241" y="2696"/>
              <a:ext cx="752" cy="310"/>
            </a:xfrm>
            <a:custGeom>
              <a:avLst/>
              <a:gdLst>
                <a:gd name="T0" fmla="*/ 360 w 361"/>
                <a:gd name="T1" fmla="*/ 132 h 148"/>
                <a:gd name="T2" fmla="*/ 330 w 361"/>
                <a:gd name="T3" fmla="*/ 78 h 148"/>
                <a:gd name="T4" fmla="*/ 327 w 361"/>
                <a:gd name="T5" fmla="*/ 75 h 148"/>
                <a:gd name="T6" fmla="*/ 306 w 361"/>
                <a:gd name="T7" fmla="*/ 64 h 148"/>
                <a:gd name="T8" fmla="*/ 245 w 361"/>
                <a:gd name="T9" fmla="*/ 0 h 148"/>
                <a:gd name="T10" fmla="*/ 181 w 361"/>
                <a:gd name="T11" fmla="*/ 16 h 148"/>
                <a:gd name="T12" fmla="*/ 116 w 361"/>
                <a:gd name="T13" fmla="*/ 0 h 148"/>
                <a:gd name="T14" fmla="*/ 55 w 361"/>
                <a:gd name="T15" fmla="*/ 64 h 148"/>
                <a:gd name="T16" fmla="*/ 31 w 361"/>
                <a:gd name="T17" fmla="*/ 78 h 148"/>
                <a:gd name="T18" fmla="*/ 27 w 361"/>
                <a:gd name="T19" fmla="*/ 80 h 148"/>
                <a:gd name="T20" fmla="*/ 1 w 361"/>
                <a:gd name="T21" fmla="*/ 132 h 148"/>
                <a:gd name="T22" fmla="*/ 1 w 361"/>
                <a:gd name="T23" fmla="*/ 147 h 148"/>
                <a:gd name="T24" fmla="*/ 0 w 361"/>
                <a:gd name="T25" fmla="*/ 148 h 148"/>
                <a:gd name="T26" fmla="*/ 361 w 361"/>
                <a:gd name="T27" fmla="*/ 148 h 148"/>
                <a:gd name="T28" fmla="*/ 361 w 361"/>
                <a:gd name="T29" fmla="*/ 147 h 148"/>
                <a:gd name="T30" fmla="*/ 360 w 361"/>
                <a:gd name="T31" fmla="*/ 13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1" h="148">
                  <a:moveTo>
                    <a:pt x="360" y="132"/>
                  </a:moveTo>
                  <a:cubicBezTo>
                    <a:pt x="357" y="103"/>
                    <a:pt x="346" y="88"/>
                    <a:pt x="330" y="78"/>
                  </a:cubicBezTo>
                  <a:cubicBezTo>
                    <a:pt x="329" y="77"/>
                    <a:pt x="328" y="76"/>
                    <a:pt x="327" y="75"/>
                  </a:cubicBezTo>
                  <a:cubicBezTo>
                    <a:pt x="320" y="71"/>
                    <a:pt x="313" y="68"/>
                    <a:pt x="306" y="64"/>
                  </a:cubicBezTo>
                  <a:cubicBezTo>
                    <a:pt x="282" y="52"/>
                    <a:pt x="256" y="39"/>
                    <a:pt x="245" y="0"/>
                  </a:cubicBezTo>
                  <a:cubicBezTo>
                    <a:pt x="226" y="10"/>
                    <a:pt x="204" y="16"/>
                    <a:pt x="181" y="16"/>
                  </a:cubicBezTo>
                  <a:cubicBezTo>
                    <a:pt x="157" y="16"/>
                    <a:pt x="135" y="10"/>
                    <a:pt x="116" y="0"/>
                  </a:cubicBezTo>
                  <a:cubicBezTo>
                    <a:pt x="105" y="39"/>
                    <a:pt x="79" y="52"/>
                    <a:pt x="55" y="64"/>
                  </a:cubicBezTo>
                  <a:cubicBezTo>
                    <a:pt x="46" y="68"/>
                    <a:pt x="38" y="72"/>
                    <a:pt x="31" y="78"/>
                  </a:cubicBezTo>
                  <a:cubicBezTo>
                    <a:pt x="30" y="78"/>
                    <a:pt x="28" y="79"/>
                    <a:pt x="27" y="80"/>
                  </a:cubicBezTo>
                  <a:cubicBezTo>
                    <a:pt x="14" y="90"/>
                    <a:pt x="4" y="105"/>
                    <a:pt x="1" y="132"/>
                  </a:cubicBezTo>
                  <a:cubicBezTo>
                    <a:pt x="1" y="137"/>
                    <a:pt x="1" y="142"/>
                    <a:pt x="1" y="147"/>
                  </a:cubicBezTo>
                  <a:cubicBezTo>
                    <a:pt x="1" y="147"/>
                    <a:pt x="0" y="148"/>
                    <a:pt x="0" y="148"/>
                  </a:cubicBezTo>
                  <a:cubicBezTo>
                    <a:pt x="361" y="148"/>
                    <a:pt x="361" y="148"/>
                    <a:pt x="361" y="148"/>
                  </a:cubicBezTo>
                  <a:cubicBezTo>
                    <a:pt x="361" y="148"/>
                    <a:pt x="361" y="147"/>
                    <a:pt x="361" y="147"/>
                  </a:cubicBezTo>
                  <a:cubicBezTo>
                    <a:pt x="361" y="142"/>
                    <a:pt x="360" y="137"/>
                    <a:pt x="360"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2" name="Freeform 68">
              <a:extLst>
                <a:ext uri="{FF2B5EF4-FFF2-40B4-BE49-F238E27FC236}">
                  <a16:creationId xmlns:a16="http://schemas.microsoft.com/office/drawing/2014/main" id="{93420083-10A9-439F-9667-FD7AA0F4D2D6}"/>
                </a:ext>
              </a:extLst>
            </p:cNvPr>
            <p:cNvSpPr>
              <a:spLocks/>
            </p:cNvSpPr>
            <p:nvPr userDrawn="1"/>
          </p:nvSpPr>
          <p:spPr bwMode="auto">
            <a:xfrm>
              <a:off x="3908" y="2786"/>
              <a:ext cx="365" cy="187"/>
            </a:xfrm>
            <a:custGeom>
              <a:avLst/>
              <a:gdLst>
                <a:gd name="T0" fmla="*/ 175 w 175"/>
                <a:gd name="T1" fmla="*/ 32 h 89"/>
                <a:gd name="T2" fmla="*/ 149 w 175"/>
                <a:gd name="T3" fmla="*/ 0 h 89"/>
                <a:gd name="T4" fmla="*/ 110 w 175"/>
                <a:gd name="T5" fmla="*/ 9 h 89"/>
                <a:gd name="T6" fmla="*/ 89 w 175"/>
                <a:gd name="T7" fmla="*/ 7 h 89"/>
                <a:gd name="T8" fmla="*/ 71 w 175"/>
                <a:gd name="T9" fmla="*/ 0 h 89"/>
                <a:gd name="T10" fmla="*/ 33 w 175"/>
                <a:gd name="T11" fmla="*/ 39 h 89"/>
                <a:gd name="T12" fmla="*/ 0 w 175"/>
                <a:gd name="T13" fmla="*/ 88 h 89"/>
                <a:gd name="T14" fmla="*/ 0 w 175"/>
                <a:gd name="T15" fmla="*/ 89 h 89"/>
                <a:gd name="T16" fmla="*/ 89 w 175"/>
                <a:gd name="T17" fmla="*/ 89 h 89"/>
                <a:gd name="T18" fmla="*/ 149 w 175"/>
                <a:gd name="T19" fmla="*/ 89 h 89"/>
                <a:gd name="T20" fmla="*/ 175 w 175"/>
                <a:gd name="T21" fmla="*/ 3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 h="89">
                  <a:moveTo>
                    <a:pt x="175" y="32"/>
                  </a:moveTo>
                  <a:cubicBezTo>
                    <a:pt x="164" y="26"/>
                    <a:pt x="154" y="17"/>
                    <a:pt x="149" y="0"/>
                  </a:cubicBezTo>
                  <a:cubicBezTo>
                    <a:pt x="137" y="6"/>
                    <a:pt x="124" y="9"/>
                    <a:pt x="110" y="9"/>
                  </a:cubicBezTo>
                  <a:cubicBezTo>
                    <a:pt x="103" y="9"/>
                    <a:pt x="96" y="8"/>
                    <a:pt x="89" y="7"/>
                  </a:cubicBezTo>
                  <a:cubicBezTo>
                    <a:pt x="83" y="5"/>
                    <a:pt x="77" y="3"/>
                    <a:pt x="71" y="0"/>
                  </a:cubicBezTo>
                  <a:cubicBezTo>
                    <a:pt x="64" y="23"/>
                    <a:pt x="47" y="32"/>
                    <a:pt x="33" y="39"/>
                  </a:cubicBezTo>
                  <a:cubicBezTo>
                    <a:pt x="15" y="47"/>
                    <a:pt x="0" y="55"/>
                    <a:pt x="0" y="88"/>
                  </a:cubicBezTo>
                  <a:cubicBezTo>
                    <a:pt x="0" y="89"/>
                    <a:pt x="0" y="89"/>
                    <a:pt x="0" y="89"/>
                  </a:cubicBezTo>
                  <a:cubicBezTo>
                    <a:pt x="89" y="89"/>
                    <a:pt x="89" y="89"/>
                    <a:pt x="89" y="89"/>
                  </a:cubicBezTo>
                  <a:cubicBezTo>
                    <a:pt x="149" y="89"/>
                    <a:pt x="149" y="89"/>
                    <a:pt x="149" y="89"/>
                  </a:cubicBezTo>
                  <a:cubicBezTo>
                    <a:pt x="152" y="61"/>
                    <a:pt x="162" y="44"/>
                    <a:pt x="17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Oval 69">
              <a:extLst>
                <a:ext uri="{FF2B5EF4-FFF2-40B4-BE49-F238E27FC236}">
                  <a16:creationId xmlns:a16="http://schemas.microsoft.com/office/drawing/2014/main" id="{18A71C14-D326-4F22-9C83-BCF4AC66A98C}"/>
                </a:ext>
              </a:extLst>
            </p:cNvPr>
            <p:cNvSpPr>
              <a:spLocks noChangeArrowheads="1"/>
            </p:cNvSpPr>
            <p:nvPr userDrawn="1"/>
          </p:nvSpPr>
          <p:spPr bwMode="auto">
            <a:xfrm>
              <a:off x="4356" y="2178"/>
              <a:ext cx="523" cy="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4" name="Group 63">
            <a:extLst>
              <a:ext uri="{FF2B5EF4-FFF2-40B4-BE49-F238E27FC236}">
                <a16:creationId xmlns:a16="http://schemas.microsoft.com/office/drawing/2014/main" id="{87911E93-A6B9-4174-891B-D69DC6CC0161}"/>
              </a:ext>
            </a:extLst>
          </p:cNvPr>
          <p:cNvGrpSpPr>
            <a:grpSpLocks noChangeAspect="1"/>
          </p:cNvGrpSpPr>
          <p:nvPr userDrawn="1"/>
        </p:nvGrpSpPr>
        <p:grpSpPr bwMode="auto">
          <a:xfrm>
            <a:off x="6524685" y="6713845"/>
            <a:ext cx="224002" cy="246640"/>
            <a:chOff x="4241" y="2178"/>
            <a:chExt cx="752" cy="828"/>
          </a:xfrm>
          <a:solidFill>
            <a:schemeClr val="tx1"/>
          </a:solidFill>
        </p:grpSpPr>
        <p:sp>
          <p:nvSpPr>
            <p:cNvPr id="248" name="Freeform 67">
              <a:extLst>
                <a:ext uri="{FF2B5EF4-FFF2-40B4-BE49-F238E27FC236}">
                  <a16:creationId xmlns:a16="http://schemas.microsoft.com/office/drawing/2014/main" id="{97C08B1B-D308-4870-9124-A34F92E1DEBA}"/>
                </a:ext>
              </a:extLst>
            </p:cNvPr>
            <p:cNvSpPr>
              <a:spLocks/>
            </p:cNvSpPr>
            <p:nvPr userDrawn="1"/>
          </p:nvSpPr>
          <p:spPr bwMode="auto">
            <a:xfrm>
              <a:off x="4241" y="2696"/>
              <a:ext cx="752" cy="310"/>
            </a:xfrm>
            <a:custGeom>
              <a:avLst/>
              <a:gdLst>
                <a:gd name="T0" fmla="*/ 360 w 361"/>
                <a:gd name="T1" fmla="*/ 132 h 148"/>
                <a:gd name="T2" fmla="*/ 330 w 361"/>
                <a:gd name="T3" fmla="*/ 78 h 148"/>
                <a:gd name="T4" fmla="*/ 327 w 361"/>
                <a:gd name="T5" fmla="*/ 75 h 148"/>
                <a:gd name="T6" fmla="*/ 306 w 361"/>
                <a:gd name="T7" fmla="*/ 64 h 148"/>
                <a:gd name="T8" fmla="*/ 245 w 361"/>
                <a:gd name="T9" fmla="*/ 0 h 148"/>
                <a:gd name="T10" fmla="*/ 181 w 361"/>
                <a:gd name="T11" fmla="*/ 16 h 148"/>
                <a:gd name="T12" fmla="*/ 116 w 361"/>
                <a:gd name="T13" fmla="*/ 0 h 148"/>
                <a:gd name="T14" fmla="*/ 55 w 361"/>
                <a:gd name="T15" fmla="*/ 64 h 148"/>
                <a:gd name="T16" fmla="*/ 31 w 361"/>
                <a:gd name="T17" fmla="*/ 78 h 148"/>
                <a:gd name="T18" fmla="*/ 27 w 361"/>
                <a:gd name="T19" fmla="*/ 80 h 148"/>
                <a:gd name="T20" fmla="*/ 1 w 361"/>
                <a:gd name="T21" fmla="*/ 132 h 148"/>
                <a:gd name="T22" fmla="*/ 1 w 361"/>
                <a:gd name="T23" fmla="*/ 147 h 148"/>
                <a:gd name="T24" fmla="*/ 0 w 361"/>
                <a:gd name="T25" fmla="*/ 148 h 148"/>
                <a:gd name="T26" fmla="*/ 361 w 361"/>
                <a:gd name="T27" fmla="*/ 148 h 148"/>
                <a:gd name="T28" fmla="*/ 361 w 361"/>
                <a:gd name="T29" fmla="*/ 147 h 148"/>
                <a:gd name="T30" fmla="*/ 360 w 361"/>
                <a:gd name="T31" fmla="*/ 13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1" h="148">
                  <a:moveTo>
                    <a:pt x="360" y="132"/>
                  </a:moveTo>
                  <a:cubicBezTo>
                    <a:pt x="357" y="103"/>
                    <a:pt x="346" y="88"/>
                    <a:pt x="330" y="78"/>
                  </a:cubicBezTo>
                  <a:cubicBezTo>
                    <a:pt x="329" y="77"/>
                    <a:pt x="328" y="76"/>
                    <a:pt x="327" y="75"/>
                  </a:cubicBezTo>
                  <a:cubicBezTo>
                    <a:pt x="320" y="71"/>
                    <a:pt x="313" y="68"/>
                    <a:pt x="306" y="64"/>
                  </a:cubicBezTo>
                  <a:cubicBezTo>
                    <a:pt x="282" y="52"/>
                    <a:pt x="256" y="39"/>
                    <a:pt x="245" y="0"/>
                  </a:cubicBezTo>
                  <a:cubicBezTo>
                    <a:pt x="226" y="10"/>
                    <a:pt x="204" y="16"/>
                    <a:pt x="181" y="16"/>
                  </a:cubicBezTo>
                  <a:cubicBezTo>
                    <a:pt x="157" y="16"/>
                    <a:pt x="135" y="10"/>
                    <a:pt x="116" y="0"/>
                  </a:cubicBezTo>
                  <a:cubicBezTo>
                    <a:pt x="105" y="39"/>
                    <a:pt x="79" y="52"/>
                    <a:pt x="55" y="64"/>
                  </a:cubicBezTo>
                  <a:cubicBezTo>
                    <a:pt x="46" y="68"/>
                    <a:pt x="38" y="72"/>
                    <a:pt x="31" y="78"/>
                  </a:cubicBezTo>
                  <a:cubicBezTo>
                    <a:pt x="30" y="78"/>
                    <a:pt x="28" y="79"/>
                    <a:pt x="27" y="80"/>
                  </a:cubicBezTo>
                  <a:cubicBezTo>
                    <a:pt x="14" y="90"/>
                    <a:pt x="4" y="105"/>
                    <a:pt x="1" y="132"/>
                  </a:cubicBezTo>
                  <a:cubicBezTo>
                    <a:pt x="1" y="137"/>
                    <a:pt x="1" y="142"/>
                    <a:pt x="1" y="147"/>
                  </a:cubicBezTo>
                  <a:cubicBezTo>
                    <a:pt x="1" y="147"/>
                    <a:pt x="0" y="148"/>
                    <a:pt x="0" y="148"/>
                  </a:cubicBezTo>
                  <a:cubicBezTo>
                    <a:pt x="361" y="148"/>
                    <a:pt x="361" y="148"/>
                    <a:pt x="361" y="148"/>
                  </a:cubicBezTo>
                  <a:cubicBezTo>
                    <a:pt x="361" y="148"/>
                    <a:pt x="361" y="147"/>
                    <a:pt x="361" y="147"/>
                  </a:cubicBezTo>
                  <a:cubicBezTo>
                    <a:pt x="361" y="142"/>
                    <a:pt x="360" y="137"/>
                    <a:pt x="360"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Oval 69">
              <a:extLst>
                <a:ext uri="{FF2B5EF4-FFF2-40B4-BE49-F238E27FC236}">
                  <a16:creationId xmlns:a16="http://schemas.microsoft.com/office/drawing/2014/main" id="{00AD44CF-0AF1-49FA-954E-A420839C52C0}"/>
                </a:ext>
              </a:extLst>
            </p:cNvPr>
            <p:cNvSpPr>
              <a:spLocks noChangeArrowheads="1"/>
            </p:cNvSpPr>
            <p:nvPr userDrawn="1"/>
          </p:nvSpPr>
          <p:spPr bwMode="auto">
            <a:xfrm>
              <a:off x="4356" y="2178"/>
              <a:ext cx="523" cy="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 name="Group 4">
            <a:extLst>
              <a:ext uri="{FF2B5EF4-FFF2-40B4-BE49-F238E27FC236}">
                <a16:creationId xmlns:a16="http://schemas.microsoft.com/office/drawing/2014/main" id="{E84F477D-1E48-44C7-B2B2-A8693C7D982F}"/>
              </a:ext>
            </a:extLst>
          </p:cNvPr>
          <p:cNvGrpSpPr>
            <a:grpSpLocks noChangeAspect="1"/>
          </p:cNvGrpSpPr>
          <p:nvPr userDrawn="1"/>
        </p:nvGrpSpPr>
        <p:grpSpPr bwMode="auto">
          <a:xfrm>
            <a:off x="1244011" y="6760569"/>
            <a:ext cx="262329" cy="262558"/>
            <a:chOff x="866" y="3333"/>
            <a:chExt cx="1144" cy="1145"/>
          </a:xfrm>
          <a:solidFill>
            <a:schemeClr val="tx1"/>
          </a:solidFill>
        </p:grpSpPr>
        <p:sp>
          <p:nvSpPr>
            <p:cNvPr id="6" name="Freeform 5">
              <a:extLst>
                <a:ext uri="{FF2B5EF4-FFF2-40B4-BE49-F238E27FC236}">
                  <a16:creationId xmlns:a16="http://schemas.microsoft.com/office/drawing/2014/main" id="{B4EC08E0-4EF6-4907-A190-829FBD0E1DAB}"/>
                </a:ext>
              </a:extLst>
            </p:cNvPr>
            <p:cNvSpPr>
              <a:spLocks/>
            </p:cNvSpPr>
            <p:nvPr userDrawn="1"/>
          </p:nvSpPr>
          <p:spPr bwMode="auto">
            <a:xfrm>
              <a:off x="1357" y="3650"/>
              <a:ext cx="69" cy="172"/>
            </a:xfrm>
            <a:custGeom>
              <a:avLst/>
              <a:gdLst>
                <a:gd name="T0" fmla="*/ 0 w 33"/>
                <a:gd name="T1" fmla="*/ 39 h 82"/>
                <a:gd name="T2" fmla="*/ 29 w 33"/>
                <a:gd name="T3" fmla="*/ 80 h 82"/>
                <a:gd name="T4" fmla="*/ 33 w 33"/>
                <a:gd name="T5" fmla="*/ 82 h 82"/>
                <a:gd name="T6" fmla="*/ 33 w 33"/>
                <a:gd name="T7" fmla="*/ 0 h 82"/>
                <a:gd name="T8" fmla="*/ 0 w 33"/>
                <a:gd name="T9" fmla="*/ 39 h 82"/>
              </a:gdLst>
              <a:ahLst/>
              <a:cxnLst>
                <a:cxn ang="0">
                  <a:pos x="T0" y="T1"/>
                </a:cxn>
                <a:cxn ang="0">
                  <a:pos x="T2" y="T3"/>
                </a:cxn>
                <a:cxn ang="0">
                  <a:pos x="T4" y="T5"/>
                </a:cxn>
                <a:cxn ang="0">
                  <a:pos x="T6" y="T7"/>
                </a:cxn>
                <a:cxn ang="0">
                  <a:pos x="T8" y="T9"/>
                </a:cxn>
              </a:cxnLst>
              <a:rect l="0" t="0" r="r" b="b"/>
              <a:pathLst>
                <a:path w="33" h="82">
                  <a:moveTo>
                    <a:pt x="0" y="39"/>
                  </a:moveTo>
                  <a:cubicBezTo>
                    <a:pt x="0" y="57"/>
                    <a:pt x="5" y="64"/>
                    <a:pt x="29" y="80"/>
                  </a:cubicBezTo>
                  <a:cubicBezTo>
                    <a:pt x="30" y="81"/>
                    <a:pt x="31" y="82"/>
                    <a:pt x="33" y="82"/>
                  </a:cubicBezTo>
                  <a:cubicBezTo>
                    <a:pt x="33" y="0"/>
                    <a:pt x="33" y="0"/>
                    <a:pt x="33" y="0"/>
                  </a:cubicBezTo>
                  <a:cubicBezTo>
                    <a:pt x="11" y="6"/>
                    <a:pt x="0" y="18"/>
                    <a:pt x="0"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D53819FD-8A36-478A-B251-38AF60C87A6F}"/>
                </a:ext>
              </a:extLst>
            </p:cNvPr>
            <p:cNvSpPr>
              <a:spLocks/>
            </p:cNvSpPr>
            <p:nvPr userDrawn="1"/>
          </p:nvSpPr>
          <p:spPr bwMode="auto">
            <a:xfrm>
              <a:off x="1476" y="3962"/>
              <a:ext cx="68" cy="186"/>
            </a:xfrm>
            <a:custGeom>
              <a:avLst/>
              <a:gdLst>
                <a:gd name="T0" fmla="*/ 10 w 33"/>
                <a:gd name="T1" fmla="*/ 5 h 89"/>
                <a:gd name="T2" fmla="*/ 0 w 33"/>
                <a:gd name="T3" fmla="*/ 0 h 89"/>
                <a:gd name="T4" fmla="*/ 0 w 33"/>
                <a:gd name="T5" fmla="*/ 89 h 89"/>
                <a:gd name="T6" fmla="*/ 33 w 33"/>
                <a:gd name="T7" fmla="*/ 45 h 89"/>
                <a:gd name="T8" fmla="*/ 10 w 33"/>
                <a:gd name="T9" fmla="*/ 5 h 89"/>
              </a:gdLst>
              <a:ahLst/>
              <a:cxnLst>
                <a:cxn ang="0">
                  <a:pos x="T0" y="T1"/>
                </a:cxn>
                <a:cxn ang="0">
                  <a:pos x="T2" y="T3"/>
                </a:cxn>
                <a:cxn ang="0">
                  <a:pos x="T4" y="T5"/>
                </a:cxn>
                <a:cxn ang="0">
                  <a:pos x="T6" y="T7"/>
                </a:cxn>
                <a:cxn ang="0">
                  <a:pos x="T8" y="T9"/>
                </a:cxn>
              </a:cxnLst>
              <a:rect l="0" t="0" r="r" b="b"/>
              <a:pathLst>
                <a:path w="33" h="89">
                  <a:moveTo>
                    <a:pt x="10" y="5"/>
                  </a:moveTo>
                  <a:cubicBezTo>
                    <a:pt x="0" y="0"/>
                    <a:pt x="0" y="0"/>
                    <a:pt x="0" y="0"/>
                  </a:cubicBezTo>
                  <a:cubicBezTo>
                    <a:pt x="0" y="89"/>
                    <a:pt x="0" y="89"/>
                    <a:pt x="0" y="89"/>
                  </a:cubicBezTo>
                  <a:cubicBezTo>
                    <a:pt x="23" y="81"/>
                    <a:pt x="33" y="68"/>
                    <a:pt x="33" y="45"/>
                  </a:cubicBezTo>
                  <a:cubicBezTo>
                    <a:pt x="33" y="27"/>
                    <a:pt x="26" y="15"/>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F0BC775C-CF18-467C-8BFE-3AA52F9B1304}"/>
                </a:ext>
              </a:extLst>
            </p:cNvPr>
            <p:cNvSpPr>
              <a:spLocks noEditPoints="1"/>
            </p:cNvSpPr>
            <p:nvPr userDrawn="1"/>
          </p:nvSpPr>
          <p:spPr bwMode="auto">
            <a:xfrm>
              <a:off x="866" y="3333"/>
              <a:ext cx="1144" cy="1145"/>
            </a:xfrm>
            <a:custGeom>
              <a:avLst/>
              <a:gdLst>
                <a:gd name="T0" fmla="*/ 274 w 548"/>
                <a:gd name="T1" fmla="*/ 0 h 548"/>
                <a:gd name="T2" fmla="*/ 0 w 548"/>
                <a:gd name="T3" fmla="*/ 274 h 548"/>
                <a:gd name="T4" fmla="*/ 274 w 548"/>
                <a:gd name="T5" fmla="*/ 548 h 548"/>
                <a:gd name="T6" fmla="*/ 548 w 548"/>
                <a:gd name="T7" fmla="*/ 274 h 548"/>
                <a:gd name="T8" fmla="*/ 274 w 548"/>
                <a:gd name="T9" fmla="*/ 0 h 548"/>
                <a:gd name="T10" fmla="*/ 292 w 548"/>
                <a:gd name="T11" fmla="*/ 425 h 548"/>
                <a:gd name="T12" fmla="*/ 292 w 548"/>
                <a:gd name="T13" fmla="*/ 459 h 548"/>
                <a:gd name="T14" fmla="*/ 268 w 548"/>
                <a:gd name="T15" fmla="*/ 459 h 548"/>
                <a:gd name="T16" fmla="*/ 268 w 548"/>
                <a:gd name="T17" fmla="*/ 427 h 548"/>
                <a:gd name="T18" fmla="*/ 188 w 548"/>
                <a:gd name="T19" fmla="*/ 412 h 548"/>
                <a:gd name="T20" fmla="*/ 188 w 548"/>
                <a:gd name="T21" fmla="*/ 384 h 548"/>
                <a:gd name="T22" fmla="*/ 260 w 548"/>
                <a:gd name="T23" fmla="*/ 395 h 548"/>
                <a:gd name="T24" fmla="*/ 268 w 548"/>
                <a:gd name="T25" fmla="*/ 395 h 548"/>
                <a:gd name="T26" fmla="*/ 268 w 548"/>
                <a:gd name="T27" fmla="*/ 286 h 548"/>
                <a:gd name="T28" fmla="*/ 241 w 548"/>
                <a:gd name="T29" fmla="*/ 270 h 548"/>
                <a:gd name="T30" fmla="*/ 192 w 548"/>
                <a:gd name="T31" fmla="*/ 197 h 548"/>
                <a:gd name="T32" fmla="*/ 268 w 548"/>
                <a:gd name="T33" fmla="*/ 119 h 548"/>
                <a:gd name="T34" fmla="*/ 268 w 548"/>
                <a:gd name="T35" fmla="*/ 85 h 548"/>
                <a:gd name="T36" fmla="*/ 292 w 548"/>
                <a:gd name="T37" fmla="*/ 85 h 548"/>
                <a:gd name="T38" fmla="*/ 292 w 548"/>
                <a:gd name="T39" fmla="*/ 118 h 548"/>
                <a:gd name="T40" fmla="*/ 359 w 548"/>
                <a:gd name="T41" fmla="*/ 132 h 548"/>
                <a:gd name="T42" fmla="*/ 359 w 548"/>
                <a:gd name="T43" fmla="*/ 159 h 548"/>
                <a:gd name="T44" fmla="*/ 292 w 548"/>
                <a:gd name="T45" fmla="*/ 148 h 548"/>
                <a:gd name="T46" fmla="*/ 292 w 548"/>
                <a:gd name="T47" fmla="*/ 248 h 548"/>
                <a:gd name="T48" fmla="*/ 321 w 548"/>
                <a:gd name="T49" fmla="*/ 264 h 548"/>
                <a:gd name="T50" fmla="*/ 369 w 548"/>
                <a:gd name="T51" fmla="*/ 340 h 548"/>
                <a:gd name="T52" fmla="*/ 292 w 548"/>
                <a:gd name="T53" fmla="*/ 425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8" h="548">
                  <a:moveTo>
                    <a:pt x="274" y="0"/>
                  </a:moveTo>
                  <a:cubicBezTo>
                    <a:pt x="123" y="0"/>
                    <a:pt x="0" y="123"/>
                    <a:pt x="0" y="274"/>
                  </a:cubicBezTo>
                  <a:cubicBezTo>
                    <a:pt x="0" y="425"/>
                    <a:pt x="123" y="548"/>
                    <a:pt x="274" y="548"/>
                  </a:cubicBezTo>
                  <a:cubicBezTo>
                    <a:pt x="425" y="548"/>
                    <a:pt x="548" y="425"/>
                    <a:pt x="548" y="274"/>
                  </a:cubicBezTo>
                  <a:cubicBezTo>
                    <a:pt x="548" y="123"/>
                    <a:pt x="425" y="0"/>
                    <a:pt x="274" y="0"/>
                  </a:cubicBezTo>
                  <a:close/>
                  <a:moveTo>
                    <a:pt x="292" y="425"/>
                  </a:moveTo>
                  <a:cubicBezTo>
                    <a:pt x="292" y="459"/>
                    <a:pt x="292" y="459"/>
                    <a:pt x="292" y="459"/>
                  </a:cubicBezTo>
                  <a:cubicBezTo>
                    <a:pt x="268" y="459"/>
                    <a:pt x="268" y="459"/>
                    <a:pt x="268" y="459"/>
                  </a:cubicBezTo>
                  <a:cubicBezTo>
                    <a:pt x="268" y="427"/>
                    <a:pt x="268" y="427"/>
                    <a:pt x="268" y="427"/>
                  </a:cubicBezTo>
                  <a:cubicBezTo>
                    <a:pt x="247" y="427"/>
                    <a:pt x="223" y="422"/>
                    <a:pt x="188" y="412"/>
                  </a:cubicBezTo>
                  <a:cubicBezTo>
                    <a:pt x="188" y="384"/>
                    <a:pt x="188" y="384"/>
                    <a:pt x="188" y="384"/>
                  </a:cubicBezTo>
                  <a:cubicBezTo>
                    <a:pt x="224" y="393"/>
                    <a:pt x="240" y="395"/>
                    <a:pt x="260" y="395"/>
                  </a:cubicBezTo>
                  <a:cubicBezTo>
                    <a:pt x="268" y="395"/>
                    <a:pt x="268" y="395"/>
                    <a:pt x="268" y="395"/>
                  </a:cubicBezTo>
                  <a:cubicBezTo>
                    <a:pt x="268" y="286"/>
                    <a:pt x="268" y="286"/>
                    <a:pt x="268" y="286"/>
                  </a:cubicBezTo>
                  <a:cubicBezTo>
                    <a:pt x="241" y="270"/>
                    <a:pt x="241" y="270"/>
                    <a:pt x="241" y="270"/>
                  </a:cubicBezTo>
                  <a:cubicBezTo>
                    <a:pt x="207" y="251"/>
                    <a:pt x="192" y="229"/>
                    <a:pt x="192" y="197"/>
                  </a:cubicBezTo>
                  <a:cubicBezTo>
                    <a:pt x="192" y="153"/>
                    <a:pt x="219" y="125"/>
                    <a:pt x="268" y="119"/>
                  </a:cubicBezTo>
                  <a:cubicBezTo>
                    <a:pt x="268" y="85"/>
                    <a:pt x="268" y="85"/>
                    <a:pt x="268" y="85"/>
                  </a:cubicBezTo>
                  <a:cubicBezTo>
                    <a:pt x="292" y="85"/>
                    <a:pt x="292" y="85"/>
                    <a:pt x="292" y="85"/>
                  </a:cubicBezTo>
                  <a:cubicBezTo>
                    <a:pt x="292" y="118"/>
                    <a:pt x="292" y="118"/>
                    <a:pt x="292" y="118"/>
                  </a:cubicBezTo>
                  <a:cubicBezTo>
                    <a:pt x="309" y="118"/>
                    <a:pt x="331" y="123"/>
                    <a:pt x="359" y="132"/>
                  </a:cubicBezTo>
                  <a:cubicBezTo>
                    <a:pt x="359" y="159"/>
                    <a:pt x="359" y="159"/>
                    <a:pt x="359" y="159"/>
                  </a:cubicBezTo>
                  <a:cubicBezTo>
                    <a:pt x="332" y="151"/>
                    <a:pt x="315" y="149"/>
                    <a:pt x="292" y="148"/>
                  </a:cubicBezTo>
                  <a:cubicBezTo>
                    <a:pt x="292" y="248"/>
                    <a:pt x="292" y="248"/>
                    <a:pt x="292" y="248"/>
                  </a:cubicBezTo>
                  <a:cubicBezTo>
                    <a:pt x="321" y="264"/>
                    <a:pt x="321" y="264"/>
                    <a:pt x="321" y="264"/>
                  </a:cubicBezTo>
                  <a:cubicBezTo>
                    <a:pt x="355" y="283"/>
                    <a:pt x="369" y="306"/>
                    <a:pt x="369" y="340"/>
                  </a:cubicBezTo>
                  <a:cubicBezTo>
                    <a:pt x="369" y="386"/>
                    <a:pt x="341" y="417"/>
                    <a:pt x="292" y="4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Freeform 11">
            <a:extLst>
              <a:ext uri="{FF2B5EF4-FFF2-40B4-BE49-F238E27FC236}">
                <a16:creationId xmlns:a16="http://schemas.microsoft.com/office/drawing/2014/main" id="{0C5C5B71-46DB-4BDF-9C2D-D6D6ADC8718A}"/>
              </a:ext>
            </a:extLst>
          </p:cNvPr>
          <p:cNvSpPr>
            <a:spLocks noEditPoints="1"/>
          </p:cNvSpPr>
          <p:nvPr userDrawn="1"/>
        </p:nvSpPr>
        <p:spPr bwMode="auto">
          <a:xfrm>
            <a:off x="1922594" y="6760693"/>
            <a:ext cx="261642" cy="262558"/>
          </a:xfrm>
          <a:custGeom>
            <a:avLst/>
            <a:gdLst>
              <a:gd name="T0" fmla="*/ 273 w 547"/>
              <a:gd name="T1" fmla="*/ 0 h 548"/>
              <a:gd name="T2" fmla="*/ 0 w 547"/>
              <a:gd name="T3" fmla="*/ 274 h 548"/>
              <a:gd name="T4" fmla="*/ 273 w 547"/>
              <a:gd name="T5" fmla="*/ 548 h 548"/>
              <a:gd name="T6" fmla="*/ 547 w 547"/>
              <a:gd name="T7" fmla="*/ 274 h 548"/>
              <a:gd name="T8" fmla="*/ 273 w 547"/>
              <a:gd name="T9" fmla="*/ 0 h 548"/>
              <a:gd name="T10" fmla="*/ 302 w 547"/>
              <a:gd name="T11" fmla="*/ 459 h 548"/>
              <a:gd name="T12" fmla="*/ 192 w 547"/>
              <a:gd name="T13" fmla="*/ 411 h 548"/>
              <a:gd name="T14" fmla="*/ 154 w 547"/>
              <a:gd name="T15" fmla="*/ 319 h 548"/>
              <a:gd name="T16" fmla="*/ 120 w 547"/>
              <a:gd name="T17" fmla="*/ 319 h 548"/>
              <a:gd name="T18" fmla="*/ 120 w 547"/>
              <a:gd name="T19" fmla="*/ 293 h 548"/>
              <a:gd name="T20" fmla="*/ 151 w 547"/>
              <a:gd name="T21" fmla="*/ 293 h 548"/>
              <a:gd name="T22" fmla="*/ 151 w 547"/>
              <a:gd name="T23" fmla="*/ 285 h 548"/>
              <a:gd name="T24" fmla="*/ 152 w 547"/>
              <a:gd name="T25" fmla="*/ 260 h 548"/>
              <a:gd name="T26" fmla="*/ 120 w 547"/>
              <a:gd name="T27" fmla="*/ 260 h 548"/>
              <a:gd name="T28" fmla="*/ 120 w 547"/>
              <a:gd name="T29" fmla="*/ 233 h 548"/>
              <a:gd name="T30" fmla="*/ 156 w 547"/>
              <a:gd name="T31" fmla="*/ 233 h 548"/>
              <a:gd name="T32" fmla="*/ 200 w 547"/>
              <a:gd name="T33" fmla="*/ 143 h 548"/>
              <a:gd name="T34" fmla="*/ 306 w 547"/>
              <a:gd name="T35" fmla="*/ 98 h 548"/>
              <a:gd name="T36" fmla="*/ 378 w 547"/>
              <a:gd name="T37" fmla="*/ 115 h 548"/>
              <a:gd name="T38" fmla="*/ 367 w 547"/>
              <a:gd name="T39" fmla="*/ 151 h 548"/>
              <a:gd name="T40" fmla="*/ 307 w 547"/>
              <a:gd name="T41" fmla="*/ 136 h 548"/>
              <a:gd name="T42" fmla="*/ 236 w 547"/>
              <a:gd name="T43" fmla="*/ 165 h 548"/>
              <a:gd name="T44" fmla="*/ 204 w 547"/>
              <a:gd name="T45" fmla="*/ 233 h 548"/>
              <a:gd name="T46" fmla="*/ 354 w 547"/>
              <a:gd name="T47" fmla="*/ 233 h 548"/>
              <a:gd name="T48" fmla="*/ 354 w 547"/>
              <a:gd name="T49" fmla="*/ 260 h 548"/>
              <a:gd name="T50" fmla="*/ 199 w 547"/>
              <a:gd name="T51" fmla="*/ 260 h 548"/>
              <a:gd name="T52" fmla="*/ 198 w 547"/>
              <a:gd name="T53" fmla="*/ 283 h 548"/>
              <a:gd name="T54" fmla="*/ 198 w 547"/>
              <a:gd name="T55" fmla="*/ 293 h 548"/>
              <a:gd name="T56" fmla="*/ 354 w 547"/>
              <a:gd name="T57" fmla="*/ 293 h 548"/>
              <a:gd name="T58" fmla="*/ 354 w 547"/>
              <a:gd name="T59" fmla="*/ 319 h 548"/>
              <a:gd name="T60" fmla="*/ 202 w 547"/>
              <a:gd name="T61" fmla="*/ 319 h 548"/>
              <a:gd name="T62" fmla="*/ 231 w 547"/>
              <a:gd name="T63" fmla="*/ 389 h 548"/>
              <a:gd name="T64" fmla="*/ 307 w 547"/>
              <a:gd name="T65" fmla="*/ 421 h 548"/>
              <a:gd name="T66" fmla="*/ 372 w 547"/>
              <a:gd name="T67" fmla="*/ 403 h 548"/>
              <a:gd name="T68" fmla="*/ 382 w 547"/>
              <a:gd name="T69" fmla="*/ 437 h 548"/>
              <a:gd name="T70" fmla="*/ 302 w 547"/>
              <a:gd name="T71" fmla="*/ 459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7" h="548">
                <a:moveTo>
                  <a:pt x="273" y="0"/>
                </a:moveTo>
                <a:cubicBezTo>
                  <a:pt x="122" y="0"/>
                  <a:pt x="0" y="123"/>
                  <a:pt x="0" y="274"/>
                </a:cubicBezTo>
                <a:cubicBezTo>
                  <a:pt x="0" y="425"/>
                  <a:pt x="122" y="548"/>
                  <a:pt x="273" y="548"/>
                </a:cubicBezTo>
                <a:cubicBezTo>
                  <a:pt x="424" y="548"/>
                  <a:pt x="547" y="425"/>
                  <a:pt x="547" y="274"/>
                </a:cubicBezTo>
                <a:cubicBezTo>
                  <a:pt x="547" y="123"/>
                  <a:pt x="424" y="0"/>
                  <a:pt x="273" y="0"/>
                </a:cubicBezTo>
                <a:close/>
                <a:moveTo>
                  <a:pt x="302" y="459"/>
                </a:moveTo>
                <a:cubicBezTo>
                  <a:pt x="258" y="459"/>
                  <a:pt x="219" y="443"/>
                  <a:pt x="192" y="411"/>
                </a:cubicBezTo>
                <a:cubicBezTo>
                  <a:pt x="172" y="389"/>
                  <a:pt x="159" y="358"/>
                  <a:pt x="154" y="319"/>
                </a:cubicBezTo>
                <a:cubicBezTo>
                  <a:pt x="120" y="319"/>
                  <a:pt x="120" y="319"/>
                  <a:pt x="120" y="319"/>
                </a:cubicBezTo>
                <a:cubicBezTo>
                  <a:pt x="120" y="293"/>
                  <a:pt x="120" y="293"/>
                  <a:pt x="120" y="293"/>
                </a:cubicBezTo>
                <a:cubicBezTo>
                  <a:pt x="151" y="293"/>
                  <a:pt x="151" y="293"/>
                  <a:pt x="151" y="293"/>
                </a:cubicBezTo>
                <a:cubicBezTo>
                  <a:pt x="151" y="290"/>
                  <a:pt x="151" y="287"/>
                  <a:pt x="151" y="285"/>
                </a:cubicBezTo>
                <a:cubicBezTo>
                  <a:pt x="151" y="276"/>
                  <a:pt x="152" y="268"/>
                  <a:pt x="152" y="260"/>
                </a:cubicBezTo>
                <a:cubicBezTo>
                  <a:pt x="120" y="260"/>
                  <a:pt x="120" y="260"/>
                  <a:pt x="120" y="260"/>
                </a:cubicBezTo>
                <a:cubicBezTo>
                  <a:pt x="120" y="233"/>
                  <a:pt x="120" y="233"/>
                  <a:pt x="120" y="233"/>
                </a:cubicBezTo>
                <a:cubicBezTo>
                  <a:pt x="156" y="233"/>
                  <a:pt x="156" y="233"/>
                  <a:pt x="156" y="233"/>
                </a:cubicBezTo>
                <a:cubicBezTo>
                  <a:pt x="162" y="196"/>
                  <a:pt x="178" y="165"/>
                  <a:pt x="200" y="143"/>
                </a:cubicBezTo>
                <a:cubicBezTo>
                  <a:pt x="227" y="114"/>
                  <a:pt x="262" y="98"/>
                  <a:pt x="306" y="98"/>
                </a:cubicBezTo>
                <a:cubicBezTo>
                  <a:pt x="338" y="98"/>
                  <a:pt x="363" y="107"/>
                  <a:pt x="378" y="115"/>
                </a:cubicBezTo>
                <a:cubicBezTo>
                  <a:pt x="367" y="151"/>
                  <a:pt x="367" y="151"/>
                  <a:pt x="367" y="151"/>
                </a:cubicBezTo>
                <a:cubicBezTo>
                  <a:pt x="354" y="143"/>
                  <a:pt x="331" y="136"/>
                  <a:pt x="307" y="136"/>
                </a:cubicBezTo>
                <a:cubicBezTo>
                  <a:pt x="278" y="136"/>
                  <a:pt x="254" y="146"/>
                  <a:pt x="236" y="165"/>
                </a:cubicBezTo>
                <a:cubicBezTo>
                  <a:pt x="220" y="181"/>
                  <a:pt x="209" y="205"/>
                  <a:pt x="204" y="233"/>
                </a:cubicBezTo>
                <a:cubicBezTo>
                  <a:pt x="354" y="233"/>
                  <a:pt x="354" y="233"/>
                  <a:pt x="354" y="233"/>
                </a:cubicBezTo>
                <a:cubicBezTo>
                  <a:pt x="354" y="260"/>
                  <a:pt x="354" y="260"/>
                  <a:pt x="354" y="260"/>
                </a:cubicBezTo>
                <a:cubicBezTo>
                  <a:pt x="199" y="260"/>
                  <a:pt x="199" y="260"/>
                  <a:pt x="199" y="260"/>
                </a:cubicBezTo>
                <a:cubicBezTo>
                  <a:pt x="198" y="267"/>
                  <a:pt x="198" y="275"/>
                  <a:pt x="198" y="283"/>
                </a:cubicBezTo>
                <a:cubicBezTo>
                  <a:pt x="198" y="286"/>
                  <a:pt x="198" y="289"/>
                  <a:pt x="198" y="293"/>
                </a:cubicBezTo>
                <a:cubicBezTo>
                  <a:pt x="354" y="293"/>
                  <a:pt x="354" y="293"/>
                  <a:pt x="354" y="293"/>
                </a:cubicBezTo>
                <a:cubicBezTo>
                  <a:pt x="354" y="319"/>
                  <a:pt x="354" y="319"/>
                  <a:pt x="354" y="319"/>
                </a:cubicBezTo>
                <a:cubicBezTo>
                  <a:pt x="202" y="319"/>
                  <a:pt x="202" y="319"/>
                  <a:pt x="202" y="319"/>
                </a:cubicBezTo>
                <a:cubicBezTo>
                  <a:pt x="206" y="350"/>
                  <a:pt x="217" y="373"/>
                  <a:pt x="231" y="389"/>
                </a:cubicBezTo>
                <a:cubicBezTo>
                  <a:pt x="251" y="410"/>
                  <a:pt x="278" y="421"/>
                  <a:pt x="307" y="421"/>
                </a:cubicBezTo>
                <a:cubicBezTo>
                  <a:pt x="335" y="421"/>
                  <a:pt x="360" y="410"/>
                  <a:pt x="372" y="403"/>
                </a:cubicBezTo>
                <a:cubicBezTo>
                  <a:pt x="382" y="437"/>
                  <a:pt x="382" y="437"/>
                  <a:pt x="382" y="437"/>
                </a:cubicBezTo>
                <a:cubicBezTo>
                  <a:pt x="365" y="448"/>
                  <a:pt x="337" y="459"/>
                  <a:pt x="302" y="45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196" name="Straight Connector 195">
            <a:extLst>
              <a:ext uri="{FF2B5EF4-FFF2-40B4-BE49-F238E27FC236}">
                <a16:creationId xmlns:a16="http://schemas.microsoft.com/office/drawing/2014/main" id="{D7D369C1-FC1C-4458-8A5E-F10A92DABBD8}"/>
              </a:ext>
            </a:extLst>
          </p:cNvPr>
          <p:cNvCxnSpPr>
            <a:cxnSpLocks/>
          </p:cNvCxnSpPr>
          <p:nvPr userDrawn="1"/>
        </p:nvCxnSpPr>
        <p:spPr bwMode="auto">
          <a:xfrm>
            <a:off x="6643132" y="1973434"/>
            <a:ext cx="3958921"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8" name="Freeform 15">
            <a:extLst>
              <a:ext uri="{FF2B5EF4-FFF2-40B4-BE49-F238E27FC236}">
                <a16:creationId xmlns:a16="http://schemas.microsoft.com/office/drawing/2014/main" id="{594CF9B2-AD1B-4B98-803F-681862CA5809}"/>
              </a:ext>
            </a:extLst>
          </p:cNvPr>
          <p:cNvSpPr>
            <a:spLocks noEditPoints="1"/>
          </p:cNvSpPr>
          <p:nvPr userDrawn="1"/>
        </p:nvSpPr>
        <p:spPr bwMode="auto">
          <a:xfrm>
            <a:off x="2539401" y="6760959"/>
            <a:ext cx="265176" cy="265176"/>
          </a:xfrm>
          <a:custGeom>
            <a:avLst/>
            <a:gdLst>
              <a:gd name="T0" fmla="*/ 274 w 547"/>
              <a:gd name="T1" fmla="*/ 0 h 548"/>
              <a:gd name="T2" fmla="*/ 0 w 547"/>
              <a:gd name="T3" fmla="*/ 274 h 548"/>
              <a:gd name="T4" fmla="*/ 274 w 547"/>
              <a:gd name="T5" fmla="*/ 548 h 548"/>
              <a:gd name="T6" fmla="*/ 547 w 547"/>
              <a:gd name="T7" fmla="*/ 274 h 548"/>
              <a:gd name="T8" fmla="*/ 274 w 547"/>
              <a:gd name="T9" fmla="*/ 0 h 548"/>
              <a:gd name="T10" fmla="*/ 378 w 547"/>
              <a:gd name="T11" fmla="*/ 441 h 548"/>
              <a:gd name="T12" fmla="*/ 155 w 547"/>
              <a:gd name="T13" fmla="*/ 441 h 548"/>
              <a:gd name="T14" fmla="*/ 155 w 547"/>
              <a:gd name="T15" fmla="*/ 414 h 548"/>
              <a:gd name="T16" fmla="*/ 216 w 547"/>
              <a:gd name="T17" fmla="*/ 320 h 548"/>
              <a:gd name="T18" fmla="*/ 214 w 547"/>
              <a:gd name="T19" fmla="*/ 283 h 548"/>
              <a:gd name="T20" fmla="*/ 158 w 547"/>
              <a:gd name="T21" fmla="*/ 283 h 548"/>
              <a:gd name="T22" fmla="*/ 158 w 547"/>
              <a:gd name="T23" fmla="*/ 249 h 548"/>
              <a:gd name="T24" fmla="*/ 208 w 547"/>
              <a:gd name="T25" fmla="*/ 249 h 548"/>
              <a:gd name="T26" fmla="*/ 202 w 547"/>
              <a:gd name="T27" fmla="*/ 191 h 548"/>
              <a:gd name="T28" fmla="*/ 305 w 547"/>
              <a:gd name="T29" fmla="*/ 86 h 548"/>
              <a:gd name="T30" fmla="*/ 364 w 547"/>
              <a:gd name="T31" fmla="*/ 99 h 548"/>
              <a:gd name="T32" fmla="*/ 353 w 547"/>
              <a:gd name="T33" fmla="*/ 135 h 548"/>
              <a:gd name="T34" fmla="*/ 305 w 547"/>
              <a:gd name="T35" fmla="*/ 124 h 548"/>
              <a:gd name="T36" fmla="*/ 246 w 547"/>
              <a:gd name="T37" fmla="*/ 191 h 548"/>
              <a:gd name="T38" fmla="*/ 253 w 547"/>
              <a:gd name="T39" fmla="*/ 249 h 548"/>
              <a:gd name="T40" fmla="*/ 330 w 547"/>
              <a:gd name="T41" fmla="*/ 249 h 548"/>
              <a:gd name="T42" fmla="*/ 330 w 547"/>
              <a:gd name="T43" fmla="*/ 283 h 548"/>
              <a:gd name="T44" fmla="*/ 257 w 547"/>
              <a:gd name="T45" fmla="*/ 283 h 548"/>
              <a:gd name="T46" fmla="*/ 255 w 547"/>
              <a:gd name="T47" fmla="*/ 343 h 548"/>
              <a:gd name="T48" fmla="*/ 218 w 547"/>
              <a:gd name="T49" fmla="*/ 401 h 548"/>
              <a:gd name="T50" fmla="*/ 218 w 547"/>
              <a:gd name="T51" fmla="*/ 402 h 548"/>
              <a:gd name="T52" fmla="*/ 378 w 547"/>
              <a:gd name="T53" fmla="*/ 402 h 548"/>
              <a:gd name="T54" fmla="*/ 378 w 547"/>
              <a:gd name="T55" fmla="*/ 441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47" h="548">
                <a:moveTo>
                  <a:pt x="274" y="0"/>
                </a:moveTo>
                <a:cubicBezTo>
                  <a:pt x="123" y="0"/>
                  <a:pt x="0" y="123"/>
                  <a:pt x="0" y="274"/>
                </a:cubicBezTo>
                <a:cubicBezTo>
                  <a:pt x="0" y="425"/>
                  <a:pt x="123" y="548"/>
                  <a:pt x="274" y="548"/>
                </a:cubicBezTo>
                <a:cubicBezTo>
                  <a:pt x="425" y="548"/>
                  <a:pt x="547" y="425"/>
                  <a:pt x="547" y="274"/>
                </a:cubicBezTo>
                <a:cubicBezTo>
                  <a:pt x="547" y="123"/>
                  <a:pt x="425" y="0"/>
                  <a:pt x="274" y="0"/>
                </a:cubicBezTo>
                <a:close/>
                <a:moveTo>
                  <a:pt x="378" y="441"/>
                </a:moveTo>
                <a:cubicBezTo>
                  <a:pt x="155" y="441"/>
                  <a:pt x="155" y="441"/>
                  <a:pt x="155" y="441"/>
                </a:cubicBezTo>
                <a:cubicBezTo>
                  <a:pt x="155" y="414"/>
                  <a:pt x="155" y="414"/>
                  <a:pt x="155" y="414"/>
                </a:cubicBezTo>
                <a:cubicBezTo>
                  <a:pt x="191" y="396"/>
                  <a:pt x="216" y="361"/>
                  <a:pt x="216" y="320"/>
                </a:cubicBezTo>
                <a:cubicBezTo>
                  <a:pt x="216" y="307"/>
                  <a:pt x="216" y="297"/>
                  <a:pt x="214" y="283"/>
                </a:cubicBezTo>
                <a:cubicBezTo>
                  <a:pt x="158" y="283"/>
                  <a:pt x="158" y="283"/>
                  <a:pt x="158" y="283"/>
                </a:cubicBezTo>
                <a:cubicBezTo>
                  <a:pt x="158" y="249"/>
                  <a:pt x="158" y="249"/>
                  <a:pt x="158" y="249"/>
                </a:cubicBezTo>
                <a:cubicBezTo>
                  <a:pt x="208" y="249"/>
                  <a:pt x="208" y="249"/>
                  <a:pt x="208" y="249"/>
                </a:cubicBezTo>
                <a:cubicBezTo>
                  <a:pt x="206" y="233"/>
                  <a:pt x="202" y="212"/>
                  <a:pt x="202" y="191"/>
                </a:cubicBezTo>
                <a:cubicBezTo>
                  <a:pt x="202" y="127"/>
                  <a:pt x="246" y="86"/>
                  <a:pt x="305" y="86"/>
                </a:cubicBezTo>
                <a:cubicBezTo>
                  <a:pt x="333" y="86"/>
                  <a:pt x="353" y="92"/>
                  <a:pt x="364" y="99"/>
                </a:cubicBezTo>
                <a:cubicBezTo>
                  <a:pt x="353" y="135"/>
                  <a:pt x="353" y="135"/>
                  <a:pt x="353" y="135"/>
                </a:cubicBezTo>
                <a:cubicBezTo>
                  <a:pt x="344" y="129"/>
                  <a:pt x="328" y="124"/>
                  <a:pt x="305" y="124"/>
                </a:cubicBezTo>
                <a:cubicBezTo>
                  <a:pt x="264" y="124"/>
                  <a:pt x="246" y="153"/>
                  <a:pt x="246" y="191"/>
                </a:cubicBezTo>
                <a:cubicBezTo>
                  <a:pt x="246" y="214"/>
                  <a:pt x="250" y="232"/>
                  <a:pt x="253" y="249"/>
                </a:cubicBezTo>
                <a:cubicBezTo>
                  <a:pt x="330" y="249"/>
                  <a:pt x="330" y="249"/>
                  <a:pt x="330" y="249"/>
                </a:cubicBezTo>
                <a:cubicBezTo>
                  <a:pt x="330" y="283"/>
                  <a:pt x="330" y="283"/>
                  <a:pt x="330" y="283"/>
                </a:cubicBezTo>
                <a:cubicBezTo>
                  <a:pt x="257" y="283"/>
                  <a:pt x="257" y="283"/>
                  <a:pt x="257" y="283"/>
                </a:cubicBezTo>
                <a:cubicBezTo>
                  <a:pt x="259" y="303"/>
                  <a:pt x="260" y="323"/>
                  <a:pt x="255" y="343"/>
                </a:cubicBezTo>
                <a:cubicBezTo>
                  <a:pt x="249" y="366"/>
                  <a:pt x="236" y="385"/>
                  <a:pt x="218" y="401"/>
                </a:cubicBezTo>
                <a:cubicBezTo>
                  <a:pt x="218" y="402"/>
                  <a:pt x="218" y="402"/>
                  <a:pt x="218" y="402"/>
                </a:cubicBezTo>
                <a:cubicBezTo>
                  <a:pt x="378" y="402"/>
                  <a:pt x="378" y="402"/>
                  <a:pt x="378" y="402"/>
                </a:cubicBezTo>
                <a:lnTo>
                  <a:pt x="378" y="44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2">
            <a:extLst>
              <a:ext uri="{FF2B5EF4-FFF2-40B4-BE49-F238E27FC236}">
                <a16:creationId xmlns:a16="http://schemas.microsoft.com/office/drawing/2014/main" id="{629EFB31-7666-4AE1-8B32-73BA696CA7C6}"/>
              </a:ext>
            </a:extLst>
          </p:cNvPr>
          <p:cNvGrpSpPr>
            <a:grpSpLocks noChangeAspect="1"/>
          </p:cNvGrpSpPr>
          <p:nvPr userDrawn="1"/>
        </p:nvGrpSpPr>
        <p:grpSpPr bwMode="auto">
          <a:xfrm>
            <a:off x="4975644" y="3736110"/>
            <a:ext cx="363223" cy="321943"/>
            <a:chOff x="3009" y="1189"/>
            <a:chExt cx="3194" cy="2831"/>
          </a:xfrm>
          <a:solidFill>
            <a:schemeClr val="tx1"/>
          </a:solidFill>
        </p:grpSpPr>
        <p:sp>
          <p:nvSpPr>
            <p:cNvPr id="26" name="Freeform 23">
              <a:extLst>
                <a:ext uri="{FF2B5EF4-FFF2-40B4-BE49-F238E27FC236}">
                  <a16:creationId xmlns:a16="http://schemas.microsoft.com/office/drawing/2014/main" id="{100A54F1-DF3A-49DF-9D20-637252B76EA3}"/>
                </a:ext>
              </a:extLst>
            </p:cNvPr>
            <p:cNvSpPr>
              <a:spLocks noEditPoints="1"/>
            </p:cNvSpPr>
            <p:nvPr userDrawn="1"/>
          </p:nvSpPr>
          <p:spPr bwMode="auto">
            <a:xfrm>
              <a:off x="3009" y="1189"/>
              <a:ext cx="2302" cy="2104"/>
            </a:xfrm>
            <a:custGeom>
              <a:avLst/>
              <a:gdLst>
                <a:gd name="T0" fmla="*/ 1107 w 1107"/>
                <a:gd name="T1" fmla="*/ 616 h 1010"/>
                <a:gd name="T2" fmla="*/ 1107 w 1107"/>
                <a:gd name="T3" fmla="*/ 45 h 1010"/>
                <a:gd name="T4" fmla="*/ 1062 w 1107"/>
                <a:gd name="T5" fmla="*/ 0 h 1010"/>
                <a:gd name="T6" fmla="*/ 174 w 1107"/>
                <a:gd name="T7" fmla="*/ 0 h 1010"/>
                <a:gd name="T8" fmla="*/ 0 w 1107"/>
                <a:gd name="T9" fmla="*/ 174 h 1010"/>
                <a:gd name="T10" fmla="*/ 0 w 1107"/>
                <a:gd name="T11" fmla="*/ 952 h 1010"/>
                <a:gd name="T12" fmla="*/ 71 w 1107"/>
                <a:gd name="T13" fmla="*/ 989 h 1010"/>
                <a:gd name="T14" fmla="*/ 319 w 1107"/>
                <a:gd name="T15" fmla="*/ 812 h 1010"/>
                <a:gd name="T16" fmla="*/ 389 w 1107"/>
                <a:gd name="T17" fmla="*/ 790 h 1010"/>
                <a:gd name="T18" fmla="*/ 933 w 1107"/>
                <a:gd name="T19" fmla="*/ 790 h 1010"/>
                <a:gd name="T20" fmla="*/ 1107 w 1107"/>
                <a:gd name="T21" fmla="*/ 616 h 1010"/>
                <a:gd name="T22" fmla="*/ 844 w 1107"/>
                <a:gd name="T23" fmla="*/ 545 h 1010"/>
                <a:gd name="T24" fmla="*/ 324 w 1107"/>
                <a:gd name="T25" fmla="*/ 545 h 1010"/>
                <a:gd name="T26" fmla="*/ 279 w 1107"/>
                <a:gd name="T27" fmla="*/ 500 h 1010"/>
                <a:gd name="T28" fmla="*/ 324 w 1107"/>
                <a:gd name="T29" fmla="*/ 455 h 1010"/>
                <a:gd name="T30" fmla="*/ 844 w 1107"/>
                <a:gd name="T31" fmla="*/ 455 h 1010"/>
                <a:gd name="T32" fmla="*/ 889 w 1107"/>
                <a:gd name="T33" fmla="*/ 500 h 1010"/>
                <a:gd name="T34" fmla="*/ 844 w 1107"/>
                <a:gd name="T35" fmla="*/ 545 h 1010"/>
                <a:gd name="T36" fmla="*/ 844 w 1107"/>
                <a:gd name="T37" fmla="*/ 335 h 1010"/>
                <a:gd name="T38" fmla="*/ 324 w 1107"/>
                <a:gd name="T39" fmla="*/ 335 h 1010"/>
                <a:gd name="T40" fmla="*/ 279 w 1107"/>
                <a:gd name="T41" fmla="*/ 290 h 1010"/>
                <a:gd name="T42" fmla="*/ 324 w 1107"/>
                <a:gd name="T43" fmla="*/ 245 h 1010"/>
                <a:gd name="T44" fmla="*/ 844 w 1107"/>
                <a:gd name="T45" fmla="*/ 245 h 1010"/>
                <a:gd name="T46" fmla="*/ 889 w 1107"/>
                <a:gd name="T47" fmla="*/ 290 h 1010"/>
                <a:gd name="T48" fmla="*/ 844 w 1107"/>
                <a:gd name="T49" fmla="*/ 335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07" h="1010">
                  <a:moveTo>
                    <a:pt x="1107" y="616"/>
                  </a:moveTo>
                  <a:cubicBezTo>
                    <a:pt x="1107" y="45"/>
                    <a:pt x="1107" y="45"/>
                    <a:pt x="1107" y="45"/>
                  </a:cubicBezTo>
                  <a:cubicBezTo>
                    <a:pt x="1107" y="20"/>
                    <a:pt x="1087" y="0"/>
                    <a:pt x="1062" y="0"/>
                  </a:cubicBezTo>
                  <a:cubicBezTo>
                    <a:pt x="174" y="0"/>
                    <a:pt x="174" y="0"/>
                    <a:pt x="174" y="0"/>
                  </a:cubicBezTo>
                  <a:cubicBezTo>
                    <a:pt x="78" y="0"/>
                    <a:pt x="0" y="78"/>
                    <a:pt x="0" y="174"/>
                  </a:cubicBezTo>
                  <a:cubicBezTo>
                    <a:pt x="0" y="952"/>
                    <a:pt x="0" y="952"/>
                    <a:pt x="0" y="952"/>
                  </a:cubicBezTo>
                  <a:cubicBezTo>
                    <a:pt x="0" y="989"/>
                    <a:pt x="42" y="1010"/>
                    <a:pt x="71" y="989"/>
                  </a:cubicBezTo>
                  <a:cubicBezTo>
                    <a:pt x="319" y="812"/>
                    <a:pt x="319" y="812"/>
                    <a:pt x="319" y="812"/>
                  </a:cubicBezTo>
                  <a:cubicBezTo>
                    <a:pt x="339" y="797"/>
                    <a:pt x="364" y="790"/>
                    <a:pt x="389" y="790"/>
                  </a:cubicBezTo>
                  <a:cubicBezTo>
                    <a:pt x="933" y="790"/>
                    <a:pt x="933" y="790"/>
                    <a:pt x="933" y="790"/>
                  </a:cubicBezTo>
                  <a:cubicBezTo>
                    <a:pt x="1029" y="790"/>
                    <a:pt x="1107" y="712"/>
                    <a:pt x="1107" y="616"/>
                  </a:cubicBezTo>
                  <a:close/>
                  <a:moveTo>
                    <a:pt x="844" y="545"/>
                  </a:moveTo>
                  <a:cubicBezTo>
                    <a:pt x="324" y="545"/>
                    <a:pt x="324" y="545"/>
                    <a:pt x="324" y="545"/>
                  </a:cubicBezTo>
                  <a:cubicBezTo>
                    <a:pt x="299" y="545"/>
                    <a:pt x="279" y="525"/>
                    <a:pt x="279" y="500"/>
                  </a:cubicBezTo>
                  <a:cubicBezTo>
                    <a:pt x="279" y="475"/>
                    <a:pt x="299" y="455"/>
                    <a:pt x="324" y="455"/>
                  </a:cubicBezTo>
                  <a:cubicBezTo>
                    <a:pt x="844" y="455"/>
                    <a:pt x="844" y="455"/>
                    <a:pt x="844" y="455"/>
                  </a:cubicBezTo>
                  <a:cubicBezTo>
                    <a:pt x="868" y="455"/>
                    <a:pt x="889" y="475"/>
                    <a:pt x="889" y="500"/>
                  </a:cubicBezTo>
                  <a:cubicBezTo>
                    <a:pt x="889" y="525"/>
                    <a:pt x="868" y="545"/>
                    <a:pt x="844" y="545"/>
                  </a:cubicBezTo>
                  <a:close/>
                  <a:moveTo>
                    <a:pt x="844" y="335"/>
                  </a:moveTo>
                  <a:cubicBezTo>
                    <a:pt x="324" y="335"/>
                    <a:pt x="324" y="335"/>
                    <a:pt x="324" y="335"/>
                  </a:cubicBezTo>
                  <a:cubicBezTo>
                    <a:pt x="299" y="335"/>
                    <a:pt x="279" y="315"/>
                    <a:pt x="279" y="290"/>
                  </a:cubicBezTo>
                  <a:cubicBezTo>
                    <a:pt x="279" y="265"/>
                    <a:pt x="299" y="245"/>
                    <a:pt x="324" y="245"/>
                  </a:cubicBezTo>
                  <a:cubicBezTo>
                    <a:pt x="844" y="245"/>
                    <a:pt x="844" y="245"/>
                    <a:pt x="844" y="245"/>
                  </a:cubicBezTo>
                  <a:cubicBezTo>
                    <a:pt x="868" y="245"/>
                    <a:pt x="889" y="265"/>
                    <a:pt x="889" y="290"/>
                  </a:cubicBezTo>
                  <a:cubicBezTo>
                    <a:pt x="889" y="315"/>
                    <a:pt x="868" y="335"/>
                    <a:pt x="844" y="3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4">
              <a:extLst>
                <a:ext uri="{FF2B5EF4-FFF2-40B4-BE49-F238E27FC236}">
                  <a16:creationId xmlns:a16="http://schemas.microsoft.com/office/drawing/2014/main" id="{FE4EC32F-CBB1-4E67-AD43-424DC5A682B1}"/>
                </a:ext>
              </a:extLst>
            </p:cNvPr>
            <p:cNvSpPr>
              <a:spLocks/>
            </p:cNvSpPr>
            <p:nvPr userDrawn="1"/>
          </p:nvSpPr>
          <p:spPr bwMode="auto">
            <a:xfrm>
              <a:off x="3901" y="1916"/>
              <a:ext cx="2302" cy="2104"/>
            </a:xfrm>
            <a:custGeom>
              <a:avLst/>
              <a:gdLst>
                <a:gd name="T0" fmla="*/ 933 w 1107"/>
                <a:gd name="T1" fmla="*/ 0 h 1010"/>
                <a:gd name="T2" fmla="*/ 768 w 1107"/>
                <a:gd name="T3" fmla="*/ 0 h 1010"/>
                <a:gd name="T4" fmla="*/ 768 w 1107"/>
                <a:gd name="T5" fmla="*/ 267 h 1010"/>
                <a:gd name="T6" fmla="*/ 504 w 1107"/>
                <a:gd name="T7" fmla="*/ 531 h 1010"/>
                <a:gd name="T8" fmla="*/ 0 w 1107"/>
                <a:gd name="T9" fmla="*/ 531 h 1010"/>
                <a:gd name="T10" fmla="*/ 0 w 1107"/>
                <a:gd name="T11" fmla="*/ 616 h 1010"/>
                <a:gd name="T12" fmla="*/ 174 w 1107"/>
                <a:gd name="T13" fmla="*/ 790 h 1010"/>
                <a:gd name="T14" fmla="*/ 718 w 1107"/>
                <a:gd name="T15" fmla="*/ 790 h 1010"/>
                <a:gd name="T16" fmla="*/ 788 w 1107"/>
                <a:gd name="T17" fmla="*/ 812 h 1010"/>
                <a:gd name="T18" fmla="*/ 1036 w 1107"/>
                <a:gd name="T19" fmla="*/ 989 h 1010"/>
                <a:gd name="T20" fmla="*/ 1107 w 1107"/>
                <a:gd name="T21" fmla="*/ 952 h 1010"/>
                <a:gd name="T22" fmla="*/ 1107 w 1107"/>
                <a:gd name="T23" fmla="*/ 174 h 1010"/>
                <a:gd name="T24" fmla="*/ 933 w 1107"/>
                <a:gd name="T25" fmla="*/ 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010">
                  <a:moveTo>
                    <a:pt x="933" y="0"/>
                  </a:moveTo>
                  <a:cubicBezTo>
                    <a:pt x="768" y="0"/>
                    <a:pt x="768" y="0"/>
                    <a:pt x="768" y="0"/>
                  </a:cubicBezTo>
                  <a:cubicBezTo>
                    <a:pt x="768" y="267"/>
                    <a:pt x="768" y="267"/>
                    <a:pt x="768" y="267"/>
                  </a:cubicBezTo>
                  <a:cubicBezTo>
                    <a:pt x="768" y="412"/>
                    <a:pt x="650" y="531"/>
                    <a:pt x="504" y="531"/>
                  </a:cubicBezTo>
                  <a:cubicBezTo>
                    <a:pt x="0" y="531"/>
                    <a:pt x="0" y="531"/>
                    <a:pt x="0" y="531"/>
                  </a:cubicBezTo>
                  <a:cubicBezTo>
                    <a:pt x="0" y="616"/>
                    <a:pt x="0" y="616"/>
                    <a:pt x="0" y="616"/>
                  </a:cubicBezTo>
                  <a:cubicBezTo>
                    <a:pt x="0" y="712"/>
                    <a:pt x="78" y="790"/>
                    <a:pt x="174" y="790"/>
                  </a:cubicBezTo>
                  <a:cubicBezTo>
                    <a:pt x="718" y="790"/>
                    <a:pt x="718" y="790"/>
                    <a:pt x="718" y="790"/>
                  </a:cubicBezTo>
                  <a:cubicBezTo>
                    <a:pt x="743" y="790"/>
                    <a:pt x="768" y="797"/>
                    <a:pt x="788" y="812"/>
                  </a:cubicBezTo>
                  <a:cubicBezTo>
                    <a:pt x="1036" y="989"/>
                    <a:pt x="1036" y="989"/>
                    <a:pt x="1036" y="989"/>
                  </a:cubicBezTo>
                  <a:cubicBezTo>
                    <a:pt x="1066" y="1010"/>
                    <a:pt x="1107" y="989"/>
                    <a:pt x="1107" y="952"/>
                  </a:cubicBezTo>
                  <a:cubicBezTo>
                    <a:pt x="1107" y="174"/>
                    <a:pt x="1107" y="174"/>
                    <a:pt x="1107" y="174"/>
                  </a:cubicBezTo>
                  <a:cubicBezTo>
                    <a:pt x="1107" y="78"/>
                    <a:pt x="1029" y="0"/>
                    <a:pt x="93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215" name="Straight Connector 214">
            <a:extLst>
              <a:ext uri="{FF2B5EF4-FFF2-40B4-BE49-F238E27FC236}">
                <a16:creationId xmlns:a16="http://schemas.microsoft.com/office/drawing/2014/main" id="{5B4CAAF8-8962-4D7B-9297-58138E8DF546}"/>
              </a:ext>
            </a:extLst>
          </p:cNvPr>
          <p:cNvCxnSpPr>
            <a:cxnSpLocks/>
          </p:cNvCxnSpPr>
          <p:nvPr userDrawn="1"/>
        </p:nvCxnSpPr>
        <p:spPr bwMode="auto">
          <a:xfrm>
            <a:off x="8788030" y="4817777"/>
            <a:ext cx="280453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216" name="Group 54">
            <a:extLst>
              <a:ext uri="{FF2B5EF4-FFF2-40B4-BE49-F238E27FC236}">
                <a16:creationId xmlns:a16="http://schemas.microsoft.com/office/drawing/2014/main" id="{AC83EACC-1D86-49A0-8B57-D703106C6B44}"/>
              </a:ext>
            </a:extLst>
          </p:cNvPr>
          <p:cNvGrpSpPr>
            <a:grpSpLocks noChangeAspect="1"/>
          </p:cNvGrpSpPr>
          <p:nvPr userDrawn="1"/>
        </p:nvGrpSpPr>
        <p:grpSpPr bwMode="auto">
          <a:xfrm>
            <a:off x="5628150" y="2073443"/>
            <a:ext cx="259660" cy="336550"/>
            <a:chOff x="3902" y="2335"/>
            <a:chExt cx="206" cy="267"/>
          </a:xfrm>
          <a:solidFill>
            <a:schemeClr val="tx1"/>
          </a:solidFill>
        </p:grpSpPr>
        <p:sp>
          <p:nvSpPr>
            <p:cNvPr id="217" name="Freeform 55">
              <a:extLst>
                <a:ext uri="{FF2B5EF4-FFF2-40B4-BE49-F238E27FC236}">
                  <a16:creationId xmlns:a16="http://schemas.microsoft.com/office/drawing/2014/main" id="{819624A3-5A17-4029-BF75-AD233C7B70FA}"/>
                </a:ext>
              </a:extLst>
            </p:cNvPr>
            <p:cNvSpPr>
              <a:spLocks noEditPoints="1"/>
            </p:cNvSpPr>
            <p:nvPr userDrawn="1"/>
          </p:nvSpPr>
          <p:spPr bwMode="auto">
            <a:xfrm>
              <a:off x="3902" y="2335"/>
              <a:ext cx="206" cy="267"/>
            </a:xfrm>
            <a:custGeom>
              <a:avLst/>
              <a:gdLst>
                <a:gd name="T0" fmla="*/ 141 w 142"/>
                <a:gd name="T1" fmla="*/ 113 h 185"/>
                <a:gd name="T2" fmla="*/ 142 w 142"/>
                <a:gd name="T3" fmla="*/ 75 h 185"/>
                <a:gd name="T4" fmla="*/ 141 w 142"/>
                <a:gd name="T5" fmla="*/ 64 h 185"/>
                <a:gd name="T6" fmla="*/ 141 w 142"/>
                <a:gd name="T7" fmla="*/ 28 h 185"/>
                <a:gd name="T8" fmla="*/ 71 w 142"/>
                <a:gd name="T9" fmla="*/ 0 h 185"/>
                <a:gd name="T10" fmla="*/ 0 w 142"/>
                <a:gd name="T11" fmla="*/ 23 h 185"/>
                <a:gd name="T12" fmla="*/ 4 w 142"/>
                <a:gd name="T13" fmla="*/ 67 h 185"/>
                <a:gd name="T14" fmla="*/ 0 w 142"/>
                <a:gd name="T15" fmla="*/ 74 h 185"/>
                <a:gd name="T16" fmla="*/ 4 w 142"/>
                <a:gd name="T17" fmla="*/ 118 h 185"/>
                <a:gd name="T18" fmla="*/ 0 w 142"/>
                <a:gd name="T19" fmla="*/ 125 h 185"/>
                <a:gd name="T20" fmla="*/ 71 w 142"/>
                <a:gd name="T21" fmla="*/ 185 h 185"/>
                <a:gd name="T22" fmla="*/ 141 w 142"/>
                <a:gd name="T23" fmla="*/ 164 h 185"/>
                <a:gd name="T24" fmla="*/ 142 w 142"/>
                <a:gd name="T25" fmla="*/ 126 h 185"/>
                <a:gd name="T26" fmla="*/ 141 w 142"/>
                <a:gd name="T27" fmla="*/ 115 h 185"/>
                <a:gd name="T28" fmla="*/ 133 w 142"/>
                <a:gd name="T29" fmla="*/ 36 h 185"/>
                <a:gd name="T30" fmla="*/ 71 w 142"/>
                <a:gd name="T31" fmla="*/ 75 h 185"/>
                <a:gd name="T32" fmla="*/ 8 w 142"/>
                <a:gd name="T33" fmla="*/ 36 h 185"/>
                <a:gd name="T34" fmla="*/ 103 w 142"/>
                <a:gd name="T35" fmla="*/ 45 h 185"/>
                <a:gd name="T36" fmla="*/ 133 w 142"/>
                <a:gd name="T37" fmla="*/ 87 h 185"/>
                <a:gd name="T38" fmla="*/ 71 w 142"/>
                <a:gd name="T39" fmla="*/ 126 h 185"/>
                <a:gd name="T40" fmla="*/ 8 w 142"/>
                <a:gd name="T41" fmla="*/ 87 h 185"/>
                <a:gd name="T42" fmla="*/ 103 w 142"/>
                <a:gd name="T43" fmla="*/ 97 h 185"/>
                <a:gd name="T44" fmla="*/ 102 w 142"/>
                <a:gd name="T45" fmla="*/ 89 h 185"/>
                <a:gd name="T46" fmla="*/ 8 w 142"/>
                <a:gd name="T47" fmla="*/ 75 h 185"/>
                <a:gd name="T48" fmla="*/ 11 w 142"/>
                <a:gd name="T49" fmla="*/ 72 h 185"/>
                <a:gd name="T50" fmla="*/ 131 w 142"/>
                <a:gd name="T51" fmla="*/ 72 h 185"/>
                <a:gd name="T52" fmla="*/ 133 w 142"/>
                <a:gd name="T53" fmla="*/ 76 h 185"/>
                <a:gd name="T54" fmla="*/ 39 w 142"/>
                <a:gd name="T55" fmla="*/ 147 h 185"/>
                <a:gd name="T56" fmla="*/ 133 w 142"/>
                <a:gd name="T57" fmla="*/ 138 h 185"/>
                <a:gd name="T58" fmla="*/ 71 w 142"/>
                <a:gd name="T59" fmla="*/ 177 h 185"/>
                <a:gd name="T60" fmla="*/ 8 w 142"/>
                <a:gd name="T61" fmla="*/ 138 h 185"/>
                <a:gd name="T62" fmla="*/ 40 w 142"/>
                <a:gd name="T63" fmla="*/ 140 h 185"/>
                <a:gd name="T64" fmla="*/ 8 w 142"/>
                <a:gd name="T65" fmla="*/ 126 h 185"/>
                <a:gd name="T66" fmla="*/ 71 w 142"/>
                <a:gd name="T67" fmla="*/ 134 h 185"/>
                <a:gd name="T68" fmla="*/ 134 w 142"/>
                <a:gd name="T69" fmla="*/ 126 h 185"/>
                <a:gd name="T70" fmla="*/ 102 w 142"/>
                <a:gd name="T71" fmla="*/ 140 h 185"/>
                <a:gd name="T72" fmla="*/ 102 w 142"/>
                <a:gd name="T73" fmla="*/ 38 h 185"/>
                <a:gd name="T74" fmla="*/ 8 w 142"/>
                <a:gd name="T75" fmla="*/ 24 h 185"/>
                <a:gd name="T76" fmla="*/ 71 w 142"/>
                <a:gd name="T77" fmla="*/ 8 h 185"/>
                <a:gd name="T78" fmla="*/ 133 w 142"/>
                <a:gd name="T79" fmla="*/ 2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2" h="185">
                  <a:moveTo>
                    <a:pt x="141" y="115"/>
                  </a:moveTo>
                  <a:cubicBezTo>
                    <a:pt x="141" y="114"/>
                    <a:pt x="141" y="114"/>
                    <a:pt x="141" y="113"/>
                  </a:cubicBezTo>
                  <a:cubicBezTo>
                    <a:pt x="141" y="79"/>
                    <a:pt x="141" y="79"/>
                    <a:pt x="141" y="79"/>
                  </a:cubicBezTo>
                  <a:cubicBezTo>
                    <a:pt x="142" y="78"/>
                    <a:pt x="142" y="76"/>
                    <a:pt x="142" y="75"/>
                  </a:cubicBezTo>
                  <a:cubicBezTo>
                    <a:pt x="142" y="72"/>
                    <a:pt x="141" y="70"/>
                    <a:pt x="138" y="67"/>
                  </a:cubicBezTo>
                  <a:cubicBezTo>
                    <a:pt x="139" y="66"/>
                    <a:pt x="140" y="65"/>
                    <a:pt x="141" y="64"/>
                  </a:cubicBezTo>
                  <a:cubicBezTo>
                    <a:pt x="141" y="63"/>
                    <a:pt x="141" y="62"/>
                    <a:pt x="141" y="62"/>
                  </a:cubicBezTo>
                  <a:cubicBezTo>
                    <a:pt x="141" y="28"/>
                    <a:pt x="141" y="28"/>
                    <a:pt x="141" y="28"/>
                  </a:cubicBezTo>
                  <a:cubicBezTo>
                    <a:pt x="142" y="26"/>
                    <a:pt x="142" y="25"/>
                    <a:pt x="142" y="24"/>
                  </a:cubicBezTo>
                  <a:cubicBezTo>
                    <a:pt x="142" y="7"/>
                    <a:pt x="99" y="0"/>
                    <a:pt x="71" y="0"/>
                  </a:cubicBezTo>
                  <a:cubicBezTo>
                    <a:pt x="41" y="0"/>
                    <a:pt x="6" y="7"/>
                    <a:pt x="1" y="21"/>
                  </a:cubicBezTo>
                  <a:cubicBezTo>
                    <a:pt x="1" y="22"/>
                    <a:pt x="0" y="22"/>
                    <a:pt x="0" y="23"/>
                  </a:cubicBezTo>
                  <a:cubicBezTo>
                    <a:pt x="0" y="59"/>
                    <a:pt x="0" y="59"/>
                    <a:pt x="0" y="59"/>
                  </a:cubicBezTo>
                  <a:cubicBezTo>
                    <a:pt x="0" y="62"/>
                    <a:pt x="2" y="65"/>
                    <a:pt x="4" y="67"/>
                  </a:cubicBezTo>
                  <a:cubicBezTo>
                    <a:pt x="3" y="69"/>
                    <a:pt x="2" y="70"/>
                    <a:pt x="1" y="72"/>
                  </a:cubicBezTo>
                  <a:cubicBezTo>
                    <a:pt x="1" y="73"/>
                    <a:pt x="0" y="74"/>
                    <a:pt x="0" y="74"/>
                  </a:cubicBezTo>
                  <a:cubicBezTo>
                    <a:pt x="0" y="110"/>
                    <a:pt x="0" y="110"/>
                    <a:pt x="0" y="110"/>
                  </a:cubicBezTo>
                  <a:cubicBezTo>
                    <a:pt x="0" y="113"/>
                    <a:pt x="2" y="116"/>
                    <a:pt x="4" y="118"/>
                  </a:cubicBezTo>
                  <a:cubicBezTo>
                    <a:pt x="3" y="120"/>
                    <a:pt x="2" y="121"/>
                    <a:pt x="1" y="123"/>
                  </a:cubicBezTo>
                  <a:cubicBezTo>
                    <a:pt x="1" y="124"/>
                    <a:pt x="0" y="124"/>
                    <a:pt x="0" y="125"/>
                  </a:cubicBezTo>
                  <a:cubicBezTo>
                    <a:pt x="0" y="161"/>
                    <a:pt x="0" y="161"/>
                    <a:pt x="0" y="161"/>
                  </a:cubicBezTo>
                  <a:cubicBezTo>
                    <a:pt x="0" y="178"/>
                    <a:pt x="43" y="185"/>
                    <a:pt x="71" y="185"/>
                  </a:cubicBezTo>
                  <a:cubicBezTo>
                    <a:pt x="106" y="185"/>
                    <a:pt x="135" y="177"/>
                    <a:pt x="141" y="166"/>
                  </a:cubicBezTo>
                  <a:cubicBezTo>
                    <a:pt x="141" y="165"/>
                    <a:pt x="141" y="164"/>
                    <a:pt x="141" y="164"/>
                  </a:cubicBezTo>
                  <a:cubicBezTo>
                    <a:pt x="141" y="130"/>
                    <a:pt x="141" y="130"/>
                    <a:pt x="141" y="130"/>
                  </a:cubicBezTo>
                  <a:cubicBezTo>
                    <a:pt x="142" y="128"/>
                    <a:pt x="142" y="127"/>
                    <a:pt x="142" y="126"/>
                  </a:cubicBezTo>
                  <a:cubicBezTo>
                    <a:pt x="142" y="123"/>
                    <a:pt x="141" y="121"/>
                    <a:pt x="138" y="118"/>
                  </a:cubicBezTo>
                  <a:cubicBezTo>
                    <a:pt x="139" y="117"/>
                    <a:pt x="140" y="116"/>
                    <a:pt x="141" y="115"/>
                  </a:cubicBezTo>
                  <a:close/>
                  <a:moveTo>
                    <a:pt x="103" y="45"/>
                  </a:moveTo>
                  <a:cubicBezTo>
                    <a:pt x="116" y="43"/>
                    <a:pt x="126" y="40"/>
                    <a:pt x="133" y="36"/>
                  </a:cubicBezTo>
                  <a:cubicBezTo>
                    <a:pt x="133" y="61"/>
                    <a:pt x="133" y="61"/>
                    <a:pt x="133" y="61"/>
                  </a:cubicBezTo>
                  <a:cubicBezTo>
                    <a:pt x="128" y="67"/>
                    <a:pt x="104" y="75"/>
                    <a:pt x="71" y="75"/>
                  </a:cubicBezTo>
                  <a:cubicBezTo>
                    <a:pt x="30" y="75"/>
                    <a:pt x="8" y="64"/>
                    <a:pt x="8" y="59"/>
                  </a:cubicBezTo>
                  <a:cubicBezTo>
                    <a:pt x="8" y="36"/>
                    <a:pt x="8" y="36"/>
                    <a:pt x="8" y="36"/>
                  </a:cubicBezTo>
                  <a:cubicBezTo>
                    <a:pt x="15" y="40"/>
                    <a:pt x="25" y="43"/>
                    <a:pt x="39" y="45"/>
                  </a:cubicBezTo>
                  <a:cubicBezTo>
                    <a:pt x="59" y="49"/>
                    <a:pt x="84" y="49"/>
                    <a:pt x="103" y="45"/>
                  </a:cubicBezTo>
                  <a:close/>
                  <a:moveTo>
                    <a:pt x="103" y="97"/>
                  </a:moveTo>
                  <a:cubicBezTo>
                    <a:pt x="116" y="95"/>
                    <a:pt x="126" y="91"/>
                    <a:pt x="133" y="87"/>
                  </a:cubicBezTo>
                  <a:cubicBezTo>
                    <a:pt x="133" y="112"/>
                    <a:pt x="133" y="112"/>
                    <a:pt x="133" y="112"/>
                  </a:cubicBezTo>
                  <a:cubicBezTo>
                    <a:pt x="128" y="119"/>
                    <a:pt x="104" y="126"/>
                    <a:pt x="71" y="126"/>
                  </a:cubicBezTo>
                  <a:cubicBezTo>
                    <a:pt x="30" y="126"/>
                    <a:pt x="8" y="116"/>
                    <a:pt x="8" y="110"/>
                  </a:cubicBezTo>
                  <a:cubicBezTo>
                    <a:pt x="8" y="87"/>
                    <a:pt x="8" y="87"/>
                    <a:pt x="8" y="87"/>
                  </a:cubicBezTo>
                  <a:cubicBezTo>
                    <a:pt x="15" y="91"/>
                    <a:pt x="25" y="94"/>
                    <a:pt x="39" y="97"/>
                  </a:cubicBezTo>
                  <a:cubicBezTo>
                    <a:pt x="59" y="100"/>
                    <a:pt x="84" y="100"/>
                    <a:pt x="103" y="97"/>
                  </a:cubicBezTo>
                  <a:close/>
                  <a:moveTo>
                    <a:pt x="133" y="76"/>
                  </a:moveTo>
                  <a:cubicBezTo>
                    <a:pt x="131" y="80"/>
                    <a:pt x="121" y="86"/>
                    <a:pt x="102" y="89"/>
                  </a:cubicBezTo>
                  <a:cubicBezTo>
                    <a:pt x="83" y="92"/>
                    <a:pt x="59" y="92"/>
                    <a:pt x="40" y="89"/>
                  </a:cubicBezTo>
                  <a:cubicBezTo>
                    <a:pt x="18" y="85"/>
                    <a:pt x="9" y="79"/>
                    <a:pt x="8" y="75"/>
                  </a:cubicBezTo>
                  <a:cubicBezTo>
                    <a:pt x="8" y="75"/>
                    <a:pt x="8" y="75"/>
                    <a:pt x="8" y="75"/>
                  </a:cubicBezTo>
                  <a:cubicBezTo>
                    <a:pt x="9" y="74"/>
                    <a:pt x="9" y="73"/>
                    <a:pt x="11" y="72"/>
                  </a:cubicBezTo>
                  <a:cubicBezTo>
                    <a:pt x="23" y="79"/>
                    <a:pt x="46" y="83"/>
                    <a:pt x="71" y="83"/>
                  </a:cubicBezTo>
                  <a:cubicBezTo>
                    <a:pt x="96" y="83"/>
                    <a:pt x="119" y="79"/>
                    <a:pt x="131" y="72"/>
                  </a:cubicBezTo>
                  <a:cubicBezTo>
                    <a:pt x="133" y="73"/>
                    <a:pt x="134" y="74"/>
                    <a:pt x="134" y="75"/>
                  </a:cubicBezTo>
                  <a:cubicBezTo>
                    <a:pt x="134" y="75"/>
                    <a:pt x="134" y="76"/>
                    <a:pt x="133" y="76"/>
                  </a:cubicBezTo>
                  <a:close/>
                  <a:moveTo>
                    <a:pt x="8" y="138"/>
                  </a:moveTo>
                  <a:cubicBezTo>
                    <a:pt x="15" y="142"/>
                    <a:pt x="25" y="145"/>
                    <a:pt x="39" y="147"/>
                  </a:cubicBezTo>
                  <a:cubicBezTo>
                    <a:pt x="59" y="151"/>
                    <a:pt x="84" y="151"/>
                    <a:pt x="103" y="147"/>
                  </a:cubicBezTo>
                  <a:cubicBezTo>
                    <a:pt x="116" y="145"/>
                    <a:pt x="126" y="142"/>
                    <a:pt x="133" y="138"/>
                  </a:cubicBezTo>
                  <a:cubicBezTo>
                    <a:pt x="133" y="163"/>
                    <a:pt x="133" y="163"/>
                    <a:pt x="133" y="163"/>
                  </a:cubicBezTo>
                  <a:cubicBezTo>
                    <a:pt x="128" y="170"/>
                    <a:pt x="104" y="177"/>
                    <a:pt x="71" y="177"/>
                  </a:cubicBezTo>
                  <a:cubicBezTo>
                    <a:pt x="30" y="177"/>
                    <a:pt x="8" y="166"/>
                    <a:pt x="8" y="161"/>
                  </a:cubicBezTo>
                  <a:lnTo>
                    <a:pt x="8" y="138"/>
                  </a:lnTo>
                  <a:close/>
                  <a:moveTo>
                    <a:pt x="102" y="140"/>
                  </a:moveTo>
                  <a:cubicBezTo>
                    <a:pt x="83" y="143"/>
                    <a:pt x="59" y="143"/>
                    <a:pt x="40" y="140"/>
                  </a:cubicBezTo>
                  <a:cubicBezTo>
                    <a:pt x="18" y="136"/>
                    <a:pt x="9" y="130"/>
                    <a:pt x="8" y="126"/>
                  </a:cubicBezTo>
                  <a:cubicBezTo>
                    <a:pt x="8" y="126"/>
                    <a:pt x="8" y="126"/>
                    <a:pt x="8" y="126"/>
                  </a:cubicBezTo>
                  <a:cubicBezTo>
                    <a:pt x="9" y="125"/>
                    <a:pt x="9" y="124"/>
                    <a:pt x="10" y="123"/>
                  </a:cubicBezTo>
                  <a:cubicBezTo>
                    <a:pt x="23" y="130"/>
                    <a:pt x="46" y="134"/>
                    <a:pt x="71" y="134"/>
                  </a:cubicBezTo>
                  <a:cubicBezTo>
                    <a:pt x="96" y="134"/>
                    <a:pt x="119" y="130"/>
                    <a:pt x="132" y="123"/>
                  </a:cubicBezTo>
                  <a:cubicBezTo>
                    <a:pt x="133" y="124"/>
                    <a:pt x="134" y="125"/>
                    <a:pt x="134" y="126"/>
                  </a:cubicBezTo>
                  <a:cubicBezTo>
                    <a:pt x="134" y="126"/>
                    <a:pt x="134" y="127"/>
                    <a:pt x="133" y="127"/>
                  </a:cubicBezTo>
                  <a:cubicBezTo>
                    <a:pt x="131" y="131"/>
                    <a:pt x="121" y="137"/>
                    <a:pt x="102" y="140"/>
                  </a:cubicBezTo>
                  <a:close/>
                  <a:moveTo>
                    <a:pt x="133" y="25"/>
                  </a:moveTo>
                  <a:cubicBezTo>
                    <a:pt x="131" y="29"/>
                    <a:pt x="121" y="35"/>
                    <a:pt x="102" y="38"/>
                  </a:cubicBezTo>
                  <a:cubicBezTo>
                    <a:pt x="83" y="41"/>
                    <a:pt x="59" y="41"/>
                    <a:pt x="40" y="38"/>
                  </a:cubicBezTo>
                  <a:cubicBezTo>
                    <a:pt x="17" y="34"/>
                    <a:pt x="9" y="27"/>
                    <a:pt x="8" y="24"/>
                  </a:cubicBezTo>
                  <a:cubicBezTo>
                    <a:pt x="8" y="24"/>
                    <a:pt x="8" y="24"/>
                    <a:pt x="8" y="24"/>
                  </a:cubicBezTo>
                  <a:cubicBezTo>
                    <a:pt x="10" y="17"/>
                    <a:pt x="34" y="8"/>
                    <a:pt x="71" y="8"/>
                  </a:cubicBezTo>
                  <a:cubicBezTo>
                    <a:pt x="112" y="8"/>
                    <a:pt x="134" y="19"/>
                    <a:pt x="134" y="24"/>
                  </a:cubicBezTo>
                  <a:cubicBezTo>
                    <a:pt x="134" y="24"/>
                    <a:pt x="134" y="25"/>
                    <a:pt x="13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8" name="Oval 56">
              <a:extLst>
                <a:ext uri="{FF2B5EF4-FFF2-40B4-BE49-F238E27FC236}">
                  <a16:creationId xmlns:a16="http://schemas.microsoft.com/office/drawing/2014/main" id="{8B7A29B5-AC00-48AF-8A6B-775E0D1B97C9}"/>
                </a:ext>
              </a:extLst>
            </p:cNvPr>
            <p:cNvSpPr>
              <a:spLocks noChangeArrowheads="1"/>
            </p:cNvSpPr>
            <p:nvPr userDrawn="1"/>
          </p:nvSpPr>
          <p:spPr bwMode="auto">
            <a:xfrm>
              <a:off x="4064" y="2400"/>
              <a:ext cx="26" cy="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9" name="Oval 57">
              <a:extLst>
                <a:ext uri="{FF2B5EF4-FFF2-40B4-BE49-F238E27FC236}">
                  <a16:creationId xmlns:a16="http://schemas.microsoft.com/office/drawing/2014/main" id="{43537A26-A6F3-4E6C-BFD2-8362F2E1FFD0}"/>
                </a:ext>
              </a:extLst>
            </p:cNvPr>
            <p:cNvSpPr>
              <a:spLocks noChangeArrowheads="1"/>
            </p:cNvSpPr>
            <p:nvPr userDrawn="1"/>
          </p:nvSpPr>
          <p:spPr bwMode="auto">
            <a:xfrm>
              <a:off x="4064" y="2476"/>
              <a:ext cx="26" cy="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Oval 58">
              <a:extLst>
                <a:ext uri="{FF2B5EF4-FFF2-40B4-BE49-F238E27FC236}">
                  <a16:creationId xmlns:a16="http://schemas.microsoft.com/office/drawing/2014/main" id="{F64E1CBA-F82F-481F-8284-397B81B3EB55}"/>
                </a:ext>
              </a:extLst>
            </p:cNvPr>
            <p:cNvSpPr>
              <a:spLocks noChangeArrowheads="1"/>
            </p:cNvSpPr>
            <p:nvPr userDrawn="1"/>
          </p:nvSpPr>
          <p:spPr bwMode="auto">
            <a:xfrm>
              <a:off x="4064" y="2547"/>
              <a:ext cx="26" cy="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6" name="Freeform 28">
            <a:extLst>
              <a:ext uri="{FF2B5EF4-FFF2-40B4-BE49-F238E27FC236}">
                <a16:creationId xmlns:a16="http://schemas.microsoft.com/office/drawing/2014/main" id="{C7AC34EC-4B90-4419-8D3C-7472DE7B5D5E}"/>
              </a:ext>
            </a:extLst>
          </p:cNvPr>
          <p:cNvSpPr>
            <a:spLocks/>
          </p:cNvSpPr>
          <p:nvPr userDrawn="1"/>
        </p:nvSpPr>
        <p:spPr bwMode="auto">
          <a:xfrm>
            <a:off x="5598307" y="2584235"/>
            <a:ext cx="325072" cy="383018"/>
          </a:xfrm>
          <a:custGeom>
            <a:avLst/>
            <a:gdLst>
              <a:gd name="T0" fmla="*/ 549 w 624"/>
              <a:gd name="T1" fmla="*/ 231 h 732"/>
              <a:gd name="T2" fmla="*/ 549 w 624"/>
              <a:gd name="T3" fmla="*/ 214 h 732"/>
              <a:gd name="T4" fmla="*/ 335 w 624"/>
              <a:gd name="T5" fmla="*/ 0 h 732"/>
              <a:gd name="T6" fmla="*/ 288 w 624"/>
              <a:gd name="T7" fmla="*/ 0 h 732"/>
              <a:gd name="T8" fmla="*/ 74 w 624"/>
              <a:gd name="T9" fmla="*/ 214 h 732"/>
              <a:gd name="T10" fmla="*/ 74 w 624"/>
              <a:gd name="T11" fmla="*/ 231 h 732"/>
              <a:gd name="T12" fmla="*/ 74 w 624"/>
              <a:gd name="T13" fmla="*/ 231 h 732"/>
              <a:gd name="T14" fmla="*/ 0 w 624"/>
              <a:gd name="T15" fmla="*/ 306 h 732"/>
              <a:gd name="T16" fmla="*/ 0 w 624"/>
              <a:gd name="T17" fmla="*/ 387 h 732"/>
              <a:gd name="T18" fmla="*/ 74 w 624"/>
              <a:gd name="T19" fmla="*/ 463 h 732"/>
              <a:gd name="T20" fmla="*/ 74 w 624"/>
              <a:gd name="T21" fmla="*/ 494 h 732"/>
              <a:gd name="T22" fmla="*/ 247 w 624"/>
              <a:gd name="T23" fmla="*/ 704 h 732"/>
              <a:gd name="T24" fmla="*/ 280 w 624"/>
              <a:gd name="T25" fmla="*/ 732 h 732"/>
              <a:gd name="T26" fmla="*/ 343 w 624"/>
              <a:gd name="T27" fmla="*/ 732 h 732"/>
              <a:gd name="T28" fmla="*/ 377 w 624"/>
              <a:gd name="T29" fmla="*/ 698 h 732"/>
              <a:gd name="T30" fmla="*/ 377 w 624"/>
              <a:gd name="T31" fmla="*/ 695 h 732"/>
              <a:gd name="T32" fmla="*/ 343 w 624"/>
              <a:gd name="T33" fmla="*/ 661 h 732"/>
              <a:gd name="T34" fmla="*/ 280 w 624"/>
              <a:gd name="T35" fmla="*/ 661 h 732"/>
              <a:gd name="T36" fmla="*/ 250 w 624"/>
              <a:gd name="T37" fmla="*/ 681 h 732"/>
              <a:gd name="T38" fmla="*/ 98 w 624"/>
              <a:gd name="T39" fmla="*/ 494 h 732"/>
              <a:gd name="T40" fmla="*/ 98 w 624"/>
              <a:gd name="T41" fmla="*/ 463 h 732"/>
              <a:gd name="T42" fmla="*/ 112 w 624"/>
              <a:gd name="T43" fmla="*/ 463 h 732"/>
              <a:gd name="T44" fmla="*/ 145 w 624"/>
              <a:gd name="T45" fmla="*/ 430 h 732"/>
              <a:gd name="T46" fmla="*/ 145 w 624"/>
              <a:gd name="T47" fmla="*/ 264 h 732"/>
              <a:gd name="T48" fmla="*/ 112 w 624"/>
              <a:gd name="T49" fmla="*/ 231 h 732"/>
              <a:gd name="T50" fmla="*/ 98 w 624"/>
              <a:gd name="T51" fmla="*/ 231 h 732"/>
              <a:gd name="T52" fmla="*/ 98 w 624"/>
              <a:gd name="T53" fmla="*/ 214 h 732"/>
              <a:gd name="T54" fmla="*/ 288 w 624"/>
              <a:gd name="T55" fmla="*/ 24 h 732"/>
              <a:gd name="T56" fmla="*/ 335 w 624"/>
              <a:gd name="T57" fmla="*/ 24 h 732"/>
              <a:gd name="T58" fmla="*/ 525 w 624"/>
              <a:gd name="T59" fmla="*/ 214 h 732"/>
              <a:gd name="T60" fmla="*/ 525 w 624"/>
              <a:gd name="T61" fmla="*/ 231 h 732"/>
              <a:gd name="T62" fmla="*/ 511 w 624"/>
              <a:gd name="T63" fmla="*/ 231 h 732"/>
              <a:gd name="T64" fmla="*/ 479 w 624"/>
              <a:gd name="T65" fmla="*/ 264 h 732"/>
              <a:gd name="T66" fmla="*/ 479 w 624"/>
              <a:gd name="T67" fmla="*/ 430 h 732"/>
              <a:gd name="T68" fmla="*/ 511 w 624"/>
              <a:gd name="T69" fmla="*/ 463 h 732"/>
              <a:gd name="T70" fmla="*/ 548 w 624"/>
              <a:gd name="T71" fmla="*/ 463 h 732"/>
              <a:gd name="T72" fmla="*/ 624 w 624"/>
              <a:gd name="T73" fmla="*/ 387 h 732"/>
              <a:gd name="T74" fmla="*/ 624 w 624"/>
              <a:gd name="T75" fmla="*/ 306 h 732"/>
              <a:gd name="T76" fmla="*/ 549 w 624"/>
              <a:gd name="T77" fmla="*/ 231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24" h="732">
                <a:moveTo>
                  <a:pt x="549" y="231"/>
                </a:moveTo>
                <a:cubicBezTo>
                  <a:pt x="549" y="214"/>
                  <a:pt x="549" y="214"/>
                  <a:pt x="549" y="214"/>
                </a:cubicBezTo>
                <a:cubicBezTo>
                  <a:pt x="549" y="96"/>
                  <a:pt x="453" y="0"/>
                  <a:pt x="335" y="0"/>
                </a:cubicBezTo>
                <a:cubicBezTo>
                  <a:pt x="288" y="0"/>
                  <a:pt x="288" y="0"/>
                  <a:pt x="288" y="0"/>
                </a:cubicBezTo>
                <a:cubicBezTo>
                  <a:pt x="170" y="0"/>
                  <a:pt x="74" y="96"/>
                  <a:pt x="74" y="214"/>
                </a:cubicBezTo>
                <a:cubicBezTo>
                  <a:pt x="74" y="231"/>
                  <a:pt x="74" y="231"/>
                  <a:pt x="74" y="231"/>
                </a:cubicBezTo>
                <a:cubicBezTo>
                  <a:pt x="74" y="231"/>
                  <a:pt x="74" y="231"/>
                  <a:pt x="74" y="231"/>
                </a:cubicBezTo>
                <a:cubicBezTo>
                  <a:pt x="33" y="231"/>
                  <a:pt x="0" y="265"/>
                  <a:pt x="0" y="306"/>
                </a:cubicBezTo>
                <a:cubicBezTo>
                  <a:pt x="0" y="387"/>
                  <a:pt x="0" y="387"/>
                  <a:pt x="0" y="387"/>
                </a:cubicBezTo>
                <a:cubicBezTo>
                  <a:pt x="0" y="429"/>
                  <a:pt x="33" y="462"/>
                  <a:pt x="74" y="463"/>
                </a:cubicBezTo>
                <a:cubicBezTo>
                  <a:pt x="74" y="494"/>
                  <a:pt x="74" y="494"/>
                  <a:pt x="74" y="494"/>
                </a:cubicBezTo>
                <a:cubicBezTo>
                  <a:pt x="74" y="595"/>
                  <a:pt x="148" y="685"/>
                  <a:pt x="247" y="704"/>
                </a:cubicBezTo>
                <a:cubicBezTo>
                  <a:pt x="250" y="720"/>
                  <a:pt x="264" y="732"/>
                  <a:pt x="280" y="732"/>
                </a:cubicBezTo>
                <a:cubicBezTo>
                  <a:pt x="343" y="732"/>
                  <a:pt x="343" y="732"/>
                  <a:pt x="343" y="732"/>
                </a:cubicBezTo>
                <a:cubicBezTo>
                  <a:pt x="362" y="732"/>
                  <a:pt x="377" y="717"/>
                  <a:pt x="377" y="698"/>
                </a:cubicBezTo>
                <a:cubicBezTo>
                  <a:pt x="377" y="695"/>
                  <a:pt x="377" y="695"/>
                  <a:pt x="377" y="695"/>
                </a:cubicBezTo>
                <a:cubicBezTo>
                  <a:pt x="377" y="677"/>
                  <a:pt x="362" y="661"/>
                  <a:pt x="343" y="661"/>
                </a:cubicBezTo>
                <a:cubicBezTo>
                  <a:pt x="280" y="661"/>
                  <a:pt x="280" y="661"/>
                  <a:pt x="280" y="661"/>
                </a:cubicBezTo>
                <a:cubicBezTo>
                  <a:pt x="267" y="661"/>
                  <a:pt x="255" y="669"/>
                  <a:pt x="250" y="681"/>
                </a:cubicBezTo>
                <a:cubicBezTo>
                  <a:pt x="163" y="663"/>
                  <a:pt x="98" y="583"/>
                  <a:pt x="98" y="494"/>
                </a:cubicBezTo>
                <a:cubicBezTo>
                  <a:pt x="98" y="463"/>
                  <a:pt x="98" y="463"/>
                  <a:pt x="98" y="463"/>
                </a:cubicBezTo>
                <a:cubicBezTo>
                  <a:pt x="112" y="463"/>
                  <a:pt x="112" y="463"/>
                  <a:pt x="112" y="463"/>
                </a:cubicBezTo>
                <a:cubicBezTo>
                  <a:pt x="130" y="463"/>
                  <a:pt x="145" y="448"/>
                  <a:pt x="145" y="430"/>
                </a:cubicBezTo>
                <a:cubicBezTo>
                  <a:pt x="145" y="264"/>
                  <a:pt x="145" y="264"/>
                  <a:pt x="145" y="264"/>
                </a:cubicBezTo>
                <a:cubicBezTo>
                  <a:pt x="145" y="246"/>
                  <a:pt x="130" y="231"/>
                  <a:pt x="112" y="231"/>
                </a:cubicBezTo>
                <a:cubicBezTo>
                  <a:pt x="98" y="231"/>
                  <a:pt x="98" y="231"/>
                  <a:pt x="98" y="231"/>
                </a:cubicBezTo>
                <a:cubicBezTo>
                  <a:pt x="98" y="214"/>
                  <a:pt x="98" y="214"/>
                  <a:pt x="98" y="214"/>
                </a:cubicBezTo>
                <a:cubicBezTo>
                  <a:pt x="98" y="109"/>
                  <a:pt x="183" y="24"/>
                  <a:pt x="288" y="24"/>
                </a:cubicBezTo>
                <a:cubicBezTo>
                  <a:pt x="335" y="24"/>
                  <a:pt x="335" y="24"/>
                  <a:pt x="335" y="24"/>
                </a:cubicBezTo>
                <a:cubicBezTo>
                  <a:pt x="440" y="24"/>
                  <a:pt x="525" y="109"/>
                  <a:pt x="525" y="214"/>
                </a:cubicBezTo>
                <a:cubicBezTo>
                  <a:pt x="525" y="231"/>
                  <a:pt x="525" y="231"/>
                  <a:pt x="525" y="231"/>
                </a:cubicBezTo>
                <a:cubicBezTo>
                  <a:pt x="511" y="231"/>
                  <a:pt x="511" y="231"/>
                  <a:pt x="511" y="231"/>
                </a:cubicBezTo>
                <a:cubicBezTo>
                  <a:pt x="493" y="231"/>
                  <a:pt x="479" y="246"/>
                  <a:pt x="479" y="264"/>
                </a:cubicBezTo>
                <a:cubicBezTo>
                  <a:pt x="479" y="430"/>
                  <a:pt x="479" y="430"/>
                  <a:pt x="479" y="430"/>
                </a:cubicBezTo>
                <a:cubicBezTo>
                  <a:pt x="479" y="448"/>
                  <a:pt x="493" y="463"/>
                  <a:pt x="511" y="463"/>
                </a:cubicBezTo>
                <a:cubicBezTo>
                  <a:pt x="548" y="463"/>
                  <a:pt x="548" y="463"/>
                  <a:pt x="548" y="463"/>
                </a:cubicBezTo>
                <a:cubicBezTo>
                  <a:pt x="590" y="463"/>
                  <a:pt x="624" y="429"/>
                  <a:pt x="624" y="387"/>
                </a:cubicBezTo>
                <a:cubicBezTo>
                  <a:pt x="624" y="306"/>
                  <a:pt x="624" y="306"/>
                  <a:pt x="624" y="306"/>
                </a:cubicBezTo>
                <a:cubicBezTo>
                  <a:pt x="624" y="265"/>
                  <a:pt x="590" y="231"/>
                  <a:pt x="549" y="23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5">
            <a:extLst>
              <a:ext uri="{FF2B5EF4-FFF2-40B4-BE49-F238E27FC236}">
                <a16:creationId xmlns:a16="http://schemas.microsoft.com/office/drawing/2014/main" id="{A37D52A3-1842-4A9A-82F6-8C064C6BD003}"/>
              </a:ext>
            </a:extLst>
          </p:cNvPr>
          <p:cNvSpPr>
            <a:spLocks noEditPoints="1"/>
          </p:cNvSpPr>
          <p:nvPr userDrawn="1"/>
        </p:nvSpPr>
        <p:spPr bwMode="auto">
          <a:xfrm>
            <a:off x="5642648" y="3185619"/>
            <a:ext cx="234987" cy="331914"/>
          </a:xfrm>
          <a:custGeom>
            <a:avLst/>
            <a:gdLst>
              <a:gd name="T0" fmla="*/ 528 w 553"/>
              <a:gd name="T1" fmla="*/ 102 h 781"/>
              <a:gd name="T2" fmla="*/ 427 w 553"/>
              <a:gd name="T3" fmla="*/ 102 h 781"/>
              <a:gd name="T4" fmla="*/ 427 w 553"/>
              <a:gd name="T5" fmla="*/ 89 h 781"/>
              <a:gd name="T6" fmla="*/ 402 w 553"/>
              <a:gd name="T7" fmla="*/ 63 h 781"/>
              <a:gd name="T8" fmla="*/ 361 w 553"/>
              <a:gd name="T9" fmla="*/ 63 h 781"/>
              <a:gd name="T10" fmla="*/ 276 w 553"/>
              <a:gd name="T11" fmla="*/ 0 h 781"/>
              <a:gd name="T12" fmla="*/ 192 w 553"/>
              <a:gd name="T13" fmla="*/ 63 h 781"/>
              <a:gd name="T14" fmla="*/ 151 w 553"/>
              <a:gd name="T15" fmla="*/ 63 h 781"/>
              <a:gd name="T16" fmla="*/ 125 w 553"/>
              <a:gd name="T17" fmla="*/ 89 h 781"/>
              <a:gd name="T18" fmla="*/ 125 w 553"/>
              <a:gd name="T19" fmla="*/ 102 h 781"/>
              <a:gd name="T20" fmla="*/ 25 w 553"/>
              <a:gd name="T21" fmla="*/ 102 h 781"/>
              <a:gd name="T22" fmla="*/ 0 w 553"/>
              <a:gd name="T23" fmla="*/ 128 h 781"/>
              <a:gd name="T24" fmla="*/ 0 w 553"/>
              <a:gd name="T25" fmla="*/ 756 h 781"/>
              <a:gd name="T26" fmla="*/ 25 w 553"/>
              <a:gd name="T27" fmla="*/ 781 h 781"/>
              <a:gd name="T28" fmla="*/ 528 w 553"/>
              <a:gd name="T29" fmla="*/ 781 h 781"/>
              <a:gd name="T30" fmla="*/ 553 w 553"/>
              <a:gd name="T31" fmla="*/ 756 h 781"/>
              <a:gd name="T32" fmla="*/ 553 w 553"/>
              <a:gd name="T33" fmla="*/ 128 h 781"/>
              <a:gd name="T34" fmla="*/ 528 w 553"/>
              <a:gd name="T35" fmla="*/ 102 h 781"/>
              <a:gd name="T36" fmla="*/ 176 w 553"/>
              <a:gd name="T37" fmla="*/ 114 h 781"/>
              <a:gd name="T38" fmla="*/ 214 w 553"/>
              <a:gd name="T39" fmla="*/ 114 h 781"/>
              <a:gd name="T40" fmla="*/ 239 w 553"/>
              <a:gd name="T41" fmla="*/ 89 h 781"/>
              <a:gd name="T42" fmla="*/ 276 w 553"/>
              <a:gd name="T43" fmla="*/ 51 h 781"/>
              <a:gd name="T44" fmla="*/ 314 w 553"/>
              <a:gd name="T45" fmla="*/ 89 h 781"/>
              <a:gd name="T46" fmla="*/ 339 w 553"/>
              <a:gd name="T47" fmla="*/ 114 h 781"/>
              <a:gd name="T48" fmla="*/ 377 w 553"/>
              <a:gd name="T49" fmla="*/ 114 h 781"/>
              <a:gd name="T50" fmla="*/ 377 w 553"/>
              <a:gd name="T51" fmla="*/ 154 h 781"/>
              <a:gd name="T52" fmla="*/ 176 w 553"/>
              <a:gd name="T53" fmla="*/ 154 h 781"/>
              <a:gd name="T54" fmla="*/ 176 w 553"/>
              <a:gd name="T55" fmla="*/ 114 h 781"/>
              <a:gd name="T56" fmla="*/ 377 w 553"/>
              <a:gd name="T57" fmla="*/ 628 h 781"/>
              <a:gd name="T58" fmla="*/ 176 w 553"/>
              <a:gd name="T59" fmla="*/ 628 h 781"/>
              <a:gd name="T60" fmla="*/ 150 w 553"/>
              <a:gd name="T61" fmla="*/ 603 h 781"/>
              <a:gd name="T62" fmla="*/ 176 w 553"/>
              <a:gd name="T63" fmla="*/ 577 h 781"/>
              <a:gd name="T64" fmla="*/ 377 w 553"/>
              <a:gd name="T65" fmla="*/ 577 h 781"/>
              <a:gd name="T66" fmla="*/ 403 w 553"/>
              <a:gd name="T67" fmla="*/ 603 h 781"/>
              <a:gd name="T68" fmla="*/ 377 w 553"/>
              <a:gd name="T69" fmla="*/ 628 h 781"/>
              <a:gd name="T70" fmla="*/ 377 w 553"/>
              <a:gd name="T71" fmla="*/ 493 h 781"/>
              <a:gd name="T72" fmla="*/ 176 w 553"/>
              <a:gd name="T73" fmla="*/ 493 h 781"/>
              <a:gd name="T74" fmla="*/ 150 w 553"/>
              <a:gd name="T75" fmla="*/ 468 h 781"/>
              <a:gd name="T76" fmla="*/ 176 w 553"/>
              <a:gd name="T77" fmla="*/ 442 h 781"/>
              <a:gd name="T78" fmla="*/ 377 w 553"/>
              <a:gd name="T79" fmla="*/ 442 h 781"/>
              <a:gd name="T80" fmla="*/ 403 w 553"/>
              <a:gd name="T81" fmla="*/ 468 h 781"/>
              <a:gd name="T82" fmla="*/ 377 w 553"/>
              <a:gd name="T83" fmla="*/ 493 h 781"/>
              <a:gd name="T84" fmla="*/ 377 w 553"/>
              <a:gd name="T85" fmla="*/ 358 h 781"/>
              <a:gd name="T86" fmla="*/ 176 w 553"/>
              <a:gd name="T87" fmla="*/ 358 h 781"/>
              <a:gd name="T88" fmla="*/ 150 w 553"/>
              <a:gd name="T89" fmla="*/ 332 h 781"/>
              <a:gd name="T90" fmla="*/ 176 w 553"/>
              <a:gd name="T91" fmla="*/ 307 h 781"/>
              <a:gd name="T92" fmla="*/ 377 w 553"/>
              <a:gd name="T93" fmla="*/ 307 h 781"/>
              <a:gd name="T94" fmla="*/ 403 w 553"/>
              <a:gd name="T95" fmla="*/ 332 h 781"/>
              <a:gd name="T96" fmla="*/ 377 w 553"/>
              <a:gd name="T97" fmla="*/ 358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3" h="781">
                <a:moveTo>
                  <a:pt x="528" y="102"/>
                </a:moveTo>
                <a:cubicBezTo>
                  <a:pt x="427" y="102"/>
                  <a:pt x="427" y="102"/>
                  <a:pt x="427" y="102"/>
                </a:cubicBezTo>
                <a:cubicBezTo>
                  <a:pt x="427" y="89"/>
                  <a:pt x="427" y="89"/>
                  <a:pt x="427" y="89"/>
                </a:cubicBezTo>
                <a:cubicBezTo>
                  <a:pt x="427" y="75"/>
                  <a:pt x="416" y="63"/>
                  <a:pt x="402" y="63"/>
                </a:cubicBezTo>
                <a:cubicBezTo>
                  <a:pt x="361" y="63"/>
                  <a:pt x="361" y="63"/>
                  <a:pt x="361" y="63"/>
                </a:cubicBezTo>
                <a:cubicBezTo>
                  <a:pt x="350" y="27"/>
                  <a:pt x="316" y="0"/>
                  <a:pt x="276" y="0"/>
                </a:cubicBezTo>
                <a:cubicBezTo>
                  <a:pt x="237" y="0"/>
                  <a:pt x="203" y="27"/>
                  <a:pt x="192" y="63"/>
                </a:cubicBezTo>
                <a:cubicBezTo>
                  <a:pt x="151" y="63"/>
                  <a:pt x="151" y="63"/>
                  <a:pt x="151" y="63"/>
                </a:cubicBezTo>
                <a:cubicBezTo>
                  <a:pt x="137" y="63"/>
                  <a:pt x="125" y="75"/>
                  <a:pt x="125" y="89"/>
                </a:cubicBezTo>
                <a:cubicBezTo>
                  <a:pt x="125" y="102"/>
                  <a:pt x="125" y="102"/>
                  <a:pt x="125" y="102"/>
                </a:cubicBezTo>
                <a:cubicBezTo>
                  <a:pt x="25" y="102"/>
                  <a:pt x="25" y="102"/>
                  <a:pt x="25" y="102"/>
                </a:cubicBezTo>
                <a:cubicBezTo>
                  <a:pt x="11" y="102"/>
                  <a:pt x="0" y="114"/>
                  <a:pt x="0" y="128"/>
                </a:cubicBezTo>
                <a:cubicBezTo>
                  <a:pt x="0" y="756"/>
                  <a:pt x="0" y="756"/>
                  <a:pt x="0" y="756"/>
                </a:cubicBezTo>
                <a:cubicBezTo>
                  <a:pt x="0" y="770"/>
                  <a:pt x="11" y="781"/>
                  <a:pt x="25" y="781"/>
                </a:cubicBezTo>
                <a:cubicBezTo>
                  <a:pt x="528" y="781"/>
                  <a:pt x="528" y="781"/>
                  <a:pt x="528" y="781"/>
                </a:cubicBezTo>
                <a:cubicBezTo>
                  <a:pt x="542" y="781"/>
                  <a:pt x="553" y="770"/>
                  <a:pt x="553" y="756"/>
                </a:cubicBezTo>
                <a:cubicBezTo>
                  <a:pt x="553" y="128"/>
                  <a:pt x="553" y="128"/>
                  <a:pt x="553" y="128"/>
                </a:cubicBezTo>
                <a:cubicBezTo>
                  <a:pt x="553" y="114"/>
                  <a:pt x="542" y="102"/>
                  <a:pt x="528" y="102"/>
                </a:cubicBezTo>
                <a:close/>
                <a:moveTo>
                  <a:pt x="176" y="114"/>
                </a:moveTo>
                <a:cubicBezTo>
                  <a:pt x="214" y="114"/>
                  <a:pt x="214" y="114"/>
                  <a:pt x="214" y="114"/>
                </a:cubicBezTo>
                <a:cubicBezTo>
                  <a:pt x="228" y="114"/>
                  <a:pt x="239" y="103"/>
                  <a:pt x="239" y="89"/>
                </a:cubicBezTo>
                <a:cubicBezTo>
                  <a:pt x="239" y="68"/>
                  <a:pt x="256" y="51"/>
                  <a:pt x="276" y="51"/>
                </a:cubicBezTo>
                <a:cubicBezTo>
                  <a:pt x="297" y="51"/>
                  <a:pt x="314" y="68"/>
                  <a:pt x="314" y="89"/>
                </a:cubicBezTo>
                <a:cubicBezTo>
                  <a:pt x="314" y="103"/>
                  <a:pt x="325" y="114"/>
                  <a:pt x="339" y="114"/>
                </a:cubicBezTo>
                <a:cubicBezTo>
                  <a:pt x="377" y="114"/>
                  <a:pt x="377" y="114"/>
                  <a:pt x="377" y="114"/>
                </a:cubicBezTo>
                <a:cubicBezTo>
                  <a:pt x="377" y="120"/>
                  <a:pt x="377" y="151"/>
                  <a:pt x="377" y="154"/>
                </a:cubicBezTo>
                <a:cubicBezTo>
                  <a:pt x="176" y="154"/>
                  <a:pt x="176" y="154"/>
                  <a:pt x="176" y="154"/>
                </a:cubicBezTo>
                <a:cubicBezTo>
                  <a:pt x="176" y="151"/>
                  <a:pt x="176" y="120"/>
                  <a:pt x="176" y="114"/>
                </a:cubicBezTo>
                <a:close/>
                <a:moveTo>
                  <a:pt x="377" y="628"/>
                </a:moveTo>
                <a:cubicBezTo>
                  <a:pt x="176" y="628"/>
                  <a:pt x="176" y="628"/>
                  <a:pt x="176" y="628"/>
                </a:cubicBezTo>
                <a:cubicBezTo>
                  <a:pt x="162" y="628"/>
                  <a:pt x="150" y="617"/>
                  <a:pt x="150" y="603"/>
                </a:cubicBezTo>
                <a:cubicBezTo>
                  <a:pt x="150" y="589"/>
                  <a:pt x="162" y="577"/>
                  <a:pt x="176" y="577"/>
                </a:cubicBezTo>
                <a:cubicBezTo>
                  <a:pt x="377" y="577"/>
                  <a:pt x="377" y="577"/>
                  <a:pt x="377" y="577"/>
                </a:cubicBezTo>
                <a:cubicBezTo>
                  <a:pt x="391" y="577"/>
                  <a:pt x="403" y="589"/>
                  <a:pt x="403" y="603"/>
                </a:cubicBezTo>
                <a:cubicBezTo>
                  <a:pt x="403" y="617"/>
                  <a:pt x="391" y="628"/>
                  <a:pt x="377" y="628"/>
                </a:cubicBezTo>
                <a:close/>
                <a:moveTo>
                  <a:pt x="377" y="493"/>
                </a:moveTo>
                <a:cubicBezTo>
                  <a:pt x="176" y="493"/>
                  <a:pt x="176" y="493"/>
                  <a:pt x="176" y="493"/>
                </a:cubicBezTo>
                <a:cubicBezTo>
                  <a:pt x="162" y="493"/>
                  <a:pt x="150" y="482"/>
                  <a:pt x="150" y="468"/>
                </a:cubicBezTo>
                <a:cubicBezTo>
                  <a:pt x="150" y="453"/>
                  <a:pt x="162" y="442"/>
                  <a:pt x="176" y="442"/>
                </a:cubicBezTo>
                <a:cubicBezTo>
                  <a:pt x="377" y="442"/>
                  <a:pt x="377" y="442"/>
                  <a:pt x="377" y="442"/>
                </a:cubicBezTo>
                <a:cubicBezTo>
                  <a:pt x="391" y="442"/>
                  <a:pt x="403" y="453"/>
                  <a:pt x="403" y="468"/>
                </a:cubicBezTo>
                <a:cubicBezTo>
                  <a:pt x="403" y="482"/>
                  <a:pt x="391" y="493"/>
                  <a:pt x="377" y="493"/>
                </a:cubicBezTo>
                <a:close/>
                <a:moveTo>
                  <a:pt x="377" y="358"/>
                </a:moveTo>
                <a:cubicBezTo>
                  <a:pt x="176" y="358"/>
                  <a:pt x="176" y="358"/>
                  <a:pt x="176" y="358"/>
                </a:cubicBezTo>
                <a:cubicBezTo>
                  <a:pt x="162" y="358"/>
                  <a:pt x="150" y="346"/>
                  <a:pt x="150" y="332"/>
                </a:cubicBezTo>
                <a:cubicBezTo>
                  <a:pt x="150" y="318"/>
                  <a:pt x="162" y="307"/>
                  <a:pt x="176" y="307"/>
                </a:cubicBezTo>
                <a:cubicBezTo>
                  <a:pt x="377" y="307"/>
                  <a:pt x="377" y="307"/>
                  <a:pt x="377" y="307"/>
                </a:cubicBezTo>
                <a:cubicBezTo>
                  <a:pt x="391" y="307"/>
                  <a:pt x="403" y="318"/>
                  <a:pt x="403" y="332"/>
                </a:cubicBezTo>
                <a:cubicBezTo>
                  <a:pt x="403" y="346"/>
                  <a:pt x="391" y="358"/>
                  <a:pt x="377" y="35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Rectangle 226">
            <a:extLst>
              <a:ext uri="{FF2B5EF4-FFF2-40B4-BE49-F238E27FC236}">
                <a16:creationId xmlns:a16="http://schemas.microsoft.com/office/drawing/2014/main" id="{4EAB3CE7-6F49-4F83-9F96-7FFE342AFF88}"/>
              </a:ext>
            </a:extLst>
          </p:cNvPr>
          <p:cNvSpPr/>
          <p:nvPr userDrawn="1"/>
        </p:nvSpPr>
        <p:spPr>
          <a:xfrm>
            <a:off x="11792561" y="1658372"/>
            <a:ext cx="2330814" cy="4407360"/>
          </a:xfrm>
          <a:prstGeom prst="rect">
            <a:avLst/>
          </a:prstGeom>
          <a:noFill/>
        </p:spPr>
        <p:txBody>
          <a:bodyPr wrap="square">
            <a:spAutoFit/>
          </a:bodyPr>
          <a:lstStyle/>
          <a:p>
            <a:pPr marL="0" algn="l" defTabSz="1463040" rtl="0" eaLnBrk="1" latinLnBrk="0" hangingPunct="1">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Resize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maintain proportions, press and hold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corner sizing handle.</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keep the center in the same place, press and hold </a:t>
            </a:r>
            <a:r>
              <a:rPr lang="en-US" sz="1600" b="1">
                <a:latin typeface="Arial" panose="020B0604020202020204" pitchFamily="34" charset="0"/>
                <a:ea typeface="Noto Sans" panose="020B0502040504020204" pitchFamily="34" charset="0"/>
                <a:cs typeface="Arial" panose="020B0604020202020204" pitchFamily="34" charset="0"/>
              </a:rPr>
              <a:t>CTRL</a:t>
            </a:r>
            <a:r>
              <a:rPr lang="en-US" sz="1600">
                <a:latin typeface="Arial" panose="020B0604020202020204" pitchFamily="34" charset="0"/>
                <a:ea typeface="Noto Sans" panose="020B0502040504020204" pitchFamily="34" charset="0"/>
                <a:cs typeface="Arial" panose="020B0604020202020204" pitchFamily="34" charset="0"/>
              </a:rPr>
              <a:t> and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sizing handle.</a:t>
            </a:r>
          </a:p>
          <a:p>
            <a:pPr>
              <a:lnSpc>
                <a:spcPct val="90000"/>
              </a:lnSpc>
              <a:spcBef>
                <a:spcPts val="600"/>
              </a:spcBef>
              <a:spcAft>
                <a:spcPts val="600"/>
              </a:spcAft>
              <a:buClr>
                <a:schemeClr val="bg1">
                  <a:lumMod val="50000"/>
                </a:schemeClr>
              </a:buClr>
              <a:tabLst>
                <a:tab pos="225425" algn="l"/>
              </a:tabLst>
            </a:pPr>
            <a:endParaRPr lang="en-US" sz="1600">
              <a:latin typeface="Arial" panose="020B0604020202020204" pitchFamily="34" charset="0"/>
              <a:ea typeface="Noto Sans" panose="020B0502040504020204" pitchFamily="34" charset="0"/>
              <a:cs typeface="Arial" panose="020B0604020202020204" pitchFamily="34" charset="0"/>
            </a:endParaRPr>
          </a:p>
          <a:p>
            <a:pPr>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Recolor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You can change the color of the icons through </a:t>
            </a:r>
            <a:r>
              <a:rPr lang="en-US" sz="1600" b="1">
                <a:latin typeface="Arial" panose="020B0604020202020204" pitchFamily="34" charset="0"/>
                <a:ea typeface="Noto Sans" panose="020B0502040504020204" pitchFamily="34" charset="0"/>
                <a:cs typeface="Arial" panose="020B0604020202020204" pitchFamily="34" charset="0"/>
              </a:rPr>
              <a:t>Shape Fill</a:t>
            </a:r>
            <a:r>
              <a:rPr lang="en-US" sz="1600">
                <a:latin typeface="Arial" panose="020B0604020202020204" pitchFamily="34" charset="0"/>
                <a:ea typeface="Noto Sans" panose="020B0502040504020204" pitchFamily="34" charset="0"/>
                <a:cs typeface="Arial" panose="020B0604020202020204" pitchFamily="34" charset="0"/>
              </a:rPr>
              <a:t>.</a:t>
            </a:r>
          </a:p>
        </p:txBody>
      </p:sp>
    </p:spTree>
    <p:extLst>
      <p:ext uri="{BB962C8B-B14F-4D97-AF65-F5344CB8AC3E}">
        <p14:creationId xmlns:p14="http://schemas.microsoft.com/office/powerpoint/2010/main" val="18669618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con Library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Icon Library to Copy/Paste, Fill Color Can Be Changed as Needed</a:t>
            </a:r>
          </a:p>
        </p:txBody>
      </p:sp>
      <p:sp>
        <p:nvSpPr>
          <p:cNvPr id="192" name="Freeform 27"/>
          <p:cNvSpPr>
            <a:spLocks noEditPoints="1"/>
          </p:cNvSpPr>
          <p:nvPr userDrawn="1"/>
        </p:nvSpPr>
        <p:spPr bwMode="auto">
          <a:xfrm>
            <a:off x="10141630" y="2627581"/>
            <a:ext cx="296696" cy="296284"/>
          </a:xfrm>
          <a:custGeom>
            <a:avLst/>
            <a:gdLst>
              <a:gd name="T0" fmla="*/ 385 w 440"/>
              <a:gd name="T1" fmla="*/ 0 h 440"/>
              <a:gd name="T2" fmla="*/ 346 w 440"/>
              <a:gd name="T3" fmla="*/ 16 h 440"/>
              <a:gd name="T4" fmla="*/ 259 w 440"/>
              <a:gd name="T5" fmla="*/ 104 h 440"/>
              <a:gd name="T6" fmla="*/ 236 w 440"/>
              <a:gd name="T7" fmla="*/ 81 h 440"/>
              <a:gd name="T8" fmla="*/ 206 w 440"/>
              <a:gd name="T9" fmla="*/ 81 h 440"/>
              <a:gd name="T10" fmla="*/ 206 w 440"/>
              <a:gd name="T11" fmla="*/ 110 h 440"/>
              <a:gd name="T12" fmla="*/ 229 w 440"/>
              <a:gd name="T13" fmla="*/ 133 h 440"/>
              <a:gd name="T14" fmla="*/ 259 w 440"/>
              <a:gd name="T15" fmla="*/ 162 h 440"/>
              <a:gd name="T16" fmla="*/ 259 w 440"/>
              <a:gd name="T17" fmla="*/ 162 h 440"/>
              <a:gd name="T18" fmla="*/ 278 w 440"/>
              <a:gd name="T19" fmla="*/ 182 h 440"/>
              <a:gd name="T20" fmla="*/ 278 w 440"/>
              <a:gd name="T21" fmla="*/ 182 h 440"/>
              <a:gd name="T22" fmla="*/ 307 w 440"/>
              <a:gd name="T23" fmla="*/ 211 h 440"/>
              <a:gd name="T24" fmla="*/ 307 w 440"/>
              <a:gd name="T25" fmla="*/ 211 h 440"/>
              <a:gd name="T26" fmla="*/ 330 w 440"/>
              <a:gd name="T27" fmla="*/ 234 h 440"/>
              <a:gd name="T28" fmla="*/ 359 w 440"/>
              <a:gd name="T29" fmla="*/ 234 h 440"/>
              <a:gd name="T30" fmla="*/ 359 w 440"/>
              <a:gd name="T31" fmla="*/ 205 h 440"/>
              <a:gd name="T32" fmla="*/ 336 w 440"/>
              <a:gd name="T33" fmla="*/ 182 h 440"/>
              <a:gd name="T34" fmla="*/ 424 w 440"/>
              <a:gd name="T35" fmla="*/ 94 h 440"/>
              <a:gd name="T36" fmla="*/ 440 w 440"/>
              <a:gd name="T37" fmla="*/ 55 h 440"/>
              <a:gd name="T38" fmla="*/ 385 w 440"/>
              <a:gd name="T39" fmla="*/ 0 h 440"/>
              <a:gd name="T40" fmla="*/ 257 w 440"/>
              <a:gd name="T41" fmla="*/ 202 h 440"/>
              <a:gd name="T42" fmla="*/ 238 w 440"/>
              <a:gd name="T43" fmla="*/ 183 h 440"/>
              <a:gd name="T44" fmla="*/ 209 w 440"/>
              <a:gd name="T45" fmla="*/ 154 h 440"/>
              <a:gd name="T46" fmla="*/ 180 w 440"/>
              <a:gd name="T47" fmla="*/ 183 h 440"/>
              <a:gd name="T48" fmla="*/ 37 w 440"/>
              <a:gd name="T49" fmla="*/ 326 h 440"/>
              <a:gd name="T50" fmla="*/ 22 w 440"/>
              <a:gd name="T51" fmla="*/ 379 h 440"/>
              <a:gd name="T52" fmla="*/ 8 w 440"/>
              <a:gd name="T53" fmla="*/ 393 h 440"/>
              <a:gd name="T54" fmla="*/ 0 w 440"/>
              <a:gd name="T55" fmla="*/ 413 h 440"/>
              <a:gd name="T56" fmla="*/ 27 w 440"/>
              <a:gd name="T57" fmla="*/ 440 h 440"/>
              <a:gd name="T58" fmla="*/ 47 w 440"/>
              <a:gd name="T59" fmla="*/ 432 h 440"/>
              <a:gd name="T60" fmla="*/ 61 w 440"/>
              <a:gd name="T61" fmla="*/ 418 h 440"/>
              <a:gd name="T62" fmla="*/ 115 w 440"/>
              <a:gd name="T63" fmla="*/ 403 h 440"/>
              <a:gd name="T64" fmla="*/ 257 w 440"/>
              <a:gd name="T65" fmla="*/ 261 h 440"/>
              <a:gd name="T66" fmla="*/ 287 w 440"/>
              <a:gd name="T67" fmla="*/ 231 h 440"/>
              <a:gd name="T68" fmla="*/ 257 w 440"/>
              <a:gd name="T69" fmla="*/ 202 h 440"/>
              <a:gd name="T70" fmla="*/ 85 w 440"/>
              <a:gd name="T71" fmla="*/ 374 h 440"/>
              <a:gd name="T72" fmla="*/ 66 w 440"/>
              <a:gd name="T73" fmla="*/ 374 h 440"/>
              <a:gd name="T74" fmla="*/ 66 w 440"/>
              <a:gd name="T75" fmla="*/ 355 h 440"/>
              <a:gd name="T76" fmla="*/ 209 w 440"/>
              <a:gd name="T77" fmla="*/ 212 h 440"/>
              <a:gd name="T78" fmla="*/ 228 w 440"/>
              <a:gd name="T79" fmla="*/ 231 h 440"/>
              <a:gd name="T80" fmla="*/ 85 w 440"/>
              <a:gd name="T81" fmla="*/ 374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40" h="440">
                <a:moveTo>
                  <a:pt x="385" y="0"/>
                </a:moveTo>
                <a:cubicBezTo>
                  <a:pt x="370" y="0"/>
                  <a:pt x="356" y="6"/>
                  <a:pt x="346" y="16"/>
                </a:cubicBezTo>
                <a:cubicBezTo>
                  <a:pt x="259" y="104"/>
                  <a:pt x="259" y="104"/>
                  <a:pt x="259" y="104"/>
                </a:cubicBezTo>
                <a:cubicBezTo>
                  <a:pt x="236" y="81"/>
                  <a:pt x="236" y="81"/>
                  <a:pt x="236" y="81"/>
                </a:cubicBezTo>
                <a:cubicBezTo>
                  <a:pt x="227" y="73"/>
                  <a:pt x="214" y="73"/>
                  <a:pt x="206" y="81"/>
                </a:cubicBezTo>
                <a:cubicBezTo>
                  <a:pt x="198" y="89"/>
                  <a:pt x="198" y="102"/>
                  <a:pt x="206" y="110"/>
                </a:cubicBezTo>
                <a:cubicBezTo>
                  <a:pt x="229" y="133"/>
                  <a:pt x="229" y="133"/>
                  <a:pt x="229" y="133"/>
                </a:cubicBezTo>
                <a:cubicBezTo>
                  <a:pt x="259" y="162"/>
                  <a:pt x="259" y="162"/>
                  <a:pt x="259" y="162"/>
                </a:cubicBezTo>
                <a:cubicBezTo>
                  <a:pt x="259" y="162"/>
                  <a:pt x="259" y="162"/>
                  <a:pt x="259" y="162"/>
                </a:cubicBezTo>
                <a:cubicBezTo>
                  <a:pt x="278" y="182"/>
                  <a:pt x="278" y="182"/>
                  <a:pt x="278" y="182"/>
                </a:cubicBezTo>
                <a:cubicBezTo>
                  <a:pt x="278" y="182"/>
                  <a:pt x="278" y="182"/>
                  <a:pt x="278" y="182"/>
                </a:cubicBezTo>
                <a:cubicBezTo>
                  <a:pt x="307" y="211"/>
                  <a:pt x="307" y="211"/>
                  <a:pt x="307" y="211"/>
                </a:cubicBezTo>
                <a:cubicBezTo>
                  <a:pt x="307" y="211"/>
                  <a:pt x="307" y="211"/>
                  <a:pt x="307" y="211"/>
                </a:cubicBezTo>
                <a:cubicBezTo>
                  <a:pt x="330" y="234"/>
                  <a:pt x="330" y="234"/>
                  <a:pt x="330" y="234"/>
                </a:cubicBezTo>
                <a:cubicBezTo>
                  <a:pt x="338" y="242"/>
                  <a:pt x="351" y="242"/>
                  <a:pt x="359" y="234"/>
                </a:cubicBezTo>
                <a:cubicBezTo>
                  <a:pt x="367" y="226"/>
                  <a:pt x="367" y="213"/>
                  <a:pt x="359" y="205"/>
                </a:cubicBezTo>
                <a:cubicBezTo>
                  <a:pt x="336" y="182"/>
                  <a:pt x="336" y="182"/>
                  <a:pt x="336" y="182"/>
                </a:cubicBezTo>
                <a:cubicBezTo>
                  <a:pt x="424" y="94"/>
                  <a:pt x="424" y="94"/>
                  <a:pt x="424" y="94"/>
                </a:cubicBezTo>
                <a:cubicBezTo>
                  <a:pt x="434" y="84"/>
                  <a:pt x="440" y="70"/>
                  <a:pt x="440" y="55"/>
                </a:cubicBezTo>
                <a:cubicBezTo>
                  <a:pt x="440" y="24"/>
                  <a:pt x="416" y="0"/>
                  <a:pt x="385" y="0"/>
                </a:cubicBezTo>
                <a:close/>
                <a:moveTo>
                  <a:pt x="257" y="202"/>
                </a:moveTo>
                <a:cubicBezTo>
                  <a:pt x="238" y="183"/>
                  <a:pt x="238" y="183"/>
                  <a:pt x="238" y="183"/>
                </a:cubicBezTo>
                <a:cubicBezTo>
                  <a:pt x="209" y="154"/>
                  <a:pt x="209" y="154"/>
                  <a:pt x="209" y="154"/>
                </a:cubicBezTo>
                <a:cubicBezTo>
                  <a:pt x="180" y="183"/>
                  <a:pt x="180" y="183"/>
                  <a:pt x="180" y="183"/>
                </a:cubicBezTo>
                <a:cubicBezTo>
                  <a:pt x="37" y="326"/>
                  <a:pt x="37" y="326"/>
                  <a:pt x="37" y="326"/>
                </a:cubicBezTo>
                <a:cubicBezTo>
                  <a:pt x="22" y="340"/>
                  <a:pt x="18" y="360"/>
                  <a:pt x="22" y="379"/>
                </a:cubicBezTo>
                <a:cubicBezTo>
                  <a:pt x="8" y="393"/>
                  <a:pt x="8" y="393"/>
                  <a:pt x="8" y="393"/>
                </a:cubicBezTo>
                <a:cubicBezTo>
                  <a:pt x="3" y="398"/>
                  <a:pt x="0" y="405"/>
                  <a:pt x="0" y="413"/>
                </a:cubicBezTo>
                <a:cubicBezTo>
                  <a:pt x="0" y="428"/>
                  <a:pt x="12" y="440"/>
                  <a:pt x="27" y="440"/>
                </a:cubicBezTo>
                <a:cubicBezTo>
                  <a:pt x="35" y="440"/>
                  <a:pt x="42" y="437"/>
                  <a:pt x="47" y="432"/>
                </a:cubicBezTo>
                <a:cubicBezTo>
                  <a:pt x="61" y="418"/>
                  <a:pt x="61" y="418"/>
                  <a:pt x="61" y="418"/>
                </a:cubicBezTo>
                <a:cubicBezTo>
                  <a:pt x="80" y="423"/>
                  <a:pt x="100" y="418"/>
                  <a:pt x="115" y="403"/>
                </a:cubicBezTo>
                <a:cubicBezTo>
                  <a:pt x="257" y="261"/>
                  <a:pt x="257" y="261"/>
                  <a:pt x="257" y="261"/>
                </a:cubicBezTo>
                <a:cubicBezTo>
                  <a:pt x="287" y="231"/>
                  <a:pt x="287" y="231"/>
                  <a:pt x="287" y="231"/>
                </a:cubicBezTo>
                <a:lnTo>
                  <a:pt x="257" y="202"/>
                </a:lnTo>
                <a:close/>
                <a:moveTo>
                  <a:pt x="85" y="374"/>
                </a:moveTo>
                <a:cubicBezTo>
                  <a:pt x="80" y="380"/>
                  <a:pt x="71" y="380"/>
                  <a:pt x="66" y="374"/>
                </a:cubicBezTo>
                <a:cubicBezTo>
                  <a:pt x="60" y="369"/>
                  <a:pt x="60" y="360"/>
                  <a:pt x="66" y="355"/>
                </a:cubicBezTo>
                <a:cubicBezTo>
                  <a:pt x="209" y="212"/>
                  <a:pt x="209" y="212"/>
                  <a:pt x="209" y="212"/>
                </a:cubicBezTo>
                <a:cubicBezTo>
                  <a:pt x="228" y="231"/>
                  <a:pt x="228" y="231"/>
                  <a:pt x="228" y="231"/>
                </a:cubicBezTo>
                <a:lnTo>
                  <a:pt x="85" y="37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20" name="Group 219"/>
          <p:cNvGrpSpPr/>
          <p:nvPr userDrawn="1"/>
        </p:nvGrpSpPr>
        <p:grpSpPr>
          <a:xfrm>
            <a:off x="9595401" y="3212057"/>
            <a:ext cx="239134" cy="279468"/>
            <a:chOff x="6038850" y="2592388"/>
            <a:chExt cx="395288" cy="461963"/>
          </a:xfrm>
          <a:solidFill>
            <a:schemeClr val="tx1"/>
          </a:solidFill>
        </p:grpSpPr>
        <p:sp>
          <p:nvSpPr>
            <p:cNvPr id="221" name="Freeform 36"/>
            <p:cNvSpPr>
              <a:spLocks noEditPoints="1"/>
            </p:cNvSpPr>
            <p:nvPr/>
          </p:nvSpPr>
          <p:spPr bwMode="auto">
            <a:xfrm>
              <a:off x="6038850" y="2592388"/>
              <a:ext cx="177800" cy="461963"/>
            </a:xfrm>
            <a:custGeom>
              <a:avLst/>
              <a:gdLst>
                <a:gd name="T0" fmla="*/ 70 w 78"/>
                <a:gd name="T1" fmla="*/ 0 h 203"/>
                <a:gd name="T2" fmla="*/ 7 w 78"/>
                <a:gd name="T3" fmla="*/ 0 h 203"/>
                <a:gd name="T4" fmla="*/ 0 w 78"/>
                <a:gd name="T5" fmla="*/ 8 h 203"/>
                <a:gd name="T6" fmla="*/ 7 w 78"/>
                <a:gd name="T7" fmla="*/ 16 h 203"/>
                <a:gd name="T8" fmla="*/ 7 w 78"/>
                <a:gd name="T9" fmla="*/ 172 h 203"/>
                <a:gd name="T10" fmla="*/ 39 w 78"/>
                <a:gd name="T11" fmla="*/ 203 h 203"/>
                <a:gd name="T12" fmla="*/ 70 w 78"/>
                <a:gd name="T13" fmla="*/ 172 h 203"/>
                <a:gd name="T14" fmla="*/ 70 w 78"/>
                <a:gd name="T15" fmla="*/ 16 h 203"/>
                <a:gd name="T16" fmla="*/ 78 w 78"/>
                <a:gd name="T17" fmla="*/ 8 h 203"/>
                <a:gd name="T18" fmla="*/ 70 w 78"/>
                <a:gd name="T19" fmla="*/ 0 h 203"/>
                <a:gd name="T20" fmla="*/ 60 w 78"/>
                <a:gd name="T21" fmla="*/ 132 h 203"/>
                <a:gd name="T22" fmla="*/ 26 w 78"/>
                <a:gd name="T23" fmla="*/ 132 h 203"/>
                <a:gd name="T24" fmla="*/ 26 w 78"/>
                <a:gd name="T25" fmla="*/ 172 h 203"/>
                <a:gd name="T26" fmla="*/ 32 w 78"/>
                <a:gd name="T27" fmla="*/ 193 h 203"/>
                <a:gd name="T28" fmla="*/ 17 w 78"/>
                <a:gd name="T29" fmla="*/ 172 h 203"/>
                <a:gd name="T30" fmla="*/ 17 w 78"/>
                <a:gd name="T31" fmla="*/ 16 h 203"/>
                <a:gd name="T32" fmla="*/ 60 w 78"/>
                <a:gd name="T33" fmla="*/ 16 h 203"/>
                <a:gd name="T34" fmla="*/ 60 w 78"/>
                <a:gd name="T35" fmla="*/ 132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 h="203">
                  <a:moveTo>
                    <a:pt x="70" y="0"/>
                  </a:moveTo>
                  <a:cubicBezTo>
                    <a:pt x="7" y="0"/>
                    <a:pt x="7" y="0"/>
                    <a:pt x="7" y="0"/>
                  </a:cubicBezTo>
                  <a:cubicBezTo>
                    <a:pt x="3" y="0"/>
                    <a:pt x="0" y="4"/>
                    <a:pt x="0" y="8"/>
                  </a:cubicBezTo>
                  <a:cubicBezTo>
                    <a:pt x="0" y="12"/>
                    <a:pt x="3" y="16"/>
                    <a:pt x="7" y="16"/>
                  </a:cubicBezTo>
                  <a:cubicBezTo>
                    <a:pt x="7" y="172"/>
                    <a:pt x="7" y="172"/>
                    <a:pt x="7" y="172"/>
                  </a:cubicBezTo>
                  <a:cubicBezTo>
                    <a:pt x="7" y="189"/>
                    <a:pt x="21" y="203"/>
                    <a:pt x="39" y="203"/>
                  </a:cubicBezTo>
                  <a:cubicBezTo>
                    <a:pt x="56" y="203"/>
                    <a:pt x="70" y="189"/>
                    <a:pt x="70" y="172"/>
                  </a:cubicBezTo>
                  <a:cubicBezTo>
                    <a:pt x="70" y="16"/>
                    <a:pt x="70" y="16"/>
                    <a:pt x="70" y="16"/>
                  </a:cubicBezTo>
                  <a:cubicBezTo>
                    <a:pt x="74" y="16"/>
                    <a:pt x="78" y="12"/>
                    <a:pt x="78" y="8"/>
                  </a:cubicBezTo>
                  <a:cubicBezTo>
                    <a:pt x="78" y="4"/>
                    <a:pt x="74" y="0"/>
                    <a:pt x="70" y="0"/>
                  </a:cubicBezTo>
                  <a:close/>
                  <a:moveTo>
                    <a:pt x="60" y="132"/>
                  </a:moveTo>
                  <a:cubicBezTo>
                    <a:pt x="26" y="132"/>
                    <a:pt x="26" y="132"/>
                    <a:pt x="26" y="132"/>
                  </a:cubicBezTo>
                  <a:cubicBezTo>
                    <a:pt x="26" y="143"/>
                    <a:pt x="26" y="164"/>
                    <a:pt x="26" y="172"/>
                  </a:cubicBezTo>
                  <a:cubicBezTo>
                    <a:pt x="26" y="180"/>
                    <a:pt x="28" y="189"/>
                    <a:pt x="32" y="193"/>
                  </a:cubicBezTo>
                  <a:cubicBezTo>
                    <a:pt x="23" y="190"/>
                    <a:pt x="17" y="182"/>
                    <a:pt x="17" y="172"/>
                  </a:cubicBezTo>
                  <a:cubicBezTo>
                    <a:pt x="17" y="16"/>
                    <a:pt x="17" y="16"/>
                    <a:pt x="17" y="16"/>
                  </a:cubicBezTo>
                  <a:cubicBezTo>
                    <a:pt x="60" y="16"/>
                    <a:pt x="60" y="16"/>
                    <a:pt x="60" y="16"/>
                  </a:cubicBezTo>
                  <a:lnTo>
                    <a:pt x="60" y="13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7"/>
            <p:cNvSpPr>
              <a:spLocks noEditPoints="1"/>
            </p:cNvSpPr>
            <p:nvPr/>
          </p:nvSpPr>
          <p:spPr bwMode="auto">
            <a:xfrm>
              <a:off x="6256338" y="2592388"/>
              <a:ext cx="177800" cy="461963"/>
            </a:xfrm>
            <a:custGeom>
              <a:avLst/>
              <a:gdLst>
                <a:gd name="T0" fmla="*/ 71 w 78"/>
                <a:gd name="T1" fmla="*/ 0 h 203"/>
                <a:gd name="T2" fmla="*/ 8 w 78"/>
                <a:gd name="T3" fmla="*/ 0 h 203"/>
                <a:gd name="T4" fmla="*/ 0 w 78"/>
                <a:gd name="T5" fmla="*/ 8 h 203"/>
                <a:gd name="T6" fmla="*/ 8 w 78"/>
                <a:gd name="T7" fmla="*/ 16 h 203"/>
                <a:gd name="T8" fmla="*/ 8 w 78"/>
                <a:gd name="T9" fmla="*/ 172 h 203"/>
                <a:gd name="T10" fmla="*/ 39 w 78"/>
                <a:gd name="T11" fmla="*/ 203 h 203"/>
                <a:gd name="T12" fmla="*/ 71 w 78"/>
                <a:gd name="T13" fmla="*/ 172 h 203"/>
                <a:gd name="T14" fmla="*/ 71 w 78"/>
                <a:gd name="T15" fmla="*/ 16 h 203"/>
                <a:gd name="T16" fmla="*/ 78 w 78"/>
                <a:gd name="T17" fmla="*/ 8 h 203"/>
                <a:gd name="T18" fmla="*/ 71 w 78"/>
                <a:gd name="T19" fmla="*/ 0 h 203"/>
                <a:gd name="T20" fmla="*/ 61 w 78"/>
                <a:gd name="T21" fmla="*/ 66 h 203"/>
                <a:gd name="T22" fmla="*/ 26 w 78"/>
                <a:gd name="T23" fmla="*/ 66 h 203"/>
                <a:gd name="T24" fmla="*/ 26 w 78"/>
                <a:gd name="T25" fmla="*/ 172 h 203"/>
                <a:gd name="T26" fmla="*/ 32 w 78"/>
                <a:gd name="T27" fmla="*/ 193 h 203"/>
                <a:gd name="T28" fmla="*/ 18 w 78"/>
                <a:gd name="T29" fmla="*/ 172 h 203"/>
                <a:gd name="T30" fmla="*/ 18 w 78"/>
                <a:gd name="T31" fmla="*/ 16 h 203"/>
                <a:gd name="T32" fmla="*/ 61 w 78"/>
                <a:gd name="T33" fmla="*/ 16 h 203"/>
                <a:gd name="T34" fmla="*/ 61 w 78"/>
                <a:gd name="T35" fmla="*/ 6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 h="203">
                  <a:moveTo>
                    <a:pt x="71" y="0"/>
                  </a:moveTo>
                  <a:cubicBezTo>
                    <a:pt x="8" y="0"/>
                    <a:pt x="8" y="0"/>
                    <a:pt x="8" y="0"/>
                  </a:cubicBezTo>
                  <a:cubicBezTo>
                    <a:pt x="4" y="0"/>
                    <a:pt x="0" y="4"/>
                    <a:pt x="0" y="8"/>
                  </a:cubicBezTo>
                  <a:cubicBezTo>
                    <a:pt x="0" y="12"/>
                    <a:pt x="4" y="16"/>
                    <a:pt x="8" y="16"/>
                  </a:cubicBezTo>
                  <a:cubicBezTo>
                    <a:pt x="8" y="172"/>
                    <a:pt x="8" y="172"/>
                    <a:pt x="8" y="172"/>
                  </a:cubicBezTo>
                  <a:cubicBezTo>
                    <a:pt x="8" y="189"/>
                    <a:pt x="22" y="203"/>
                    <a:pt x="39" y="203"/>
                  </a:cubicBezTo>
                  <a:cubicBezTo>
                    <a:pt x="57" y="203"/>
                    <a:pt x="71" y="189"/>
                    <a:pt x="71" y="172"/>
                  </a:cubicBezTo>
                  <a:cubicBezTo>
                    <a:pt x="71" y="16"/>
                    <a:pt x="71" y="16"/>
                    <a:pt x="71" y="16"/>
                  </a:cubicBezTo>
                  <a:cubicBezTo>
                    <a:pt x="75" y="16"/>
                    <a:pt x="78" y="12"/>
                    <a:pt x="78" y="8"/>
                  </a:cubicBezTo>
                  <a:cubicBezTo>
                    <a:pt x="78" y="4"/>
                    <a:pt x="75" y="0"/>
                    <a:pt x="71" y="0"/>
                  </a:cubicBezTo>
                  <a:close/>
                  <a:moveTo>
                    <a:pt x="61" y="66"/>
                  </a:moveTo>
                  <a:cubicBezTo>
                    <a:pt x="26" y="66"/>
                    <a:pt x="26" y="66"/>
                    <a:pt x="26" y="66"/>
                  </a:cubicBezTo>
                  <a:cubicBezTo>
                    <a:pt x="26" y="77"/>
                    <a:pt x="26" y="164"/>
                    <a:pt x="26" y="172"/>
                  </a:cubicBezTo>
                  <a:cubicBezTo>
                    <a:pt x="26" y="180"/>
                    <a:pt x="29" y="189"/>
                    <a:pt x="32" y="193"/>
                  </a:cubicBezTo>
                  <a:cubicBezTo>
                    <a:pt x="24" y="190"/>
                    <a:pt x="18" y="182"/>
                    <a:pt x="18" y="172"/>
                  </a:cubicBezTo>
                  <a:cubicBezTo>
                    <a:pt x="18" y="16"/>
                    <a:pt x="18" y="16"/>
                    <a:pt x="18" y="16"/>
                  </a:cubicBezTo>
                  <a:cubicBezTo>
                    <a:pt x="61" y="16"/>
                    <a:pt x="61" y="16"/>
                    <a:pt x="61" y="16"/>
                  </a:cubicBezTo>
                  <a:lnTo>
                    <a:pt x="61" y="6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23" name="Group 222"/>
          <p:cNvGrpSpPr/>
          <p:nvPr userDrawn="1"/>
        </p:nvGrpSpPr>
        <p:grpSpPr>
          <a:xfrm>
            <a:off x="10193941" y="3207736"/>
            <a:ext cx="192074" cy="288110"/>
            <a:chOff x="7210425" y="2586038"/>
            <a:chExt cx="317500" cy="476250"/>
          </a:xfrm>
          <a:solidFill>
            <a:schemeClr val="tx1"/>
          </a:solidFill>
        </p:grpSpPr>
        <p:sp>
          <p:nvSpPr>
            <p:cNvPr id="224" name="Freeform 38"/>
            <p:cNvSpPr>
              <a:spLocks/>
            </p:cNvSpPr>
            <p:nvPr/>
          </p:nvSpPr>
          <p:spPr bwMode="auto">
            <a:xfrm>
              <a:off x="7210425" y="2586038"/>
              <a:ext cx="317500" cy="476250"/>
            </a:xfrm>
            <a:custGeom>
              <a:avLst/>
              <a:gdLst>
                <a:gd name="T0" fmla="*/ 89 w 140"/>
                <a:gd name="T1" fmla="*/ 105 h 210"/>
                <a:gd name="T2" fmla="*/ 140 w 140"/>
                <a:gd name="T3" fmla="*/ 9 h 210"/>
                <a:gd name="T4" fmla="*/ 132 w 140"/>
                <a:gd name="T5" fmla="*/ 0 h 210"/>
                <a:gd name="T6" fmla="*/ 123 w 140"/>
                <a:gd name="T7" fmla="*/ 9 h 210"/>
                <a:gd name="T8" fmla="*/ 70 w 140"/>
                <a:gd name="T9" fmla="*/ 95 h 210"/>
                <a:gd name="T10" fmla="*/ 18 w 140"/>
                <a:gd name="T11" fmla="*/ 9 h 210"/>
                <a:gd name="T12" fmla="*/ 9 w 140"/>
                <a:gd name="T13" fmla="*/ 0 h 210"/>
                <a:gd name="T14" fmla="*/ 0 w 140"/>
                <a:gd name="T15" fmla="*/ 9 h 210"/>
                <a:gd name="T16" fmla="*/ 52 w 140"/>
                <a:gd name="T17" fmla="*/ 105 h 210"/>
                <a:gd name="T18" fmla="*/ 0 w 140"/>
                <a:gd name="T19" fmla="*/ 201 h 210"/>
                <a:gd name="T20" fmla="*/ 9 w 140"/>
                <a:gd name="T21" fmla="*/ 210 h 210"/>
                <a:gd name="T22" fmla="*/ 18 w 140"/>
                <a:gd name="T23" fmla="*/ 201 h 210"/>
                <a:gd name="T24" fmla="*/ 70 w 140"/>
                <a:gd name="T25" fmla="*/ 115 h 210"/>
                <a:gd name="T26" fmla="*/ 123 w 140"/>
                <a:gd name="T27" fmla="*/ 201 h 210"/>
                <a:gd name="T28" fmla="*/ 132 w 140"/>
                <a:gd name="T29" fmla="*/ 210 h 210"/>
                <a:gd name="T30" fmla="*/ 140 w 140"/>
                <a:gd name="T31" fmla="*/ 201 h 210"/>
                <a:gd name="T32" fmla="*/ 89 w 140"/>
                <a:gd name="T33" fmla="*/ 10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0" h="210">
                  <a:moveTo>
                    <a:pt x="89" y="105"/>
                  </a:moveTo>
                  <a:cubicBezTo>
                    <a:pt x="123" y="84"/>
                    <a:pt x="140" y="51"/>
                    <a:pt x="140" y="9"/>
                  </a:cubicBezTo>
                  <a:cubicBezTo>
                    <a:pt x="140" y="4"/>
                    <a:pt x="137" y="0"/>
                    <a:pt x="132" y="0"/>
                  </a:cubicBezTo>
                  <a:cubicBezTo>
                    <a:pt x="127" y="0"/>
                    <a:pt x="123" y="4"/>
                    <a:pt x="123" y="9"/>
                  </a:cubicBezTo>
                  <a:cubicBezTo>
                    <a:pt x="123" y="49"/>
                    <a:pt x="105" y="78"/>
                    <a:pt x="70" y="95"/>
                  </a:cubicBezTo>
                  <a:cubicBezTo>
                    <a:pt x="35" y="78"/>
                    <a:pt x="18" y="49"/>
                    <a:pt x="18" y="9"/>
                  </a:cubicBezTo>
                  <a:cubicBezTo>
                    <a:pt x="18" y="4"/>
                    <a:pt x="14" y="0"/>
                    <a:pt x="9" y="0"/>
                  </a:cubicBezTo>
                  <a:cubicBezTo>
                    <a:pt x="4" y="0"/>
                    <a:pt x="0" y="4"/>
                    <a:pt x="0" y="9"/>
                  </a:cubicBezTo>
                  <a:cubicBezTo>
                    <a:pt x="0" y="51"/>
                    <a:pt x="18" y="84"/>
                    <a:pt x="52" y="105"/>
                  </a:cubicBezTo>
                  <a:cubicBezTo>
                    <a:pt x="18" y="126"/>
                    <a:pt x="0" y="159"/>
                    <a:pt x="0" y="201"/>
                  </a:cubicBezTo>
                  <a:cubicBezTo>
                    <a:pt x="0" y="206"/>
                    <a:pt x="4" y="210"/>
                    <a:pt x="9" y="210"/>
                  </a:cubicBezTo>
                  <a:cubicBezTo>
                    <a:pt x="14" y="210"/>
                    <a:pt x="18" y="206"/>
                    <a:pt x="18" y="201"/>
                  </a:cubicBezTo>
                  <a:cubicBezTo>
                    <a:pt x="18" y="161"/>
                    <a:pt x="35" y="132"/>
                    <a:pt x="70" y="115"/>
                  </a:cubicBezTo>
                  <a:cubicBezTo>
                    <a:pt x="105" y="132"/>
                    <a:pt x="123" y="161"/>
                    <a:pt x="123" y="201"/>
                  </a:cubicBezTo>
                  <a:cubicBezTo>
                    <a:pt x="123" y="206"/>
                    <a:pt x="127" y="210"/>
                    <a:pt x="132" y="210"/>
                  </a:cubicBezTo>
                  <a:cubicBezTo>
                    <a:pt x="137" y="210"/>
                    <a:pt x="140" y="206"/>
                    <a:pt x="140" y="201"/>
                  </a:cubicBezTo>
                  <a:cubicBezTo>
                    <a:pt x="140" y="159"/>
                    <a:pt x="123" y="126"/>
                    <a:pt x="89" y="10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9"/>
            <p:cNvSpPr>
              <a:spLocks/>
            </p:cNvSpPr>
            <p:nvPr/>
          </p:nvSpPr>
          <p:spPr bwMode="auto">
            <a:xfrm>
              <a:off x="7269163" y="2614613"/>
              <a:ext cx="201613" cy="20638"/>
            </a:xfrm>
            <a:custGeom>
              <a:avLst/>
              <a:gdLst>
                <a:gd name="T0" fmla="*/ 84 w 89"/>
                <a:gd name="T1" fmla="*/ 9 h 9"/>
                <a:gd name="T2" fmla="*/ 5 w 89"/>
                <a:gd name="T3" fmla="*/ 9 h 9"/>
                <a:gd name="T4" fmla="*/ 0 w 89"/>
                <a:gd name="T5" fmla="*/ 5 h 9"/>
                <a:gd name="T6" fmla="*/ 5 w 89"/>
                <a:gd name="T7" fmla="*/ 0 h 9"/>
                <a:gd name="T8" fmla="*/ 84 w 89"/>
                <a:gd name="T9" fmla="*/ 0 h 9"/>
                <a:gd name="T10" fmla="*/ 89 w 89"/>
                <a:gd name="T11" fmla="*/ 5 h 9"/>
                <a:gd name="T12" fmla="*/ 84 w 89"/>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89" h="9">
                  <a:moveTo>
                    <a:pt x="84" y="9"/>
                  </a:moveTo>
                  <a:cubicBezTo>
                    <a:pt x="5" y="9"/>
                    <a:pt x="5" y="9"/>
                    <a:pt x="5" y="9"/>
                  </a:cubicBezTo>
                  <a:cubicBezTo>
                    <a:pt x="2" y="9"/>
                    <a:pt x="0" y="7"/>
                    <a:pt x="0" y="5"/>
                  </a:cubicBezTo>
                  <a:cubicBezTo>
                    <a:pt x="0" y="2"/>
                    <a:pt x="2" y="0"/>
                    <a:pt x="5" y="0"/>
                  </a:cubicBezTo>
                  <a:cubicBezTo>
                    <a:pt x="84" y="0"/>
                    <a:pt x="84" y="0"/>
                    <a:pt x="84" y="0"/>
                  </a:cubicBezTo>
                  <a:cubicBezTo>
                    <a:pt x="86" y="0"/>
                    <a:pt x="89" y="2"/>
                    <a:pt x="89" y="5"/>
                  </a:cubicBezTo>
                  <a:cubicBezTo>
                    <a:pt x="89" y="7"/>
                    <a:pt x="86" y="9"/>
                    <a:pt x="84"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40"/>
            <p:cNvSpPr>
              <a:spLocks/>
            </p:cNvSpPr>
            <p:nvPr/>
          </p:nvSpPr>
          <p:spPr bwMode="auto">
            <a:xfrm>
              <a:off x="7283450" y="2676525"/>
              <a:ext cx="174625" cy="22225"/>
            </a:xfrm>
            <a:custGeom>
              <a:avLst/>
              <a:gdLst>
                <a:gd name="T0" fmla="*/ 72 w 77"/>
                <a:gd name="T1" fmla="*/ 10 h 10"/>
                <a:gd name="T2" fmla="*/ 5 w 77"/>
                <a:gd name="T3" fmla="*/ 10 h 10"/>
                <a:gd name="T4" fmla="*/ 0 w 77"/>
                <a:gd name="T5" fmla="*/ 5 h 10"/>
                <a:gd name="T6" fmla="*/ 5 w 77"/>
                <a:gd name="T7" fmla="*/ 0 h 10"/>
                <a:gd name="T8" fmla="*/ 72 w 77"/>
                <a:gd name="T9" fmla="*/ 0 h 10"/>
                <a:gd name="T10" fmla="*/ 77 w 77"/>
                <a:gd name="T11" fmla="*/ 5 h 10"/>
                <a:gd name="T12" fmla="*/ 72 w 77"/>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77" h="10">
                  <a:moveTo>
                    <a:pt x="72" y="10"/>
                  </a:moveTo>
                  <a:cubicBezTo>
                    <a:pt x="5" y="10"/>
                    <a:pt x="5" y="10"/>
                    <a:pt x="5" y="10"/>
                  </a:cubicBezTo>
                  <a:cubicBezTo>
                    <a:pt x="2" y="10"/>
                    <a:pt x="0" y="8"/>
                    <a:pt x="0" y="5"/>
                  </a:cubicBezTo>
                  <a:cubicBezTo>
                    <a:pt x="0" y="2"/>
                    <a:pt x="2" y="0"/>
                    <a:pt x="5" y="0"/>
                  </a:cubicBezTo>
                  <a:cubicBezTo>
                    <a:pt x="72" y="0"/>
                    <a:pt x="72" y="0"/>
                    <a:pt x="72" y="0"/>
                  </a:cubicBezTo>
                  <a:cubicBezTo>
                    <a:pt x="75" y="0"/>
                    <a:pt x="77" y="2"/>
                    <a:pt x="77" y="5"/>
                  </a:cubicBezTo>
                  <a:cubicBezTo>
                    <a:pt x="77" y="8"/>
                    <a:pt x="75" y="10"/>
                    <a:pt x="72"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41"/>
            <p:cNvSpPr>
              <a:spLocks/>
            </p:cNvSpPr>
            <p:nvPr/>
          </p:nvSpPr>
          <p:spPr bwMode="auto">
            <a:xfrm>
              <a:off x="7323138" y="2740025"/>
              <a:ext cx="92075" cy="20638"/>
            </a:xfrm>
            <a:custGeom>
              <a:avLst/>
              <a:gdLst>
                <a:gd name="T0" fmla="*/ 36 w 40"/>
                <a:gd name="T1" fmla="*/ 9 h 9"/>
                <a:gd name="T2" fmla="*/ 5 w 40"/>
                <a:gd name="T3" fmla="*/ 9 h 9"/>
                <a:gd name="T4" fmla="*/ 0 w 40"/>
                <a:gd name="T5" fmla="*/ 4 h 9"/>
                <a:gd name="T6" fmla="*/ 5 w 40"/>
                <a:gd name="T7" fmla="*/ 0 h 9"/>
                <a:gd name="T8" fmla="*/ 36 w 40"/>
                <a:gd name="T9" fmla="*/ 0 h 9"/>
                <a:gd name="T10" fmla="*/ 40 w 40"/>
                <a:gd name="T11" fmla="*/ 4 h 9"/>
                <a:gd name="T12" fmla="*/ 36 w 40"/>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40" h="9">
                  <a:moveTo>
                    <a:pt x="36" y="9"/>
                  </a:moveTo>
                  <a:cubicBezTo>
                    <a:pt x="5" y="9"/>
                    <a:pt x="5" y="9"/>
                    <a:pt x="5" y="9"/>
                  </a:cubicBezTo>
                  <a:cubicBezTo>
                    <a:pt x="3" y="9"/>
                    <a:pt x="0" y="7"/>
                    <a:pt x="0" y="4"/>
                  </a:cubicBezTo>
                  <a:cubicBezTo>
                    <a:pt x="0" y="2"/>
                    <a:pt x="3" y="0"/>
                    <a:pt x="5" y="0"/>
                  </a:cubicBezTo>
                  <a:cubicBezTo>
                    <a:pt x="36" y="0"/>
                    <a:pt x="36" y="0"/>
                    <a:pt x="36" y="0"/>
                  </a:cubicBezTo>
                  <a:cubicBezTo>
                    <a:pt x="38" y="0"/>
                    <a:pt x="40" y="2"/>
                    <a:pt x="40" y="4"/>
                  </a:cubicBezTo>
                  <a:cubicBezTo>
                    <a:pt x="40" y="7"/>
                    <a:pt x="38" y="9"/>
                    <a:pt x="36"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42"/>
            <p:cNvSpPr>
              <a:spLocks/>
            </p:cNvSpPr>
            <p:nvPr/>
          </p:nvSpPr>
          <p:spPr bwMode="auto">
            <a:xfrm>
              <a:off x="7323138" y="2887663"/>
              <a:ext cx="92075" cy="20638"/>
            </a:xfrm>
            <a:custGeom>
              <a:avLst/>
              <a:gdLst>
                <a:gd name="T0" fmla="*/ 36 w 40"/>
                <a:gd name="T1" fmla="*/ 9 h 9"/>
                <a:gd name="T2" fmla="*/ 5 w 40"/>
                <a:gd name="T3" fmla="*/ 9 h 9"/>
                <a:gd name="T4" fmla="*/ 0 w 40"/>
                <a:gd name="T5" fmla="*/ 5 h 9"/>
                <a:gd name="T6" fmla="*/ 5 w 40"/>
                <a:gd name="T7" fmla="*/ 0 h 9"/>
                <a:gd name="T8" fmla="*/ 36 w 40"/>
                <a:gd name="T9" fmla="*/ 0 h 9"/>
                <a:gd name="T10" fmla="*/ 40 w 40"/>
                <a:gd name="T11" fmla="*/ 5 h 9"/>
                <a:gd name="T12" fmla="*/ 36 w 40"/>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40" h="9">
                  <a:moveTo>
                    <a:pt x="36" y="9"/>
                  </a:moveTo>
                  <a:cubicBezTo>
                    <a:pt x="5" y="9"/>
                    <a:pt x="5" y="9"/>
                    <a:pt x="5" y="9"/>
                  </a:cubicBezTo>
                  <a:cubicBezTo>
                    <a:pt x="3" y="9"/>
                    <a:pt x="0" y="7"/>
                    <a:pt x="0" y="5"/>
                  </a:cubicBezTo>
                  <a:cubicBezTo>
                    <a:pt x="0" y="2"/>
                    <a:pt x="3" y="0"/>
                    <a:pt x="5" y="0"/>
                  </a:cubicBezTo>
                  <a:cubicBezTo>
                    <a:pt x="36" y="0"/>
                    <a:pt x="36" y="0"/>
                    <a:pt x="36" y="0"/>
                  </a:cubicBezTo>
                  <a:cubicBezTo>
                    <a:pt x="38" y="0"/>
                    <a:pt x="40" y="2"/>
                    <a:pt x="40" y="5"/>
                  </a:cubicBezTo>
                  <a:cubicBezTo>
                    <a:pt x="40" y="7"/>
                    <a:pt x="38" y="9"/>
                    <a:pt x="36"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43"/>
            <p:cNvSpPr>
              <a:spLocks/>
            </p:cNvSpPr>
            <p:nvPr/>
          </p:nvSpPr>
          <p:spPr bwMode="auto">
            <a:xfrm>
              <a:off x="7283450" y="2949575"/>
              <a:ext cx="174625" cy="22225"/>
            </a:xfrm>
            <a:custGeom>
              <a:avLst/>
              <a:gdLst>
                <a:gd name="T0" fmla="*/ 72 w 77"/>
                <a:gd name="T1" fmla="*/ 10 h 10"/>
                <a:gd name="T2" fmla="*/ 5 w 77"/>
                <a:gd name="T3" fmla="*/ 10 h 10"/>
                <a:gd name="T4" fmla="*/ 0 w 77"/>
                <a:gd name="T5" fmla="*/ 5 h 10"/>
                <a:gd name="T6" fmla="*/ 5 w 77"/>
                <a:gd name="T7" fmla="*/ 0 h 10"/>
                <a:gd name="T8" fmla="*/ 72 w 77"/>
                <a:gd name="T9" fmla="*/ 0 h 10"/>
                <a:gd name="T10" fmla="*/ 77 w 77"/>
                <a:gd name="T11" fmla="*/ 5 h 10"/>
                <a:gd name="T12" fmla="*/ 72 w 77"/>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77" h="10">
                  <a:moveTo>
                    <a:pt x="72" y="10"/>
                  </a:moveTo>
                  <a:cubicBezTo>
                    <a:pt x="5" y="10"/>
                    <a:pt x="5" y="10"/>
                    <a:pt x="5" y="10"/>
                  </a:cubicBezTo>
                  <a:cubicBezTo>
                    <a:pt x="2" y="10"/>
                    <a:pt x="0" y="8"/>
                    <a:pt x="0" y="5"/>
                  </a:cubicBezTo>
                  <a:cubicBezTo>
                    <a:pt x="0" y="2"/>
                    <a:pt x="2" y="0"/>
                    <a:pt x="5" y="0"/>
                  </a:cubicBezTo>
                  <a:cubicBezTo>
                    <a:pt x="72" y="0"/>
                    <a:pt x="72" y="0"/>
                    <a:pt x="72" y="0"/>
                  </a:cubicBezTo>
                  <a:cubicBezTo>
                    <a:pt x="75" y="0"/>
                    <a:pt x="77" y="2"/>
                    <a:pt x="77" y="5"/>
                  </a:cubicBezTo>
                  <a:cubicBezTo>
                    <a:pt x="77" y="8"/>
                    <a:pt x="75" y="10"/>
                    <a:pt x="72"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44"/>
            <p:cNvSpPr>
              <a:spLocks/>
            </p:cNvSpPr>
            <p:nvPr/>
          </p:nvSpPr>
          <p:spPr bwMode="auto">
            <a:xfrm>
              <a:off x="7269163" y="3013075"/>
              <a:ext cx="201613" cy="20638"/>
            </a:xfrm>
            <a:custGeom>
              <a:avLst/>
              <a:gdLst>
                <a:gd name="T0" fmla="*/ 84 w 89"/>
                <a:gd name="T1" fmla="*/ 9 h 9"/>
                <a:gd name="T2" fmla="*/ 5 w 89"/>
                <a:gd name="T3" fmla="*/ 9 h 9"/>
                <a:gd name="T4" fmla="*/ 0 w 89"/>
                <a:gd name="T5" fmla="*/ 4 h 9"/>
                <a:gd name="T6" fmla="*/ 5 w 89"/>
                <a:gd name="T7" fmla="*/ 0 h 9"/>
                <a:gd name="T8" fmla="*/ 84 w 89"/>
                <a:gd name="T9" fmla="*/ 0 h 9"/>
                <a:gd name="T10" fmla="*/ 89 w 89"/>
                <a:gd name="T11" fmla="*/ 4 h 9"/>
                <a:gd name="T12" fmla="*/ 84 w 89"/>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89" h="9">
                  <a:moveTo>
                    <a:pt x="84" y="9"/>
                  </a:moveTo>
                  <a:cubicBezTo>
                    <a:pt x="5" y="9"/>
                    <a:pt x="5" y="9"/>
                    <a:pt x="5" y="9"/>
                  </a:cubicBezTo>
                  <a:cubicBezTo>
                    <a:pt x="2" y="9"/>
                    <a:pt x="0" y="7"/>
                    <a:pt x="0" y="4"/>
                  </a:cubicBezTo>
                  <a:cubicBezTo>
                    <a:pt x="0" y="2"/>
                    <a:pt x="2" y="0"/>
                    <a:pt x="5" y="0"/>
                  </a:cubicBezTo>
                  <a:cubicBezTo>
                    <a:pt x="84" y="0"/>
                    <a:pt x="84" y="0"/>
                    <a:pt x="84" y="0"/>
                  </a:cubicBezTo>
                  <a:cubicBezTo>
                    <a:pt x="86" y="0"/>
                    <a:pt x="89" y="2"/>
                    <a:pt x="89" y="4"/>
                  </a:cubicBezTo>
                  <a:cubicBezTo>
                    <a:pt x="89" y="7"/>
                    <a:pt x="86" y="9"/>
                    <a:pt x="84"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31" name="Group 230"/>
          <p:cNvGrpSpPr/>
          <p:nvPr userDrawn="1"/>
        </p:nvGrpSpPr>
        <p:grpSpPr>
          <a:xfrm>
            <a:off x="10157447" y="2069428"/>
            <a:ext cx="265062" cy="328446"/>
            <a:chOff x="1531938" y="3673475"/>
            <a:chExt cx="438150" cy="542925"/>
          </a:xfrm>
          <a:solidFill>
            <a:schemeClr val="tx1"/>
          </a:solidFill>
        </p:grpSpPr>
        <p:sp>
          <p:nvSpPr>
            <p:cNvPr id="232" name="Freeform 47"/>
            <p:cNvSpPr>
              <a:spLocks noEditPoints="1"/>
            </p:cNvSpPr>
            <p:nvPr/>
          </p:nvSpPr>
          <p:spPr bwMode="auto">
            <a:xfrm>
              <a:off x="1531938" y="3673475"/>
              <a:ext cx="438150" cy="542925"/>
            </a:xfrm>
            <a:custGeom>
              <a:avLst/>
              <a:gdLst>
                <a:gd name="T0" fmla="*/ 163 w 193"/>
                <a:gd name="T1" fmla="*/ 17 h 239"/>
                <a:gd name="T2" fmla="*/ 89 w 193"/>
                <a:gd name="T3" fmla="*/ 30 h 239"/>
                <a:gd name="T4" fmla="*/ 38 w 193"/>
                <a:gd name="T5" fmla="*/ 102 h 239"/>
                <a:gd name="T6" fmla="*/ 27 w 193"/>
                <a:gd name="T7" fmla="*/ 136 h 239"/>
                <a:gd name="T8" fmla="*/ 25 w 193"/>
                <a:gd name="T9" fmla="*/ 176 h 239"/>
                <a:gd name="T10" fmla="*/ 7 w 193"/>
                <a:gd name="T11" fmla="*/ 201 h 239"/>
                <a:gd name="T12" fmla="*/ 13 w 193"/>
                <a:gd name="T13" fmla="*/ 232 h 239"/>
                <a:gd name="T14" fmla="*/ 43 w 193"/>
                <a:gd name="T15" fmla="*/ 226 h 239"/>
                <a:gd name="T16" fmla="*/ 61 w 193"/>
                <a:gd name="T17" fmla="*/ 201 h 239"/>
                <a:gd name="T18" fmla="*/ 98 w 193"/>
                <a:gd name="T19" fmla="*/ 185 h 239"/>
                <a:gd name="T20" fmla="*/ 126 w 193"/>
                <a:gd name="T21" fmla="*/ 163 h 239"/>
                <a:gd name="T22" fmla="*/ 176 w 193"/>
                <a:gd name="T23" fmla="*/ 91 h 239"/>
                <a:gd name="T24" fmla="*/ 163 w 193"/>
                <a:gd name="T25" fmla="*/ 17 h 239"/>
                <a:gd name="T26" fmla="*/ 118 w 193"/>
                <a:gd name="T27" fmla="*/ 157 h 239"/>
                <a:gd name="T28" fmla="*/ 94 w 193"/>
                <a:gd name="T29" fmla="*/ 176 h 239"/>
                <a:gd name="T30" fmla="*/ 55 w 193"/>
                <a:gd name="T31" fmla="*/ 193 h 239"/>
                <a:gd name="T32" fmla="*/ 35 w 193"/>
                <a:gd name="T33" fmla="*/ 179 h 239"/>
                <a:gd name="T34" fmla="*/ 37 w 193"/>
                <a:gd name="T35" fmla="*/ 136 h 239"/>
                <a:gd name="T36" fmla="*/ 41 w 193"/>
                <a:gd name="T37" fmla="*/ 120 h 239"/>
                <a:gd name="T38" fmla="*/ 55 w 193"/>
                <a:gd name="T39" fmla="*/ 129 h 239"/>
                <a:gd name="T40" fmla="*/ 60 w 193"/>
                <a:gd name="T41" fmla="*/ 121 h 239"/>
                <a:gd name="T42" fmla="*/ 45 w 193"/>
                <a:gd name="T43" fmla="*/ 110 h 239"/>
                <a:gd name="T44" fmla="*/ 47 w 193"/>
                <a:gd name="T45" fmla="*/ 108 h 239"/>
                <a:gd name="T46" fmla="*/ 63 w 193"/>
                <a:gd name="T47" fmla="*/ 85 h 239"/>
                <a:gd name="T48" fmla="*/ 78 w 193"/>
                <a:gd name="T49" fmla="*/ 96 h 239"/>
                <a:gd name="T50" fmla="*/ 84 w 193"/>
                <a:gd name="T51" fmla="*/ 88 h 239"/>
                <a:gd name="T52" fmla="*/ 68 w 193"/>
                <a:gd name="T53" fmla="*/ 77 h 239"/>
                <a:gd name="T54" fmla="*/ 86 w 193"/>
                <a:gd name="T55" fmla="*/ 52 h 239"/>
                <a:gd name="T56" fmla="*/ 101 w 193"/>
                <a:gd name="T57" fmla="*/ 63 h 239"/>
                <a:gd name="T58" fmla="*/ 107 w 193"/>
                <a:gd name="T59" fmla="*/ 54 h 239"/>
                <a:gd name="T60" fmla="*/ 92 w 193"/>
                <a:gd name="T61" fmla="*/ 44 h 239"/>
                <a:gd name="T62" fmla="*/ 97 w 193"/>
                <a:gd name="T63" fmla="*/ 36 h 239"/>
                <a:gd name="T64" fmla="*/ 157 w 193"/>
                <a:gd name="T65" fmla="*/ 25 h 239"/>
                <a:gd name="T66" fmla="*/ 168 w 193"/>
                <a:gd name="T67" fmla="*/ 85 h 239"/>
                <a:gd name="T68" fmla="*/ 118 w 193"/>
                <a:gd name="T69" fmla="*/ 157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3" h="239">
                  <a:moveTo>
                    <a:pt x="163" y="17"/>
                  </a:moveTo>
                  <a:cubicBezTo>
                    <a:pt x="139" y="0"/>
                    <a:pt x="106" y="6"/>
                    <a:pt x="89" y="30"/>
                  </a:cubicBezTo>
                  <a:cubicBezTo>
                    <a:pt x="38" y="102"/>
                    <a:pt x="38" y="102"/>
                    <a:pt x="38" y="102"/>
                  </a:cubicBezTo>
                  <a:cubicBezTo>
                    <a:pt x="33" y="110"/>
                    <a:pt x="27" y="125"/>
                    <a:pt x="27" y="136"/>
                  </a:cubicBezTo>
                  <a:cubicBezTo>
                    <a:pt x="25" y="176"/>
                    <a:pt x="25" y="176"/>
                    <a:pt x="25" y="176"/>
                  </a:cubicBezTo>
                  <a:cubicBezTo>
                    <a:pt x="7" y="201"/>
                    <a:pt x="7" y="201"/>
                    <a:pt x="7" y="201"/>
                  </a:cubicBezTo>
                  <a:cubicBezTo>
                    <a:pt x="0" y="211"/>
                    <a:pt x="3" y="225"/>
                    <a:pt x="13" y="232"/>
                  </a:cubicBezTo>
                  <a:cubicBezTo>
                    <a:pt x="23" y="239"/>
                    <a:pt x="36" y="236"/>
                    <a:pt x="43" y="226"/>
                  </a:cubicBezTo>
                  <a:cubicBezTo>
                    <a:pt x="61" y="201"/>
                    <a:pt x="61" y="201"/>
                    <a:pt x="61" y="201"/>
                  </a:cubicBezTo>
                  <a:cubicBezTo>
                    <a:pt x="98" y="185"/>
                    <a:pt x="98" y="185"/>
                    <a:pt x="98" y="185"/>
                  </a:cubicBezTo>
                  <a:cubicBezTo>
                    <a:pt x="108" y="181"/>
                    <a:pt x="120" y="172"/>
                    <a:pt x="126" y="163"/>
                  </a:cubicBezTo>
                  <a:cubicBezTo>
                    <a:pt x="176" y="91"/>
                    <a:pt x="176" y="91"/>
                    <a:pt x="176" y="91"/>
                  </a:cubicBezTo>
                  <a:cubicBezTo>
                    <a:pt x="193" y="67"/>
                    <a:pt x="187" y="34"/>
                    <a:pt x="163" y="17"/>
                  </a:cubicBezTo>
                  <a:close/>
                  <a:moveTo>
                    <a:pt x="118" y="157"/>
                  </a:moveTo>
                  <a:cubicBezTo>
                    <a:pt x="113" y="164"/>
                    <a:pt x="102" y="173"/>
                    <a:pt x="94" y="176"/>
                  </a:cubicBezTo>
                  <a:cubicBezTo>
                    <a:pt x="55" y="193"/>
                    <a:pt x="55" y="193"/>
                    <a:pt x="55" y="193"/>
                  </a:cubicBezTo>
                  <a:cubicBezTo>
                    <a:pt x="35" y="179"/>
                    <a:pt x="35" y="179"/>
                    <a:pt x="35" y="179"/>
                  </a:cubicBezTo>
                  <a:cubicBezTo>
                    <a:pt x="37" y="136"/>
                    <a:pt x="37" y="136"/>
                    <a:pt x="37" y="136"/>
                  </a:cubicBezTo>
                  <a:cubicBezTo>
                    <a:pt x="37" y="131"/>
                    <a:pt x="39" y="125"/>
                    <a:pt x="41" y="120"/>
                  </a:cubicBezTo>
                  <a:cubicBezTo>
                    <a:pt x="55" y="129"/>
                    <a:pt x="55" y="129"/>
                    <a:pt x="55" y="129"/>
                  </a:cubicBezTo>
                  <a:cubicBezTo>
                    <a:pt x="60" y="121"/>
                    <a:pt x="60" y="121"/>
                    <a:pt x="60" y="121"/>
                  </a:cubicBezTo>
                  <a:cubicBezTo>
                    <a:pt x="45" y="110"/>
                    <a:pt x="45" y="110"/>
                    <a:pt x="45" y="110"/>
                  </a:cubicBezTo>
                  <a:cubicBezTo>
                    <a:pt x="46" y="109"/>
                    <a:pt x="46" y="109"/>
                    <a:pt x="47" y="108"/>
                  </a:cubicBezTo>
                  <a:cubicBezTo>
                    <a:pt x="63" y="85"/>
                    <a:pt x="63" y="85"/>
                    <a:pt x="63" y="85"/>
                  </a:cubicBezTo>
                  <a:cubicBezTo>
                    <a:pt x="78" y="96"/>
                    <a:pt x="78" y="96"/>
                    <a:pt x="78" y="96"/>
                  </a:cubicBezTo>
                  <a:cubicBezTo>
                    <a:pt x="84" y="88"/>
                    <a:pt x="84" y="88"/>
                    <a:pt x="84" y="88"/>
                  </a:cubicBezTo>
                  <a:cubicBezTo>
                    <a:pt x="68" y="77"/>
                    <a:pt x="68" y="77"/>
                    <a:pt x="68" y="77"/>
                  </a:cubicBezTo>
                  <a:cubicBezTo>
                    <a:pt x="86" y="52"/>
                    <a:pt x="86" y="52"/>
                    <a:pt x="86" y="52"/>
                  </a:cubicBezTo>
                  <a:cubicBezTo>
                    <a:pt x="101" y="63"/>
                    <a:pt x="101" y="63"/>
                    <a:pt x="101" y="63"/>
                  </a:cubicBezTo>
                  <a:cubicBezTo>
                    <a:pt x="107" y="54"/>
                    <a:pt x="107" y="54"/>
                    <a:pt x="107" y="54"/>
                  </a:cubicBezTo>
                  <a:cubicBezTo>
                    <a:pt x="92" y="44"/>
                    <a:pt x="92" y="44"/>
                    <a:pt x="92" y="44"/>
                  </a:cubicBezTo>
                  <a:cubicBezTo>
                    <a:pt x="97" y="36"/>
                    <a:pt x="97" y="36"/>
                    <a:pt x="97" y="36"/>
                  </a:cubicBezTo>
                  <a:cubicBezTo>
                    <a:pt x="111" y="16"/>
                    <a:pt x="138" y="12"/>
                    <a:pt x="157" y="25"/>
                  </a:cubicBezTo>
                  <a:cubicBezTo>
                    <a:pt x="177" y="39"/>
                    <a:pt x="182" y="66"/>
                    <a:pt x="168" y="85"/>
                  </a:cubicBezTo>
                  <a:lnTo>
                    <a:pt x="118" y="15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48"/>
            <p:cNvSpPr>
              <a:spLocks/>
            </p:cNvSpPr>
            <p:nvPr/>
          </p:nvSpPr>
          <p:spPr bwMode="auto">
            <a:xfrm>
              <a:off x="1663700" y="3784600"/>
              <a:ext cx="195263" cy="260350"/>
            </a:xfrm>
            <a:custGeom>
              <a:avLst/>
              <a:gdLst>
                <a:gd name="T0" fmla="*/ 5 w 86"/>
                <a:gd name="T1" fmla="*/ 110 h 114"/>
                <a:gd name="T2" fmla="*/ 3 w 86"/>
                <a:gd name="T3" fmla="*/ 96 h 114"/>
                <a:gd name="T4" fmla="*/ 66 w 86"/>
                <a:gd name="T5" fmla="*/ 6 h 114"/>
                <a:gd name="T6" fmla="*/ 80 w 86"/>
                <a:gd name="T7" fmla="*/ 3 h 114"/>
                <a:gd name="T8" fmla="*/ 83 w 86"/>
                <a:gd name="T9" fmla="*/ 17 h 114"/>
                <a:gd name="T10" fmla="*/ 19 w 86"/>
                <a:gd name="T11" fmla="*/ 108 h 114"/>
                <a:gd name="T12" fmla="*/ 5 w 86"/>
                <a:gd name="T13" fmla="*/ 110 h 114"/>
              </a:gdLst>
              <a:ahLst/>
              <a:cxnLst>
                <a:cxn ang="0">
                  <a:pos x="T0" y="T1"/>
                </a:cxn>
                <a:cxn ang="0">
                  <a:pos x="T2" y="T3"/>
                </a:cxn>
                <a:cxn ang="0">
                  <a:pos x="T4" y="T5"/>
                </a:cxn>
                <a:cxn ang="0">
                  <a:pos x="T6" y="T7"/>
                </a:cxn>
                <a:cxn ang="0">
                  <a:pos x="T8" y="T9"/>
                </a:cxn>
                <a:cxn ang="0">
                  <a:pos x="T10" y="T11"/>
                </a:cxn>
                <a:cxn ang="0">
                  <a:pos x="T12" y="T13"/>
                </a:cxn>
              </a:cxnLst>
              <a:rect l="0" t="0" r="r" b="b"/>
              <a:pathLst>
                <a:path w="86" h="114">
                  <a:moveTo>
                    <a:pt x="5" y="110"/>
                  </a:moveTo>
                  <a:cubicBezTo>
                    <a:pt x="1" y="107"/>
                    <a:pt x="0" y="101"/>
                    <a:pt x="3" y="96"/>
                  </a:cubicBezTo>
                  <a:cubicBezTo>
                    <a:pt x="66" y="6"/>
                    <a:pt x="66" y="6"/>
                    <a:pt x="66" y="6"/>
                  </a:cubicBezTo>
                  <a:cubicBezTo>
                    <a:pt x="69" y="1"/>
                    <a:pt x="76" y="0"/>
                    <a:pt x="80" y="3"/>
                  </a:cubicBezTo>
                  <a:cubicBezTo>
                    <a:pt x="85" y="7"/>
                    <a:pt x="86" y="13"/>
                    <a:pt x="83" y="17"/>
                  </a:cubicBezTo>
                  <a:cubicBezTo>
                    <a:pt x="19" y="108"/>
                    <a:pt x="19" y="108"/>
                    <a:pt x="19" y="108"/>
                  </a:cubicBezTo>
                  <a:cubicBezTo>
                    <a:pt x="16" y="112"/>
                    <a:pt x="10" y="114"/>
                    <a:pt x="5" y="11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63" name="Group 162"/>
          <p:cNvGrpSpPr/>
          <p:nvPr userDrawn="1"/>
        </p:nvGrpSpPr>
        <p:grpSpPr>
          <a:xfrm>
            <a:off x="10960296" y="5575499"/>
            <a:ext cx="352920" cy="289920"/>
            <a:chOff x="6075363" y="3471863"/>
            <a:chExt cx="871538" cy="715963"/>
          </a:xfrm>
          <a:solidFill>
            <a:schemeClr val="tx1"/>
          </a:solidFill>
        </p:grpSpPr>
        <p:sp>
          <p:nvSpPr>
            <p:cNvPr id="164" name="Rectangle 27"/>
            <p:cNvSpPr>
              <a:spLocks noChangeArrowheads="1"/>
            </p:cNvSpPr>
            <p:nvPr/>
          </p:nvSpPr>
          <p:spPr bwMode="auto">
            <a:xfrm>
              <a:off x="6545263" y="3835400"/>
              <a:ext cx="96838" cy="968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Rectangle 28"/>
            <p:cNvSpPr>
              <a:spLocks noChangeArrowheads="1"/>
            </p:cNvSpPr>
            <p:nvPr/>
          </p:nvSpPr>
          <p:spPr bwMode="auto">
            <a:xfrm>
              <a:off x="6269038" y="3578225"/>
              <a:ext cx="7461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Rectangle 29"/>
            <p:cNvSpPr>
              <a:spLocks noChangeArrowheads="1"/>
            </p:cNvSpPr>
            <p:nvPr/>
          </p:nvSpPr>
          <p:spPr bwMode="auto">
            <a:xfrm>
              <a:off x="6269038" y="3692525"/>
              <a:ext cx="74613" cy="793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Rectangle 30"/>
            <p:cNvSpPr>
              <a:spLocks noChangeArrowheads="1"/>
            </p:cNvSpPr>
            <p:nvPr/>
          </p:nvSpPr>
          <p:spPr bwMode="auto">
            <a:xfrm>
              <a:off x="6386513" y="3578225"/>
              <a:ext cx="7461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1"/>
            <p:cNvSpPr>
              <a:spLocks noEditPoints="1"/>
            </p:cNvSpPr>
            <p:nvPr/>
          </p:nvSpPr>
          <p:spPr bwMode="auto">
            <a:xfrm>
              <a:off x="6075363" y="3471863"/>
              <a:ext cx="871538" cy="715963"/>
            </a:xfrm>
            <a:custGeom>
              <a:avLst/>
              <a:gdLst>
                <a:gd name="T0" fmla="*/ 280 w 289"/>
                <a:gd name="T1" fmla="*/ 221 h 237"/>
                <a:gd name="T2" fmla="*/ 258 w 289"/>
                <a:gd name="T3" fmla="*/ 221 h 237"/>
                <a:gd name="T4" fmla="*/ 258 w 289"/>
                <a:gd name="T5" fmla="*/ 115 h 237"/>
                <a:gd name="T6" fmla="*/ 254 w 289"/>
                <a:gd name="T7" fmla="*/ 107 h 237"/>
                <a:gd name="T8" fmla="*/ 182 w 289"/>
                <a:gd name="T9" fmla="*/ 49 h 237"/>
                <a:gd name="T10" fmla="*/ 169 w 289"/>
                <a:gd name="T11" fmla="*/ 49 h 237"/>
                <a:gd name="T12" fmla="*/ 164 w 289"/>
                <a:gd name="T13" fmla="*/ 53 h 237"/>
                <a:gd name="T14" fmla="*/ 164 w 289"/>
                <a:gd name="T15" fmla="*/ 11 h 237"/>
                <a:gd name="T16" fmla="*/ 153 w 289"/>
                <a:gd name="T17" fmla="*/ 0 h 237"/>
                <a:gd name="T18" fmla="*/ 39 w 289"/>
                <a:gd name="T19" fmla="*/ 0 h 237"/>
                <a:gd name="T20" fmla="*/ 28 w 289"/>
                <a:gd name="T21" fmla="*/ 11 h 237"/>
                <a:gd name="T22" fmla="*/ 28 w 289"/>
                <a:gd name="T23" fmla="*/ 221 h 237"/>
                <a:gd name="T24" fmla="*/ 9 w 289"/>
                <a:gd name="T25" fmla="*/ 221 h 237"/>
                <a:gd name="T26" fmla="*/ 0 w 289"/>
                <a:gd name="T27" fmla="*/ 230 h 237"/>
                <a:gd name="T28" fmla="*/ 0 w 289"/>
                <a:gd name="T29" fmla="*/ 237 h 237"/>
                <a:gd name="T30" fmla="*/ 289 w 289"/>
                <a:gd name="T31" fmla="*/ 237 h 237"/>
                <a:gd name="T32" fmla="*/ 289 w 289"/>
                <a:gd name="T33" fmla="*/ 230 h 237"/>
                <a:gd name="T34" fmla="*/ 280 w 289"/>
                <a:gd name="T35" fmla="*/ 221 h 237"/>
                <a:gd name="T36" fmla="*/ 175 w 289"/>
                <a:gd name="T37" fmla="*/ 71 h 237"/>
                <a:gd name="T38" fmla="*/ 237 w 289"/>
                <a:gd name="T39" fmla="*/ 121 h 237"/>
                <a:gd name="T40" fmla="*/ 237 w 289"/>
                <a:gd name="T41" fmla="*/ 221 h 237"/>
                <a:gd name="T42" fmla="*/ 202 w 289"/>
                <a:gd name="T43" fmla="*/ 221 h 237"/>
                <a:gd name="T44" fmla="*/ 202 w 289"/>
                <a:gd name="T45" fmla="*/ 166 h 237"/>
                <a:gd name="T46" fmla="*/ 142 w 289"/>
                <a:gd name="T47" fmla="*/ 166 h 237"/>
                <a:gd name="T48" fmla="*/ 142 w 289"/>
                <a:gd name="T49" fmla="*/ 221 h 237"/>
                <a:gd name="T50" fmla="*/ 114 w 289"/>
                <a:gd name="T51" fmla="*/ 221 h 237"/>
                <a:gd name="T52" fmla="*/ 114 w 289"/>
                <a:gd name="T53" fmla="*/ 121 h 237"/>
                <a:gd name="T54" fmla="*/ 175 w 289"/>
                <a:gd name="T55" fmla="*/ 71 h 237"/>
                <a:gd name="T56" fmla="*/ 49 w 289"/>
                <a:gd name="T57" fmla="*/ 22 h 237"/>
                <a:gd name="T58" fmla="*/ 143 w 289"/>
                <a:gd name="T59" fmla="*/ 22 h 237"/>
                <a:gd name="T60" fmla="*/ 143 w 289"/>
                <a:gd name="T61" fmla="*/ 70 h 237"/>
                <a:gd name="T62" fmla="*/ 96 w 289"/>
                <a:gd name="T63" fmla="*/ 107 h 237"/>
                <a:gd name="T64" fmla="*/ 92 w 289"/>
                <a:gd name="T65" fmla="*/ 115 h 237"/>
                <a:gd name="T66" fmla="*/ 92 w 289"/>
                <a:gd name="T67" fmla="*/ 221 h 237"/>
                <a:gd name="T68" fmla="*/ 49 w 289"/>
                <a:gd name="T69" fmla="*/ 221 h 237"/>
                <a:gd name="T70" fmla="*/ 49 w 289"/>
                <a:gd name="T71" fmla="*/ 22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9" h="237">
                  <a:moveTo>
                    <a:pt x="280" y="221"/>
                  </a:moveTo>
                  <a:cubicBezTo>
                    <a:pt x="258" y="221"/>
                    <a:pt x="258" y="221"/>
                    <a:pt x="258" y="221"/>
                  </a:cubicBezTo>
                  <a:cubicBezTo>
                    <a:pt x="258" y="115"/>
                    <a:pt x="258" y="115"/>
                    <a:pt x="258" y="115"/>
                  </a:cubicBezTo>
                  <a:cubicBezTo>
                    <a:pt x="258" y="112"/>
                    <a:pt x="257" y="109"/>
                    <a:pt x="254" y="107"/>
                  </a:cubicBezTo>
                  <a:cubicBezTo>
                    <a:pt x="182" y="49"/>
                    <a:pt x="182" y="49"/>
                    <a:pt x="182" y="49"/>
                  </a:cubicBezTo>
                  <a:cubicBezTo>
                    <a:pt x="178" y="46"/>
                    <a:pt x="172" y="46"/>
                    <a:pt x="169" y="49"/>
                  </a:cubicBezTo>
                  <a:cubicBezTo>
                    <a:pt x="164" y="53"/>
                    <a:pt x="164" y="53"/>
                    <a:pt x="164" y="53"/>
                  </a:cubicBezTo>
                  <a:cubicBezTo>
                    <a:pt x="164" y="11"/>
                    <a:pt x="164" y="11"/>
                    <a:pt x="164" y="11"/>
                  </a:cubicBezTo>
                  <a:cubicBezTo>
                    <a:pt x="164" y="5"/>
                    <a:pt x="159" y="0"/>
                    <a:pt x="153" y="0"/>
                  </a:cubicBezTo>
                  <a:cubicBezTo>
                    <a:pt x="39" y="0"/>
                    <a:pt x="39" y="0"/>
                    <a:pt x="39" y="0"/>
                  </a:cubicBezTo>
                  <a:cubicBezTo>
                    <a:pt x="33" y="0"/>
                    <a:pt x="28" y="5"/>
                    <a:pt x="28" y="11"/>
                  </a:cubicBezTo>
                  <a:cubicBezTo>
                    <a:pt x="28" y="221"/>
                    <a:pt x="28" y="221"/>
                    <a:pt x="28" y="221"/>
                  </a:cubicBezTo>
                  <a:cubicBezTo>
                    <a:pt x="9" y="221"/>
                    <a:pt x="9" y="221"/>
                    <a:pt x="9" y="221"/>
                  </a:cubicBezTo>
                  <a:cubicBezTo>
                    <a:pt x="4" y="221"/>
                    <a:pt x="0" y="225"/>
                    <a:pt x="0" y="230"/>
                  </a:cubicBezTo>
                  <a:cubicBezTo>
                    <a:pt x="0" y="237"/>
                    <a:pt x="0" y="237"/>
                    <a:pt x="0" y="237"/>
                  </a:cubicBezTo>
                  <a:cubicBezTo>
                    <a:pt x="289" y="237"/>
                    <a:pt x="289" y="237"/>
                    <a:pt x="289" y="237"/>
                  </a:cubicBezTo>
                  <a:cubicBezTo>
                    <a:pt x="289" y="230"/>
                    <a:pt x="289" y="230"/>
                    <a:pt x="289" y="230"/>
                  </a:cubicBezTo>
                  <a:cubicBezTo>
                    <a:pt x="289" y="225"/>
                    <a:pt x="285" y="221"/>
                    <a:pt x="280" y="221"/>
                  </a:cubicBezTo>
                  <a:close/>
                  <a:moveTo>
                    <a:pt x="175" y="71"/>
                  </a:moveTo>
                  <a:cubicBezTo>
                    <a:pt x="237" y="121"/>
                    <a:pt x="237" y="121"/>
                    <a:pt x="237" y="121"/>
                  </a:cubicBezTo>
                  <a:cubicBezTo>
                    <a:pt x="237" y="221"/>
                    <a:pt x="237" y="221"/>
                    <a:pt x="237" y="221"/>
                  </a:cubicBezTo>
                  <a:cubicBezTo>
                    <a:pt x="202" y="221"/>
                    <a:pt x="202" y="221"/>
                    <a:pt x="202" y="221"/>
                  </a:cubicBezTo>
                  <a:cubicBezTo>
                    <a:pt x="202" y="166"/>
                    <a:pt x="202" y="166"/>
                    <a:pt x="202" y="166"/>
                  </a:cubicBezTo>
                  <a:cubicBezTo>
                    <a:pt x="142" y="166"/>
                    <a:pt x="142" y="166"/>
                    <a:pt x="142" y="166"/>
                  </a:cubicBezTo>
                  <a:cubicBezTo>
                    <a:pt x="142" y="221"/>
                    <a:pt x="142" y="221"/>
                    <a:pt x="142" y="221"/>
                  </a:cubicBezTo>
                  <a:cubicBezTo>
                    <a:pt x="114" y="221"/>
                    <a:pt x="114" y="221"/>
                    <a:pt x="114" y="221"/>
                  </a:cubicBezTo>
                  <a:cubicBezTo>
                    <a:pt x="114" y="121"/>
                    <a:pt x="114" y="121"/>
                    <a:pt x="114" y="121"/>
                  </a:cubicBezTo>
                  <a:lnTo>
                    <a:pt x="175" y="71"/>
                  </a:lnTo>
                  <a:close/>
                  <a:moveTo>
                    <a:pt x="49" y="22"/>
                  </a:moveTo>
                  <a:cubicBezTo>
                    <a:pt x="143" y="22"/>
                    <a:pt x="143" y="22"/>
                    <a:pt x="143" y="22"/>
                  </a:cubicBezTo>
                  <a:cubicBezTo>
                    <a:pt x="143" y="70"/>
                    <a:pt x="143" y="70"/>
                    <a:pt x="143" y="70"/>
                  </a:cubicBezTo>
                  <a:cubicBezTo>
                    <a:pt x="96" y="107"/>
                    <a:pt x="96" y="107"/>
                    <a:pt x="96" y="107"/>
                  </a:cubicBezTo>
                  <a:cubicBezTo>
                    <a:pt x="94" y="109"/>
                    <a:pt x="92" y="112"/>
                    <a:pt x="92" y="115"/>
                  </a:cubicBezTo>
                  <a:cubicBezTo>
                    <a:pt x="92" y="221"/>
                    <a:pt x="92" y="221"/>
                    <a:pt x="92" y="221"/>
                  </a:cubicBezTo>
                  <a:cubicBezTo>
                    <a:pt x="49" y="221"/>
                    <a:pt x="49" y="221"/>
                    <a:pt x="49" y="221"/>
                  </a:cubicBezTo>
                  <a:lnTo>
                    <a:pt x="4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70" name="Group 169"/>
          <p:cNvGrpSpPr/>
          <p:nvPr userDrawn="1"/>
        </p:nvGrpSpPr>
        <p:grpSpPr>
          <a:xfrm>
            <a:off x="10973014" y="4928365"/>
            <a:ext cx="337758" cy="314308"/>
            <a:chOff x="6030913" y="1681163"/>
            <a:chExt cx="960438" cy="893763"/>
          </a:xfrm>
          <a:solidFill>
            <a:schemeClr val="tx1"/>
          </a:solidFill>
        </p:grpSpPr>
        <p:sp>
          <p:nvSpPr>
            <p:cNvPr id="171" name="Freeform 33"/>
            <p:cNvSpPr>
              <a:spLocks/>
            </p:cNvSpPr>
            <p:nvPr/>
          </p:nvSpPr>
          <p:spPr bwMode="auto">
            <a:xfrm>
              <a:off x="6249988" y="2182813"/>
              <a:ext cx="522288" cy="33338"/>
            </a:xfrm>
            <a:custGeom>
              <a:avLst/>
              <a:gdLst>
                <a:gd name="T0" fmla="*/ 173 w 173"/>
                <a:gd name="T1" fmla="*/ 6 h 11"/>
                <a:gd name="T2" fmla="*/ 167 w 173"/>
                <a:gd name="T3" fmla="*/ 0 h 11"/>
                <a:gd name="T4" fmla="*/ 5 w 173"/>
                <a:gd name="T5" fmla="*/ 0 h 11"/>
                <a:gd name="T6" fmla="*/ 0 w 173"/>
                <a:gd name="T7" fmla="*/ 6 h 11"/>
                <a:gd name="T8" fmla="*/ 5 w 173"/>
                <a:gd name="T9" fmla="*/ 11 h 11"/>
                <a:gd name="T10" fmla="*/ 167 w 173"/>
                <a:gd name="T11" fmla="*/ 11 h 11"/>
                <a:gd name="T12" fmla="*/ 173 w 173"/>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73" h="11">
                  <a:moveTo>
                    <a:pt x="173" y="6"/>
                  </a:moveTo>
                  <a:cubicBezTo>
                    <a:pt x="173" y="3"/>
                    <a:pt x="170" y="0"/>
                    <a:pt x="167" y="0"/>
                  </a:cubicBezTo>
                  <a:cubicBezTo>
                    <a:pt x="5" y="0"/>
                    <a:pt x="5" y="0"/>
                    <a:pt x="5" y="0"/>
                  </a:cubicBezTo>
                  <a:cubicBezTo>
                    <a:pt x="2" y="0"/>
                    <a:pt x="0" y="3"/>
                    <a:pt x="0" y="6"/>
                  </a:cubicBezTo>
                  <a:cubicBezTo>
                    <a:pt x="0" y="9"/>
                    <a:pt x="2" y="11"/>
                    <a:pt x="5" y="11"/>
                  </a:cubicBezTo>
                  <a:cubicBezTo>
                    <a:pt x="167" y="11"/>
                    <a:pt x="167" y="11"/>
                    <a:pt x="167" y="11"/>
                  </a:cubicBezTo>
                  <a:cubicBezTo>
                    <a:pt x="170" y="11"/>
                    <a:pt x="173" y="9"/>
                    <a:pt x="17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4"/>
            <p:cNvSpPr>
              <a:spLocks/>
            </p:cNvSpPr>
            <p:nvPr/>
          </p:nvSpPr>
          <p:spPr bwMode="auto">
            <a:xfrm>
              <a:off x="6249988" y="1928813"/>
              <a:ext cx="522288" cy="30163"/>
            </a:xfrm>
            <a:custGeom>
              <a:avLst/>
              <a:gdLst>
                <a:gd name="T0" fmla="*/ 5 w 173"/>
                <a:gd name="T1" fmla="*/ 10 h 10"/>
                <a:gd name="T2" fmla="*/ 167 w 173"/>
                <a:gd name="T3" fmla="*/ 10 h 10"/>
                <a:gd name="T4" fmla="*/ 173 w 173"/>
                <a:gd name="T5" fmla="*/ 5 h 10"/>
                <a:gd name="T6" fmla="*/ 167 w 173"/>
                <a:gd name="T7" fmla="*/ 0 h 10"/>
                <a:gd name="T8" fmla="*/ 5 w 173"/>
                <a:gd name="T9" fmla="*/ 0 h 10"/>
                <a:gd name="T10" fmla="*/ 0 w 173"/>
                <a:gd name="T11" fmla="*/ 5 h 10"/>
                <a:gd name="T12" fmla="*/ 5 w 17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73" h="10">
                  <a:moveTo>
                    <a:pt x="5" y="10"/>
                  </a:moveTo>
                  <a:cubicBezTo>
                    <a:pt x="167" y="10"/>
                    <a:pt x="167" y="10"/>
                    <a:pt x="167" y="10"/>
                  </a:cubicBezTo>
                  <a:cubicBezTo>
                    <a:pt x="170" y="10"/>
                    <a:pt x="173" y="8"/>
                    <a:pt x="173" y="5"/>
                  </a:cubicBezTo>
                  <a:cubicBezTo>
                    <a:pt x="173" y="2"/>
                    <a:pt x="170" y="0"/>
                    <a:pt x="167" y="0"/>
                  </a:cubicBezTo>
                  <a:cubicBezTo>
                    <a:pt x="5" y="0"/>
                    <a:pt x="5" y="0"/>
                    <a:pt x="5" y="0"/>
                  </a:cubicBezTo>
                  <a:cubicBezTo>
                    <a:pt x="2" y="0"/>
                    <a:pt x="0" y="2"/>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Rectangle 35"/>
            <p:cNvSpPr>
              <a:spLocks noChangeArrowheads="1"/>
            </p:cNvSpPr>
            <p:nvPr/>
          </p:nvSpPr>
          <p:spPr bwMode="auto">
            <a:xfrm>
              <a:off x="6269038" y="2003425"/>
              <a:ext cx="904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Rectangle 36"/>
            <p:cNvSpPr>
              <a:spLocks noChangeArrowheads="1"/>
            </p:cNvSpPr>
            <p:nvPr/>
          </p:nvSpPr>
          <p:spPr bwMode="auto">
            <a:xfrm>
              <a:off x="6464300" y="2003425"/>
              <a:ext cx="904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Rectangle 37"/>
            <p:cNvSpPr>
              <a:spLocks noChangeArrowheads="1"/>
            </p:cNvSpPr>
            <p:nvPr/>
          </p:nvSpPr>
          <p:spPr bwMode="auto">
            <a:xfrm>
              <a:off x="6662738" y="2003425"/>
              <a:ext cx="904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Rectangle 38"/>
            <p:cNvSpPr>
              <a:spLocks noChangeArrowheads="1"/>
            </p:cNvSpPr>
            <p:nvPr/>
          </p:nvSpPr>
          <p:spPr bwMode="auto">
            <a:xfrm>
              <a:off x="6269038" y="2282825"/>
              <a:ext cx="90488" cy="128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Rectangle 39"/>
            <p:cNvSpPr>
              <a:spLocks noChangeArrowheads="1"/>
            </p:cNvSpPr>
            <p:nvPr/>
          </p:nvSpPr>
          <p:spPr bwMode="auto">
            <a:xfrm>
              <a:off x="6662738" y="2282825"/>
              <a:ext cx="90488" cy="128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40"/>
            <p:cNvSpPr>
              <a:spLocks noEditPoints="1"/>
            </p:cNvSpPr>
            <p:nvPr/>
          </p:nvSpPr>
          <p:spPr bwMode="auto">
            <a:xfrm>
              <a:off x="6030913" y="1681163"/>
              <a:ext cx="960438" cy="893763"/>
            </a:xfrm>
            <a:custGeom>
              <a:avLst/>
              <a:gdLst>
                <a:gd name="T0" fmla="*/ 307 w 319"/>
                <a:gd name="T1" fmla="*/ 274 h 296"/>
                <a:gd name="T2" fmla="*/ 301 w 319"/>
                <a:gd name="T3" fmla="*/ 274 h 296"/>
                <a:gd name="T4" fmla="*/ 301 w 319"/>
                <a:gd name="T5" fmla="*/ 252 h 296"/>
                <a:gd name="T6" fmla="*/ 288 w 319"/>
                <a:gd name="T7" fmla="*/ 252 h 296"/>
                <a:gd name="T8" fmla="*/ 288 w 319"/>
                <a:gd name="T9" fmla="*/ 76 h 296"/>
                <a:gd name="T10" fmla="*/ 299 w 319"/>
                <a:gd name="T11" fmla="*/ 80 h 296"/>
                <a:gd name="T12" fmla="*/ 316 w 319"/>
                <a:gd name="T13" fmla="*/ 72 h 296"/>
                <a:gd name="T14" fmla="*/ 308 w 319"/>
                <a:gd name="T15" fmla="*/ 54 h 296"/>
                <a:gd name="T16" fmla="*/ 159 w 319"/>
                <a:gd name="T17" fmla="*/ 0 h 296"/>
                <a:gd name="T18" fmla="*/ 10 w 319"/>
                <a:gd name="T19" fmla="*/ 54 h 296"/>
                <a:gd name="T20" fmla="*/ 2 w 319"/>
                <a:gd name="T21" fmla="*/ 72 h 296"/>
                <a:gd name="T22" fmla="*/ 15 w 319"/>
                <a:gd name="T23" fmla="*/ 81 h 296"/>
                <a:gd name="T24" fmla="*/ 20 w 319"/>
                <a:gd name="T25" fmla="*/ 80 h 296"/>
                <a:gd name="T26" fmla="*/ 30 w 319"/>
                <a:gd name="T27" fmla="*/ 76 h 296"/>
                <a:gd name="T28" fmla="*/ 30 w 319"/>
                <a:gd name="T29" fmla="*/ 252 h 296"/>
                <a:gd name="T30" fmla="*/ 18 w 319"/>
                <a:gd name="T31" fmla="*/ 252 h 296"/>
                <a:gd name="T32" fmla="*/ 18 w 319"/>
                <a:gd name="T33" fmla="*/ 274 h 296"/>
                <a:gd name="T34" fmla="*/ 12 w 319"/>
                <a:gd name="T35" fmla="*/ 274 h 296"/>
                <a:gd name="T36" fmla="*/ 2 w 319"/>
                <a:gd name="T37" fmla="*/ 284 h 296"/>
                <a:gd name="T38" fmla="*/ 2 w 319"/>
                <a:gd name="T39" fmla="*/ 296 h 296"/>
                <a:gd name="T40" fmla="*/ 317 w 319"/>
                <a:gd name="T41" fmla="*/ 296 h 296"/>
                <a:gd name="T42" fmla="*/ 317 w 319"/>
                <a:gd name="T43" fmla="*/ 284 h 296"/>
                <a:gd name="T44" fmla="*/ 307 w 319"/>
                <a:gd name="T45" fmla="*/ 274 h 296"/>
                <a:gd name="T46" fmla="*/ 51 w 319"/>
                <a:gd name="T47" fmla="*/ 71 h 296"/>
                <a:gd name="T48" fmla="*/ 137 w 319"/>
                <a:gd name="T49" fmla="*/ 37 h 296"/>
                <a:gd name="T50" fmla="*/ 159 w 319"/>
                <a:gd name="T51" fmla="*/ 29 h 296"/>
                <a:gd name="T52" fmla="*/ 181 w 319"/>
                <a:gd name="T53" fmla="*/ 37 h 296"/>
                <a:gd name="T54" fmla="*/ 268 w 319"/>
                <a:gd name="T55" fmla="*/ 71 h 296"/>
                <a:gd name="T56" fmla="*/ 268 w 319"/>
                <a:gd name="T57" fmla="*/ 252 h 296"/>
                <a:gd name="T58" fmla="*/ 210 w 319"/>
                <a:gd name="T59" fmla="*/ 252 h 296"/>
                <a:gd name="T60" fmla="*/ 210 w 319"/>
                <a:gd name="T61" fmla="*/ 266 h 296"/>
                <a:gd name="T62" fmla="*/ 184 w 319"/>
                <a:gd name="T63" fmla="*/ 266 h 296"/>
                <a:gd name="T64" fmla="*/ 184 w 319"/>
                <a:gd name="T65" fmla="*/ 199 h 296"/>
                <a:gd name="T66" fmla="*/ 135 w 319"/>
                <a:gd name="T67" fmla="*/ 199 h 296"/>
                <a:gd name="T68" fmla="*/ 135 w 319"/>
                <a:gd name="T69" fmla="*/ 266 h 296"/>
                <a:gd name="T70" fmla="*/ 109 w 319"/>
                <a:gd name="T71" fmla="*/ 266 h 296"/>
                <a:gd name="T72" fmla="*/ 109 w 319"/>
                <a:gd name="T73" fmla="*/ 252 h 296"/>
                <a:gd name="T74" fmla="*/ 51 w 319"/>
                <a:gd name="T75" fmla="*/ 252 h 296"/>
                <a:gd name="T76" fmla="*/ 51 w 319"/>
                <a:gd name="T77" fmla="*/ 71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9" h="296">
                  <a:moveTo>
                    <a:pt x="307" y="274"/>
                  </a:moveTo>
                  <a:cubicBezTo>
                    <a:pt x="301" y="274"/>
                    <a:pt x="301" y="274"/>
                    <a:pt x="301" y="274"/>
                  </a:cubicBezTo>
                  <a:cubicBezTo>
                    <a:pt x="301" y="252"/>
                    <a:pt x="301" y="252"/>
                    <a:pt x="301" y="252"/>
                  </a:cubicBezTo>
                  <a:cubicBezTo>
                    <a:pt x="288" y="252"/>
                    <a:pt x="288" y="252"/>
                    <a:pt x="288" y="252"/>
                  </a:cubicBezTo>
                  <a:cubicBezTo>
                    <a:pt x="288" y="76"/>
                    <a:pt x="288" y="76"/>
                    <a:pt x="288" y="76"/>
                  </a:cubicBezTo>
                  <a:cubicBezTo>
                    <a:pt x="299" y="80"/>
                    <a:pt x="299" y="80"/>
                    <a:pt x="299" y="80"/>
                  </a:cubicBezTo>
                  <a:cubicBezTo>
                    <a:pt x="306" y="83"/>
                    <a:pt x="314" y="79"/>
                    <a:pt x="316" y="72"/>
                  </a:cubicBezTo>
                  <a:cubicBezTo>
                    <a:pt x="319" y="65"/>
                    <a:pt x="315" y="57"/>
                    <a:pt x="308" y="54"/>
                  </a:cubicBezTo>
                  <a:cubicBezTo>
                    <a:pt x="159" y="0"/>
                    <a:pt x="159" y="0"/>
                    <a:pt x="159" y="0"/>
                  </a:cubicBezTo>
                  <a:cubicBezTo>
                    <a:pt x="10" y="54"/>
                    <a:pt x="10" y="54"/>
                    <a:pt x="10" y="54"/>
                  </a:cubicBezTo>
                  <a:cubicBezTo>
                    <a:pt x="3" y="57"/>
                    <a:pt x="0" y="65"/>
                    <a:pt x="2" y="72"/>
                  </a:cubicBezTo>
                  <a:cubicBezTo>
                    <a:pt x="4" y="77"/>
                    <a:pt x="10" y="81"/>
                    <a:pt x="15" y="81"/>
                  </a:cubicBezTo>
                  <a:cubicBezTo>
                    <a:pt x="17" y="81"/>
                    <a:pt x="18" y="81"/>
                    <a:pt x="20" y="80"/>
                  </a:cubicBezTo>
                  <a:cubicBezTo>
                    <a:pt x="30" y="76"/>
                    <a:pt x="30" y="76"/>
                    <a:pt x="30" y="76"/>
                  </a:cubicBezTo>
                  <a:cubicBezTo>
                    <a:pt x="30" y="252"/>
                    <a:pt x="30" y="252"/>
                    <a:pt x="30" y="252"/>
                  </a:cubicBezTo>
                  <a:cubicBezTo>
                    <a:pt x="18" y="252"/>
                    <a:pt x="18" y="252"/>
                    <a:pt x="18" y="252"/>
                  </a:cubicBezTo>
                  <a:cubicBezTo>
                    <a:pt x="18" y="274"/>
                    <a:pt x="18" y="274"/>
                    <a:pt x="18" y="274"/>
                  </a:cubicBezTo>
                  <a:cubicBezTo>
                    <a:pt x="12" y="274"/>
                    <a:pt x="12" y="274"/>
                    <a:pt x="12" y="274"/>
                  </a:cubicBezTo>
                  <a:cubicBezTo>
                    <a:pt x="6" y="274"/>
                    <a:pt x="2" y="278"/>
                    <a:pt x="2" y="284"/>
                  </a:cubicBezTo>
                  <a:cubicBezTo>
                    <a:pt x="2" y="296"/>
                    <a:pt x="2" y="296"/>
                    <a:pt x="2" y="296"/>
                  </a:cubicBezTo>
                  <a:cubicBezTo>
                    <a:pt x="317" y="296"/>
                    <a:pt x="317" y="296"/>
                    <a:pt x="317" y="296"/>
                  </a:cubicBezTo>
                  <a:cubicBezTo>
                    <a:pt x="317" y="284"/>
                    <a:pt x="317" y="284"/>
                    <a:pt x="317" y="284"/>
                  </a:cubicBezTo>
                  <a:cubicBezTo>
                    <a:pt x="317" y="278"/>
                    <a:pt x="312" y="274"/>
                    <a:pt x="307" y="274"/>
                  </a:cubicBezTo>
                  <a:close/>
                  <a:moveTo>
                    <a:pt x="51" y="71"/>
                  </a:moveTo>
                  <a:cubicBezTo>
                    <a:pt x="137" y="37"/>
                    <a:pt x="137" y="37"/>
                    <a:pt x="137" y="37"/>
                  </a:cubicBezTo>
                  <a:cubicBezTo>
                    <a:pt x="159" y="29"/>
                    <a:pt x="159" y="29"/>
                    <a:pt x="159" y="29"/>
                  </a:cubicBezTo>
                  <a:cubicBezTo>
                    <a:pt x="181" y="37"/>
                    <a:pt x="181" y="37"/>
                    <a:pt x="181" y="37"/>
                  </a:cubicBezTo>
                  <a:cubicBezTo>
                    <a:pt x="268" y="71"/>
                    <a:pt x="268" y="71"/>
                    <a:pt x="268" y="71"/>
                  </a:cubicBezTo>
                  <a:cubicBezTo>
                    <a:pt x="268" y="252"/>
                    <a:pt x="268" y="252"/>
                    <a:pt x="268" y="252"/>
                  </a:cubicBezTo>
                  <a:cubicBezTo>
                    <a:pt x="210" y="252"/>
                    <a:pt x="210" y="252"/>
                    <a:pt x="210" y="252"/>
                  </a:cubicBezTo>
                  <a:cubicBezTo>
                    <a:pt x="210" y="266"/>
                    <a:pt x="210" y="266"/>
                    <a:pt x="210" y="266"/>
                  </a:cubicBezTo>
                  <a:cubicBezTo>
                    <a:pt x="184" y="266"/>
                    <a:pt x="184" y="266"/>
                    <a:pt x="184" y="266"/>
                  </a:cubicBezTo>
                  <a:cubicBezTo>
                    <a:pt x="184" y="199"/>
                    <a:pt x="184" y="199"/>
                    <a:pt x="184" y="199"/>
                  </a:cubicBezTo>
                  <a:cubicBezTo>
                    <a:pt x="135" y="199"/>
                    <a:pt x="135" y="199"/>
                    <a:pt x="135" y="199"/>
                  </a:cubicBezTo>
                  <a:cubicBezTo>
                    <a:pt x="135" y="266"/>
                    <a:pt x="135" y="266"/>
                    <a:pt x="135" y="266"/>
                  </a:cubicBezTo>
                  <a:cubicBezTo>
                    <a:pt x="109" y="266"/>
                    <a:pt x="109" y="266"/>
                    <a:pt x="109" y="266"/>
                  </a:cubicBezTo>
                  <a:cubicBezTo>
                    <a:pt x="109" y="252"/>
                    <a:pt x="109" y="252"/>
                    <a:pt x="109" y="252"/>
                  </a:cubicBezTo>
                  <a:cubicBezTo>
                    <a:pt x="51" y="252"/>
                    <a:pt x="51" y="252"/>
                    <a:pt x="51" y="252"/>
                  </a:cubicBezTo>
                  <a:lnTo>
                    <a:pt x="51"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9" name="Freeform 41"/>
          <p:cNvSpPr>
            <a:spLocks noEditPoints="1"/>
          </p:cNvSpPr>
          <p:nvPr userDrawn="1"/>
        </p:nvSpPr>
        <p:spPr bwMode="auto">
          <a:xfrm>
            <a:off x="10945314" y="6207310"/>
            <a:ext cx="370784" cy="291076"/>
          </a:xfrm>
          <a:custGeom>
            <a:avLst/>
            <a:gdLst>
              <a:gd name="T0" fmla="*/ 322 w 331"/>
              <a:gd name="T1" fmla="*/ 243 h 259"/>
              <a:gd name="T2" fmla="*/ 290 w 331"/>
              <a:gd name="T3" fmla="*/ 243 h 259"/>
              <a:gd name="T4" fmla="*/ 290 w 331"/>
              <a:gd name="T5" fmla="*/ 95 h 259"/>
              <a:gd name="T6" fmla="*/ 301 w 331"/>
              <a:gd name="T7" fmla="*/ 100 h 259"/>
              <a:gd name="T8" fmla="*/ 307 w 331"/>
              <a:gd name="T9" fmla="*/ 102 h 259"/>
              <a:gd name="T10" fmla="*/ 320 w 331"/>
              <a:gd name="T11" fmla="*/ 94 h 259"/>
              <a:gd name="T12" fmla="*/ 314 w 331"/>
              <a:gd name="T13" fmla="*/ 75 h 259"/>
              <a:gd name="T14" fmla="*/ 165 w 331"/>
              <a:gd name="T15" fmla="*/ 0 h 259"/>
              <a:gd name="T16" fmla="*/ 17 w 331"/>
              <a:gd name="T17" fmla="*/ 75 h 259"/>
              <a:gd name="T18" fmla="*/ 11 w 331"/>
              <a:gd name="T19" fmla="*/ 94 h 259"/>
              <a:gd name="T20" fmla="*/ 30 w 331"/>
              <a:gd name="T21" fmla="*/ 100 h 259"/>
              <a:gd name="T22" fmla="*/ 40 w 331"/>
              <a:gd name="T23" fmla="*/ 95 h 259"/>
              <a:gd name="T24" fmla="*/ 40 w 331"/>
              <a:gd name="T25" fmla="*/ 243 h 259"/>
              <a:gd name="T26" fmla="*/ 9 w 331"/>
              <a:gd name="T27" fmla="*/ 243 h 259"/>
              <a:gd name="T28" fmla="*/ 0 w 331"/>
              <a:gd name="T29" fmla="*/ 252 h 259"/>
              <a:gd name="T30" fmla="*/ 0 w 331"/>
              <a:gd name="T31" fmla="*/ 259 h 259"/>
              <a:gd name="T32" fmla="*/ 331 w 331"/>
              <a:gd name="T33" fmla="*/ 259 h 259"/>
              <a:gd name="T34" fmla="*/ 331 w 331"/>
              <a:gd name="T35" fmla="*/ 252 h 259"/>
              <a:gd name="T36" fmla="*/ 322 w 331"/>
              <a:gd name="T37" fmla="*/ 243 h 259"/>
              <a:gd name="T38" fmla="*/ 61 w 331"/>
              <a:gd name="T39" fmla="*/ 85 h 259"/>
              <a:gd name="T40" fmla="*/ 165 w 331"/>
              <a:gd name="T41" fmla="*/ 32 h 259"/>
              <a:gd name="T42" fmla="*/ 270 w 331"/>
              <a:gd name="T43" fmla="*/ 85 h 259"/>
              <a:gd name="T44" fmla="*/ 270 w 331"/>
              <a:gd name="T45" fmla="*/ 243 h 259"/>
              <a:gd name="T46" fmla="*/ 247 w 331"/>
              <a:gd name="T47" fmla="*/ 243 h 259"/>
              <a:gd name="T48" fmla="*/ 247 w 331"/>
              <a:gd name="T49" fmla="*/ 243 h 259"/>
              <a:gd name="T50" fmla="*/ 247 w 331"/>
              <a:gd name="T51" fmla="*/ 104 h 259"/>
              <a:gd name="T52" fmla="*/ 235 w 331"/>
              <a:gd name="T53" fmla="*/ 92 h 259"/>
              <a:gd name="T54" fmla="*/ 96 w 331"/>
              <a:gd name="T55" fmla="*/ 92 h 259"/>
              <a:gd name="T56" fmla="*/ 84 w 331"/>
              <a:gd name="T57" fmla="*/ 104 h 259"/>
              <a:gd name="T58" fmla="*/ 84 w 331"/>
              <a:gd name="T59" fmla="*/ 243 h 259"/>
              <a:gd name="T60" fmla="*/ 84 w 331"/>
              <a:gd name="T61" fmla="*/ 243 h 259"/>
              <a:gd name="T62" fmla="*/ 61 w 331"/>
              <a:gd name="T63" fmla="*/ 243 h 259"/>
              <a:gd name="T64" fmla="*/ 61 w 331"/>
              <a:gd name="T65" fmla="*/ 85 h 259"/>
              <a:gd name="T66" fmla="*/ 235 w 331"/>
              <a:gd name="T67" fmla="*/ 127 h 259"/>
              <a:gd name="T68" fmla="*/ 235 w 331"/>
              <a:gd name="T69" fmla="*/ 143 h 259"/>
              <a:gd name="T70" fmla="*/ 95 w 331"/>
              <a:gd name="T71" fmla="*/ 143 h 259"/>
              <a:gd name="T72" fmla="*/ 95 w 331"/>
              <a:gd name="T73" fmla="*/ 127 h 259"/>
              <a:gd name="T74" fmla="*/ 235 w 331"/>
              <a:gd name="T75" fmla="*/ 127 h 259"/>
              <a:gd name="T76" fmla="*/ 95 w 331"/>
              <a:gd name="T77" fmla="*/ 119 h 259"/>
              <a:gd name="T78" fmla="*/ 95 w 331"/>
              <a:gd name="T79" fmla="*/ 104 h 259"/>
              <a:gd name="T80" fmla="*/ 235 w 331"/>
              <a:gd name="T81" fmla="*/ 104 h 259"/>
              <a:gd name="T82" fmla="*/ 235 w 331"/>
              <a:gd name="T83" fmla="*/ 119 h 259"/>
              <a:gd name="T84" fmla="*/ 95 w 331"/>
              <a:gd name="T85" fmla="*/ 119 h 259"/>
              <a:gd name="T86" fmla="*/ 235 w 331"/>
              <a:gd name="T87" fmla="*/ 151 h 259"/>
              <a:gd name="T88" fmla="*/ 235 w 331"/>
              <a:gd name="T89" fmla="*/ 166 h 259"/>
              <a:gd name="T90" fmla="*/ 95 w 331"/>
              <a:gd name="T91" fmla="*/ 166 h 259"/>
              <a:gd name="T92" fmla="*/ 95 w 331"/>
              <a:gd name="T93" fmla="*/ 151 h 259"/>
              <a:gd name="T94" fmla="*/ 235 w 331"/>
              <a:gd name="T95" fmla="*/ 151 h 259"/>
              <a:gd name="T96" fmla="*/ 235 w 331"/>
              <a:gd name="T97" fmla="*/ 175 h 259"/>
              <a:gd name="T98" fmla="*/ 235 w 331"/>
              <a:gd name="T99" fmla="*/ 190 h 259"/>
              <a:gd name="T100" fmla="*/ 95 w 331"/>
              <a:gd name="T101" fmla="*/ 190 h 259"/>
              <a:gd name="T102" fmla="*/ 95 w 331"/>
              <a:gd name="T103" fmla="*/ 175 h 259"/>
              <a:gd name="T104" fmla="*/ 235 w 331"/>
              <a:gd name="T105" fmla="*/ 175 h 259"/>
              <a:gd name="T106" fmla="*/ 235 w 331"/>
              <a:gd name="T107" fmla="*/ 199 h 259"/>
              <a:gd name="T108" fmla="*/ 235 w 331"/>
              <a:gd name="T109" fmla="*/ 214 h 259"/>
              <a:gd name="T110" fmla="*/ 95 w 331"/>
              <a:gd name="T111" fmla="*/ 214 h 259"/>
              <a:gd name="T112" fmla="*/ 95 w 331"/>
              <a:gd name="T113" fmla="*/ 199 h 259"/>
              <a:gd name="T114" fmla="*/ 235 w 331"/>
              <a:gd name="T115" fmla="*/ 199 h 259"/>
              <a:gd name="T116" fmla="*/ 235 w 331"/>
              <a:gd name="T117" fmla="*/ 223 h 259"/>
              <a:gd name="T118" fmla="*/ 235 w 331"/>
              <a:gd name="T119" fmla="*/ 238 h 259"/>
              <a:gd name="T120" fmla="*/ 95 w 331"/>
              <a:gd name="T121" fmla="*/ 238 h 259"/>
              <a:gd name="T122" fmla="*/ 95 w 331"/>
              <a:gd name="T123" fmla="*/ 223 h 259"/>
              <a:gd name="T124" fmla="*/ 235 w 331"/>
              <a:gd name="T125" fmla="*/ 22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31" h="259">
                <a:moveTo>
                  <a:pt x="322" y="243"/>
                </a:moveTo>
                <a:cubicBezTo>
                  <a:pt x="290" y="243"/>
                  <a:pt x="290" y="243"/>
                  <a:pt x="290" y="243"/>
                </a:cubicBezTo>
                <a:cubicBezTo>
                  <a:pt x="290" y="95"/>
                  <a:pt x="290" y="95"/>
                  <a:pt x="290" y="95"/>
                </a:cubicBezTo>
                <a:cubicBezTo>
                  <a:pt x="301" y="100"/>
                  <a:pt x="301" y="100"/>
                  <a:pt x="301" y="100"/>
                </a:cubicBezTo>
                <a:cubicBezTo>
                  <a:pt x="303" y="101"/>
                  <a:pt x="305" y="102"/>
                  <a:pt x="307" y="102"/>
                </a:cubicBezTo>
                <a:cubicBezTo>
                  <a:pt x="313" y="102"/>
                  <a:pt x="318" y="99"/>
                  <a:pt x="320" y="94"/>
                </a:cubicBezTo>
                <a:cubicBezTo>
                  <a:pt x="324" y="87"/>
                  <a:pt x="321" y="79"/>
                  <a:pt x="314" y="75"/>
                </a:cubicBezTo>
                <a:cubicBezTo>
                  <a:pt x="165" y="0"/>
                  <a:pt x="165" y="0"/>
                  <a:pt x="165" y="0"/>
                </a:cubicBezTo>
                <a:cubicBezTo>
                  <a:pt x="17" y="75"/>
                  <a:pt x="17" y="75"/>
                  <a:pt x="17" y="75"/>
                </a:cubicBezTo>
                <a:cubicBezTo>
                  <a:pt x="10" y="79"/>
                  <a:pt x="7" y="87"/>
                  <a:pt x="11" y="94"/>
                </a:cubicBezTo>
                <a:cubicBezTo>
                  <a:pt x="14" y="101"/>
                  <a:pt x="23" y="104"/>
                  <a:pt x="30" y="100"/>
                </a:cubicBezTo>
                <a:cubicBezTo>
                  <a:pt x="40" y="95"/>
                  <a:pt x="40" y="95"/>
                  <a:pt x="40" y="95"/>
                </a:cubicBezTo>
                <a:cubicBezTo>
                  <a:pt x="40" y="243"/>
                  <a:pt x="40" y="243"/>
                  <a:pt x="40" y="243"/>
                </a:cubicBezTo>
                <a:cubicBezTo>
                  <a:pt x="9" y="243"/>
                  <a:pt x="9" y="243"/>
                  <a:pt x="9" y="243"/>
                </a:cubicBezTo>
                <a:cubicBezTo>
                  <a:pt x="4" y="243"/>
                  <a:pt x="0" y="247"/>
                  <a:pt x="0" y="252"/>
                </a:cubicBezTo>
                <a:cubicBezTo>
                  <a:pt x="0" y="259"/>
                  <a:pt x="0" y="259"/>
                  <a:pt x="0" y="259"/>
                </a:cubicBezTo>
                <a:cubicBezTo>
                  <a:pt x="331" y="259"/>
                  <a:pt x="331" y="259"/>
                  <a:pt x="331" y="259"/>
                </a:cubicBezTo>
                <a:cubicBezTo>
                  <a:pt x="331" y="252"/>
                  <a:pt x="331" y="252"/>
                  <a:pt x="331" y="252"/>
                </a:cubicBezTo>
                <a:cubicBezTo>
                  <a:pt x="331" y="247"/>
                  <a:pt x="327" y="243"/>
                  <a:pt x="322" y="243"/>
                </a:cubicBezTo>
                <a:close/>
                <a:moveTo>
                  <a:pt x="61" y="85"/>
                </a:moveTo>
                <a:cubicBezTo>
                  <a:pt x="165" y="32"/>
                  <a:pt x="165" y="32"/>
                  <a:pt x="165" y="32"/>
                </a:cubicBezTo>
                <a:cubicBezTo>
                  <a:pt x="270" y="85"/>
                  <a:pt x="270" y="85"/>
                  <a:pt x="270" y="85"/>
                </a:cubicBezTo>
                <a:cubicBezTo>
                  <a:pt x="270" y="243"/>
                  <a:pt x="270" y="243"/>
                  <a:pt x="270" y="243"/>
                </a:cubicBezTo>
                <a:cubicBezTo>
                  <a:pt x="247" y="243"/>
                  <a:pt x="247" y="243"/>
                  <a:pt x="247" y="243"/>
                </a:cubicBezTo>
                <a:cubicBezTo>
                  <a:pt x="247" y="243"/>
                  <a:pt x="247" y="243"/>
                  <a:pt x="247" y="243"/>
                </a:cubicBezTo>
                <a:cubicBezTo>
                  <a:pt x="247" y="104"/>
                  <a:pt x="247" y="104"/>
                  <a:pt x="247" y="104"/>
                </a:cubicBezTo>
                <a:cubicBezTo>
                  <a:pt x="247" y="97"/>
                  <a:pt x="241" y="92"/>
                  <a:pt x="235" y="92"/>
                </a:cubicBezTo>
                <a:cubicBezTo>
                  <a:pt x="96" y="92"/>
                  <a:pt x="96" y="92"/>
                  <a:pt x="96" y="92"/>
                </a:cubicBezTo>
                <a:cubicBezTo>
                  <a:pt x="89" y="92"/>
                  <a:pt x="84" y="97"/>
                  <a:pt x="84" y="104"/>
                </a:cubicBezTo>
                <a:cubicBezTo>
                  <a:pt x="84" y="243"/>
                  <a:pt x="84" y="243"/>
                  <a:pt x="84" y="243"/>
                </a:cubicBezTo>
                <a:cubicBezTo>
                  <a:pt x="84" y="243"/>
                  <a:pt x="84" y="243"/>
                  <a:pt x="84" y="243"/>
                </a:cubicBezTo>
                <a:cubicBezTo>
                  <a:pt x="61" y="243"/>
                  <a:pt x="61" y="243"/>
                  <a:pt x="61" y="243"/>
                </a:cubicBezTo>
                <a:lnTo>
                  <a:pt x="61" y="85"/>
                </a:lnTo>
                <a:close/>
                <a:moveTo>
                  <a:pt x="235" y="127"/>
                </a:moveTo>
                <a:cubicBezTo>
                  <a:pt x="235" y="143"/>
                  <a:pt x="235" y="143"/>
                  <a:pt x="235" y="143"/>
                </a:cubicBezTo>
                <a:cubicBezTo>
                  <a:pt x="95" y="143"/>
                  <a:pt x="95" y="143"/>
                  <a:pt x="95" y="143"/>
                </a:cubicBezTo>
                <a:cubicBezTo>
                  <a:pt x="95" y="127"/>
                  <a:pt x="95" y="127"/>
                  <a:pt x="95" y="127"/>
                </a:cubicBezTo>
                <a:lnTo>
                  <a:pt x="235" y="127"/>
                </a:lnTo>
                <a:close/>
                <a:moveTo>
                  <a:pt x="95" y="119"/>
                </a:moveTo>
                <a:cubicBezTo>
                  <a:pt x="95" y="104"/>
                  <a:pt x="95" y="104"/>
                  <a:pt x="95" y="104"/>
                </a:cubicBezTo>
                <a:cubicBezTo>
                  <a:pt x="235" y="104"/>
                  <a:pt x="235" y="104"/>
                  <a:pt x="235" y="104"/>
                </a:cubicBezTo>
                <a:cubicBezTo>
                  <a:pt x="235" y="119"/>
                  <a:pt x="235" y="119"/>
                  <a:pt x="235" y="119"/>
                </a:cubicBezTo>
                <a:lnTo>
                  <a:pt x="95" y="119"/>
                </a:lnTo>
                <a:close/>
                <a:moveTo>
                  <a:pt x="235" y="151"/>
                </a:moveTo>
                <a:cubicBezTo>
                  <a:pt x="235" y="166"/>
                  <a:pt x="235" y="166"/>
                  <a:pt x="235" y="166"/>
                </a:cubicBezTo>
                <a:cubicBezTo>
                  <a:pt x="95" y="166"/>
                  <a:pt x="95" y="166"/>
                  <a:pt x="95" y="166"/>
                </a:cubicBezTo>
                <a:cubicBezTo>
                  <a:pt x="95" y="151"/>
                  <a:pt x="95" y="151"/>
                  <a:pt x="95" y="151"/>
                </a:cubicBezTo>
                <a:lnTo>
                  <a:pt x="235" y="151"/>
                </a:lnTo>
                <a:close/>
                <a:moveTo>
                  <a:pt x="235" y="175"/>
                </a:moveTo>
                <a:cubicBezTo>
                  <a:pt x="235" y="190"/>
                  <a:pt x="235" y="190"/>
                  <a:pt x="235" y="190"/>
                </a:cubicBezTo>
                <a:cubicBezTo>
                  <a:pt x="95" y="190"/>
                  <a:pt x="95" y="190"/>
                  <a:pt x="95" y="190"/>
                </a:cubicBezTo>
                <a:cubicBezTo>
                  <a:pt x="95" y="175"/>
                  <a:pt x="95" y="175"/>
                  <a:pt x="95" y="175"/>
                </a:cubicBezTo>
                <a:lnTo>
                  <a:pt x="235" y="175"/>
                </a:lnTo>
                <a:close/>
                <a:moveTo>
                  <a:pt x="235" y="199"/>
                </a:moveTo>
                <a:cubicBezTo>
                  <a:pt x="235" y="214"/>
                  <a:pt x="235" y="214"/>
                  <a:pt x="235" y="214"/>
                </a:cubicBezTo>
                <a:cubicBezTo>
                  <a:pt x="95" y="214"/>
                  <a:pt x="95" y="214"/>
                  <a:pt x="95" y="214"/>
                </a:cubicBezTo>
                <a:cubicBezTo>
                  <a:pt x="95" y="199"/>
                  <a:pt x="95" y="199"/>
                  <a:pt x="95" y="199"/>
                </a:cubicBezTo>
                <a:lnTo>
                  <a:pt x="235" y="199"/>
                </a:lnTo>
                <a:close/>
                <a:moveTo>
                  <a:pt x="235" y="223"/>
                </a:moveTo>
                <a:cubicBezTo>
                  <a:pt x="235" y="238"/>
                  <a:pt x="235" y="238"/>
                  <a:pt x="235" y="238"/>
                </a:cubicBezTo>
                <a:cubicBezTo>
                  <a:pt x="95" y="238"/>
                  <a:pt x="95" y="238"/>
                  <a:pt x="95" y="238"/>
                </a:cubicBezTo>
                <a:cubicBezTo>
                  <a:pt x="95" y="223"/>
                  <a:pt x="95" y="223"/>
                  <a:pt x="95" y="223"/>
                </a:cubicBezTo>
                <a:lnTo>
                  <a:pt x="235" y="22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98" name="Group 197"/>
          <p:cNvGrpSpPr/>
          <p:nvPr userDrawn="1"/>
        </p:nvGrpSpPr>
        <p:grpSpPr>
          <a:xfrm>
            <a:off x="9595402" y="2081913"/>
            <a:ext cx="239132" cy="303476"/>
            <a:chOff x="4924425" y="1447800"/>
            <a:chExt cx="395288" cy="501651"/>
          </a:xfrm>
          <a:solidFill>
            <a:schemeClr val="tx1"/>
          </a:solidFill>
        </p:grpSpPr>
        <p:sp>
          <p:nvSpPr>
            <p:cNvPr id="199" name="Freeform 10"/>
            <p:cNvSpPr>
              <a:spLocks/>
            </p:cNvSpPr>
            <p:nvPr/>
          </p:nvSpPr>
          <p:spPr bwMode="auto">
            <a:xfrm>
              <a:off x="5059363" y="1585913"/>
              <a:ext cx="260350" cy="320675"/>
            </a:xfrm>
            <a:custGeom>
              <a:avLst/>
              <a:gdLst>
                <a:gd name="T0" fmla="*/ 93 w 115"/>
                <a:gd name="T1" fmla="*/ 105 h 141"/>
                <a:gd name="T2" fmla="*/ 90 w 115"/>
                <a:gd name="T3" fmla="*/ 107 h 141"/>
                <a:gd name="T4" fmla="*/ 62 w 115"/>
                <a:gd name="T5" fmla="*/ 73 h 141"/>
                <a:gd name="T6" fmla="*/ 46 w 115"/>
                <a:gd name="T7" fmla="*/ 65 h 141"/>
                <a:gd name="T8" fmla="*/ 25 w 115"/>
                <a:gd name="T9" fmla="*/ 65 h 141"/>
                <a:gd name="T10" fmla="*/ 25 w 115"/>
                <a:gd name="T11" fmla="*/ 43 h 141"/>
                <a:gd name="T12" fmla="*/ 40 w 115"/>
                <a:gd name="T13" fmla="*/ 43 h 141"/>
                <a:gd name="T14" fmla="*/ 53 w 115"/>
                <a:gd name="T15" fmla="*/ 30 h 141"/>
                <a:gd name="T16" fmla="*/ 40 w 115"/>
                <a:gd name="T17" fmla="*/ 18 h 141"/>
                <a:gd name="T18" fmla="*/ 25 w 115"/>
                <a:gd name="T19" fmla="*/ 18 h 141"/>
                <a:gd name="T20" fmla="*/ 25 w 115"/>
                <a:gd name="T21" fmla="*/ 13 h 141"/>
                <a:gd name="T22" fmla="*/ 12 w 115"/>
                <a:gd name="T23" fmla="*/ 0 h 141"/>
                <a:gd name="T24" fmla="*/ 0 w 115"/>
                <a:gd name="T25" fmla="*/ 13 h 141"/>
                <a:gd name="T26" fmla="*/ 0 w 115"/>
                <a:gd name="T27" fmla="*/ 74 h 141"/>
                <a:gd name="T28" fmla="*/ 16 w 115"/>
                <a:gd name="T29" fmla="*/ 90 h 141"/>
                <a:gd name="T30" fmla="*/ 44 w 115"/>
                <a:gd name="T31" fmla="*/ 90 h 141"/>
                <a:gd name="T32" fmla="*/ 82 w 115"/>
                <a:gd name="T33" fmla="*/ 137 h 141"/>
                <a:gd name="T34" fmla="*/ 92 w 115"/>
                <a:gd name="T35" fmla="*/ 138 h 141"/>
                <a:gd name="T36" fmla="*/ 109 w 115"/>
                <a:gd name="T37" fmla="*/ 123 h 141"/>
                <a:gd name="T38" fmla="*/ 110 w 115"/>
                <a:gd name="T39" fmla="*/ 106 h 141"/>
                <a:gd name="T40" fmla="*/ 93 w 115"/>
                <a:gd name="T41" fmla="*/ 105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5" h="141">
                  <a:moveTo>
                    <a:pt x="93" y="105"/>
                  </a:moveTo>
                  <a:cubicBezTo>
                    <a:pt x="90" y="107"/>
                    <a:pt x="90" y="107"/>
                    <a:pt x="90" y="107"/>
                  </a:cubicBezTo>
                  <a:cubicBezTo>
                    <a:pt x="62" y="73"/>
                    <a:pt x="62" y="73"/>
                    <a:pt x="62" y="73"/>
                  </a:cubicBezTo>
                  <a:cubicBezTo>
                    <a:pt x="58" y="68"/>
                    <a:pt x="52" y="65"/>
                    <a:pt x="46" y="65"/>
                  </a:cubicBezTo>
                  <a:cubicBezTo>
                    <a:pt x="25" y="65"/>
                    <a:pt x="25" y="65"/>
                    <a:pt x="25" y="65"/>
                  </a:cubicBezTo>
                  <a:cubicBezTo>
                    <a:pt x="25" y="43"/>
                    <a:pt x="25" y="43"/>
                    <a:pt x="25" y="43"/>
                  </a:cubicBezTo>
                  <a:cubicBezTo>
                    <a:pt x="40" y="43"/>
                    <a:pt x="40" y="43"/>
                    <a:pt x="40" y="43"/>
                  </a:cubicBezTo>
                  <a:cubicBezTo>
                    <a:pt x="47" y="43"/>
                    <a:pt x="53" y="37"/>
                    <a:pt x="53" y="30"/>
                  </a:cubicBezTo>
                  <a:cubicBezTo>
                    <a:pt x="53" y="23"/>
                    <a:pt x="47" y="18"/>
                    <a:pt x="40" y="18"/>
                  </a:cubicBezTo>
                  <a:cubicBezTo>
                    <a:pt x="25" y="18"/>
                    <a:pt x="25" y="18"/>
                    <a:pt x="25" y="18"/>
                  </a:cubicBezTo>
                  <a:cubicBezTo>
                    <a:pt x="25" y="13"/>
                    <a:pt x="25" y="13"/>
                    <a:pt x="25" y="13"/>
                  </a:cubicBezTo>
                  <a:cubicBezTo>
                    <a:pt x="25" y="6"/>
                    <a:pt x="19" y="0"/>
                    <a:pt x="12" y="0"/>
                  </a:cubicBezTo>
                  <a:cubicBezTo>
                    <a:pt x="6" y="0"/>
                    <a:pt x="0" y="6"/>
                    <a:pt x="0" y="13"/>
                  </a:cubicBezTo>
                  <a:cubicBezTo>
                    <a:pt x="0" y="74"/>
                    <a:pt x="0" y="74"/>
                    <a:pt x="0" y="74"/>
                  </a:cubicBezTo>
                  <a:cubicBezTo>
                    <a:pt x="0" y="83"/>
                    <a:pt x="7" y="90"/>
                    <a:pt x="16" y="90"/>
                  </a:cubicBezTo>
                  <a:cubicBezTo>
                    <a:pt x="44" y="90"/>
                    <a:pt x="44" y="90"/>
                    <a:pt x="44" y="90"/>
                  </a:cubicBezTo>
                  <a:cubicBezTo>
                    <a:pt x="82" y="137"/>
                    <a:pt x="82" y="137"/>
                    <a:pt x="82" y="137"/>
                  </a:cubicBezTo>
                  <a:cubicBezTo>
                    <a:pt x="85" y="141"/>
                    <a:pt x="89" y="141"/>
                    <a:pt x="92" y="138"/>
                  </a:cubicBezTo>
                  <a:cubicBezTo>
                    <a:pt x="109" y="123"/>
                    <a:pt x="109" y="123"/>
                    <a:pt x="109" y="123"/>
                  </a:cubicBezTo>
                  <a:cubicBezTo>
                    <a:pt x="114" y="119"/>
                    <a:pt x="115" y="111"/>
                    <a:pt x="110" y="106"/>
                  </a:cubicBezTo>
                  <a:cubicBezTo>
                    <a:pt x="106" y="101"/>
                    <a:pt x="98" y="100"/>
                    <a:pt x="93" y="10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0" name="Oval 11"/>
            <p:cNvSpPr>
              <a:spLocks noChangeArrowheads="1"/>
            </p:cNvSpPr>
            <p:nvPr/>
          </p:nvSpPr>
          <p:spPr bwMode="auto">
            <a:xfrm>
              <a:off x="5029200" y="1447800"/>
              <a:ext cx="115888" cy="115888"/>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2"/>
            <p:cNvSpPr>
              <a:spLocks/>
            </p:cNvSpPr>
            <p:nvPr/>
          </p:nvSpPr>
          <p:spPr bwMode="auto">
            <a:xfrm>
              <a:off x="4924425" y="1652588"/>
              <a:ext cx="277813" cy="296863"/>
            </a:xfrm>
            <a:custGeom>
              <a:avLst/>
              <a:gdLst>
                <a:gd name="T0" fmla="*/ 71 w 122"/>
                <a:gd name="T1" fmla="*/ 131 h 131"/>
                <a:gd name="T2" fmla="*/ 0 w 122"/>
                <a:gd name="T3" fmla="*/ 60 h 131"/>
                <a:gd name="T4" fmla="*/ 27 w 122"/>
                <a:gd name="T5" fmla="*/ 5 h 131"/>
                <a:gd name="T6" fmla="*/ 44 w 122"/>
                <a:gd name="T7" fmla="*/ 6 h 131"/>
                <a:gd name="T8" fmla="*/ 42 w 122"/>
                <a:gd name="T9" fmla="*/ 24 h 131"/>
                <a:gd name="T10" fmla="*/ 25 w 122"/>
                <a:gd name="T11" fmla="*/ 60 h 131"/>
                <a:gd name="T12" fmla="*/ 71 w 122"/>
                <a:gd name="T13" fmla="*/ 106 h 131"/>
                <a:gd name="T14" fmla="*/ 100 w 122"/>
                <a:gd name="T15" fmla="*/ 96 h 131"/>
                <a:gd name="T16" fmla="*/ 118 w 122"/>
                <a:gd name="T17" fmla="*/ 98 h 131"/>
                <a:gd name="T18" fmla="*/ 116 w 122"/>
                <a:gd name="T19" fmla="*/ 115 h 131"/>
                <a:gd name="T20" fmla="*/ 71 w 122"/>
                <a:gd name="T21"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 h="131">
                  <a:moveTo>
                    <a:pt x="71" y="131"/>
                  </a:moveTo>
                  <a:cubicBezTo>
                    <a:pt x="32" y="131"/>
                    <a:pt x="0" y="99"/>
                    <a:pt x="0" y="60"/>
                  </a:cubicBezTo>
                  <a:cubicBezTo>
                    <a:pt x="0" y="38"/>
                    <a:pt x="10" y="18"/>
                    <a:pt x="27" y="5"/>
                  </a:cubicBezTo>
                  <a:cubicBezTo>
                    <a:pt x="32" y="0"/>
                    <a:pt x="40" y="1"/>
                    <a:pt x="44" y="6"/>
                  </a:cubicBezTo>
                  <a:cubicBezTo>
                    <a:pt x="49" y="12"/>
                    <a:pt x="48" y="20"/>
                    <a:pt x="42" y="24"/>
                  </a:cubicBezTo>
                  <a:cubicBezTo>
                    <a:pt x="31" y="33"/>
                    <a:pt x="25" y="46"/>
                    <a:pt x="25" y="60"/>
                  </a:cubicBezTo>
                  <a:cubicBezTo>
                    <a:pt x="25" y="86"/>
                    <a:pt x="46" y="106"/>
                    <a:pt x="71" y="106"/>
                  </a:cubicBezTo>
                  <a:cubicBezTo>
                    <a:pt x="82" y="106"/>
                    <a:pt x="92" y="103"/>
                    <a:pt x="100" y="96"/>
                  </a:cubicBezTo>
                  <a:cubicBezTo>
                    <a:pt x="106" y="92"/>
                    <a:pt x="113" y="93"/>
                    <a:pt x="118" y="98"/>
                  </a:cubicBezTo>
                  <a:cubicBezTo>
                    <a:pt x="122" y="103"/>
                    <a:pt x="121" y="111"/>
                    <a:pt x="116" y="115"/>
                  </a:cubicBezTo>
                  <a:cubicBezTo>
                    <a:pt x="103" y="126"/>
                    <a:pt x="88" y="131"/>
                    <a:pt x="71" y="13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02" name="Freeform 13"/>
          <p:cNvSpPr>
            <a:spLocks noEditPoints="1"/>
          </p:cNvSpPr>
          <p:nvPr userDrawn="1"/>
        </p:nvSpPr>
        <p:spPr bwMode="auto">
          <a:xfrm>
            <a:off x="8995567" y="3212538"/>
            <a:ext cx="271786" cy="278506"/>
          </a:xfrm>
          <a:custGeom>
            <a:avLst/>
            <a:gdLst>
              <a:gd name="T0" fmla="*/ 188 w 198"/>
              <a:gd name="T1" fmla="*/ 161 h 203"/>
              <a:gd name="T2" fmla="*/ 128 w 198"/>
              <a:gd name="T3" fmla="*/ 80 h 203"/>
              <a:gd name="T4" fmla="*/ 127 w 198"/>
              <a:gd name="T5" fmla="*/ 76 h 203"/>
              <a:gd name="T6" fmla="*/ 127 w 198"/>
              <a:gd name="T7" fmla="*/ 15 h 203"/>
              <a:gd name="T8" fmla="*/ 135 w 198"/>
              <a:gd name="T9" fmla="*/ 8 h 203"/>
              <a:gd name="T10" fmla="*/ 127 w 198"/>
              <a:gd name="T11" fmla="*/ 0 h 203"/>
              <a:gd name="T12" fmla="*/ 70 w 198"/>
              <a:gd name="T13" fmla="*/ 0 h 203"/>
              <a:gd name="T14" fmla="*/ 63 w 198"/>
              <a:gd name="T15" fmla="*/ 8 h 203"/>
              <a:gd name="T16" fmla="*/ 70 w 198"/>
              <a:gd name="T17" fmla="*/ 15 h 203"/>
              <a:gd name="T18" fmla="*/ 70 w 198"/>
              <a:gd name="T19" fmla="*/ 76 h 203"/>
              <a:gd name="T20" fmla="*/ 69 w 198"/>
              <a:gd name="T21" fmla="*/ 80 h 203"/>
              <a:gd name="T22" fmla="*/ 10 w 198"/>
              <a:gd name="T23" fmla="*/ 161 h 203"/>
              <a:gd name="T24" fmla="*/ 3 w 198"/>
              <a:gd name="T25" fmla="*/ 190 h 203"/>
              <a:gd name="T26" fmla="*/ 27 w 198"/>
              <a:gd name="T27" fmla="*/ 203 h 203"/>
              <a:gd name="T28" fmla="*/ 170 w 198"/>
              <a:gd name="T29" fmla="*/ 203 h 203"/>
              <a:gd name="T30" fmla="*/ 195 w 198"/>
              <a:gd name="T31" fmla="*/ 190 h 203"/>
              <a:gd name="T32" fmla="*/ 188 w 198"/>
              <a:gd name="T33" fmla="*/ 161 h 203"/>
              <a:gd name="T34" fmla="*/ 63 w 198"/>
              <a:gd name="T35" fmla="*/ 106 h 203"/>
              <a:gd name="T36" fmla="*/ 77 w 198"/>
              <a:gd name="T37" fmla="*/ 86 h 203"/>
              <a:gd name="T38" fmla="*/ 81 w 198"/>
              <a:gd name="T39" fmla="*/ 76 h 203"/>
              <a:gd name="T40" fmla="*/ 81 w 198"/>
              <a:gd name="T41" fmla="*/ 15 h 203"/>
              <a:gd name="T42" fmla="*/ 117 w 198"/>
              <a:gd name="T43" fmla="*/ 15 h 203"/>
              <a:gd name="T44" fmla="*/ 117 w 198"/>
              <a:gd name="T45" fmla="*/ 76 h 203"/>
              <a:gd name="T46" fmla="*/ 120 w 198"/>
              <a:gd name="T47" fmla="*/ 86 h 203"/>
              <a:gd name="T48" fmla="*/ 135 w 198"/>
              <a:gd name="T49" fmla="*/ 106 h 203"/>
              <a:gd name="T50" fmla="*/ 63 w 198"/>
              <a:gd name="T51" fmla="*/ 10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8" h="203">
                <a:moveTo>
                  <a:pt x="188" y="161"/>
                </a:moveTo>
                <a:cubicBezTo>
                  <a:pt x="128" y="80"/>
                  <a:pt x="128" y="80"/>
                  <a:pt x="128" y="80"/>
                </a:cubicBezTo>
                <a:cubicBezTo>
                  <a:pt x="128" y="79"/>
                  <a:pt x="127" y="77"/>
                  <a:pt x="127" y="76"/>
                </a:cubicBezTo>
                <a:cubicBezTo>
                  <a:pt x="127" y="15"/>
                  <a:pt x="127" y="15"/>
                  <a:pt x="127" y="15"/>
                </a:cubicBezTo>
                <a:cubicBezTo>
                  <a:pt x="131" y="15"/>
                  <a:pt x="135" y="12"/>
                  <a:pt x="135" y="8"/>
                </a:cubicBezTo>
                <a:cubicBezTo>
                  <a:pt x="135" y="3"/>
                  <a:pt x="131" y="0"/>
                  <a:pt x="127" y="0"/>
                </a:cubicBezTo>
                <a:cubicBezTo>
                  <a:pt x="70" y="0"/>
                  <a:pt x="70" y="0"/>
                  <a:pt x="70" y="0"/>
                </a:cubicBezTo>
                <a:cubicBezTo>
                  <a:pt x="66" y="0"/>
                  <a:pt x="63" y="3"/>
                  <a:pt x="63" y="8"/>
                </a:cubicBezTo>
                <a:cubicBezTo>
                  <a:pt x="63" y="12"/>
                  <a:pt x="66" y="15"/>
                  <a:pt x="70" y="15"/>
                </a:cubicBezTo>
                <a:cubicBezTo>
                  <a:pt x="70" y="76"/>
                  <a:pt x="70" y="76"/>
                  <a:pt x="70" y="76"/>
                </a:cubicBezTo>
                <a:cubicBezTo>
                  <a:pt x="70" y="77"/>
                  <a:pt x="70" y="79"/>
                  <a:pt x="69" y="80"/>
                </a:cubicBezTo>
                <a:cubicBezTo>
                  <a:pt x="10" y="161"/>
                  <a:pt x="10" y="161"/>
                  <a:pt x="10" y="161"/>
                </a:cubicBezTo>
                <a:cubicBezTo>
                  <a:pt x="2" y="172"/>
                  <a:pt x="0" y="182"/>
                  <a:pt x="3" y="190"/>
                </a:cubicBezTo>
                <a:cubicBezTo>
                  <a:pt x="7" y="198"/>
                  <a:pt x="15" y="203"/>
                  <a:pt x="27" y="203"/>
                </a:cubicBezTo>
                <a:cubicBezTo>
                  <a:pt x="170" y="203"/>
                  <a:pt x="170" y="203"/>
                  <a:pt x="170" y="203"/>
                </a:cubicBezTo>
                <a:cubicBezTo>
                  <a:pt x="182" y="203"/>
                  <a:pt x="191" y="198"/>
                  <a:pt x="195" y="190"/>
                </a:cubicBezTo>
                <a:cubicBezTo>
                  <a:pt x="198" y="182"/>
                  <a:pt x="196" y="172"/>
                  <a:pt x="188" y="161"/>
                </a:cubicBezTo>
                <a:close/>
                <a:moveTo>
                  <a:pt x="63" y="106"/>
                </a:moveTo>
                <a:cubicBezTo>
                  <a:pt x="77" y="86"/>
                  <a:pt x="77" y="86"/>
                  <a:pt x="77" y="86"/>
                </a:cubicBezTo>
                <a:cubicBezTo>
                  <a:pt x="79" y="83"/>
                  <a:pt x="81" y="79"/>
                  <a:pt x="81" y="76"/>
                </a:cubicBezTo>
                <a:cubicBezTo>
                  <a:pt x="81" y="15"/>
                  <a:pt x="81" y="15"/>
                  <a:pt x="81" y="15"/>
                </a:cubicBezTo>
                <a:cubicBezTo>
                  <a:pt x="117" y="15"/>
                  <a:pt x="117" y="15"/>
                  <a:pt x="117" y="15"/>
                </a:cubicBezTo>
                <a:cubicBezTo>
                  <a:pt x="117" y="76"/>
                  <a:pt x="117" y="76"/>
                  <a:pt x="117" y="76"/>
                </a:cubicBezTo>
                <a:cubicBezTo>
                  <a:pt x="117" y="79"/>
                  <a:pt x="118" y="83"/>
                  <a:pt x="120" y="86"/>
                </a:cubicBezTo>
                <a:cubicBezTo>
                  <a:pt x="135" y="106"/>
                  <a:pt x="135" y="106"/>
                  <a:pt x="135" y="106"/>
                </a:cubicBezTo>
                <a:lnTo>
                  <a:pt x="63" y="10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16" name="Group 215"/>
          <p:cNvGrpSpPr/>
          <p:nvPr userDrawn="1"/>
        </p:nvGrpSpPr>
        <p:grpSpPr>
          <a:xfrm>
            <a:off x="9618931" y="3763891"/>
            <a:ext cx="192074" cy="330366"/>
            <a:chOff x="4960938" y="2551113"/>
            <a:chExt cx="317500" cy="546100"/>
          </a:xfrm>
          <a:solidFill>
            <a:schemeClr val="tx1"/>
          </a:solidFill>
        </p:grpSpPr>
        <p:sp>
          <p:nvSpPr>
            <p:cNvPr id="217" name="Freeform 33"/>
            <p:cNvSpPr>
              <a:spLocks noEditPoints="1"/>
            </p:cNvSpPr>
            <p:nvPr/>
          </p:nvSpPr>
          <p:spPr bwMode="auto">
            <a:xfrm>
              <a:off x="4960938" y="2551113"/>
              <a:ext cx="317500" cy="546100"/>
            </a:xfrm>
            <a:custGeom>
              <a:avLst/>
              <a:gdLst>
                <a:gd name="T0" fmla="*/ 96 w 140"/>
                <a:gd name="T1" fmla="*/ 24 h 240"/>
                <a:gd name="T2" fmla="*/ 70 w 140"/>
                <a:gd name="T3" fmla="*/ 0 h 240"/>
                <a:gd name="T4" fmla="*/ 44 w 140"/>
                <a:gd name="T5" fmla="*/ 24 h 240"/>
                <a:gd name="T6" fmla="*/ 0 w 140"/>
                <a:gd name="T7" fmla="*/ 83 h 240"/>
                <a:gd name="T8" fmla="*/ 0 w 140"/>
                <a:gd name="T9" fmla="*/ 152 h 240"/>
                <a:gd name="T10" fmla="*/ 49 w 140"/>
                <a:gd name="T11" fmla="*/ 212 h 240"/>
                <a:gd name="T12" fmla="*/ 49 w 140"/>
                <a:gd name="T13" fmla="*/ 221 h 240"/>
                <a:gd name="T14" fmla="*/ 59 w 140"/>
                <a:gd name="T15" fmla="*/ 230 h 240"/>
                <a:gd name="T16" fmla="*/ 63 w 140"/>
                <a:gd name="T17" fmla="*/ 230 h 240"/>
                <a:gd name="T18" fmla="*/ 63 w 140"/>
                <a:gd name="T19" fmla="*/ 240 h 240"/>
                <a:gd name="T20" fmla="*/ 77 w 140"/>
                <a:gd name="T21" fmla="*/ 240 h 240"/>
                <a:gd name="T22" fmla="*/ 77 w 140"/>
                <a:gd name="T23" fmla="*/ 230 h 240"/>
                <a:gd name="T24" fmla="*/ 82 w 140"/>
                <a:gd name="T25" fmla="*/ 230 h 240"/>
                <a:gd name="T26" fmla="*/ 92 w 140"/>
                <a:gd name="T27" fmla="*/ 221 h 240"/>
                <a:gd name="T28" fmla="*/ 92 w 140"/>
                <a:gd name="T29" fmla="*/ 212 h 240"/>
                <a:gd name="T30" fmla="*/ 140 w 140"/>
                <a:gd name="T31" fmla="*/ 152 h 240"/>
                <a:gd name="T32" fmla="*/ 140 w 140"/>
                <a:gd name="T33" fmla="*/ 83 h 240"/>
                <a:gd name="T34" fmla="*/ 96 w 140"/>
                <a:gd name="T35" fmla="*/ 24 h 240"/>
                <a:gd name="T36" fmla="*/ 70 w 140"/>
                <a:gd name="T37" fmla="*/ 11 h 240"/>
                <a:gd name="T38" fmla="*/ 84 w 140"/>
                <a:gd name="T39" fmla="*/ 21 h 240"/>
                <a:gd name="T40" fmla="*/ 70 w 140"/>
                <a:gd name="T41" fmla="*/ 19 h 240"/>
                <a:gd name="T42" fmla="*/ 57 w 140"/>
                <a:gd name="T43" fmla="*/ 21 h 240"/>
                <a:gd name="T44" fmla="*/ 70 w 140"/>
                <a:gd name="T45" fmla="*/ 11 h 240"/>
                <a:gd name="T46" fmla="*/ 53 w 140"/>
                <a:gd name="T47" fmla="*/ 158 h 240"/>
                <a:gd name="T48" fmla="*/ 21 w 140"/>
                <a:gd name="T49" fmla="*/ 158 h 240"/>
                <a:gd name="T50" fmla="*/ 21 w 140"/>
                <a:gd name="T51" fmla="*/ 149 h 240"/>
                <a:gd name="T52" fmla="*/ 53 w 140"/>
                <a:gd name="T53" fmla="*/ 149 h 240"/>
                <a:gd name="T54" fmla="*/ 53 w 140"/>
                <a:gd name="T55" fmla="*/ 158 h 240"/>
                <a:gd name="T56" fmla="*/ 53 w 140"/>
                <a:gd name="T57" fmla="*/ 134 h 240"/>
                <a:gd name="T58" fmla="*/ 21 w 140"/>
                <a:gd name="T59" fmla="*/ 134 h 240"/>
                <a:gd name="T60" fmla="*/ 21 w 140"/>
                <a:gd name="T61" fmla="*/ 125 h 240"/>
                <a:gd name="T62" fmla="*/ 53 w 140"/>
                <a:gd name="T63" fmla="*/ 125 h 240"/>
                <a:gd name="T64" fmla="*/ 53 w 140"/>
                <a:gd name="T65" fmla="*/ 134 h 240"/>
                <a:gd name="T66" fmla="*/ 130 w 140"/>
                <a:gd name="T67" fmla="*/ 120 h 240"/>
                <a:gd name="T68" fmla="*/ 10 w 140"/>
                <a:gd name="T69" fmla="*/ 120 h 240"/>
                <a:gd name="T70" fmla="*/ 10 w 140"/>
                <a:gd name="T71" fmla="*/ 83 h 240"/>
                <a:gd name="T72" fmla="*/ 70 w 140"/>
                <a:gd name="T73" fmla="*/ 29 h 240"/>
                <a:gd name="T74" fmla="*/ 130 w 140"/>
                <a:gd name="T75" fmla="*/ 83 h 240"/>
                <a:gd name="T76" fmla="*/ 130 w 140"/>
                <a:gd name="T77" fmla="*/ 12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0" h="240">
                  <a:moveTo>
                    <a:pt x="96" y="24"/>
                  </a:moveTo>
                  <a:cubicBezTo>
                    <a:pt x="95" y="10"/>
                    <a:pt x="84" y="0"/>
                    <a:pt x="70" y="0"/>
                  </a:cubicBezTo>
                  <a:cubicBezTo>
                    <a:pt x="56" y="0"/>
                    <a:pt x="45" y="10"/>
                    <a:pt x="44" y="24"/>
                  </a:cubicBezTo>
                  <a:cubicBezTo>
                    <a:pt x="18" y="33"/>
                    <a:pt x="0" y="56"/>
                    <a:pt x="0" y="83"/>
                  </a:cubicBezTo>
                  <a:cubicBezTo>
                    <a:pt x="0" y="152"/>
                    <a:pt x="0" y="152"/>
                    <a:pt x="0" y="152"/>
                  </a:cubicBezTo>
                  <a:cubicBezTo>
                    <a:pt x="0" y="180"/>
                    <a:pt x="21" y="204"/>
                    <a:pt x="49" y="212"/>
                  </a:cubicBezTo>
                  <a:cubicBezTo>
                    <a:pt x="49" y="221"/>
                    <a:pt x="49" y="221"/>
                    <a:pt x="49" y="221"/>
                  </a:cubicBezTo>
                  <a:cubicBezTo>
                    <a:pt x="49" y="226"/>
                    <a:pt x="53" y="230"/>
                    <a:pt x="59" y="230"/>
                  </a:cubicBezTo>
                  <a:cubicBezTo>
                    <a:pt x="63" y="230"/>
                    <a:pt x="63" y="230"/>
                    <a:pt x="63" y="230"/>
                  </a:cubicBezTo>
                  <a:cubicBezTo>
                    <a:pt x="63" y="240"/>
                    <a:pt x="63" y="240"/>
                    <a:pt x="63" y="240"/>
                  </a:cubicBezTo>
                  <a:cubicBezTo>
                    <a:pt x="77" y="240"/>
                    <a:pt x="77" y="240"/>
                    <a:pt x="77" y="240"/>
                  </a:cubicBezTo>
                  <a:cubicBezTo>
                    <a:pt x="77" y="230"/>
                    <a:pt x="77" y="230"/>
                    <a:pt x="77" y="230"/>
                  </a:cubicBezTo>
                  <a:cubicBezTo>
                    <a:pt x="82" y="230"/>
                    <a:pt x="82" y="230"/>
                    <a:pt x="82" y="230"/>
                  </a:cubicBezTo>
                  <a:cubicBezTo>
                    <a:pt x="87" y="230"/>
                    <a:pt x="92" y="226"/>
                    <a:pt x="92" y="221"/>
                  </a:cubicBezTo>
                  <a:cubicBezTo>
                    <a:pt x="92" y="212"/>
                    <a:pt x="92" y="212"/>
                    <a:pt x="92" y="212"/>
                  </a:cubicBezTo>
                  <a:cubicBezTo>
                    <a:pt x="120" y="204"/>
                    <a:pt x="140" y="180"/>
                    <a:pt x="140" y="152"/>
                  </a:cubicBezTo>
                  <a:cubicBezTo>
                    <a:pt x="140" y="83"/>
                    <a:pt x="140" y="83"/>
                    <a:pt x="140" y="83"/>
                  </a:cubicBezTo>
                  <a:cubicBezTo>
                    <a:pt x="140" y="56"/>
                    <a:pt x="122" y="33"/>
                    <a:pt x="96" y="24"/>
                  </a:cubicBezTo>
                  <a:close/>
                  <a:moveTo>
                    <a:pt x="70" y="11"/>
                  </a:moveTo>
                  <a:cubicBezTo>
                    <a:pt x="76" y="11"/>
                    <a:pt x="82" y="15"/>
                    <a:pt x="84" y="21"/>
                  </a:cubicBezTo>
                  <a:cubicBezTo>
                    <a:pt x="79" y="20"/>
                    <a:pt x="75" y="19"/>
                    <a:pt x="70" y="19"/>
                  </a:cubicBezTo>
                  <a:cubicBezTo>
                    <a:pt x="66" y="19"/>
                    <a:pt x="61" y="20"/>
                    <a:pt x="57" y="21"/>
                  </a:cubicBezTo>
                  <a:cubicBezTo>
                    <a:pt x="59" y="15"/>
                    <a:pt x="64" y="11"/>
                    <a:pt x="70" y="11"/>
                  </a:cubicBezTo>
                  <a:close/>
                  <a:moveTo>
                    <a:pt x="53" y="158"/>
                  </a:moveTo>
                  <a:cubicBezTo>
                    <a:pt x="21" y="158"/>
                    <a:pt x="21" y="158"/>
                    <a:pt x="21" y="158"/>
                  </a:cubicBezTo>
                  <a:cubicBezTo>
                    <a:pt x="21" y="149"/>
                    <a:pt x="21" y="149"/>
                    <a:pt x="21" y="149"/>
                  </a:cubicBezTo>
                  <a:cubicBezTo>
                    <a:pt x="53" y="149"/>
                    <a:pt x="53" y="149"/>
                    <a:pt x="53" y="149"/>
                  </a:cubicBezTo>
                  <a:lnTo>
                    <a:pt x="53" y="158"/>
                  </a:lnTo>
                  <a:close/>
                  <a:moveTo>
                    <a:pt x="53" y="134"/>
                  </a:moveTo>
                  <a:cubicBezTo>
                    <a:pt x="21" y="134"/>
                    <a:pt x="21" y="134"/>
                    <a:pt x="21" y="134"/>
                  </a:cubicBezTo>
                  <a:cubicBezTo>
                    <a:pt x="21" y="125"/>
                    <a:pt x="21" y="125"/>
                    <a:pt x="21" y="125"/>
                  </a:cubicBezTo>
                  <a:cubicBezTo>
                    <a:pt x="53" y="125"/>
                    <a:pt x="53" y="125"/>
                    <a:pt x="53" y="125"/>
                  </a:cubicBezTo>
                  <a:lnTo>
                    <a:pt x="53" y="134"/>
                  </a:lnTo>
                  <a:close/>
                  <a:moveTo>
                    <a:pt x="130" y="120"/>
                  </a:moveTo>
                  <a:cubicBezTo>
                    <a:pt x="10" y="120"/>
                    <a:pt x="10" y="120"/>
                    <a:pt x="10" y="120"/>
                  </a:cubicBezTo>
                  <a:cubicBezTo>
                    <a:pt x="10" y="83"/>
                    <a:pt x="10" y="83"/>
                    <a:pt x="10" y="83"/>
                  </a:cubicBezTo>
                  <a:cubicBezTo>
                    <a:pt x="10" y="53"/>
                    <a:pt x="37" y="29"/>
                    <a:pt x="70" y="29"/>
                  </a:cubicBezTo>
                  <a:cubicBezTo>
                    <a:pt x="103" y="29"/>
                    <a:pt x="130" y="53"/>
                    <a:pt x="130" y="83"/>
                  </a:cubicBezTo>
                  <a:lnTo>
                    <a:pt x="130"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8" name="Rectangle 34"/>
            <p:cNvSpPr>
              <a:spLocks noChangeArrowheads="1"/>
            </p:cNvSpPr>
            <p:nvPr/>
          </p:nvSpPr>
          <p:spPr bwMode="auto">
            <a:xfrm>
              <a:off x="5008563" y="2727325"/>
              <a:ext cx="73025" cy="17463"/>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9" name="Rectangle 35"/>
            <p:cNvSpPr>
              <a:spLocks noChangeArrowheads="1"/>
            </p:cNvSpPr>
            <p:nvPr/>
          </p:nvSpPr>
          <p:spPr bwMode="auto">
            <a:xfrm>
              <a:off x="5008563" y="2781300"/>
              <a:ext cx="73025" cy="20638"/>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47" name="Group 246"/>
          <p:cNvGrpSpPr/>
          <p:nvPr userDrawn="1"/>
        </p:nvGrpSpPr>
        <p:grpSpPr>
          <a:xfrm>
            <a:off x="9587239" y="2614382"/>
            <a:ext cx="255458" cy="322682"/>
            <a:chOff x="487363" y="3698875"/>
            <a:chExt cx="422275" cy="533401"/>
          </a:xfrm>
          <a:solidFill>
            <a:schemeClr val="tx1"/>
          </a:solidFill>
        </p:grpSpPr>
        <p:sp>
          <p:nvSpPr>
            <p:cNvPr id="248" name="Freeform 64"/>
            <p:cNvSpPr>
              <a:spLocks noEditPoints="1"/>
            </p:cNvSpPr>
            <p:nvPr/>
          </p:nvSpPr>
          <p:spPr bwMode="auto">
            <a:xfrm>
              <a:off x="533400" y="3771900"/>
              <a:ext cx="339725" cy="360363"/>
            </a:xfrm>
            <a:custGeom>
              <a:avLst/>
              <a:gdLst>
                <a:gd name="T0" fmla="*/ 147 w 150"/>
                <a:gd name="T1" fmla="*/ 58 h 159"/>
                <a:gd name="T2" fmla="*/ 66 w 150"/>
                <a:gd name="T3" fmla="*/ 2 h 159"/>
                <a:gd name="T4" fmla="*/ 58 w 150"/>
                <a:gd name="T5" fmla="*/ 3 h 159"/>
                <a:gd name="T6" fmla="*/ 59 w 150"/>
                <a:gd name="T7" fmla="*/ 11 h 159"/>
                <a:gd name="T8" fmla="*/ 66 w 150"/>
                <a:gd name="T9" fmla="*/ 16 h 159"/>
                <a:gd name="T10" fmla="*/ 3 w 150"/>
                <a:gd name="T11" fmla="*/ 106 h 159"/>
                <a:gd name="T12" fmla="*/ 6 w 150"/>
                <a:gd name="T13" fmla="*/ 121 h 159"/>
                <a:gd name="T14" fmla="*/ 55 w 150"/>
                <a:gd name="T15" fmla="*/ 156 h 159"/>
                <a:gd name="T16" fmla="*/ 70 w 150"/>
                <a:gd name="T17" fmla="*/ 153 h 159"/>
                <a:gd name="T18" fmla="*/ 133 w 150"/>
                <a:gd name="T19" fmla="*/ 63 h 159"/>
                <a:gd name="T20" fmla="*/ 140 w 150"/>
                <a:gd name="T21" fmla="*/ 68 h 159"/>
                <a:gd name="T22" fmla="*/ 148 w 150"/>
                <a:gd name="T23" fmla="*/ 66 h 159"/>
                <a:gd name="T24" fmla="*/ 147 w 150"/>
                <a:gd name="T25" fmla="*/ 58 h 159"/>
                <a:gd name="T26" fmla="*/ 43 w 150"/>
                <a:gd name="T27" fmla="*/ 116 h 159"/>
                <a:gd name="T28" fmla="*/ 22 w 150"/>
                <a:gd name="T29" fmla="*/ 101 h 159"/>
                <a:gd name="T30" fmla="*/ 27 w 150"/>
                <a:gd name="T31" fmla="*/ 93 h 159"/>
                <a:gd name="T32" fmla="*/ 49 w 150"/>
                <a:gd name="T33" fmla="*/ 108 h 159"/>
                <a:gd name="T34" fmla="*/ 43 w 150"/>
                <a:gd name="T35" fmla="*/ 116 h 159"/>
                <a:gd name="T36" fmla="*/ 60 w 150"/>
                <a:gd name="T37" fmla="*/ 92 h 159"/>
                <a:gd name="T38" fmla="*/ 39 w 150"/>
                <a:gd name="T39" fmla="*/ 76 h 159"/>
                <a:gd name="T40" fmla="*/ 44 w 150"/>
                <a:gd name="T41" fmla="*/ 69 h 159"/>
                <a:gd name="T42" fmla="*/ 66 w 150"/>
                <a:gd name="T43" fmla="*/ 84 h 159"/>
                <a:gd name="T44" fmla="*/ 60 w 150"/>
                <a:gd name="T45" fmla="*/ 92 h 159"/>
                <a:gd name="T46" fmla="*/ 77 w 150"/>
                <a:gd name="T47" fmla="*/ 67 h 159"/>
                <a:gd name="T48" fmla="*/ 56 w 150"/>
                <a:gd name="T49" fmla="*/ 52 h 159"/>
                <a:gd name="T50" fmla="*/ 61 w 150"/>
                <a:gd name="T51" fmla="*/ 45 h 159"/>
                <a:gd name="T52" fmla="*/ 82 w 150"/>
                <a:gd name="T53" fmla="*/ 60 h 159"/>
                <a:gd name="T54" fmla="*/ 77 w 150"/>
                <a:gd name="T55" fmla="*/ 67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0" h="159">
                  <a:moveTo>
                    <a:pt x="147" y="58"/>
                  </a:moveTo>
                  <a:cubicBezTo>
                    <a:pt x="66" y="2"/>
                    <a:pt x="66" y="2"/>
                    <a:pt x="66" y="2"/>
                  </a:cubicBezTo>
                  <a:cubicBezTo>
                    <a:pt x="63" y="0"/>
                    <a:pt x="60" y="0"/>
                    <a:pt x="58" y="3"/>
                  </a:cubicBezTo>
                  <a:cubicBezTo>
                    <a:pt x="56" y="6"/>
                    <a:pt x="57" y="9"/>
                    <a:pt x="59" y="11"/>
                  </a:cubicBezTo>
                  <a:cubicBezTo>
                    <a:pt x="66" y="16"/>
                    <a:pt x="66" y="16"/>
                    <a:pt x="66" y="16"/>
                  </a:cubicBezTo>
                  <a:cubicBezTo>
                    <a:pt x="3" y="106"/>
                    <a:pt x="3" y="106"/>
                    <a:pt x="3" y="106"/>
                  </a:cubicBezTo>
                  <a:cubicBezTo>
                    <a:pt x="0" y="111"/>
                    <a:pt x="1" y="118"/>
                    <a:pt x="6" y="121"/>
                  </a:cubicBezTo>
                  <a:cubicBezTo>
                    <a:pt x="55" y="156"/>
                    <a:pt x="55" y="156"/>
                    <a:pt x="55" y="156"/>
                  </a:cubicBezTo>
                  <a:cubicBezTo>
                    <a:pt x="60" y="159"/>
                    <a:pt x="67" y="158"/>
                    <a:pt x="70" y="153"/>
                  </a:cubicBezTo>
                  <a:cubicBezTo>
                    <a:pt x="133" y="63"/>
                    <a:pt x="133" y="63"/>
                    <a:pt x="133" y="63"/>
                  </a:cubicBezTo>
                  <a:cubicBezTo>
                    <a:pt x="140" y="68"/>
                    <a:pt x="140" y="68"/>
                    <a:pt x="140" y="68"/>
                  </a:cubicBezTo>
                  <a:cubicBezTo>
                    <a:pt x="143" y="70"/>
                    <a:pt x="146" y="69"/>
                    <a:pt x="148" y="66"/>
                  </a:cubicBezTo>
                  <a:cubicBezTo>
                    <a:pt x="150" y="64"/>
                    <a:pt x="149" y="60"/>
                    <a:pt x="147" y="58"/>
                  </a:cubicBezTo>
                  <a:close/>
                  <a:moveTo>
                    <a:pt x="43" y="116"/>
                  </a:moveTo>
                  <a:cubicBezTo>
                    <a:pt x="22" y="101"/>
                    <a:pt x="22" y="101"/>
                    <a:pt x="22" y="101"/>
                  </a:cubicBezTo>
                  <a:cubicBezTo>
                    <a:pt x="27" y="93"/>
                    <a:pt x="27" y="93"/>
                    <a:pt x="27" y="93"/>
                  </a:cubicBezTo>
                  <a:cubicBezTo>
                    <a:pt x="49" y="108"/>
                    <a:pt x="49" y="108"/>
                    <a:pt x="49" y="108"/>
                  </a:cubicBezTo>
                  <a:lnTo>
                    <a:pt x="43" y="116"/>
                  </a:lnTo>
                  <a:close/>
                  <a:moveTo>
                    <a:pt x="60" y="92"/>
                  </a:moveTo>
                  <a:cubicBezTo>
                    <a:pt x="39" y="76"/>
                    <a:pt x="39" y="76"/>
                    <a:pt x="39" y="76"/>
                  </a:cubicBezTo>
                  <a:cubicBezTo>
                    <a:pt x="44" y="69"/>
                    <a:pt x="44" y="69"/>
                    <a:pt x="44" y="69"/>
                  </a:cubicBezTo>
                  <a:cubicBezTo>
                    <a:pt x="66" y="84"/>
                    <a:pt x="66" y="84"/>
                    <a:pt x="66" y="84"/>
                  </a:cubicBezTo>
                  <a:lnTo>
                    <a:pt x="60" y="92"/>
                  </a:lnTo>
                  <a:close/>
                  <a:moveTo>
                    <a:pt x="77" y="67"/>
                  </a:moveTo>
                  <a:cubicBezTo>
                    <a:pt x="56" y="52"/>
                    <a:pt x="56" y="52"/>
                    <a:pt x="56" y="52"/>
                  </a:cubicBezTo>
                  <a:cubicBezTo>
                    <a:pt x="61" y="45"/>
                    <a:pt x="61" y="45"/>
                    <a:pt x="61" y="45"/>
                  </a:cubicBezTo>
                  <a:cubicBezTo>
                    <a:pt x="82" y="60"/>
                    <a:pt x="82" y="60"/>
                    <a:pt x="82" y="60"/>
                  </a:cubicBezTo>
                  <a:lnTo>
                    <a:pt x="77" y="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65"/>
            <p:cNvSpPr>
              <a:spLocks/>
            </p:cNvSpPr>
            <p:nvPr/>
          </p:nvSpPr>
          <p:spPr bwMode="auto">
            <a:xfrm>
              <a:off x="733425" y="3698875"/>
              <a:ext cx="176213" cy="161925"/>
            </a:xfrm>
            <a:custGeom>
              <a:avLst/>
              <a:gdLst>
                <a:gd name="T0" fmla="*/ 74 w 78"/>
                <a:gd name="T1" fmla="*/ 40 h 71"/>
                <a:gd name="T2" fmla="*/ 20 w 78"/>
                <a:gd name="T3" fmla="*/ 2 h 71"/>
                <a:gd name="T4" fmla="*/ 12 w 78"/>
                <a:gd name="T5" fmla="*/ 3 h 71"/>
                <a:gd name="T6" fmla="*/ 14 w 78"/>
                <a:gd name="T7" fmla="*/ 11 h 71"/>
                <a:gd name="T8" fmla="*/ 16 w 78"/>
                <a:gd name="T9" fmla="*/ 13 h 71"/>
                <a:gd name="T10" fmla="*/ 0 w 78"/>
                <a:gd name="T11" fmla="*/ 37 h 71"/>
                <a:gd name="T12" fmla="*/ 8 w 78"/>
                <a:gd name="T13" fmla="*/ 42 h 71"/>
                <a:gd name="T14" fmla="*/ 25 w 78"/>
                <a:gd name="T15" fmla="*/ 19 h 71"/>
                <a:gd name="T16" fmla="*/ 56 w 78"/>
                <a:gd name="T17" fmla="*/ 41 h 71"/>
                <a:gd name="T18" fmla="*/ 40 w 78"/>
                <a:gd name="T19" fmla="*/ 65 h 71"/>
                <a:gd name="T20" fmla="*/ 48 w 78"/>
                <a:gd name="T21" fmla="*/ 71 h 71"/>
                <a:gd name="T22" fmla="*/ 65 w 78"/>
                <a:gd name="T23" fmla="*/ 47 h 71"/>
                <a:gd name="T24" fmla="*/ 67 w 78"/>
                <a:gd name="T25" fmla="*/ 49 h 71"/>
                <a:gd name="T26" fmla="*/ 76 w 78"/>
                <a:gd name="T27" fmla="*/ 48 h 71"/>
                <a:gd name="T28" fmla="*/ 74 w 78"/>
                <a:gd name="T29" fmla="*/ 4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71">
                  <a:moveTo>
                    <a:pt x="74" y="40"/>
                  </a:moveTo>
                  <a:cubicBezTo>
                    <a:pt x="20" y="2"/>
                    <a:pt x="20" y="2"/>
                    <a:pt x="20" y="2"/>
                  </a:cubicBezTo>
                  <a:cubicBezTo>
                    <a:pt x="18" y="0"/>
                    <a:pt x="14" y="1"/>
                    <a:pt x="12" y="3"/>
                  </a:cubicBezTo>
                  <a:cubicBezTo>
                    <a:pt x="10" y="6"/>
                    <a:pt x="11" y="10"/>
                    <a:pt x="14" y="11"/>
                  </a:cubicBezTo>
                  <a:cubicBezTo>
                    <a:pt x="16" y="13"/>
                    <a:pt x="16" y="13"/>
                    <a:pt x="16" y="13"/>
                  </a:cubicBezTo>
                  <a:cubicBezTo>
                    <a:pt x="0" y="37"/>
                    <a:pt x="0" y="37"/>
                    <a:pt x="0" y="37"/>
                  </a:cubicBezTo>
                  <a:cubicBezTo>
                    <a:pt x="8" y="42"/>
                    <a:pt x="8" y="42"/>
                    <a:pt x="8" y="42"/>
                  </a:cubicBezTo>
                  <a:cubicBezTo>
                    <a:pt x="25" y="19"/>
                    <a:pt x="25" y="19"/>
                    <a:pt x="25" y="19"/>
                  </a:cubicBezTo>
                  <a:cubicBezTo>
                    <a:pt x="56" y="41"/>
                    <a:pt x="56" y="41"/>
                    <a:pt x="56" y="41"/>
                  </a:cubicBezTo>
                  <a:cubicBezTo>
                    <a:pt x="40" y="65"/>
                    <a:pt x="40" y="65"/>
                    <a:pt x="40" y="65"/>
                  </a:cubicBezTo>
                  <a:cubicBezTo>
                    <a:pt x="48" y="71"/>
                    <a:pt x="48" y="71"/>
                    <a:pt x="48" y="71"/>
                  </a:cubicBezTo>
                  <a:cubicBezTo>
                    <a:pt x="65" y="47"/>
                    <a:pt x="65" y="47"/>
                    <a:pt x="65" y="47"/>
                  </a:cubicBezTo>
                  <a:cubicBezTo>
                    <a:pt x="67" y="49"/>
                    <a:pt x="67" y="49"/>
                    <a:pt x="67" y="49"/>
                  </a:cubicBezTo>
                  <a:cubicBezTo>
                    <a:pt x="70" y="51"/>
                    <a:pt x="74" y="50"/>
                    <a:pt x="76" y="48"/>
                  </a:cubicBezTo>
                  <a:cubicBezTo>
                    <a:pt x="78" y="45"/>
                    <a:pt x="77" y="41"/>
                    <a:pt x="7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66"/>
            <p:cNvSpPr>
              <a:spLocks/>
            </p:cNvSpPr>
            <p:nvPr/>
          </p:nvSpPr>
          <p:spPr bwMode="auto">
            <a:xfrm>
              <a:off x="487363" y="4078288"/>
              <a:ext cx="138113" cy="153988"/>
            </a:xfrm>
            <a:custGeom>
              <a:avLst/>
              <a:gdLst>
                <a:gd name="T0" fmla="*/ 87 w 87"/>
                <a:gd name="T1" fmla="*/ 33 h 97"/>
                <a:gd name="T2" fmla="*/ 40 w 87"/>
                <a:gd name="T3" fmla="*/ 0 h 97"/>
                <a:gd name="T4" fmla="*/ 36 w 87"/>
                <a:gd name="T5" fmla="*/ 42 h 97"/>
                <a:gd name="T6" fmla="*/ 37 w 87"/>
                <a:gd name="T7" fmla="*/ 43 h 97"/>
                <a:gd name="T8" fmla="*/ 0 w 87"/>
                <a:gd name="T9" fmla="*/ 97 h 97"/>
                <a:gd name="T10" fmla="*/ 22 w 87"/>
                <a:gd name="T11" fmla="*/ 90 h 97"/>
                <a:gd name="T12" fmla="*/ 49 w 87"/>
                <a:gd name="T13" fmla="*/ 52 h 97"/>
                <a:gd name="T14" fmla="*/ 50 w 87"/>
                <a:gd name="T15" fmla="*/ 52 h 97"/>
                <a:gd name="T16" fmla="*/ 87 w 87"/>
                <a:gd name="T17" fmla="*/ 3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97">
                  <a:moveTo>
                    <a:pt x="87" y="33"/>
                  </a:moveTo>
                  <a:lnTo>
                    <a:pt x="40" y="0"/>
                  </a:lnTo>
                  <a:lnTo>
                    <a:pt x="36" y="42"/>
                  </a:lnTo>
                  <a:lnTo>
                    <a:pt x="37" y="43"/>
                  </a:lnTo>
                  <a:lnTo>
                    <a:pt x="0" y="97"/>
                  </a:lnTo>
                  <a:lnTo>
                    <a:pt x="22" y="90"/>
                  </a:lnTo>
                  <a:lnTo>
                    <a:pt x="49" y="52"/>
                  </a:lnTo>
                  <a:lnTo>
                    <a:pt x="50" y="52"/>
                  </a:lnTo>
                  <a:lnTo>
                    <a:pt x="87" y="33"/>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37" name="Freeform 6"/>
          <p:cNvSpPr>
            <a:spLocks noEditPoints="1"/>
          </p:cNvSpPr>
          <p:nvPr userDrawn="1"/>
        </p:nvSpPr>
        <p:spPr bwMode="auto">
          <a:xfrm>
            <a:off x="9636446" y="6191179"/>
            <a:ext cx="323340" cy="323338"/>
          </a:xfrm>
          <a:custGeom>
            <a:avLst/>
            <a:gdLst>
              <a:gd name="T0" fmla="*/ 56 w 446"/>
              <a:gd name="T1" fmla="*/ 377 h 446"/>
              <a:gd name="T2" fmla="*/ 153 w 446"/>
              <a:gd name="T3" fmla="*/ 377 h 446"/>
              <a:gd name="T4" fmla="*/ 251 w 446"/>
              <a:gd name="T5" fmla="*/ 377 h 446"/>
              <a:gd name="T6" fmla="*/ 348 w 446"/>
              <a:gd name="T7" fmla="*/ 377 h 446"/>
              <a:gd name="T8" fmla="*/ 397 w 446"/>
              <a:gd name="T9" fmla="*/ 377 h 446"/>
              <a:gd name="T10" fmla="*/ 397 w 446"/>
              <a:gd name="T11" fmla="*/ 335 h 446"/>
              <a:gd name="T12" fmla="*/ 390 w 446"/>
              <a:gd name="T13" fmla="*/ 223 h 446"/>
              <a:gd name="T14" fmla="*/ 418 w 446"/>
              <a:gd name="T15" fmla="*/ 203 h 446"/>
              <a:gd name="T16" fmla="*/ 369 w 446"/>
              <a:gd name="T17" fmla="*/ 182 h 446"/>
              <a:gd name="T18" fmla="*/ 174 w 446"/>
              <a:gd name="T19" fmla="*/ 182 h 446"/>
              <a:gd name="T20" fmla="*/ 49 w 446"/>
              <a:gd name="T21" fmla="*/ 182 h 446"/>
              <a:gd name="T22" fmla="*/ 49 w 446"/>
              <a:gd name="T23" fmla="*/ 223 h 446"/>
              <a:gd name="T24" fmla="*/ 56 w 446"/>
              <a:gd name="T25" fmla="*/ 335 h 446"/>
              <a:gd name="T26" fmla="*/ 28 w 446"/>
              <a:gd name="T27" fmla="*/ 356 h 446"/>
              <a:gd name="T28" fmla="*/ 432 w 446"/>
              <a:gd name="T29" fmla="*/ 154 h 446"/>
              <a:gd name="T30" fmla="*/ 0 w 446"/>
              <a:gd name="T31" fmla="*/ 140 h 446"/>
              <a:gd name="T32" fmla="*/ 215 w 446"/>
              <a:gd name="T33" fmla="*/ 3 h 446"/>
              <a:gd name="T34" fmla="*/ 231 w 446"/>
              <a:gd name="T35" fmla="*/ 3 h 446"/>
              <a:gd name="T36" fmla="*/ 446 w 446"/>
              <a:gd name="T37" fmla="*/ 140 h 446"/>
              <a:gd name="T38" fmla="*/ 223 w 446"/>
              <a:gd name="T39" fmla="*/ 56 h 446"/>
              <a:gd name="T40" fmla="*/ 223 w 446"/>
              <a:gd name="T41" fmla="*/ 112 h 446"/>
              <a:gd name="T42" fmla="*/ 223 w 446"/>
              <a:gd name="T43" fmla="*/ 56 h 446"/>
              <a:gd name="T44" fmla="*/ 348 w 446"/>
              <a:gd name="T45" fmla="*/ 335 h 446"/>
              <a:gd name="T46" fmla="*/ 293 w 446"/>
              <a:gd name="T47" fmla="*/ 223 h 446"/>
              <a:gd name="T48" fmla="*/ 251 w 446"/>
              <a:gd name="T49" fmla="*/ 223 h 446"/>
              <a:gd name="T50" fmla="*/ 195 w 446"/>
              <a:gd name="T51" fmla="*/ 335 h 446"/>
              <a:gd name="T52" fmla="*/ 251 w 446"/>
              <a:gd name="T53" fmla="*/ 223 h 446"/>
              <a:gd name="T54" fmla="*/ 153 w 446"/>
              <a:gd name="T55" fmla="*/ 335 h 446"/>
              <a:gd name="T56" fmla="*/ 97 w 446"/>
              <a:gd name="T57" fmla="*/ 223 h 446"/>
              <a:gd name="T58" fmla="*/ 21 w 446"/>
              <a:gd name="T59" fmla="*/ 446 h 446"/>
              <a:gd name="T60" fmla="*/ 446 w 446"/>
              <a:gd name="T61" fmla="*/ 426 h 446"/>
              <a:gd name="T62" fmla="*/ 21 w 446"/>
              <a:gd name="T63" fmla="*/ 405 h 446"/>
              <a:gd name="T64" fmla="*/ 21 w 446"/>
              <a:gd name="T65" fmla="*/ 446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6" h="446">
                <a:moveTo>
                  <a:pt x="49" y="377"/>
                </a:moveTo>
                <a:cubicBezTo>
                  <a:pt x="56" y="377"/>
                  <a:pt x="56" y="377"/>
                  <a:pt x="56" y="377"/>
                </a:cubicBezTo>
                <a:cubicBezTo>
                  <a:pt x="97" y="377"/>
                  <a:pt x="97" y="377"/>
                  <a:pt x="97" y="377"/>
                </a:cubicBezTo>
                <a:cubicBezTo>
                  <a:pt x="153" y="377"/>
                  <a:pt x="153" y="377"/>
                  <a:pt x="153" y="377"/>
                </a:cubicBezTo>
                <a:cubicBezTo>
                  <a:pt x="195" y="377"/>
                  <a:pt x="195" y="377"/>
                  <a:pt x="195" y="377"/>
                </a:cubicBezTo>
                <a:cubicBezTo>
                  <a:pt x="251" y="377"/>
                  <a:pt x="251" y="377"/>
                  <a:pt x="251" y="377"/>
                </a:cubicBezTo>
                <a:cubicBezTo>
                  <a:pt x="293" y="377"/>
                  <a:pt x="293" y="377"/>
                  <a:pt x="293" y="377"/>
                </a:cubicBezTo>
                <a:cubicBezTo>
                  <a:pt x="348" y="377"/>
                  <a:pt x="348" y="377"/>
                  <a:pt x="348" y="377"/>
                </a:cubicBezTo>
                <a:cubicBezTo>
                  <a:pt x="390" y="377"/>
                  <a:pt x="390" y="377"/>
                  <a:pt x="390" y="377"/>
                </a:cubicBezTo>
                <a:cubicBezTo>
                  <a:pt x="397" y="377"/>
                  <a:pt x="397" y="377"/>
                  <a:pt x="397" y="377"/>
                </a:cubicBezTo>
                <a:cubicBezTo>
                  <a:pt x="409" y="377"/>
                  <a:pt x="418" y="367"/>
                  <a:pt x="418" y="356"/>
                </a:cubicBezTo>
                <a:cubicBezTo>
                  <a:pt x="418" y="344"/>
                  <a:pt x="409" y="335"/>
                  <a:pt x="397" y="335"/>
                </a:cubicBezTo>
                <a:cubicBezTo>
                  <a:pt x="390" y="335"/>
                  <a:pt x="390" y="335"/>
                  <a:pt x="390" y="335"/>
                </a:cubicBezTo>
                <a:cubicBezTo>
                  <a:pt x="390" y="223"/>
                  <a:pt x="390" y="223"/>
                  <a:pt x="390" y="223"/>
                </a:cubicBezTo>
                <a:cubicBezTo>
                  <a:pt x="397" y="223"/>
                  <a:pt x="397" y="223"/>
                  <a:pt x="397" y="223"/>
                </a:cubicBezTo>
                <a:cubicBezTo>
                  <a:pt x="409" y="223"/>
                  <a:pt x="418" y="214"/>
                  <a:pt x="418" y="203"/>
                </a:cubicBezTo>
                <a:cubicBezTo>
                  <a:pt x="418" y="191"/>
                  <a:pt x="409" y="182"/>
                  <a:pt x="397" y="182"/>
                </a:cubicBezTo>
                <a:cubicBezTo>
                  <a:pt x="369" y="182"/>
                  <a:pt x="369" y="182"/>
                  <a:pt x="369" y="182"/>
                </a:cubicBezTo>
                <a:cubicBezTo>
                  <a:pt x="272" y="182"/>
                  <a:pt x="272" y="182"/>
                  <a:pt x="272" y="182"/>
                </a:cubicBezTo>
                <a:cubicBezTo>
                  <a:pt x="174" y="182"/>
                  <a:pt x="174" y="182"/>
                  <a:pt x="174" y="182"/>
                </a:cubicBezTo>
                <a:cubicBezTo>
                  <a:pt x="77" y="182"/>
                  <a:pt x="77" y="182"/>
                  <a:pt x="77" y="182"/>
                </a:cubicBezTo>
                <a:cubicBezTo>
                  <a:pt x="49" y="182"/>
                  <a:pt x="49" y="182"/>
                  <a:pt x="49" y="182"/>
                </a:cubicBezTo>
                <a:cubicBezTo>
                  <a:pt x="37" y="182"/>
                  <a:pt x="28" y="191"/>
                  <a:pt x="28" y="203"/>
                </a:cubicBezTo>
                <a:cubicBezTo>
                  <a:pt x="28" y="214"/>
                  <a:pt x="37" y="223"/>
                  <a:pt x="49" y="223"/>
                </a:cubicBezTo>
                <a:cubicBezTo>
                  <a:pt x="56" y="223"/>
                  <a:pt x="56" y="223"/>
                  <a:pt x="56" y="223"/>
                </a:cubicBezTo>
                <a:cubicBezTo>
                  <a:pt x="56" y="335"/>
                  <a:pt x="56" y="335"/>
                  <a:pt x="56" y="335"/>
                </a:cubicBezTo>
                <a:cubicBezTo>
                  <a:pt x="49" y="335"/>
                  <a:pt x="49" y="335"/>
                  <a:pt x="49" y="335"/>
                </a:cubicBezTo>
                <a:cubicBezTo>
                  <a:pt x="37" y="335"/>
                  <a:pt x="28" y="344"/>
                  <a:pt x="28" y="356"/>
                </a:cubicBezTo>
                <a:cubicBezTo>
                  <a:pt x="28" y="367"/>
                  <a:pt x="37" y="377"/>
                  <a:pt x="49" y="377"/>
                </a:cubicBezTo>
                <a:close/>
                <a:moveTo>
                  <a:pt x="432" y="154"/>
                </a:moveTo>
                <a:cubicBezTo>
                  <a:pt x="14" y="154"/>
                  <a:pt x="14" y="154"/>
                  <a:pt x="14" y="154"/>
                </a:cubicBezTo>
                <a:cubicBezTo>
                  <a:pt x="6" y="154"/>
                  <a:pt x="0" y="148"/>
                  <a:pt x="0" y="140"/>
                </a:cubicBezTo>
                <a:cubicBezTo>
                  <a:pt x="0" y="134"/>
                  <a:pt x="3" y="130"/>
                  <a:pt x="8" y="127"/>
                </a:cubicBezTo>
                <a:cubicBezTo>
                  <a:pt x="215" y="3"/>
                  <a:pt x="215" y="3"/>
                  <a:pt x="215" y="3"/>
                </a:cubicBezTo>
                <a:cubicBezTo>
                  <a:pt x="217" y="1"/>
                  <a:pt x="220" y="0"/>
                  <a:pt x="223" y="0"/>
                </a:cubicBezTo>
                <a:cubicBezTo>
                  <a:pt x="226" y="0"/>
                  <a:pt x="229" y="1"/>
                  <a:pt x="231" y="3"/>
                </a:cubicBezTo>
                <a:cubicBezTo>
                  <a:pt x="438" y="127"/>
                  <a:pt x="438" y="127"/>
                  <a:pt x="438" y="127"/>
                </a:cubicBezTo>
                <a:cubicBezTo>
                  <a:pt x="443" y="130"/>
                  <a:pt x="446" y="134"/>
                  <a:pt x="446" y="140"/>
                </a:cubicBezTo>
                <a:cubicBezTo>
                  <a:pt x="446" y="148"/>
                  <a:pt x="440" y="154"/>
                  <a:pt x="432" y="154"/>
                </a:cubicBezTo>
                <a:close/>
                <a:moveTo>
                  <a:pt x="223" y="56"/>
                </a:moveTo>
                <a:cubicBezTo>
                  <a:pt x="208" y="56"/>
                  <a:pt x="195" y="69"/>
                  <a:pt x="195" y="84"/>
                </a:cubicBezTo>
                <a:cubicBezTo>
                  <a:pt x="195" y="99"/>
                  <a:pt x="208" y="112"/>
                  <a:pt x="223" y="112"/>
                </a:cubicBezTo>
                <a:cubicBezTo>
                  <a:pt x="238" y="112"/>
                  <a:pt x="251" y="99"/>
                  <a:pt x="251" y="84"/>
                </a:cubicBezTo>
                <a:cubicBezTo>
                  <a:pt x="251" y="69"/>
                  <a:pt x="238" y="56"/>
                  <a:pt x="223" y="56"/>
                </a:cubicBezTo>
                <a:close/>
                <a:moveTo>
                  <a:pt x="348" y="223"/>
                </a:moveTo>
                <a:cubicBezTo>
                  <a:pt x="348" y="335"/>
                  <a:pt x="348" y="335"/>
                  <a:pt x="348" y="335"/>
                </a:cubicBezTo>
                <a:cubicBezTo>
                  <a:pt x="293" y="335"/>
                  <a:pt x="293" y="335"/>
                  <a:pt x="293" y="335"/>
                </a:cubicBezTo>
                <a:cubicBezTo>
                  <a:pt x="293" y="223"/>
                  <a:pt x="293" y="223"/>
                  <a:pt x="293" y="223"/>
                </a:cubicBezTo>
                <a:cubicBezTo>
                  <a:pt x="348" y="223"/>
                  <a:pt x="348" y="223"/>
                  <a:pt x="348" y="223"/>
                </a:cubicBezTo>
                <a:close/>
                <a:moveTo>
                  <a:pt x="251" y="223"/>
                </a:moveTo>
                <a:cubicBezTo>
                  <a:pt x="251" y="335"/>
                  <a:pt x="251" y="335"/>
                  <a:pt x="251" y="335"/>
                </a:cubicBezTo>
                <a:cubicBezTo>
                  <a:pt x="195" y="335"/>
                  <a:pt x="195" y="335"/>
                  <a:pt x="195" y="335"/>
                </a:cubicBezTo>
                <a:cubicBezTo>
                  <a:pt x="195" y="223"/>
                  <a:pt x="195" y="223"/>
                  <a:pt x="195" y="223"/>
                </a:cubicBezTo>
                <a:cubicBezTo>
                  <a:pt x="251" y="223"/>
                  <a:pt x="251" y="223"/>
                  <a:pt x="251" y="223"/>
                </a:cubicBezTo>
                <a:close/>
                <a:moveTo>
                  <a:pt x="153" y="223"/>
                </a:moveTo>
                <a:cubicBezTo>
                  <a:pt x="153" y="335"/>
                  <a:pt x="153" y="335"/>
                  <a:pt x="153" y="335"/>
                </a:cubicBezTo>
                <a:cubicBezTo>
                  <a:pt x="97" y="335"/>
                  <a:pt x="97" y="335"/>
                  <a:pt x="97" y="335"/>
                </a:cubicBezTo>
                <a:cubicBezTo>
                  <a:pt x="97" y="223"/>
                  <a:pt x="97" y="223"/>
                  <a:pt x="97" y="223"/>
                </a:cubicBezTo>
                <a:cubicBezTo>
                  <a:pt x="153" y="223"/>
                  <a:pt x="153" y="223"/>
                  <a:pt x="153" y="223"/>
                </a:cubicBezTo>
                <a:close/>
                <a:moveTo>
                  <a:pt x="21" y="446"/>
                </a:moveTo>
                <a:cubicBezTo>
                  <a:pt x="425" y="446"/>
                  <a:pt x="425" y="446"/>
                  <a:pt x="425" y="446"/>
                </a:cubicBezTo>
                <a:cubicBezTo>
                  <a:pt x="437" y="446"/>
                  <a:pt x="446" y="437"/>
                  <a:pt x="446" y="426"/>
                </a:cubicBezTo>
                <a:cubicBezTo>
                  <a:pt x="446" y="414"/>
                  <a:pt x="436" y="405"/>
                  <a:pt x="425" y="405"/>
                </a:cubicBezTo>
                <a:cubicBezTo>
                  <a:pt x="21" y="405"/>
                  <a:pt x="21" y="405"/>
                  <a:pt x="21" y="405"/>
                </a:cubicBezTo>
                <a:cubicBezTo>
                  <a:pt x="9" y="405"/>
                  <a:pt x="0" y="414"/>
                  <a:pt x="0" y="426"/>
                </a:cubicBezTo>
                <a:cubicBezTo>
                  <a:pt x="0" y="437"/>
                  <a:pt x="9" y="446"/>
                  <a:pt x="21" y="4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43" name="Group 7225"/>
          <p:cNvGrpSpPr/>
          <p:nvPr userDrawn="1"/>
        </p:nvGrpSpPr>
        <p:grpSpPr>
          <a:xfrm>
            <a:off x="9616359" y="5566590"/>
            <a:ext cx="347290" cy="307738"/>
            <a:chOff x="8208963" y="3697288"/>
            <a:chExt cx="571500" cy="506413"/>
          </a:xfrm>
          <a:solidFill>
            <a:schemeClr val="tx1"/>
          </a:solidFill>
        </p:grpSpPr>
        <p:sp>
          <p:nvSpPr>
            <p:cNvPr id="144" name="Freeform 59"/>
            <p:cNvSpPr>
              <a:spLocks noEditPoints="1"/>
            </p:cNvSpPr>
            <p:nvPr/>
          </p:nvSpPr>
          <p:spPr bwMode="auto">
            <a:xfrm>
              <a:off x="8208963" y="3697288"/>
              <a:ext cx="571500" cy="506413"/>
            </a:xfrm>
            <a:custGeom>
              <a:avLst/>
              <a:gdLst>
                <a:gd name="T0" fmla="*/ 126 w 252"/>
                <a:gd name="T1" fmla="*/ 0 h 223"/>
                <a:gd name="T2" fmla="*/ 0 w 252"/>
                <a:gd name="T3" fmla="*/ 94 h 223"/>
                <a:gd name="T4" fmla="*/ 29 w 252"/>
                <a:gd name="T5" fmla="*/ 94 h 223"/>
                <a:gd name="T6" fmla="*/ 29 w 252"/>
                <a:gd name="T7" fmla="*/ 223 h 223"/>
                <a:gd name="T8" fmla="*/ 107 w 252"/>
                <a:gd name="T9" fmla="*/ 223 h 223"/>
                <a:gd name="T10" fmla="*/ 107 w 252"/>
                <a:gd name="T11" fmla="*/ 167 h 223"/>
                <a:gd name="T12" fmla="*/ 145 w 252"/>
                <a:gd name="T13" fmla="*/ 167 h 223"/>
                <a:gd name="T14" fmla="*/ 145 w 252"/>
                <a:gd name="T15" fmla="*/ 223 h 223"/>
                <a:gd name="T16" fmla="*/ 222 w 252"/>
                <a:gd name="T17" fmla="*/ 223 h 223"/>
                <a:gd name="T18" fmla="*/ 222 w 252"/>
                <a:gd name="T19" fmla="*/ 94 h 223"/>
                <a:gd name="T20" fmla="*/ 252 w 252"/>
                <a:gd name="T21" fmla="*/ 94 h 223"/>
                <a:gd name="T22" fmla="*/ 126 w 252"/>
                <a:gd name="T23" fmla="*/ 0 h 223"/>
                <a:gd name="T24" fmla="*/ 91 w 252"/>
                <a:gd name="T25" fmla="*/ 204 h 223"/>
                <a:gd name="T26" fmla="*/ 54 w 252"/>
                <a:gd name="T27" fmla="*/ 204 h 223"/>
                <a:gd name="T28" fmla="*/ 54 w 252"/>
                <a:gd name="T29" fmla="*/ 167 h 223"/>
                <a:gd name="T30" fmla="*/ 91 w 252"/>
                <a:gd name="T31" fmla="*/ 167 h 223"/>
                <a:gd name="T32" fmla="*/ 91 w 252"/>
                <a:gd name="T33" fmla="*/ 204 h 223"/>
                <a:gd name="T34" fmla="*/ 91 w 252"/>
                <a:gd name="T35" fmla="*/ 151 h 223"/>
                <a:gd name="T36" fmla="*/ 54 w 252"/>
                <a:gd name="T37" fmla="*/ 151 h 223"/>
                <a:gd name="T38" fmla="*/ 54 w 252"/>
                <a:gd name="T39" fmla="*/ 113 h 223"/>
                <a:gd name="T40" fmla="*/ 91 w 252"/>
                <a:gd name="T41" fmla="*/ 113 h 223"/>
                <a:gd name="T42" fmla="*/ 91 w 252"/>
                <a:gd name="T43" fmla="*/ 151 h 223"/>
                <a:gd name="T44" fmla="*/ 145 w 252"/>
                <a:gd name="T45" fmla="*/ 151 h 223"/>
                <a:gd name="T46" fmla="*/ 107 w 252"/>
                <a:gd name="T47" fmla="*/ 151 h 223"/>
                <a:gd name="T48" fmla="*/ 107 w 252"/>
                <a:gd name="T49" fmla="*/ 113 h 223"/>
                <a:gd name="T50" fmla="*/ 145 w 252"/>
                <a:gd name="T51" fmla="*/ 113 h 223"/>
                <a:gd name="T52" fmla="*/ 145 w 252"/>
                <a:gd name="T53" fmla="*/ 151 h 223"/>
                <a:gd name="T54" fmla="*/ 198 w 252"/>
                <a:gd name="T55" fmla="*/ 204 h 223"/>
                <a:gd name="T56" fmla="*/ 161 w 252"/>
                <a:gd name="T57" fmla="*/ 204 h 223"/>
                <a:gd name="T58" fmla="*/ 161 w 252"/>
                <a:gd name="T59" fmla="*/ 167 h 223"/>
                <a:gd name="T60" fmla="*/ 198 w 252"/>
                <a:gd name="T61" fmla="*/ 167 h 223"/>
                <a:gd name="T62" fmla="*/ 198 w 252"/>
                <a:gd name="T63" fmla="*/ 204 h 223"/>
                <a:gd name="T64" fmla="*/ 198 w 252"/>
                <a:gd name="T65" fmla="*/ 151 h 223"/>
                <a:gd name="T66" fmla="*/ 161 w 252"/>
                <a:gd name="T67" fmla="*/ 151 h 223"/>
                <a:gd name="T68" fmla="*/ 161 w 252"/>
                <a:gd name="T69" fmla="*/ 113 h 223"/>
                <a:gd name="T70" fmla="*/ 198 w 252"/>
                <a:gd name="T71" fmla="*/ 113 h 223"/>
                <a:gd name="T72" fmla="*/ 198 w 252"/>
                <a:gd name="T73" fmla="*/ 151 h 223"/>
                <a:gd name="T74" fmla="*/ 126 w 252"/>
                <a:gd name="T75" fmla="*/ 24 h 223"/>
                <a:gd name="T76" fmla="*/ 157 w 252"/>
                <a:gd name="T77" fmla="*/ 55 h 223"/>
                <a:gd name="T78" fmla="*/ 126 w 252"/>
                <a:gd name="T79" fmla="*/ 86 h 223"/>
                <a:gd name="T80" fmla="*/ 95 w 252"/>
                <a:gd name="T81" fmla="*/ 55 h 223"/>
                <a:gd name="T82" fmla="*/ 126 w 252"/>
                <a:gd name="T83" fmla="*/ 2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2" h="223">
                  <a:moveTo>
                    <a:pt x="126" y="0"/>
                  </a:moveTo>
                  <a:cubicBezTo>
                    <a:pt x="0" y="94"/>
                    <a:pt x="0" y="94"/>
                    <a:pt x="0" y="94"/>
                  </a:cubicBezTo>
                  <a:cubicBezTo>
                    <a:pt x="29" y="94"/>
                    <a:pt x="29" y="94"/>
                    <a:pt x="29" y="94"/>
                  </a:cubicBezTo>
                  <a:cubicBezTo>
                    <a:pt x="29" y="223"/>
                    <a:pt x="29" y="223"/>
                    <a:pt x="29" y="223"/>
                  </a:cubicBezTo>
                  <a:cubicBezTo>
                    <a:pt x="107" y="223"/>
                    <a:pt x="107" y="223"/>
                    <a:pt x="107" y="223"/>
                  </a:cubicBezTo>
                  <a:cubicBezTo>
                    <a:pt x="107" y="167"/>
                    <a:pt x="107" y="167"/>
                    <a:pt x="107" y="167"/>
                  </a:cubicBezTo>
                  <a:cubicBezTo>
                    <a:pt x="145" y="167"/>
                    <a:pt x="145" y="167"/>
                    <a:pt x="145" y="167"/>
                  </a:cubicBezTo>
                  <a:cubicBezTo>
                    <a:pt x="145" y="223"/>
                    <a:pt x="145" y="223"/>
                    <a:pt x="145" y="223"/>
                  </a:cubicBezTo>
                  <a:cubicBezTo>
                    <a:pt x="222" y="223"/>
                    <a:pt x="222" y="223"/>
                    <a:pt x="222" y="223"/>
                  </a:cubicBezTo>
                  <a:cubicBezTo>
                    <a:pt x="222" y="94"/>
                    <a:pt x="222" y="94"/>
                    <a:pt x="222" y="94"/>
                  </a:cubicBezTo>
                  <a:cubicBezTo>
                    <a:pt x="252" y="94"/>
                    <a:pt x="252" y="94"/>
                    <a:pt x="252" y="94"/>
                  </a:cubicBezTo>
                  <a:lnTo>
                    <a:pt x="126" y="0"/>
                  </a:lnTo>
                  <a:close/>
                  <a:moveTo>
                    <a:pt x="91" y="204"/>
                  </a:moveTo>
                  <a:cubicBezTo>
                    <a:pt x="54" y="204"/>
                    <a:pt x="54" y="204"/>
                    <a:pt x="54" y="204"/>
                  </a:cubicBezTo>
                  <a:cubicBezTo>
                    <a:pt x="54" y="167"/>
                    <a:pt x="54" y="167"/>
                    <a:pt x="54" y="167"/>
                  </a:cubicBezTo>
                  <a:cubicBezTo>
                    <a:pt x="91" y="167"/>
                    <a:pt x="91" y="167"/>
                    <a:pt x="91" y="167"/>
                  </a:cubicBezTo>
                  <a:lnTo>
                    <a:pt x="91" y="204"/>
                  </a:lnTo>
                  <a:close/>
                  <a:moveTo>
                    <a:pt x="91" y="151"/>
                  </a:moveTo>
                  <a:cubicBezTo>
                    <a:pt x="54" y="151"/>
                    <a:pt x="54" y="151"/>
                    <a:pt x="54" y="151"/>
                  </a:cubicBezTo>
                  <a:cubicBezTo>
                    <a:pt x="54" y="113"/>
                    <a:pt x="54" y="113"/>
                    <a:pt x="54" y="113"/>
                  </a:cubicBezTo>
                  <a:cubicBezTo>
                    <a:pt x="91" y="113"/>
                    <a:pt x="91" y="113"/>
                    <a:pt x="91" y="113"/>
                  </a:cubicBezTo>
                  <a:lnTo>
                    <a:pt x="91" y="151"/>
                  </a:lnTo>
                  <a:close/>
                  <a:moveTo>
                    <a:pt x="145" y="151"/>
                  </a:moveTo>
                  <a:cubicBezTo>
                    <a:pt x="107" y="151"/>
                    <a:pt x="107" y="151"/>
                    <a:pt x="107" y="151"/>
                  </a:cubicBezTo>
                  <a:cubicBezTo>
                    <a:pt x="107" y="113"/>
                    <a:pt x="107" y="113"/>
                    <a:pt x="107" y="113"/>
                  </a:cubicBezTo>
                  <a:cubicBezTo>
                    <a:pt x="145" y="113"/>
                    <a:pt x="145" y="113"/>
                    <a:pt x="145" y="113"/>
                  </a:cubicBezTo>
                  <a:lnTo>
                    <a:pt x="145" y="151"/>
                  </a:lnTo>
                  <a:close/>
                  <a:moveTo>
                    <a:pt x="198" y="204"/>
                  </a:moveTo>
                  <a:cubicBezTo>
                    <a:pt x="161" y="204"/>
                    <a:pt x="161" y="204"/>
                    <a:pt x="161" y="204"/>
                  </a:cubicBezTo>
                  <a:cubicBezTo>
                    <a:pt x="161" y="167"/>
                    <a:pt x="161" y="167"/>
                    <a:pt x="161" y="167"/>
                  </a:cubicBezTo>
                  <a:cubicBezTo>
                    <a:pt x="198" y="167"/>
                    <a:pt x="198" y="167"/>
                    <a:pt x="198" y="167"/>
                  </a:cubicBezTo>
                  <a:lnTo>
                    <a:pt x="198" y="204"/>
                  </a:lnTo>
                  <a:close/>
                  <a:moveTo>
                    <a:pt x="198" y="151"/>
                  </a:moveTo>
                  <a:cubicBezTo>
                    <a:pt x="161" y="151"/>
                    <a:pt x="161" y="151"/>
                    <a:pt x="161" y="151"/>
                  </a:cubicBezTo>
                  <a:cubicBezTo>
                    <a:pt x="161" y="113"/>
                    <a:pt x="161" y="113"/>
                    <a:pt x="161" y="113"/>
                  </a:cubicBezTo>
                  <a:cubicBezTo>
                    <a:pt x="198" y="113"/>
                    <a:pt x="198" y="113"/>
                    <a:pt x="198" y="113"/>
                  </a:cubicBezTo>
                  <a:lnTo>
                    <a:pt x="198" y="151"/>
                  </a:lnTo>
                  <a:close/>
                  <a:moveTo>
                    <a:pt x="126" y="24"/>
                  </a:moveTo>
                  <a:cubicBezTo>
                    <a:pt x="143" y="24"/>
                    <a:pt x="157" y="38"/>
                    <a:pt x="157" y="55"/>
                  </a:cubicBezTo>
                  <a:cubicBezTo>
                    <a:pt x="157" y="72"/>
                    <a:pt x="143" y="86"/>
                    <a:pt x="126" y="86"/>
                  </a:cubicBezTo>
                  <a:cubicBezTo>
                    <a:pt x="109" y="86"/>
                    <a:pt x="95" y="72"/>
                    <a:pt x="95" y="55"/>
                  </a:cubicBezTo>
                  <a:cubicBezTo>
                    <a:pt x="95" y="38"/>
                    <a:pt x="109" y="24"/>
                    <a:pt x="126" y="2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60"/>
            <p:cNvSpPr>
              <a:spLocks/>
            </p:cNvSpPr>
            <p:nvPr/>
          </p:nvSpPr>
          <p:spPr bwMode="auto">
            <a:xfrm>
              <a:off x="8445500" y="3771900"/>
              <a:ext cx="100013" cy="100013"/>
            </a:xfrm>
            <a:custGeom>
              <a:avLst/>
              <a:gdLst>
                <a:gd name="T0" fmla="*/ 21 w 63"/>
                <a:gd name="T1" fmla="*/ 63 h 63"/>
                <a:gd name="T2" fmla="*/ 41 w 63"/>
                <a:gd name="T3" fmla="*/ 63 h 63"/>
                <a:gd name="T4" fmla="*/ 41 w 63"/>
                <a:gd name="T5" fmla="*/ 41 h 63"/>
                <a:gd name="T6" fmla="*/ 63 w 63"/>
                <a:gd name="T7" fmla="*/ 41 h 63"/>
                <a:gd name="T8" fmla="*/ 63 w 63"/>
                <a:gd name="T9" fmla="*/ 21 h 63"/>
                <a:gd name="T10" fmla="*/ 41 w 63"/>
                <a:gd name="T11" fmla="*/ 21 h 63"/>
                <a:gd name="T12" fmla="*/ 41 w 63"/>
                <a:gd name="T13" fmla="*/ 0 h 63"/>
                <a:gd name="T14" fmla="*/ 21 w 63"/>
                <a:gd name="T15" fmla="*/ 0 h 63"/>
                <a:gd name="T16" fmla="*/ 21 w 63"/>
                <a:gd name="T17" fmla="*/ 21 h 63"/>
                <a:gd name="T18" fmla="*/ 0 w 63"/>
                <a:gd name="T19" fmla="*/ 21 h 63"/>
                <a:gd name="T20" fmla="*/ 0 w 63"/>
                <a:gd name="T21" fmla="*/ 41 h 63"/>
                <a:gd name="T22" fmla="*/ 21 w 63"/>
                <a:gd name="T23" fmla="*/ 41 h 63"/>
                <a:gd name="T24" fmla="*/ 21 w 63"/>
                <a:gd name="T25"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3" h="63">
                  <a:moveTo>
                    <a:pt x="21" y="63"/>
                  </a:moveTo>
                  <a:lnTo>
                    <a:pt x="41" y="63"/>
                  </a:lnTo>
                  <a:lnTo>
                    <a:pt x="41" y="41"/>
                  </a:lnTo>
                  <a:lnTo>
                    <a:pt x="63" y="41"/>
                  </a:lnTo>
                  <a:lnTo>
                    <a:pt x="63" y="21"/>
                  </a:lnTo>
                  <a:lnTo>
                    <a:pt x="41" y="21"/>
                  </a:lnTo>
                  <a:lnTo>
                    <a:pt x="41" y="0"/>
                  </a:lnTo>
                  <a:lnTo>
                    <a:pt x="21" y="0"/>
                  </a:lnTo>
                  <a:lnTo>
                    <a:pt x="21" y="21"/>
                  </a:lnTo>
                  <a:lnTo>
                    <a:pt x="0" y="21"/>
                  </a:lnTo>
                  <a:lnTo>
                    <a:pt x="0" y="41"/>
                  </a:lnTo>
                  <a:lnTo>
                    <a:pt x="21" y="41"/>
                  </a:lnTo>
                  <a:lnTo>
                    <a:pt x="21" y="63"/>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46" name="Group 145"/>
          <p:cNvGrpSpPr/>
          <p:nvPr userDrawn="1"/>
        </p:nvGrpSpPr>
        <p:grpSpPr>
          <a:xfrm>
            <a:off x="9605752" y="6759353"/>
            <a:ext cx="359936" cy="314390"/>
            <a:chOff x="7594600" y="1804988"/>
            <a:chExt cx="903288" cy="788987"/>
          </a:xfrm>
          <a:solidFill>
            <a:schemeClr val="tx1"/>
          </a:solidFill>
        </p:grpSpPr>
        <p:sp>
          <p:nvSpPr>
            <p:cNvPr id="147" name="Rectangle 12"/>
            <p:cNvSpPr>
              <a:spLocks noChangeArrowheads="1"/>
            </p:cNvSpPr>
            <p:nvPr/>
          </p:nvSpPr>
          <p:spPr bwMode="auto">
            <a:xfrm>
              <a:off x="8088313" y="2276475"/>
              <a:ext cx="1412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13"/>
            <p:cNvSpPr>
              <a:spLocks/>
            </p:cNvSpPr>
            <p:nvPr/>
          </p:nvSpPr>
          <p:spPr bwMode="auto">
            <a:xfrm>
              <a:off x="7712075" y="2190750"/>
              <a:ext cx="660400" cy="403225"/>
            </a:xfrm>
            <a:custGeom>
              <a:avLst/>
              <a:gdLst>
                <a:gd name="T0" fmla="*/ 197 w 219"/>
                <a:gd name="T1" fmla="*/ 9 h 133"/>
                <a:gd name="T2" fmla="*/ 197 w 219"/>
                <a:gd name="T3" fmla="*/ 111 h 133"/>
                <a:gd name="T4" fmla="*/ 98 w 219"/>
                <a:gd name="T5" fmla="*/ 111 h 133"/>
                <a:gd name="T6" fmla="*/ 98 w 219"/>
                <a:gd name="T7" fmla="*/ 28 h 133"/>
                <a:gd name="T8" fmla="*/ 47 w 219"/>
                <a:gd name="T9" fmla="*/ 28 h 133"/>
                <a:gd name="T10" fmla="*/ 47 w 219"/>
                <a:gd name="T11" fmla="*/ 111 h 133"/>
                <a:gd name="T12" fmla="*/ 22 w 219"/>
                <a:gd name="T13" fmla="*/ 111 h 133"/>
                <a:gd name="T14" fmla="*/ 22 w 219"/>
                <a:gd name="T15" fmla="*/ 9 h 133"/>
                <a:gd name="T16" fmla="*/ 4 w 219"/>
                <a:gd name="T17" fmla="*/ 0 h 133"/>
                <a:gd name="T18" fmla="*/ 0 w 219"/>
                <a:gd name="T19" fmla="*/ 4 h 133"/>
                <a:gd name="T20" fmla="*/ 0 w 219"/>
                <a:gd name="T21" fmla="*/ 120 h 133"/>
                <a:gd name="T22" fmla="*/ 13 w 219"/>
                <a:gd name="T23" fmla="*/ 133 h 133"/>
                <a:gd name="T24" fmla="*/ 206 w 219"/>
                <a:gd name="T25" fmla="*/ 133 h 133"/>
                <a:gd name="T26" fmla="*/ 219 w 219"/>
                <a:gd name="T27" fmla="*/ 120 h 133"/>
                <a:gd name="T28" fmla="*/ 219 w 219"/>
                <a:gd name="T29" fmla="*/ 2 h 133"/>
                <a:gd name="T30" fmla="*/ 218 w 219"/>
                <a:gd name="T31" fmla="*/ 0 h 133"/>
                <a:gd name="T32" fmla="*/ 197 w 219"/>
                <a:gd name="T33" fmla="*/ 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33">
                  <a:moveTo>
                    <a:pt x="197" y="9"/>
                  </a:moveTo>
                  <a:cubicBezTo>
                    <a:pt x="197" y="111"/>
                    <a:pt x="197" y="111"/>
                    <a:pt x="197" y="111"/>
                  </a:cubicBezTo>
                  <a:cubicBezTo>
                    <a:pt x="98" y="111"/>
                    <a:pt x="98" y="111"/>
                    <a:pt x="98" y="111"/>
                  </a:cubicBezTo>
                  <a:cubicBezTo>
                    <a:pt x="98" y="28"/>
                    <a:pt x="98" y="28"/>
                    <a:pt x="98" y="28"/>
                  </a:cubicBezTo>
                  <a:cubicBezTo>
                    <a:pt x="47" y="28"/>
                    <a:pt x="47" y="28"/>
                    <a:pt x="47" y="28"/>
                  </a:cubicBezTo>
                  <a:cubicBezTo>
                    <a:pt x="47" y="111"/>
                    <a:pt x="47" y="111"/>
                    <a:pt x="47" y="111"/>
                  </a:cubicBezTo>
                  <a:cubicBezTo>
                    <a:pt x="22" y="111"/>
                    <a:pt x="22" y="111"/>
                    <a:pt x="22" y="111"/>
                  </a:cubicBezTo>
                  <a:cubicBezTo>
                    <a:pt x="22" y="9"/>
                    <a:pt x="22" y="9"/>
                    <a:pt x="22" y="9"/>
                  </a:cubicBezTo>
                  <a:cubicBezTo>
                    <a:pt x="15" y="8"/>
                    <a:pt x="9" y="5"/>
                    <a:pt x="4" y="0"/>
                  </a:cubicBezTo>
                  <a:cubicBezTo>
                    <a:pt x="3" y="2"/>
                    <a:pt x="1" y="3"/>
                    <a:pt x="0" y="4"/>
                  </a:cubicBezTo>
                  <a:cubicBezTo>
                    <a:pt x="0" y="120"/>
                    <a:pt x="0" y="120"/>
                    <a:pt x="0" y="120"/>
                  </a:cubicBezTo>
                  <a:cubicBezTo>
                    <a:pt x="0" y="128"/>
                    <a:pt x="6" y="133"/>
                    <a:pt x="13" y="133"/>
                  </a:cubicBezTo>
                  <a:cubicBezTo>
                    <a:pt x="206" y="133"/>
                    <a:pt x="206" y="133"/>
                    <a:pt x="206" y="133"/>
                  </a:cubicBezTo>
                  <a:cubicBezTo>
                    <a:pt x="213" y="133"/>
                    <a:pt x="219" y="128"/>
                    <a:pt x="219" y="120"/>
                  </a:cubicBezTo>
                  <a:cubicBezTo>
                    <a:pt x="219" y="2"/>
                    <a:pt x="219" y="2"/>
                    <a:pt x="219" y="2"/>
                  </a:cubicBezTo>
                  <a:cubicBezTo>
                    <a:pt x="219" y="1"/>
                    <a:pt x="218" y="1"/>
                    <a:pt x="218" y="0"/>
                  </a:cubicBezTo>
                  <a:cubicBezTo>
                    <a:pt x="212" y="6"/>
                    <a:pt x="205" y="9"/>
                    <a:pt x="19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14"/>
            <p:cNvSpPr>
              <a:spLocks/>
            </p:cNvSpPr>
            <p:nvPr/>
          </p:nvSpPr>
          <p:spPr bwMode="auto">
            <a:xfrm>
              <a:off x="7853363" y="2130425"/>
              <a:ext cx="127000" cy="63500"/>
            </a:xfrm>
            <a:custGeom>
              <a:avLst/>
              <a:gdLst>
                <a:gd name="T0" fmla="*/ 21 w 42"/>
                <a:gd name="T1" fmla="*/ 21 h 21"/>
                <a:gd name="T2" fmla="*/ 42 w 42"/>
                <a:gd name="T3" fmla="*/ 0 h 21"/>
                <a:gd name="T4" fmla="*/ 0 w 42"/>
                <a:gd name="T5" fmla="*/ 0 h 21"/>
                <a:gd name="T6" fmla="*/ 21 w 42"/>
                <a:gd name="T7" fmla="*/ 21 h 21"/>
              </a:gdLst>
              <a:ahLst/>
              <a:cxnLst>
                <a:cxn ang="0">
                  <a:pos x="T0" y="T1"/>
                </a:cxn>
                <a:cxn ang="0">
                  <a:pos x="T2" y="T3"/>
                </a:cxn>
                <a:cxn ang="0">
                  <a:pos x="T4" y="T5"/>
                </a:cxn>
                <a:cxn ang="0">
                  <a:pos x="T6" y="T7"/>
                </a:cxn>
              </a:cxnLst>
              <a:rect l="0" t="0" r="r" b="b"/>
              <a:pathLst>
                <a:path w="42" h="21">
                  <a:moveTo>
                    <a:pt x="21" y="21"/>
                  </a:moveTo>
                  <a:cubicBezTo>
                    <a:pt x="33" y="21"/>
                    <a:pt x="42" y="12"/>
                    <a:pt x="42"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15"/>
            <p:cNvSpPr>
              <a:spLocks/>
            </p:cNvSpPr>
            <p:nvPr/>
          </p:nvSpPr>
          <p:spPr bwMode="auto">
            <a:xfrm>
              <a:off x="7723188" y="2130425"/>
              <a:ext cx="130175" cy="63500"/>
            </a:xfrm>
            <a:custGeom>
              <a:avLst/>
              <a:gdLst>
                <a:gd name="T0" fmla="*/ 21 w 43"/>
                <a:gd name="T1" fmla="*/ 21 h 21"/>
                <a:gd name="T2" fmla="*/ 43 w 43"/>
                <a:gd name="T3" fmla="*/ 0 h 21"/>
                <a:gd name="T4" fmla="*/ 0 w 43"/>
                <a:gd name="T5" fmla="*/ 0 h 21"/>
                <a:gd name="T6" fmla="*/ 21 w 43"/>
                <a:gd name="T7" fmla="*/ 21 h 21"/>
              </a:gdLst>
              <a:ahLst/>
              <a:cxnLst>
                <a:cxn ang="0">
                  <a:pos x="T0" y="T1"/>
                </a:cxn>
                <a:cxn ang="0">
                  <a:pos x="T2" y="T3"/>
                </a:cxn>
                <a:cxn ang="0">
                  <a:pos x="T4" y="T5"/>
                </a:cxn>
                <a:cxn ang="0">
                  <a:pos x="T6" y="T7"/>
                </a:cxn>
              </a:cxnLst>
              <a:rect l="0" t="0" r="r" b="b"/>
              <a:pathLst>
                <a:path w="43" h="21">
                  <a:moveTo>
                    <a:pt x="21" y="21"/>
                  </a:moveTo>
                  <a:cubicBezTo>
                    <a:pt x="33" y="21"/>
                    <a:pt x="43" y="12"/>
                    <a:pt x="43"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16"/>
            <p:cNvSpPr>
              <a:spLocks/>
            </p:cNvSpPr>
            <p:nvPr/>
          </p:nvSpPr>
          <p:spPr bwMode="auto">
            <a:xfrm>
              <a:off x="7594600" y="2130425"/>
              <a:ext cx="128588" cy="63500"/>
            </a:xfrm>
            <a:custGeom>
              <a:avLst/>
              <a:gdLst>
                <a:gd name="T0" fmla="*/ 22 w 43"/>
                <a:gd name="T1" fmla="*/ 21 h 21"/>
                <a:gd name="T2" fmla="*/ 43 w 43"/>
                <a:gd name="T3" fmla="*/ 0 h 21"/>
                <a:gd name="T4" fmla="*/ 0 w 43"/>
                <a:gd name="T5" fmla="*/ 0 h 21"/>
                <a:gd name="T6" fmla="*/ 22 w 43"/>
                <a:gd name="T7" fmla="*/ 21 h 21"/>
              </a:gdLst>
              <a:ahLst/>
              <a:cxnLst>
                <a:cxn ang="0">
                  <a:pos x="T0" y="T1"/>
                </a:cxn>
                <a:cxn ang="0">
                  <a:pos x="T2" y="T3"/>
                </a:cxn>
                <a:cxn ang="0">
                  <a:pos x="T4" y="T5"/>
                </a:cxn>
                <a:cxn ang="0">
                  <a:pos x="T6" y="T7"/>
                </a:cxn>
              </a:cxnLst>
              <a:rect l="0" t="0" r="r" b="b"/>
              <a:pathLst>
                <a:path w="43" h="21">
                  <a:moveTo>
                    <a:pt x="22" y="21"/>
                  </a:moveTo>
                  <a:cubicBezTo>
                    <a:pt x="33" y="21"/>
                    <a:pt x="43" y="12"/>
                    <a:pt x="43" y="0"/>
                  </a:cubicBezTo>
                  <a:cubicBezTo>
                    <a:pt x="0" y="0"/>
                    <a:pt x="0" y="0"/>
                    <a:pt x="0" y="0"/>
                  </a:cubicBezTo>
                  <a:cubicBezTo>
                    <a:pt x="0" y="12"/>
                    <a:pt x="10"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17"/>
            <p:cNvSpPr>
              <a:spLocks/>
            </p:cNvSpPr>
            <p:nvPr/>
          </p:nvSpPr>
          <p:spPr bwMode="auto">
            <a:xfrm>
              <a:off x="7980363" y="2130425"/>
              <a:ext cx="128588" cy="63500"/>
            </a:xfrm>
            <a:custGeom>
              <a:avLst/>
              <a:gdLst>
                <a:gd name="T0" fmla="*/ 22 w 43"/>
                <a:gd name="T1" fmla="*/ 21 h 21"/>
                <a:gd name="T2" fmla="*/ 43 w 43"/>
                <a:gd name="T3" fmla="*/ 0 h 21"/>
                <a:gd name="T4" fmla="*/ 0 w 43"/>
                <a:gd name="T5" fmla="*/ 0 h 21"/>
                <a:gd name="T6" fmla="*/ 22 w 43"/>
                <a:gd name="T7" fmla="*/ 21 h 21"/>
              </a:gdLst>
              <a:ahLst/>
              <a:cxnLst>
                <a:cxn ang="0">
                  <a:pos x="T0" y="T1"/>
                </a:cxn>
                <a:cxn ang="0">
                  <a:pos x="T2" y="T3"/>
                </a:cxn>
                <a:cxn ang="0">
                  <a:pos x="T4" y="T5"/>
                </a:cxn>
                <a:cxn ang="0">
                  <a:pos x="T6" y="T7"/>
                </a:cxn>
              </a:cxnLst>
              <a:rect l="0" t="0" r="r" b="b"/>
              <a:pathLst>
                <a:path w="43" h="21">
                  <a:moveTo>
                    <a:pt x="22" y="21"/>
                  </a:moveTo>
                  <a:cubicBezTo>
                    <a:pt x="34" y="21"/>
                    <a:pt x="43" y="12"/>
                    <a:pt x="43" y="0"/>
                  </a:cubicBezTo>
                  <a:cubicBezTo>
                    <a:pt x="0" y="0"/>
                    <a:pt x="0" y="0"/>
                    <a:pt x="0" y="0"/>
                  </a:cubicBezTo>
                  <a:cubicBezTo>
                    <a:pt x="0" y="12"/>
                    <a:pt x="10"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18"/>
            <p:cNvSpPr>
              <a:spLocks/>
            </p:cNvSpPr>
            <p:nvPr/>
          </p:nvSpPr>
          <p:spPr bwMode="auto">
            <a:xfrm>
              <a:off x="8108950" y="2130425"/>
              <a:ext cx="130175" cy="63500"/>
            </a:xfrm>
            <a:custGeom>
              <a:avLst/>
              <a:gdLst>
                <a:gd name="T0" fmla="*/ 22 w 43"/>
                <a:gd name="T1" fmla="*/ 21 h 21"/>
                <a:gd name="T2" fmla="*/ 43 w 43"/>
                <a:gd name="T3" fmla="*/ 0 h 21"/>
                <a:gd name="T4" fmla="*/ 0 w 43"/>
                <a:gd name="T5" fmla="*/ 0 h 21"/>
                <a:gd name="T6" fmla="*/ 22 w 43"/>
                <a:gd name="T7" fmla="*/ 21 h 21"/>
              </a:gdLst>
              <a:ahLst/>
              <a:cxnLst>
                <a:cxn ang="0">
                  <a:pos x="T0" y="T1"/>
                </a:cxn>
                <a:cxn ang="0">
                  <a:pos x="T2" y="T3"/>
                </a:cxn>
                <a:cxn ang="0">
                  <a:pos x="T4" y="T5"/>
                </a:cxn>
                <a:cxn ang="0">
                  <a:pos x="T6" y="T7"/>
                </a:cxn>
              </a:cxnLst>
              <a:rect l="0" t="0" r="r" b="b"/>
              <a:pathLst>
                <a:path w="43" h="21">
                  <a:moveTo>
                    <a:pt x="22" y="21"/>
                  </a:moveTo>
                  <a:cubicBezTo>
                    <a:pt x="33" y="21"/>
                    <a:pt x="43" y="12"/>
                    <a:pt x="43" y="0"/>
                  </a:cubicBezTo>
                  <a:cubicBezTo>
                    <a:pt x="0" y="0"/>
                    <a:pt x="0" y="0"/>
                    <a:pt x="0" y="0"/>
                  </a:cubicBezTo>
                  <a:cubicBezTo>
                    <a:pt x="0" y="12"/>
                    <a:pt x="10"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19"/>
            <p:cNvSpPr>
              <a:spLocks/>
            </p:cNvSpPr>
            <p:nvPr/>
          </p:nvSpPr>
          <p:spPr bwMode="auto">
            <a:xfrm>
              <a:off x="8239125" y="2130425"/>
              <a:ext cx="130175" cy="63500"/>
            </a:xfrm>
            <a:custGeom>
              <a:avLst/>
              <a:gdLst>
                <a:gd name="T0" fmla="*/ 21 w 43"/>
                <a:gd name="T1" fmla="*/ 21 h 21"/>
                <a:gd name="T2" fmla="*/ 43 w 43"/>
                <a:gd name="T3" fmla="*/ 0 h 21"/>
                <a:gd name="T4" fmla="*/ 0 w 43"/>
                <a:gd name="T5" fmla="*/ 0 h 21"/>
                <a:gd name="T6" fmla="*/ 21 w 43"/>
                <a:gd name="T7" fmla="*/ 21 h 21"/>
              </a:gdLst>
              <a:ahLst/>
              <a:cxnLst>
                <a:cxn ang="0">
                  <a:pos x="T0" y="T1"/>
                </a:cxn>
                <a:cxn ang="0">
                  <a:pos x="T2" y="T3"/>
                </a:cxn>
                <a:cxn ang="0">
                  <a:pos x="T4" y="T5"/>
                </a:cxn>
                <a:cxn ang="0">
                  <a:pos x="T6" y="T7"/>
                </a:cxn>
              </a:cxnLst>
              <a:rect l="0" t="0" r="r" b="b"/>
              <a:pathLst>
                <a:path w="43" h="21">
                  <a:moveTo>
                    <a:pt x="21" y="21"/>
                  </a:moveTo>
                  <a:cubicBezTo>
                    <a:pt x="33" y="21"/>
                    <a:pt x="43" y="12"/>
                    <a:pt x="43"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20"/>
            <p:cNvSpPr>
              <a:spLocks/>
            </p:cNvSpPr>
            <p:nvPr/>
          </p:nvSpPr>
          <p:spPr bwMode="auto">
            <a:xfrm>
              <a:off x="8369300" y="2130425"/>
              <a:ext cx="125413" cy="63500"/>
            </a:xfrm>
            <a:custGeom>
              <a:avLst/>
              <a:gdLst>
                <a:gd name="T0" fmla="*/ 21 w 42"/>
                <a:gd name="T1" fmla="*/ 21 h 21"/>
                <a:gd name="T2" fmla="*/ 42 w 42"/>
                <a:gd name="T3" fmla="*/ 0 h 21"/>
                <a:gd name="T4" fmla="*/ 0 w 42"/>
                <a:gd name="T5" fmla="*/ 0 h 21"/>
                <a:gd name="T6" fmla="*/ 21 w 42"/>
                <a:gd name="T7" fmla="*/ 21 h 21"/>
              </a:gdLst>
              <a:ahLst/>
              <a:cxnLst>
                <a:cxn ang="0">
                  <a:pos x="T0" y="T1"/>
                </a:cxn>
                <a:cxn ang="0">
                  <a:pos x="T2" y="T3"/>
                </a:cxn>
                <a:cxn ang="0">
                  <a:pos x="T4" y="T5"/>
                </a:cxn>
                <a:cxn ang="0">
                  <a:pos x="T6" y="T7"/>
                </a:cxn>
              </a:cxnLst>
              <a:rect l="0" t="0" r="r" b="b"/>
              <a:pathLst>
                <a:path w="42" h="21">
                  <a:moveTo>
                    <a:pt x="21" y="21"/>
                  </a:moveTo>
                  <a:cubicBezTo>
                    <a:pt x="33" y="21"/>
                    <a:pt x="42" y="12"/>
                    <a:pt x="42"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21"/>
            <p:cNvSpPr>
              <a:spLocks/>
            </p:cNvSpPr>
            <p:nvPr/>
          </p:nvSpPr>
          <p:spPr bwMode="auto">
            <a:xfrm>
              <a:off x="7597775" y="1804988"/>
              <a:ext cx="900113" cy="325438"/>
            </a:xfrm>
            <a:custGeom>
              <a:avLst/>
              <a:gdLst>
                <a:gd name="T0" fmla="*/ 43 w 299"/>
                <a:gd name="T1" fmla="*/ 108 h 108"/>
                <a:gd name="T2" fmla="*/ 73 w 299"/>
                <a:gd name="T3" fmla="*/ 39 h 108"/>
                <a:gd name="T4" fmla="*/ 73 w 299"/>
                <a:gd name="T5" fmla="*/ 39 h 108"/>
                <a:gd name="T6" fmla="*/ 85 w 299"/>
                <a:gd name="T7" fmla="*/ 12 h 108"/>
                <a:gd name="T8" fmla="*/ 110 w 299"/>
                <a:gd name="T9" fmla="*/ 12 h 108"/>
                <a:gd name="T10" fmla="*/ 103 w 299"/>
                <a:gd name="T11" fmla="*/ 39 h 108"/>
                <a:gd name="T12" fmla="*/ 103 w 299"/>
                <a:gd name="T13" fmla="*/ 39 h 108"/>
                <a:gd name="T14" fmla="*/ 85 w 299"/>
                <a:gd name="T15" fmla="*/ 108 h 108"/>
                <a:gd name="T16" fmla="*/ 128 w 299"/>
                <a:gd name="T17" fmla="*/ 108 h 108"/>
                <a:gd name="T18" fmla="*/ 134 w 299"/>
                <a:gd name="T19" fmla="*/ 39 h 108"/>
                <a:gd name="T20" fmla="*/ 134 w 299"/>
                <a:gd name="T21" fmla="*/ 39 h 108"/>
                <a:gd name="T22" fmla="*/ 136 w 299"/>
                <a:gd name="T23" fmla="*/ 12 h 108"/>
                <a:gd name="T24" fmla="*/ 162 w 299"/>
                <a:gd name="T25" fmla="*/ 12 h 108"/>
                <a:gd name="T26" fmla="*/ 164 w 299"/>
                <a:gd name="T27" fmla="*/ 39 h 108"/>
                <a:gd name="T28" fmla="*/ 164 w 299"/>
                <a:gd name="T29" fmla="*/ 39 h 108"/>
                <a:gd name="T30" fmla="*/ 171 w 299"/>
                <a:gd name="T31" fmla="*/ 108 h 108"/>
                <a:gd name="T32" fmla="*/ 213 w 299"/>
                <a:gd name="T33" fmla="*/ 108 h 108"/>
                <a:gd name="T34" fmla="*/ 194 w 299"/>
                <a:gd name="T35" fmla="*/ 39 h 108"/>
                <a:gd name="T36" fmla="*/ 194 w 299"/>
                <a:gd name="T37" fmla="*/ 39 h 108"/>
                <a:gd name="T38" fmla="*/ 187 w 299"/>
                <a:gd name="T39" fmla="*/ 12 h 108"/>
                <a:gd name="T40" fmla="*/ 213 w 299"/>
                <a:gd name="T41" fmla="*/ 12 h 108"/>
                <a:gd name="T42" fmla="*/ 225 w 299"/>
                <a:gd name="T43" fmla="*/ 39 h 108"/>
                <a:gd name="T44" fmla="*/ 225 w 299"/>
                <a:gd name="T45" fmla="*/ 39 h 108"/>
                <a:gd name="T46" fmla="*/ 256 w 299"/>
                <a:gd name="T47" fmla="*/ 108 h 108"/>
                <a:gd name="T48" fmla="*/ 299 w 299"/>
                <a:gd name="T49" fmla="*/ 108 h 108"/>
                <a:gd name="T50" fmla="*/ 238 w 299"/>
                <a:gd name="T51" fmla="*/ 12 h 108"/>
                <a:gd name="T52" fmla="*/ 238 w 299"/>
                <a:gd name="T53" fmla="*/ 6 h 108"/>
                <a:gd name="T54" fmla="*/ 232 w 299"/>
                <a:gd name="T55" fmla="*/ 0 h 108"/>
                <a:gd name="T56" fmla="*/ 65 w 299"/>
                <a:gd name="T57" fmla="*/ 0 h 108"/>
                <a:gd name="T58" fmla="*/ 59 w 299"/>
                <a:gd name="T59" fmla="*/ 6 h 108"/>
                <a:gd name="T60" fmla="*/ 59 w 299"/>
                <a:gd name="T61" fmla="*/ 13 h 108"/>
                <a:gd name="T62" fmla="*/ 0 w 299"/>
                <a:gd name="T63" fmla="*/ 108 h 108"/>
                <a:gd name="T64" fmla="*/ 43 w 299"/>
                <a:gd name="T65"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9" h="108">
                  <a:moveTo>
                    <a:pt x="43" y="108"/>
                  </a:moveTo>
                  <a:cubicBezTo>
                    <a:pt x="73" y="39"/>
                    <a:pt x="73" y="39"/>
                    <a:pt x="73" y="39"/>
                  </a:cubicBezTo>
                  <a:cubicBezTo>
                    <a:pt x="73" y="39"/>
                    <a:pt x="73" y="39"/>
                    <a:pt x="73" y="39"/>
                  </a:cubicBezTo>
                  <a:cubicBezTo>
                    <a:pt x="85" y="12"/>
                    <a:pt x="85" y="12"/>
                    <a:pt x="85" y="12"/>
                  </a:cubicBezTo>
                  <a:cubicBezTo>
                    <a:pt x="110" y="12"/>
                    <a:pt x="110" y="12"/>
                    <a:pt x="110" y="12"/>
                  </a:cubicBezTo>
                  <a:cubicBezTo>
                    <a:pt x="103" y="39"/>
                    <a:pt x="103" y="39"/>
                    <a:pt x="103" y="39"/>
                  </a:cubicBezTo>
                  <a:cubicBezTo>
                    <a:pt x="103" y="39"/>
                    <a:pt x="103" y="39"/>
                    <a:pt x="103" y="39"/>
                  </a:cubicBezTo>
                  <a:cubicBezTo>
                    <a:pt x="85" y="108"/>
                    <a:pt x="85" y="108"/>
                    <a:pt x="85" y="108"/>
                  </a:cubicBezTo>
                  <a:cubicBezTo>
                    <a:pt x="128" y="108"/>
                    <a:pt x="128" y="108"/>
                    <a:pt x="128" y="108"/>
                  </a:cubicBezTo>
                  <a:cubicBezTo>
                    <a:pt x="134" y="39"/>
                    <a:pt x="134" y="39"/>
                    <a:pt x="134" y="39"/>
                  </a:cubicBezTo>
                  <a:cubicBezTo>
                    <a:pt x="134" y="39"/>
                    <a:pt x="134" y="39"/>
                    <a:pt x="134" y="39"/>
                  </a:cubicBezTo>
                  <a:cubicBezTo>
                    <a:pt x="136" y="12"/>
                    <a:pt x="136" y="12"/>
                    <a:pt x="136" y="12"/>
                  </a:cubicBezTo>
                  <a:cubicBezTo>
                    <a:pt x="162" y="12"/>
                    <a:pt x="162" y="12"/>
                    <a:pt x="162" y="12"/>
                  </a:cubicBezTo>
                  <a:cubicBezTo>
                    <a:pt x="164" y="39"/>
                    <a:pt x="164" y="39"/>
                    <a:pt x="164" y="39"/>
                  </a:cubicBezTo>
                  <a:cubicBezTo>
                    <a:pt x="164" y="39"/>
                    <a:pt x="164" y="39"/>
                    <a:pt x="164" y="39"/>
                  </a:cubicBezTo>
                  <a:cubicBezTo>
                    <a:pt x="171" y="108"/>
                    <a:pt x="171" y="108"/>
                    <a:pt x="171" y="108"/>
                  </a:cubicBezTo>
                  <a:cubicBezTo>
                    <a:pt x="213" y="108"/>
                    <a:pt x="213" y="108"/>
                    <a:pt x="213" y="108"/>
                  </a:cubicBezTo>
                  <a:cubicBezTo>
                    <a:pt x="194" y="39"/>
                    <a:pt x="194" y="39"/>
                    <a:pt x="194" y="39"/>
                  </a:cubicBezTo>
                  <a:cubicBezTo>
                    <a:pt x="194" y="39"/>
                    <a:pt x="194" y="39"/>
                    <a:pt x="194" y="39"/>
                  </a:cubicBezTo>
                  <a:cubicBezTo>
                    <a:pt x="187" y="12"/>
                    <a:pt x="187" y="12"/>
                    <a:pt x="187" y="12"/>
                  </a:cubicBezTo>
                  <a:cubicBezTo>
                    <a:pt x="213" y="12"/>
                    <a:pt x="213" y="12"/>
                    <a:pt x="213" y="12"/>
                  </a:cubicBezTo>
                  <a:cubicBezTo>
                    <a:pt x="225" y="39"/>
                    <a:pt x="225" y="39"/>
                    <a:pt x="225" y="39"/>
                  </a:cubicBezTo>
                  <a:cubicBezTo>
                    <a:pt x="225" y="39"/>
                    <a:pt x="225" y="39"/>
                    <a:pt x="225" y="39"/>
                  </a:cubicBezTo>
                  <a:cubicBezTo>
                    <a:pt x="256" y="108"/>
                    <a:pt x="256" y="108"/>
                    <a:pt x="256" y="108"/>
                  </a:cubicBezTo>
                  <a:cubicBezTo>
                    <a:pt x="299" y="108"/>
                    <a:pt x="299" y="108"/>
                    <a:pt x="299" y="108"/>
                  </a:cubicBezTo>
                  <a:cubicBezTo>
                    <a:pt x="238" y="12"/>
                    <a:pt x="238" y="12"/>
                    <a:pt x="238" y="12"/>
                  </a:cubicBezTo>
                  <a:cubicBezTo>
                    <a:pt x="238" y="6"/>
                    <a:pt x="238" y="6"/>
                    <a:pt x="238" y="6"/>
                  </a:cubicBezTo>
                  <a:cubicBezTo>
                    <a:pt x="238" y="3"/>
                    <a:pt x="236" y="0"/>
                    <a:pt x="232" y="0"/>
                  </a:cubicBezTo>
                  <a:cubicBezTo>
                    <a:pt x="65" y="0"/>
                    <a:pt x="65" y="0"/>
                    <a:pt x="65" y="0"/>
                  </a:cubicBezTo>
                  <a:cubicBezTo>
                    <a:pt x="62" y="0"/>
                    <a:pt x="59" y="3"/>
                    <a:pt x="59" y="6"/>
                  </a:cubicBezTo>
                  <a:cubicBezTo>
                    <a:pt x="59" y="13"/>
                    <a:pt x="59" y="13"/>
                    <a:pt x="59" y="13"/>
                  </a:cubicBezTo>
                  <a:cubicBezTo>
                    <a:pt x="0" y="108"/>
                    <a:pt x="0" y="108"/>
                    <a:pt x="0" y="108"/>
                  </a:cubicBezTo>
                  <a:lnTo>
                    <a:pt x="4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7" name="Group 156"/>
          <p:cNvGrpSpPr/>
          <p:nvPr userDrawn="1"/>
        </p:nvGrpSpPr>
        <p:grpSpPr>
          <a:xfrm>
            <a:off x="9615634" y="4914818"/>
            <a:ext cx="348154" cy="341402"/>
            <a:chOff x="2962275" y="1644650"/>
            <a:chExt cx="982663" cy="963613"/>
          </a:xfrm>
          <a:solidFill>
            <a:schemeClr val="tx1"/>
          </a:solidFill>
        </p:grpSpPr>
        <p:sp>
          <p:nvSpPr>
            <p:cNvPr id="158" name="Rectangle 22"/>
            <p:cNvSpPr>
              <a:spLocks noChangeArrowheads="1"/>
            </p:cNvSpPr>
            <p:nvPr/>
          </p:nvSpPr>
          <p:spPr bwMode="auto">
            <a:xfrm>
              <a:off x="3143250" y="1958975"/>
              <a:ext cx="60325"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Rectangle 23"/>
            <p:cNvSpPr>
              <a:spLocks noChangeArrowheads="1"/>
            </p:cNvSpPr>
            <p:nvPr/>
          </p:nvSpPr>
          <p:spPr bwMode="auto">
            <a:xfrm>
              <a:off x="3143250" y="2076450"/>
              <a:ext cx="60325" cy="603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Rectangle 24"/>
            <p:cNvSpPr>
              <a:spLocks noChangeArrowheads="1"/>
            </p:cNvSpPr>
            <p:nvPr/>
          </p:nvSpPr>
          <p:spPr bwMode="auto">
            <a:xfrm>
              <a:off x="3143250" y="2193925"/>
              <a:ext cx="60325" cy="603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Rectangle 25"/>
            <p:cNvSpPr>
              <a:spLocks noChangeArrowheads="1"/>
            </p:cNvSpPr>
            <p:nvPr/>
          </p:nvSpPr>
          <p:spPr bwMode="auto">
            <a:xfrm>
              <a:off x="3143250" y="2309813"/>
              <a:ext cx="60325"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26"/>
            <p:cNvSpPr>
              <a:spLocks noEditPoints="1"/>
            </p:cNvSpPr>
            <p:nvPr/>
          </p:nvSpPr>
          <p:spPr bwMode="auto">
            <a:xfrm>
              <a:off x="2962275" y="1644650"/>
              <a:ext cx="982663" cy="963613"/>
            </a:xfrm>
            <a:custGeom>
              <a:avLst/>
              <a:gdLst>
                <a:gd name="T0" fmla="*/ 302 w 326"/>
                <a:gd name="T1" fmla="*/ 300 h 319"/>
                <a:gd name="T2" fmla="*/ 290 w 326"/>
                <a:gd name="T3" fmla="*/ 104 h 319"/>
                <a:gd name="T4" fmla="*/ 211 w 326"/>
                <a:gd name="T5" fmla="*/ 12 h 319"/>
                <a:gd name="T6" fmla="*/ 199 w 326"/>
                <a:gd name="T7" fmla="*/ 0 h 319"/>
                <a:gd name="T8" fmla="*/ 106 w 326"/>
                <a:gd name="T9" fmla="*/ 0 h 319"/>
                <a:gd name="T10" fmla="*/ 82 w 326"/>
                <a:gd name="T11" fmla="*/ 0 h 319"/>
                <a:gd name="T12" fmla="*/ 70 w 326"/>
                <a:gd name="T13" fmla="*/ 66 h 319"/>
                <a:gd name="T14" fmla="*/ 23 w 326"/>
                <a:gd name="T15" fmla="*/ 78 h 319"/>
                <a:gd name="T16" fmla="*/ 6 w 326"/>
                <a:gd name="T17" fmla="*/ 300 h 319"/>
                <a:gd name="T18" fmla="*/ 0 w 326"/>
                <a:gd name="T19" fmla="*/ 319 h 319"/>
                <a:gd name="T20" fmla="*/ 326 w 326"/>
                <a:gd name="T21" fmla="*/ 305 h 319"/>
                <a:gd name="T22" fmla="*/ 186 w 326"/>
                <a:gd name="T23" fmla="*/ 202 h 319"/>
                <a:gd name="T24" fmla="*/ 206 w 326"/>
                <a:gd name="T25" fmla="*/ 182 h 319"/>
                <a:gd name="T26" fmla="*/ 186 w 326"/>
                <a:gd name="T27" fmla="*/ 202 h 319"/>
                <a:gd name="T28" fmla="*/ 206 w 326"/>
                <a:gd name="T29" fmla="*/ 248 h 319"/>
                <a:gd name="T30" fmla="*/ 186 w 326"/>
                <a:gd name="T31" fmla="*/ 227 h 319"/>
                <a:gd name="T32" fmla="*/ 175 w 326"/>
                <a:gd name="T33" fmla="*/ 104 h 319"/>
                <a:gd name="T34" fmla="*/ 139 w 326"/>
                <a:gd name="T35" fmla="*/ 104 h 319"/>
                <a:gd name="T36" fmla="*/ 139 w 326"/>
                <a:gd name="T37" fmla="*/ 77 h 319"/>
                <a:gd name="T38" fmla="*/ 187 w 326"/>
                <a:gd name="T39" fmla="*/ 104 h 319"/>
                <a:gd name="T40" fmla="*/ 139 w 326"/>
                <a:gd name="T41" fmla="*/ 143 h 319"/>
                <a:gd name="T42" fmla="*/ 163 w 326"/>
                <a:gd name="T43" fmla="*/ 116 h 319"/>
                <a:gd name="T44" fmla="*/ 163 w 326"/>
                <a:gd name="T45" fmla="*/ 143 h 319"/>
                <a:gd name="T46" fmla="*/ 163 w 326"/>
                <a:gd name="T47" fmla="*/ 155 h 319"/>
                <a:gd name="T48" fmla="*/ 139 w 326"/>
                <a:gd name="T49" fmla="*/ 181 h 319"/>
                <a:gd name="T50" fmla="*/ 163 w 326"/>
                <a:gd name="T51" fmla="*/ 155 h 319"/>
                <a:gd name="T52" fmla="*/ 163 w 326"/>
                <a:gd name="T53" fmla="*/ 193 h 319"/>
                <a:gd name="T54" fmla="*/ 139 w 326"/>
                <a:gd name="T55" fmla="*/ 300 h 319"/>
                <a:gd name="T56" fmla="*/ 258 w 326"/>
                <a:gd name="T57" fmla="*/ 136 h 319"/>
                <a:gd name="T58" fmla="*/ 279 w 326"/>
                <a:gd name="T59" fmla="*/ 156 h 319"/>
                <a:gd name="T60" fmla="*/ 258 w 326"/>
                <a:gd name="T61" fmla="*/ 136 h 319"/>
                <a:gd name="T62" fmla="*/ 279 w 326"/>
                <a:gd name="T63" fmla="*/ 182 h 319"/>
                <a:gd name="T64" fmla="*/ 258 w 326"/>
                <a:gd name="T65" fmla="*/ 202 h 319"/>
                <a:gd name="T66" fmla="*/ 258 w 326"/>
                <a:gd name="T67" fmla="*/ 227 h 319"/>
                <a:gd name="T68" fmla="*/ 279 w 326"/>
                <a:gd name="T69" fmla="*/ 248 h 319"/>
                <a:gd name="T70" fmla="*/ 258 w 326"/>
                <a:gd name="T71" fmla="*/ 227 h 319"/>
                <a:gd name="T72" fmla="*/ 243 w 326"/>
                <a:gd name="T73" fmla="*/ 136 h 319"/>
                <a:gd name="T74" fmla="*/ 222 w 326"/>
                <a:gd name="T75" fmla="*/ 156 h 319"/>
                <a:gd name="T76" fmla="*/ 222 w 326"/>
                <a:gd name="T77" fmla="*/ 182 h 319"/>
                <a:gd name="T78" fmla="*/ 243 w 326"/>
                <a:gd name="T79" fmla="*/ 202 h 319"/>
                <a:gd name="T80" fmla="*/ 222 w 326"/>
                <a:gd name="T81" fmla="*/ 182 h 319"/>
                <a:gd name="T82" fmla="*/ 243 w 326"/>
                <a:gd name="T83" fmla="*/ 227 h 319"/>
                <a:gd name="T84" fmla="*/ 222 w 326"/>
                <a:gd name="T85" fmla="*/ 248 h 319"/>
                <a:gd name="T86" fmla="*/ 206 w 326"/>
                <a:gd name="T87" fmla="*/ 136 h 319"/>
                <a:gd name="T88" fmla="*/ 186 w 326"/>
                <a:gd name="T89" fmla="*/ 156 h 319"/>
                <a:gd name="T90" fmla="*/ 206 w 326"/>
                <a:gd name="T91" fmla="*/ 136 h 319"/>
                <a:gd name="T92" fmla="*/ 187 w 326"/>
                <a:gd name="T93" fmla="*/ 24 h 319"/>
                <a:gd name="T94" fmla="*/ 127 w 326"/>
                <a:gd name="T95" fmla="*/ 66 h 319"/>
                <a:gd name="T96" fmla="*/ 91 w 326"/>
                <a:gd name="T97" fmla="*/ 66 h 319"/>
                <a:gd name="T98" fmla="*/ 44 w 326"/>
                <a:gd name="T99" fmla="*/ 93 h 319"/>
                <a:gd name="T100" fmla="*/ 118 w 326"/>
                <a:gd name="T101" fmla="*/ 300 h 319"/>
                <a:gd name="T102" fmla="*/ 98 w 326"/>
                <a:gd name="T103" fmla="*/ 259 h 319"/>
                <a:gd name="T104" fmla="*/ 60 w 326"/>
                <a:gd name="T105" fmla="*/ 300 h 319"/>
                <a:gd name="T106" fmla="*/ 44 w 326"/>
                <a:gd name="T107" fmla="*/ 9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6" h="319">
                  <a:moveTo>
                    <a:pt x="319" y="300"/>
                  </a:moveTo>
                  <a:cubicBezTo>
                    <a:pt x="302" y="300"/>
                    <a:pt x="302" y="300"/>
                    <a:pt x="302" y="300"/>
                  </a:cubicBezTo>
                  <a:cubicBezTo>
                    <a:pt x="302" y="116"/>
                    <a:pt x="302" y="116"/>
                    <a:pt x="302" y="116"/>
                  </a:cubicBezTo>
                  <a:cubicBezTo>
                    <a:pt x="302" y="110"/>
                    <a:pt x="296" y="104"/>
                    <a:pt x="290" y="104"/>
                  </a:cubicBezTo>
                  <a:cubicBezTo>
                    <a:pt x="211" y="104"/>
                    <a:pt x="211" y="104"/>
                    <a:pt x="211" y="104"/>
                  </a:cubicBezTo>
                  <a:cubicBezTo>
                    <a:pt x="211" y="12"/>
                    <a:pt x="211" y="12"/>
                    <a:pt x="211" y="12"/>
                  </a:cubicBezTo>
                  <a:cubicBezTo>
                    <a:pt x="211" y="6"/>
                    <a:pt x="206" y="0"/>
                    <a:pt x="199" y="0"/>
                  </a:cubicBezTo>
                  <a:cubicBezTo>
                    <a:pt x="199" y="0"/>
                    <a:pt x="199" y="0"/>
                    <a:pt x="199" y="0"/>
                  </a:cubicBezTo>
                  <a:cubicBezTo>
                    <a:pt x="192" y="0"/>
                    <a:pt x="181" y="0"/>
                    <a:pt x="175" y="0"/>
                  </a:cubicBezTo>
                  <a:cubicBezTo>
                    <a:pt x="106" y="0"/>
                    <a:pt x="106" y="0"/>
                    <a:pt x="106" y="0"/>
                  </a:cubicBezTo>
                  <a:cubicBezTo>
                    <a:pt x="100" y="0"/>
                    <a:pt x="89" y="0"/>
                    <a:pt x="82" y="0"/>
                  </a:cubicBezTo>
                  <a:cubicBezTo>
                    <a:pt x="82" y="0"/>
                    <a:pt x="82" y="0"/>
                    <a:pt x="82" y="0"/>
                  </a:cubicBezTo>
                  <a:cubicBezTo>
                    <a:pt x="75" y="0"/>
                    <a:pt x="70" y="6"/>
                    <a:pt x="70" y="12"/>
                  </a:cubicBezTo>
                  <a:cubicBezTo>
                    <a:pt x="70" y="66"/>
                    <a:pt x="70" y="66"/>
                    <a:pt x="70" y="66"/>
                  </a:cubicBezTo>
                  <a:cubicBezTo>
                    <a:pt x="35" y="66"/>
                    <a:pt x="35" y="66"/>
                    <a:pt x="35" y="66"/>
                  </a:cubicBezTo>
                  <a:cubicBezTo>
                    <a:pt x="28" y="66"/>
                    <a:pt x="23" y="72"/>
                    <a:pt x="23" y="78"/>
                  </a:cubicBezTo>
                  <a:cubicBezTo>
                    <a:pt x="23" y="300"/>
                    <a:pt x="23" y="300"/>
                    <a:pt x="23" y="300"/>
                  </a:cubicBezTo>
                  <a:cubicBezTo>
                    <a:pt x="6" y="300"/>
                    <a:pt x="6" y="300"/>
                    <a:pt x="6" y="300"/>
                  </a:cubicBezTo>
                  <a:cubicBezTo>
                    <a:pt x="3" y="300"/>
                    <a:pt x="0" y="302"/>
                    <a:pt x="0" y="305"/>
                  </a:cubicBezTo>
                  <a:cubicBezTo>
                    <a:pt x="0" y="319"/>
                    <a:pt x="0" y="319"/>
                    <a:pt x="0" y="319"/>
                  </a:cubicBezTo>
                  <a:cubicBezTo>
                    <a:pt x="326" y="319"/>
                    <a:pt x="326" y="319"/>
                    <a:pt x="326" y="319"/>
                  </a:cubicBezTo>
                  <a:cubicBezTo>
                    <a:pt x="326" y="305"/>
                    <a:pt x="326" y="305"/>
                    <a:pt x="326" y="305"/>
                  </a:cubicBezTo>
                  <a:cubicBezTo>
                    <a:pt x="326" y="302"/>
                    <a:pt x="323" y="300"/>
                    <a:pt x="319" y="300"/>
                  </a:cubicBezTo>
                  <a:close/>
                  <a:moveTo>
                    <a:pt x="186" y="202"/>
                  </a:moveTo>
                  <a:cubicBezTo>
                    <a:pt x="186" y="182"/>
                    <a:pt x="186" y="182"/>
                    <a:pt x="186" y="182"/>
                  </a:cubicBezTo>
                  <a:cubicBezTo>
                    <a:pt x="206" y="182"/>
                    <a:pt x="206" y="182"/>
                    <a:pt x="206" y="182"/>
                  </a:cubicBezTo>
                  <a:cubicBezTo>
                    <a:pt x="206" y="202"/>
                    <a:pt x="206" y="202"/>
                    <a:pt x="206" y="202"/>
                  </a:cubicBezTo>
                  <a:lnTo>
                    <a:pt x="186" y="202"/>
                  </a:lnTo>
                  <a:close/>
                  <a:moveTo>
                    <a:pt x="206" y="227"/>
                  </a:moveTo>
                  <a:cubicBezTo>
                    <a:pt x="206" y="248"/>
                    <a:pt x="206" y="248"/>
                    <a:pt x="206" y="248"/>
                  </a:cubicBezTo>
                  <a:cubicBezTo>
                    <a:pt x="186" y="248"/>
                    <a:pt x="186" y="248"/>
                    <a:pt x="186" y="248"/>
                  </a:cubicBezTo>
                  <a:cubicBezTo>
                    <a:pt x="186" y="227"/>
                    <a:pt x="186" y="227"/>
                    <a:pt x="186" y="227"/>
                  </a:cubicBezTo>
                  <a:lnTo>
                    <a:pt x="206" y="227"/>
                  </a:lnTo>
                  <a:close/>
                  <a:moveTo>
                    <a:pt x="175" y="104"/>
                  </a:moveTo>
                  <a:cubicBezTo>
                    <a:pt x="175" y="104"/>
                    <a:pt x="175" y="104"/>
                    <a:pt x="175" y="104"/>
                  </a:cubicBezTo>
                  <a:cubicBezTo>
                    <a:pt x="139" y="104"/>
                    <a:pt x="139" y="104"/>
                    <a:pt x="139" y="104"/>
                  </a:cubicBezTo>
                  <a:cubicBezTo>
                    <a:pt x="139" y="78"/>
                    <a:pt x="139" y="78"/>
                    <a:pt x="139" y="78"/>
                  </a:cubicBezTo>
                  <a:cubicBezTo>
                    <a:pt x="139" y="78"/>
                    <a:pt x="139" y="78"/>
                    <a:pt x="139" y="77"/>
                  </a:cubicBezTo>
                  <a:cubicBezTo>
                    <a:pt x="187" y="77"/>
                    <a:pt x="187" y="77"/>
                    <a:pt x="187" y="77"/>
                  </a:cubicBezTo>
                  <a:cubicBezTo>
                    <a:pt x="187" y="104"/>
                    <a:pt x="187" y="104"/>
                    <a:pt x="187" y="104"/>
                  </a:cubicBezTo>
                  <a:lnTo>
                    <a:pt x="175" y="104"/>
                  </a:lnTo>
                  <a:close/>
                  <a:moveTo>
                    <a:pt x="139" y="143"/>
                  </a:moveTo>
                  <a:cubicBezTo>
                    <a:pt x="139" y="116"/>
                    <a:pt x="139" y="116"/>
                    <a:pt x="139" y="116"/>
                  </a:cubicBezTo>
                  <a:cubicBezTo>
                    <a:pt x="163" y="116"/>
                    <a:pt x="163" y="116"/>
                    <a:pt x="163" y="116"/>
                  </a:cubicBezTo>
                  <a:cubicBezTo>
                    <a:pt x="163" y="116"/>
                    <a:pt x="163" y="116"/>
                    <a:pt x="163" y="116"/>
                  </a:cubicBezTo>
                  <a:cubicBezTo>
                    <a:pt x="163" y="143"/>
                    <a:pt x="163" y="143"/>
                    <a:pt x="163" y="143"/>
                  </a:cubicBezTo>
                  <a:lnTo>
                    <a:pt x="139" y="143"/>
                  </a:lnTo>
                  <a:close/>
                  <a:moveTo>
                    <a:pt x="163" y="155"/>
                  </a:moveTo>
                  <a:cubicBezTo>
                    <a:pt x="163" y="181"/>
                    <a:pt x="163" y="181"/>
                    <a:pt x="163" y="181"/>
                  </a:cubicBezTo>
                  <a:cubicBezTo>
                    <a:pt x="139" y="181"/>
                    <a:pt x="139" y="181"/>
                    <a:pt x="139" y="181"/>
                  </a:cubicBezTo>
                  <a:cubicBezTo>
                    <a:pt x="139" y="155"/>
                    <a:pt x="139" y="155"/>
                    <a:pt x="139" y="155"/>
                  </a:cubicBezTo>
                  <a:lnTo>
                    <a:pt x="163" y="155"/>
                  </a:lnTo>
                  <a:close/>
                  <a:moveTo>
                    <a:pt x="139" y="193"/>
                  </a:moveTo>
                  <a:cubicBezTo>
                    <a:pt x="163" y="193"/>
                    <a:pt x="163" y="193"/>
                    <a:pt x="163" y="193"/>
                  </a:cubicBezTo>
                  <a:cubicBezTo>
                    <a:pt x="163" y="300"/>
                    <a:pt x="163" y="300"/>
                    <a:pt x="163" y="300"/>
                  </a:cubicBezTo>
                  <a:cubicBezTo>
                    <a:pt x="139" y="300"/>
                    <a:pt x="139" y="300"/>
                    <a:pt x="139" y="300"/>
                  </a:cubicBezTo>
                  <a:lnTo>
                    <a:pt x="139" y="193"/>
                  </a:lnTo>
                  <a:close/>
                  <a:moveTo>
                    <a:pt x="258" y="136"/>
                  </a:moveTo>
                  <a:cubicBezTo>
                    <a:pt x="279" y="136"/>
                    <a:pt x="279" y="136"/>
                    <a:pt x="279" y="136"/>
                  </a:cubicBezTo>
                  <a:cubicBezTo>
                    <a:pt x="279" y="156"/>
                    <a:pt x="279" y="156"/>
                    <a:pt x="279" y="156"/>
                  </a:cubicBezTo>
                  <a:cubicBezTo>
                    <a:pt x="258" y="156"/>
                    <a:pt x="258" y="156"/>
                    <a:pt x="258" y="156"/>
                  </a:cubicBezTo>
                  <a:lnTo>
                    <a:pt x="258" y="136"/>
                  </a:lnTo>
                  <a:close/>
                  <a:moveTo>
                    <a:pt x="258" y="182"/>
                  </a:moveTo>
                  <a:cubicBezTo>
                    <a:pt x="279" y="182"/>
                    <a:pt x="279" y="182"/>
                    <a:pt x="279" y="182"/>
                  </a:cubicBezTo>
                  <a:cubicBezTo>
                    <a:pt x="279" y="202"/>
                    <a:pt x="279" y="202"/>
                    <a:pt x="279" y="202"/>
                  </a:cubicBezTo>
                  <a:cubicBezTo>
                    <a:pt x="258" y="202"/>
                    <a:pt x="258" y="202"/>
                    <a:pt x="258" y="202"/>
                  </a:cubicBezTo>
                  <a:lnTo>
                    <a:pt x="258" y="182"/>
                  </a:lnTo>
                  <a:close/>
                  <a:moveTo>
                    <a:pt x="258" y="227"/>
                  </a:moveTo>
                  <a:cubicBezTo>
                    <a:pt x="279" y="227"/>
                    <a:pt x="279" y="227"/>
                    <a:pt x="279" y="227"/>
                  </a:cubicBezTo>
                  <a:cubicBezTo>
                    <a:pt x="279" y="248"/>
                    <a:pt x="279" y="248"/>
                    <a:pt x="279" y="248"/>
                  </a:cubicBezTo>
                  <a:cubicBezTo>
                    <a:pt x="258" y="248"/>
                    <a:pt x="258" y="248"/>
                    <a:pt x="258" y="248"/>
                  </a:cubicBezTo>
                  <a:lnTo>
                    <a:pt x="258" y="227"/>
                  </a:lnTo>
                  <a:close/>
                  <a:moveTo>
                    <a:pt x="222" y="136"/>
                  </a:moveTo>
                  <a:cubicBezTo>
                    <a:pt x="243" y="136"/>
                    <a:pt x="243" y="136"/>
                    <a:pt x="243" y="136"/>
                  </a:cubicBezTo>
                  <a:cubicBezTo>
                    <a:pt x="243" y="156"/>
                    <a:pt x="243" y="156"/>
                    <a:pt x="243" y="156"/>
                  </a:cubicBezTo>
                  <a:cubicBezTo>
                    <a:pt x="222" y="156"/>
                    <a:pt x="222" y="156"/>
                    <a:pt x="222" y="156"/>
                  </a:cubicBezTo>
                  <a:lnTo>
                    <a:pt x="222" y="136"/>
                  </a:lnTo>
                  <a:close/>
                  <a:moveTo>
                    <a:pt x="222" y="182"/>
                  </a:moveTo>
                  <a:cubicBezTo>
                    <a:pt x="243" y="182"/>
                    <a:pt x="243" y="182"/>
                    <a:pt x="243" y="182"/>
                  </a:cubicBezTo>
                  <a:cubicBezTo>
                    <a:pt x="243" y="202"/>
                    <a:pt x="243" y="202"/>
                    <a:pt x="243" y="202"/>
                  </a:cubicBezTo>
                  <a:cubicBezTo>
                    <a:pt x="222" y="202"/>
                    <a:pt x="222" y="202"/>
                    <a:pt x="222" y="202"/>
                  </a:cubicBezTo>
                  <a:lnTo>
                    <a:pt x="222" y="182"/>
                  </a:lnTo>
                  <a:close/>
                  <a:moveTo>
                    <a:pt x="222" y="227"/>
                  </a:moveTo>
                  <a:cubicBezTo>
                    <a:pt x="243" y="227"/>
                    <a:pt x="243" y="227"/>
                    <a:pt x="243" y="227"/>
                  </a:cubicBezTo>
                  <a:cubicBezTo>
                    <a:pt x="243" y="248"/>
                    <a:pt x="243" y="248"/>
                    <a:pt x="243" y="248"/>
                  </a:cubicBezTo>
                  <a:cubicBezTo>
                    <a:pt x="222" y="248"/>
                    <a:pt x="222" y="248"/>
                    <a:pt x="222" y="248"/>
                  </a:cubicBezTo>
                  <a:lnTo>
                    <a:pt x="222" y="227"/>
                  </a:lnTo>
                  <a:close/>
                  <a:moveTo>
                    <a:pt x="206" y="136"/>
                  </a:moveTo>
                  <a:cubicBezTo>
                    <a:pt x="206" y="156"/>
                    <a:pt x="206" y="156"/>
                    <a:pt x="206" y="156"/>
                  </a:cubicBezTo>
                  <a:cubicBezTo>
                    <a:pt x="186" y="156"/>
                    <a:pt x="186" y="156"/>
                    <a:pt x="186" y="156"/>
                  </a:cubicBezTo>
                  <a:cubicBezTo>
                    <a:pt x="186" y="136"/>
                    <a:pt x="186" y="136"/>
                    <a:pt x="186" y="136"/>
                  </a:cubicBezTo>
                  <a:lnTo>
                    <a:pt x="206" y="136"/>
                  </a:lnTo>
                  <a:close/>
                  <a:moveTo>
                    <a:pt x="91" y="24"/>
                  </a:moveTo>
                  <a:cubicBezTo>
                    <a:pt x="187" y="24"/>
                    <a:pt x="187" y="24"/>
                    <a:pt x="187" y="24"/>
                  </a:cubicBezTo>
                  <a:cubicBezTo>
                    <a:pt x="187" y="66"/>
                    <a:pt x="187" y="66"/>
                    <a:pt x="187" y="66"/>
                  </a:cubicBezTo>
                  <a:cubicBezTo>
                    <a:pt x="127" y="66"/>
                    <a:pt x="127" y="66"/>
                    <a:pt x="127" y="66"/>
                  </a:cubicBezTo>
                  <a:cubicBezTo>
                    <a:pt x="127" y="66"/>
                    <a:pt x="127" y="66"/>
                    <a:pt x="127" y="66"/>
                  </a:cubicBezTo>
                  <a:cubicBezTo>
                    <a:pt x="91" y="66"/>
                    <a:pt x="91" y="66"/>
                    <a:pt x="91" y="66"/>
                  </a:cubicBezTo>
                  <a:lnTo>
                    <a:pt x="91" y="24"/>
                  </a:lnTo>
                  <a:close/>
                  <a:moveTo>
                    <a:pt x="44" y="93"/>
                  </a:moveTo>
                  <a:cubicBezTo>
                    <a:pt x="118" y="93"/>
                    <a:pt x="118" y="93"/>
                    <a:pt x="118" y="93"/>
                  </a:cubicBezTo>
                  <a:cubicBezTo>
                    <a:pt x="118" y="300"/>
                    <a:pt x="118" y="300"/>
                    <a:pt x="118" y="300"/>
                  </a:cubicBezTo>
                  <a:cubicBezTo>
                    <a:pt x="98" y="300"/>
                    <a:pt x="98" y="300"/>
                    <a:pt x="98" y="300"/>
                  </a:cubicBezTo>
                  <a:cubicBezTo>
                    <a:pt x="98" y="259"/>
                    <a:pt x="98" y="259"/>
                    <a:pt x="98" y="259"/>
                  </a:cubicBezTo>
                  <a:cubicBezTo>
                    <a:pt x="60" y="259"/>
                    <a:pt x="60" y="259"/>
                    <a:pt x="60" y="259"/>
                  </a:cubicBezTo>
                  <a:cubicBezTo>
                    <a:pt x="60" y="300"/>
                    <a:pt x="60" y="300"/>
                    <a:pt x="60" y="300"/>
                  </a:cubicBezTo>
                  <a:cubicBezTo>
                    <a:pt x="44" y="300"/>
                    <a:pt x="44" y="300"/>
                    <a:pt x="44" y="300"/>
                  </a:cubicBezTo>
                  <a:lnTo>
                    <a:pt x="44" y="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94" name="Group 193"/>
          <p:cNvGrpSpPr/>
          <p:nvPr userDrawn="1"/>
        </p:nvGrpSpPr>
        <p:grpSpPr>
          <a:xfrm>
            <a:off x="8307294" y="2091518"/>
            <a:ext cx="316920" cy="284266"/>
            <a:chOff x="1484313" y="1463675"/>
            <a:chExt cx="523875" cy="469900"/>
          </a:xfrm>
          <a:solidFill>
            <a:schemeClr val="tx1"/>
          </a:solidFill>
        </p:grpSpPr>
        <p:sp>
          <p:nvSpPr>
            <p:cNvPr id="195" name="Freeform 7"/>
            <p:cNvSpPr>
              <a:spLocks noEditPoints="1"/>
            </p:cNvSpPr>
            <p:nvPr/>
          </p:nvSpPr>
          <p:spPr bwMode="auto">
            <a:xfrm>
              <a:off x="1484313" y="1463675"/>
              <a:ext cx="523875" cy="469900"/>
            </a:xfrm>
            <a:custGeom>
              <a:avLst/>
              <a:gdLst>
                <a:gd name="T0" fmla="*/ 190 w 231"/>
                <a:gd name="T1" fmla="*/ 36 h 207"/>
                <a:gd name="T2" fmla="*/ 164 w 231"/>
                <a:gd name="T3" fmla="*/ 36 h 207"/>
                <a:gd name="T4" fmla="*/ 164 w 231"/>
                <a:gd name="T5" fmla="*/ 20 h 207"/>
                <a:gd name="T6" fmla="*/ 143 w 231"/>
                <a:gd name="T7" fmla="*/ 0 h 207"/>
                <a:gd name="T8" fmla="*/ 88 w 231"/>
                <a:gd name="T9" fmla="*/ 0 h 207"/>
                <a:gd name="T10" fmla="*/ 67 w 231"/>
                <a:gd name="T11" fmla="*/ 20 h 207"/>
                <a:gd name="T12" fmla="*/ 67 w 231"/>
                <a:gd name="T13" fmla="*/ 36 h 207"/>
                <a:gd name="T14" fmla="*/ 41 w 231"/>
                <a:gd name="T15" fmla="*/ 36 h 207"/>
                <a:gd name="T16" fmla="*/ 0 w 231"/>
                <a:gd name="T17" fmla="*/ 78 h 207"/>
                <a:gd name="T18" fmla="*/ 0 w 231"/>
                <a:gd name="T19" fmla="*/ 166 h 207"/>
                <a:gd name="T20" fmla="*/ 41 w 231"/>
                <a:gd name="T21" fmla="*/ 207 h 207"/>
                <a:gd name="T22" fmla="*/ 190 w 231"/>
                <a:gd name="T23" fmla="*/ 207 h 207"/>
                <a:gd name="T24" fmla="*/ 231 w 231"/>
                <a:gd name="T25" fmla="*/ 166 h 207"/>
                <a:gd name="T26" fmla="*/ 231 w 231"/>
                <a:gd name="T27" fmla="*/ 78 h 207"/>
                <a:gd name="T28" fmla="*/ 190 w 231"/>
                <a:gd name="T29" fmla="*/ 36 h 207"/>
                <a:gd name="T30" fmla="*/ 83 w 231"/>
                <a:gd name="T31" fmla="*/ 20 h 207"/>
                <a:gd name="T32" fmla="*/ 88 w 231"/>
                <a:gd name="T33" fmla="*/ 15 h 207"/>
                <a:gd name="T34" fmla="*/ 143 w 231"/>
                <a:gd name="T35" fmla="*/ 15 h 207"/>
                <a:gd name="T36" fmla="*/ 148 w 231"/>
                <a:gd name="T37" fmla="*/ 20 h 207"/>
                <a:gd name="T38" fmla="*/ 148 w 231"/>
                <a:gd name="T39" fmla="*/ 36 h 207"/>
                <a:gd name="T40" fmla="*/ 83 w 231"/>
                <a:gd name="T41" fmla="*/ 36 h 207"/>
                <a:gd name="T42" fmla="*/ 83 w 231"/>
                <a:gd name="T43" fmla="*/ 20 h 207"/>
                <a:gd name="T44" fmla="*/ 116 w 231"/>
                <a:gd name="T45" fmla="*/ 178 h 207"/>
                <a:gd name="T46" fmla="*/ 59 w 231"/>
                <a:gd name="T47" fmla="*/ 122 h 207"/>
                <a:gd name="T48" fmla="*/ 116 w 231"/>
                <a:gd name="T49" fmla="*/ 66 h 207"/>
                <a:gd name="T50" fmla="*/ 172 w 231"/>
                <a:gd name="T51" fmla="*/ 122 h 207"/>
                <a:gd name="T52" fmla="*/ 116 w 231"/>
                <a:gd name="T53" fmla="*/ 17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1" h="207">
                  <a:moveTo>
                    <a:pt x="190" y="36"/>
                  </a:moveTo>
                  <a:cubicBezTo>
                    <a:pt x="164" y="36"/>
                    <a:pt x="164" y="36"/>
                    <a:pt x="164" y="36"/>
                  </a:cubicBezTo>
                  <a:cubicBezTo>
                    <a:pt x="164" y="20"/>
                    <a:pt x="164" y="20"/>
                    <a:pt x="164" y="20"/>
                  </a:cubicBezTo>
                  <a:cubicBezTo>
                    <a:pt x="164" y="9"/>
                    <a:pt x="154" y="0"/>
                    <a:pt x="143" y="0"/>
                  </a:cubicBezTo>
                  <a:cubicBezTo>
                    <a:pt x="88" y="0"/>
                    <a:pt x="88" y="0"/>
                    <a:pt x="88" y="0"/>
                  </a:cubicBezTo>
                  <a:cubicBezTo>
                    <a:pt x="77" y="0"/>
                    <a:pt x="67" y="9"/>
                    <a:pt x="67" y="20"/>
                  </a:cubicBezTo>
                  <a:cubicBezTo>
                    <a:pt x="67" y="36"/>
                    <a:pt x="67" y="36"/>
                    <a:pt x="67" y="36"/>
                  </a:cubicBezTo>
                  <a:cubicBezTo>
                    <a:pt x="41" y="36"/>
                    <a:pt x="41" y="36"/>
                    <a:pt x="41" y="36"/>
                  </a:cubicBezTo>
                  <a:cubicBezTo>
                    <a:pt x="18" y="36"/>
                    <a:pt x="0" y="55"/>
                    <a:pt x="0" y="78"/>
                  </a:cubicBezTo>
                  <a:cubicBezTo>
                    <a:pt x="0" y="166"/>
                    <a:pt x="0" y="166"/>
                    <a:pt x="0" y="166"/>
                  </a:cubicBezTo>
                  <a:cubicBezTo>
                    <a:pt x="0" y="188"/>
                    <a:pt x="18" y="207"/>
                    <a:pt x="41" y="207"/>
                  </a:cubicBezTo>
                  <a:cubicBezTo>
                    <a:pt x="190" y="207"/>
                    <a:pt x="190" y="207"/>
                    <a:pt x="190" y="207"/>
                  </a:cubicBezTo>
                  <a:cubicBezTo>
                    <a:pt x="213" y="207"/>
                    <a:pt x="231" y="188"/>
                    <a:pt x="231" y="166"/>
                  </a:cubicBezTo>
                  <a:cubicBezTo>
                    <a:pt x="231" y="78"/>
                    <a:pt x="231" y="78"/>
                    <a:pt x="231" y="78"/>
                  </a:cubicBezTo>
                  <a:cubicBezTo>
                    <a:pt x="231" y="55"/>
                    <a:pt x="213" y="36"/>
                    <a:pt x="190" y="36"/>
                  </a:cubicBezTo>
                  <a:close/>
                  <a:moveTo>
                    <a:pt x="83" y="20"/>
                  </a:moveTo>
                  <a:cubicBezTo>
                    <a:pt x="83" y="17"/>
                    <a:pt x="85" y="15"/>
                    <a:pt x="88" y="15"/>
                  </a:cubicBezTo>
                  <a:cubicBezTo>
                    <a:pt x="143" y="15"/>
                    <a:pt x="143" y="15"/>
                    <a:pt x="143" y="15"/>
                  </a:cubicBezTo>
                  <a:cubicBezTo>
                    <a:pt x="146" y="15"/>
                    <a:pt x="148" y="17"/>
                    <a:pt x="148" y="20"/>
                  </a:cubicBezTo>
                  <a:cubicBezTo>
                    <a:pt x="148" y="36"/>
                    <a:pt x="148" y="36"/>
                    <a:pt x="148" y="36"/>
                  </a:cubicBezTo>
                  <a:cubicBezTo>
                    <a:pt x="83" y="36"/>
                    <a:pt x="83" y="36"/>
                    <a:pt x="83" y="36"/>
                  </a:cubicBezTo>
                  <a:lnTo>
                    <a:pt x="83" y="20"/>
                  </a:lnTo>
                  <a:close/>
                  <a:moveTo>
                    <a:pt x="116" y="178"/>
                  </a:moveTo>
                  <a:cubicBezTo>
                    <a:pt x="85" y="178"/>
                    <a:pt x="59" y="153"/>
                    <a:pt x="59" y="122"/>
                  </a:cubicBezTo>
                  <a:cubicBezTo>
                    <a:pt x="59" y="91"/>
                    <a:pt x="85" y="66"/>
                    <a:pt x="116" y="66"/>
                  </a:cubicBezTo>
                  <a:cubicBezTo>
                    <a:pt x="146" y="66"/>
                    <a:pt x="172" y="91"/>
                    <a:pt x="172" y="122"/>
                  </a:cubicBezTo>
                  <a:cubicBezTo>
                    <a:pt x="172" y="153"/>
                    <a:pt x="146" y="178"/>
                    <a:pt x="116" y="17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8"/>
            <p:cNvSpPr>
              <a:spLocks/>
            </p:cNvSpPr>
            <p:nvPr/>
          </p:nvSpPr>
          <p:spPr bwMode="auto">
            <a:xfrm>
              <a:off x="1657350" y="1649413"/>
              <a:ext cx="177800" cy="179388"/>
            </a:xfrm>
            <a:custGeom>
              <a:avLst/>
              <a:gdLst>
                <a:gd name="T0" fmla="*/ 112 w 112"/>
                <a:gd name="T1" fmla="*/ 39 h 113"/>
                <a:gd name="T2" fmla="*/ 74 w 112"/>
                <a:gd name="T3" fmla="*/ 39 h 113"/>
                <a:gd name="T4" fmla="*/ 74 w 112"/>
                <a:gd name="T5" fmla="*/ 0 h 113"/>
                <a:gd name="T6" fmla="*/ 38 w 112"/>
                <a:gd name="T7" fmla="*/ 0 h 113"/>
                <a:gd name="T8" fmla="*/ 38 w 112"/>
                <a:gd name="T9" fmla="*/ 39 h 113"/>
                <a:gd name="T10" fmla="*/ 0 w 112"/>
                <a:gd name="T11" fmla="*/ 39 h 113"/>
                <a:gd name="T12" fmla="*/ 0 w 112"/>
                <a:gd name="T13" fmla="*/ 75 h 113"/>
                <a:gd name="T14" fmla="*/ 38 w 112"/>
                <a:gd name="T15" fmla="*/ 75 h 113"/>
                <a:gd name="T16" fmla="*/ 38 w 112"/>
                <a:gd name="T17" fmla="*/ 113 h 113"/>
                <a:gd name="T18" fmla="*/ 74 w 112"/>
                <a:gd name="T19" fmla="*/ 113 h 113"/>
                <a:gd name="T20" fmla="*/ 74 w 112"/>
                <a:gd name="T21" fmla="*/ 75 h 113"/>
                <a:gd name="T22" fmla="*/ 112 w 112"/>
                <a:gd name="T23" fmla="*/ 75 h 113"/>
                <a:gd name="T24" fmla="*/ 112 w 112"/>
                <a:gd name="T25" fmla="*/ 3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 h="113">
                  <a:moveTo>
                    <a:pt x="112" y="39"/>
                  </a:moveTo>
                  <a:lnTo>
                    <a:pt x="74" y="39"/>
                  </a:lnTo>
                  <a:lnTo>
                    <a:pt x="74" y="0"/>
                  </a:lnTo>
                  <a:lnTo>
                    <a:pt x="38" y="0"/>
                  </a:lnTo>
                  <a:lnTo>
                    <a:pt x="38" y="39"/>
                  </a:lnTo>
                  <a:lnTo>
                    <a:pt x="0" y="39"/>
                  </a:lnTo>
                  <a:lnTo>
                    <a:pt x="0" y="75"/>
                  </a:lnTo>
                  <a:lnTo>
                    <a:pt x="38" y="75"/>
                  </a:lnTo>
                  <a:lnTo>
                    <a:pt x="38" y="113"/>
                  </a:lnTo>
                  <a:lnTo>
                    <a:pt x="74" y="113"/>
                  </a:lnTo>
                  <a:lnTo>
                    <a:pt x="74" y="75"/>
                  </a:lnTo>
                  <a:lnTo>
                    <a:pt x="112" y="75"/>
                  </a:lnTo>
                  <a:lnTo>
                    <a:pt x="112" y="3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10" name="Group 209"/>
          <p:cNvGrpSpPr/>
          <p:nvPr userDrawn="1"/>
        </p:nvGrpSpPr>
        <p:grpSpPr>
          <a:xfrm>
            <a:off x="8314017" y="3765812"/>
            <a:ext cx="303474" cy="326524"/>
            <a:chOff x="1495425" y="2554288"/>
            <a:chExt cx="501650" cy="539750"/>
          </a:xfrm>
          <a:solidFill>
            <a:schemeClr val="tx1"/>
          </a:solidFill>
        </p:grpSpPr>
        <p:sp>
          <p:nvSpPr>
            <p:cNvPr id="211" name="Freeform 23"/>
            <p:cNvSpPr>
              <a:spLocks noEditPoints="1"/>
            </p:cNvSpPr>
            <p:nvPr/>
          </p:nvSpPr>
          <p:spPr bwMode="auto">
            <a:xfrm>
              <a:off x="1495425" y="2554288"/>
              <a:ext cx="501650" cy="539750"/>
            </a:xfrm>
            <a:custGeom>
              <a:avLst/>
              <a:gdLst>
                <a:gd name="T0" fmla="*/ 221 w 221"/>
                <a:gd name="T1" fmla="*/ 134 h 238"/>
                <a:gd name="T2" fmla="*/ 192 w 221"/>
                <a:gd name="T3" fmla="*/ 105 h 238"/>
                <a:gd name="T4" fmla="*/ 162 w 221"/>
                <a:gd name="T5" fmla="*/ 134 h 238"/>
                <a:gd name="T6" fmla="*/ 183 w 221"/>
                <a:gd name="T7" fmla="*/ 162 h 238"/>
                <a:gd name="T8" fmla="*/ 139 w 221"/>
                <a:gd name="T9" fmla="*/ 220 h 238"/>
                <a:gd name="T10" fmla="*/ 95 w 221"/>
                <a:gd name="T11" fmla="*/ 160 h 238"/>
                <a:gd name="T12" fmla="*/ 172 w 221"/>
                <a:gd name="T13" fmla="*/ 59 h 238"/>
                <a:gd name="T14" fmla="*/ 140 w 221"/>
                <a:gd name="T15" fmla="*/ 12 h 238"/>
                <a:gd name="T16" fmla="*/ 125 w 221"/>
                <a:gd name="T17" fmla="*/ 0 h 238"/>
                <a:gd name="T18" fmla="*/ 108 w 221"/>
                <a:gd name="T19" fmla="*/ 17 h 238"/>
                <a:gd name="T20" fmla="*/ 125 w 221"/>
                <a:gd name="T21" fmla="*/ 34 h 238"/>
                <a:gd name="T22" fmla="*/ 136 w 221"/>
                <a:gd name="T23" fmla="*/ 29 h 238"/>
                <a:gd name="T24" fmla="*/ 155 w 221"/>
                <a:gd name="T25" fmla="*/ 59 h 238"/>
                <a:gd name="T26" fmla="*/ 86 w 221"/>
                <a:gd name="T27" fmla="*/ 144 h 238"/>
                <a:gd name="T28" fmla="*/ 18 w 221"/>
                <a:gd name="T29" fmla="*/ 59 h 238"/>
                <a:gd name="T30" fmla="*/ 36 w 221"/>
                <a:gd name="T31" fmla="*/ 29 h 238"/>
                <a:gd name="T32" fmla="*/ 47 w 221"/>
                <a:gd name="T33" fmla="*/ 34 h 238"/>
                <a:gd name="T34" fmla="*/ 64 w 221"/>
                <a:gd name="T35" fmla="*/ 17 h 238"/>
                <a:gd name="T36" fmla="*/ 47 w 221"/>
                <a:gd name="T37" fmla="*/ 0 h 238"/>
                <a:gd name="T38" fmla="*/ 32 w 221"/>
                <a:gd name="T39" fmla="*/ 12 h 238"/>
                <a:gd name="T40" fmla="*/ 0 w 221"/>
                <a:gd name="T41" fmla="*/ 59 h 238"/>
                <a:gd name="T42" fmla="*/ 77 w 221"/>
                <a:gd name="T43" fmla="*/ 160 h 238"/>
                <a:gd name="T44" fmla="*/ 139 w 221"/>
                <a:gd name="T45" fmla="*/ 238 h 238"/>
                <a:gd name="T46" fmla="*/ 200 w 221"/>
                <a:gd name="T47" fmla="*/ 162 h 238"/>
                <a:gd name="T48" fmla="*/ 221 w 221"/>
                <a:gd name="T49" fmla="*/ 134 h 238"/>
                <a:gd name="T50" fmla="*/ 192 w 221"/>
                <a:gd name="T51" fmla="*/ 150 h 238"/>
                <a:gd name="T52" fmla="*/ 175 w 221"/>
                <a:gd name="T53" fmla="*/ 134 h 238"/>
                <a:gd name="T54" fmla="*/ 192 w 221"/>
                <a:gd name="T55" fmla="*/ 118 h 238"/>
                <a:gd name="T56" fmla="*/ 208 w 221"/>
                <a:gd name="T57" fmla="*/ 134 h 238"/>
                <a:gd name="T58" fmla="*/ 192 w 221"/>
                <a:gd name="T59" fmla="*/ 15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1" h="238">
                  <a:moveTo>
                    <a:pt x="221" y="134"/>
                  </a:moveTo>
                  <a:cubicBezTo>
                    <a:pt x="221" y="118"/>
                    <a:pt x="208" y="105"/>
                    <a:pt x="192" y="105"/>
                  </a:cubicBezTo>
                  <a:cubicBezTo>
                    <a:pt x="176" y="105"/>
                    <a:pt x="162" y="118"/>
                    <a:pt x="162" y="134"/>
                  </a:cubicBezTo>
                  <a:cubicBezTo>
                    <a:pt x="162" y="147"/>
                    <a:pt x="171" y="158"/>
                    <a:pt x="183" y="162"/>
                  </a:cubicBezTo>
                  <a:cubicBezTo>
                    <a:pt x="182" y="199"/>
                    <a:pt x="166" y="220"/>
                    <a:pt x="139" y="220"/>
                  </a:cubicBezTo>
                  <a:cubicBezTo>
                    <a:pt x="112" y="220"/>
                    <a:pt x="96" y="198"/>
                    <a:pt x="95" y="160"/>
                  </a:cubicBezTo>
                  <a:cubicBezTo>
                    <a:pt x="132" y="152"/>
                    <a:pt x="172" y="95"/>
                    <a:pt x="172" y="59"/>
                  </a:cubicBezTo>
                  <a:cubicBezTo>
                    <a:pt x="172" y="35"/>
                    <a:pt x="156" y="19"/>
                    <a:pt x="140" y="12"/>
                  </a:cubicBezTo>
                  <a:cubicBezTo>
                    <a:pt x="138" y="5"/>
                    <a:pt x="132" y="0"/>
                    <a:pt x="125" y="0"/>
                  </a:cubicBezTo>
                  <a:cubicBezTo>
                    <a:pt x="115" y="0"/>
                    <a:pt x="108" y="8"/>
                    <a:pt x="108" y="17"/>
                  </a:cubicBezTo>
                  <a:cubicBezTo>
                    <a:pt x="108" y="26"/>
                    <a:pt x="115" y="34"/>
                    <a:pt x="125" y="34"/>
                  </a:cubicBezTo>
                  <a:cubicBezTo>
                    <a:pt x="129" y="34"/>
                    <a:pt x="133" y="32"/>
                    <a:pt x="136" y="29"/>
                  </a:cubicBezTo>
                  <a:cubicBezTo>
                    <a:pt x="145" y="34"/>
                    <a:pt x="155" y="44"/>
                    <a:pt x="155" y="59"/>
                  </a:cubicBezTo>
                  <a:cubicBezTo>
                    <a:pt x="155" y="89"/>
                    <a:pt x="115" y="144"/>
                    <a:pt x="86" y="144"/>
                  </a:cubicBezTo>
                  <a:cubicBezTo>
                    <a:pt x="57" y="144"/>
                    <a:pt x="18" y="89"/>
                    <a:pt x="18" y="59"/>
                  </a:cubicBezTo>
                  <a:cubicBezTo>
                    <a:pt x="18" y="44"/>
                    <a:pt x="27" y="34"/>
                    <a:pt x="36" y="29"/>
                  </a:cubicBezTo>
                  <a:cubicBezTo>
                    <a:pt x="39" y="32"/>
                    <a:pt x="43" y="34"/>
                    <a:pt x="47" y="34"/>
                  </a:cubicBezTo>
                  <a:cubicBezTo>
                    <a:pt x="57" y="34"/>
                    <a:pt x="64" y="26"/>
                    <a:pt x="64" y="17"/>
                  </a:cubicBezTo>
                  <a:cubicBezTo>
                    <a:pt x="64" y="8"/>
                    <a:pt x="57" y="0"/>
                    <a:pt x="47" y="0"/>
                  </a:cubicBezTo>
                  <a:cubicBezTo>
                    <a:pt x="40" y="0"/>
                    <a:pt x="34" y="5"/>
                    <a:pt x="32" y="12"/>
                  </a:cubicBezTo>
                  <a:cubicBezTo>
                    <a:pt x="16" y="19"/>
                    <a:pt x="0" y="35"/>
                    <a:pt x="0" y="59"/>
                  </a:cubicBezTo>
                  <a:cubicBezTo>
                    <a:pt x="0" y="95"/>
                    <a:pt x="41" y="152"/>
                    <a:pt x="77" y="160"/>
                  </a:cubicBezTo>
                  <a:cubicBezTo>
                    <a:pt x="79" y="217"/>
                    <a:pt x="110" y="238"/>
                    <a:pt x="139" y="238"/>
                  </a:cubicBezTo>
                  <a:cubicBezTo>
                    <a:pt x="168" y="238"/>
                    <a:pt x="198" y="218"/>
                    <a:pt x="200" y="162"/>
                  </a:cubicBezTo>
                  <a:cubicBezTo>
                    <a:pt x="212" y="158"/>
                    <a:pt x="221" y="147"/>
                    <a:pt x="221" y="134"/>
                  </a:cubicBezTo>
                  <a:close/>
                  <a:moveTo>
                    <a:pt x="192" y="150"/>
                  </a:moveTo>
                  <a:cubicBezTo>
                    <a:pt x="183" y="150"/>
                    <a:pt x="175" y="143"/>
                    <a:pt x="175" y="134"/>
                  </a:cubicBezTo>
                  <a:cubicBezTo>
                    <a:pt x="175" y="125"/>
                    <a:pt x="183" y="118"/>
                    <a:pt x="192" y="118"/>
                  </a:cubicBezTo>
                  <a:cubicBezTo>
                    <a:pt x="201" y="118"/>
                    <a:pt x="208" y="125"/>
                    <a:pt x="208" y="134"/>
                  </a:cubicBezTo>
                  <a:cubicBezTo>
                    <a:pt x="208" y="143"/>
                    <a:pt x="201" y="150"/>
                    <a:pt x="192" y="15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2" name="Oval 24"/>
            <p:cNvSpPr>
              <a:spLocks noChangeArrowheads="1"/>
            </p:cNvSpPr>
            <p:nvPr/>
          </p:nvSpPr>
          <p:spPr bwMode="auto">
            <a:xfrm>
              <a:off x="1912938" y="2840038"/>
              <a:ext cx="34925" cy="34925"/>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51" name="Group 250"/>
          <p:cNvGrpSpPr/>
          <p:nvPr userDrawn="1"/>
        </p:nvGrpSpPr>
        <p:grpSpPr>
          <a:xfrm>
            <a:off x="8302971" y="2625906"/>
            <a:ext cx="325566" cy="299634"/>
            <a:chOff x="4851400" y="4646613"/>
            <a:chExt cx="538163" cy="495300"/>
          </a:xfrm>
          <a:solidFill>
            <a:schemeClr val="tx1"/>
          </a:solidFill>
        </p:grpSpPr>
        <p:sp>
          <p:nvSpPr>
            <p:cNvPr id="252" name="Freeform 72"/>
            <p:cNvSpPr>
              <a:spLocks/>
            </p:cNvSpPr>
            <p:nvPr/>
          </p:nvSpPr>
          <p:spPr bwMode="auto">
            <a:xfrm>
              <a:off x="4851400" y="4646613"/>
              <a:ext cx="257175" cy="360363"/>
            </a:xfrm>
            <a:custGeom>
              <a:avLst/>
              <a:gdLst>
                <a:gd name="T0" fmla="*/ 91 w 113"/>
                <a:gd name="T1" fmla="*/ 121 h 159"/>
                <a:gd name="T2" fmla="*/ 113 w 113"/>
                <a:gd name="T3" fmla="*/ 95 h 159"/>
                <a:gd name="T4" fmla="*/ 113 w 113"/>
                <a:gd name="T5" fmla="*/ 69 h 159"/>
                <a:gd name="T6" fmla="*/ 79 w 113"/>
                <a:gd name="T7" fmla="*/ 30 h 159"/>
                <a:gd name="T8" fmla="*/ 93 w 113"/>
                <a:gd name="T9" fmla="*/ 0 h 159"/>
                <a:gd name="T10" fmla="*/ 51 w 113"/>
                <a:gd name="T11" fmla="*/ 62 h 159"/>
                <a:gd name="T12" fmla="*/ 54 w 113"/>
                <a:gd name="T13" fmla="*/ 84 h 159"/>
                <a:gd name="T14" fmla="*/ 0 w 113"/>
                <a:gd name="T15" fmla="*/ 150 h 159"/>
                <a:gd name="T16" fmla="*/ 0 w 113"/>
                <a:gd name="T17" fmla="*/ 159 h 159"/>
                <a:gd name="T18" fmla="*/ 19 w 113"/>
                <a:gd name="T19" fmla="*/ 132 h 159"/>
                <a:gd name="T20" fmla="*/ 70 w 113"/>
                <a:gd name="T21" fmla="*/ 143 h 159"/>
                <a:gd name="T22" fmla="*/ 93 w 113"/>
                <a:gd name="T23" fmla="*/ 130 h 159"/>
                <a:gd name="T24" fmla="*/ 91 w 113"/>
                <a:gd name="T25" fmla="*/ 12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59">
                  <a:moveTo>
                    <a:pt x="91" y="121"/>
                  </a:moveTo>
                  <a:cubicBezTo>
                    <a:pt x="91" y="108"/>
                    <a:pt x="101" y="97"/>
                    <a:pt x="113" y="95"/>
                  </a:cubicBezTo>
                  <a:cubicBezTo>
                    <a:pt x="113" y="69"/>
                    <a:pt x="113" y="69"/>
                    <a:pt x="113" y="69"/>
                  </a:cubicBezTo>
                  <a:cubicBezTo>
                    <a:pt x="94" y="66"/>
                    <a:pt x="79" y="50"/>
                    <a:pt x="79" y="30"/>
                  </a:cubicBezTo>
                  <a:cubicBezTo>
                    <a:pt x="79" y="18"/>
                    <a:pt x="84" y="7"/>
                    <a:pt x="93" y="0"/>
                  </a:cubicBezTo>
                  <a:cubicBezTo>
                    <a:pt x="68" y="10"/>
                    <a:pt x="51" y="34"/>
                    <a:pt x="51" y="62"/>
                  </a:cubicBezTo>
                  <a:cubicBezTo>
                    <a:pt x="51" y="70"/>
                    <a:pt x="52" y="77"/>
                    <a:pt x="54" y="84"/>
                  </a:cubicBezTo>
                  <a:cubicBezTo>
                    <a:pt x="23" y="90"/>
                    <a:pt x="0" y="117"/>
                    <a:pt x="0" y="150"/>
                  </a:cubicBezTo>
                  <a:cubicBezTo>
                    <a:pt x="0" y="153"/>
                    <a:pt x="0" y="156"/>
                    <a:pt x="0" y="159"/>
                  </a:cubicBezTo>
                  <a:cubicBezTo>
                    <a:pt x="2" y="148"/>
                    <a:pt x="9" y="138"/>
                    <a:pt x="19" y="132"/>
                  </a:cubicBezTo>
                  <a:cubicBezTo>
                    <a:pt x="37" y="122"/>
                    <a:pt x="59" y="127"/>
                    <a:pt x="70" y="143"/>
                  </a:cubicBezTo>
                  <a:cubicBezTo>
                    <a:pt x="93" y="130"/>
                    <a:pt x="93" y="130"/>
                    <a:pt x="93" y="130"/>
                  </a:cubicBezTo>
                  <a:cubicBezTo>
                    <a:pt x="92" y="127"/>
                    <a:pt x="91" y="124"/>
                    <a:pt x="91" y="12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73"/>
            <p:cNvSpPr>
              <a:spLocks/>
            </p:cNvSpPr>
            <p:nvPr/>
          </p:nvSpPr>
          <p:spPr bwMode="auto">
            <a:xfrm>
              <a:off x="5130800" y="4646613"/>
              <a:ext cx="258763" cy="360363"/>
            </a:xfrm>
            <a:custGeom>
              <a:avLst/>
              <a:gdLst>
                <a:gd name="T0" fmla="*/ 59 w 114"/>
                <a:gd name="T1" fmla="*/ 84 h 159"/>
                <a:gd name="T2" fmla="*/ 63 w 114"/>
                <a:gd name="T3" fmla="*/ 62 h 159"/>
                <a:gd name="T4" fmla="*/ 21 w 114"/>
                <a:gd name="T5" fmla="*/ 0 h 159"/>
                <a:gd name="T6" fmla="*/ 35 w 114"/>
                <a:gd name="T7" fmla="*/ 30 h 159"/>
                <a:gd name="T8" fmla="*/ 0 w 114"/>
                <a:gd name="T9" fmla="*/ 69 h 159"/>
                <a:gd name="T10" fmla="*/ 0 w 114"/>
                <a:gd name="T11" fmla="*/ 95 h 159"/>
                <a:gd name="T12" fmla="*/ 22 w 114"/>
                <a:gd name="T13" fmla="*/ 121 h 159"/>
                <a:gd name="T14" fmla="*/ 21 w 114"/>
                <a:gd name="T15" fmla="*/ 130 h 159"/>
                <a:gd name="T16" fmla="*/ 43 w 114"/>
                <a:gd name="T17" fmla="*/ 143 h 159"/>
                <a:gd name="T18" fmla="*/ 94 w 114"/>
                <a:gd name="T19" fmla="*/ 132 h 159"/>
                <a:gd name="T20" fmla="*/ 113 w 114"/>
                <a:gd name="T21" fmla="*/ 159 h 159"/>
                <a:gd name="T22" fmla="*/ 114 w 114"/>
                <a:gd name="T23" fmla="*/ 150 h 159"/>
                <a:gd name="T24" fmla="*/ 59 w 114"/>
                <a:gd name="T25" fmla="*/ 84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59">
                  <a:moveTo>
                    <a:pt x="59" y="84"/>
                  </a:moveTo>
                  <a:cubicBezTo>
                    <a:pt x="61" y="77"/>
                    <a:pt x="63" y="70"/>
                    <a:pt x="63" y="62"/>
                  </a:cubicBezTo>
                  <a:cubicBezTo>
                    <a:pt x="63" y="34"/>
                    <a:pt x="45" y="10"/>
                    <a:pt x="21" y="0"/>
                  </a:cubicBezTo>
                  <a:cubicBezTo>
                    <a:pt x="29" y="7"/>
                    <a:pt x="35" y="18"/>
                    <a:pt x="35" y="30"/>
                  </a:cubicBezTo>
                  <a:cubicBezTo>
                    <a:pt x="35" y="50"/>
                    <a:pt x="20" y="66"/>
                    <a:pt x="0" y="69"/>
                  </a:cubicBezTo>
                  <a:cubicBezTo>
                    <a:pt x="0" y="95"/>
                    <a:pt x="0" y="95"/>
                    <a:pt x="0" y="95"/>
                  </a:cubicBezTo>
                  <a:cubicBezTo>
                    <a:pt x="13" y="97"/>
                    <a:pt x="22" y="108"/>
                    <a:pt x="22" y="121"/>
                  </a:cubicBezTo>
                  <a:cubicBezTo>
                    <a:pt x="22" y="124"/>
                    <a:pt x="21" y="127"/>
                    <a:pt x="21" y="130"/>
                  </a:cubicBezTo>
                  <a:cubicBezTo>
                    <a:pt x="43" y="143"/>
                    <a:pt x="43" y="143"/>
                    <a:pt x="43" y="143"/>
                  </a:cubicBezTo>
                  <a:cubicBezTo>
                    <a:pt x="55" y="127"/>
                    <a:pt x="77" y="122"/>
                    <a:pt x="94" y="132"/>
                  </a:cubicBezTo>
                  <a:cubicBezTo>
                    <a:pt x="105" y="138"/>
                    <a:pt x="111" y="148"/>
                    <a:pt x="113" y="159"/>
                  </a:cubicBezTo>
                  <a:cubicBezTo>
                    <a:pt x="114" y="156"/>
                    <a:pt x="114" y="153"/>
                    <a:pt x="114" y="150"/>
                  </a:cubicBezTo>
                  <a:cubicBezTo>
                    <a:pt x="114" y="117"/>
                    <a:pt x="90" y="90"/>
                    <a:pt x="59" y="8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74"/>
            <p:cNvSpPr>
              <a:spLocks/>
            </p:cNvSpPr>
            <p:nvPr/>
          </p:nvSpPr>
          <p:spPr bwMode="auto">
            <a:xfrm>
              <a:off x="4911725" y="4959350"/>
              <a:ext cx="419100" cy="182563"/>
            </a:xfrm>
            <a:custGeom>
              <a:avLst/>
              <a:gdLst>
                <a:gd name="T0" fmla="*/ 152 w 185"/>
                <a:gd name="T1" fmla="*/ 63 h 80"/>
                <a:gd name="T2" fmla="*/ 135 w 185"/>
                <a:gd name="T3" fmla="*/ 13 h 80"/>
                <a:gd name="T4" fmla="*/ 112 w 185"/>
                <a:gd name="T5" fmla="*/ 0 h 80"/>
                <a:gd name="T6" fmla="*/ 92 w 185"/>
                <a:gd name="T7" fmla="*/ 10 h 80"/>
                <a:gd name="T8" fmla="*/ 72 w 185"/>
                <a:gd name="T9" fmla="*/ 0 h 80"/>
                <a:gd name="T10" fmla="*/ 49 w 185"/>
                <a:gd name="T11" fmla="*/ 13 h 80"/>
                <a:gd name="T12" fmla="*/ 33 w 185"/>
                <a:gd name="T13" fmla="*/ 63 h 80"/>
                <a:gd name="T14" fmla="*/ 0 w 185"/>
                <a:gd name="T15" fmla="*/ 66 h 80"/>
                <a:gd name="T16" fmla="*/ 41 w 185"/>
                <a:gd name="T17" fmla="*/ 80 h 80"/>
                <a:gd name="T18" fmla="*/ 92 w 185"/>
                <a:gd name="T19" fmla="*/ 57 h 80"/>
                <a:gd name="T20" fmla="*/ 143 w 185"/>
                <a:gd name="T21" fmla="*/ 80 h 80"/>
                <a:gd name="T22" fmla="*/ 185 w 185"/>
                <a:gd name="T23" fmla="*/ 66 h 80"/>
                <a:gd name="T24" fmla="*/ 152 w 185"/>
                <a:gd name="T25" fmla="*/ 6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80">
                  <a:moveTo>
                    <a:pt x="152" y="63"/>
                  </a:moveTo>
                  <a:cubicBezTo>
                    <a:pt x="134" y="53"/>
                    <a:pt x="127" y="31"/>
                    <a:pt x="135" y="13"/>
                  </a:cubicBezTo>
                  <a:cubicBezTo>
                    <a:pt x="112" y="0"/>
                    <a:pt x="112" y="0"/>
                    <a:pt x="112" y="0"/>
                  </a:cubicBezTo>
                  <a:cubicBezTo>
                    <a:pt x="108" y="6"/>
                    <a:pt x="100" y="10"/>
                    <a:pt x="92" y="10"/>
                  </a:cubicBezTo>
                  <a:cubicBezTo>
                    <a:pt x="84" y="10"/>
                    <a:pt x="77" y="6"/>
                    <a:pt x="72" y="0"/>
                  </a:cubicBezTo>
                  <a:cubicBezTo>
                    <a:pt x="49" y="13"/>
                    <a:pt x="49" y="13"/>
                    <a:pt x="49" y="13"/>
                  </a:cubicBezTo>
                  <a:cubicBezTo>
                    <a:pt x="57" y="31"/>
                    <a:pt x="50" y="53"/>
                    <a:pt x="33" y="63"/>
                  </a:cubicBezTo>
                  <a:cubicBezTo>
                    <a:pt x="22" y="69"/>
                    <a:pt x="10" y="70"/>
                    <a:pt x="0" y="66"/>
                  </a:cubicBezTo>
                  <a:cubicBezTo>
                    <a:pt x="11" y="75"/>
                    <a:pt x="26" y="80"/>
                    <a:pt x="41" y="80"/>
                  </a:cubicBezTo>
                  <a:cubicBezTo>
                    <a:pt x="62" y="80"/>
                    <a:pt x="80" y="71"/>
                    <a:pt x="92" y="57"/>
                  </a:cubicBezTo>
                  <a:cubicBezTo>
                    <a:pt x="105" y="71"/>
                    <a:pt x="123" y="80"/>
                    <a:pt x="143" y="80"/>
                  </a:cubicBezTo>
                  <a:cubicBezTo>
                    <a:pt x="159" y="80"/>
                    <a:pt x="173" y="75"/>
                    <a:pt x="185" y="66"/>
                  </a:cubicBezTo>
                  <a:cubicBezTo>
                    <a:pt x="174" y="70"/>
                    <a:pt x="162" y="69"/>
                    <a:pt x="152" y="6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75"/>
            <p:cNvSpPr>
              <a:spLocks/>
            </p:cNvSpPr>
            <p:nvPr/>
          </p:nvSpPr>
          <p:spPr bwMode="auto">
            <a:xfrm>
              <a:off x="5060950" y="4732338"/>
              <a:ext cx="120650" cy="38100"/>
            </a:xfrm>
            <a:custGeom>
              <a:avLst/>
              <a:gdLst>
                <a:gd name="T0" fmla="*/ 12 w 53"/>
                <a:gd name="T1" fmla="*/ 17 h 17"/>
                <a:gd name="T2" fmla="*/ 26 w 53"/>
                <a:gd name="T3" fmla="*/ 15 h 17"/>
                <a:gd name="T4" fmla="*/ 41 w 53"/>
                <a:gd name="T5" fmla="*/ 17 h 17"/>
                <a:gd name="T6" fmla="*/ 53 w 53"/>
                <a:gd name="T7" fmla="*/ 4 h 17"/>
                <a:gd name="T8" fmla="*/ 26 w 53"/>
                <a:gd name="T9" fmla="*/ 0 h 17"/>
                <a:gd name="T10" fmla="*/ 0 w 53"/>
                <a:gd name="T11" fmla="*/ 4 h 17"/>
                <a:gd name="T12" fmla="*/ 12 w 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53" h="17">
                  <a:moveTo>
                    <a:pt x="12" y="17"/>
                  </a:moveTo>
                  <a:cubicBezTo>
                    <a:pt x="16" y="16"/>
                    <a:pt x="21" y="15"/>
                    <a:pt x="26" y="15"/>
                  </a:cubicBezTo>
                  <a:cubicBezTo>
                    <a:pt x="31" y="15"/>
                    <a:pt x="36" y="16"/>
                    <a:pt x="41" y="17"/>
                  </a:cubicBezTo>
                  <a:cubicBezTo>
                    <a:pt x="46" y="14"/>
                    <a:pt x="50" y="10"/>
                    <a:pt x="53" y="4"/>
                  </a:cubicBezTo>
                  <a:cubicBezTo>
                    <a:pt x="44" y="2"/>
                    <a:pt x="35" y="0"/>
                    <a:pt x="26" y="0"/>
                  </a:cubicBezTo>
                  <a:cubicBezTo>
                    <a:pt x="17" y="0"/>
                    <a:pt x="8" y="2"/>
                    <a:pt x="0" y="4"/>
                  </a:cubicBezTo>
                  <a:cubicBezTo>
                    <a:pt x="2" y="10"/>
                    <a:pt x="7" y="14"/>
                    <a:pt x="12" y="1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76"/>
            <p:cNvSpPr>
              <a:spLocks/>
            </p:cNvSpPr>
            <p:nvPr/>
          </p:nvSpPr>
          <p:spPr bwMode="auto">
            <a:xfrm>
              <a:off x="5233988" y="4957763"/>
              <a:ext cx="69850" cy="104775"/>
            </a:xfrm>
            <a:custGeom>
              <a:avLst/>
              <a:gdLst>
                <a:gd name="T0" fmla="*/ 31 w 31"/>
                <a:gd name="T1" fmla="*/ 0 h 46"/>
                <a:gd name="T2" fmla="*/ 29 w 31"/>
                <a:gd name="T3" fmla="*/ 0 h 46"/>
                <a:gd name="T4" fmla="*/ 15 w 31"/>
                <a:gd name="T5" fmla="*/ 4 h 46"/>
                <a:gd name="T6" fmla="*/ 0 w 31"/>
                <a:gd name="T7" fmla="*/ 30 h 46"/>
                <a:gd name="T8" fmla="*/ 5 w 31"/>
                <a:gd name="T9" fmla="*/ 46 h 46"/>
                <a:gd name="T10" fmla="*/ 31 w 31"/>
                <a:gd name="T11" fmla="*/ 0 h 46"/>
              </a:gdLst>
              <a:ahLst/>
              <a:cxnLst>
                <a:cxn ang="0">
                  <a:pos x="T0" y="T1"/>
                </a:cxn>
                <a:cxn ang="0">
                  <a:pos x="T2" y="T3"/>
                </a:cxn>
                <a:cxn ang="0">
                  <a:pos x="T4" y="T5"/>
                </a:cxn>
                <a:cxn ang="0">
                  <a:pos x="T6" y="T7"/>
                </a:cxn>
                <a:cxn ang="0">
                  <a:pos x="T8" y="T9"/>
                </a:cxn>
                <a:cxn ang="0">
                  <a:pos x="T10" y="T11"/>
                </a:cxn>
              </a:cxnLst>
              <a:rect l="0" t="0" r="r" b="b"/>
              <a:pathLst>
                <a:path w="31" h="46">
                  <a:moveTo>
                    <a:pt x="31" y="0"/>
                  </a:moveTo>
                  <a:cubicBezTo>
                    <a:pt x="31" y="0"/>
                    <a:pt x="30" y="0"/>
                    <a:pt x="29" y="0"/>
                  </a:cubicBezTo>
                  <a:cubicBezTo>
                    <a:pt x="24" y="0"/>
                    <a:pt x="19" y="2"/>
                    <a:pt x="15" y="4"/>
                  </a:cubicBezTo>
                  <a:cubicBezTo>
                    <a:pt x="12" y="14"/>
                    <a:pt x="7" y="22"/>
                    <a:pt x="0" y="30"/>
                  </a:cubicBezTo>
                  <a:cubicBezTo>
                    <a:pt x="0" y="35"/>
                    <a:pt x="2" y="41"/>
                    <a:pt x="5" y="46"/>
                  </a:cubicBezTo>
                  <a:cubicBezTo>
                    <a:pt x="18" y="34"/>
                    <a:pt x="28" y="1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77"/>
            <p:cNvSpPr>
              <a:spLocks/>
            </p:cNvSpPr>
            <p:nvPr/>
          </p:nvSpPr>
          <p:spPr bwMode="auto">
            <a:xfrm>
              <a:off x="4935538" y="4957763"/>
              <a:ext cx="71438" cy="104775"/>
            </a:xfrm>
            <a:custGeom>
              <a:avLst/>
              <a:gdLst>
                <a:gd name="T0" fmla="*/ 17 w 31"/>
                <a:gd name="T1" fmla="*/ 4 h 46"/>
                <a:gd name="T2" fmla="*/ 2 w 31"/>
                <a:gd name="T3" fmla="*/ 0 h 46"/>
                <a:gd name="T4" fmla="*/ 0 w 31"/>
                <a:gd name="T5" fmla="*/ 0 h 46"/>
                <a:gd name="T6" fmla="*/ 26 w 31"/>
                <a:gd name="T7" fmla="*/ 46 h 46"/>
                <a:gd name="T8" fmla="*/ 31 w 31"/>
                <a:gd name="T9" fmla="*/ 30 h 46"/>
                <a:gd name="T10" fmla="*/ 17 w 31"/>
                <a:gd name="T11" fmla="*/ 4 h 46"/>
              </a:gdLst>
              <a:ahLst/>
              <a:cxnLst>
                <a:cxn ang="0">
                  <a:pos x="T0" y="T1"/>
                </a:cxn>
                <a:cxn ang="0">
                  <a:pos x="T2" y="T3"/>
                </a:cxn>
                <a:cxn ang="0">
                  <a:pos x="T4" y="T5"/>
                </a:cxn>
                <a:cxn ang="0">
                  <a:pos x="T6" y="T7"/>
                </a:cxn>
                <a:cxn ang="0">
                  <a:pos x="T8" y="T9"/>
                </a:cxn>
                <a:cxn ang="0">
                  <a:pos x="T10" y="T11"/>
                </a:cxn>
              </a:cxnLst>
              <a:rect l="0" t="0" r="r" b="b"/>
              <a:pathLst>
                <a:path w="31" h="46">
                  <a:moveTo>
                    <a:pt x="17" y="4"/>
                  </a:moveTo>
                  <a:cubicBezTo>
                    <a:pt x="12" y="2"/>
                    <a:pt x="7" y="0"/>
                    <a:pt x="2" y="0"/>
                  </a:cubicBezTo>
                  <a:cubicBezTo>
                    <a:pt x="1" y="0"/>
                    <a:pt x="1" y="0"/>
                    <a:pt x="0" y="0"/>
                  </a:cubicBezTo>
                  <a:cubicBezTo>
                    <a:pt x="4" y="18"/>
                    <a:pt x="13" y="34"/>
                    <a:pt x="26" y="46"/>
                  </a:cubicBezTo>
                  <a:cubicBezTo>
                    <a:pt x="30" y="41"/>
                    <a:pt x="31" y="35"/>
                    <a:pt x="31" y="30"/>
                  </a:cubicBezTo>
                  <a:cubicBezTo>
                    <a:pt x="25" y="22"/>
                    <a:pt x="20" y="14"/>
                    <a:pt x="17"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38" name="Freeform 31"/>
          <p:cNvSpPr>
            <a:spLocks noEditPoints="1"/>
          </p:cNvSpPr>
          <p:nvPr userDrawn="1"/>
        </p:nvSpPr>
        <p:spPr bwMode="auto">
          <a:xfrm>
            <a:off x="10322481" y="5568991"/>
            <a:ext cx="322436" cy="302936"/>
          </a:xfrm>
          <a:custGeom>
            <a:avLst/>
            <a:gdLst>
              <a:gd name="T0" fmla="*/ 212 w 424"/>
              <a:gd name="T1" fmla="*/ 73 h 398"/>
              <a:gd name="T2" fmla="*/ 46 w 424"/>
              <a:gd name="T3" fmla="*/ 239 h 398"/>
              <a:gd name="T4" fmla="*/ 46 w 424"/>
              <a:gd name="T5" fmla="*/ 371 h 398"/>
              <a:gd name="T6" fmla="*/ 73 w 424"/>
              <a:gd name="T7" fmla="*/ 398 h 398"/>
              <a:gd name="T8" fmla="*/ 172 w 424"/>
              <a:gd name="T9" fmla="*/ 398 h 398"/>
              <a:gd name="T10" fmla="*/ 172 w 424"/>
              <a:gd name="T11" fmla="*/ 285 h 398"/>
              <a:gd name="T12" fmla="*/ 186 w 424"/>
              <a:gd name="T13" fmla="*/ 272 h 398"/>
              <a:gd name="T14" fmla="*/ 239 w 424"/>
              <a:gd name="T15" fmla="*/ 272 h 398"/>
              <a:gd name="T16" fmla="*/ 252 w 424"/>
              <a:gd name="T17" fmla="*/ 285 h 398"/>
              <a:gd name="T18" fmla="*/ 252 w 424"/>
              <a:gd name="T19" fmla="*/ 398 h 398"/>
              <a:gd name="T20" fmla="*/ 351 w 424"/>
              <a:gd name="T21" fmla="*/ 398 h 398"/>
              <a:gd name="T22" fmla="*/ 378 w 424"/>
              <a:gd name="T23" fmla="*/ 371 h 398"/>
              <a:gd name="T24" fmla="*/ 378 w 424"/>
              <a:gd name="T25" fmla="*/ 239 h 398"/>
              <a:gd name="T26" fmla="*/ 212 w 424"/>
              <a:gd name="T27" fmla="*/ 73 h 398"/>
              <a:gd name="T28" fmla="*/ 226 w 424"/>
              <a:gd name="T29" fmla="*/ 6 h 398"/>
              <a:gd name="T30" fmla="*/ 418 w 424"/>
              <a:gd name="T31" fmla="*/ 198 h 398"/>
              <a:gd name="T32" fmla="*/ 424 w 424"/>
              <a:gd name="T33" fmla="*/ 212 h 398"/>
              <a:gd name="T34" fmla="*/ 404 w 424"/>
              <a:gd name="T35" fmla="*/ 232 h 398"/>
              <a:gd name="T36" fmla="*/ 390 w 424"/>
              <a:gd name="T37" fmla="*/ 226 h 398"/>
              <a:gd name="T38" fmla="*/ 212 w 424"/>
              <a:gd name="T39" fmla="*/ 48 h 398"/>
              <a:gd name="T40" fmla="*/ 34 w 424"/>
              <a:gd name="T41" fmla="*/ 226 h 398"/>
              <a:gd name="T42" fmla="*/ 20 w 424"/>
              <a:gd name="T43" fmla="*/ 232 h 398"/>
              <a:gd name="T44" fmla="*/ 0 w 424"/>
              <a:gd name="T45" fmla="*/ 212 h 398"/>
              <a:gd name="T46" fmla="*/ 6 w 424"/>
              <a:gd name="T47" fmla="*/ 198 h 398"/>
              <a:gd name="T48" fmla="*/ 198 w 424"/>
              <a:gd name="T49" fmla="*/ 6 h 398"/>
              <a:gd name="T50" fmla="*/ 212 w 424"/>
              <a:gd name="T51" fmla="*/ 0 h 398"/>
              <a:gd name="T52" fmla="*/ 226 w 424"/>
              <a:gd name="T53" fmla="*/ 6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4" h="398">
                <a:moveTo>
                  <a:pt x="212" y="73"/>
                </a:moveTo>
                <a:cubicBezTo>
                  <a:pt x="46" y="239"/>
                  <a:pt x="46" y="239"/>
                  <a:pt x="46" y="239"/>
                </a:cubicBezTo>
                <a:cubicBezTo>
                  <a:pt x="46" y="371"/>
                  <a:pt x="46" y="371"/>
                  <a:pt x="46" y="371"/>
                </a:cubicBezTo>
                <a:cubicBezTo>
                  <a:pt x="46" y="386"/>
                  <a:pt x="58" y="398"/>
                  <a:pt x="73" y="398"/>
                </a:cubicBezTo>
                <a:cubicBezTo>
                  <a:pt x="172" y="398"/>
                  <a:pt x="172" y="398"/>
                  <a:pt x="172" y="398"/>
                </a:cubicBezTo>
                <a:cubicBezTo>
                  <a:pt x="172" y="285"/>
                  <a:pt x="172" y="285"/>
                  <a:pt x="172" y="285"/>
                </a:cubicBezTo>
                <a:cubicBezTo>
                  <a:pt x="172" y="278"/>
                  <a:pt x="178" y="272"/>
                  <a:pt x="186" y="272"/>
                </a:cubicBezTo>
                <a:cubicBezTo>
                  <a:pt x="239" y="272"/>
                  <a:pt x="239" y="272"/>
                  <a:pt x="239" y="272"/>
                </a:cubicBezTo>
                <a:cubicBezTo>
                  <a:pt x="246" y="272"/>
                  <a:pt x="252" y="278"/>
                  <a:pt x="252" y="285"/>
                </a:cubicBezTo>
                <a:cubicBezTo>
                  <a:pt x="252" y="398"/>
                  <a:pt x="252" y="398"/>
                  <a:pt x="252" y="398"/>
                </a:cubicBezTo>
                <a:cubicBezTo>
                  <a:pt x="351" y="398"/>
                  <a:pt x="351" y="398"/>
                  <a:pt x="351" y="398"/>
                </a:cubicBezTo>
                <a:cubicBezTo>
                  <a:pt x="366" y="398"/>
                  <a:pt x="378" y="386"/>
                  <a:pt x="378" y="371"/>
                </a:cubicBezTo>
                <a:cubicBezTo>
                  <a:pt x="378" y="239"/>
                  <a:pt x="378" y="239"/>
                  <a:pt x="378" y="239"/>
                </a:cubicBezTo>
                <a:cubicBezTo>
                  <a:pt x="212" y="73"/>
                  <a:pt x="212" y="73"/>
                  <a:pt x="212" y="73"/>
                </a:cubicBezTo>
                <a:close/>
                <a:moveTo>
                  <a:pt x="226" y="6"/>
                </a:moveTo>
                <a:cubicBezTo>
                  <a:pt x="418" y="198"/>
                  <a:pt x="418" y="198"/>
                  <a:pt x="418" y="198"/>
                </a:cubicBezTo>
                <a:cubicBezTo>
                  <a:pt x="422" y="202"/>
                  <a:pt x="424" y="207"/>
                  <a:pt x="424" y="212"/>
                </a:cubicBezTo>
                <a:cubicBezTo>
                  <a:pt x="424" y="223"/>
                  <a:pt x="415" y="232"/>
                  <a:pt x="404" y="232"/>
                </a:cubicBezTo>
                <a:cubicBezTo>
                  <a:pt x="399" y="232"/>
                  <a:pt x="394" y="230"/>
                  <a:pt x="390" y="226"/>
                </a:cubicBezTo>
                <a:cubicBezTo>
                  <a:pt x="212" y="48"/>
                  <a:pt x="212" y="48"/>
                  <a:pt x="212" y="48"/>
                </a:cubicBezTo>
                <a:cubicBezTo>
                  <a:pt x="34" y="226"/>
                  <a:pt x="34" y="226"/>
                  <a:pt x="34" y="226"/>
                </a:cubicBezTo>
                <a:cubicBezTo>
                  <a:pt x="30" y="230"/>
                  <a:pt x="25" y="232"/>
                  <a:pt x="20" y="232"/>
                </a:cubicBezTo>
                <a:cubicBezTo>
                  <a:pt x="9" y="232"/>
                  <a:pt x="0" y="223"/>
                  <a:pt x="0" y="212"/>
                </a:cubicBezTo>
                <a:cubicBezTo>
                  <a:pt x="0" y="207"/>
                  <a:pt x="2" y="202"/>
                  <a:pt x="6" y="198"/>
                </a:cubicBezTo>
                <a:cubicBezTo>
                  <a:pt x="198" y="6"/>
                  <a:pt x="198" y="6"/>
                  <a:pt x="198" y="6"/>
                </a:cubicBezTo>
                <a:cubicBezTo>
                  <a:pt x="202" y="3"/>
                  <a:pt x="207" y="0"/>
                  <a:pt x="212" y="0"/>
                </a:cubicBezTo>
                <a:cubicBezTo>
                  <a:pt x="218" y="0"/>
                  <a:pt x="223" y="3"/>
                  <a:pt x="226"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80" name="Group 179"/>
          <p:cNvGrpSpPr/>
          <p:nvPr userDrawn="1"/>
        </p:nvGrpSpPr>
        <p:grpSpPr>
          <a:xfrm>
            <a:off x="10314129" y="4926495"/>
            <a:ext cx="332394" cy="318048"/>
            <a:chOff x="4565650" y="1778000"/>
            <a:chExt cx="846138" cy="809626"/>
          </a:xfrm>
          <a:solidFill>
            <a:schemeClr val="tx1"/>
          </a:solidFill>
        </p:grpSpPr>
        <p:sp>
          <p:nvSpPr>
            <p:cNvPr id="181" name="Rectangle 42"/>
            <p:cNvSpPr>
              <a:spLocks noChangeArrowheads="1"/>
            </p:cNvSpPr>
            <p:nvPr/>
          </p:nvSpPr>
          <p:spPr bwMode="auto">
            <a:xfrm>
              <a:off x="5203825" y="1919288"/>
              <a:ext cx="146050" cy="76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43"/>
            <p:cNvSpPr>
              <a:spLocks noEditPoints="1"/>
            </p:cNvSpPr>
            <p:nvPr/>
          </p:nvSpPr>
          <p:spPr bwMode="auto">
            <a:xfrm>
              <a:off x="4565650" y="1931988"/>
              <a:ext cx="846138" cy="655638"/>
            </a:xfrm>
            <a:custGeom>
              <a:avLst/>
              <a:gdLst>
                <a:gd name="T0" fmla="*/ 260 w 281"/>
                <a:gd name="T1" fmla="*/ 38 h 217"/>
                <a:gd name="T2" fmla="*/ 212 w 281"/>
                <a:gd name="T3" fmla="*/ 38 h 217"/>
                <a:gd name="T4" fmla="*/ 211 w 281"/>
                <a:gd name="T5" fmla="*/ 140 h 217"/>
                <a:gd name="T6" fmla="*/ 176 w 281"/>
                <a:gd name="T7" fmla="*/ 140 h 217"/>
                <a:gd name="T8" fmla="*/ 200 w 281"/>
                <a:gd name="T9" fmla="*/ 87 h 217"/>
                <a:gd name="T10" fmla="*/ 200 w 281"/>
                <a:gd name="T11" fmla="*/ 78 h 217"/>
                <a:gd name="T12" fmla="*/ 62 w 281"/>
                <a:gd name="T13" fmla="*/ 78 h 217"/>
                <a:gd name="T14" fmla="*/ 62 w 281"/>
                <a:gd name="T15" fmla="*/ 87 h 217"/>
                <a:gd name="T16" fmla="*/ 86 w 281"/>
                <a:gd name="T17" fmla="*/ 140 h 217"/>
                <a:gd name="T18" fmla="*/ 45 w 281"/>
                <a:gd name="T19" fmla="*/ 140 h 217"/>
                <a:gd name="T20" fmla="*/ 41 w 281"/>
                <a:gd name="T21" fmla="*/ 126 h 217"/>
                <a:gd name="T22" fmla="*/ 41 w 281"/>
                <a:gd name="T23" fmla="*/ 43 h 217"/>
                <a:gd name="T24" fmla="*/ 67 w 281"/>
                <a:gd name="T25" fmla="*/ 17 h 217"/>
                <a:gd name="T26" fmla="*/ 93 w 281"/>
                <a:gd name="T27" fmla="*/ 17 h 217"/>
                <a:gd name="T28" fmla="*/ 107 w 281"/>
                <a:gd name="T29" fmla="*/ 22 h 217"/>
                <a:gd name="T30" fmla="*/ 69 w 281"/>
                <a:gd name="T31" fmla="*/ 57 h 217"/>
                <a:gd name="T32" fmla="*/ 193 w 281"/>
                <a:gd name="T33" fmla="*/ 57 h 217"/>
                <a:gd name="T34" fmla="*/ 131 w 281"/>
                <a:gd name="T35" fmla="*/ 18 h 217"/>
                <a:gd name="T36" fmla="*/ 127 w 281"/>
                <a:gd name="T37" fmla="*/ 18 h 217"/>
                <a:gd name="T38" fmla="*/ 93 w 281"/>
                <a:gd name="T39" fmla="*/ 0 h 217"/>
                <a:gd name="T40" fmla="*/ 67 w 281"/>
                <a:gd name="T41" fmla="*/ 0 h 217"/>
                <a:gd name="T42" fmla="*/ 24 w 281"/>
                <a:gd name="T43" fmla="*/ 43 h 217"/>
                <a:gd name="T44" fmla="*/ 24 w 281"/>
                <a:gd name="T45" fmla="*/ 126 h 217"/>
                <a:gd name="T46" fmla="*/ 27 w 281"/>
                <a:gd name="T47" fmla="*/ 140 h 217"/>
                <a:gd name="T48" fmla="*/ 0 w 281"/>
                <a:gd name="T49" fmla="*/ 140 h 217"/>
                <a:gd name="T50" fmla="*/ 0 w 281"/>
                <a:gd name="T51" fmla="*/ 217 h 217"/>
                <a:gd name="T52" fmla="*/ 106 w 281"/>
                <a:gd name="T53" fmla="*/ 217 h 217"/>
                <a:gd name="T54" fmla="*/ 106 w 281"/>
                <a:gd name="T55" fmla="*/ 195 h 217"/>
                <a:gd name="T56" fmla="*/ 192 w 281"/>
                <a:gd name="T57" fmla="*/ 195 h 217"/>
                <a:gd name="T58" fmla="*/ 192 w 281"/>
                <a:gd name="T59" fmla="*/ 217 h 217"/>
                <a:gd name="T60" fmla="*/ 281 w 281"/>
                <a:gd name="T61" fmla="*/ 217 h 217"/>
                <a:gd name="T62" fmla="*/ 281 w 281"/>
                <a:gd name="T63" fmla="*/ 140 h 217"/>
                <a:gd name="T64" fmla="*/ 261 w 281"/>
                <a:gd name="T65" fmla="*/ 140 h 217"/>
                <a:gd name="T66" fmla="*/ 260 w 281"/>
                <a:gd name="T67" fmla="*/ 38 h 217"/>
                <a:gd name="T68" fmla="*/ 68 w 281"/>
                <a:gd name="T69" fmla="*/ 175 h 217"/>
                <a:gd name="T70" fmla="*/ 20 w 281"/>
                <a:gd name="T71" fmla="*/ 175 h 217"/>
                <a:gd name="T72" fmla="*/ 20 w 281"/>
                <a:gd name="T73" fmla="*/ 152 h 217"/>
                <a:gd name="T74" fmla="*/ 68 w 281"/>
                <a:gd name="T75" fmla="*/ 152 h 217"/>
                <a:gd name="T76" fmla="*/ 68 w 281"/>
                <a:gd name="T77" fmla="*/ 175 h 217"/>
                <a:gd name="T78" fmla="*/ 133 w 281"/>
                <a:gd name="T79" fmla="*/ 175 h 217"/>
                <a:gd name="T80" fmla="*/ 86 w 281"/>
                <a:gd name="T81" fmla="*/ 175 h 217"/>
                <a:gd name="T82" fmla="*/ 86 w 281"/>
                <a:gd name="T83" fmla="*/ 152 h 217"/>
                <a:gd name="T84" fmla="*/ 133 w 281"/>
                <a:gd name="T85" fmla="*/ 152 h 217"/>
                <a:gd name="T86" fmla="*/ 133 w 281"/>
                <a:gd name="T87" fmla="*/ 175 h 217"/>
                <a:gd name="T88" fmla="*/ 198 w 281"/>
                <a:gd name="T89" fmla="*/ 175 h 217"/>
                <a:gd name="T90" fmla="*/ 151 w 281"/>
                <a:gd name="T91" fmla="*/ 175 h 217"/>
                <a:gd name="T92" fmla="*/ 151 w 281"/>
                <a:gd name="T93" fmla="*/ 152 h 217"/>
                <a:gd name="T94" fmla="*/ 198 w 281"/>
                <a:gd name="T95" fmla="*/ 152 h 217"/>
                <a:gd name="T96" fmla="*/ 198 w 281"/>
                <a:gd name="T97" fmla="*/ 175 h 217"/>
                <a:gd name="T98" fmla="*/ 263 w 281"/>
                <a:gd name="T99" fmla="*/ 175 h 217"/>
                <a:gd name="T100" fmla="*/ 216 w 281"/>
                <a:gd name="T101" fmla="*/ 175 h 217"/>
                <a:gd name="T102" fmla="*/ 216 w 281"/>
                <a:gd name="T103" fmla="*/ 152 h 217"/>
                <a:gd name="T104" fmla="*/ 263 w 281"/>
                <a:gd name="T105" fmla="*/ 152 h 217"/>
                <a:gd name="T106" fmla="*/ 263 w 281"/>
                <a:gd name="T107" fmla="*/ 175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1" h="217">
                  <a:moveTo>
                    <a:pt x="260" y="38"/>
                  </a:moveTo>
                  <a:cubicBezTo>
                    <a:pt x="212" y="38"/>
                    <a:pt x="212" y="38"/>
                    <a:pt x="212" y="38"/>
                  </a:cubicBezTo>
                  <a:cubicBezTo>
                    <a:pt x="211" y="140"/>
                    <a:pt x="211" y="140"/>
                    <a:pt x="211" y="140"/>
                  </a:cubicBezTo>
                  <a:cubicBezTo>
                    <a:pt x="176" y="140"/>
                    <a:pt x="176" y="140"/>
                    <a:pt x="176" y="140"/>
                  </a:cubicBezTo>
                  <a:cubicBezTo>
                    <a:pt x="191" y="127"/>
                    <a:pt x="200" y="108"/>
                    <a:pt x="200" y="87"/>
                  </a:cubicBezTo>
                  <a:cubicBezTo>
                    <a:pt x="200" y="84"/>
                    <a:pt x="200" y="81"/>
                    <a:pt x="200" y="78"/>
                  </a:cubicBezTo>
                  <a:cubicBezTo>
                    <a:pt x="62" y="78"/>
                    <a:pt x="62" y="78"/>
                    <a:pt x="62" y="78"/>
                  </a:cubicBezTo>
                  <a:cubicBezTo>
                    <a:pt x="62" y="81"/>
                    <a:pt x="62" y="84"/>
                    <a:pt x="62" y="87"/>
                  </a:cubicBezTo>
                  <a:cubicBezTo>
                    <a:pt x="62" y="108"/>
                    <a:pt x="71" y="127"/>
                    <a:pt x="86" y="140"/>
                  </a:cubicBezTo>
                  <a:cubicBezTo>
                    <a:pt x="45" y="140"/>
                    <a:pt x="45" y="140"/>
                    <a:pt x="45" y="140"/>
                  </a:cubicBezTo>
                  <a:cubicBezTo>
                    <a:pt x="43" y="136"/>
                    <a:pt x="41" y="131"/>
                    <a:pt x="41" y="126"/>
                  </a:cubicBezTo>
                  <a:cubicBezTo>
                    <a:pt x="41" y="43"/>
                    <a:pt x="41" y="43"/>
                    <a:pt x="41" y="43"/>
                  </a:cubicBezTo>
                  <a:cubicBezTo>
                    <a:pt x="41" y="29"/>
                    <a:pt x="53" y="17"/>
                    <a:pt x="67" y="17"/>
                  </a:cubicBezTo>
                  <a:cubicBezTo>
                    <a:pt x="93" y="17"/>
                    <a:pt x="93" y="17"/>
                    <a:pt x="93" y="17"/>
                  </a:cubicBezTo>
                  <a:cubicBezTo>
                    <a:pt x="98" y="17"/>
                    <a:pt x="103" y="19"/>
                    <a:pt x="107" y="22"/>
                  </a:cubicBezTo>
                  <a:cubicBezTo>
                    <a:pt x="90" y="28"/>
                    <a:pt x="77" y="41"/>
                    <a:pt x="69" y="57"/>
                  </a:cubicBezTo>
                  <a:cubicBezTo>
                    <a:pt x="193" y="57"/>
                    <a:pt x="193" y="57"/>
                    <a:pt x="193" y="57"/>
                  </a:cubicBezTo>
                  <a:cubicBezTo>
                    <a:pt x="182" y="34"/>
                    <a:pt x="158" y="18"/>
                    <a:pt x="131" y="18"/>
                  </a:cubicBezTo>
                  <a:cubicBezTo>
                    <a:pt x="130" y="18"/>
                    <a:pt x="128" y="18"/>
                    <a:pt x="127" y="18"/>
                  </a:cubicBezTo>
                  <a:cubicBezTo>
                    <a:pt x="119" y="7"/>
                    <a:pt x="107" y="0"/>
                    <a:pt x="93" y="0"/>
                  </a:cubicBezTo>
                  <a:cubicBezTo>
                    <a:pt x="67" y="0"/>
                    <a:pt x="67" y="0"/>
                    <a:pt x="67" y="0"/>
                  </a:cubicBezTo>
                  <a:cubicBezTo>
                    <a:pt x="43" y="0"/>
                    <a:pt x="24" y="19"/>
                    <a:pt x="24" y="43"/>
                  </a:cubicBezTo>
                  <a:cubicBezTo>
                    <a:pt x="24" y="126"/>
                    <a:pt x="24" y="126"/>
                    <a:pt x="24" y="126"/>
                  </a:cubicBezTo>
                  <a:cubicBezTo>
                    <a:pt x="24" y="131"/>
                    <a:pt x="25" y="136"/>
                    <a:pt x="27" y="140"/>
                  </a:cubicBezTo>
                  <a:cubicBezTo>
                    <a:pt x="0" y="140"/>
                    <a:pt x="0" y="140"/>
                    <a:pt x="0" y="140"/>
                  </a:cubicBezTo>
                  <a:cubicBezTo>
                    <a:pt x="0" y="217"/>
                    <a:pt x="0" y="217"/>
                    <a:pt x="0" y="217"/>
                  </a:cubicBezTo>
                  <a:cubicBezTo>
                    <a:pt x="106" y="217"/>
                    <a:pt x="106" y="217"/>
                    <a:pt x="106" y="217"/>
                  </a:cubicBezTo>
                  <a:cubicBezTo>
                    <a:pt x="106" y="195"/>
                    <a:pt x="106" y="195"/>
                    <a:pt x="106" y="195"/>
                  </a:cubicBezTo>
                  <a:cubicBezTo>
                    <a:pt x="192" y="195"/>
                    <a:pt x="192" y="195"/>
                    <a:pt x="192" y="195"/>
                  </a:cubicBezTo>
                  <a:cubicBezTo>
                    <a:pt x="192" y="217"/>
                    <a:pt x="192" y="217"/>
                    <a:pt x="192" y="217"/>
                  </a:cubicBezTo>
                  <a:cubicBezTo>
                    <a:pt x="281" y="217"/>
                    <a:pt x="281" y="217"/>
                    <a:pt x="281" y="217"/>
                  </a:cubicBezTo>
                  <a:cubicBezTo>
                    <a:pt x="281" y="140"/>
                    <a:pt x="281" y="140"/>
                    <a:pt x="281" y="140"/>
                  </a:cubicBezTo>
                  <a:cubicBezTo>
                    <a:pt x="261" y="140"/>
                    <a:pt x="261" y="140"/>
                    <a:pt x="261" y="140"/>
                  </a:cubicBezTo>
                  <a:lnTo>
                    <a:pt x="260" y="38"/>
                  </a:lnTo>
                  <a:close/>
                  <a:moveTo>
                    <a:pt x="68" y="175"/>
                  </a:moveTo>
                  <a:cubicBezTo>
                    <a:pt x="20" y="175"/>
                    <a:pt x="20" y="175"/>
                    <a:pt x="20" y="175"/>
                  </a:cubicBezTo>
                  <a:cubicBezTo>
                    <a:pt x="20" y="152"/>
                    <a:pt x="20" y="152"/>
                    <a:pt x="20" y="152"/>
                  </a:cubicBezTo>
                  <a:cubicBezTo>
                    <a:pt x="68" y="152"/>
                    <a:pt x="68" y="152"/>
                    <a:pt x="68" y="152"/>
                  </a:cubicBezTo>
                  <a:lnTo>
                    <a:pt x="68" y="175"/>
                  </a:lnTo>
                  <a:close/>
                  <a:moveTo>
                    <a:pt x="133" y="175"/>
                  </a:moveTo>
                  <a:cubicBezTo>
                    <a:pt x="86" y="175"/>
                    <a:pt x="86" y="175"/>
                    <a:pt x="86" y="175"/>
                  </a:cubicBezTo>
                  <a:cubicBezTo>
                    <a:pt x="86" y="152"/>
                    <a:pt x="86" y="152"/>
                    <a:pt x="86" y="152"/>
                  </a:cubicBezTo>
                  <a:cubicBezTo>
                    <a:pt x="133" y="152"/>
                    <a:pt x="133" y="152"/>
                    <a:pt x="133" y="152"/>
                  </a:cubicBezTo>
                  <a:lnTo>
                    <a:pt x="133" y="175"/>
                  </a:lnTo>
                  <a:close/>
                  <a:moveTo>
                    <a:pt x="198" y="175"/>
                  </a:moveTo>
                  <a:cubicBezTo>
                    <a:pt x="151" y="175"/>
                    <a:pt x="151" y="175"/>
                    <a:pt x="151" y="175"/>
                  </a:cubicBezTo>
                  <a:cubicBezTo>
                    <a:pt x="151" y="152"/>
                    <a:pt x="151" y="152"/>
                    <a:pt x="151" y="152"/>
                  </a:cubicBezTo>
                  <a:cubicBezTo>
                    <a:pt x="198" y="152"/>
                    <a:pt x="198" y="152"/>
                    <a:pt x="198" y="152"/>
                  </a:cubicBezTo>
                  <a:lnTo>
                    <a:pt x="198" y="175"/>
                  </a:lnTo>
                  <a:close/>
                  <a:moveTo>
                    <a:pt x="263" y="175"/>
                  </a:moveTo>
                  <a:cubicBezTo>
                    <a:pt x="216" y="175"/>
                    <a:pt x="216" y="175"/>
                    <a:pt x="216" y="175"/>
                  </a:cubicBezTo>
                  <a:cubicBezTo>
                    <a:pt x="216" y="152"/>
                    <a:pt x="216" y="152"/>
                    <a:pt x="216" y="152"/>
                  </a:cubicBezTo>
                  <a:cubicBezTo>
                    <a:pt x="263" y="152"/>
                    <a:pt x="263" y="152"/>
                    <a:pt x="263" y="152"/>
                  </a:cubicBezTo>
                  <a:lnTo>
                    <a:pt x="263"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44"/>
            <p:cNvSpPr>
              <a:spLocks/>
            </p:cNvSpPr>
            <p:nvPr/>
          </p:nvSpPr>
          <p:spPr bwMode="auto">
            <a:xfrm>
              <a:off x="5203825" y="1778000"/>
              <a:ext cx="146050" cy="90488"/>
            </a:xfrm>
            <a:custGeom>
              <a:avLst/>
              <a:gdLst>
                <a:gd name="T0" fmla="*/ 92 w 92"/>
                <a:gd name="T1" fmla="*/ 57 h 57"/>
                <a:gd name="T2" fmla="*/ 90 w 92"/>
                <a:gd name="T3" fmla="*/ 0 h 57"/>
                <a:gd name="T4" fmla="*/ 0 w 92"/>
                <a:gd name="T5" fmla="*/ 0 h 57"/>
                <a:gd name="T6" fmla="*/ 0 w 92"/>
                <a:gd name="T7" fmla="*/ 57 h 57"/>
                <a:gd name="T8" fmla="*/ 92 w 92"/>
                <a:gd name="T9" fmla="*/ 57 h 57"/>
              </a:gdLst>
              <a:ahLst/>
              <a:cxnLst>
                <a:cxn ang="0">
                  <a:pos x="T0" y="T1"/>
                </a:cxn>
                <a:cxn ang="0">
                  <a:pos x="T2" y="T3"/>
                </a:cxn>
                <a:cxn ang="0">
                  <a:pos x="T4" y="T5"/>
                </a:cxn>
                <a:cxn ang="0">
                  <a:pos x="T6" y="T7"/>
                </a:cxn>
                <a:cxn ang="0">
                  <a:pos x="T8" y="T9"/>
                </a:cxn>
              </a:cxnLst>
              <a:rect l="0" t="0" r="r" b="b"/>
              <a:pathLst>
                <a:path w="92" h="57">
                  <a:moveTo>
                    <a:pt x="92" y="57"/>
                  </a:moveTo>
                  <a:lnTo>
                    <a:pt x="90" y="0"/>
                  </a:lnTo>
                  <a:lnTo>
                    <a:pt x="0" y="0"/>
                  </a:lnTo>
                  <a:lnTo>
                    <a:pt x="0" y="57"/>
                  </a:lnTo>
                  <a:lnTo>
                    <a:pt x="92"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4" name="Freeform 45"/>
          <p:cNvSpPr>
            <a:spLocks noEditPoints="1"/>
          </p:cNvSpPr>
          <p:nvPr userDrawn="1"/>
        </p:nvSpPr>
        <p:spPr bwMode="auto">
          <a:xfrm>
            <a:off x="10285695" y="6801393"/>
            <a:ext cx="366296" cy="230310"/>
          </a:xfrm>
          <a:custGeom>
            <a:avLst/>
            <a:gdLst>
              <a:gd name="T0" fmla="*/ 394 w 403"/>
              <a:gd name="T1" fmla="*/ 237 h 253"/>
              <a:gd name="T2" fmla="*/ 348 w 403"/>
              <a:gd name="T3" fmla="*/ 237 h 253"/>
              <a:gd name="T4" fmla="*/ 348 w 403"/>
              <a:gd name="T5" fmla="*/ 50 h 253"/>
              <a:gd name="T6" fmla="*/ 196 w 403"/>
              <a:gd name="T7" fmla="*/ 50 h 253"/>
              <a:gd name="T8" fmla="*/ 196 w 403"/>
              <a:gd name="T9" fmla="*/ 8 h 253"/>
              <a:gd name="T10" fmla="*/ 188 w 403"/>
              <a:gd name="T11" fmla="*/ 0 h 253"/>
              <a:gd name="T12" fmla="*/ 94 w 403"/>
              <a:gd name="T13" fmla="*/ 0 h 253"/>
              <a:gd name="T14" fmla="*/ 86 w 403"/>
              <a:gd name="T15" fmla="*/ 8 h 253"/>
              <a:gd name="T16" fmla="*/ 86 w 403"/>
              <a:gd name="T17" fmla="*/ 50 h 253"/>
              <a:gd name="T18" fmla="*/ 54 w 403"/>
              <a:gd name="T19" fmla="*/ 50 h 253"/>
              <a:gd name="T20" fmla="*/ 54 w 403"/>
              <a:gd name="T21" fmla="*/ 237 h 253"/>
              <a:gd name="T22" fmla="*/ 9 w 403"/>
              <a:gd name="T23" fmla="*/ 237 h 253"/>
              <a:gd name="T24" fmla="*/ 0 w 403"/>
              <a:gd name="T25" fmla="*/ 246 h 253"/>
              <a:gd name="T26" fmla="*/ 0 w 403"/>
              <a:gd name="T27" fmla="*/ 253 h 253"/>
              <a:gd name="T28" fmla="*/ 403 w 403"/>
              <a:gd name="T29" fmla="*/ 253 h 253"/>
              <a:gd name="T30" fmla="*/ 403 w 403"/>
              <a:gd name="T31" fmla="*/ 246 h 253"/>
              <a:gd name="T32" fmla="*/ 394 w 403"/>
              <a:gd name="T33" fmla="*/ 237 h 253"/>
              <a:gd name="T34" fmla="*/ 86 w 403"/>
              <a:gd name="T35" fmla="*/ 108 h 253"/>
              <a:gd name="T36" fmla="*/ 68 w 403"/>
              <a:gd name="T37" fmla="*/ 108 h 253"/>
              <a:gd name="T38" fmla="*/ 68 w 403"/>
              <a:gd name="T39" fmla="*/ 77 h 253"/>
              <a:gd name="T40" fmla="*/ 86 w 403"/>
              <a:gd name="T41" fmla="*/ 77 h 253"/>
              <a:gd name="T42" fmla="*/ 86 w 403"/>
              <a:gd name="T43" fmla="*/ 108 h 253"/>
              <a:gd name="T44" fmla="*/ 103 w 403"/>
              <a:gd name="T45" fmla="*/ 17 h 253"/>
              <a:gd name="T46" fmla="*/ 179 w 403"/>
              <a:gd name="T47" fmla="*/ 17 h 253"/>
              <a:gd name="T48" fmla="*/ 179 w 403"/>
              <a:gd name="T49" fmla="*/ 127 h 253"/>
              <a:gd name="T50" fmla="*/ 103 w 403"/>
              <a:gd name="T51" fmla="*/ 127 h 253"/>
              <a:gd name="T52" fmla="*/ 103 w 403"/>
              <a:gd name="T53" fmla="*/ 17 h 253"/>
              <a:gd name="T54" fmla="*/ 189 w 403"/>
              <a:gd name="T55" fmla="*/ 229 h 253"/>
              <a:gd name="T56" fmla="*/ 103 w 403"/>
              <a:gd name="T57" fmla="*/ 229 h 253"/>
              <a:gd name="T58" fmla="*/ 103 w 403"/>
              <a:gd name="T59" fmla="*/ 180 h 253"/>
              <a:gd name="T60" fmla="*/ 189 w 403"/>
              <a:gd name="T61" fmla="*/ 180 h 253"/>
              <a:gd name="T62" fmla="*/ 189 w 403"/>
              <a:gd name="T63" fmla="*/ 229 h 253"/>
              <a:gd name="T64" fmla="*/ 293 w 403"/>
              <a:gd name="T65" fmla="*/ 229 h 253"/>
              <a:gd name="T66" fmla="*/ 206 w 403"/>
              <a:gd name="T67" fmla="*/ 229 h 253"/>
              <a:gd name="T68" fmla="*/ 206 w 403"/>
              <a:gd name="T69" fmla="*/ 180 h 253"/>
              <a:gd name="T70" fmla="*/ 293 w 403"/>
              <a:gd name="T71" fmla="*/ 180 h 253"/>
              <a:gd name="T72" fmla="*/ 293 w 403"/>
              <a:gd name="T73" fmla="*/ 229 h 253"/>
              <a:gd name="T74" fmla="*/ 334 w 403"/>
              <a:gd name="T75" fmla="*/ 108 h 253"/>
              <a:gd name="T76" fmla="*/ 196 w 403"/>
              <a:gd name="T77" fmla="*/ 108 h 253"/>
              <a:gd name="T78" fmla="*/ 196 w 403"/>
              <a:gd name="T79" fmla="*/ 77 h 253"/>
              <a:gd name="T80" fmla="*/ 334 w 403"/>
              <a:gd name="T81" fmla="*/ 77 h 253"/>
              <a:gd name="T82" fmla="*/ 334 w 403"/>
              <a:gd name="T83" fmla="*/ 108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03" h="253">
                <a:moveTo>
                  <a:pt x="394" y="237"/>
                </a:moveTo>
                <a:cubicBezTo>
                  <a:pt x="348" y="237"/>
                  <a:pt x="348" y="237"/>
                  <a:pt x="348" y="237"/>
                </a:cubicBezTo>
                <a:cubicBezTo>
                  <a:pt x="348" y="50"/>
                  <a:pt x="348" y="50"/>
                  <a:pt x="348" y="50"/>
                </a:cubicBezTo>
                <a:cubicBezTo>
                  <a:pt x="196" y="50"/>
                  <a:pt x="196" y="50"/>
                  <a:pt x="196" y="50"/>
                </a:cubicBezTo>
                <a:cubicBezTo>
                  <a:pt x="196" y="8"/>
                  <a:pt x="196" y="8"/>
                  <a:pt x="196" y="8"/>
                </a:cubicBezTo>
                <a:cubicBezTo>
                  <a:pt x="196" y="3"/>
                  <a:pt x="192" y="0"/>
                  <a:pt x="188" y="0"/>
                </a:cubicBezTo>
                <a:cubicBezTo>
                  <a:pt x="94" y="0"/>
                  <a:pt x="94" y="0"/>
                  <a:pt x="94" y="0"/>
                </a:cubicBezTo>
                <a:cubicBezTo>
                  <a:pt x="90" y="0"/>
                  <a:pt x="86" y="3"/>
                  <a:pt x="86" y="8"/>
                </a:cubicBezTo>
                <a:cubicBezTo>
                  <a:pt x="86" y="50"/>
                  <a:pt x="86" y="50"/>
                  <a:pt x="86" y="50"/>
                </a:cubicBezTo>
                <a:cubicBezTo>
                  <a:pt x="54" y="50"/>
                  <a:pt x="54" y="50"/>
                  <a:pt x="54" y="50"/>
                </a:cubicBezTo>
                <a:cubicBezTo>
                  <a:pt x="54" y="237"/>
                  <a:pt x="54" y="237"/>
                  <a:pt x="54" y="237"/>
                </a:cubicBezTo>
                <a:cubicBezTo>
                  <a:pt x="9" y="237"/>
                  <a:pt x="9" y="237"/>
                  <a:pt x="9" y="237"/>
                </a:cubicBezTo>
                <a:cubicBezTo>
                  <a:pt x="4" y="237"/>
                  <a:pt x="0" y="241"/>
                  <a:pt x="0" y="246"/>
                </a:cubicBezTo>
                <a:cubicBezTo>
                  <a:pt x="0" y="253"/>
                  <a:pt x="0" y="253"/>
                  <a:pt x="0" y="253"/>
                </a:cubicBezTo>
                <a:cubicBezTo>
                  <a:pt x="403" y="253"/>
                  <a:pt x="403" y="253"/>
                  <a:pt x="403" y="253"/>
                </a:cubicBezTo>
                <a:cubicBezTo>
                  <a:pt x="403" y="246"/>
                  <a:pt x="403" y="246"/>
                  <a:pt x="403" y="246"/>
                </a:cubicBezTo>
                <a:cubicBezTo>
                  <a:pt x="403" y="241"/>
                  <a:pt x="399" y="237"/>
                  <a:pt x="394" y="237"/>
                </a:cubicBezTo>
                <a:close/>
                <a:moveTo>
                  <a:pt x="86" y="108"/>
                </a:moveTo>
                <a:cubicBezTo>
                  <a:pt x="68" y="108"/>
                  <a:pt x="68" y="108"/>
                  <a:pt x="68" y="108"/>
                </a:cubicBezTo>
                <a:cubicBezTo>
                  <a:pt x="68" y="77"/>
                  <a:pt x="68" y="77"/>
                  <a:pt x="68" y="77"/>
                </a:cubicBezTo>
                <a:cubicBezTo>
                  <a:pt x="86" y="77"/>
                  <a:pt x="86" y="77"/>
                  <a:pt x="86" y="77"/>
                </a:cubicBezTo>
                <a:lnTo>
                  <a:pt x="86" y="108"/>
                </a:lnTo>
                <a:close/>
                <a:moveTo>
                  <a:pt x="103" y="17"/>
                </a:moveTo>
                <a:cubicBezTo>
                  <a:pt x="179" y="17"/>
                  <a:pt x="179" y="17"/>
                  <a:pt x="179" y="17"/>
                </a:cubicBezTo>
                <a:cubicBezTo>
                  <a:pt x="179" y="127"/>
                  <a:pt x="179" y="127"/>
                  <a:pt x="179" y="127"/>
                </a:cubicBezTo>
                <a:cubicBezTo>
                  <a:pt x="103" y="127"/>
                  <a:pt x="103" y="127"/>
                  <a:pt x="103" y="127"/>
                </a:cubicBezTo>
                <a:lnTo>
                  <a:pt x="103" y="17"/>
                </a:lnTo>
                <a:close/>
                <a:moveTo>
                  <a:pt x="189" y="229"/>
                </a:moveTo>
                <a:cubicBezTo>
                  <a:pt x="103" y="229"/>
                  <a:pt x="103" y="229"/>
                  <a:pt x="103" y="229"/>
                </a:cubicBezTo>
                <a:cubicBezTo>
                  <a:pt x="103" y="180"/>
                  <a:pt x="103" y="180"/>
                  <a:pt x="103" y="180"/>
                </a:cubicBezTo>
                <a:cubicBezTo>
                  <a:pt x="189" y="180"/>
                  <a:pt x="189" y="180"/>
                  <a:pt x="189" y="180"/>
                </a:cubicBezTo>
                <a:lnTo>
                  <a:pt x="189" y="229"/>
                </a:lnTo>
                <a:close/>
                <a:moveTo>
                  <a:pt x="293" y="229"/>
                </a:moveTo>
                <a:cubicBezTo>
                  <a:pt x="206" y="229"/>
                  <a:pt x="206" y="229"/>
                  <a:pt x="206" y="229"/>
                </a:cubicBezTo>
                <a:cubicBezTo>
                  <a:pt x="206" y="180"/>
                  <a:pt x="206" y="180"/>
                  <a:pt x="206" y="180"/>
                </a:cubicBezTo>
                <a:cubicBezTo>
                  <a:pt x="293" y="180"/>
                  <a:pt x="293" y="180"/>
                  <a:pt x="293" y="180"/>
                </a:cubicBezTo>
                <a:lnTo>
                  <a:pt x="293" y="229"/>
                </a:lnTo>
                <a:close/>
                <a:moveTo>
                  <a:pt x="334" y="108"/>
                </a:moveTo>
                <a:cubicBezTo>
                  <a:pt x="196" y="108"/>
                  <a:pt x="196" y="108"/>
                  <a:pt x="196" y="108"/>
                </a:cubicBezTo>
                <a:cubicBezTo>
                  <a:pt x="196" y="77"/>
                  <a:pt x="196" y="77"/>
                  <a:pt x="196" y="77"/>
                </a:cubicBezTo>
                <a:cubicBezTo>
                  <a:pt x="334" y="77"/>
                  <a:pt x="334" y="77"/>
                  <a:pt x="334" y="77"/>
                </a:cubicBezTo>
                <a:lnTo>
                  <a:pt x="334" y="1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42"/>
          <p:cNvSpPr>
            <a:spLocks noEditPoints="1"/>
          </p:cNvSpPr>
          <p:nvPr userDrawn="1"/>
        </p:nvSpPr>
        <p:spPr bwMode="auto">
          <a:xfrm>
            <a:off x="10321367" y="6236721"/>
            <a:ext cx="323764" cy="232254"/>
          </a:xfrm>
          <a:custGeom>
            <a:avLst/>
            <a:gdLst>
              <a:gd name="T0" fmla="*/ 285 w 305"/>
              <a:gd name="T1" fmla="*/ 0 h 219"/>
              <a:gd name="T2" fmla="*/ 19 w 305"/>
              <a:gd name="T3" fmla="*/ 0 h 219"/>
              <a:gd name="T4" fmla="*/ 0 w 305"/>
              <a:gd name="T5" fmla="*/ 20 h 219"/>
              <a:gd name="T6" fmla="*/ 0 w 305"/>
              <a:gd name="T7" fmla="*/ 219 h 219"/>
              <a:gd name="T8" fmla="*/ 112 w 305"/>
              <a:gd name="T9" fmla="*/ 219 h 219"/>
              <a:gd name="T10" fmla="*/ 112 w 305"/>
              <a:gd name="T11" fmla="*/ 157 h 219"/>
              <a:gd name="T12" fmla="*/ 193 w 305"/>
              <a:gd name="T13" fmla="*/ 157 h 219"/>
              <a:gd name="T14" fmla="*/ 193 w 305"/>
              <a:gd name="T15" fmla="*/ 219 h 219"/>
              <a:gd name="T16" fmla="*/ 305 w 305"/>
              <a:gd name="T17" fmla="*/ 219 h 219"/>
              <a:gd name="T18" fmla="*/ 305 w 305"/>
              <a:gd name="T19" fmla="*/ 20 h 219"/>
              <a:gd name="T20" fmla="*/ 285 w 305"/>
              <a:gd name="T21" fmla="*/ 0 h 219"/>
              <a:gd name="T22" fmla="*/ 97 w 305"/>
              <a:gd name="T23" fmla="*/ 187 h 219"/>
              <a:gd name="T24" fmla="*/ 29 w 305"/>
              <a:gd name="T25" fmla="*/ 187 h 219"/>
              <a:gd name="T26" fmla="*/ 29 w 305"/>
              <a:gd name="T27" fmla="*/ 156 h 219"/>
              <a:gd name="T28" fmla="*/ 97 w 305"/>
              <a:gd name="T29" fmla="*/ 156 h 219"/>
              <a:gd name="T30" fmla="*/ 97 w 305"/>
              <a:gd name="T31" fmla="*/ 187 h 219"/>
              <a:gd name="T32" fmla="*/ 97 w 305"/>
              <a:gd name="T33" fmla="*/ 125 h 219"/>
              <a:gd name="T34" fmla="*/ 29 w 305"/>
              <a:gd name="T35" fmla="*/ 125 h 219"/>
              <a:gd name="T36" fmla="*/ 29 w 305"/>
              <a:gd name="T37" fmla="*/ 94 h 219"/>
              <a:gd name="T38" fmla="*/ 97 w 305"/>
              <a:gd name="T39" fmla="*/ 94 h 219"/>
              <a:gd name="T40" fmla="*/ 97 w 305"/>
              <a:gd name="T41" fmla="*/ 125 h 219"/>
              <a:gd name="T42" fmla="*/ 97 w 305"/>
              <a:gd name="T43" fmla="*/ 62 h 219"/>
              <a:gd name="T44" fmla="*/ 29 w 305"/>
              <a:gd name="T45" fmla="*/ 62 h 219"/>
              <a:gd name="T46" fmla="*/ 29 w 305"/>
              <a:gd name="T47" fmla="*/ 32 h 219"/>
              <a:gd name="T48" fmla="*/ 97 w 305"/>
              <a:gd name="T49" fmla="*/ 32 h 219"/>
              <a:gd name="T50" fmla="*/ 97 w 305"/>
              <a:gd name="T51" fmla="*/ 62 h 219"/>
              <a:gd name="T52" fmla="*/ 194 w 305"/>
              <a:gd name="T53" fmla="*/ 125 h 219"/>
              <a:gd name="T54" fmla="*/ 112 w 305"/>
              <a:gd name="T55" fmla="*/ 125 h 219"/>
              <a:gd name="T56" fmla="*/ 112 w 305"/>
              <a:gd name="T57" fmla="*/ 94 h 219"/>
              <a:gd name="T58" fmla="*/ 194 w 305"/>
              <a:gd name="T59" fmla="*/ 94 h 219"/>
              <a:gd name="T60" fmla="*/ 194 w 305"/>
              <a:gd name="T61" fmla="*/ 125 h 219"/>
              <a:gd name="T62" fmla="*/ 194 w 305"/>
              <a:gd name="T63" fmla="*/ 62 h 219"/>
              <a:gd name="T64" fmla="*/ 112 w 305"/>
              <a:gd name="T65" fmla="*/ 62 h 219"/>
              <a:gd name="T66" fmla="*/ 112 w 305"/>
              <a:gd name="T67" fmla="*/ 32 h 219"/>
              <a:gd name="T68" fmla="*/ 194 w 305"/>
              <a:gd name="T69" fmla="*/ 32 h 219"/>
              <a:gd name="T70" fmla="*/ 194 w 305"/>
              <a:gd name="T71" fmla="*/ 62 h 219"/>
              <a:gd name="T72" fmla="*/ 275 w 305"/>
              <a:gd name="T73" fmla="*/ 187 h 219"/>
              <a:gd name="T74" fmla="*/ 209 w 305"/>
              <a:gd name="T75" fmla="*/ 187 h 219"/>
              <a:gd name="T76" fmla="*/ 209 w 305"/>
              <a:gd name="T77" fmla="*/ 156 h 219"/>
              <a:gd name="T78" fmla="*/ 275 w 305"/>
              <a:gd name="T79" fmla="*/ 156 h 219"/>
              <a:gd name="T80" fmla="*/ 275 w 305"/>
              <a:gd name="T81" fmla="*/ 187 h 219"/>
              <a:gd name="T82" fmla="*/ 275 w 305"/>
              <a:gd name="T83" fmla="*/ 125 h 219"/>
              <a:gd name="T84" fmla="*/ 209 w 305"/>
              <a:gd name="T85" fmla="*/ 125 h 219"/>
              <a:gd name="T86" fmla="*/ 209 w 305"/>
              <a:gd name="T87" fmla="*/ 94 h 219"/>
              <a:gd name="T88" fmla="*/ 275 w 305"/>
              <a:gd name="T89" fmla="*/ 94 h 219"/>
              <a:gd name="T90" fmla="*/ 275 w 305"/>
              <a:gd name="T91" fmla="*/ 125 h 219"/>
              <a:gd name="T92" fmla="*/ 275 w 305"/>
              <a:gd name="T93" fmla="*/ 62 h 219"/>
              <a:gd name="T94" fmla="*/ 209 w 305"/>
              <a:gd name="T95" fmla="*/ 62 h 219"/>
              <a:gd name="T96" fmla="*/ 209 w 305"/>
              <a:gd name="T97" fmla="*/ 32 h 219"/>
              <a:gd name="T98" fmla="*/ 275 w 305"/>
              <a:gd name="T99" fmla="*/ 32 h 219"/>
              <a:gd name="T100" fmla="*/ 275 w 305"/>
              <a:gd name="T101" fmla="*/ 62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5" h="219">
                <a:moveTo>
                  <a:pt x="285" y="0"/>
                </a:moveTo>
                <a:cubicBezTo>
                  <a:pt x="19" y="0"/>
                  <a:pt x="19" y="0"/>
                  <a:pt x="19" y="0"/>
                </a:cubicBezTo>
                <a:cubicBezTo>
                  <a:pt x="9" y="0"/>
                  <a:pt x="0" y="9"/>
                  <a:pt x="0" y="20"/>
                </a:cubicBezTo>
                <a:cubicBezTo>
                  <a:pt x="0" y="219"/>
                  <a:pt x="0" y="219"/>
                  <a:pt x="0" y="219"/>
                </a:cubicBezTo>
                <a:cubicBezTo>
                  <a:pt x="112" y="219"/>
                  <a:pt x="112" y="219"/>
                  <a:pt x="112" y="219"/>
                </a:cubicBezTo>
                <a:cubicBezTo>
                  <a:pt x="112" y="157"/>
                  <a:pt x="112" y="157"/>
                  <a:pt x="112" y="157"/>
                </a:cubicBezTo>
                <a:cubicBezTo>
                  <a:pt x="193" y="157"/>
                  <a:pt x="193" y="157"/>
                  <a:pt x="193" y="157"/>
                </a:cubicBezTo>
                <a:cubicBezTo>
                  <a:pt x="193" y="219"/>
                  <a:pt x="193" y="219"/>
                  <a:pt x="193" y="219"/>
                </a:cubicBezTo>
                <a:cubicBezTo>
                  <a:pt x="305" y="219"/>
                  <a:pt x="305" y="219"/>
                  <a:pt x="305" y="219"/>
                </a:cubicBezTo>
                <a:cubicBezTo>
                  <a:pt x="305" y="20"/>
                  <a:pt x="305" y="20"/>
                  <a:pt x="305" y="20"/>
                </a:cubicBezTo>
                <a:cubicBezTo>
                  <a:pt x="305" y="9"/>
                  <a:pt x="296" y="0"/>
                  <a:pt x="285" y="0"/>
                </a:cubicBezTo>
                <a:close/>
                <a:moveTo>
                  <a:pt x="97" y="187"/>
                </a:moveTo>
                <a:cubicBezTo>
                  <a:pt x="29" y="187"/>
                  <a:pt x="29" y="187"/>
                  <a:pt x="29" y="187"/>
                </a:cubicBezTo>
                <a:cubicBezTo>
                  <a:pt x="29" y="156"/>
                  <a:pt x="29" y="156"/>
                  <a:pt x="29" y="156"/>
                </a:cubicBezTo>
                <a:cubicBezTo>
                  <a:pt x="97" y="156"/>
                  <a:pt x="97" y="156"/>
                  <a:pt x="97" y="156"/>
                </a:cubicBezTo>
                <a:lnTo>
                  <a:pt x="97" y="187"/>
                </a:lnTo>
                <a:close/>
                <a:moveTo>
                  <a:pt x="97" y="125"/>
                </a:moveTo>
                <a:cubicBezTo>
                  <a:pt x="29" y="125"/>
                  <a:pt x="29" y="125"/>
                  <a:pt x="29" y="125"/>
                </a:cubicBezTo>
                <a:cubicBezTo>
                  <a:pt x="29" y="94"/>
                  <a:pt x="29" y="94"/>
                  <a:pt x="29" y="94"/>
                </a:cubicBezTo>
                <a:cubicBezTo>
                  <a:pt x="97" y="94"/>
                  <a:pt x="97" y="94"/>
                  <a:pt x="97" y="94"/>
                </a:cubicBezTo>
                <a:lnTo>
                  <a:pt x="97" y="125"/>
                </a:lnTo>
                <a:close/>
                <a:moveTo>
                  <a:pt x="97" y="62"/>
                </a:moveTo>
                <a:cubicBezTo>
                  <a:pt x="29" y="62"/>
                  <a:pt x="29" y="62"/>
                  <a:pt x="29" y="62"/>
                </a:cubicBezTo>
                <a:cubicBezTo>
                  <a:pt x="29" y="32"/>
                  <a:pt x="29" y="32"/>
                  <a:pt x="29" y="32"/>
                </a:cubicBezTo>
                <a:cubicBezTo>
                  <a:pt x="97" y="32"/>
                  <a:pt x="97" y="32"/>
                  <a:pt x="97" y="32"/>
                </a:cubicBezTo>
                <a:lnTo>
                  <a:pt x="97" y="62"/>
                </a:lnTo>
                <a:close/>
                <a:moveTo>
                  <a:pt x="194" y="125"/>
                </a:moveTo>
                <a:cubicBezTo>
                  <a:pt x="112" y="125"/>
                  <a:pt x="112" y="125"/>
                  <a:pt x="112" y="125"/>
                </a:cubicBezTo>
                <a:cubicBezTo>
                  <a:pt x="112" y="94"/>
                  <a:pt x="112" y="94"/>
                  <a:pt x="112" y="94"/>
                </a:cubicBezTo>
                <a:cubicBezTo>
                  <a:pt x="194" y="94"/>
                  <a:pt x="194" y="94"/>
                  <a:pt x="194" y="94"/>
                </a:cubicBezTo>
                <a:lnTo>
                  <a:pt x="194" y="125"/>
                </a:lnTo>
                <a:close/>
                <a:moveTo>
                  <a:pt x="194" y="62"/>
                </a:moveTo>
                <a:cubicBezTo>
                  <a:pt x="112" y="62"/>
                  <a:pt x="112" y="62"/>
                  <a:pt x="112" y="62"/>
                </a:cubicBezTo>
                <a:cubicBezTo>
                  <a:pt x="112" y="32"/>
                  <a:pt x="112" y="32"/>
                  <a:pt x="112" y="32"/>
                </a:cubicBezTo>
                <a:cubicBezTo>
                  <a:pt x="194" y="32"/>
                  <a:pt x="194" y="32"/>
                  <a:pt x="194" y="32"/>
                </a:cubicBezTo>
                <a:lnTo>
                  <a:pt x="194" y="62"/>
                </a:lnTo>
                <a:close/>
                <a:moveTo>
                  <a:pt x="275" y="187"/>
                </a:moveTo>
                <a:cubicBezTo>
                  <a:pt x="209" y="187"/>
                  <a:pt x="209" y="187"/>
                  <a:pt x="209" y="187"/>
                </a:cubicBezTo>
                <a:cubicBezTo>
                  <a:pt x="209" y="156"/>
                  <a:pt x="209" y="156"/>
                  <a:pt x="209" y="156"/>
                </a:cubicBezTo>
                <a:cubicBezTo>
                  <a:pt x="275" y="156"/>
                  <a:pt x="275" y="156"/>
                  <a:pt x="275" y="156"/>
                </a:cubicBezTo>
                <a:lnTo>
                  <a:pt x="275" y="187"/>
                </a:lnTo>
                <a:close/>
                <a:moveTo>
                  <a:pt x="275" y="125"/>
                </a:moveTo>
                <a:cubicBezTo>
                  <a:pt x="209" y="125"/>
                  <a:pt x="209" y="125"/>
                  <a:pt x="209" y="125"/>
                </a:cubicBezTo>
                <a:cubicBezTo>
                  <a:pt x="209" y="94"/>
                  <a:pt x="209" y="94"/>
                  <a:pt x="209" y="94"/>
                </a:cubicBezTo>
                <a:cubicBezTo>
                  <a:pt x="275" y="94"/>
                  <a:pt x="275" y="94"/>
                  <a:pt x="275" y="94"/>
                </a:cubicBezTo>
                <a:lnTo>
                  <a:pt x="275" y="125"/>
                </a:lnTo>
                <a:close/>
                <a:moveTo>
                  <a:pt x="275" y="62"/>
                </a:moveTo>
                <a:cubicBezTo>
                  <a:pt x="209" y="62"/>
                  <a:pt x="209" y="62"/>
                  <a:pt x="209" y="62"/>
                </a:cubicBezTo>
                <a:cubicBezTo>
                  <a:pt x="209" y="32"/>
                  <a:pt x="209" y="32"/>
                  <a:pt x="209" y="32"/>
                </a:cubicBezTo>
                <a:cubicBezTo>
                  <a:pt x="275" y="32"/>
                  <a:pt x="275" y="32"/>
                  <a:pt x="275" y="32"/>
                </a:cubicBezTo>
                <a:lnTo>
                  <a:pt x="275" y="6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9"/>
          <p:cNvSpPr>
            <a:spLocks/>
          </p:cNvSpPr>
          <p:nvPr userDrawn="1"/>
        </p:nvSpPr>
        <p:spPr bwMode="auto">
          <a:xfrm>
            <a:off x="9003731" y="2091037"/>
            <a:ext cx="255458" cy="285228"/>
          </a:xfrm>
          <a:custGeom>
            <a:avLst/>
            <a:gdLst>
              <a:gd name="T0" fmla="*/ 140 w 186"/>
              <a:gd name="T1" fmla="*/ 0 h 207"/>
              <a:gd name="T2" fmla="*/ 93 w 186"/>
              <a:gd name="T3" fmla="*/ 17 h 207"/>
              <a:gd name="T4" fmla="*/ 47 w 186"/>
              <a:gd name="T5" fmla="*/ 0 h 207"/>
              <a:gd name="T6" fmla="*/ 0 w 186"/>
              <a:gd name="T7" fmla="*/ 61 h 207"/>
              <a:gd name="T8" fmla="*/ 24 w 186"/>
              <a:gd name="T9" fmla="*/ 127 h 207"/>
              <a:gd name="T10" fmla="*/ 66 w 186"/>
              <a:gd name="T11" fmla="*/ 204 h 207"/>
              <a:gd name="T12" fmla="*/ 69 w 186"/>
              <a:gd name="T13" fmla="*/ 166 h 207"/>
              <a:gd name="T14" fmla="*/ 93 w 186"/>
              <a:gd name="T15" fmla="*/ 130 h 207"/>
              <a:gd name="T16" fmla="*/ 117 w 186"/>
              <a:gd name="T17" fmla="*/ 166 h 207"/>
              <a:gd name="T18" fmla="*/ 121 w 186"/>
              <a:gd name="T19" fmla="*/ 204 h 207"/>
              <a:gd name="T20" fmla="*/ 162 w 186"/>
              <a:gd name="T21" fmla="*/ 127 h 207"/>
              <a:gd name="T22" fmla="*/ 186 w 186"/>
              <a:gd name="T23" fmla="*/ 61 h 207"/>
              <a:gd name="T24" fmla="*/ 140 w 186"/>
              <a:gd name="T25"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 h="207">
                <a:moveTo>
                  <a:pt x="140" y="0"/>
                </a:moveTo>
                <a:cubicBezTo>
                  <a:pt x="121" y="0"/>
                  <a:pt x="104" y="17"/>
                  <a:pt x="93" y="17"/>
                </a:cubicBezTo>
                <a:cubicBezTo>
                  <a:pt x="83" y="17"/>
                  <a:pt x="65" y="0"/>
                  <a:pt x="47" y="0"/>
                </a:cubicBezTo>
                <a:cubicBezTo>
                  <a:pt x="28" y="0"/>
                  <a:pt x="0" y="30"/>
                  <a:pt x="0" y="61"/>
                </a:cubicBezTo>
                <a:cubicBezTo>
                  <a:pt x="0" y="92"/>
                  <a:pt x="21" y="102"/>
                  <a:pt x="24" y="127"/>
                </a:cubicBezTo>
                <a:cubicBezTo>
                  <a:pt x="29" y="154"/>
                  <a:pt x="52" y="207"/>
                  <a:pt x="66" y="204"/>
                </a:cubicBezTo>
                <a:cubicBezTo>
                  <a:pt x="75" y="203"/>
                  <a:pt x="70" y="184"/>
                  <a:pt x="69" y="166"/>
                </a:cubicBezTo>
                <a:cubicBezTo>
                  <a:pt x="68" y="144"/>
                  <a:pt x="80" y="130"/>
                  <a:pt x="93" y="130"/>
                </a:cubicBezTo>
                <a:cubicBezTo>
                  <a:pt x="106" y="130"/>
                  <a:pt x="118" y="144"/>
                  <a:pt x="117" y="166"/>
                </a:cubicBezTo>
                <a:cubicBezTo>
                  <a:pt x="116" y="184"/>
                  <a:pt x="112" y="203"/>
                  <a:pt x="121" y="204"/>
                </a:cubicBezTo>
                <a:cubicBezTo>
                  <a:pt x="134" y="207"/>
                  <a:pt x="157" y="154"/>
                  <a:pt x="162" y="127"/>
                </a:cubicBezTo>
                <a:cubicBezTo>
                  <a:pt x="166" y="102"/>
                  <a:pt x="186" y="92"/>
                  <a:pt x="186" y="61"/>
                </a:cubicBezTo>
                <a:cubicBezTo>
                  <a:pt x="186" y="30"/>
                  <a:pt x="158" y="0"/>
                  <a:pt x="14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41" name="Group 240"/>
          <p:cNvGrpSpPr/>
          <p:nvPr userDrawn="1"/>
        </p:nvGrpSpPr>
        <p:grpSpPr>
          <a:xfrm>
            <a:off x="8344748" y="3179405"/>
            <a:ext cx="242012" cy="344772"/>
            <a:chOff x="7158038" y="3665538"/>
            <a:chExt cx="400050" cy="569913"/>
          </a:xfrm>
          <a:solidFill>
            <a:schemeClr val="tx1"/>
          </a:solidFill>
        </p:grpSpPr>
        <p:sp>
          <p:nvSpPr>
            <p:cNvPr id="242" name="Freeform 57"/>
            <p:cNvSpPr>
              <a:spLocks noEditPoints="1"/>
            </p:cNvSpPr>
            <p:nvPr/>
          </p:nvSpPr>
          <p:spPr bwMode="auto">
            <a:xfrm>
              <a:off x="7158038" y="3665538"/>
              <a:ext cx="400050" cy="569913"/>
            </a:xfrm>
            <a:custGeom>
              <a:avLst/>
              <a:gdLst>
                <a:gd name="T0" fmla="*/ 173 w 176"/>
                <a:gd name="T1" fmla="*/ 135 h 251"/>
                <a:gd name="T2" fmla="*/ 93 w 176"/>
                <a:gd name="T3" fmla="*/ 171 h 251"/>
                <a:gd name="T4" fmla="*/ 111 w 176"/>
                <a:gd name="T5" fmla="*/ 176 h 251"/>
                <a:gd name="T6" fmla="*/ 123 w 176"/>
                <a:gd name="T7" fmla="*/ 171 h 251"/>
                <a:gd name="T8" fmla="*/ 80 w 176"/>
                <a:gd name="T9" fmla="*/ 189 h 251"/>
                <a:gd name="T10" fmla="*/ 43 w 176"/>
                <a:gd name="T11" fmla="*/ 164 h 251"/>
                <a:gd name="T12" fmla="*/ 73 w 176"/>
                <a:gd name="T13" fmla="*/ 89 h 251"/>
                <a:gd name="T14" fmla="*/ 82 w 176"/>
                <a:gd name="T15" fmla="*/ 109 h 251"/>
                <a:gd name="T16" fmla="*/ 134 w 176"/>
                <a:gd name="T17" fmla="*/ 86 h 251"/>
                <a:gd name="T18" fmla="*/ 117 w 176"/>
                <a:gd name="T19" fmla="*/ 48 h 251"/>
                <a:gd name="T20" fmla="*/ 94 w 176"/>
                <a:gd name="T21" fmla="*/ 26 h 251"/>
                <a:gd name="T22" fmla="*/ 87 w 176"/>
                <a:gd name="T23" fmla="*/ 8 h 251"/>
                <a:gd name="T24" fmla="*/ 82 w 176"/>
                <a:gd name="T25" fmla="*/ 7 h 251"/>
                <a:gd name="T26" fmla="*/ 78 w 176"/>
                <a:gd name="T27" fmla="*/ 9 h 251"/>
                <a:gd name="T28" fmla="*/ 75 w 176"/>
                <a:gd name="T29" fmla="*/ 2 h 251"/>
                <a:gd name="T30" fmla="*/ 71 w 176"/>
                <a:gd name="T31" fmla="*/ 0 h 251"/>
                <a:gd name="T32" fmla="*/ 59 w 176"/>
                <a:gd name="T33" fmla="*/ 6 h 251"/>
                <a:gd name="T34" fmla="*/ 58 w 176"/>
                <a:gd name="T35" fmla="*/ 9 h 251"/>
                <a:gd name="T36" fmla="*/ 61 w 176"/>
                <a:gd name="T37" fmla="*/ 16 h 251"/>
                <a:gd name="T38" fmla="*/ 56 w 176"/>
                <a:gd name="T39" fmla="*/ 18 h 251"/>
                <a:gd name="T40" fmla="*/ 55 w 176"/>
                <a:gd name="T41" fmla="*/ 23 h 251"/>
                <a:gd name="T42" fmla="*/ 63 w 176"/>
                <a:gd name="T43" fmla="*/ 40 h 251"/>
                <a:gd name="T44" fmla="*/ 65 w 176"/>
                <a:gd name="T45" fmla="*/ 72 h 251"/>
                <a:gd name="T46" fmla="*/ 66 w 176"/>
                <a:gd name="T47" fmla="*/ 75 h 251"/>
                <a:gd name="T48" fmla="*/ 16 w 176"/>
                <a:gd name="T49" fmla="*/ 172 h 251"/>
                <a:gd name="T50" fmla="*/ 59 w 176"/>
                <a:gd name="T51" fmla="*/ 214 h 251"/>
                <a:gd name="T52" fmla="*/ 48 w 176"/>
                <a:gd name="T53" fmla="*/ 237 h 251"/>
                <a:gd name="T54" fmla="*/ 44 w 176"/>
                <a:gd name="T55" fmla="*/ 237 h 251"/>
                <a:gd name="T56" fmla="*/ 30 w 176"/>
                <a:gd name="T57" fmla="*/ 251 h 251"/>
                <a:gd name="T58" fmla="*/ 131 w 176"/>
                <a:gd name="T59" fmla="*/ 251 h 251"/>
                <a:gd name="T60" fmla="*/ 117 w 176"/>
                <a:gd name="T61" fmla="*/ 237 h 251"/>
                <a:gd name="T62" fmla="*/ 113 w 176"/>
                <a:gd name="T63" fmla="*/ 237 h 251"/>
                <a:gd name="T64" fmla="*/ 101 w 176"/>
                <a:gd name="T65" fmla="*/ 213 h 251"/>
                <a:gd name="T66" fmla="*/ 150 w 176"/>
                <a:gd name="T67" fmla="*/ 158 h 251"/>
                <a:gd name="T68" fmla="*/ 165 w 176"/>
                <a:gd name="T69" fmla="*/ 151 h 251"/>
                <a:gd name="T70" fmla="*/ 173 w 176"/>
                <a:gd name="T71" fmla="*/ 135 h 251"/>
                <a:gd name="T72" fmla="*/ 80 w 176"/>
                <a:gd name="T73" fmla="*/ 237 h 251"/>
                <a:gd name="T74" fmla="*/ 70 w 176"/>
                <a:gd name="T75" fmla="*/ 226 h 251"/>
                <a:gd name="T76" fmla="*/ 80 w 176"/>
                <a:gd name="T77" fmla="*/ 216 h 251"/>
                <a:gd name="T78" fmla="*/ 91 w 176"/>
                <a:gd name="T79" fmla="*/ 226 h 251"/>
                <a:gd name="T80" fmla="*/ 80 w 176"/>
                <a:gd name="T81" fmla="*/ 23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6" h="251">
                  <a:moveTo>
                    <a:pt x="173" y="135"/>
                  </a:moveTo>
                  <a:cubicBezTo>
                    <a:pt x="93" y="171"/>
                    <a:pt x="93" y="171"/>
                    <a:pt x="93" y="171"/>
                  </a:cubicBezTo>
                  <a:cubicBezTo>
                    <a:pt x="96" y="177"/>
                    <a:pt x="104" y="179"/>
                    <a:pt x="111" y="176"/>
                  </a:cubicBezTo>
                  <a:cubicBezTo>
                    <a:pt x="123" y="171"/>
                    <a:pt x="123" y="171"/>
                    <a:pt x="123" y="171"/>
                  </a:cubicBezTo>
                  <a:cubicBezTo>
                    <a:pt x="115" y="179"/>
                    <a:pt x="101" y="189"/>
                    <a:pt x="80" y="189"/>
                  </a:cubicBezTo>
                  <a:cubicBezTo>
                    <a:pt x="64" y="189"/>
                    <a:pt x="47" y="178"/>
                    <a:pt x="43" y="164"/>
                  </a:cubicBezTo>
                  <a:cubicBezTo>
                    <a:pt x="32" y="131"/>
                    <a:pt x="59" y="101"/>
                    <a:pt x="73" y="89"/>
                  </a:cubicBezTo>
                  <a:cubicBezTo>
                    <a:pt x="75" y="94"/>
                    <a:pt x="78" y="100"/>
                    <a:pt x="82" y="109"/>
                  </a:cubicBezTo>
                  <a:cubicBezTo>
                    <a:pt x="134" y="86"/>
                    <a:pt x="134" y="86"/>
                    <a:pt x="134" y="86"/>
                  </a:cubicBezTo>
                  <a:cubicBezTo>
                    <a:pt x="124" y="63"/>
                    <a:pt x="122" y="59"/>
                    <a:pt x="117" y="48"/>
                  </a:cubicBezTo>
                  <a:cubicBezTo>
                    <a:pt x="112" y="38"/>
                    <a:pt x="102" y="30"/>
                    <a:pt x="94" y="26"/>
                  </a:cubicBezTo>
                  <a:cubicBezTo>
                    <a:pt x="87" y="8"/>
                    <a:pt x="87" y="8"/>
                    <a:pt x="87" y="8"/>
                  </a:cubicBezTo>
                  <a:cubicBezTo>
                    <a:pt x="86" y="7"/>
                    <a:pt x="84" y="6"/>
                    <a:pt x="82" y="7"/>
                  </a:cubicBezTo>
                  <a:cubicBezTo>
                    <a:pt x="78" y="9"/>
                    <a:pt x="78" y="9"/>
                    <a:pt x="78" y="9"/>
                  </a:cubicBezTo>
                  <a:cubicBezTo>
                    <a:pt x="75" y="2"/>
                    <a:pt x="75" y="2"/>
                    <a:pt x="75" y="2"/>
                  </a:cubicBezTo>
                  <a:cubicBezTo>
                    <a:pt x="74" y="0"/>
                    <a:pt x="73" y="0"/>
                    <a:pt x="71" y="0"/>
                  </a:cubicBezTo>
                  <a:cubicBezTo>
                    <a:pt x="59" y="6"/>
                    <a:pt x="59" y="6"/>
                    <a:pt x="59" y="6"/>
                  </a:cubicBezTo>
                  <a:cubicBezTo>
                    <a:pt x="58" y="7"/>
                    <a:pt x="57" y="8"/>
                    <a:pt x="58" y="9"/>
                  </a:cubicBezTo>
                  <a:cubicBezTo>
                    <a:pt x="61" y="16"/>
                    <a:pt x="61" y="16"/>
                    <a:pt x="61" y="16"/>
                  </a:cubicBezTo>
                  <a:cubicBezTo>
                    <a:pt x="56" y="18"/>
                    <a:pt x="56" y="18"/>
                    <a:pt x="56" y="18"/>
                  </a:cubicBezTo>
                  <a:cubicBezTo>
                    <a:pt x="55" y="19"/>
                    <a:pt x="54" y="21"/>
                    <a:pt x="55" y="23"/>
                  </a:cubicBezTo>
                  <a:cubicBezTo>
                    <a:pt x="63" y="40"/>
                    <a:pt x="63" y="40"/>
                    <a:pt x="63" y="40"/>
                  </a:cubicBezTo>
                  <a:cubicBezTo>
                    <a:pt x="61" y="49"/>
                    <a:pt x="60" y="62"/>
                    <a:pt x="65" y="72"/>
                  </a:cubicBezTo>
                  <a:cubicBezTo>
                    <a:pt x="65" y="73"/>
                    <a:pt x="66" y="74"/>
                    <a:pt x="66" y="75"/>
                  </a:cubicBezTo>
                  <a:cubicBezTo>
                    <a:pt x="49" y="85"/>
                    <a:pt x="0" y="120"/>
                    <a:pt x="16" y="172"/>
                  </a:cubicBezTo>
                  <a:cubicBezTo>
                    <a:pt x="23" y="192"/>
                    <a:pt x="39" y="207"/>
                    <a:pt x="59" y="214"/>
                  </a:cubicBezTo>
                  <a:cubicBezTo>
                    <a:pt x="48" y="237"/>
                    <a:pt x="48" y="237"/>
                    <a:pt x="48" y="237"/>
                  </a:cubicBezTo>
                  <a:cubicBezTo>
                    <a:pt x="44" y="237"/>
                    <a:pt x="44" y="237"/>
                    <a:pt x="44" y="237"/>
                  </a:cubicBezTo>
                  <a:cubicBezTo>
                    <a:pt x="36" y="237"/>
                    <a:pt x="30" y="243"/>
                    <a:pt x="30" y="251"/>
                  </a:cubicBezTo>
                  <a:cubicBezTo>
                    <a:pt x="131" y="251"/>
                    <a:pt x="131" y="251"/>
                    <a:pt x="131" y="251"/>
                  </a:cubicBezTo>
                  <a:cubicBezTo>
                    <a:pt x="131" y="243"/>
                    <a:pt x="125" y="237"/>
                    <a:pt x="117" y="237"/>
                  </a:cubicBezTo>
                  <a:cubicBezTo>
                    <a:pt x="113" y="237"/>
                    <a:pt x="113" y="237"/>
                    <a:pt x="113" y="237"/>
                  </a:cubicBezTo>
                  <a:cubicBezTo>
                    <a:pt x="101" y="213"/>
                    <a:pt x="101" y="213"/>
                    <a:pt x="101" y="213"/>
                  </a:cubicBezTo>
                  <a:cubicBezTo>
                    <a:pt x="119" y="207"/>
                    <a:pt x="141" y="191"/>
                    <a:pt x="150" y="158"/>
                  </a:cubicBezTo>
                  <a:cubicBezTo>
                    <a:pt x="165" y="151"/>
                    <a:pt x="165" y="151"/>
                    <a:pt x="165" y="151"/>
                  </a:cubicBezTo>
                  <a:cubicBezTo>
                    <a:pt x="172" y="148"/>
                    <a:pt x="176" y="141"/>
                    <a:pt x="173" y="135"/>
                  </a:cubicBezTo>
                  <a:close/>
                  <a:moveTo>
                    <a:pt x="80" y="237"/>
                  </a:moveTo>
                  <a:cubicBezTo>
                    <a:pt x="75" y="237"/>
                    <a:pt x="70" y="232"/>
                    <a:pt x="70" y="226"/>
                  </a:cubicBezTo>
                  <a:cubicBezTo>
                    <a:pt x="70" y="220"/>
                    <a:pt x="75" y="216"/>
                    <a:pt x="80" y="216"/>
                  </a:cubicBezTo>
                  <a:cubicBezTo>
                    <a:pt x="86" y="216"/>
                    <a:pt x="91" y="220"/>
                    <a:pt x="91" y="226"/>
                  </a:cubicBezTo>
                  <a:cubicBezTo>
                    <a:pt x="91" y="232"/>
                    <a:pt x="86" y="237"/>
                    <a:pt x="80" y="23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58"/>
            <p:cNvSpPr>
              <a:spLocks/>
            </p:cNvSpPr>
            <p:nvPr/>
          </p:nvSpPr>
          <p:spPr bwMode="auto">
            <a:xfrm>
              <a:off x="7346950" y="3878263"/>
              <a:ext cx="153988" cy="122238"/>
            </a:xfrm>
            <a:custGeom>
              <a:avLst/>
              <a:gdLst>
                <a:gd name="T0" fmla="*/ 1 w 68"/>
                <a:gd name="T1" fmla="*/ 29 h 54"/>
                <a:gd name="T2" fmla="*/ 8 w 68"/>
                <a:gd name="T3" fmla="*/ 44 h 54"/>
                <a:gd name="T4" fmla="*/ 12 w 68"/>
                <a:gd name="T5" fmla="*/ 46 h 54"/>
                <a:gd name="T6" fmla="*/ 15 w 68"/>
                <a:gd name="T7" fmla="*/ 52 h 54"/>
                <a:gd name="T8" fmla="*/ 20 w 68"/>
                <a:gd name="T9" fmla="*/ 54 h 54"/>
                <a:gd name="T10" fmla="*/ 66 w 68"/>
                <a:gd name="T11" fmla="*/ 33 h 54"/>
                <a:gd name="T12" fmla="*/ 68 w 68"/>
                <a:gd name="T13" fmla="*/ 28 h 54"/>
                <a:gd name="T14" fmla="*/ 65 w 68"/>
                <a:gd name="T15" fmla="*/ 22 h 54"/>
                <a:gd name="T16" fmla="*/ 67 w 68"/>
                <a:gd name="T17" fmla="*/ 17 h 54"/>
                <a:gd name="T18" fmla="*/ 60 w 68"/>
                <a:gd name="T19" fmla="*/ 3 h 54"/>
                <a:gd name="T20" fmla="*/ 55 w 68"/>
                <a:gd name="T21" fmla="*/ 1 h 54"/>
                <a:gd name="T22" fmla="*/ 3 w 68"/>
                <a:gd name="T23" fmla="*/ 25 h 54"/>
                <a:gd name="T24" fmla="*/ 1 w 68"/>
                <a:gd name="T25"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4">
                  <a:moveTo>
                    <a:pt x="1" y="29"/>
                  </a:moveTo>
                  <a:cubicBezTo>
                    <a:pt x="8" y="44"/>
                    <a:pt x="8" y="44"/>
                    <a:pt x="8" y="44"/>
                  </a:cubicBezTo>
                  <a:cubicBezTo>
                    <a:pt x="9" y="46"/>
                    <a:pt x="11" y="47"/>
                    <a:pt x="12" y="46"/>
                  </a:cubicBezTo>
                  <a:cubicBezTo>
                    <a:pt x="15" y="52"/>
                    <a:pt x="15" y="52"/>
                    <a:pt x="15" y="52"/>
                  </a:cubicBezTo>
                  <a:cubicBezTo>
                    <a:pt x="16" y="54"/>
                    <a:pt x="18" y="54"/>
                    <a:pt x="20" y="54"/>
                  </a:cubicBezTo>
                  <a:cubicBezTo>
                    <a:pt x="66" y="33"/>
                    <a:pt x="66" y="33"/>
                    <a:pt x="66" y="33"/>
                  </a:cubicBezTo>
                  <a:cubicBezTo>
                    <a:pt x="68" y="32"/>
                    <a:pt x="68" y="30"/>
                    <a:pt x="68" y="28"/>
                  </a:cubicBezTo>
                  <a:cubicBezTo>
                    <a:pt x="65" y="22"/>
                    <a:pt x="65" y="22"/>
                    <a:pt x="65" y="22"/>
                  </a:cubicBezTo>
                  <a:cubicBezTo>
                    <a:pt x="67" y="21"/>
                    <a:pt x="67" y="19"/>
                    <a:pt x="67" y="17"/>
                  </a:cubicBezTo>
                  <a:cubicBezTo>
                    <a:pt x="60" y="3"/>
                    <a:pt x="60" y="3"/>
                    <a:pt x="60" y="3"/>
                  </a:cubicBezTo>
                  <a:cubicBezTo>
                    <a:pt x="59" y="1"/>
                    <a:pt x="57" y="0"/>
                    <a:pt x="55" y="1"/>
                  </a:cubicBezTo>
                  <a:cubicBezTo>
                    <a:pt x="3" y="25"/>
                    <a:pt x="3" y="25"/>
                    <a:pt x="3" y="25"/>
                  </a:cubicBezTo>
                  <a:cubicBezTo>
                    <a:pt x="1" y="25"/>
                    <a:pt x="0" y="27"/>
                    <a:pt x="1"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44" name="Group 243"/>
          <p:cNvGrpSpPr/>
          <p:nvPr userDrawn="1"/>
        </p:nvGrpSpPr>
        <p:grpSpPr>
          <a:xfrm>
            <a:off x="8985963" y="3804227"/>
            <a:ext cx="290994" cy="249694"/>
            <a:chOff x="3756025" y="4868863"/>
            <a:chExt cx="481013" cy="412750"/>
          </a:xfrm>
          <a:solidFill>
            <a:schemeClr val="tx1"/>
          </a:solidFill>
        </p:grpSpPr>
        <p:sp>
          <p:nvSpPr>
            <p:cNvPr id="245" name="Freeform 62"/>
            <p:cNvSpPr>
              <a:spLocks/>
            </p:cNvSpPr>
            <p:nvPr/>
          </p:nvSpPr>
          <p:spPr bwMode="auto">
            <a:xfrm>
              <a:off x="3756025" y="4868863"/>
              <a:ext cx="481013" cy="269875"/>
            </a:xfrm>
            <a:custGeom>
              <a:avLst/>
              <a:gdLst>
                <a:gd name="T0" fmla="*/ 48 w 212"/>
                <a:gd name="T1" fmla="*/ 87 h 119"/>
                <a:gd name="T2" fmla="*/ 59 w 212"/>
                <a:gd name="T3" fmla="*/ 71 h 119"/>
                <a:gd name="T4" fmla="*/ 69 w 212"/>
                <a:gd name="T5" fmla="*/ 93 h 119"/>
                <a:gd name="T6" fmla="*/ 94 w 212"/>
                <a:gd name="T7" fmla="*/ 39 h 119"/>
                <a:gd name="T8" fmla="*/ 117 w 212"/>
                <a:gd name="T9" fmla="*/ 119 h 119"/>
                <a:gd name="T10" fmla="*/ 138 w 212"/>
                <a:gd name="T11" fmla="*/ 56 h 119"/>
                <a:gd name="T12" fmla="*/ 150 w 212"/>
                <a:gd name="T13" fmla="*/ 87 h 119"/>
                <a:gd name="T14" fmla="*/ 208 w 212"/>
                <a:gd name="T15" fmla="*/ 87 h 119"/>
                <a:gd name="T16" fmla="*/ 212 w 212"/>
                <a:gd name="T17" fmla="*/ 61 h 119"/>
                <a:gd name="T18" fmla="*/ 151 w 212"/>
                <a:gd name="T19" fmla="*/ 0 h 119"/>
                <a:gd name="T20" fmla="*/ 106 w 212"/>
                <a:gd name="T21" fmla="*/ 21 h 119"/>
                <a:gd name="T22" fmla="*/ 60 w 212"/>
                <a:gd name="T23" fmla="*/ 0 h 119"/>
                <a:gd name="T24" fmla="*/ 0 w 212"/>
                <a:gd name="T25" fmla="*/ 61 h 119"/>
                <a:gd name="T26" fmla="*/ 4 w 212"/>
                <a:gd name="T27" fmla="*/ 87 h 119"/>
                <a:gd name="T28" fmla="*/ 48 w 212"/>
                <a:gd name="T29" fmla="*/ 8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2" h="119">
                  <a:moveTo>
                    <a:pt x="48" y="87"/>
                  </a:moveTo>
                  <a:cubicBezTo>
                    <a:pt x="59" y="71"/>
                    <a:pt x="59" y="71"/>
                    <a:pt x="59" y="71"/>
                  </a:cubicBezTo>
                  <a:cubicBezTo>
                    <a:pt x="69" y="93"/>
                    <a:pt x="69" y="93"/>
                    <a:pt x="69" y="93"/>
                  </a:cubicBezTo>
                  <a:cubicBezTo>
                    <a:pt x="94" y="39"/>
                    <a:pt x="94" y="39"/>
                    <a:pt x="94" y="39"/>
                  </a:cubicBezTo>
                  <a:cubicBezTo>
                    <a:pt x="117" y="119"/>
                    <a:pt x="117" y="119"/>
                    <a:pt x="117" y="119"/>
                  </a:cubicBezTo>
                  <a:cubicBezTo>
                    <a:pt x="138" y="56"/>
                    <a:pt x="138" y="56"/>
                    <a:pt x="138" y="56"/>
                  </a:cubicBezTo>
                  <a:cubicBezTo>
                    <a:pt x="150" y="87"/>
                    <a:pt x="150" y="87"/>
                    <a:pt x="150" y="87"/>
                  </a:cubicBezTo>
                  <a:cubicBezTo>
                    <a:pt x="208" y="87"/>
                    <a:pt x="208" y="87"/>
                    <a:pt x="208" y="87"/>
                  </a:cubicBezTo>
                  <a:cubicBezTo>
                    <a:pt x="210" y="78"/>
                    <a:pt x="212" y="69"/>
                    <a:pt x="212" y="61"/>
                  </a:cubicBezTo>
                  <a:cubicBezTo>
                    <a:pt x="212" y="28"/>
                    <a:pt x="185" y="0"/>
                    <a:pt x="151" y="0"/>
                  </a:cubicBezTo>
                  <a:cubicBezTo>
                    <a:pt x="133" y="0"/>
                    <a:pt x="117" y="8"/>
                    <a:pt x="106" y="21"/>
                  </a:cubicBezTo>
                  <a:cubicBezTo>
                    <a:pt x="95" y="8"/>
                    <a:pt x="78" y="0"/>
                    <a:pt x="60" y="0"/>
                  </a:cubicBezTo>
                  <a:cubicBezTo>
                    <a:pt x="27" y="0"/>
                    <a:pt x="0" y="28"/>
                    <a:pt x="0" y="61"/>
                  </a:cubicBezTo>
                  <a:cubicBezTo>
                    <a:pt x="0" y="69"/>
                    <a:pt x="1" y="78"/>
                    <a:pt x="4" y="87"/>
                  </a:cubicBezTo>
                  <a:lnTo>
                    <a:pt x="48" y="8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63"/>
            <p:cNvSpPr>
              <a:spLocks/>
            </p:cNvSpPr>
            <p:nvPr/>
          </p:nvSpPr>
          <p:spPr bwMode="auto">
            <a:xfrm>
              <a:off x="3770313" y="5006975"/>
              <a:ext cx="450850" cy="274638"/>
            </a:xfrm>
            <a:custGeom>
              <a:avLst/>
              <a:gdLst>
                <a:gd name="T0" fmla="*/ 138 w 199"/>
                <a:gd name="T1" fmla="*/ 34 h 121"/>
                <a:gd name="T2" fmla="*/ 132 w 199"/>
                <a:gd name="T3" fmla="*/ 18 h 121"/>
                <a:gd name="T4" fmla="*/ 110 w 199"/>
                <a:gd name="T5" fmla="*/ 84 h 121"/>
                <a:gd name="T6" fmla="*/ 86 w 199"/>
                <a:gd name="T7" fmla="*/ 0 h 121"/>
                <a:gd name="T8" fmla="*/ 63 w 199"/>
                <a:gd name="T9" fmla="*/ 51 h 121"/>
                <a:gd name="T10" fmla="*/ 52 w 199"/>
                <a:gd name="T11" fmla="*/ 26 h 121"/>
                <a:gd name="T12" fmla="*/ 46 w 199"/>
                <a:gd name="T13" fmla="*/ 34 h 121"/>
                <a:gd name="T14" fmla="*/ 0 w 199"/>
                <a:gd name="T15" fmla="*/ 34 h 121"/>
                <a:gd name="T16" fmla="*/ 100 w 199"/>
                <a:gd name="T17" fmla="*/ 121 h 121"/>
                <a:gd name="T18" fmla="*/ 199 w 199"/>
                <a:gd name="T19" fmla="*/ 34 h 121"/>
                <a:gd name="T20" fmla="*/ 138 w 199"/>
                <a:gd name="T21" fmla="*/ 3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9" h="121">
                  <a:moveTo>
                    <a:pt x="138" y="34"/>
                  </a:moveTo>
                  <a:cubicBezTo>
                    <a:pt x="132" y="18"/>
                    <a:pt x="132" y="18"/>
                    <a:pt x="132" y="18"/>
                  </a:cubicBezTo>
                  <a:cubicBezTo>
                    <a:pt x="110" y="84"/>
                    <a:pt x="110" y="84"/>
                    <a:pt x="110" y="84"/>
                  </a:cubicBezTo>
                  <a:cubicBezTo>
                    <a:pt x="86" y="0"/>
                    <a:pt x="86" y="0"/>
                    <a:pt x="86" y="0"/>
                  </a:cubicBezTo>
                  <a:cubicBezTo>
                    <a:pt x="63" y="51"/>
                    <a:pt x="63" y="51"/>
                    <a:pt x="63" y="51"/>
                  </a:cubicBezTo>
                  <a:cubicBezTo>
                    <a:pt x="52" y="26"/>
                    <a:pt x="52" y="26"/>
                    <a:pt x="52" y="26"/>
                  </a:cubicBezTo>
                  <a:cubicBezTo>
                    <a:pt x="46" y="34"/>
                    <a:pt x="46" y="34"/>
                    <a:pt x="46" y="34"/>
                  </a:cubicBezTo>
                  <a:cubicBezTo>
                    <a:pt x="0" y="34"/>
                    <a:pt x="0" y="34"/>
                    <a:pt x="0" y="34"/>
                  </a:cubicBezTo>
                  <a:cubicBezTo>
                    <a:pt x="12" y="65"/>
                    <a:pt x="41" y="102"/>
                    <a:pt x="100" y="121"/>
                  </a:cubicBezTo>
                  <a:cubicBezTo>
                    <a:pt x="158" y="102"/>
                    <a:pt x="187" y="65"/>
                    <a:pt x="199" y="34"/>
                  </a:cubicBezTo>
                  <a:lnTo>
                    <a:pt x="138" y="3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60" name="Group 259"/>
          <p:cNvGrpSpPr/>
          <p:nvPr userDrawn="1"/>
        </p:nvGrpSpPr>
        <p:grpSpPr>
          <a:xfrm>
            <a:off x="8970118" y="2614382"/>
            <a:ext cx="322684" cy="322682"/>
            <a:chOff x="5949950" y="4537075"/>
            <a:chExt cx="533400" cy="533400"/>
          </a:xfrm>
          <a:solidFill>
            <a:schemeClr val="tx1"/>
          </a:solidFill>
        </p:grpSpPr>
        <p:sp>
          <p:nvSpPr>
            <p:cNvPr id="261" name="Freeform 83"/>
            <p:cNvSpPr>
              <a:spLocks noEditPoints="1"/>
            </p:cNvSpPr>
            <p:nvPr/>
          </p:nvSpPr>
          <p:spPr bwMode="auto">
            <a:xfrm>
              <a:off x="5949950" y="4537075"/>
              <a:ext cx="533400" cy="533400"/>
            </a:xfrm>
            <a:custGeom>
              <a:avLst/>
              <a:gdLst>
                <a:gd name="T0" fmla="*/ 118 w 235"/>
                <a:gd name="T1" fmla="*/ 235 h 235"/>
                <a:gd name="T2" fmla="*/ 0 w 235"/>
                <a:gd name="T3" fmla="*/ 117 h 235"/>
                <a:gd name="T4" fmla="*/ 118 w 235"/>
                <a:gd name="T5" fmla="*/ 0 h 235"/>
                <a:gd name="T6" fmla="*/ 235 w 235"/>
                <a:gd name="T7" fmla="*/ 117 h 235"/>
                <a:gd name="T8" fmla="*/ 118 w 235"/>
                <a:gd name="T9" fmla="*/ 235 h 235"/>
                <a:gd name="T10" fmla="*/ 118 w 235"/>
                <a:gd name="T11" fmla="*/ 12 h 235"/>
                <a:gd name="T12" fmla="*/ 12 w 235"/>
                <a:gd name="T13" fmla="*/ 117 h 235"/>
                <a:gd name="T14" fmla="*/ 118 w 235"/>
                <a:gd name="T15" fmla="*/ 223 h 235"/>
                <a:gd name="T16" fmla="*/ 223 w 235"/>
                <a:gd name="T17" fmla="*/ 117 h 235"/>
                <a:gd name="T18" fmla="*/ 118 w 235"/>
                <a:gd name="T19" fmla="*/ 1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5" h="235">
                  <a:moveTo>
                    <a:pt x="118" y="235"/>
                  </a:moveTo>
                  <a:cubicBezTo>
                    <a:pt x="53" y="235"/>
                    <a:pt x="0" y="182"/>
                    <a:pt x="0" y="117"/>
                  </a:cubicBezTo>
                  <a:cubicBezTo>
                    <a:pt x="0" y="53"/>
                    <a:pt x="53" y="0"/>
                    <a:pt x="118" y="0"/>
                  </a:cubicBezTo>
                  <a:cubicBezTo>
                    <a:pt x="183" y="0"/>
                    <a:pt x="235" y="53"/>
                    <a:pt x="235" y="117"/>
                  </a:cubicBezTo>
                  <a:cubicBezTo>
                    <a:pt x="235" y="182"/>
                    <a:pt x="183" y="235"/>
                    <a:pt x="118" y="235"/>
                  </a:cubicBezTo>
                  <a:close/>
                  <a:moveTo>
                    <a:pt x="118" y="12"/>
                  </a:moveTo>
                  <a:cubicBezTo>
                    <a:pt x="60" y="12"/>
                    <a:pt x="12" y="59"/>
                    <a:pt x="12" y="117"/>
                  </a:cubicBezTo>
                  <a:cubicBezTo>
                    <a:pt x="12" y="176"/>
                    <a:pt x="60" y="223"/>
                    <a:pt x="118" y="223"/>
                  </a:cubicBezTo>
                  <a:cubicBezTo>
                    <a:pt x="176" y="223"/>
                    <a:pt x="223" y="176"/>
                    <a:pt x="223" y="117"/>
                  </a:cubicBezTo>
                  <a:cubicBezTo>
                    <a:pt x="223" y="59"/>
                    <a:pt x="176" y="12"/>
                    <a:pt x="118"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84"/>
            <p:cNvSpPr>
              <a:spLocks/>
            </p:cNvSpPr>
            <p:nvPr/>
          </p:nvSpPr>
          <p:spPr bwMode="auto">
            <a:xfrm>
              <a:off x="6002338" y="4619625"/>
              <a:ext cx="174625" cy="182563"/>
            </a:xfrm>
            <a:custGeom>
              <a:avLst/>
              <a:gdLst>
                <a:gd name="T0" fmla="*/ 77 w 77"/>
                <a:gd name="T1" fmla="*/ 50 h 81"/>
                <a:gd name="T2" fmla="*/ 48 w 77"/>
                <a:gd name="T3" fmla="*/ 0 h 81"/>
                <a:gd name="T4" fmla="*/ 0 w 77"/>
                <a:gd name="T5" fmla="*/ 81 h 81"/>
                <a:gd name="T6" fmla="*/ 59 w 77"/>
                <a:gd name="T7" fmla="*/ 81 h 81"/>
                <a:gd name="T8" fmla="*/ 77 w 77"/>
                <a:gd name="T9" fmla="*/ 50 h 81"/>
              </a:gdLst>
              <a:ahLst/>
              <a:cxnLst>
                <a:cxn ang="0">
                  <a:pos x="T0" y="T1"/>
                </a:cxn>
                <a:cxn ang="0">
                  <a:pos x="T2" y="T3"/>
                </a:cxn>
                <a:cxn ang="0">
                  <a:pos x="T4" y="T5"/>
                </a:cxn>
                <a:cxn ang="0">
                  <a:pos x="T6" y="T7"/>
                </a:cxn>
                <a:cxn ang="0">
                  <a:pos x="T8" y="T9"/>
                </a:cxn>
              </a:cxnLst>
              <a:rect l="0" t="0" r="r" b="b"/>
              <a:pathLst>
                <a:path w="77" h="81">
                  <a:moveTo>
                    <a:pt x="77" y="50"/>
                  </a:moveTo>
                  <a:cubicBezTo>
                    <a:pt x="48" y="0"/>
                    <a:pt x="48" y="0"/>
                    <a:pt x="48" y="0"/>
                  </a:cubicBezTo>
                  <a:cubicBezTo>
                    <a:pt x="19" y="16"/>
                    <a:pt x="0" y="47"/>
                    <a:pt x="0" y="81"/>
                  </a:cubicBezTo>
                  <a:cubicBezTo>
                    <a:pt x="59" y="81"/>
                    <a:pt x="59" y="81"/>
                    <a:pt x="59" y="81"/>
                  </a:cubicBezTo>
                  <a:cubicBezTo>
                    <a:pt x="59" y="68"/>
                    <a:pt x="66" y="56"/>
                    <a:pt x="77" y="5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85"/>
            <p:cNvSpPr>
              <a:spLocks/>
            </p:cNvSpPr>
            <p:nvPr/>
          </p:nvSpPr>
          <p:spPr bwMode="auto">
            <a:xfrm>
              <a:off x="6111875" y="4875213"/>
              <a:ext cx="212725" cy="142875"/>
            </a:xfrm>
            <a:custGeom>
              <a:avLst/>
              <a:gdLst>
                <a:gd name="T0" fmla="*/ 65 w 94"/>
                <a:gd name="T1" fmla="*/ 0 h 63"/>
                <a:gd name="T2" fmla="*/ 47 w 94"/>
                <a:gd name="T3" fmla="*/ 5 h 63"/>
                <a:gd name="T4" fmla="*/ 29 w 94"/>
                <a:gd name="T5" fmla="*/ 0 h 63"/>
                <a:gd name="T6" fmla="*/ 0 w 94"/>
                <a:gd name="T7" fmla="*/ 50 h 63"/>
                <a:gd name="T8" fmla="*/ 47 w 94"/>
                <a:gd name="T9" fmla="*/ 63 h 63"/>
                <a:gd name="T10" fmla="*/ 94 w 94"/>
                <a:gd name="T11" fmla="*/ 50 h 63"/>
                <a:gd name="T12" fmla="*/ 65 w 94"/>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94" h="63">
                  <a:moveTo>
                    <a:pt x="65" y="0"/>
                  </a:moveTo>
                  <a:cubicBezTo>
                    <a:pt x="60" y="3"/>
                    <a:pt x="53" y="5"/>
                    <a:pt x="47" y="5"/>
                  </a:cubicBezTo>
                  <a:cubicBezTo>
                    <a:pt x="40" y="5"/>
                    <a:pt x="34" y="3"/>
                    <a:pt x="29" y="0"/>
                  </a:cubicBezTo>
                  <a:cubicBezTo>
                    <a:pt x="0" y="50"/>
                    <a:pt x="0" y="50"/>
                    <a:pt x="0" y="50"/>
                  </a:cubicBezTo>
                  <a:cubicBezTo>
                    <a:pt x="14" y="58"/>
                    <a:pt x="30" y="63"/>
                    <a:pt x="47" y="63"/>
                  </a:cubicBezTo>
                  <a:cubicBezTo>
                    <a:pt x="64" y="63"/>
                    <a:pt x="80" y="58"/>
                    <a:pt x="94" y="50"/>
                  </a:cubicBezTo>
                  <a:lnTo>
                    <a:pt x="65"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86"/>
            <p:cNvSpPr>
              <a:spLocks/>
            </p:cNvSpPr>
            <p:nvPr/>
          </p:nvSpPr>
          <p:spPr bwMode="auto">
            <a:xfrm>
              <a:off x="6259513" y="4619625"/>
              <a:ext cx="173038" cy="182563"/>
            </a:xfrm>
            <a:custGeom>
              <a:avLst/>
              <a:gdLst>
                <a:gd name="T0" fmla="*/ 29 w 76"/>
                <a:gd name="T1" fmla="*/ 0 h 81"/>
                <a:gd name="T2" fmla="*/ 0 w 76"/>
                <a:gd name="T3" fmla="*/ 50 h 81"/>
                <a:gd name="T4" fmla="*/ 18 w 76"/>
                <a:gd name="T5" fmla="*/ 81 h 81"/>
                <a:gd name="T6" fmla="*/ 76 w 76"/>
                <a:gd name="T7" fmla="*/ 81 h 81"/>
                <a:gd name="T8" fmla="*/ 29 w 76"/>
                <a:gd name="T9" fmla="*/ 0 h 81"/>
              </a:gdLst>
              <a:ahLst/>
              <a:cxnLst>
                <a:cxn ang="0">
                  <a:pos x="T0" y="T1"/>
                </a:cxn>
                <a:cxn ang="0">
                  <a:pos x="T2" y="T3"/>
                </a:cxn>
                <a:cxn ang="0">
                  <a:pos x="T4" y="T5"/>
                </a:cxn>
                <a:cxn ang="0">
                  <a:pos x="T6" y="T7"/>
                </a:cxn>
                <a:cxn ang="0">
                  <a:pos x="T8" y="T9"/>
                </a:cxn>
              </a:cxnLst>
              <a:rect l="0" t="0" r="r" b="b"/>
              <a:pathLst>
                <a:path w="76" h="81">
                  <a:moveTo>
                    <a:pt x="29" y="0"/>
                  </a:moveTo>
                  <a:cubicBezTo>
                    <a:pt x="0" y="50"/>
                    <a:pt x="0" y="50"/>
                    <a:pt x="0" y="50"/>
                  </a:cubicBezTo>
                  <a:cubicBezTo>
                    <a:pt x="11" y="56"/>
                    <a:pt x="18" y="68"/>
                    <a:pt x="18" y="81"/>
                  </a:cubicBezTo>
                  <a:cubicBezTo>
                    <a:pt x="76" y="81"/>
                    <a:pt x="76" y="81"/>
                    <a:pt x="76" y="81"/>
                  </a:cubicBezTo>
                  <a:cubicBezTo>
                    <a:pt x="76" y="47"/>
                    <a:pt x="57" y="1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87"/>
            <p:cNvSpPr>
              <a:spLocks noChangeArrowheads="1"/>
            </p:cNvSpPr>
            <p:nvPr/>
          </p:nvSpPr>
          <p:spPr bwMode="auto">
            <a:xfrm>
              <a:off x="6161088" y="4746625"/>
              <a:ext cx="114300" cy="112713"/>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39" name="Group 138"/>
          <p:cNvGrpSpPr/>
          <p:nvPr userDrawn="1"/>
        </p:nvGrpSpPr>
        <p:grpSpPr>
          <a:xfrm>
            <a:off x="8938201" y="6749462"/>
            <a:ext cx="332480" cy="334172"/>
            <a:chOff x="6823074" y="1485900"/>
            <a:chExt cx="1557338" cy="1565276"/>
          </a:xfrm>
          <a:solidFill>
            <a:schemeClr val="tx1"/>
          </a:solidFill>
        </p:grpSpPr>
        <p:sp>
          <p:nvSpPr>
            <p:cNvPr id="140" name="Freeform 6"/>
            <p:cNvSpPr>
              <a:spLocks/>
            </p:cNvSpPr>
            <p:nvPr/>
          </p:nvSpPr>
          <p:spPr bwMode="auto">
            <a:xfrm>
              <a:off x="7427913" y="1485900"/>
              <a:ext cx="788988" cy="420688"/>
            </a:xfrm>
            <a:custGeom>
              <a:avLst/>
              <a:gdLst>
                <a:gd name="T0" fmla="*/ 61 w 227"/>
                <a:gd name="T1" fmla="*/ 121 h 121"/>
                <a:gd name="T2" fmla="*/ 107 w 227"/>
                <a:gd name="T3" fmla="*/ 101 h 121"/>
                <a:gd name="T4" fmla="*/ 136 w 227"/>
                <a:gd name="T5" fmla="*/ 114 h 121"/>
                <a:gd name="T6" fmla="*/ 227 w 227"/>
                <a:gd name="T7" fmla="*/ 114 h 121"/>
                <a:gd name="T8" fmla="*/ 227 w 227"/>
                <a:gd name="T9" fmla="*/ 98 h 121"/>
                <a:gd name="T10" fmla="*/ 187 w 227"/>
                <a:gd name="T11" fmla="*/ 54 h 121"/>
                <a:gd name="T12" fmla="*/ 140 w 227"/>
                <a:gd name="T13" fmla="*/ 17 h 121"/>
                <a:gd name="T14" fmla="*/ 111 w 227"/>
                <a:gd name="T15" fmla="*/ 27 h 121"/>
                <a:gd name="T16" fmla="*/ 61 w 227"/>
                <a:gd name="T17" fmla="*/ 0 h 121"/>
                <a:gd name="T18" fmla="*/ 0 w 227"/>
                <a:gd name="T19" fmla="*/ 61 h 121"/>
                <a:gd name="T20" fmla="*/ 61 w 227"/>
                <a:gd name="T21"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 h="121">
                  <a:moveTo>
                    <a:pt x="61" y="121"/>
                  </a:moveTo>
                  <a:cubicBezTo>
                    <a:pt x="79" y="121"/>
                    <a:pt x="96" y="113"/>
                    <a:pt x="107" y="101"/>
                  </a:cubicBezTo>
                  <a:cubicBezTo>
                    <a:pt x="115" y="108"/>
                    <a:pt x="125" y="113"/>
                    <a:pt x="136" y="114"/>
                  </a:cubicBezTo>
                  <a:cubicBezTo>
                    <a:pt x="227" y="114"/>
                    <a:pt x="227" y="114"/>
                    <a:pt x="227" y="114"/>
                  </a:cubicBezTo>
                  <a:cubicBezTo>
                    <a:pt x="227" y="98"/>
                    <a:pt x="227" y="98"/>
                    <a:pt x="227" y="98"/>
                  </a:cubicBezTo>
                  <a:cubicBezTo>
                    <a:pt x="227" y="75"/>
                    <a:pt x="210" y="56"/>
                    <a:pt x="187" y="54"/>
                  </a:cubicBezTo>
                  <a:cubicBezTo>
                    <a:pt x="182" y="33"/>
                    <a:pt x="163" y="17"/>
                    <a:pt x="140" y="17"/>
                  </a:cubicBezTo>
                  <a:cubicBezTo>
                    <a:pt x="129" y="17"/>
                    <a:pt x="119" y="21"/>
                    <a:pt x="111" y="27"/>
                  </a:cubicBezTo>
                  <a:cubicBezTo>
                    <a:pt x="100" y="11"/>
                    <a:pt x="82" y="0"/>
                    <a:pt x="61" y="0"/>
                  </a:cubicBezTo>
                  <a:cubicBezTo>
                    <a:pt x="28" y="0"/>
                    <a:pt x="0" y="27"/>
                    <a:pt x="0" y="61"/>
                  </a:cubicBezTo>
                  <a:cubicBezTo>
                    <a:pt x="0" y="94"/>
                    <a:pt x="28" y="121"/>
                    <a:pt x="61"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7"/>
            <p:cNvSpPr>
              <a:spLocks noEditPoints="1"/>
            </p:cNvSpPr>
            <p:nvPr/>
          </p:nvSpPr>
          <p:spPr bwMode="auto">
            <a:xfrm>
              <a:off x="6823074" y="1958974"/>
              <a:ext cx="1557338" cy="1092202"/>
            </a:xfrm>
            <a:custGeom>
              <a:avLst/>
              <a:gdLst>
                <a:gd name="T0" fmla="*/ 448 w 448"/>
                <a:gd name="T1" fmla="*/ 295 h 314"/>
                <a:gd name="T2" fmla="*/ 415 w 448"/>
                <a:gd name="T3" fmla="*/ 15 h 314"/>
                <a:gd name="T4" fmla="*/ 398 w 448"/>
                <a:gd name="T5" fmla="*/ 0 h 314"/>
                <a:gd name="T6" fmla="*/ 312 w 448"/>
                <a:gd name="T7" fmla="*/ 0 h 314"/>
                <a:gd name="T8" fmla="*/ 295 w 448"/>
                <a:gd name="T9" fmla="*/ 15 h 314"/>
                <a:gd name="T10" fmla="*/ 276 w 448"/>
                <a:gd name="T11" fmla="*/ 169 h 314"/>
                <a:gd name="T12" fmla="*/ 156 w 448"/>
                <a:gd name="T13" fmla="*/ 69 h 314"/>
                <a:gd name="T14" fmla="*/ 138 w 448"/>
                <a:gd name="T15" fmla="*/ 67 h 314"/>
                <a:gd name="T16" fmla="*/ 129 w 448"/>
                <a:gd name="T17" fmla="*/ 82 h 314"/>
                <a:gd name="T18" fmla="*/ 129 w 448"/>
                <a:gd name="T19" fmla="*/ 153 h 314"/>
                <a:gd name="T20" fmla="*/ 27 w 448"/>
                <a:gd name="T21" fmla="*/ 69 h 314"/>
                <a:gd name="T22" fmla="*/ 9 w 448"/>
                <a:gd name="T23" fmla="*/ 67 h 314"/>
                <a:gd name="T24" fmla="*/ 0 w 448"/>
                <a:gd name="T25" fmla="*/ 82 h 314"/>
                <a:gd name="T26" fmla="*/ 0 w 448"/>
                <a:gd name="T27" fmla="*/ 297 h 314"/>
                <a:gd name="T28" fmla="*/ 17 w 448"/>
                <a:gd name="T29" fmla="*/ 314 h 314"/>
                <a:gd name="T30" fmla="*/ 279 w 448"/>
                <a:gd name="T31" fmla="*/ 314 h 314"/>
                <a:gd name="T32" fmla="*/ 279 w 448"/>
                <a:gd name="T33" fmla="*/ 314 h 314"/>
                <a:gd name="T34" fmla="*/ 280 w 448"/>
                <a:gd name="T35" fmla="*/ 314 h 314"/>
                <a:gd name="T36" fmla="*/ 431 w 448"/>
                <a:gd name="T37" fmla="*/ 314 h 314"/>
                <a:gd name="T38" fmla="*/ 444 w 448"/>
                <a:gd name="T39" fmla="*/ 308 h 314"/>
                <a:gd name="T40" fmla="*/ 448 w 448"/>
                <a:gd name="T41" fmla="*/ 295 h 314"/>
                <a:gd name="T42" fmla="*/ 107 w 448"/>
                <a:gd name="T43" fmla="*/ 280 h 314"/>
                <a:gd name="T44" fmla="*/ 55 w 448"/>
                <a:gd name="T45" fmla="*/ 280 h 314"/>
                <a:gd name="T46" fmla="*/ 55 w 448"/>
                <a:gd name="T47" fmla="*/ 241 h 314"/>
                <a:gd name="T48" fmla="*/ 107 w 448"/>
                <a:gd name="T49" fmla="*/ 241 h 314"/>
                <a:gd name="T50" fmla="*/ 107 w 448"/>
                <a:gd name="T51" fmla="*/ 280 h 314"/>
                <a:gd name="T52" fmla="*/ 107 w 448"/>
                <a:gd name="T53" fmla="*/ 219 h 314"/>
                <a:gd name="T54" fmla="*/ 55 w 448"/>
                <a:gd name="T55" fmla="*/ 219 h 314"/>
                <a:gd name="T56" fmla="*/ 55 w 448"/>
                <a:gd name="T57" fmla="*/ 178 h 314"/>
                <a:gd name="T58" fmla="*/ 107 w 448"/>
                <a:gd name="T59" fmla="*/ 178 h 314"/>
                <a:gd name="T60" fmla="*/ 107 w 448"/>
                <a:gd name="T61" fmla="*/ 219 h 314"/>
                <a:gd name="T62" fmla="*/ 235 w 448"/>
                <a:gd name="T63" fmla="*/ 280 h 314"/>
                <a:gd name="T64" fmla="*/ 184 w 448"/>
                <a:gd name="T65" fmla="*/ 280 h 314"/>
                <a:gd name="T66" fmla="*/ 184 w 448"/>
                <a:gd name="T67" fmla="*/ 241 h 314"/>
                <a:gd name="T68" fmla="*/ 235 w 448"/>
                <a:gd name="T69" fmla="*/ 241 h 314"/>
                <a:gd name="T70" fmla="*/ 235 w 448"/>
                <a:gd name="T71" fmla="*/ 280 h 314"/>
                <a:gd name="T72" fmla="*/ 235 w 448"/>
                <a:gd name="T73" fmla="*/ 219 h 314"/>
                <a:gd name="T74" fmla="*/ 184 w 448"/>
                <a:gd name="T75" fmla="*/ 219 h 314"/>
                <a:gd name="T76" fmla="*/ 184 w 448"/>
                <a:gd name="T77" fmla="*/ 178 h 314"/>
                <a:gd name="T78" fmla="*/ 235 w 448"/>
                <a:gd name="T79" fmla="*/ 178 h 314"/>
                <a:gd name="T80" fmla="*/ 235 w 448"/>
                <a:gd name="T81" fmla="*/ 219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48" h="314">
                  <a:moveTo>
                    <a:pt x="448" y="295"/>
                  </a:moveTo>
                  <a:cubicBezTo>
                    <a:pt x="415" y="15"/>
                    <a:pt x="415" y="15"/>
                    <a:pt x="415" y="15"/>
                  </a:cubicBezTo>
                  <a:cubicBezTo>
                    <a:pt x="414" y="7"/>
                    <a:pt x="407" y="0"/>
                    <a:pt x="398" y="0"/>
                  </a:cubicBezTo>
                  <a:cubicBezTo>
                    <a:pt x="312" y="0"/>
                    <a:pt x="312" y="0"/>
                    <a:pt x="312" y="0"/>
                  </a:cubicBezTo>
                  <a:cubicBezTo>
                    <a:pt x="304" y="0"/>
                    <a:pt x="296" y="7"/>
                    <a:pt x="295" y="15"/>
                  </a:cubicBezTo>
                  <a:cubicBezTo>
                    <a:pt x="276" y="169"/>
                    <a:pt x="276" y="169"/>
                    <a:pt x="276" y="169"/>
                  </a:cubicBezTo>
                  <a:cubicBezTo>
                    <a:pt x="156" y="69"/>
                    <a:pt x="156" y="69"/>
                    <a:pt x="156" y="69"/>
                  </a:cubicBezTo>
                  <a:cubicBezTo>
                    <a:pt x="151" y="65"/>
                    <a:pt x="144" y="64"/>
                    <a:pt x="138" y="67"/>
                  </a:cubicBezTo>
                  <a:cubicBezTo>
                    <a:pt x="132" y="69"/>
                    <a:pt x="129" y="75"/>
                    <a:pt x="129" y="82"/>
                  </a:cubicBezTo>
                  <a:cubicBezTo>
                    <a:pt x="129" y="153"/>
                    <a:pt x="129" y="153"/>
                    <a:pt x="129" y="153"/>
                  </a:cubicBezTo>
                  <a:cubicBezTo>
                    <a:pt x="27" y="69"/>
                    <a:pt x="27" y="69"/>
                    <a:pt x="27" y="69"/>
                  </a:cubicBezTo>
                  <a:cubicBezTo>
                    <a:pt x="22" y="65"/>
                    <a:pt x="15" y="64"/>
                    <a:pt x="9" y="67"/>
                  </a:cubicBezTo>
                  <a:cubicBezTo>
                    <a:pt x="4" y="69"/>
                    <a:pt x="0" y="75"/>
                    <a:pt x="0" y="82"/>
                  </a:cubicBezTo>
                  <a:cubicBezTo>
                    <a:pt x="0" y="297"/>
                    <a:pt x="0" y="297"/>
                    <a:pt x="0" y="297"/>
                  </a:cubicBezTo>
                  <a:cubicBezTo>
                    <a:pt x="0" y="306"/>
                    <a:pt x="7" y="314"/>
                    <a:pt x="17" y="314"/>
                  </a:cubicBezTo>
                  <a:cubicBezTo>
                    <a:pt x="279" y="314"/>
                    <a:pt x="279" y="314"/>
                    <a:pt x="279" y="314"/>
                  </a:cubicBezTo>
                  <a:cubicBezTo>
                    <a:pt x="279" y="314"/>
                    <a:pt x="279" y="314"/>
                    <a:pt x="279" y="314"/>
                  </a:cubicBezTo>
                  <a:cubicBezTo>
                    <a:pt x="279" y="314"/>
                    <a:pt x="280" y="314"/>
                    <a:pt x="280" y="314"/>
                  </a:cubicBezTo>
                  <a:cubicBezTo>
                    <a:pt x="431" y="314"/>
                    <a:pt x="431" y="314"/>
                    <a:pt x="431" y="314"/>
                  </a:cubicBezTo>
                  <a:cubicBezTo>
                    <a:pt x="436" y="314"/>
                    <a:pt x="440" y="312"/>
                    <a:pt x="444" y="308"/>
                  </a:cubicBezTo>
                  <a:cubicBezTo>
                    <a:pt x="447" y="305"/>
                    <a:pt x="448" y="300"/>
                    <a:pt x="448" y="295"/>
                  </a:cubicBezTo>
                  <a:close/>
                  <a:moveTo>
                    <a:pt x="107" y="280"/>
                  </a:moveTo>
                  <a:cubicBezTo>
                    <a:pt x="55" y="280"/>
                    <a:pt x="55" y="280"/>
                    <a:pt x="55" y="280"/>
                  </a:cubicBezTo>
                  <a:cubicBezTo>
                    <a:pt x="55" y="241"/>
                    <a:pt x="55" y="241"/>
                    <a:pt x="55" y="241"/>
                  </a:cubicBezTo>
                  <a:cubicBezTo>
                    <a:pt x="107" y="241"/>
                    <a:pt x="107" y="241"/>
                    <a:pt x="107" y="241"/>
                  </a:cubicBezTo>
                  <a:lnTo>
                    <a:pt x="107" y="280"/>
                  </a:lnTo>
                  <a:close/>
                  <a:moveTo>
                    <a:pt x="107" y="219"/>
                  </a:moveTo>
                  <a:cubicBezTo>
                    <a:pt x="55" y="219"/>
                    <a:pt x="55" y="219"/>
                    <a:pt x="55" y="219"/>
                  </a:cubicBezTo>
                  <a:cubicBezTo>
                    <a:pt x="55" y="178"/>
                    <a:pt x="55" y="178"/>
                    <a:pt x="55" y="178"/>
                  </a:cubicBezTo>
                  <a:cubicBezTo>
                    <a:pt x="107" y="178"/>
                    <a:pt x="107" y="178"/>
                    <a:pt x="107" y="178"/>
                  </a:cubicBezTo>
                  <a:lnTo>
                    <a:pt x="107" y="219"/>
                  </a:lnTo>
                  <a:close/>
                  <a:moveTo>
                    <a:pt x="235" y="280"/>
                  </a:moveTo>
                  <a:cubicBezTo>
                    <a:pt x="184" y="280"/>
                    <a:pt x="184" y="280"/>
                    <a:pt x="184" y="280"/>
                  </a:cubicBezTo>
                  <a:cubicBezTo>
                    <a:pt x="184" y="241"/>
                    <a:pt x="184" y="241"/>
                    <a:pt x="184" y="241"/>
                  </a:cubicBezTo>
                  <a:cubicBezTo>
                    <a:pt x="235" y="241"/>
                    <a:pt x="235" y="241"/>
                    <a:pt x="235" y="241"/>
                  </a:cubicBezTo>
                  <a:lnTo>
                    <a:pt x="235" y="280"/>
                  </a:lnTo>
                  <a:close/>
                  <a:moveTo>
                    <a:pt x="235" y="219"/>
                  </a:moveTo>
                  <a:cubicBezTo>
                    <a:pt x="184" y="219"/>
                    <a:pt x="184" y="219"/>
                    <a:pt x="184" y="219"/>
                  </a:cubicBezTo>
                  <a:cubicBezTo>
                    <a:pt x="184" y="178"/>
                    <a:pt x="184" y="178"/>
                    <a:pt x="184" y="178"/>
                  </a:cubicBezTo>
                  <a:cubicBezTo>
                    <a:pt x="235" y="178"/>
                    <a:pt x="235" y="178"/>
                    <a:pt x="235" y="178"/>
                  </a:cubicBezTo>
                  <a:lnTo>
                    <a:pt x="235"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2" name="Freeform 56"/>
          <p:cNvSpPr>
            <a:spLocks noEditPoints="1"/>
          </p:cNvSpPr>
          <p:nvPr userDrawn="1"/>
        </p:nvSpPr>
        <p:spPr bwMode="auto">
          <a:xfrm>
            <a:off x="8968820" y="5572986"/>
            <a:ext cx="295972" cy="294946"/>
          </a:xfrm>
          <a:custGeom>
            <a:avLst/>
            <a:gdLst>
              <a:gd name="T0" fmla="*/ 170 w 202"/>
              <a:gd name="T1" fmla="*/ 0 h 201"/>
              <a:gd name="T2" fmla="*/ 32 w 202"/>
              <a:gd name="T3" fmla="*/ 0 h 201"/>
              <a:gd name="T4" fmla="*/ 0 w 202"/>
              <a:gd name="T5" fmla="*/ 31 h 201"/>
              <a:gd name="T6" fmla="*/ 0 w 202"/>
              <a:gd name="T7" fmla="*/ 170 h 201"/>
              <a:gd name="T8" fmla="*/ 32 w 202"/>
              <a:gd name="T9" fmla="*/ 201 h 201"/>
              <a:gd name="T10" fmla="*/ 170 w 202"/>
              <a:gd name="T11" fmla="*/ 201 h 201"/>
              <a:gd name="T12" fmla="*/ 202 w 202"/>
              <a:gd name="T13" fmla="*/ 170 h 201"/>
              <a:gd name="T14" fmla="*/ 202 w 202"/>
              <a:gd name="T15" fmla="*/ 31 h 201"/>
              <a:gd name="T16" fmla="*/ 170 w 202"/>
              <a:gd name="T17" fmla="*/ 0 h 201"/>
              <a:gd name="T18" fmla="*/ 158 w 202"/>
              <a:gd name="T19" fmla="*/ 161 h 201"/>
              <a:gd name="T20" fmla="*/ 127 w 202"/>
              <a:gd name="T21" fmla="*/ 161 h 201"/>
              <a:gd name="T22" fmla="*/ 127 w 202"/>
              <a:gd name="T23" fmla="*/ 116 h 201"/>
              <a:gd name="T24" fmla="*/ 75 w 202"/>
              <a:gd name="T25" fmla="*/ 116 h 201"/>
              <a:gd name="T26" fmla="*/ 75 w 202"/>
              <a:gd name="T27" fmla="*/ 161 h 201"/>
              <a:gd name="T28" fmla="*/ 43 w 202"/>
              <a:gd name="T29" fmla="*/ 161 h 201"/>
              <a:gd name="T30" fmla="*/ 43 w 202"/>
              <a:gd name="T31" fmla="*/ 40 h 201"/>
              <a:gd name="T32" fmla="*/ 75 w 202"/>
              <a:gd name="T33" fmla="*/ 40 h 201"/>
              <a:gd name="T34" fmla="*/ 75 w 202"/>
              <a:gd name="T35" fmla="*/ 85 h 201"/>
              <a:gd name="T36" fmla="*/ 127 w 202"/>
              <a:gd name="T37" fmla="*/ 85 h 201"/>
              <a:gd name="T38" fmla="*/ 127 w 202"/>
              <a:gd name="T39" fmla="*/ 40 h 201"/>
              <a:gd name="T40" fmla="*/ 158 w 202"/>
              <a:gd name="T41" fmla="*/ 40 h 201"/>
              <a:gd name="T42" fmla="*/ 158 w 202"/>
              <a:gd name="T43" fmla="*/ 16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2" h="201">
                <a:moveTo>
                  <a:pt x="170" y="0"/>
                </a:moveTo>
                <a:cubicBezTo>
                  <a:pt x="32" y="0"/>
                  <a:pt x="32" y="0"/>
                  <a:pt x="32" y="0"/>
                </a:cubicBezTo>
                <a:cubicBezTo>
                  <a:pt x="14" y="0"/>
                  <a:pt x="0" y="14"/>
                  <a:pt x="0" y="31"/>
                </a:cubicBezTo>
                <a:cubicBezTo>
                  <a:pt x="0" y="170"/>
                  <a:pt x="0" y="170"/>
                  <a:pt x="0" y="170"/>
                </a:cubicBezTo>
                <a:cubicBezTo>
                  <a:pt x="0" y="187"/>
                  <a:pt x="14" y="201"/>
                  <a:pt x="32" y="201"/>
                </a:cubicBezTo>
                <a:cubicBezTo>
                  <a:pt x="170" y="201"/>
                  <a:pt x="170" y="201"/>
                  <a:pt x="170" y="201"/>
                </a:cubicBezTo>
                <a:cubicBezTo>
                  <a:pt x="187" y="201"/>
                  <a:pt x="202" y="187"/>
                  <a:pt x="202" y="170"/>
                </a:cubicBezTo>
                <a:cubicBezTo>
                  <a:pt x="202" y="31"/>
                  <a:pt x="202" y="31"/>
                  <a:pt x="202" y="31"/>
                </a:cubicBezTo>
                <a:cubicBezTo>
                  <a:pt x="202" y="14"/>
                  <a:pt x="187" y="0"/>
                  <a:pt x="170" y="0"/>
                </a:cubicBezTo>
                <a:close/>
                <a:moveTo>
                  <a:pt x="158" y="161"/>
                </a:moveTo>
                <a:cubicBezTo>
                  <a:pt x="127" y="161"/>
                  <a:pt x="127" y="161"/>
                  <a:pt x="127" y="161"/>
                </a:cubicBezTo>
                <a:cubicBezTo>
                  <a:pt x="127" y="116"/>
                  <a:pt x="127" y="116"/>
                  <a:pt x="127" y="116"/>
                </a:cubicBezTo>
                <a:cubicBezTo>
                  <a:pt x="75" y="116"/>
                  <a:pt x="75" y="116"/>
                  <a:pt x="75" y="116"/>
                </a:cubicBezTo>
                <a:cubicBezTo>
                  <a:pt x="75" y="161"/>
                  <a:pt x="75" y="161"/>
                  <a:pt x="75" y="161"/>
                </a:cubicBezTo>
                <a:cubicBezTo>
                  <a:pt x="43" y="161"/>
                  <a:pt x="43" y="161"/>
                  <a:pt x="43" y="161"/>
                </a:cubicBezTo>
                <a:cubicBezTo>
                  <a:pt x="43" y="40"/>
                  <a:pt x="43" y="40"/>
                  <a:pt x="43" y="40"/>
                </a:cubicBezTo>
                <a:cubicBezTo>
                  <a:pt x="75" y="40"/>
                  <a:pt x="75" y="40"/>
                  <a:pt x="75" y="40"/>
                </a:cubicBezTo>
                <a:cubicBezTo>
                  <a:pt x="75" y="85"/>
                  <a:pt x="75" y="85"/>
                  <a:pt x="75" y="85"/>
                </a:cubicBezTo>
                <a:cubicBezTo>
                  <a:pt x="127" y="85"/>
                  <a:pt x="127" y="85"/>
                  <a:pt x="127" y="85"/>
                </a:cubicBezTo>
                <a:cubicBezTo>
                  <a:pt x="127" y="40"/>
                  <a:pt x="127" y="40"/>
                  <a:pt x="127" y="40"/>
                </a:cubicBezTo>
                <a:cubicBezTo>
                  <a:pt x="158" y="40"/>
                  <a:pt x="158" y="40"/>
                  <a:pt x="158" y="40"/>
                </a:cubicBezTo>
                <a:lnTo>
                  <a:pt x="158" y="16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
          <p:cNvSpPr>
            <a:spLocks noEditPoints="1"/>
          </p:cNvSpPr>
          <p:nvPr userDrawn="1"/>
        </p:nvSpPr>
        <p:spPr bwMode="auto">
          <a:xfrm>
            <a:off x="9008778" y="6161561"/>
            <a:ext cx="248330" cy="382574"/>
          </a:xfrm>
          <a:custGeom>
            <a:avLst/>
            <a:gdLst>
              <a:gd name="T0" fmla="*/ 176 w 247"/>
              <a:gd name="T1" fmla="*/ 101 h 379"/>
              <a:gd name="T2" fmla="*/ 88 w 247"/>
              <a:gd name="T3" fmla="*/ 0 h 379"/>
              <a:gd name="T4" fmla="*/ 58 w 247"/>
              <a:gd name="T5" fmla="*/ 111 h 379"/>
              <a:gd name="T6" fmla="*/ 0 w 247"/>
              <a:gd name="T7" fmla="*/ 379 h 379"/>
              <a:gd name="T8" fmla="*/ 176 w 247"/>
              <a:gd name="T9" fmla="*/ 379 h 379"/>
              <a:gd name="T10" fmla="*/ 164 w 247"/>
              <a:gd name="T11" fmla="*/ 118 h 379"/>
              <a:gd name="T12" fmla="*/ 164 w 247"/>
              <a:gd name="T13" fmla="*/ 118 h 379"/>
              <a:gd name="T14" fmla="*/ 164 w 247"/>
              <a:gd name="T15" fmla="*/ 304 h 379"/>
              <a:gd name="T16" fmla="*/ 141 w 247"/>
              <a:gd name="T17" fmla="*/ 328 h 379"/>
              <a:gd name="T18" fmla="*/ 141 w 247"/>
              <a:gd name="T19" fmla="*/ 265 h 379"/>
              <a:gd name="T20" fmla="*/ 141 w 247"/>
              <a:gd name="T21" fmla="*/ 255 h 379"/>
              <a:gd name="T22" fmla="*/ 141 w 247"/>
              <a:gd name="T23" fmla="*/ 255 h 379"/>
              <a:gd name="T24" fmla="*/ 164 w 247"/>
              <a:gd name="T25" fmla="*/ 231 h 379"/>
              <a:gd name="T26" fmla="*/ 164 w 247"/>
              <a:gd name="T27" fmla="*/ 191 h 379"/>
              <a:gd name="T28" fmla="*/ 141 w 247"/>
              <a:gd name="T29" fmla="*/ 167 h 379"/>
              <a:gd name="T30" fmla="*/ 141 w 247"/>
              <a:gd name="T31" fmla="*/ 158 h 379"/>
              <a:gd name="T32" fmla="*/ 141 w 247"/>
              <a:gd name="T33" fmla="*/ 158 h 379"/>
              <a:gd name="T34" fmla="*/ 125 w 247"/>
              <a:gd name="T35" fmla="*/ 40 h 379"/>
              <a:gd name="T36" fmla="*/ 147 w 247"/>
              <a:gd name="T37" fmla="*/ 65 h 379"/>
              <a:gd name="T38" fmla="*/ 147 w 247"/>
              <a:gd name="T39" fmla="*/ 74 h 379"/>
              <a:gd name="T40" fmla="*/ 108 w 247"/>
              <a:gd name="T41" fmla="*/ 304 h 379"/>
              <a:gd name="T42" fmla="*/ 108 w 247"/>
              <a:gd name="T43" fmla="*/ 304 h 379"/>
              <a:gd name="T44" fmla="*/ 108 w 247"/>
              <a:gd name="T45" fmla="*/ 313 h 379"/>
              <a:gd name="T46" fmla="*/ 134 w 247"/>
              <a:gd name="T47" fmla="*/ 265 h 379"/>
              <a:gd name="T48" fmla="*/ 108 w 247"/>
              <a:gd name="T49" fmla="*/ 240 h 379"/>
              <a:gd name="T50" fmla="*/ 108 w 247"/>
              <a:gd name="T51" fmla="*/ 231 h 379"/>
              <a:gd name="T52" fmla="*/ 108 w 247"/>
              <a:gd name="T53" fmla="*/ 231 h 379"/>
              <a:gd name="T54" fmla="*/ 134 w 247"/>
              <a:gd name="T55" fmla="*/ 207 h 379"/>
              <a:gd name="T56" fmla="*/ 134 w 247"/>
              <a:gd name="T57" fmla="*/ 167 h 379"/>
              <a:gd name="T58" fmla="*/ 108 w 247"/>
              <a:gd name="T59" fmla="*/ 143 h 379"/>
              <a:gd name="T60" fmla="*/ 108 w 247"/>
              <a:gd name="T61" fmla="*/ 133 h 379"/>
              <a:gd name="T62" fmla="*/ 108 w 247"/>
              <a:gd name="T63" fmla="*/ 133 h 379"/>
              <a:gd name="T64" fmla="*/ 96 w 247"/>
              <a:gd name="T65" fmla="*/ 40 h 379"/>
              <a:gd name="T66" fmla="*/ 118 w 247"/>
              <a:gd name="T67" fmla="*/ 65 h 379"/>
              <a:gd name="T68" fmla="*/ 118 w 247"/>
              <a:gd name="T69" fmla="*/ 74 h 379"/>
              <a:gd name="T70" fmla="*/ 79 w 247"/>
              <a:gd name="T71" fmla="*/ 118 h 379"/>
              <a:gd name="T72" fmla="*/ 79 w 247"/>
              <a:gd name="T73" fmla="*/ 118 h 379"/>
              <a:gd name="T74" fmla="*/ 79 w 247"/>
              <a:gd name="T75" fmla="*/ 158 h 379"/>
              <a:gd name="T76" fmla="*/ 102 w 247"/>
              <a:gd name="T77" fmla="*/ 182 h 379"/>
              <a:gd name="T78" fmla="*/ 102 w 247"/>
              <a:gd name="T79" fmla="*/ 191 h 379"/>
              <a:gd name="T80" fmla="*/ 79 w 247"/>
              <a:gd name="T81" fmla="*/ 216 h 379"/>
              <a:gd name="T82" fmla="*/ 79 w 247"/>
              <a:gd name="T83" fmla="*/ 216 h 379"/>
              <a:gd name="T84" fmla="*/ 79 w 247"/>
              <a:gd name="T85" fmla="*/ 255 h 379"/>
              <a:gd name="T86" fmla="*/ 102 w 247"/>
              <a:gd name="T87" fmla="*/ 280 h 379"/>
              <a:gd name="T88" fmla="*/ 102 w 247"/>
              <a:gd name="T89" fmla="*/ 289 h 379"/>
              <a:gd name="T90" fmla="*/ 79 w 247"/>
              <a:gd name="T91" fmla="*/ 313 h 379"/>
              <a:gd name="T92" fmla="*/ 79 w 247"/>
              <a:gd name="T93" fmla="*/ 313 h 379"/>
              <a:gd name="T94" fmla="*/ 167 w 247"/>
              <a:gd name="T95" fmla="*/ 347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7" h="379">
                <a:moveTo>
                  <a:pt x="238" y="362"/>
                </a:moveTo>
                <a:cubicBezTo>
                  <a:pt x="186" y="362"/>
                  <a:pt x="186" y="362"/>
                  <a:pt x="186" y="362"/>
                </a:cubicBezTo>
                <a:cubicBezTo>
                  <a:pt x="186" y="111"/>
                  <a:pt x="186" y="111"/>
                  <a:pt x="186" y="111"/>
                </a:cubicBezTo>
                <a:cubicBezTo>
                  <a:pt x="186" y="106"/>
                  <a:pt x="182" y="101"/>
                  <a:pt x="176" y="101"/>
                </a:cubicBezTo>
                <a:cubicBezTo>
                  <a:pt x="164" y="101"/>
                  <a:pt x="164" y="101"/>
                  <a:pt x="164" y="101"/>
                </a:cubicBezTo>
                <a:cubicBezTo>
                  <a:pt x="164" y="8"/>
                  <a:pt x="164" y="8"/>
                  <a:pt x="164" y="8"/>
                </a:cubicBezTo>
                <a:cubicBezTo>
                  <a:pt x="164" y="4"/>
                  <a:pt x="161" y="0"/>
                  <a:pt x="156" y="0"/>
                </a:cubicBezTo>
                <a:cubicBezTo>
                  <a:pt x="88" y="0"/>
                  <a:pt x="88" y="0"/>
                  <a:pt x="88" y="0"/>
                </a:cubicBezTo>
                <a:cubicBezTo>
                  <a:pt x="83" y="0"/>
                  <a:pt x="80" y="4"/>
                  <a:pt x="80" y="8"/>
                </a:cubicBezTo>
                <a:cubicBezTo>
                  <a:pt x="80" y="101"/>
                  <a:pt x="80" y="101"/>
                  <a:pt x="80" y="101"/>
                </a:cubicBezTo>
                <a:cubicBezTo>
                  <a:pt x="68" y="101"/>
                  <a:pt x="68" y="101"/>
                  <a:pt x="68" y="101"/>
                </a:cubicBezTo>
                <a:cubicBezTo>
                  <a:pt x="62" y="101"/>
                  <a:pt x="58" y="106"/>
                  <a:pt x="58" y="111"/>
                </a:cubicBezTo>
                <a:cubicBezTo>
                  <a:pt x="58" y="362"/>
                  <a:pt x="58" y="362"/>
                  <a:pt x="58" y="362"/>
                </a:cubicBezTo>
                <a:cubicBezTo>
                  <a:pt x="9" y="362"/>
                  <a:pt x="9" y="362"/>
                  <a:pt x="9" y="362"/>
                </a:cubicBezTo>
                <a:cubicBezTo>
                  <a:pt x="4" y="362"/>
                  <a:pt x="0" y="366"/>
                  <a:pt x="0" y="371"/>
                </a:cubicBezTo>
                <a:cubicBezTo>
                  <a:pt x="0" y="379"/>
                  <a:pt x="0" y="379"/>
                  <a:pt x="0" y="379"/>
                </a:cubicBezTo>
                <a:cubicBezTo>
                  <a:pt x="68" y="379"/>
                  <a:pt x="68" y="379"/>
                  <a:pt x="68" y="379"/>
                </a:cubicBezTo>
                <a:cubicBezTo>
                  <a:pt x="88" y="379"/>
                  <a:pt x="88" y="379"/>
                  <a:pt x="88" y="379"/>
                </a:cubicBezTo>
                <a:cubicBezTo>
                  <a:pt x="156" y="379"/>
                  <a:pt x="156" y="379"/>
                  <a:pt x="156" y="379"/>
                </a:cubicBezTo>
                <a:cubicBezTo>
                  <a:pt x="176" y="379"/>
                  <a:pt x="176" y="379"/>
                  <a:pt x="176" y="379"/>
                </a:cubicBezTo>
                <a:cubicBezTo>
                  <a:pt x="247" y="379"/>
                  <a:pt x="247" y="379"/>
                  <a:pt x="247" y="379"/>
                </a:cubicBezTo>
                <a:cubicBezTo>
                  <a:pt x="247" y="371"/>
                  <a:pt x="247" y="371"/>
                  <a:pt x="247" y="371"/>
                </a:cubicBezTo>
                <a:cubicBezTo>
                  <a:pt x="247" y="366"/>
                  <a:pt x="243" y="362"/>
                  <a:pt x="238" y="362"/>
                </a:cubicBezTo>
                <a:close/>
                <a:moveTo>
                  <a:pt x="164" y="118"/>
                </a:moveTo>
                <a:cubicBezTo>
                  <a:pt x="164" y="133"/>
                  <a:pt x="164" y="133"/>
                  <a:pt x="164" y="133"/>
                </a:cubicBezTo>
                <a:cubicBezTo>
                  <a:pt x="141" y="133"/>
                  <a:pt x="141" y="133"/>
                  <a:pt x="141" y="133"/>
                </a:cubicBezTo>
                <a:cubicBezTo>
                  <a:pt x="141" y="118"/>
                  <a:pt x="141" y="118"/>
                  <a:pt x="141" y="118"/>
                </a:cubicBezTo>
                <a:lnTo>
                  <a:pt x="164" y="118"/>
                </a:lnTo>
                <a:close/>
                <a:moveTo>
                  <a:pt x="141" y="304"/>
                </a:moveTo>
                <a:cubicBezTo>
                  <a:pt x="141" y="289"/>
                  <a:pt x="141" y="289"/>
                  <a:pt x="141" y="289"/>
                </a:cubicBezTo>
                <a:cubicBezTo>
                  <a:pt x="164" y="289"/>
                  <a:pt x="164" y="289"/>
                  <a:pt x="164" y="289"/>
                </a:cubicBezTo>
                <a:cubicBezTo>
                  <a:pt x="164" y="304"/>
                  <a:pt x="164" y="304"/>
                  <a:pt x="164" y="304"/>
                </a:cubicBezTo>
                <a:lnTo>
                  <a:pt x="141" y="304"/>
                </a:lnTo>
                <a:close/>
                <a:moveTo>
                  <a:pt x="164" y="313"/>
                </a:moveTo>
                <a:cubicBezTo>
                  <a:pt x="164" y="328"/>
                  <a:pt x="164" y="328"/>
                  <a:pt x="164" y="328"/>
                </a:cubicBezTo>
                <a:cubicBezTo>
                  <a:pt x="141" y="328"/>
                  <a:pt x="141" y="328"/>
                  <a:pt x="141" y="328"/>
                </a:cubicBezTo>
                <a:cubicBezTo>
                  <a:pt x="141" y="313"/>
                  <a:pt x="141" y="313"/>
                  <a:pt x="141" y="313"/>
                </a:cubicBezTo>
                <a:lnTo>
                  <a:pt x="164" y="313"/>
                </a:lnTo>
                <a:close/>
                <a:moveTo>
                  <a:pt x="141" y="280"/>
                </a:moveTo>
                <a:cubicBezTo>
                  <a:pt x="141" y="265"/>
                  <a:pt x="141" y="265"/>
                  <a:pt x="141" y="265"/>
                </a:cubicBezTo>
                <a:cubicBezTo>
                  <a:pt x="164" y="265"/>
                  <a:pt x="164" y="265"/>
                  <a:pt x="164" y="265"/>
                </a:cubicBezTo>
                <a:cubicBezTo>
                  <a:pt x="164" y="280"/>
                  <a:pt x="164" y="280"/>
                  <a:pt x="164" y="280"/>
                </a:cubicBezTo>
                <a:lnTo>
                  <a:pt x="141" y="280"/>
                </a:lnTo>
                <a:close/>
                <a:moveTo>
                  <a:pt x="141" y="255"/>
                </a:moveTo>
                <a:cubicBezTo>
                  <a:pt x="141" y="240"/>
                  <a:pt x="141" y="240"/>
                  <a:pt x="141" y="240"/>
                </a:cubicBezTo>
                <a:cubicBezTo>
                  <a:pt x="164" y="240"/>
                  <a:pt x="164" y="240"/>
                  <a:pt x="164" y="240"/>
                </a:cubicBezTo>
                <a:cubicBezTo>
                  <a:pt x="164" y="255"/>
                  <a:pt x="164" y="255"/>
                  <a:pt x="164" y="255"/>
                </a:cubicBezTo>
                <a:lnTo>
                  <a:pt x="141" y="255"/>
                </a:lnTo>
                <a:close/>
                <a:moveTo>
                  <a:pt x="141" y="231"/>
                </a:moveTo>
                <a:cubicBezTo>
                  <a:pt x="141" y="216"/>
                  <a:pt x="141" y="216"/>
                  <a:pt x="141" y="216"/>
                </a:cubicBezTo>
                <a:cubicBezTo>
                  <a:pt x="164" y="216"/>
                  <a:pt x="164" y="216"/>
                  <a:pt x="164" y="216"/>
                </a:cubicBezTo>
                <a:cubicBezTo>
                  <a:pt x="164" y="231"/>
                  <a:pt x="164" y="231"/>
                  <a:pt x="164" y="231"/>
                </a:cubicBezTo>
                <a:lnTo>
                  <a:pt x="141" y="231"/>
                </a:lnTo>
                <a:close/>
                <a:moveTo>
                  <a:pt x="141" y="207"/>
                </a:moveTo>
                <a:cubicBezTo>
                  <a:pt x="141" y="191"/>
                  <a:pt x="141" y="191"/>
                  <a:pt x="141" y="191"/>
                </a:cubicBezTo>
                <a:cubicBezTo>
                  <a:pt x="164" y="191"/>
                  <a:pt x="164" y="191"/>
                  <a:pt x="164" y="191"/>
                </a:cubicBezTo>
                <a:cubicBezTo>
                  <a:pt x="164" y="207"/>
                  <a:pt x="164" y="207"/>
                  <a:pt x="164" y="207"/>
                </a:cubicBezTo>
                <a:lnTo>
                  <a:pt x="141" y="207"/>
                </a:lnTo>
                <a:close/>
                <a:moveTo>
                  <a:pt x="141" y="182"/>
                </a:moveTo>
                <a:cubicBezTo>
                  <a:pt x="141" y="167"/>
                  <a:pt x="141" y="167"/>
                  <a:pt x="141" y="167"/>
                </a:cubicBezTo>
                <a:cubicBezTo>
                  <a:pt x="164" y="167"/>
                  <a:pt x="164" y="167"/>
                  <a:pt x="164" y="167"/>
                </a:cubicBezTo>
                <a:cubicBezTo>
                  <a:pt x="164" y="182"/>
                  <a:pt x="164" y="182"/>
                  <a:pt x="164" y="182"/>
                </a:cubicBezTo>
                <a:lnTo>
                  <a:pt x="141" y="182"/>
                </a:lnTo>
                <a:close/>
                <a:moveTo>
                  <a:pt x="141" y="158"/>
                </a:moveTo>
                <a:cubicBezTo>
                  <a:pt x="141" y="143"/>
                  <a:pt x="141" y="143"/>
                  <a:pt x="141" y="143"/>
                </a:cubicBezTo>
                <a:cubicBezTo>
                  <a:pt x="164" y="143"/>
                  <a:pt x="164" y="143"/>
                  <a:pt x="164" y="143"/>
                </a:cubicBezTo>
                <a:cubicBezTo>
                  <a:pt x="164" y="158"/>
                  <a:pt x="164" y="158"/>
                  <a:pt x="164" y="158"/>
                </a:cubicBezTo>
                <a:lnTo>
                  <a:pt x="141" y="158"/>
                </a:lnTo>
                <a:close/>
                <a:moveTo>
                  <a:pt x="125" y="25"/>
                </a:moveTo>
                <a:cubicBezTo>
                  <a:pt x="147" y="25"/>
                  <a:pt x="147" y="25"/>
                  <a:pt x="147" y="25"/>
                </a:cubicBezTo>
                <a:cubicBezTo>
                  <a:pt x="147" y="40"/>
                  <a:pt x="147" y="40"/>
                  <a:pt x="147" y="40"/>
                </a:cubicBezTo>
                <a:cubicBezTo>
                  <a:pt x="125" y="40"/>
                  <a:pt x="125" y="40"/>
                  <a:pt x="125" y="40"/>
                </a:cubicBezTo>
                <a:lnTo>
                  <a:pt x="125" y="25"/>
                </a:lnTo>
                <a:close/>
                <a:moveTo>
                  <a:pt x="125" y="49"/>
                </a:moveTo>
                <a:cubicBezTo>
                  <a:pt x="147" y="49"/>
                  <a:pt x="147" y="49"/>
                  <a:pt x="147" y="49"/>
                </a:cubicBezTo>
                <a:cubicBezTo>
                  <a:pt x="147" y="65"/>
                  <a:pt x="147" y="65"/>
                  <a:pt x="147" y="65"/>
                </a:cubicBezTo>
                <a:cubicBezTo>
                  <a:pt x="125" y="65"/>
                  <a:pt x="125" y="65"/>
                  <a:pt x="125" y="65"/>
                </a:cubicBezTo>
                <a:lnTo>
                  <a:pt x="125" y="49"/>
                </a:lnTo>
                <a:close/>
                <a:moveTo>
                  <a:pt x="125" y="74"/>
                </a:moveTo>
                <a:cubicBezTo>
                  <a:pt x="147" y="74"/>
                  <a:pt x="147" y="74"/>
                  <a:pt x="147" y="74"/>
                </a:cubicBezTo>
                <a:cubicBezTo>
                  <a:pt x="147" y="89"/>
                  <a:pt x="147" y="89"/>
                  <a:pt x="147" y="89"/>
                </a:cubicBezTo>
                <a:cubicBezTo>
                  <a:pt x="125" y="89"/>
                  <a:pt x="125" y="89"/>
                  <a:pt x="125" y="89"/>
                </a:cubicBezTo>
                <a:lnTo>
                  <a:pt x="125" y="74"/>
                </a:lnTo>
                <a:close/>
                <a:moveTo>
                  <a:pt x="108" y="304"/>
                </a:moveTo>
                <a:cubicBezTo>
                  <a:pt x="108" y="289"/>
                  <a:pt x="108" y="289"/>
                  <a:pt x="108" y="289"/>
                </a:cubicBezTo>
                <a:cubicBezTo>
                  <a:pt x="134" y="289"/>
                  <a:pt x="134" y="289"/>
                  <a:pt x="134" y="289"/>
                </a:cubicBezTo>
                <a:cubicBezTo>
                  <a:pt x="134" y="304"/>
                  <a:pt x="134" y="304"/>
                  <a:pt x="134" y="304"/>
                </a:cubicBezTo>
                <a:lnTo>
                  <a:pt x="108" y="304"/>
                </a:lnTo>
                <a:close/>
                <a:moveTo>
                  <a:pt x="134" y="313"/>
                </a:moveTo>
                <a:cubicBezTo>
                  <a:pt x="134" y="328"/>
                  <a:pt x="134" y="328"/>
                  <a:pt x="134" y="328"/>
                </a:cubicBezTo>
                <a:cubicBezTo>
                  <a:pt x="108" y="328"/>
                  <a:pt x="108" y="328"/>
                  <a:pt x="108" y="328"/>
                </a:cubicBezTo>
                <a:cubicBezTo>
                  <a:pt x="108" y="313"/>
                  <a:pt x="108" y="313"/>
                  <a:pt x="108" y="313"/>
                </a:cubicBezTo>
                <a:lnTo>
                  <a:pt x="134" y="313"/>
                </a:lnTo>
                <a:close/>
                <a:moveTo>
                  <a:pt x="108" y="280"/>
                </a:moveTo>
                <a:cubicBezTo>
                  <a:pt x="108" y="265"/>
                  <a:pt x="108" y="265"/>
                  <a:pt x="108" y="265"/>
                </a:cubicBezTo>
                <a:cubicBezTo>
                  <a:pt x="134" y="265"/>
                  <a:pt x="134" y="265"/>
                  <a:pt x="134" y="265"/>
                </a:cubicBezTo>
                <a:cubicBezTo>
                  <a:pt x="134" y="280"/>
                  <a:pt x="134" y="280"/>
                  <a:pt x="134" y="280"/>
                </a:cubicBezTo>
                <a:lnTo>
                  <a:pt x="108" y="280"/>
                </a:lnTo>
                <a:close/>
                <a:moveTo>
                  <a:pt x="108" y="255"/>
                </a:moveTo>
                <a:cubicBezTo>
                  <a:pt x="108" y="240"/>
                  <a:pt x="108" y="240"/>
                  <a:pt x="108" y="240"/>
                </a:cubicBezTo>
                <a:cubicBezTo>
                  <a:pt x="134" y="240"/>
                  <a:pt x="134" y="240"/>
                  <a:pt x="134" y="240"/>
                </a:cubicBezTo>
                <a:cubicBezTo>
                  <a:pt x="134" y="255"/>
                  <a:pt x="134" y="255"/>
                  <a:pt x="134" y="255"/>
                </a:cubicBezTo>
                <a:lnTo>
                  <a:pt x="108" y="255"/>
                </a:lnTo>
                <a:close/>
                <a:moveTo>
                  <a:pt x="108" y="231"/>
                </a:moveTo>
                <a:cubicBezTo>
                  <a:pt x="108" y="216"/>
                  <a:pt x="108" y="216"/>
                  <a:pt x="108" y="216"/>
                </a:cubicBezTo>
                <a:cubicBezTo>
                  <a:pt x="134" y="216"/>
                  <a:pt x="134" y="216"/>
                  <a:pt x="134" y="216"/>
                </a:cubicBezTo>
                <a:cubicBezTo>
                  <a:pt x="134" y="231"/>
                  <a:pt x="134" y="231"/>
                  <a:pt x="134" y="231"/>
                </a:cubicBezTo>
                <a:lnTo>
                  <a:pt x="108" y="231"/>
                </a:lnTo>
                <a:close/>
                <a:moveTo>
                  <a:pt x="108" y="207"/>
                </a:moveTo>
                <a:cubicBezTo>
                  <a:pt x="108" y="191"/>
                  <a:pt x="108" y="191"/>
                  <a:pt x="108" y="191"/>
                </a:cubicBezTo>
                <a:cubicBezTo>
                  <a:pt x="134" y="191"/>
                  <a:pt x="134" y="191"/>
                  <a:pt x="134" y="191"/>
                </a:cubicBezTo>
                <a:cubicBezTo>
                  <a:pt x="134" y="207"/>
                  <a:pt x="134" y="207"/>
                  <a:pt x="134" y="207"/>
                </a:cubicBezTo>
                <a:lnTo>
                  <a:pt x="108" y="207"/>
                </a:lnTo>
                <a:close/>
                <a:moveTo>
                  <a:pt x="108" y="182"/>
                </a:moveTo>
                <a:cubicBezTo>
                  <a:pt x="108" y="167"/>
                  <a:pt x="108" y="167"/>
                  <a:pt x="108" y="167"/>
                </a:cubicBezTo>
                <a:cubicBezTo>
                  <a:pt x="134" y="167"/>
                  <a:pt x="134" y="167"/>
                  <a:pt x="134" y="167"/>
                </a:cubicBezTo>
                <a:cubicBezTo>
                  <a:pt x="134" y="182"/>
                  <a:pt x="134" y="182"/>
                  <a:pt x="134" y="182"/>
                </a:cubicBezTo>
                <a:lnTo>
                  <a:pt x="108" y="182"/>
                </a:lnTo>
                <a:close/>
                <a:moveTo>
                  <a:pt x="108" y="158"/>
                </a:moveTo>
                <a:cubicBezTo>
                  <a:pt x="108" y="143"/>
                  <a:pt x="108" y="143"/>
                  <a:pt x="108" y="143"/>
                </a:cubicBezTo>
                <a:cubicBezTo>
                  <a:pt x="134" y="143"/>
                  <a:pt x="134" y="143"/>
                  <a:pt x="134" y="143"/>
                </a:cubicBezTo>
                <a:cubicBezTo>
                  <a:pt x="134" y="158"/>
                  <a:pt x="134" y="158"/>
                  <a:pt x="134" y="158"/>
                </a:cubicBezTo>
                <a:lnTo>
                  <a:pt x="108" y="158"/>
                </a:lnTo>
                <a:close/>
                <a:moveTo>
                  <a:pt x="108" y="133"/>
                </a:moveTo>
                <a:cubicBezTo>
                  <a:pt x="108" y="118"/>
                  <a:pt x="108" y="118"/>
                  <a:pt x="108" y="118"/>
                </a:cubicBezTo>
                <a:cubicBezTo>
                  <a:pt x="134" y="118"/>
                  <a:pt x="134" y="118"/>
                  <a:pt x="134" y="118"/>
                </a:cubicBezTo>
                <a:cubicBezTo>
                  <a:pt x="134" y="133"/>
                  <a:pt x="134" y="133"/>
                  <a:pt x="134" y="133"/>
                </a:cubicBezTo>
                <a:lnTo>
                  <a:pt x="108" y="133"/>
                </a:lnTo>
                <a:close/>
                <a:moveTo>
                  <a:pt x="96" y="25"/>
                </a:moveTo>
                <a:cubicBezTo>
                  <a:pt x="118" y="25"/>
                  <a:pt x="118" y="25"/>
                  <a:pt x="118" y="25"/>
                </a:cubicBezTo>
                <a:cubicBezTo>
                  <a:pt x="118" y="40"/>
                  <a:pt x="118" y="40"/>
                  <a:pt x="118" y="40"/>
                </a:cubicBezTo>
                <a:cubicBezTo>
                  <a:pt x="96" y="40"/>
                  <a:pt x="96" y="40"/>
                  <a:pt x="96" y="40"/>
                </a:cubicBezTo>
                <a:lnTo>
                  <a:pt x="96" y="25"/>
                </a:lnTo>
                <a:close/>
                <a:moveTo>
                  <a:pt x="96" y="49"/>
                </a:moveTo>
                <a:cubicBezTo>
                  <a:pt x="118" y="49"/>
                  <a:pt x="118" y="49"/>
                  <a:pt x="118" y="49"/>
                </a:cubicBezTo>
                <a:cubicBezTo>
                  <a:pt x="118" y="65"/>
                  <a:pt x="118" y="65"/>
                  <a:pt x="118" y="65"/>
                </a:cubicBezTo>
                <a:cubicBezTo>
                  <a:pt x="96" y="65"/>
                  <a:pt x="96" y="65"/>
                  <a:pt x="96" y="65"/>
                </a:cubicBezTo>
                <a:lnTo>
                  <a:pt x="96" y="49"/>
                </a:lnTo>
                <a:close/>
                <a:moveTo>
                  <a:pt x="96" y="74"/>
                </a:moveTo>
                <a:cubicBezTo>
                  <a:pt x="118" y="74"/>
                  <a:pt x="118" y="74"/>
                  <a:pt x="118" y="74"/>
                </a:cubicBezTo>
                <a:cubicBezTo>
                  <a:pt x="118" y="89"/>
                  <a:pt x="118" y="89"/>
                  <a:pt x="118" y="89"/>
                </a:cubicBezTo>
                <a:cubicBezTo>
                  <a:pt x="96" y="89"/>
                  <a:pt x="96" y="89"/>
                  <a:pt x="96" y="89"/>
                </a:cubicBezTo>
                <a:lnTo>
                  <a:pt x="96" y="74"/>
                </a:lnTo>
                <a:close/>
                <a:moveTo>
                  <a:pt x="79" y="118"/>
                </a:moveTo>
                <a:cubicBezTo>
                  <a:pt x="102" y="118"/>
                  <a:pt x="102" y="118"/>
                  <a:pt x="102" y="118"/>
                </a:cubicBezTo>
                <a:cubicBezTo>
                  <a:pt x="102" y="133"/>
                  <a:pt x="102" y="133"/>
                  <a:pt x="102" y="133"/>
                </a:cubicBezTo>
                <a:cubicBezTo>
                  <a:pt x="79" y="133"/>
                  <a:pt x="79" y="133"/>
                  <a:pt x="79" y="133"/>
                </a:cubicBezTo>
                <a:lnTo>
                  <a:pt x="79" y="118"/>
                </a:lnTo>
                <a:close/>
                <a:moveTo>
                  <a:pt x="79" y="143"/>
                </a:moveTo>
                <a:cubicBezTo>
                  <a:pt x="102" y="143"/>
                  <a:pt x="102" y="143"/>
                  <a:pt x="102" y="143"/>
                </a:cubicBezTo>
                <a:cubicBezTo>
                  <a:pt x="102" y="158"/>
                  <a:pt x="102" y="158"/>
                  <a:pt x="102" y="158"/>
                </a:cubicBezTo>
                <a:cubicBezTo>
                  <a:pt x="79" y="158"/>
                  <a:pt x="79" y="158"/>
                  <a:pt x="79" y="158"/>
                </a:cubicBezTo>
                <a:lnTo>
                  <a:pt x="79" y="143"/>
                </a:lnTo>
                <a:close/>
                <a:moveTo>
                  <a:pt x="79" y="167"/>
                </a:moveTo>
                <a:cubicBezTo>
                  <a:pt x="102" y="167"/>
                  <a:pt x="102" y="167"/>
                  <a:pt x="102" y="167"/>
                </a:cubicBezTo>
                <a:cubicBezTo>
                  <a:pt x="102" y="182"/>
                  <a:pt x="102" y="182"/>
                  <a:pt x="102" y="182"/>
                </a:cubicBezTo>
                <a:cubicBezTo>
                  <a:pt x="79" y="182"/>
                  <a:pt x="79" y="182"/>
                  <a:pt x="79" y="182"/>
                </a:cubicBezTo>
                <a:lnTo>
                  <a:pt x="79" y="167"/>
                </a:lnTo>
                <a:close/>
                <a:moveTo>
                  <a:pt x="79" y="191"/>
                </a:moveTo>
                <a:cubicBezTo>
                  <a:pt x="102" y="191"/>
                  <a:pt x="102" y="191"/>
                  <a:pt x="102" y="191"/>
                </a:cubicBezTo>
                <a:cubicBezTo>
                  <a:pt x="102" y="207"/>
                  <a:pt x="102" y="207"/>
                  <a:pt x="102" y="207"/>
                </a:cubicBezTo>
                <a:cubicBezTo>
                  <a:pt x="79" y="207"/>
                  <a:pt x="79" y="207"/>
                  <a:pt x="79" y="207"/>
                </a:cubicBezTo>
                <a:lnTo>
                  <a:pt x="79" y="191"/>
                </a:lnTo>
                <a:close/>
                <a:moveTo>
                  <a:pt x="79" y="216"/>
                </a:moveTo>
                <a:cubicBezTo>
                  <a:pt x="102" y="216"/>
                  <a:pt x="102" y="216"/>
                  <a:pt x="102" y="216"/>
                </a:cubicBezTo>
                <a:cubicBezTo>
                  <a:pt x="102" y="231"/>
                  <a:pt x="102" y="231"/>
                  <a:pt x="102" y="231"/>
                </a:cubicBezTo>
                <a:cubicBezTo>
                  <a:pt x="79" y="231"/>
                  <a:pt x="79" y="231"/>
                  <a:pt x="79" y="231"/>
                </a:cubicBezTo>
                <a:lnTo>
                  <a:pt x="79" y="216"/>
                </a:lnTo>
                <a:close/>
                <a:moveTo>
                  <a:pt x="79" y="240"/>
                </a:moveTo>
                <a:cubicBezTo>
                  <a:pt x="102" y="240"/>
                  <a:pt x="102" y="240"/>
                  <a:pt x="102" y="240"/>
                </a:cubicBezTo>
                <a:cubicBezTo>
                  <a:pt x="102" y="255"/>
                  <a:pt x="102" y="255"/>
                  <a:pt x="102" y="255"/>
                </a:cubicBezTo>
                <a:cubicBezTo>
                  <a:pt x="79" y="255"/>
                  <a:pt x="79" y="255"/>
                  <a:pt x="79" y="255"/>
                </a:cubicBezTo>
                <a:lnTo>
                  <a:pt x="79" y="240"/>
                </a:lnTo>
                <a:close/>
                <a:moveTo>
                  <a:pt x="79" y="265"/>
                </a:moveTo>
                <a:cubicBezTo>
                  <a:pt x="102" y="265"/>
                  <a:pt x="102" y="265"/>
                  <a:pt x="102" y="265"/>
                </a:cubicBezTo>
                <a:cubicBezTo>
                  <a:pt x="102" y="280"/>
                  <a:pt x="102" y="280"/>
                  <a:pt x="102" y="280"/>
                </a:cubicBezTo>
                <a:cubicBezTo>
                  <a:pt x="79" y="280"/>
                  <a:pt x="79" y="280"/>
                  <a:pt x="79" y="280"/>
                </a:cubicBezTo>
                <a:lnTo>
                  <a:pt x="79" y="265"/>
                </a:lnTo>
                <a:close/>
                <a:moveTo>
                  <a:pt x="79" y="289"/>
                </a:moveTo>
                <a:cubicBezTo>
                  <a:pt x="102" y="289"/>
                  <a:pt x="102" y="289"/>
                  <a:pt x="102" y="289"/>
                </a:cubicBezTo>
                <a:cubicBezTo>
                  <a:pt x="102" y="304"/>
                  <a:pt x="102" y="304"/>
                  <a:pt x="102" y="304"/>
                </a:cubicBezTo>
                <a:cubicBezTo>
                  <a:pt x="79" y="304"/>
                  <a:pt x="79" y="304"/>
                  <a:pt x="79" y="304"/>
                </a:cubicBezTo>
                <a:lnTo>
                  <a:pt x="79" y="289"/>
                </a:lnTo>
                <a:close/>
                <a:moveTo>
                  <a:pt x="79" y="313"/>
                </a:moveTo>
                <a:cubicBezTo>
                  <a:pt x="102" y="313"/>
                  <a:pt x="102" y="313"/>
                  <a:pt x="102" y="313"/>
                </a:cubicBezTo>
                <a:cubicBezTo>
                  <a:pt x="102" y="328"/>
                  <a:pt x="102" y="328"/>
                  <a:pt x="102" y="328"/>
                </a:cubicBezTo>
                <a:cubicBezTo>
                  <a:pt x="79" y="328"/>
                  <a:pt x="79" y="328"/>
                  <a:pt x="79" y="328"/>
                </a:cubicBezTo>
                <a:lnTo>
                  <a:pt x="79" y="313"/>
                </a:lnTo>
                <a:close/>
                <a:moveTo>
                  <a:pt x="167" y="366"/>
                </a:moveTo>
                <a:cubicBezTo>
                  <a:pt x="76" y="366"/>
                  <a:pt x="76" y="366"/>
                  <a:pt x="76" y="366"/>
                </a:cubicBezTo>
                <a:cubicBezTo>
                  <a:pt x="76" y="347"/>
                  <a:pt x="76" y="347"/>
                  <a:pt x="76" y="347"/>
                </a:cubicBezTo>
                <a:cubicBezTo>
                  <a:pt x="167" y="347"/>
                  <a:pt x="167" y="347"/>
                  <a:pt x="167" y="347"/>
                </a:cubicBezTo>
                <a:lnTo>
                  <a:pt x="167"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86" name="Group 185"/>
          <p:cNvGrpSpPr/>
          <p:nvPr userDrawn="1"/>
        </p:nvGrpSpPr>
        <p:grpSpPr>
          <a:xfrm>
            <a:off x="8942666" y="4934437"/>
            <a:ext cx="327156" cy="302164"/>
            <a:chOff x="15651163" y="3206750"/>
            <a:chExt cx="685800" cy="633413"/>
          </a:xfrm>
          <a:solidFill>
            <a:schemeClr val="tx1"/>
          </a:solidFill>
        </p:grpSpPr>
        <p:sp>
          <p:nvSpPr>
            <p:cNvPr id="187" name="Freeform 59"/>
            <p:cNvSpPr>
              <a:spLocks noEditPoints="1"/>
            </p:cNvSpPr>
            <p:nvPr/>
          </p:nvSpPr>
          <p:spPr bwMode="auto">
            <a:xfrm>
              <a:off x="15651163" y="3206750"/>
              <a:ext cx="685800" cy="633413"/>
            </a:xfrm>
            <a:custGeom>
              <a:avLst/>
              <a:gdLst>
                <a:gd name="T0" fmla="*/ 392 w 432"/>
                <a:gd name="T1" fmla="*/ 179 h 399"/>
                <a:gd name="T2" fmla="*/ 432 w 432"/>
                <a:gd name="T3" fmla="*/ 179 h 399"/>
                <a:gd name="T4" fmla="*/ 216 w 432"/>
                <a:gd name="T5" fmla="*/ 0 h 399"/>
                <a:gd name="T6" fmla="*/ 0 w 432"/>
                <a:gd name="T7" fmla="*/ 179 h 399"/>
                <a:gd name="T8" fmla="*/ 44 w 432"/>
                <a:gd name="T9" fmla="*/ 179 h 399"/>
                <a:gd name="T10" fmla="*/ 44 w 432"/>
                <a:gd name="T11" fmla="*/ 353 h 399"/>
                <a:gd name="T12" fmla="*/ 23 w 432"/>
                <a:gd name="T13" fmla="*/ 353 h 399"/>
                <a:gd name="T14" fmla="*/ 23 w 432"/>
                <a:gd name="T15" fmla="*/ 399 h 399"/>
                <a:gd name="T16" fmla="*/ 412 w 432"/>
                <a:gd name="T17" fmla="*/ 399 h 399"/>
                <a:gd name="T18" fmla="*/ 412 w 432"/>
                <a:gd name="T19" fmla="*/ 353 h 399"/>
                <a:gd name="T20" fmla="*/ 392 w 432"/>
                <a:gd name="T21" fmla="*/ 353 h 399"/>
                <a:gd name="T22" fmla="*/ 392 w 432"/>
                <a:gd name="T23" fmla="*/ 179 h 399"/>
                <a:gd name="T24" fmla="*/ 205 w 432"/>
                <a:gd name="T25" fmla="*/ 139 h 399"/>
                <a:gd name="T26" fmla="*/ 150 w 432"/>
                <a:gd name="T27" fmla="*/ 82 h 399"/>
                <a:gd name="T28" fmla="*/ 205 w 432"/>
                <a:gd name="T29" fmla="*/ 37 h 399"/>
                <a:gd name="T30" fmla="*/ 205 w 432"/>
                <a:gd name="T31" fmla="*/ 139 h 399"/>
                <a:gd name="T32" fmla="*/ 196 w 432"/>
                <a:gd name="T33" fmla="*/ 159 h 399"/>
                <a:gd name="T34" fmla="*/ 144 w 432"/>
                <a:gd name="T35" fmla="*/ 159 h 399"/>
                <a:gd name="T36" fmla="*/ 144 w 432"/>
                <a:gd name="T37" fmla="*/ 106 h 399"/>
                <a:gd name="T38" fmla="*/ 196 w 432"/>
                <a:gd name="T39" fmla="*/ 159 h 399"/>
                <a:gd name="T40" fmla="*/ 260 w 432"/>
                <a:gd name="T41" fmla="*/ 348 h 399"/>
                <a:gd name="T42" fmla="*/ 64 w 432"/>
                <a:gd name="T43" fmla="*/ 348 h 399"/>
                <a:gd name="T44" fmla="*/ 64 w 432"/>
                <a:gd name="T45" fmla="*/ 183 h 399"/>
                <a:gd name="T46" fmla="*/ 260 w 432"/>
                <a:gd name="T47" fmla="*/ 183 h 399"/>
                <a:gd name="T48" fmla="*/ 260 w 432"/>
                <a:gd name="T49" fmla="*/ 348 h 399"/>
                <a:gd name="T50" fmla="*/ 227 w 432"/>
                <a:gd name="T51" fmla="*/ 159 h 399"/>
                <a:gd name="T52" fmla="*/ 227 w 432"/>
                <a:gd name="T53" fmla="*/ 37 h 399"/>
                <a:gd name="T54" fmla="*/ 373 w 432"/>
                <a:gd name="T55" fmla="*/ 159 h 399"/>
                <a:gd name="T56" fmla="*/ 227 w 432"/>
                <a:gd name="T57" fmla="*/ 159 h 399"/>
                <a:gd name="T58" fmla="*/ 122 w 432"/>
                <a:gd name="T59" fmla="*/ 106 h 399"/>
                <a:gd name="T60" fmla="*/ 122 w 432"/>
                <a:gd name="T61" fmla="*/ 159 h 399"/>
                <a:gd name="T62" fmla="*/ 58 w 432"/>
                <a:gd name="T63" fmla="*/ 159 h 399"/>
                <a:gd name="T64" fmla="*/ 122 w 432"/>
                <a:gd name="T65" fmla="*/ 106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2" h="399">
                  <a:moveTo>
                    <a:pt x="392" y="179"/>
                  </a:moveTo>
                  <a:lnTo>
                    <a:pt x="432" y="179"/>
                  </a:lnTo>
                  <a:lnTo>
                    <a:pt x="216" y="0"/>
                  </a:lnTo>
                  <a:lnTo>
                    <a:pt x="0" y="179"/>
                  </a:lnTo>
                  <a:lnTo>
                    <a:pt x="44" y="179"/>
                  </a:lnTo>
                  <a:lnTo>
                    <a:pt x="44" y="353"/>
                  </a:lnTo>
                  <a:lnTo>
                    <a:pt x="23" y="353"/>
                  </a:lnTo>
                  <a:lnTo>
                    <a:pt x="23" y="399"/>
                  </a:lnTo>
                  <a:lnTo>
                    <a:pt x="412" y="399"/>
                  </a:lnTo>
                  <a:lnTo>
                    <a:pt x="412" y="353"/>
                  </a:lnTo>
                  <a:lnTo>
                    <a:pt x="392" y="353"/>
                  </a:lnTo>
                  <a:lnTo>
                    <a:pt x="392" y="179"/>
                  </a:lnTo>
                  <a:close/>
                  <a:moveTo>
                    <a:pt x="205" y="139"/>
                  </a:moveTo>
                  <a:lnTo>
                    <a:pt x="150" y="82"/>
                  </a:lnTo>
                  <a:lnTo>
                    <a:pt x="205" y="37"/>
                  </a:lnTo>
                  <a:lnTo>
                    <a:pt x="205" y="139"/>
                  </a:lnTo>
                  <a:close/>
                  <a:moveTo>
                    <a:pt x="196" y="159"/>
                  </a:moveTo>
                  <a:lnTo>
                    <a:pt x="144" y="159"/>
                  </a:lnTo>
                  <a:lnTo>
                    <a:pt x="144" y="106"/>
                  </a:lnTo>
                  <a:lnTo>
                    <a:pt x="196" y="159"/>
                  </a:lnTo>
                  <a:close/>
                  <a:moveTo>
                    <a:pt x="260" y="348"/>
                  </a:moveTo>
                  <a:lnTo>
                    <a:pt x="64" y="348"/>
                  </a:lnTo>
                  <a:lnTo>
                    <a:pt x="64" y="183"/>
                  </a:lnTo>
                  <a:lnTo>
                    <a:pt x="260" y="183"/>
                  </a:lnTo>
                  <a:lnTo>
                    <a:pt x="260" y="348"/>
                  </a:lnTo>
                  <a:close/>
                  <a:moveTo>
                    <a:pt x="227" y="159"/>
                  </a:moveTo>
                  <a:lnTo>
                    <a:pt x="227" y="37"/>
                  </a:lnTo>
                  <a:lnTo>
                    <a:pt x="373" y="159"/>
                  </a:lnTo>
                  <a:lnTo>
                    <a:pt x="227" y="159"/>
                  </a:lnTo>
                  <a:close/>
                  <a:moveTo>
                    <a:pt x="122" y="106"/>
                  </a:moveTo>
                  <a:lnTo>
                    <a:pt x="122" y="159"/>
                  </a:lnTo>
                  <a:lnTo>
                    <a:pt x="58" y="159"/>
                  </a:lnTo>
                  <a:lnTo>
                    <a:pt x="122"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Rectangle 60"/>
            <p:cNvSpPr>
              <a:spLocks noChangeArrowheads="1"/>
            </p:cNvSpPr>
            <p:nvPr/>
          </p:nvSpPr>
          <p:spPr bwMode="auto">
            <a:xfrm>
              <a:off x="15833725" y="3575050"/>
              <a:ext cx="133350" cy="1047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3" name="Freeform 6"/>
          <p:cNvSpPr>
            <a:spLocks/>
          </p:cNvSpPr>
          <p:nvPr userDrawn="1"/>
        </p:nvSpPr>
        <p:spPr bwMode="auto">
          <a:xfrm>
            <a:off x="7647558" y="2109284"/>
            <a:ext cx="290992" cy="248734"/>
          </a:xfrm>
          <a:custGeom>
            <a:avLst/>
            <a:gdLst>
              <a:gd name="T0" fmla="*/ 151 w 212"/>
              <a:gd name="T1" fmla="*/ 0 h 181"/>
              <a:gd name="T2" fmla="*/ 106 w 212"/>
              <a:gd name="T3" fmla="*/ 20 h 181"/>
              <a:gd name="T4" fmla="*/ 61 w 212"/>
              <a:gd name="T5" fmla="*/ 0 h 181"/>
              <a:gd name="T6" fmla="*/ 0 w 212"/>
              <a:gd name="T7" fmla="*/ 60 h 181"/>
              <a:gd name="T8" fmla="*/ 106 w 212"/>
              <a:gd name="T9" fmla="*/ 181 h 181"/>
              <a:gd name="T10" fmla="*/ 212 w 212"/>
              <a:gd name="T11" fmla="*/ 60 h 181"/>
              <a:gd name="T12" fmla="*/ 151 w 212"/>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12" h="181">
                <a:moveTo>
                  <a:pt x="151" y="0"/>
                </a:moveTo>
                <a:cubicBezTo>
                  <a:pt x="133" y="0"/>
                  <a:pt x="117" y="8"/>
                  <a:pt x="106" y="20"/>
                </a:cubicBezTo>
                <a:cubicBezTo>
                  <a:pt x="95" y="8"/>
                  <a:pt x="79" y="0"/>
                  <a:pt x="61" y="0"/>
                </a:cubicBezTo>
                <a:cubicBezTo>
                  <a:pt x="27" y="0"/>
                  <a:pt x="0" y="27"/>
                  <a:pt x="0" y="60"/>
                </a:cubicBezTo>
                <a:cubicBezTo>
                  <a:pt x="0" y="94"/>
                  <a:pt x="24" y="154"/>
                  <a:pt x="106" y="181"/>
                </a:cubicBezTo>
                <a:cubicBezTo>
                  <a:pt x="188" y="154"/>
                  <a:pt x="212" y="94"/>
                  <a:pt x="212" y="60"/>
                </a:cubicBezTo>
                <a:cubicBezTo>
                  <a:pt x="212" y="27"/>
                  <a:pt x="185" y="0"/>
                  <a:pt x="15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34" name="Group 233"/>
          <p:cNvGrpSpPr/>
          <p:nvPr userDrawn="1"/>
        </p:nvGrpSpPr>
        <p:grpSpPr>
          <a:xfrm>
            <a:off x="7641796" y="3200533"/>
            <a:ext cx="302516" cy="302516"/>
            <a:chOff x="2620963" y="3700463"/>
            <a:chExt cx="500063" cy="500063"/>
          </a:xfrm>
          <a:solidFill>
            <a:schemeClr val="tx1"/>
          </a:solidFill>
        </p:grpSpPr>
        <p:sp>
          <p:nvSpPr>
            <p:cNvPr id="235" name="Freeform 49"/>
            <p:cNvSpPr>
              <a:spLocks noEditPoints="1"/>
            </p:cNvSpPr>
            <p:nvPr/>
          </p:nvSpPr>
          <p:spPr bwMode="auto">
            <a:xfrm>
              <a:off x="2620963" y="3700463"/>
              <a:ext cx="500063" cy="500063"/>
            </a:xfrm>
            <a:custGeom>
              <a:avLst/>
              <a:gdLst>
                <a:gd name="T0" fmla="*/ 24 w 220"/>
                <a:gd name="T1" fmla="*/ 24 h 220"/>
                <a:gd name="T2" fmla="*/ 15 w 220"/>
                <a:gd name="T3" fmla="*/ 86 h 220"/>
                <a:gd name="T4" fmla="*/ 134 w 220"/>
                <a:gd name="T5" fmla="*/ 205 h 220"/>
                <a:gd name="T6" fmla="*/ 196 w 220"/>
                <a:gd name="T7" fmla="*/ 196 h 220"/>
                <a:gd name="T8" fmla="*/ 206 w 220"/>
                <a:gd name="T9" fmla="*/ 133 h 220"/>
                <a:gd name="T10" fmla="*/ 86 w 220"/>
                <a:gd name="T11" fmla="*/ 14 h 220"/>
                <a:gd name="T12" fmla="*/ 24 w 220"/>
                <a:gd name="T13" fmla="*/ 24 h 220"/>
                <a:gd name="T14" fmla="*/ 119 w 220"/>
                <a:gd name="T15" fmla="*/ 150 h 220"/>
                <a:gd name="T16" fmla="*/ 101 w 220"/>
                <a:gd name="T17" fmla="*/ 150 h 220"/>
                <a:gd name="T18" fmla="*/ 101 w 220"/>
                <a:gd name="T19" fmla="*/ 132 h 220"/>
                <a:gd name="T20" fmla="*/ 119 w 220"/>
                <a:gd name="T21" fmla="*/ 132 h 220"/>
                <a:gd name="T22" fmla="*/ 119 w 220"/>
                <a:gd name="T23" fmla="*/ 150 h 220"/>
                <a:gd name="T24" fmla="*/ 87 w 220"/>
                <a:gd name="T25" fmla="*/ 118 h 220"/>
                <a:gd name="T26" fmla="*/ 70 w 220"/>
                <a:gd name="T27" fmla="*/ 118 h 220"/>
                <a:gd name="T28" fmla="*/ 70 w 220"/>
                <a:gd name="T29" fmla="*/ 101 h 220"/>
                <a:gd name="T30" fmla="*/ 87 w 220"/>
                <a:gd name="T31" fmla="*/ 101 h 220"/>
                <a:gd name="T32" fmla="*/ 87 w 220"/>
                <a:gd name="T33" fmla="*/ 118 h 220"/>
                <a:gd name="T34" fmla="*/ 150 w 220"/>
                <a:gd name="T35" fmla="*/ 118 h 220"/>
                <a:gd name="T36" fmla="*/ 133 w 220"/>
                <a:gd name="T37" fmla="*/ 118 h 220"/>
                <a:gd name="T38" fmla="*/ 133 w 220"/>
                <a:gd name="T39" fmla="*/ 101 h 220"/>
                <a:gd name="T40" fmla="*/ 150 w 220"/>
                <a:gd name="T41" fmla="*/ 101 h 220"/>
                <a:gd name="T42" fmla="*/ 150 w 220"/>
                <a:gd name="T43" fmla="*/ 118 h 220"/>
                <a:gd name="T44" fmla="*/ 119 w 220"/>
                <a:gd name="T45" fmla="*/ 87 h 220"/>
                <a:gd name="T46" fmla="*/ 101 w 220"/>
                <a:gd name="T47" fmla="*/ 87 h 220"/>
                <a:gd name="T48" fmla="*/ 101 w 220"/>
                <a:gd name="T49" fmla="*/ 69 h 220"/>
                <a:gd name="T50" fmla="*/ 119 w 220"/>
                <a:gd name="T51" fmla="*/ 69 h 220"/>
                <a:gd name="T52" fmla="*/ 119 w 220"/>
                <a:gd name="T53" fmla="*/ 8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0" h="220">
                  <a:moveTo>
                    <a:pt x="24" y="24"/>
                  </a:moveTo>
                  <a:cubicBezTo>
                    <a:pt x="4" y="43"/>
                    <a:pt x="0" y="71"/>
                    <a:pt x="15" y="86"/>
                  </a:cubicBezTo>
                  <a:cubicBezTo>
                    <a:pt x="15" y="86"/>
                    <a:pt x="119" y="191"/>
                    <a:pt x="134" y="205"/>
                  </a:cubicBezTo>
                  <a:cubicBezTo>
                    <a:pt x="149" y="220"/>
                    <a:pt x="176" y="215"/>
                    <a:pt x="196" y="196"/>
                  </a:cubicBezTo>
                  <a:cubicBezTo>
                    <a:pt x="216" y="176"/>
                    <a:pt x="220" y="148"/>
                    <a:pt x="206" y="133"/>
                  </a:cubicBezTo>
                  <a:cubicBezTo>
                    <a:pt x="206" y="133"/>
                    <a:pt x="101" y="29"/>
                    <a:pt x="86" y="14"/>
                  </a:cubicBezTo>
                  <a:cubicBezTo>
                    <a:pt x="72" y="0"/>
                    <a:pt x="44" y="4"/>
                    <a:pt x="24" y="24"/>
                  </a:cubicBezTo>
                  <a:close/>
                  <a:moveTo>
                    <a:pt x="119" y="150"/>
                  </a:moveTo>
                  <a:cubicBezTo>
                    <a:pt x="114" y="155"/>
                    <a:pt x="106" y="155"/>
                    <a:pt x="101" y="150"/>
                  </a:cubicBezTo>
                  <a:cubicBezTo>
                    <a:pt x="96" y="145"/>
                    <a:pt x="96" y="137"/>
                    <a:pt x="101" y="132"/>
                  </a:cubicBezTo>
                  <a:cubicBezTo>
                    <a:pt x="106" y="128"/>
                    <a:pt x="114" y="128"/>
                    <a:pt x="119" y="132"/>
                  </a:cubicBezTo>
                  <a:cubicBezTo>
                    <a:pt x="124" y="137"/>
                    <a:pt x="124" y="145"/>
                    <a:pt x="119" y="150"/>
                  </a:cubicBezTo>
                  <a:close/>
                  <a:moveTo>
                    <a:pt x="87" y="118"/>
                  </a:moveTo>
                  <a:cubicBezTo>
                    <a:pt x="82" y="123"/>
                    <a:pt x="75" y="123"/>
                    <a:pt x="70" y="118"/>
                  </a:cubicBezTo>
                  <a:cubicBezTo>
                    <a:pt x="65" y="113"/>
                    <a:pt x="65" y="106"/>
                    <a:pt x="70" y="101"/>
                  </a:cubicBezTo>
                  <a:cubicBezTo>
                    <a:pt x="75" y="96"/>
                    <a:pt x="82" y="96"/>
                    <a:pt x="87" y="101"/>
                  </a:cubicBezTo>
                  <a:cubicBezTo>
                    <a:pt x="92" y="106"/>
                    <a:pt x="92" y="113"/>
                    <a:pt x="87" y="118"/>
                  </a:cubicBezTo>
                  <a:close/>
                  <a:moveTo>
                    <a:pt x="150" y="118"/>
                  </a:moveTo>
                  <a:cubicBezTo>
                    <a:pt x="146" y="123"/>
                    <a:pt x="138" y="123"/>
                    <a:pt x="133" y="118"/>
                  </a:cubicBezTo>
                  <a:cubicBezTo>
                    <a:pt x="128" y="113"/>
                    <a:pt x="128" y="106"/>
                    <a:pt x="133" y="101"/>
                  </a:cubicBezTo>
                  <a:cubicBezTo>
                    <a:pt x="138" y="96"/>
                    <a:pt x="146" y="96"/>
                    <a:pt x="150" y="101"/>
                  </a:cubicBezTo>
                  <a:cubicBezTo>
                    <a:pt x="155" y="106"/>
                    <a:pt x="155" y="113"/>
                    <a:pt x="150" y="118"/>
                  </a:cubicBezTo>
                  <a:close/>
                  <a:moveTo>
                    <a:pt x="119" y="87"/>
                  </a:moveTo>
                  <a:cubicBezTo>
                    <a:pt x="114" y="92"/>
                    <a:pt x="106" y="92"/>
                    <a:pt x="101" y="87"/>
                  </a:cubicBezTo>
                  <a:cubicBezTo>
                    <a:pt x="96" y="82"/>
                    <a:pt x="96" y="74"/>
                    <a:pt x="101" y="69"/>
                  </a:cubicBezTo>
                  <a:cubicBezTo>
                    <a:pt x="106" y="64"/>
                    <a:pt x="114" y="64"/>
                    <a:pt x="119" y="69"/>
                  </a:cubicBezTo>
                  <a:cubicBezTo>
                    <a:pt x="124" y="74"/>
                    <a:pt x="124" y="82"/>
                    <a:pt x="119" y="8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50"/>
            <p:cNvSpPr>
              <a:spLocks/>
            </p:cNvSpPr>
            <p:nvPr/>
          </p:nvSpPr>
          <p:spPr bwMode="auto">
            <a:xfrm>
              <a:off x="2886075" y="3700463"/>
              <a:ext cx="234950" cy="231775"/>
            </a:xfrm>
            <a:custGeom>
              <a:avLst/>
              <a:gdLst>
                <a:gd name="T0" fmla="*/ 17 w 103"/>
                <a:gd name="T1" fmla="*/ 14 h 102"/>
                <a:gd name="T2" fmla="*/ 0 w 103"/>
                <a:gd name="T3" fmla="*/ 31 h 102"/>
                <a:gd name="T4" fmla="*/ 7 w 103"/>
                <a:gd name="T5" fmla="*/ 38 h 102"/>
                <a:gd name="T6" fmla="*/ 24 w 103"/>
                <a:gd name="T7" fmla="*/ 21 h 102"/>
                <a:gd name="T8" fmla="*/ 72 w 103"/>
                <a:gd name="T9" fmla="*/ 31 h 102"/>
                <a:gd name="T10" fmla="*/ 81 w 103"/>
                <a:gd name="T11" fmla="*/ 79 h 102"/>
                <a:gd name="T12" fmla="*/ 65 w 103"/>
                <a:gd name="T13" fmla="*/ 95 h 102"/>
                <a:gd name="T14" fmla="*/ 72 w 103"/>
                <a:gd name="T15" fmla="*/ 102 h 102"/>
                <a:gd name="T16" fmla="*/ 89 w 103"/>
                <a:gd name="T17" fmla="*/ 86 h 102"/>
                <a:gd name="T18" fmla="*/ 79 w 103"/>
                <a:gd name="T19" fmla="*/ 24 h 102"/>
                <a:gd name="T20" fmla="*/ 17 w 103"/>
                <a:gd name="T21" fmla="*/ 1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102">
                  <a:moveTo>
                    <a:pt x="17" y="14"/>
                  </a:moveTo>
                  <a:cubicBezTo>
                    <a:pt x="17" y="14"/>
                    <a:pt x="10" y="21"/>
                    <a:pt x="0" y="31"/>
                  </a:cubicBezTo>
                  <a:cubicBezTo>
                    <a:pt x="7" y="38"/>
                    <a:pt x="7" y="38"/>
                    <a:pt x="7" y="38"/>
                  </a:cubicBezTo>
                  <a:cubicBezTo>
                    <a:pt x="24" y="21"/>
                    <a:pt x="24" y="21"/>
                    <a:pt x="24" y="21"/>
                  </a:cubicBezTo>
                  <a:cubicBezTo>
                    <a:pt x="35" y="11"/>
                    <a:pt x="56" y="15"/>
                    <a:pt x="72" y="31"/>
                  </a:cubicBezTo>
                  <a:cubicBezTo>
                    <a:pt x="88" y="46"/>
                    <a:pt x="92" y="68"/>
                    <a:pt x="81" y="79"/>
                  </a:cubicBezTo>
                  <a:cubicBezTo>
                    <a:pt x="65" y="95"/>
                    <a:pt x="65" y="95"/>
                    <a:pt x="65" y="95"/>
                  </a:cubicBezTo>
                  <a:cubicBezTo>
                    <a:pt x="72" y="102"/>
                    <a:pt x="72" y="102"/>
                    <a:pt x="72" y="102"/>
                  </a:cubicBezTo>
                  <a:cubicBezTo>
                    <a:pt x="80" y="94"/>
                    <a:pt x="86" y="88"/>
                    <a:pt x="89" y="86"/>
                  </a:cubicBezTo>
                  <a:cubicBezTo>
                    <a:pt x="103" y="71"/>
                    <a:pt x="99" y="43"/>
                    <a:pt x="79" y="24"/>
                  </a:cubicBezTo>
                  <a:cubicBezTo>
                    <a:pt x="59" y="4"/>
                    <a:pt x="32" y="0"/>
                    <a:pt x="1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51"/>
            <p:cNvSpPr>
              <a:spLocks/>
            </p:cNvSpPr>
            <p:nvPr/>
          </p:nvSpPr>
          <p:spPr bwMode="auto">
            <a:xfrm>
              <a:off x="2620963" y="3967163"/>
              <a:ext cx="233363" cy="233363"/>
            </a:xfrm>
            <a:custGeom>
              <a:avLst/>
              <a:gdLst>
                <a:gd name="T0" fmla="*/ 96 w 103"/>
                <a:gd name="T1" fmla="*/ 64 h 103"/>
                <a:gd name="T2" fmla="*/ 79 w 103"/>
                <a:gd name="T3" fmla="*/ 81 h 103"/>
                <a:gd name="T4" fmla="*/ 31 w 103"/>
                <a:gd name="T5" fmla="*/ 71 h 103"/>
                <a:gd name="T6" fmla="*/ 22 w 103"/>
                <a:gd name="T7" fmla="*/ 24 h 103"/>
                <a:gd name="T8" fmla="*/ 38 w 103"/>
                <a:gd name="T9" fmla="*/ 7 h 103"/>
                <a:gd name="T10" fmla="*/ 31 w 103"/>
                <a:gd name="T11" fmla="*/ 0 h 103"/>
                <a:gd name="T12" fmla="*/ 15 w 103"/>
                <a:gd name="T13" fmla="*/ 16 h 103"/>
                <a:gd name="T14" fmla="*/ 24 w 103"/>
                <a:gd name="T15" fmla="*/ 79 h 103"/>
                <a:gd name="T16" fmla="*/ 86 w 103"/>
                <a:gd name="T17" fmla="*/ 88 h 103"/>
                <a:gd name="T18" fmla="*/ 103 w 103"/>
                <a:gd name="T19" fmla="*/ 71 h 103"/>
                <a:gd name="T20" fmla="*/ 96 w 103"/>
                <a:gd name="T21" fmla="*/ 64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103">
                  <a:moveTo>
                    <a:pt x="96" y="64"/>
                  </a:moveTo>
                  <a:cubicBezTo>
                    <a:pt x="79" y="81"/>
                    <a:pt x="79" y="81"/>
                    <a:pt x="79" y="81"/>
                  </a:cubicBezTo>
                  <a:cubicBezTo>
                    <a:pt x="69" y="91"/>
                    <a:pt x="47" y="87"/>
                    <a:pt x="31" y="71"/>
                  </a:cubicBezTo>
                  <a:cubicBezTo>
                    <a:pt x="16" y="56"/>
                    <a:pt x="11" y="34"/>
                    <a:pt x="22" y="24"/>
                  </a:cubicBezTo>
                  <a:cubicBezTo>
                    <a:pt x="38" y="7"/>
                    <a:pt x="38" y="7"/>
                    <a:pt x="38" y="7"/>
                  </a:cubicBezTo>
                  <a:cubicBezTo>
                    <a:pt x="31" y="0"/>
                    <a:pt x="31" y="0"/>
                    <a:pt x="31" y="0"/>
                  </a:cubicBezTo>
                  <a:cubicBezTo>
                    <a:pt x="23" y="8"/>
                    <a:pt x="17" y="14"/>
                    <a:pt x="15" y="16"/>
                  </a:cubicBezTo>
                  <a:cubicBezTo>
                    <a:pt x="0" y="31"/>
                    <a:pt x="4" y="59"/>
                    <a:pt x="24" y="79"/>
                  </a:cubicBezTo>
                  <a:cubicBezTo>
                    <a:pt x="44" y="98"/>
                    <a:pt x="72" y="103"/>
                    <a:pt x="86" y="88"/>
                  </a:cubicBezTo>
                  <a:cubicBezTo>
                    <a:pt x="86" y="88"/>
                    <a:pt x="93" y="81"/>
                    <a:pt x="103" y="71"/>
                  </a:cubicBezTo>
                  <a:lnTo>
                    <a:pt x="96" y="6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58" name="Freeform 81"/>
          <p:cNvSpPr>
            <a:spLocks noEditPoints="1"/>
          </p:cNvSpPr>
          <p:nvPr userDrawn="1"/>
        </p:nvSpPr>
        <p:spPr bwMode="auto">
          <a:xfrm>
            <a:off x="7648999" y="3755248"/>
            <a:ext cx="288110" cy="347652"/>
          </a:xfrm>
          <a:custGeom>
            <a:avLst/>
            <a:gdLst>
              <a:gd name="T0" fmla="*/ 208 w 210"/>
              <a:gd name="T1" fmla="*/ 86 h 253"/>
              <a:gd name="T2" fmla="*/ 196 w 210"/>
              <a:gd name="T3" fmla="*/ 65 h 253"/>
              <a:gd name="T4" fmla="*/ 153 w 210"/>
              <a:gd name="T5" fmla="*/ 43 h 253"/>
              <a:gd name="T6" fmla="*/ 118 w 210"/>
              <a:gd name="T7" fmla="*/ 10 h 253"/>
              <a:gd name="T8" fmla="*/ 94 w 210"/>
              <a:gd name="T9" fmla="*/ 6 h 253"/>
              <a:gd name="T10" fmla="*/ 90 w 210"/>
              <a:gd name="T11" fmla="*/ 29 h 253"/>
              <a:gd name="T12" fmla="*/ 97 w 210"/>
              <a:gd name="T13" fmla="*/ 38 h 253"/>
              <a:gd name="T14" fmla="*/ 66 w 210"/>
              <a:gd name="T15" fmla="*/ 81 h 253"/>
              <a:gd name="T16" fmla="*/ 49 w 210"/>
              <a:gd name="T17" fmla="*/ 133 h 253"/>
              <a:gd name="T18" fmla="*/ 48 w 210"/>
              <a:gd name="T19" fmla="*/ 175 h 253"/>
              <a:gd name="T20" fmla="*/ 18 w 210"/>
              <a:gd name="T21" fmla="*/ 218 h 253"/>
              <a:gd name="T22" fmla="*/ 16 w 210"/>
              <a:gd name="T23" fmla="*/ 216 h 253"/>
              <a:gd name="T24" fmla="*/ 13 w 210"/>
              <a:gd name="T25" fmla="*/ 217 h 253"/>
              <a:gd name="T26" fmla="*/ 0 w 210"/>
              <a:gd name="T27" fmla="*/ 235 h 253"/>
              <a:gd name="T28" fmla="*/ 1 w 210"/>
              <a:gd name="T29" fmla="*/ 238 h 253"/>
              <a:gd name="T30" fmla="*/ 22 w 210"/>
              <a:gd name="T31" fmla="*/ 252 h 253"/>
              <a:gd name="T32" fmla="*/ 25 w 210"/>
              <a:gd name="T33" fmla="*/ 252 h 253"/>
              <a:gd name="T34" fmla="*/ 37 w 210"/>
              <a:gd name="T35" fmla="*/ 234 h 253"/>
              <a:gd name="T36" fmla="*/ 37 w 210"/>
              <a:gd name="T37" fmla="*/ 231 h 253"/>
              <a:gd name="T38" fmla="*/ 34 w 210"/>
              <a:gd name="T39" fmla="*/ 229 h 253"/>
              <a:gd name="T40" fmla="*/ 64 w 210"/>
              <a:gd name="T41" fmla="*/ 186 h 253"/>
              <a:gd name="T42" fmla="*/ 104 w 210"/>
              <a:gd name="T43" fmla="*/ 171 h 253"/>
              <a:gd name="T44" fmla="*/ 146 w 210"/>
              <a:gd name="T45" fmla="*/ 138 h 253"/>
              <a:gd name="T46" fmla="*/ 177 w 210"/>
              <a:gd name="T47" fmla="*/ 94 h 253"/>
              <a:gd name="T48" fmla="*/ 187 w 210"/>
              <a:gd name="T49" fmla="*/ 97 h 253"/>
              <a:gd name="T50" fmla="*/ 208 w 210"/>
              <a:gd name="T51" fmla="*/ 86 h 253"/>
              <a:gd name="T52" fmla="*/ 97 w 210"/>
              <a:gd name="T53" fmla="*/ 153 h 253"/>
              <a:gd name="T54" fmla="*/ 68 w 210"/>
              <a:gd name="T55" fmla="*/ 164 h 253"/>
              <a:gd name="T56" fmla="*/ 69 w 210"/>
              <a:gd name="T57" fmla="*/ 134 h 253"/>
              <a:gd name="T58" fmla="*/ 77 w 210"/>
              <a:gd name="T59" fmla="*/ 100 h 253"/>
              <a:gd name="T60" fmla="*/ 125 w 210"/>
              <a:gd name="T61" fmla="*/ 134 h 253"/>
              <a:gd name="T62" fmla="*/ 97 w 210"/>
              <a:gd name="T63" fmla="*/ 153 h 253"/>
              <a:gd name="T64" fmla="*/ 136 w 210"/>
              <a:gd name="T65" fmla="*/ 118 h 253"/>
              <a:gd name="T66" fmla="*/ 88 w 210"/>
              <a:gd name="T67" fmla="*/ 84 h 253"/>
              <a:gd name="T68" fmla="*/ 111 w 210"/>
              <a:gd name="T69" fmla="*/ 52 h 253"/>
              <a:gd name="T70" fmla="*/ 134 w 210"/>
              <a:gd name="T71" fmla="*/ 70 h 253"/>
              <a:gd name="T72" fmla="*/ 159 w 210"/>
              <a:gd name="T73" fmla="*/ 86 h 253"/>
              <a:gd name="T74" fmla="*/ 136 w 210"/>
              <a:gd name="T75" fmla="*/ 118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0" h="253">
                <a:moveTo>
                  <a:pt x="208" y="86"/>
                </a:moveTo>
                <a:cubicBezTo>
                  <a:pt x="210" y="77"/>
                  <a:pt x="205" y="67"/>
                  <a:pt x="196" y="65"/>
                </a:cubicBezTo>
                <a:cubicBezTo>
                  <a:pt x="196" y="65"/>
                  <a:pt x="176" y="59"/>
                  <a:pt x="153" y="43"/>
                </a:cubicBezTo>
                <a:cubicBezTo>
                  <a:pt x="130" y="27"/>
                  <a:pt x="118" y="10"/>
                  <a:pt x="118" y="10"/>
                </a:cubicBezTo>
                <a:cubicBezTo>
                  <a:pt x="112" y="2"/>
                  <a:pt x="102" y="0"/>
                  <a:pt x="94" y="6"/>
                </a:cubicBezTo>
                <a:cubicBezTo>
                  <a:pt x="86" y="11"/>
                  <a:pt x="85" y="22"/>
                  <a:pt x="90" y="29"/>
                </a:cubicBezTo>
                <a:cubicBezTo>
                  <a:pt x="90" y="30"/>
                  <a:pt x="93" y="33"/>
                  <a:pt x="97" y="38"/>
                </a:cubicBezTo>
                <a:cubicBezTo>
                  <a:pt x="66" y="81"/>
                  <a:pt x="66" y="81"/>
                  <a:pt x="66" y="81"/>
                </a:cubicBezTo>
                <a:cubicBezTo>
                  <a:pt x="59" y="92"/>
                  <a:pt x="50" y="108"/>
                  <a:pt x="49" y="133"/>
                </a:cubicBezTo>
                <a:cubicBezTo>
                  <a:pt x="48" y="175"/>
                  <a:pt x="48" y="175"/>
                  <a:pt x="48" y="175"/>
                </a:cubicBezTo>
                <a:cubicBezTo>
                  <a:pt x="18" y="218"/>
                  <a:pt x="18" y="218"/>
                  <a:pt x="18" y="218"/>
                </a:cubicBezTo>
                <a:cubicBezTo>
                  <a:pt x="16" y="216"/>
                  <a:pt x="16" y="216"/>
                  <a:pt x="16" y="216"/>
                </a:cubicBezTo>
                <a:cubicBezTo>
                  <a:pt x="15" y="216"/>
                  <a:pt x="13" y="216"/>
                  <a:pt x="13" y="217"/>
                </a:cubicBezTo>
                <a:cubicBezTo>
                  <a:pt x="0" y="235"/>
                  <a:pt x="0" y="235"/>
                  <a:pt x="0" y="235"/>
                </a:cubicBezTo>
                <a:cubicBezTo>
                  <a:pt x="0" y="236"/>
                  <a:pt x="0" y="237"/>
                  <a:pt x="1" y="238"/>
                </a:cubicBezTo>
                <a:cubicBezTo>
                  <a:pt x="22" y="252"/>
                  <a:pt x="22" y="252"/>
                  <a:pt x="22" y="252"/>
                </a:cubicBezTo>
                <a:cubicBezTo>
                  <a:pt x="23" y="253"/>
                  <a:pt x="24" y="253"/>
                  <a:pt x="25" y="252"/>
                </a:cubicBezTo>
                <a:cubicBezTo>
                  <a:pt x="37" y="234"/>
                  <a:pt x="37" y="234"/>
                  <a:pt x="37" y="234"/>
                </a:cubicBezTo>
                <a:cubicBezTo>
                  <a:pt x="38" y="233"/>
                  <a:pt x="38" y="232"/>
                  <a:pt x="37" y="231"/>
                </a:cubicBezTo>
                <a:cubicBezTo>
                  <a:pt x="34" y="229"/>
                  <a:pt x="34" y="229"/>
                  <a:pt x="34" y="229"/>
                </a:cubicBezTo>
                <a:cubicBezTo>
                  <a:pt x="64" y="186"/>
                  <a:pt x="64" y="186"/>
                  <a:pt x="64" y="186"/>
                </a:cubicBezTo>
                <a:cubicBezTo>
                  <a:pt x="104" y="171"/>
                  <a:pt x="104" y="171"/>
                  <a:pt x="104" y="171"/>
                </a:cubicBezTo>
                <a:cubicBezTo>
                  <a:pt x="127" y="162"/>
                  <a:pt x="139" y="149"/>
                  <a:pt x="146" y="138"/>
                </a:cubicBezTo>
                <a:cubicBezTo>
                  <a:pt x="177" y="94"/>
                  <a:pt x="177" y="94"/>
                  <a:pt x="177" y="94"/>
                </a:cubicBezTo>
                <a:cubicBezTo>
                  <a:pt x="183" y="96"/>
                  <a:pt x="187" y="97"/>
                  <a:pt x="187" y="97"/>
                </a:cubicBezTo>
                <a:cubicBezTo>
                  <a:pt x="196" y="100"/>
                  <a:pt x="205" y="95"/>
                  <a:pt x="208" y="86"/>
                </a:cubicBezTo>
                <a:close/>
                <a:moveTo>
                  <a:pt x="97" y="153"/>
                </a:moveTo>
                <a:cubicBezTo>
                  <a:pt x="68" y="164"/>
                  <a:pt x="68" y="164"/>
                  <a:pt x="68" y="164"/>
                </a:cubicBezTo>
                <a:cubicBezTo>
                  <a:pt x="69" y="134"/>
                  <a:pt x="69" y="134"/>
                  <a:pt x="69" y="134"/>
                </a:cubicBezTo>
                <a:cubicBezTo>
                  <a:pt x="69" y="119"/>
                  <a:pt x="72" y="109"/>
                  <a:pt x="77" y="100"/>
                </a:cubicBezTo>
                <a:cubicBezTo>
                  <a:pt x="125" y="134"/>
                  <a:pt x="125" y="134"/>
                  <a:pt x="125" y="134"/>
                </a:cubicBezTo>
                <a:cubicBezTo>
                  <a:pt x="119" y="141"/>
                  <a:pt x="110" y="148"/>
                  <a:pt x="97" y="153"/>
                </a:cubicBezTo>
                <a:close/>
                <a:moveTo>
                  <a:pt x="136" y="118"/>
                </a:moveTo>
                <a:cubicBezTo>
                  <a:pt x="88" y="84"/>
                  <a:pt x="88" y="84"/>
                  <a:pt x="88" y="84"/>
                </a:cubicBezTo>
                <a:cubicBezTo>
                  <a:pt x="111" y="52"/>
                  <a:pt x="111" y="52"/>
                  <a:pt x="111" y="52"/>
                </a:cubicBezTo>
                <a:cubicBezTo>
                  <a:pt x="117" y="57"/>
                  <a:pt x="125" y="64"/>
                  <a:pt x="134" y="70"/>
                </a:cubicBezTo>
                <a:cubicBezTo>
                  <a:pt x="143" y="77"/>
                  <a:pt x="152" y="82"/>
                  <a:pt x="159" y="86"/>
                </a:cubicBezTo>
                <a:lnTo>
                  <a:pt x="136" y="11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66" name="Group 265"/>
          <p:cNvGrpSpPr/>
          <p:nvPr userDrawn="1"/>
        </p:nvGrpSpPr>
        <p:grpSpPr>
          <a:xfrm>
            <a:off x="7661963" y="2618223"/>
            <a:ext cx="262182" cy="315000"/>
            <a:chOff x="7126288" y="4543425"/>
            <a:chExt cx="433388" cy="520700"/>
          </a:xfrm>
          <a:solidFill>
            <a:schemeClr val="tx1"/>
          </a:solidFill>
        </p:grpSpPr>
        <p:sp>
          <p:nvSpPr>
            <p:cNvPr id="267" name="Freeform 88"/>
            <p:cNvSpPr>
              <a:spLocks noEditPoints="1"/>
            </p:cNvSpPr>
            <p:nvPr/>
          </p:nvSpPr>
          <p:spPr bwMode="auto">
            <a:xfrm>
              <a:off x="7126288" y="4721225"/>
              <a:ext cx="433388" cy="342900"/>
            </a:xfrm>
            <a:custGeom>
              <a:avLst/>
              <a:gdLst>
                <a:gd name="T0" fmla="*/ 0 w 191"/>
                <a:gd name="T1" fmla="*/ 0 h 151"/>
                <a:gd name="T2" fmla="*/ 0 w 191"/>
                <a:gd name="T3" fmla="*/ 126 h 151"/>
                <a:gd name="T4" fmla="*/ 26 w 191"/>
                <a:gd name="T5" fmla="*/ 151 h 151"/>
                <a:gd name="T6" fmla="*/ 165 w 191"/>
                <a:gd name="T7" fmla="*/ 151 h 151"/>
                <a:gd name="T8" fmla="*/ 191 w 191"/>
                <a:gd name="T9" fmla="*/ 126 h 151"/>
                <a:gd name="T10" fmla="*/ 191 w 191"/>
                <a:gd name="T11" fmla="*/ 0 h 151"/>
                <a:gd name="T12" fmla="*/ 0 w 191"/>
                <a:gd name="T13" fmla="*/ 0 h 151"/>
                <a:gd name="T14" fmla="*/ 95 w 191"/>
                <a:gd name="T15" fmla="*/ 125 h 151"/>
                <a:gd name="T16" fmla="*/ 46 w 191"/>
                <a:gd name="T17" fmla="*/ 76 h 151"/>
                <a:gd name="T18" fmla="*/ 95 w 191"/>
                <a:gd name="T19" fmla="*/ 26 h 151"/>
                <a:gd name="T20" fmla="*/ 145 w 191"/>
                <a:gd name="T21" fmla="*/ 76 h 151"/>
                <a:gd name="T22" fmla="*/ 95 w 191"/>
                <a:gd name="T23"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151">
                  <a:moveTo>
                    <a:pt x="0" y="0"/>
                  </a:moveTo>
                  <a:cubicBezTo>
                    <a:pt x="0" y="126"/>
                    <a:pt x="0" y="126"/>
                    <a:pt x="0" y="126"/>
                  </a:cubicBezTo>
                  <a:cubicBezTo>
                    <a:pt x="0" y="140"/>
                    <a:pt x="12" y="151"/>
                    <a:pt x="26" y="151"/>
                  </a:cubicBezTo>
                  <a:cubicBezTo>
                    <a:pt x="165" y="151"/>
                    <a:pt x="165" y="151"/>
                    <a:pt x="165" y="151"/>
                  </a:cubicBezTo>
                  <a:cubicBezTo>
                    <a:pt x="179" y="151"/>
                    <a:pt x="191" y="140"/>
                    <a:pt x="191" y="126"/>
                  </a:cubicBezTo>
                  <a:cubicBezTo>
                    <a:pt x="191" y="0"/>
                    <a:pt x="191" y="0"/>
                    <a:pt x="191" y="0"/>
                  </a:cubicBezTo>
                  <a:lnTo>
                    <a:pt x="0" y="0"/>
                  </a:lnTo>
                  <a:close/>
                  <a:moveTo>
                    <a:pt x="95" y="125"/>
                  </a:moveTo>
                  <a:cubicBezTo>
                    <a:pt x="68" y="125"/>
                    <a:pt x="46" y="103"/>
                    <a:pt x="46" y="76"/>
                  </a:cubicBezTo>
                  <a:cubicBezTo>
                    <a:pt x="46" y="49"/>
                    <a:pt x="68" y="26"/>
                    <a:pt x="95" y="26"/>
                  </a:cubicBezTo>
                  <a:cubicBezTo>
                    <a:pt x="123" y="26"/>
                    <a:pt x="145" y="49"/>
                    <a:pt x="145" y="76"/>
                  </a:cubicBezTo>
                  <a:cubicBezTo>
                    <a:pt x="145" y="103"/>
                    <a:pt x="123" y="125"/>
                    <a:pt x="95" y="12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8" name="Freeform 89"/>
            <p:cNvSpPr>
              <a:spLocks/>
            </p:cNvSpPr>
            <p:nvPr/>
          </p:nvSpPr>
          <p:spPr bwMode="auto">
            <a:xfrm>
              <a:off x="7264400" y="4814888"/>
              <a:ext cx="157163" cy="158750"/>
            </a:xfrm>
            <a:custGeom>
              <a:avLst/>
              <a:gdLst>
                <a:gd name="T0" fmla="*/ 99 w 99"/>
                <a:gd name="T1" fmla="*/ 34 h 100"/>
                <a:gd name="T2" fmla="*/ 65 w 99"/>
                <a:gd name="T3" fmla="*/ 34 h 100"/>
                <a:gd name="T4" fmla="*/ 65 w 99"/>
                <a:gd name="T5" fmla="*/ 0 h 100"/>
                <a:gd name="T6" fmla="*/ 33 w 99"/>
                <a:gd name="T7" fmla="*/ 0 h 100"/>
                <a:gd name="T8" fmla="*/ 33 w 99"/>
                <a:gd name="T9" fmla="*/ 34 h 100"/>
                <a:gd name="T10" fmla="*/ 0 w 99"/>
                <a:gd name="T11" fmla="*/ 34 h 100"/>
                <a:gd name="T12" fmla="*/ 0 w 99"/>
                <a:gd name="T13" fmla="*/ 65 h 100"/>
                <a:gd name="T14" fmla="*/ 33 w 99"/>
                <a:gd name="T15" fmla="*/ 65 h 100"/>
                <a:gd name="T16" fmla="*/ 33 w 99"/>
                <a:gd name="T17" fmla="*/ 100 h 100"/>
                <a:gd name="T18" fmla="*/ 65 w 99"/>
                <a:gd name="T19" fmla="*/ 100 h 100"/>
                <a:gd name="T20" fmla="*/ 65 w 99"/>
                <a:gd name="T21" fmla="*/ 65 h 100"/>
                <a:gd name="T22" fmla="*/ 99 w 99"/>
                <a:gd name="T23" fmla="*/ 65 h 100"/>
                <a:gd name="T24" fmla="*/ 99 w 99"/>
                <a:gd name="T25" fmla="*/ 3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00">
                  <a:moveTo>
                    <a:pt x="99" y="34"/>
                  </a:moveTo>
                  <a:lnTo>
                    <a:pt x="65" y="34"/>
                  </a:lnTo>
                  <a:lnTo>
                    <a:pt x="65" y="0"/>
                  </a:lnTo>
                  <a:lnTo>
                    <a:pt x="33" y="0"/>
                  </a:lnTo>
                  <a:lnTo>
                    <a:pt x="33" y="34"/>
                  </a:lnTo>
                  <a:lnTo>
                    <a:pt x="0" y="34"/>
                  </a:lnTo>
                  <a:lnTo>
                    <a:pt x="0" y="65"/>
                  </a:lnTo>
                  <a:lnTo>
                    <a:pt x="33" y="65"/>
                  </a:lnTo>
                  <a:lnTo>
                    <a:pt x="33" y="100"/>
                  </a:lnTo>
                  <a:lnTo>
                    <a:pt x="65" y="100"/>
                  </a:lnTo>
                  <a:lnTo>
                    <a:pt x="65" y="65"/>
                  </a:lnTo>
                  <a:lnTo>
                    <a:pt x="99" y="65"/>
                  </a:lnTo>
                  <a:lnTo>
                    <a:pt x="99" y="3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9" name="Freeform 90"/>
            <p:cNvSpPr>
              <a:spLocks noEditPoints="1"/>
            </p:cNvSpPr>
            <p:nvPr/>
          </p:nvSpPr>
          <p:spPr bwMode="auto">
            <a:xfrm>
              <a:off x="7126288" y="4543425"/>
              <a:ext cx="433388" cy="155575"/>
            </a:xfrm>
            <a:custGeom>
              <a:avLst/>
              <a:gdLst>
                <a:gd name="T0" fmla="*/ 165 w 191"/>
                <a:gd name="T1" fmla="*/ 29 h 68"/>
                <a:gd name="T2" fmla="*/ 140 w 191"/>
                <a:gd name="T3" fmla="*/ 29 h 68"/>
                <a:gd name="T4" fmla="*/ 140 w 191"/>
                <a:gd name="T5" fmla="*/ 24 h 68"/>
                <a:gd name="T6" fmla="*/ 115 w 191"/>
                <a:gd name="T7" fmla="*/ 0 h 68"/>
                <a:gd name="T8" fmla="*/ 75 w 191"/>
                <a:gd name="T9" fmla="*/ 0 h 68"/>
                <a:gd name="T10" fmla="*/ 51 w 191"/>
                <a:gd name="T11" fmla="*/ 24 h 68"/>
                <a:gd name="T12" fmla="*/ 51 w 191"/>
                <a:gd name="T13" fmla="*/ 29 h 68"/>
                <a:gd name="T14" fmla="*/ 26 w 191"/>
                <a:gd name="T15" fmla="*/ 29 h 68"/>
                <a:gd name="T16" fmla="*/ 0 w 191"/>
                <a:gd name="T17" fmla="*/ 54 h 68"/>
                <a:gd name="T18" fmla="*/ 0 w 191"/>
                <a:gd name="T19" fmla="*/ 68 h 68"/>
                <a:gd name="T20" fmla="*/ 191 w 191"/>
                <a:gd name="T21" fmla="*/ 68 h 68"/>
                <a:gd name="T22" fmla="*/ 191 w 191"/>
                <a:gd name="T23" fmla="*/ 54 h 68"/>
                <a:gd name="T24" fmla="*/ 165 w 191"/>
                <a:gd name="T25" fmla="*/ 29 h 68"/>
                <a:gd name="T26" fmla="*/ 64 w 191"/>
                <a:gd name="T27" fmla="*/ 24 h 68"/>
                <a:gd name="T28" fmla="*/ 75 w 191"/>
                <a:gd name="T29" fmla="*/ 12 h 68"/>
                <a:gd name="T30" fmla="*/ 115 w 191"/>
                <a:gd name="T31" fmla="*/ 12 h 68"/>
                <a:gd name="T32" fmla="*/ 127 w 191"/>
                <a:gd name="T33" fmla="*/ 24 h 68"/>
                <a:gd name="T34" fmla="*/ 127 w 191"/>
                <a:gd name="T35" fmla="*/ 29 h 68"/>
                <a:gd name="T36" fmla="*/ 64 w 191"/>
                <a:gd name="T37" fmla="*/ 29 h 68"/>
                <a:gd name="T38" fmla="*/ 64 w 191"/>
                <a:gd name="T39" fmla="*/ 2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1" h="68">
                  <a:moveTo>
                    <a:pt x="165" y="29"/>
                  </a:moveTo>
                  <a:cubicBezTo>
                    <a:pt x="140" y="29"/>
                    <a:pt x="140" y="29"/>
                    <a:pt x="140" y="29"/>
                  </a:cubicBezTo>
                  <a:cubicBezTo>
                    <a:pt x="140" y="24"/>
                    <a:pt x="140" y="24"/>
                    <a:pt x="140" y="24"/>
                  </a:cubicBezTo>
                  <a:cubicBezTo>
                    <a:pt x="140" y="10"/>
                    <a:pt x="129" y="0"/>
                    <a:pt x="115" y="0"/>
                  </a:cubicBezTo>
                  <a:cubicBezTo>
                    <a:pt x="75" y="0"/>
                    <a:pt x="75" y="0"/>
                    <a:pt x="75" y="0"/>
                  </a:cubicBezTo>
                  <a:cubicBezTo>
                    <a:pt x="62" y="0"/>
                    <a:pt x="51" y="10"/>
                    <a:pt x="51" y="24"/>
                  </a:cubicBezTo>
                  <a:cubicBezTo>
                    <a:pt x="51" y="29"/>
                    <a:pt x="51" y="29"/>
                    <a:pt x="51" y="29"/>
                  </a:cubicBezTo>
                  <a:cubicBezTo>
                    <a:pt x="26" y="29"/>
                    <a:pt x="26" y="29"/>
                    <a:pt x="26" y="29"/>
                  </a:cubicBezTo>
                  <a:cubicBezTo>
                    <a:pt x="12" y="29"/>
                    <a:pt x="0" y="40"/>
                    <a:pt x="0" y="54"/>
                  </a:cubicBezTo>
                  <a:cubicBezTo>
                    <a:pt x="0" y="68"/>
                    <a:pt x="0" y="68"/>
                    <a:pt x="0" y="68"/>
                  </a:cubicBezTo>
                  <a:cubicBezTo>
                    <a:pt x="191" y="68"/>
                    <a:pt x="191" y="68"/>
                    <a:pt x="191" y="68"/>
                  </a:cubicBezTo>
                  <a:cubicBezTo>
                    <a:pt x="191" y="54"/>
                    <a:pt x="191" y="54"/>
                    <a:pt x="191" y="54"/>
                  </a:cubicBezTo>
                  <a:cubicBezTo>
                    <a:pt x="191" y="40"/>
                    <a:pt x="179" y="29"/>
                    <a:pt x="165" y="29"/>
                  </a:cubicBezTo>
                  <a:close/>
                  <a:moveTo>
                    <a:pt x="64" y="24"/>
                  </a:moveTo>
                  <a:cubicBezTo>
                    <a:pt x="64" y="17"/>
                    <a:pt x="69" y="12"/>
                    <a:pt x="75" y="12"/>
                  </a:cubicBezTo>
                  <a:cubicBezTo>
                    <a:pt x="115" y="12"/>
                    <a:pt x="115" y="12"/>
                    <a:pt x="115" y="12"/>
                  </a:cubicBezTo>
                  <a:cubicBezTo>
                    <a:pt x="122" y="12"/>
                    <a:pt x="127" y="17"/>
                    <a:pt x="127" y="24"/>
                  </a:cubicBezTo>
                  <a:cubicBezTo>
                    <a:pt x="127" y="29"/>
                    <a:pt x="127" y="29"/>
                    <a:pt x="127" y="29"/>
                  </a:cubicBezTo>
                  <a:cubicBezTo>
                    <a:pt x="64" y="29"/>
                    <a:pt x="64" y="29"/>
                    <a:pt x="64" y="29"/>
                  </a:cubicBezTo>
                  <a:lnTo>
                    <a:pt x="64" y="2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36" name="Freeform 37"/>
          <p:cNvSpPr>
            <a:spLocks/>
          </p:cNvSpPr>
          <p:nvPr/>
        </p:nvSpPr>
        <p:spPr bwMode="auto">
          <a:xfrm>
            <a:off x="723149" y="2139412"/>
            <a:ext cx="209883" cy="105833"/>
          </a:xfrm>
          <a:custGeom>
            <a:avLst/>
            <a:gdLst>
              <a:gd name="T0" fmla="*/ 193 w 193"/>
              <a:gd name="T1" fmla="*/ 88 h 97"/>
              <a:gd name="T2" fmla="*/ 184 w 193"/>
              <a:gd name="T3" fmla="*/ 97 h 97"/>
              <a:gd name="T4" fmla="*/ 0 w 193"/>
              <a:gd name="T5" fmla="*/ 97 h 97"/>
              <a:gd name="T6" fmla="*/ 0 w 193"/>
              <a:gd name="T7" fmla="*/ 88 h 97"/>
              <a:gd name="T8" fmla="*/ 0 w 193"/>
              <a:gd name="T9" fmla="*/ 9 h 97"/>
              <a:gd name="T10" fmla="*/ 9 w 193"/>
              <a:gd name="T11" fmla="*/ 0 h 97"/>
              <a:gd name="T12" fmla="*/ 184 w 193"/>
              <a:gd name="T13" fmla="*/ 0 h 97"/>
              <a:gd name="T14" fmla="*/ 193 w 193"/>
              <a:gd name="T15" fmla="*/ 9 h 97"/>
              <a:gd name="T16" fmla="*/ 193 w 193"/>
              <a:gd name="T17" fmla="*/ 8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97">
                <a:moveTo>
                  <a:pt x="193" y="88"/>
                </a:moveTo>
                <a:cubicBezTo>
                  <a:pt x="193" y="93"/>
                  <a:pt x="189" y="97"/>
                  <a:pt x="184" y="97"/>
                </a:cubicBezTo>
                <a:cubicBezTo>
                  <a:pt x="0" y="97"/>
                  <a:pt x="0" y="97"/>
                  <a:pt x="0" y="97"/>
                </a:cubicBezTo>
                <a:cubicBezTo>
                  <a:pt x="0" y="88"/>
                  <a:pt x="0" y="88"/>
                  <a:pt x="0" y="88"/>
                </a:cubicBezTo>
                <a:cubicBezTo>
                  <a:pt x="0" y="9"/>
                  <a:pt x="0" y="9"/>
                  <a:pt x="0" y="9"/>
                </a:cubicBezTo>
                <a:cubicBezTo>
                  <a:pt x="0" y="4"/>
                  <a:pt x="4" y="0"/>
                  <a:pt x="9" y="0"/>
                </a:cubicBezTo>
                <a:cubicBezTo>
                  <a:pt x="184" y="0"/>
                  <a:pt x="184" y="0"/>
                  <a:pt x="184" y="0"/>
                </a:cubicBezTo>
                <a:cubicBezTo>
                  <a:pt x="189" y="0"/>
                  <a:pt x="193" y="4"/>
                  <a:pt x="193" y="9"/>
                </a:cubicBezTo>
                <a:lnTo>
                  <a:pt x="193" y="8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7" name="Freeform 38"/>
          <p:cNvSpPr>
            <a:spLocks noEditPoints="1"/>
          </p:cNvSpPr>
          <p:nvPr/>
        </p:nvSpPr>
        <p:spPr bwMode="auto">
          <a:xfrm>
            <a:off x="582830" y="2156654"/>
            <a:ext cx="195019" cy="138535"/>
          </a:xfrm>
          <a:custGeom>
            <a:avLst/>
            <a:gdLst>
              <a:gd name="T0" fmla="*/ 179 w 179"/>
              <a:gd name="T1" fmla="*/ 97 h 127"/>
              <a:gd name="T2" fmla="*/ 112 w 179"/>
              <a:gd name="T3" fmla="*/ 97 h 127"/>
              <a:gd name="T4" fmla="*/ 112 w 179"/>
              <a:gd name="T5" fmla="*/ 9 h 127"/>
              <a:gd name="T6" fmla="*/ 103 w 179"/>
              <a:gd name="T7" fmla="*/ 0 h 127"/>
              <a:gd name="T8" fmla="*/ 35 w 179"/>
              <a:gd name="T9" fmla="*/ 0 h 127"/>
              <a:gd name="T10" fmla="*/ 22 w 179"/>
              <a:gd name="T11" fmla="*/ 8 h 127"/>
              <a:gd name="T12" fmla="*/ 4 w 179"/>
              <a:gd name="T13" fmla="*/ 44 h 127"/>
              <a:gd name="T14" fmla="*/ 0 w 179"/>
              <a:gd name="T15" fmla="*/ 62 h 127"/>
              <a:gd name="T16" fmla="*/ 0 w 179"/>
              <a:gd name="T17" fmla="*/ 118 h 127"/>
              <a:gd name="T18" fmla="*/ 9 w 179"/>
              <a:gd name="T19" fmla="*/ 127 h 127"/>
              <a:gd name="T20" fmla="*/ 21 w 179"/>
              <a:gd name="T21" fmla="*/ 127 h 127"/>
              <a:gd name="T22" fmla="*/ 21 w 179"/>
              <a:gd name="T23" fmla="*/ 125 h 127"/>
              <a:gd name="T24" fmla="*/ 62 w 179"/>
              <a:gd name="T25" fmla="*/ 84 h 127"/>
              <a:gd name="T26" fmla="*/ 104 w 179"/>
              <a:gd name="T27" fmla="*/ 125 h 127"/>
              <a:gd name="T28" fmla="*/ 104 w 179"/>
              <a:gd name="T29" fmla="*/ 127 h 127"/>
              <a:gd name="T30" fmla="*/ 112 w 179"/>
              <a:gd name="T31" fmla="*/ 127 h 127"/>
              <a:gd name="T32" fmla="*/ 112 w 179"/>
              <a:gd name="T33" fmla="*/ 127 h 127"/>
              <a:gd name="T34" fmla="*/ 166 w 179"/>
              <a:gd name="T35" fmla="*/ 127 h 127"/>
              <a:gd name="T36" fmla="*/ 166 w 179"/>
              <a:gd name="T37" fmla="*/ 126 h 127"/>
              <a:gd name="T38" fmla="*/ 179 w 179"/>
              <a:gd name="T39" fmla="*/ 97 h 127"/>
              <a:gd name="T40" fmla="*/ 73 w 179"/>
              <a:gd name="T41" fmla="*/ 50 h 127"/>
              <a:gd name="T42" fmla="*/ 21 w 179"/>
              <a:gd name="T43" fmla="*/ 50 h 127"/>
              <a:gd name="T44" fmla="*/ 21 w 179"/>
              <a:gd name="T45" fmla="*/ 48 h 127"/>
              <a:gd name="T46" fmla="*/ 37 w 179"/>
              <a:gd name="T47" fmla="*/ 16 h 127"/>
              <a:gd name="T48" fmla="*/ 73 w 179"/>
              <a:gd name="T49" fmla="*/ 16 h 127"/>
              <a:gd name="T50" fmla="*/ 73 w 179"/>
              <a:gd name="T51" fmla="*/ 5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9" h="127">
                <a:moveTo>
                  <a:pt x="179" y="97"/>
                </a:moveTo>
                <a:cubicBezTo>
                  <a:pt x="112" y="97"/>
                  <a:pt x="112" y="97"/>
                  <a:pt x="112" y="97"/>
                </a:cubicBezTo>
                <a:cubicBezTo>
                  <a:pt x="112" y="9"/>
                  <a:pt x="112" y="9"/>
                  <a:pt x="112" y="9"/>
                </a:cubicBezTo>
                <a:cubicBezTo>
                  <a:pt x="112" y="4"/>
                  <a:pt x="108" y="0"/>
                  <a:pt x="103" y="0"/>
                </a:cubicBezTo>
                <a:cubicBezTo>
                  <a:pt x="35" y="0"/>
                  <a:pt x="35" y="0"/>
                  <a:pt x="35" y="0"/>
                </a:cubicBezTo>
                <a:cubicBezTo>
                  <a:pt x="30" y="0"/>
                  <a:pt x="24" y="3"/>
                  <a:pt x="22" y="8"/>
                </a:cubicBezTo>
                <a:cubicBezTo>
                  <a:pt x="4" y="44"/>
                  <a:pt x="4" y="44"/>
                  <a:pt x="4" y="44"/>
                </a:cubicBezTo>
                <a:cubicBezTo>
                  <a:pt x="1" y="49"/>
                  <a:pt x="0" y="57"/>
                  <a:pt x="0" y="62"/>
                </a:cubicBezTo>
                <a:cubicBezTo>
                  <a:pt x="0" y="118"/>
                  <a:pt x="0" y="118"/>
                  <a:pt x="0" y="118"/>
                </a:cubicBezTo>
                <a:cubicBezTo>
                  <a:pt x="0" y="123"/>
                  <a:pt x="4" y="127"/>
                  <a:pt x="9" y="127"/>
                </a:cubicBezTo>
                <a:cubicBezTo>
                  <a:pt x="21" y="127"/>
                  <a:pt x="21" y="127"/>
                  <a:pt x="21" y="127"/>
                </a:cubicBezTo>
                <a:cubicBezTo>
                  <a:pt x="21" y="126"/>
                  <a:pt x="21" y="126"/>
                  <a:pt x="21" y="125"/>
                </a:cubicBezTo>
                <a:cubicBezTo>
                  <a:pt x="21" y="102"/>
                  <a:pt x="39" y="84"/>
                  <a:pt x="62" y="84"/>
                </a:cubicBezTo>
                <a:cubicBezTo>
                  <a:pt x="85" y="84"/>
                  <a:pt x="104" y="102"/>
                  <a:pt x="104" y="125"/>
                </a:cubicBezTo>
                <a:cubicBezTo>
                  <a:pt x="104" y="126"/>
                  <a:pt x="104" y="126"/>
                  <a:pt x="104" y="127"/>
                </a:cubicBezTo>
                <a:cubicBezTo>
                  <a:pt x="112" y="127"/>
                  <a:pt x="112" y="127"/>
                  <a:pt x="112" y="127"/>
                </a:cubicBezTo>
                <a:cubicBezTo>
                  <a:pt x="112" y="127"/>
                  <a:pt x="112" y="127"/>
                  <a:pt x="112" y="127"/>
                </a:cubicBezTo>
                <a:cubicBezTo>
                  <a:pt x="166" y="127"/>
                  <a:pt x="166" y="127"/>
                  <a:pt x="166" y="127"/>
                </a:cubicBezTo>
                <a:cubicBezTo>
                  <a:pt x="166" y="126"/>
                  <a:pt x="166" y="126"/>
                  <a:pt x="166" y="126"/>
                </a:cubicBezTo>
                <a:cubicBezTo>
                  <a:pt x="166" y="114"/>
                  <a:pt x="171" y="104"/>
                  <a:pt x="179" y="97"/>
                </a:cubicBezTo>
                <a:close/>
                <a:moveTo>
                  <a:pt x="73" y="50"/>
                </a:moveTo>
                <a:cubicBezTo>
                  <a:pt x="21" y="50"/>
                  <a:pt x="21" y="50"/>
                  <a:pt x="21" y="50"/>
                </a:cubicBezTo>
                <a:cubicBezTo>
                  <a:pt x="21" y="48"/>
                  <a:pt x="21" y="48"/>
                  <a:pt x="21" y="48"/>
                </a:cubicBezTo>
                <a:cubicBezTo>
                  <a:pt x="37" y="16"/>
                  <a:pt x="37" y="16"/>
                  <a:pt x="37" y="16"/>
                </a:cubicBezTo>
                <a:cubicBezTo>
                  <a:pt x="73" y="16"/>
                  <a:pt x="73" y="16"/>
                  <a:pt x="73" y="16"/>
                </a:cubicBezTo>
                <a:lnTo>
                  <a:pt x="73" y="5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8" name="Freeform 39"/>
          <p:cNvSpPr>
            <a:spLocks noEditPoints="1"/>
          </p:cNvSpPr>
          <p:nvPr/>
        </p:nvSpPr>
        <p:spPr bwMode="auto">
          <a:xfrm>
            <a:off x="617315" y="2262487"/>
            <a:ext cx="65403" cy="65403"/>
          </a:xfrm>
          <a:custGeom>
            <a:avLst/>
            <a:gdLst>
              <a:gd name="T0" fmla="*/ 0 w 60"/>
              <a:gd name="T1" fmla="*/ 30 h 60"/>
              <a:gd name="T2" fmla="*/ 30 w 60"/>
              <a:gd name="T3" fmla="*/ 0 h 60"/>
              <a:gd name="T4" fmla="*/ 30 w 60"/>
              <a:gd name="T5" fmla="*/ 0 h 60"/>
              <a:gd name="T6" fmla="*/ 60 w 60"/>
              <a:gd name="T7" fmla="*/ 30 h 60"/>
              <a:gd name="T8" fmla="*/ 60 w 60"/>
              <a:gd name="T9" fmla="*/ 30 h 60"/>
              <a:gd name="T10" fmla="*/ 30 w 60"/>
              <a:gd name="T11" fmla="*/ 60 h 60"/>
              <a:gd name="T12" fmla="*/ 30 w 60"/>
              <a:gd name="T13" fmla="*/ 60 h 60"/>
              <a:gd name="T14" fmla="*/ 0 w 60"/>
              <a:gd name="T15" fmla="*/ 30 h 60"/>
              <a:gd name="T16" fmla="*/ 30 w 60"/>
              <a:gd name="T17" fmla="*/ 48 h 60"/>
              <a:gd name="T18" fmla="*/ 48 w 60"/>
              <a:gd name="T19" fmla="*/ 30 h 60"/>
              <a:gd name="T20" fmla="*/ 48 w 60"/>
              <a:gd name="T21" fmla="*/ 30 h 60"/>
              <a:gd name="T22" fmla="*/ 30 w 60"/>
              <a:gd name="T23" fmla="*/ 13 h 60"/>
              <a:gd name="T24" fmla="*/ 30 w 60"/>
              <a:gd name="T25" fmla="*/ 13 h 60"/>
              <a:gd name="T26" fmla="*/ 13 w 60"/>
              <a:gd name="T27" fmla="*/ 30 h 60"/>
              <a:gd name="T28" fmla="*/ 13 w 60"/>
              <a:gd name="T29" fmla="*/ 30 h 60"/>
              <a:gd name="T30" fmla="*/ 30 w 60"/>
              <a:gd name="T31"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 h="60">
                <a:moveTo>
                  <a:pt x="0" y="30"/>
                </a:moveTo>
                <a:cubicBezTo>
                  <a:pt x="0" y="13"/>
                  <a:pt x="13" y="0"/>
                  <a:pt x="30" y="0"/>
                </a:cubicBezTo>
                <a:cubicBezTo>
                  <a:pt x="30" y="0"/>
                  <a:pt x="30" y="0"/>
                  <a:pt x="30" y="0"/>
                </a:cubicBezTo>
                <a:cubicBezTo>
                  <a:pt x="47" y="0"/>
                  <a:pt x="60" y="13"/>
                  <a:pt x="60" y="30"/>
                </a:cubicBezTo>
                <a:cubicBezTo>
                  <a:pt x="60" y="30"/>
                  <a:pt x="60" y="30"/>
                  <a:pt x="60" y="30"/>
                </a:cubicBezTo>
                <a:cubicBezTo>
                  <a:pt x="60" y="47"/>
                  <a:pt x="47" y="60"/>
                  <a:pt x="30" y="60"/>
                </a:cubicBezTo>
                <a:cubicBezTo>
                  <a:pt x="30" y="60"/>
                  <a:pt x="30" y="60"/>
                  <a:pt x="30" y="60"/>
                </a:cubicBezTo>
                <a:cubicBezTo>
                  <a:pt x="13" y="60"/>
                  <a:pt x="0" y="47"/>
                  <a:pt x="0" y="30"/>
                </a:cubicBezTo>
                <a:close/>
                <a:moveTo>
                  <a:pt x="30" y="48"/>
                </a:moveTo>
                <a:cubicBezTo>
                  <a:pt x="40" y="48"/>
                  <a:pt x="48" y="40"/>
                  <a:pt x="48" y="30"/>
                </a:cubicBezTo>
                <a:cubicBezTo>
                  <a:pt x="48" y="30"/>
                  <a:pt x="48" y="30"/>
                  <a:pt x="48" y="30"/>
                </a:cubicBezTo>
                <a:cubicBezTo>
                  <a:pt x="48" y="20"/>
                  <a:pt x="40" y="13"/>
                  <a:pt x="30" y="13"/>
                </a:cubicBezTo>
                <a:cubicBezTo>
                  <a:pt x="30" y="13"/>
                  <a:pt x="30" y="13"/>
                  <a:pt x="30" y="13"/>
                </a:cubicBezTo>
                <a:cubicBezTo>
                  <a:pt x="20" y="13"/>
                  <a:pt x="13" y="20"/>
                  <a:pt x="13" y="30"/>
                </a:cubicBezTo>
                <a:cubicBezTo>
                  <a:pt x="13" y="30"/>
                  <a:pt x="13" y="30"/>
                  <a:pt x="13" y="30"/>
                </a:cubicBezTo>
                <a:cubicBezTo>
                  <a:pt x="13" y="40"/>
                  <a:pt x="20" y="48"/>
                  <a:pt x="30" y="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40"/>
          <p:cNvSpPr>
            <a:spLocks noEditPoints="1"/>
          </p:cNvSpPr>
          <p:nvPr/>
        </p:nvSpPr>
        <p:spPr bwMode="auto">
          <a:xfrm>
            <a:off x="779633" y="2262487"/>
            <a:ext cx="65403" cy="65403"/>
          </a:xfrm>
          <a:custGeom>
            <a:avLst/>
            <a:gdLst>
              <a:gd name="T0" fmla="*/ 0 w 60"/>
              <a:gd name="T1" fmla="*/ 30 h 60"/>
              <a:gd name="T2" fmla="*/ 30 w 60"/>
              <a:gd name="T3" fmla="*/ 0 h 60"/>
              <a:gd name="T4" fmla="*/ 30 w 60"/>
              <a:gd name="T5" fmla="*/ 0 h 60"/>
              <a:gd name="T6" fmla="*/ 60 w 60"/>
              <a:gd name="T7" fmla="*/ 30 h 60"/>
              <a:gd name="T8" fmla="*/ 60 w 60"/>
              <a:gd name="T9" fmla="*/ 30 h 60"/>
              <a:gd name="T10" fmla="*/ 30 w 60"/>
              <a:gd name="T11" fmla="*/ 60 h 60"/>
              <a:gd name="T12" fmla="*/ 30 w 60"/>
              <a:gd name="T13" fmla="*/ 60 h 60"/>
              <a:gd name="T14" fmla="*/ 0 w 60"/>
              <a:gd name="T15" fmla="*/ 30 h 60"/>
              <a:gd name="T16" fmla="*/ 30 w 60"/>
              <a:gd name="T17" fmla="*/ 48 h 60"/>
              <a:gd name="T18" fmla="*/ 47 w 60"/>
              <a:gd name="T19" fmla="*/ 30 h 60"/>
              <a:gd name="T20" fmla="*/ 47 w 60"/>
              <a:gd name="T21" fmla="*/ 30 h 60"/>
              <a:gd name="T22" fmla="*/ 30 w 60"/>
              <a:gd name="T23" fmla="*/ 13 h 60"/>
              <a:gd name="T24" fmla="*/ 30 w 60"/>
              <a:gd name="T25" fmla="*/ 13 h 60"/>
              <a:gd name="T26" fmla="*/ 12 w 60"/>
              <a:gd name="T27" fmla="*/ 30 h 60"/>
              <a:gd name="T28" fmla="*/ 12 w 60"/>
              <a:gd name="T29" fmla="*/ 30 h 60"/>
              <a:gd name="T30" fmla="*/ 30 w 60"/>
              <a:gd name="T31"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 h="60">
                <a:moveTo>
                  <a:pt x="0" y="30"/>
                </a:moveTo>
                <a:cubicBezTo>
                  <a:pt x="0" y="13"/>
                  <a:pt x="13" y="0"/>
                  <a:pt x="30" y="0"/>
                </a:cubicBezTo>
                <a:cubicBezTo>
                  <a:pt x="30" y="0"/>
                  <a:pt x="30" y="0"/>
                  <a:pt x="30" y="0"/>
                </a:cubicBezTo>
                <a:cubicBezTo>
                  <a:pt x="47" y="0"/>
                  <a:pt x="60" y="13"/>
                  <a:pt x="60" y="30"/>
                </a:cubicBezTo>
                <a:cubicBezTo>
                  <a:pt x="60" y="30"/>
                  <a:pt x="60" y="30"/>
                  <a:pt x="60" y="30"/>
                </a:cubicBezTo>
                <a:cubicBezTo>
                  <a:pt x="60" y="47"/>
                  <a:pt x="47" y="60"/>
                  <a:pt x="30" y="60"/>
                </a:cubicBezTo>
                <a:cubicBezTo>
                  <a:pt x="30" y="60"/>
                  <a:pt x="30" y="60"/>
                  <a:pt x="30" y="60"/>
                </a:cubicBezTo>
                <a:cubicBezTo>
                  <a:pt x="13" y="60"/>
                  <a:pt x="0" y="47"/>
                  <a:pt x="0" y="30"/>
                </a:cubicBezTo>
                <a:close/>
                <a:moveTo>
                  <a:pt x="30" y="48"/>
                </a:moveTo>
                <a:cubicBezTo>
                  <a:pt x="40" y="48"/>
                  <a:pt x="47" y="40"/>
                  <a:pt x="47" y="30"/>
                </a:cubicBezTo>
                <a:cubicBezTo>
                  <a:pt x="47" y="30"/>
                  <a:pt x="47" y="30"/>
                  <a:pt x="47" y="30"/>
                </a:cubicBezTo>
                <a:cubicBezTo>
                  <a:pt x="47" y="20"/>
                  <a:pt x="40" y="13"/>
                  <a:pt x="30" y="13"/>
                </a:cubicBezTo>
                <a:cubicBezTo>
                  <a:pt x="30" y="13"/>
                  <a:pt x="30" y="13"/>
                  <a:pt x="30" y="13"/>
                </a:cubicBezTo>
                <a:cubicBezTo>
                  <a:pt x="20" y="13"/>
                  <a:pt x="12" y="20"/>
                  <a:pt x="12" y="30"/>
                </a:cubicBezTo>
                <a:cubicBezTo>
                  <a:pt x="12" y="30"/>
                  <a:pt x="12" y="30"/>
                  <a:pt x="12" y="30"/>
                </a:cubicBezTo>
                <a:cubicBezTo>
                  <a:pt x="12" y="40"/>
                  <a:pt x="20" y="48"/>
                  <a:pt x="30" y="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41"/>
          <p:cNvSpPr>
            <a:spLocks noEditPoints="1"/>
          </p:cNvSpPr>
          <p:nvPr/>
        </p:nvSpPr>
        <p:spPr bwMode="auto">
          <a:xfrm>
            <a:off x="858116" y="2262487"/>
            <a:ext cx="66592" cy="65403"/>
          </a:xfrm>
          <a:custGeom>
            <a:avLst/>
            <a:gdLst>
              <a:gd name="T0" fmla="*/ 0 w 61"/>
              <a:gd name="T1" fmla="*/ 30 h 60"/>
              <a:gd name="T2" fmla="*/ 30 w 61"/>
              <a:gd name="T3" fmla="*/ 0 h 60"/>
              <a:gd name="T4" fmla="*/ 30 w 61"/>
              <a:gd name="T5" fmla="*/ 0 h 60"/>
              <a:gd name="T6" fmla="*/ 61 w 61"/>
              <a:gd name="T7" fmla="*/ 30 h 60"/>
              <a:gd name="T8" fmla="*/ 61 w 61"/>
              <a:gd name="T9" fmla="*/ 30 h 60"/>
              <a:gd name="T10" fmla="*/ 30 w 61"/>
              <a:gd name="T11" fmla="*/ 60 h 60"/>
              <a:gd name="T12" fmla="*/ 30 w 61"/>
              <a:gd name="T13" fmla="*/ 60 h 60"/>
              <a:gd name="T14" fmla="*/ 0 w 61"/>
              <a:gd name="T15" fmla="*/ 30 h 60"/>
              <a:gd name="T16" fmla="*/ 30 w 61"/>
              <a:gd name="T17" fmla="*/ 48 h 60"/>
              <a:gd name="T18" fmla="*/ 48 w 61"/>
              <a:gd name="T19" fmla="*/ 30 h 60"/>
              <a:gd name="T20" fmla="*/ 48 w 61"/>
              <a:gd name="T21" fmla="*/ 30 h 60"/>
              <a:gd name="T22" fmla="*/ 30 w 61"/>
              <a:gd name="T23" fmla="*/ 13 h 60"/>
              <a:gd name="T24" fmla="*/ 30 w 61"/>
              <a:gd name="T25" fmla="*/ 13 h 60"/>
              <a:gd name="T26" fmla="*/ 13 w 61"/>
              <a:gd name="T27" fmla="*/ 30 h 60"/>
              <a:gd name="T28" fmla="*/ 13 w 61"/>
              <a:gd name="T29" fmla="*/ 30 h 60"/>
              <a:gd name="T30" fmla="*/ 30 w 61"/>
              <a:gd name="T31"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0" y="30"/>
                </a:moveTo>
                <a:cubicBezTo>
                  <a:pt x="0" y="13"/>
                  <a:pt x="14" y="0"/>
                  <a:pt x="30" y="0"/>
                </a:cubicBezTo>
                <a:cubicBezTo>
                  <a:pt x="30" y="0"/>
                  <a:pt x="30" y="0"/>
                  <a:pt x="30" y="0"/>
                </a:cubicBezTo>
                <a:cubicBezTo>
                  <a:pt x="47" y="0"/>
                  <a:pt x="61" y="13"/>
                  <a:pt x="61" y="30"/>
                </a:cubicBezTo>
                <a:cubicBezTo>
                  <a:pt x="61" y="30"/>
                  <a:pt x="61" y="30"/>
                  <a:pt x="61" y="30"/>
                </a:cubicBezTo>
                <a:cubicBezTo>
                  <a:pt x="61" y="47"/>
                  <a:pt x="47" y="60"/>
                  <a:pt x="30" y="60"/>
                </a:cubicBezTo>
                <a:cubicBezTo>
                  <a:pt x="30" y="60"/>
                  <a:pt x="30" y="60"/>
                  <a:pt x="30" y="60"/>
                </a:cubicBezTo>
                <a:cubicBezTo>
                  <a:pt x="14" y="60"/>
                  <a:pt x="0" y="47"/>
                  <a:pt x="0" y="30"/>
                </a:cubicBezTo>
                <a:close/>
                <a:moveTo>
                  <a:pt x="30" y="48"/>
                </a:moveTo>
                <a:cubicBezTo>
                  <a:pt x="40" y="48"/>
                  <a:pt x="48" y="40"/>
                  <a:pt x="48" y="30"/>
                </a:cubicBezTo>
                <a:cubicBezTo>
                  <a:pt x="48" y="30"/>
                  <a:pt x="48" y="30"/>
                  <a:pt x="48" y="30"/>
                </a:cubicBezTo>
                <a:cubicBezTo>
                  <a:pt x="48" y="20"/>
                  <a:pt x="40" y="13"/>
                  <a:pt x="30" y="13"/>
                </a:cubicBezTo>
                <a:cubicBezTo>
                  <a:pt x="30" y="13"/>
                  <a:pt x="30" y="13"/>
                  <a:pt x="30" y="13"/>
                </a:cubicBezTo>
                <a:cubicBezTo>
                  <a:pt x="21" y="13"/>
                  <a:pt x="13" y="20"/>
                  <a:pt x="13" y="30"/>
                </a:cubicBezTo>
                <a:cubicBezTo>
                  <a:pt x="13" y="30"/>
                  <a:pt x="13" y="30"/>
                  <a:pt x="13" y="30"/>
                </a:cubicBezTo>
                <a:cubicBezTo>
                  <a:pt x="13" y="40"/>
                  <a:pt x="21" y="48"/>
                  <a:pt x="30" y="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44" name="Group 343"/>
          <p:cNvGrpSpPr/>
          <p:nvPr userDrawn="1"/>
        </p:nvGrpSpPr>
        <p:grpSpPr>
          <a:xfrm>
            <a:off x="577861" y="3244245"/>
            <a:ext cx="360140" cy="215092"/>
            <a:chOff x="15630525" y="4897438"/>
            <a:chExt cx="808038" cy="482600"/>
          </a:xfrm>
          <a:solidFill>
            <a:schemeClr val="tx1"/>
          </a:solidFill>
        </p:grpSpPr>
        <p:sp>
          <p:nvSpPr>
            <p:cNvPr id="345" name="Freeform 90"/>
            <p:cNvSpPr>
              <a:spLocks noEditPoints="1"/>
            </p:cNvSpPr>
            <p:nvPr/>
          </p:nvSpPr>
          <p:spPr bwMode="auto">
            <a:xfrm>
              <a:off x="15708313" y="4897438"/>
              <a:ext cx="730250" cy="469900"/>
            </a:xfrm>
            <a:custGeom>
              <a:avLst/>
              <a:gdLst>
                <a:gd name="T0" fmla="*/ 250 w 251"/>
                <a:gd name="T1" fmla="*/ 108 h 162"/>
                <a:gd name="T2" fmla="*/ 239 w 251"/>
                <a:gd name="T3" fmla="*/ 105 h 162"/>
                <a:gd name="T4" fmla="*/ 188 w 251"/>
                <a:gd name="T5" fmla="*/ 17 h 162"/>
                <a:gd name="T6" fmla="*/ 181 w 251"/>
                <a:gd name="T7" fmla="*/ 16 h 162"/>
                <a:gd name="T8" fmla="*/ 132 w 251"/>
                <a:gd name="T9" fmla="*/ 52 h 162"/>
                <a:gd name="T10" fmla="*/ 112 w 251"/>
                <a:gd name="T11" fmla="*/ 52 h 162"/>
                <a:gd name="T12" fmla="*/ 100 w 251"/>
                <a:gd name="T13" fmla="*/ 11 h 162"/>
                <a:gd name="T14" fmla="*/ 107 w 251"/>
                <a:gd name="T15" fmla="*/ 7 h 162"/>
                <a:gd name="T16" fmla="*/ 92 w 251"/>
                <a:gd name="T17" fmla="*/ 0 h 162"/>
                <a:gd name="T18" fmla="*/ 32 w 251"/>
                <a:gd name="T19" fmla="*/ 0 h 162"/>
                <a:gd name="T20" fmla="*/ 0 w 251"/>
                <a:gd name="T21" fmla="*/ 83 h 162"/>
                <a:gd name="T22" fmla="*/ 8 w 251"/>
                <a:gd name="T23" fmla="*/ 106 h 162"/>
                <a:gd name="T24" fmla="*/ 132 w 251"/>
                <a:gd name="T25" fmla="*/ 106 h 162"/>
                <a:gd name="T26" fmla="*/ 138 w 251"/>
                <a:gd name="T27" fmla="*/ 101 h 162"/>
                <a:gd name="T28" fmla="*/ 138 w 251"/>
                <a:gd name="T29" fmla="*/ 95 h 162"/>
                <a:gd name="T30" fmla="*/ 178 w 251"/>
                <a:gd name="T31" fmla="*/ 54 h 162"/>
                <a:gd name="T32" fmla="*/ 185 w 251"/>
                <a:gd name="T33" fmla="*/ 54 h 162"/>
                <a:gd name="T34" fmla="*/ 227 w 251"/>
                <a:gd name="T35" fmla="*/ 113 h 162"/>
                <a:gd name="T36" fmla="*/ 212 w 251"/>
                <a:gd name="T37" fmla="*/ 124 h 162"/>
                <a:gd name="T38" fmla="*/ 187 w 251"/>
                <a:gd name="T39" fmla="*/ 128 h 162"/>
                <a:gd name="T40" fmla="*/ 175 w 251"/>
                <a:gd name="T41" fmla="*/ 126 h 162"/>
                <a:gd name="T42" fmla="*/ 199 w 251"/>
                <a:gd name="T43" fmla="*/ 151 h 162"/>
                <a:gd name="T44" fmla="*/ 230 w 251"/>
                <a:gd name="T45" fmla="*/ 155 h 162"/>
                <a:gd name="T46" fmla="*/ 244 w 251"/>
                <a:gd name="T47" fmla="*/ 129 h 162"/>
                <a:gd name="T48" fmla="*/ 250 w 251"/>
                <a:gd name="T49" fmla="*/ 108 h 162"/>
                <a:gd name="T50" fmla="*/ 46 w 251"/>
                <a:gd name="T51" fmla="*/ 62 h 162"/>
                <a:gd name="T52" fmla="*/ 23 w 251"/>
                <a:gd name="T53" fmla="*/ 69 h 162"/>
                <a:gd name="T54" fmla="*/ 18 w 251"/>
                <a:gd name="T55" fmla="*/ 65 h 162"/>
                <a:gd name="T56" fmla="*/ 35 w 251"/>
                <a:gd name="T57" fmla="*/ 15 h 162"/>
                <a:gd name="T58" fmla="*/ 46 w 251"/>
                <a:gd name="T59" fmla="*/ 15 h 162"/>
                <a:gd name="T60" fmla="*/ 46 w 251"/>
                <a:gd name="T61" fmla="*/ 62 h 162"/>
                <a:gd name="T62" fmla="*/ 91 w 251"/>
                <a:gd name="T63" fmla="*/ 52 h 162"/>
                <a:gd name="T64" fmla="*/ 57 w 251"/>
                <a:gd name="T65" fmla="*/ 59 h 162"/>
                <a:gd name="T66" fmla="*/ 57 w 251"/>
                <a:gd name="T67" fmla="*/ 15 h 162"/>
                <a:gd name="T68" fmla="*/ 82 w 251"/>
                <a:gd name="T69" fmla="*/ 15 h 162"/>
                <a:gd name="T70" fmla="*/ 87 w 251"/>
                <a:gd name="T71" fmla="*/ 20 h 162"/>
                <a:gd name="T72" fmla="*/ 95 w 251"/>
                <a:gd name="T73" fmla="*/ 46 h 162"/>
                <a:gd name="T74" fmla="*/ 91 w 251"/>
                <a:gd name="T75" fmla="*/ 5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1" h="162">
                  <a:moveTo>
                    <a:pt x="250" y="108"/>
                  </a:moveTo>
                  <a:cubicBezTo>
                    <a:pt x="248" y="104"/>
                    <a:pt x="243" y="104"/>
                    <a:pt x="239" y="105"/>
                  </a:cubicBezTo>
                  <a:cubicBezTo>
                    <a:pt x="188" y="17"/>
                    <a:pt x="188" y="17"/>
                    <a:pt x="188" y="17"/>
                  </a:cubicBezTo>
                  <a:cubicBezTo>
                    <a:pt x="187" y="14"/>
                    <a:pt x="184" y="14"/>
                    <a:pt x="181" y="16"/>
                  </a:cubicBezTo>
                  <a:cubicBezTo>
                    <a:pt x="132" y="52"/>
                    <a:pt x="132" y="52"/>
                    <a:pt x="132" y="52"/>
                  </a:cubicBezTo>
                  <a:cubicBezTo>
                    <a:pt x="112" y="52"/>
                    <a:pt x="112" y="52"/>
                    <a:pt x="112" y="52"/>
                  </a:cubicBezTo>
                  <a:cubicBezTo>
                    <a:pt x="100" y="11"/>
                    <a:pt x="100" y="11"/>
                    <a:pt x="100" y="11"/>
                  </a:cubicBezTo>
                  <a:cubicBezTo>
                    <a:pt x="100" y="11"/>
                    <a:pt x="107" y="11"/>
                    <a:pt x="107" y="7"/>
                  </a:cubicBezTo>
                  <a:cubicBezTo>
                    <a:pt x="107" y="2"/>
                    <a:pt x="98" y="0"/>
                    <a:pt x="92" y="0"/>
                  </a:cubicBezTo>
                  <a:cubicBezTo>
                    <a:pt x="32" y="0"/>
                    <a:pt x="32" y="0"/>
                    <a:pt x="32" y="0"/>
                  </a:cubicBezTo>
                  <a:cubicBezTo>
                    <a:pt x="16" y="0"/>
                    <a:pt x="4" y="36"/>
                    <a:pt x="0" y="83"/>
                  </a:cubicBezTo>
                  <a:cubicBezTo>
                    <a:pt x="0" y="91"/>
                    <a:pt x="0" y="106"/>
                    <a:pt x="8" y="106"/>
                  </a:cubicBezTo>
                  <a:cubicBezTo>
                    <a:pt x="132" y="106"/>
                    <a:pt x="132" y="106"/>
                    <a:pt x="132" y="106"/>
                  </a:cubicBezTo>
                  <a:cubicBezTo>
                    <a:pt x="135" y="106"/>
                    <a:pt x="138" y="104"/>
                    <a:pt x="138" y="101"/>
                  </a:cubicBezTo>
                  <a:cubicBezTo>
                    <a:pt x="138" y="95"/>
                    <a:pt x="138" y="95"/>
                    <a:pt x="138" y="95"/>
                  </a:cubicBezTo>
                  <a:cubicBezTo>
                    <a:pt x="178" y="54"/>
                    <a:pt x="178" y="54"/>
                    <a:pt x="178" y="54"/>
                  </a:cubicBezTo>
                  <a:cubicBezTo>
                    <a:pt x="180" y="52"/>
                    <a:pt x="183" y="52"/>
                    <a:pt x="185" y="54"/>
                  </a:cubicBezTo>
                  <a:cubicBezTo>
                    <a:pt x="227" y="113"/>
                    <a:pt x="227" y="113"/>
                    <a:pt x="227" y="113"/>
                  </a:cubicBezTo>
                  <a:cubicBezTo>
                    <a:pt x="222" y="117"/>
                    <a:pt x="216" y="122"/>
                    <a:pt x="212" y="124"/>
                  </a:cubicBezTo>
                  <a:cubicBezTo>
                    <a:pt x="205" y="127"/>
                    <a:pt x="192" y="130"/>
                    <a:pt x="187" y="128"/>
                  </a:cubicBezTo>
                  <a:cubicBezTo>
                    <a:pt x="183" y="127"/>
                    <a:pt x="175" y="126"/>
                    <a:pt x="175" y="126"/>
                  </a:cubicBezTo>
                  <a:cubicBezTo>
                    <a:pt x="175" y="126"/>
                    <a:pt x="190" y="142"/>
                    <a:pt x="199" y="151"/>
                  </a:cubicBezTo>
                  <a:cubicBezTo>
                    <a:pt x="208" y="160"/>
                    <a:pt x="219" y="162"/>
                    <a:pt x="230" y="155"/>
                  </a:cubicBezTo>
                  <a:cubicBezTo>
                    <a:pt x="242" y="147"/>
                    <a:pt x="246" y="135"/>
                    <a:pt x="244" y="129"/>
                  </a:cubicBezTo>
                  <a:cubicBezTo>
                    <a:pt x="241" y="122"/>
                    <a:pt x="251" y="113"/>
                    <a:pt x="250" y="108"/>
                  </a:cubicBezTo>
                  <a:close/>
                  <a:moveTo>
                    <a:pt x="46" y="62"/>
                  </a:moveTo>
                  <a:cubicBezTo>
                    <a:pt x="37" y="65"/>
                    <a:pt x="29" y="67"/>
                    <a:pt x="23" y="69"/>
                  </a:cubicBezTo>
                  <a:cubicBezTo>
                    <a:pt x="19" y="70"/>
                    <a:pt x="18" y="67"/>
                    <a:pt x="18" y="65"/>
                  </a:cubicBezTo>
                  <a:cubicBezTo>
                    <a:pt x="22" y="32"/>
                    <a:pt x="31" y="16"/>
                    <a:pt x="35" y="15"/>
                  </a:cubicBezTo>
                  <a:cubicBezTo>
                    <a:pt x="46" y="15"/>
                    <a:pt x="46" y="15"/>
                    <a:pt x="46" y="15"/>
                  </a:cubicBezTo>
                  <a:lnTo>
                    <a:pt x="46" y="62"/>
                  </a:lnTo>
                  <a:close/>
                  <a:moveTo>
                    <a:pt x="91" y="52"/>
                  </a:moveTo>
                  <a:cubicBezTo>
                    <a:pt x="88" y="52"/>
                    <a:pt x="64" y="58"/>
                    <a:pt x="57" y="59"/>
                  </a:cubicBezTo>
                  <a:cubicBezTo>
                    <a:pt x="57" y="15"/>
                    <a:pt x="57" y="15"/>
                    <a:pt x="57" y="15"/>
                  </a:cubicBezTo>
                  <a:cubicBezTo>
                    <a:pt x="82" y="15"/>
                    <a:pt x="82" y="15"/>
                    <a:pt x="82" y="15"/>
                  </a:cubicBezTo>
                  <a:cubicBezTo>
                    <a:pt x="85" y="15"/>
                    <a:pt x="86" y="17"/>
                    <a:pt x="87" y="20"/>
                  </a:cubicBezTo>
                  <a:cubicBezTo>
                    <a:pt x="88" y="22"/>
                    <a:pt x="95" y="46"/>
                    <a:pt x="95" y="46"/>
                  </a:cubicBezTo>
                  <a:cubicBezTo>
                    <a:pt x="95" y="48"/>
                    <a:pt x="94" y="51"/>
                    <a:pt x="91"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6" name="Freeform 91"/>
            <p:cNvSpPr>
              <a:spLocks noEditPoints="1"/>
            </p:cNvSpPr>
            <p:nvPr/>
          </p:nvSpPr>
          <p:spPr bwMode="auto">
            <a:xfrm>
              <a:off x="15630525" y="5251450"/>
              <a:ext cx="557213" cy="128588"/>
            </a:xfrm>
            <a:custGeom>
              <a:avLst/>
              <a:gdLst>
                <a:gd name="T0" fmla="*/ 170 w 192"/>
                <a:gd name="T1" fmla="*/ 0 h 44"/>
                <a:gd name="T2" fmla="*/ 22 w 192"/>
                <a:gd name="T3" fmla="*/ 0 h 44"/>
                <a:gd name="T4" fmla="*/ 0 w 192"/>
                <a:gd name="T5" fmla="*/ 22 h 44"/>
                <a:gd name="T6" fmla="*/ 22 w 192"/>
                <a:gd name="T7" fmla="*/ 44 h 44"/>
                <a:gd name="T8" fmla="*/ 170 w 192"/>
                <a:gd name="T9" fmla="*/ 44 h 44"/>
                <a:gd name="T10" fmla="*/ 192 w 192"/>
                <a:gd name="T11" fmla="*/ 22 h 44"/>
                <a:gd name="T12" fmla="*/ 170 w 192"/>
                <a:gd name="T13" fmla="*/ 0 h 44"/>
                <a:gd name="T14" fmla="*/ 31 w 192"/>
                <a:gd name="T15" fmla="*/ 28 h 44"/>
                <a:gd name="T16" fmla="*/ 33 w 192"/>
                <a:gd name="T17" fmla="*/ 22 h 44"/>
                <a:gd name="T18" fmla="*/ 31 w 192"/>
                <a:gd name="T19" fmla="*/ 16 h 44"/>
                <a:gd name="T20" fmla="*/ 53 w 192"/>
                <a:gd name="T21" fmla="*/ 16 h 44"/>
                <a:gd name="T22" fmla="*/ 52 w 192"/>
                <a:gd name="T23" fmla="*/ 22 h 44"/>
                <a:gd name="T24" fmla="*/ 53 w 192"/>
                <a:gd name="T25" fmla="*/ 28 h 44"/>
                <a:gd name="T26" fmla="*/ 31 w 192"/>
                <a:gd name="T27" fmla="*/ 28 h 44"/>
                <a:gd name="T28" fmla="*/ 84 w 192"/>
                <a:gd name="T29" fmla="*/ 28 h 44"/>
                <a:gd name="T30" fmla="*/ 86 w 192"/>
                <a:gd name="T31" fmla="*/ 22 h 44"/>
                <a:gd name="T32" fmla="*/ 84 w 192"/>
                <a:gd name="T33" fmla="*/ 16 h 44"/>
                <a:gd name="T34" fmla="*/ 107 w 192"/>
                <a:gd name="T35" fmla="*/ 16 h 44"/>
                <a:gd name="T36" fmla="*/ 106 w 192"/>
                <a:gd name="T37" fmla="*/ 22 h 44"/>
                <a:gd name="T38" fmla="*/ 107 w 192"/>
                <a:gd name="T39" fmla="*/ 28 h 44"/>
                <a:gd name="T40" fmla="*/ 84 w 192"/>
                <a:gd name="T41" fmla="*/ 28 h 44"/>
                <a:gd name="T42" fmla="*/ 161 w 192"/>
                <a:gd name="T43" fmla="*/ 28 h 44"/>
                <a:gd name="T44" fmla="*/ 139 w 192"/>
                <a:gd name="T45" fmla="*/ 28 h 44"/>
                <a:gd name="T46" fmla="*/ 140 w 192"/>
                <a:gd name="T47" fmla="*/ 22 h 44"/>
                <a:gd name="T48" fmla="*/ 139 w 192"/>
                <a:gd name="T49" fmla="*/ 16 h 44"/>
                <a:gd name="T50" fmla="*/ 161 w 192"/>
                <a:gd name="T51" fmla="*/ 16 h 44"/>
                <a:gd name="T52" fmla="*/ 159 w 192"/>
                <a:gd name="T53" fmla="*/ 22 h 44"/>
                <a:gd name="T54" fmla="*/ 161 w 192"/>
                <a:gd name="T55" fmla="*/ 2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2" h="44">
                  <a:moveTo>
                    <a:pt x="170" y="0"/>
                  </a:moveTo>
                  <a:cubicBezTo>
                    <a:pt x="22" y="0"/>
                    <a:pt x="22" y="0"/>
                    <a:pt x="22" y="0"/>
                  </a:cubicBezTo>
                  <a:cubicBezTo>
                    <a:pt x="9" y="0"/>
                    <a:pt x="0" y="10"/>
                    <a:pt x="0" y="22"/>
                  </a:cubicBezTo>
                  <a:cubicBezTo>
                    <a:pt x="0" y="34"/>
                    <a:pt x="9" y="44"/>
                    <a:pt x="22" y="44"/>
                  </a:cubicBezTo>
                  <a:cubicBezTo>
                    <a:pt x="170" y="44"/>
                    <a:pt x="170" y="44"/>
                    <a:pt x="170" y="44"/>
                  </a:cubicBezTo>
                  <a:cubicBezTo>
                    <a:pt x="182" y="44"/>
                    <a:pt x="192" y="34"/>
                    <a:pt x="192" y="22"/>
                  </a:cubicBezTo>
                  <a:cubicBezTo>
                    <a:pt x="192" y="10"/>
                    <a:pt x="182" y="0"/>
                    <a:pt x="170" y="0"/>
                  </a:cubicBezTo>
                  <a:close/>
                  <a:moveTo>
                    <a:pt x="31" y="28"/>
                  </a:moveTo>
                  <a:cubicBezTo>
                    <a:pt x="32" y="27"/>
                    <a:pt x="33" y="24"/>
                    <a:pt x="33" y="22"/>
                  </a:cubicBezTo>
                  <a:cubicBezTo>
                    <a:pt x="33" y="20"/>
                    <a:pt x="32" y="18"/>
                    <a:pt x="31" y="16"/>
                  </a:cubicBezTo>
                  <a:cubicBezTo>
                    <a:pt x="53" y="16"/>
                    <a:pt x="53" y="16"/>
                    <a:pt x="53" y="16"/>
                  </a:cubicBezTo>
                  <a:cubicBezTo>
                    <a:pt x="52" y="18"/>
                    <a:pt x="52" y="20"/>
                    <a:pt x="52" y="22"/>
                  </a:cubicBezTo>
                  <a:cubicBezTo>
                    <a:pt x="52" y="24"/>
                    <a:pt x="52" y="26"/>
                    <a:pt x="53" y="28"/>
                  </a:cubicBezTo>
                  <a:lnTo>
                    <a:pt x="31" y="28"/>
                  </a:lnTo>
                  <a:close/>
                  <a:moveTo>
                    <a:pt x="84" y="28"/>
                  </a:moveTo>
                  <a:cubicBezTo>
                    <a:pt x="85" y="26"/>
                    <a:pt x="86" y="24"/>
                    <a:pt x="86" y="22"/>
                  </a:cubicBezTo>
                  <a:cubicBezTo>
                    <a:pt x="86" y="20"/>
                    <a:pt x="85" y="18"/>
                    <a:pt x="84" y="16"/>
                  </a:cubicBezTo>
                  <a:cubicBezTo>
                    <a:pt x="107" y="16"/>
                    <a:pt x="107" y="16"/>
                    <a:pt x="107" y="16"/>
                  </a:cubicBezTo>
                  <a:cubicBezTo>
                    <a:pt x="107" y="18"/>
                    <a:pt x="106" y="20"/>
                    <a:pt x="106" y="22"/>
                  </a:cubicBezTo>
                  <a:cubicBezTo>
                    <a:pt x="106" y="24"/>
                    <a:pt x="107" y="26"/>
                    <a:pt x="107" y="28"/>
                  </a:cubicBezTo>
                  <a:lnTo>
                    <a:pt x="84" y="28"/>
                  </a:lnTo>
                  <a:close/>
                  <a:moveTo>
                    <a:pt x="161" y="28"/>
                  </a:moveTo>
                  <a:cubicBezTo>
                    <a:pt x="139" y="28"/>
                    <a:pt x="139" y="28"/>
                    <a:pt x="139" y="28"/>
                  </a:cubicBezTo>
                  <a:cubicBezTo>
                    <a:pt x="140" y="26"/>
                    <a:pt x="140" y="24"/>
                    <a:pt x="140" y="22"/>
                  </a:cubicBezTo>
                  <a:cubicBezTo>
                    <a:pt x="140" y="20"/>
                    <a:pt x="140" y="18"/>
                    <a:pt x="139" y="16"/>
                  </a:cubicBezTo>
                  <a:cubicBezTo>
                    <a:pt x="161" y="16"/>
                    <a:pt x="161" y="16"/>
                    <a:pt x="161" y="16"/>
                  </a:cubicBezTo>
                  <a:cubicBezTo>
                    <a:pt x="159" y="18"/>
                    <a:pt x="159" y="20"/>
                    <a:pt x="159" y="22"/>
                  </a:cubicBezTo>
                  <a:cubicBezTo>
                    <a:pt x="159" y="24"/>
                    <a:pt x="159" y="27"/>
                    <a:pt x="16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55" name="Group 354"/>
          <p:cNvGrpSpPr/>
          <p:nvPr userDrawn="1"/>
        </p:nvGrpSpPr>
        <p:grpSpPr>
          <a:xfrm>
            <a:off x="574389" y="2628000"/>
            <a:ext cx="367084" cy="295446"/>
            <a:chOff x="362789" y="2742138"/>
            <a:chExt cx="1298810" cy="1045343"/>
          </a:xfrm>
          <a:solidFill>
            <a:schemeClr val="tx1"/>
          </a:solidFill>
        </p:grpSpPr>
        <p:sp>
          <p:nvSpPr>
            <p:cNvPr id="356" name="Freeform 43"/>
            <p:cNvSpPr>
              <a:spLocks noEditPoints="1"/>
            </p:cNvSpPr>
            <p:nvPr/>
          </p:nvSpPr>
          <p:spPr bwMode="auto">
            <a:xfrm>
              <a:off x="362789" y="2742138"/>
              <a:ext cx="805185" cy="804043"/>
            </a:xfrm>
            <a:custGeom>
              <a:avLst/>
              <a:gdLst>
                <a:gd name="T0" fmla="*/ 169 w 432"/>
                <a:gd name="T1" fmla="*/ 50 h 431"/>
                <a:gd name="T2" fmla="*/ 132 w 432"/>
                <a:gd name="T3" fmla="*/ 65 h 431"/>
                <a:gd name="T4" fmla="*/ 101 w 432"/>
                <a:gd name="T5" fmla="*/ 43 h 431"/>
                <a:gd name="T6" fmla="*/ 83 w 432"/>
                <a:gd name="T7" fmla="*/ 44 h 431"/>
                <a:gd name="T8" fmla="*/ 63 w 432"/>
                <a:gd name="T9" fmla="*/ 63 h 431"/>
                <a:gd name="T10" fmla="*/ 44 w 432"/>
                <a:gd name="T11" fmla="*/ 82 h 431"/>
                <a:gd name="T12" fmla="*/ 43 w 432"/>
                <a:gd name="T13" fmla="*/ 100 h 431"/>
                <a:gd name="T14" fmla="*/ 66 w 432"/>
                <a:gd name="T15" fmla="*/ 132 h 431"/>
                <a:gd name="T16" fmla="*/ 51 w 432"/>
                <a:gd name="T17" fmla="*/ 169 h 431"/>
                <a:gd name="T18" fmla="*/ 12 w 432"/>
                <a:gd name="T19" fmla="*/ 175 h 431"/>
                <a:gd name="T20" fmla="*/ 0 w 432"/>
                <a:gd name="T21" fmla="*/ 188 h 431"/>
                <a:gd name="T22" fmla="*/ 0 w 432"/>
                <a:gd name="T23" fmla="*/ 215 h 431"/>
                <a:gd name="T24" fmla="*/ 0 w 432"/>
                <a:gd name="T25" fmla="*/ 242 h 431"/>
                <a:gd name="T26" fmla="*/ 12 w 432"/>
                <a:gd name="T27" fmla="*/ 256 h 431"/>
                <a:gd name="T28" fmla="*/ 51 w 432"/>
                <a:gd name="T29" fmla="*/ 262 h 431"/>
                <a:gd name="T30" fmla="*/ 66 w 432"/>
                <a:gd name="T31" fmla="*/ 299 h 431"/>
                <a:gd name="T32" fmla="*/ 43 w 432"/>
                <a:gd name="T33" fmla="*/ 331 h 431"/>
                <a:gd name="T34" fmla="*/ 44 w 432"/>
                <a:gd name="T35" fmla="*/ 349 h 431"/>
                <a:gd name="T36" fmla="*/ 63 w 432"/>
                <a:gd name="T37" fmla="*/ 368 h 431"/>
                <a:gd name="T38" fmla="*/ 83 w 432"/>
                <a:gd name="T39" fmla="*/ 387 h 431"/>
                <a:gd name="T40" fmla="*/ 101 w 432"/>
                <a:gd name="T41" fmla="*/ 388 h 431"/>
                <a:gd name="T42" fmla="*/ 132 w 432"/>
                <a:gd name="T43" fmla="*/ 366 h 431"/>
                <a:gd name="T44" fmla="*/ 169 w 432"/>
                <a:gd name="T45" fmla="*/ 381 h 431"/>
                <a:gd name="T46" fmla="*/ 176 w 432"/>
                <a:gd name="T47" fmla="*/ 419 h 431"/>
                <a:gd name="T48" fmla="*/ 189 w 432"/>
                <a:gd name="T49" fmla="*/ 431 h 431"/>
                <a:gd name="T50" fmla="*/ 216 w 432"/>
                <a:gd name="T51" fmla="*/ 431 h 431"/>
                <a:gd name="T52" fmla="*/ 243 w 432"/>
                <a:gd name="T53" fmla="*/ 431 h 431"/>
                <a:gd name="T54" fmla="*/ 256 w 432"/>
                <a:gd name="T55" fmla="*/ 419 h 431"/>
                <a:gd name="T56" fmla="*/ 263 w 432"/>
                <a:gd name="T57" fmla="*/ 381 h 431"/>
                <a:gd name="T58" fmla="*/ 300 w 432"/>
                <a:gd name="T59" fmla="*/ 366 h 431"/>
                <a:gd name="T60" fmla="*/ 332 w 432"/>
                <a:gd name="T61" fmla="*/ 388 h 431"/>
                <a:gd name="T62" fmla="*/ 350 w 432"/>
                <a:gd name="T63" fmla="*/ 387 h 431"/>
                <a:gd name="T64" fmla="*/ 369 w 432"/>
                <a:gd name="T65" fmla="*/ 368 h 431"/>
                <a:gd name="T66" fmla="*/ 388 w 432"/>
                <a:gd name="T67" fmla="*/ 349 h 431"/>
                <a:gd name="T68" fmla="*/ 389 w 432"/>
                <a:gd name="T69" fmla="*/ 331 h 431"/>
                <a:gd name="T70" fmla="*/ 366 w 432"/>
                <a:gd name="T71" fmla="*/ 299 h 431"/>
                <a:gd name="T72" fmla="*/ 382 w 432"/>
                <a:gd name="T73" fmla="*/ 262 h 431"/>
                <a:gd name="T74" fmla="*/ 420 w 432"/>
                <a:gd name="T75" fmla="*/ 256 h 431"/>
                <a:gd name="T76" fmla="*/ 432 w 432"/>
                <a:gd name="T77" fmla="*/ 242 h 431"/>
                <a:gd name="T78" fmla="*/ 432 w 432"/>
                <a:gd name="T79" fmla="*/ 215 h 431"/>
                <a:gd name="T80" fmla="*/ 432 w 432"/>
                <a:gd name="T81" fmla="*/ 188 h 431"/>
                <a:gd name="T82" fmla="*/ 420 w 432"/>
                <a:gd name="T83" fmla="*/ 175 h 431"/>
                <a:gd name="T84" fmla="*/ 382 w 432"/>
                <a:gd name="T85" fmla="*/ 169 h 431"/>
                <a:gd name="T86" fmla="*/ 366 w 432"/>
                <a:gd name="T87" fmla="*/ 132 h 431"/>
                <a:gd name="T88" fmla="*/ 389 w 432"/>
                <a:gd name="T89" fmla="*/ 100 h 431"/>
                <a:gd name="T90" fmla="*/ 388 w 432"/>
                <a:gd name="T91" fmla="*/ 82 h 431"/>
                <a:gd name="T92" fmla="*/ 369 w 432"/>
                <a:gd name="T93" fmla="*/ 63 h 431"/>
                <a:gd name="T94" fmla="*/ 350 w 432"/>
                <a:gd name="T95" fmla="*/ 44 h 431"/>
                <a:gd name="T96" fmla="*/ 332 w 432"/>
                <a:gd name="T97" fmla="*/ 43 h 431"/>
                <a:gd name="T98" fmla="*/ 300 w 432"/>
                <a:gd name="T99" fmla="*/ 65 h 431"/>
                <a:gd name="T100" fmla="*/ 263 w 432"/>
                <a:gd name="T101" fmla="*/ 50 h 431"/>
                <a:gd name="T102" fmla="*/ 256 w 432"/>
                <a:gd name="T103" fmla="*/ 12 h 431"/>
                <a:gd name="T104" fmla="*/ 243 w 432"/>
                <a:gd name="T105" fmla="*/ 0 h 431"/>
                <a:gd name="T106" fmla="*/ 216 w 432"/>
                <a:gd name="T107" fmla="*/ 0 h 431"/>
                <a:gd name="T108" fmla="*/ 189 w 432"/>
                <a:gd name="T109" fmla="*/ 0 h 431"/>
                <a:gd name="T110" fmla="*/ 176 w 432"/>
                <a:gd name="T111" fmla="*/ 12 h 431"/>
                <a:gd name="T112" fmla="*/ 169 w 432"/>
                <a:gd name="T113" fmla="*/ 50 h 431"/>
                <a:gd name="T114" fmla="*/ 216 w 432"/>
                <a:gd name="T115" fmla="*/ 135 h 431"/>
                <a:gd name="T116" fmla="*/ 297 w 432"/>
                <a:gd name="T117" fmla="*/ 215 h 431"/>
                <a:gd name="T118" fmla="*/ 216 w 432"/>
                <a:gd name="T119" fmla="*/ 296 h 431"/>
                <a:gd name="T120" fmla="*/ 135 w 432"/>
                <a:gd name="T121" fmla="*/ 215 h 431"/>
                <a:gd name="T122" fmla="*/ 216 w 432"/>
                <a:gd name="T123" fmla="*/ 135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2" h="431">
                  <a:moveTo>
                    <a:pt x="169" y="50"/>
                  </a:moveTo>
                  <a:cubicBezTo>
                    <a:pt x="156" y="54"/>
                    <a:pt x="144" y="59"/>
                    <a:pt x="132" y="65"/>
                  </a:cubicBezTo>
                  <a:cubicBezTo>
                    <a:pt x="101" y="43"/>
                    <a:pt x="101" y="43"/>
                    <a:pt x="101" y="43"/>
                  </a:cubicBezTo>
                  <a:cubicBezTo>
                    <a:pt x="95" y="39"/>
                    <a:pt x="87" y="39"/>
                    <a:pt x="83" y="44"/>
                  </a:cubicBezTo>
                  <a:cubicBezTo>
                    <a:pt x="63" y="63"/>
                    <a:pt x="63" y="63"/>
                    <a:pt x="63" y="63"/>
                  </a:cubicBezTo>
                  <a:cubicBezTo>
                    <a:pt x="44" y="82"/>
                    <a:pt x="44" y="82"/>
                    <a:pt x="44" y="82"/>
                  </a:cubicBezTo>
                  <a:cubicBezTo>
                    <a:pt x="39" y="87"/>
                    <a:pt x="39" y="95"/>
                    <a:pt x="43" y="100"/>
                  </a:cubicBezTo>
                  <a:cubicBezTo>
                    <a:pt x="66" y="132"/>
                    <a:pt x="66" y="132"/>
                    <a:pt x="66" y="132"/>
                  </a:cubicBezTo>
                  <a:cubicBezTo>
                    <a:pt x="59" y="143"/>
                    <a:pt x="54" y="156"/>
                    <a:pt x="51" y="169"/>
                  </a:cubicBezTo>
                  <a:cubicBezTo>
                    <a:pt x="12" y="175"/>
                    <a:pt x="12" y="175"/>
                    <a:pt x="12" y="175"/>
                  </a:cubicBezTo>
                  <a:cubicBezTo>
                    <a:pt x="6" y="176"/>
                    <a:pt x="0" y="181"/>
                    <a:pt x="0" y="188"/>
                  </a:cubicBezTo>
                  <a:cubicBezTo>
                    <a:pt x="0" y="215"/>
                    <a:pt x="0" y="215"/>
                    <a:pt x="0" y="215"/>
                  </a:cubicBezTo>
                  <a:cubicBezTo>
                    <a:pt x="0" y="242"/>
                    <a:pt x="0" y="242"/>
                    <a:pt x="0" y="242"/>
                  </a:cubicBezTo>
                  <a:cubicBezTo>
                    <a:pt x="0" y="249"/>
                    <a:pt x="6" y="255"/>
                    <a:pt x="12" y="256"/>
                  </a:cubicBezTo>
                  <a:cubicBezTo>
                    <a:pt x="51" y="262"/>
                    <a:pt x="51" y="262"/>
                    <a:pt x="51" y="262"/>
                  </a:cubicBezTo>
                  <a:cubicBezTo>
                    <a:pt x="54" y="275"/>
                    <a:pt x="59" y="288"/>
                    <a:pt x="66" y="299"/>
                  </a:cubicBezTo>
                  <a:cubicBezTo>
                    <a:pt x="43" y="331"/>
                    <a:pt x="43" y="331"/>
                    <a:pt x="43" y="331"/>
                  </a:cubicBezTo>
                  <a:cubicBezTo>
                    <a:pt x="39" y="336"/>
                    <a:pt x="39" y="344"/>
                    <a:pt x="44" y="349"/>
                  </a:cubicBezTo>
                  <a:cubicBezTo>
                    <a:pt x="63" y="368"/>
                    <a:pt x="63" y="368"/>
                    <a:pt x="63" y="368"/>
                  </a:cubicBezTo>
                  <a:cubicBezTo>
                    <a:pt x="83" y="387"/>
                    <a:pt x="83" y="387"/>
                    <a:pt x="83" y="387"/>
                  </a:cubicBezTo>
                  <a:cubicBezTo>
                    <a:pt x="87" y="392"/>
                    <a:pt x="95" y="392"/>
                    <a:pt x="101" y="388"/>
                  </a:cubicBezTo>
                  <a:cubicBezTo>
                    <a:pt x="132" y="366"/>
                    <a:pt x="132" y="366"/>
                    <a:pt x="132" y="366"/>
                  </a:cubicBezTo>
                  <a:cubicBezTo>
                    <a:pt x="144" y="372"/>
                    <a:pt x="156" y="377"/>
                    <a:pt x="169" y="381"/>
                  </a:cubicBezTo>
                  <a:cubicBezTo>
                    <a:pt x="176" y="419"/>
                    <a:pt x="176" y="419"/>
                    <a:pt x="176" y="419"/>
                  </a:cubicBezTo>
                  <a:cubicBezTo>
                    <a:pt x="176" y="426"/>
                    <a:pt x="182" y="431"/>
                    <a:pt x="189" y="431"/>
                  </a:cubicBezTo>
                  <a:cubicBezTo>
                    <a:pt x="216" y="431"/>
                    <a:pt x="216" y="431"/>
                    <a:pt x="216" y="431"/>
                  </a:cubicBezTo>
                  <a:cubicBezTo>
                    <a:pt x="243" y="431"/>
                    <a:pt x="243" y="431"/>
                    <a:pt x="243" y="431"/>
                  </a:cubicBezTo>
                  <a:cubicBezTo>
                    <a:pt x="250" y="431"/>
                    <a:pt x="256" y="426"/>
                    <a:pt x="256" y="419"/>
                  </a:cubicBezTo>
                  <a:cubicBezTo>
                    <a:pt x="263" y="381"/>
                    <a:pt x="263" y="381"/>
                    <a:pt x="263" y="381"/>
                  </a:cubicBezTo>
                  <a:cubicBezTo>
                    <a:pt x="276" y="377"/>
                    <a:pt x="288" y="372"/>
                    <a:pt x="300" y="366"/>
                  </a:cubicBezTo>
                  <a:cubicBezTo>
                    <a:pt x="332" y="388"/>
                    <a:pt x="332" y="388"/>
                    <a:pt x="332" y="388"/>
                  </a:cubicBezTo>
                  <a:cubicBezTo>
                    <a:pt x="337" y="392"/>
                    <a:pt x="345" y="392"/>
                    <a:pt x="350" y="387"/>
                  </a:cubicBezTo>
                  <a:cubicBezTo>
                    <a:pt x="369" y="368"/>
                    <a:pt x="369" y="368"/>
                    <a:pt x="369" y="368"/>
                  </a:cubicBezTo>
                  <a:cubicBezTo>
                    <a:pt x="388" y="349"/>
                    <a:pt x="388" y="349"/>
                    <a:pt x="388" y="349"/>
                  </a:cubicBezTo>
                  <a:cubicBezTo>
                    <a:pt x="393" y="344"/>
                    <a:pt x="393" y="336"/>
                    <a:pt x="389" y="331"/>
                  </a:cubicBezTo>
                  <a:cubicBezTo>
                    <a:pt x="366" y="299"/>
                    <a:pt x="366" y="299"/>
                    <a:pt x="366" y="299"/>
                  </a:cubicBezTo>
                  <a:cubicBezTo>
                    <a:pt x="373" y="288"/>
                    <a:pt x="378" y="275"/>
                    <a:pt x="382" y="262"/>
                  </a:cubicBezTo>
                  <a:cubicBezTo>
                    <a:pt x="420" y="256"/>
                    <a:pt x="420" y="256"/>
                    <a:pt x="420" y="256"/>
                  </a:cubicBezTo>
                  <a:cubicBezTo>
                    <a:pt x="427" y="255"/>
                    <a:pt x="432" y="249"/>
                    <a:pt x="432" y="242"/>
                  </a:cubicBezTo>
                  <a:cubicBezTo>
                    <a:pt x="432" y="215"/>
                    <a:pt x="432" y="215"/>
                    <a:pt x="432" y="215"/>
                  </a:cubicBezTo>
                  <a:cubicBezTo>
                    <a:pt x="432" y="188"/>
                    <a:pt x="432" y="188"/>
                    <a:pt x="432" y="188"/>
                  </a:cubicBezTo>
                  <a:cubicBezTo>
                    <a:pt x="432" y="181"/>
                    <a:pt x="427" y="176"/>
                    <a:pt x="420" y="175"/>
                  </a:cubicBezTo>
                  <a:cubicBezTo>
                    <a:pt x="382" y="169"/>
                    <a:pt x="382" y="169"/>
                    <a:pt x="382" y="169"/>
                  </a:cubicBezTo>
                  <a:cubicBezTo>
                    <a:pt x="378" y="156"/>
                    <a:pt x="373" y="143"/>
                    <a:pt x="366" y="132"/>
                  </a:cubicBezTo>
                  <a:cubicBezTo>
                    <a:pt x="389" y="100"/>
                    <a:pt x="389" y="100"/>
                    <a:pt x="389" y="100"/>
                  </a:cubicBezTo>
                  <a:cubicBezTo>
                    <a:pt x="393" y="95"/>
                    <a:pt x="393" y="87"/>
                    <a:pt x="388" y="82"/>
                  </a:cubicBezTo>
                  <a:cubicBezTo>
                    <a:pt x="369" y="63"/>
                    <a:pt x="369" y="63"/>
                    <a:pt x="369" y="63"/>
                  </a:cubicBezTo>
                  <a:cubicBezTo>
                    <a:pt x="350" y="44"/>
                    <a:pt x="350" y="44"/>
                    <a:pt x="350" y="44"/>
                  </a:cubicBezTo>
                  <a:cubicBezTo>
                    <a:pt x="345" y="39"/>
                    <a:pt x="337" y="39"/>
                    <a:pt x="332" y="43"/>
                  </a:cubicBezTo>
                  <a:cubicBezTo>
                    <a:pt x="300" y="65"/>
                    <a:pt x="300" y="65"/>
                    <a:pt x="300" y="65"/>
                  </a:cubicBezTo>
                  <a:cubicBezTo>
                    <a:pt x="288" y="59"/>
                    <a:pt x="276" y="54"/>
                    <a:pt x="263" y="50"/>
                  </a:cubicBezTo>
                  <a:cubicBezTo>
                    <a:pt x="256" y="12"/>
                    <a:pt x="256" y="12"/>
                    <a:pt x="256" y="12"/>
                  </a:cubicBezTo>
                  <a:cubicBezTo>
                    <a:pt x="256" y="5"/>
                    <a:pt x="250" y="0"/>
                    <a:pt x="243" y="0"/>
                  </a:cubicBezTo>
                  <a:cubicBezTo>
                    <a:pt x="216" y="0"/>
                    <a:pt x="216" y="0"/>
                    <a:pt x="216" y="0"/>
                  </a:cubicBezTo>
                  <a:cubicBezTo>
                    <a:pt x="189" y="0"/>
                    <a:pt x="189" y="0"/>
                    <a:pt x="189" y="0"/>
                  </a:cubicBezTo>
                  <a:cubicBezTo>
                    <a:pt x="182" y="0"/>
                    <a:pt x="176" y="5"/>
                    <a:pt x="176" y="12"/>
                  </a:cubicBezTo>
                  <a:cubicBezTo>
                    <a:pt x="169" y="50"/>
                    <a:pt x="169" y="50"/>
                    <a:pt x="169" y="50"/>
                  </a:cubicBezTo>
                  <a:close/>
                  <a:moveTo>
                    <a:pt x="216" y="135"/>
                  </a:moveTo>
                  <a:cubicBezTo>
                    <a:pt x="261" y="135"/>
                    <a:pt x="297" y="171"/>
                    <a:pt x="297" y="215"/>
                  </a:cubicBezTo>
                  <a:cubicBezTo>
                    <a:pt x="297" y="260"/>
                    <a:pt x="261" y="296"/>
                    <a:pt x="216" y="296"/>
                  </a:cubicBezTo>
                  <a:cubicBezTo>
                    <a:pt x="171" y="296"/>
                    <a:pt x="135" y="260"/>
                    <a:pt x="135" y="215"/>
                  </a:cubicBezTo>
                  <a:cubicBezTo>
                    <a:pt x="135" y="171"/>
                    <a:pt x="171" y="135"/>
                    <a:pt x="216" y="13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7" name="Freeform 43"/>
            <p:cNvSpPr>
              <a:spLocks noEditPoints="1"/>
            </p:cNvSpPr>
            <p:nvPr/>
          </p:nvSpPr>
          <p:spPr bwMode="auto">
            <a:xfrm>
              <a:off x="1072574" y="3199291"/>
              <a:ext cx="589025" cy="588190"/>
            </a:xfrm>
            <a:custGeom>
              <a:avLst/>
              <a:gdLst>
                <a:gd name="T0" fmla="*/ 169 w 432"/>
                <a:gd name="T1" fmla="*/ 50 h 431"/>
                <a:gd name="T2" fmla="*/ 132 w 432"/>
                <a:gd name="T3" fmla="*/ 65 h 431"/>
                <a:gd name="T4" fmla="*/ 101 w 432"/>
                <a:gd name="T5" fmla="*/ 43 h 431"/>
                <a:gd name="T6" fmla="*/ 83 w 432"/>
                <a:gd name="T7" fmla="*/ 44 h 431"/>
                <a:gd name="T8" fmla="*/ 63 w 432"/>
                <a:gd name="T9" fmla="*/ 63 h 431"/>
                <a:gd name="T10" fmla="*/ 44 w 432"/>
                <a:gd name="T11" fmla="*/ 82 h 431"/>
                <a:gd name="T12" fmla="*/ 43 w 432"/>
                <a:gd name="T13" fmla="*/ 100 h 431"/>
                <a:gd name="T14" fmla="*/ 66 w 432"/>
                <a:gd name="T15" fmla="*/ 132 h 431"/>
                <a:gd name="T16" fmla="*/ 51 w 432"/>
                <a:gd name="T17" fmla="*/ 169 h 431"/>
                <a:gd name="T18" fmla="*/ 12 w 432"/>
                <a:gd name="T19" fmla="*/ 175 h 431"/>
                <a:gd name="T20" fmla="*/ 0 w 432"/>
                <a:gd name="T21" fmla="*/ 188 h 431"/>
                <a:gd name="T22" fmla="*/ 0 w 432"/>
                <a:gd name="T23" fmla="*/ 215 h 431"/>
                <a:gd name="T24" fmla="*/ 0 w 432"/>
                <a:gd name="T25" fmla="*/ 242 h 431"/>
                <a:gd name="T26" fmla="*/ 12 w 432"/>
                <a:gd name="T27" fmla="*/ 256 h 431"/>
                <a:gd name="T28" fmla="*/ 51 w 432"/>
                <a:gd name="T29" fmla="*/ 262 h 431"/>
                <a:gd name="T30" fmla="*/ 66 w 432"/>
                <a:gd name="T31" fmla="*/ 299 h 431"/>
                <a:gd name="T32" fmla="*/ 43 w 432"/>
                <a:gd name="T33" fmla="*/ 331 h 431"/>
                <a:gd name="T34" fmla="*/ 44 w 432"/>
                <a:gd name="T35" fmla="*/ 349 h 431"/>
                <a:gd name="T36" fmla="*/ 63 w 432"/>
                <a:gd name="T37" fmla="*/ 368 h 431"/>
                <a:gd name="T38" fmla="*/ 83 w 432"/>
                <a:gd name="T39" fmla="*/ 387 h 431"/>
                <a:gd name="T40" fmla="*/ 101 w 432"/>
                <a:gd name="T41" fmla="*/ 388 h 431"/>
                <a:gd name="T42" fmla="*/ 132 w 432"/>
                <a:gd name="T43" fmla="*/ 366 h 431"/>
                <a:gd name="T44" fmla="*/ 169 w 432"/>
                <a:gd name="T45" fmla="*/ 381 h 431"/>
                <a:gd name="T46" fmla="*/ 176 w 432"/>
                <a:gd name="T47" fmla="*/ 419 h 431"/>
                <a:gd name="T48" fmla="*/ 189 w 432"/>
                <a:gd name="T49" fmla="*/ 431 h 431"/>
                <a:gd name="T50" fmla="*/ 216 w 432"/>
                <a:gd name="T51" fmla="*/ 431 h 431"/>
                <a:gd name="T52" fmla="*/ 243 w 432"/>
                <a:gd name="T53" fmla="*/ 431 h 431"/>
                <a:gd name="T54" fmla="*/ 256 w 432"/>
                <a:gd name="T55" fmla="*/ 419 h 431"/>
                <a:gd name="T56" fmla="*/ 263 w 432"/>
                <a:gd name="T57" fmla="*/ 381 h 431"/>
                <a:gd name="T58" fmla="*/ 300 w 432"/>
                <a:gd name="T59" fmla="*/ 366 h 431"/>
                <a:gd name="T60" fmla="*/ 332 w 432"/>
                <a:gd name="T61" fmla="*/ 388 h 431"/>
                <a:gd name="T62" fmla="*/ 350 w 432"/>
                <a:gd name="T63" fmla="*/ 387 h 431"/>
                <a:gd name="T64" fmla="*/ 369 w 432"/>
                <a:gd name="T65" fmla="*/ 368 h 431"/>
                <a:gd name="T66" fmla="*/ 388 w 432"/>
                <a:gd name="T67" fmla="*/ 349 h 431"/>
                <a:gd name="T68" fmla="*/ 389 w 432"/>
                <a:gd name="T69" fmla="*/ 331 h 431"/>
                <a:gd name="T70" fmla="*/ 366 w 432"/>
                <a:gd name="T71" fmla="*/ 299 h 431"/>
                <a:gd name="T72" fmla="*/ 382 w 432"/>
                <a:gd name="T73" fmla="*/ 262 h 431"/>
                <a:gd name="T74" fmla="*/ 420 w 432"/>
                <a:gd name="T75" fmla="*/ 256 h 431"/>
                <a:gd name="T76" fmla="*/ 432 w 432"/>
                <a:gd name="T77" fmla="*/ 242 h 431"/>
                <a:gd name="T78" fmla="*/ 432 w 432"/>
                <a:gd name="T79" fmla="*/ 215 h 431"/>
                <a:gd name="T80" fmla="*/ 432 w 432"/>
                <a:gd name="T81" fmla="*/ 188 h 431"/>
                <a:gd name="T82" fmla="*/ 420 w 432"/>
                <a:gd name="T83" fmla="*/ 175 h 431"/>
                <a:gd name="T84" fmla="*/ 382 w 432"/>
                <a:gd name="T85" fmla="*/ 169 h 431"/>
                <a:gd name="T86" fmla="*/ 366 w 432"/>
                <a:gd name="T87" fmla="*/ 132 h 431"/>
                <a:gd name="T88" fmla="*/ 389 w 432"/>
                <a:gd name="T89" fmla="*/ 100 h 431"/>
                <a:gd name="T90" fmla="*/ 388 w 432"/>
                <a:gd name="T91" fmla="*/ 82 h 431"/>
                <a:gd name="T92" fmla="*/ 369 w 432"/>
                <a:gd name="T93" fmla="*/ 63 h 431"/>
                <a:gd name="T94" fmla="*/ 350 w 432"/>
                <a:gd name="T95" fmla="*/ 44 h 431"/>
                <a:gd name="T96" fmla="*/ 332 w 432"/>
                <a:gd name="T97" fmla="*/ 43 h 431"/>
                <a:gd name="T98" fmla="*/ 300 w 432"/>
                <a:gd name="T99" fmla="*/ 65 h 431"/>
                <a:gd name="T100" fmla="*/ 263 w 432"/>
                <a:gd name="T101" fmla="*/ 50 h 431"/>
                <a:gd name="T102" fmla="*/ 256 w 432"/>
                <a:gd name="T103" fmla="*/ 12 h 431"/>
                <a:gd name="T104" fmla="*/ 243 w 432"/>
                <a:gd name="T105" fmla="*/ 0 h 431"/>
                <a:gd name="T106" fmla="*/ 216 w 432"/>
                <a:gd name="T107" fmla="*/ 0 h 431"/>
                <a:gd name="T108" fmla="*/ 189 w 432"/>
                <a:gd name="T109" fmla="*/ 0 h 431"/>
                <a:gd name="T110" fmla="*/ 176 w 432"/>
                <a:gd name="T111" fmla="*/ 12 h 431"/>
                <a:gd name="T112" fmla="*/ 169 w 432"/>
                <a:gd name="T113" fmla="*/ 50 h 431"/>
                <a:gd name="T114" fmla="*/ 216 w 432"/>
                <a:gd name="T115" fmla="*/ 135 h 431"/>
                <a:gd name="T116" fmla="*/ 297 w 432"/>
                <a:gd name="T117" fmla="*/ 215 h 431"/>
                <a:gd name="T118" fmla="*/ 216 w 432"/>
                <a:gd name="T119" fmla="*/ 296 h 431"/>
                <a:gd name="T120" fmla="*/ 135 w 432"/>
                <a:gd name="T121" fmla="*/ 215 h 431"/>
                <a:gd name="T122" fmla="*/ 216 w 432"/>
                <a:gd name="T123" fmla="*/ 135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2" h="431">
                  <a:moveTo>
                    <a:pt x="169" y="50"/>
                  </a:moveTo>
                  <a:cubicBezTo>
                    <a:pt x="156" y="54"/>
                    <a:pt x="144" y="59"/>
                    <a:pt x="132" y="65"/>
                  </a:cubicBezTo>
                  <a:cubicBezTo>
                    <a:pt x="101" y="43"/>
                    <a:pt x="101" y="43"/>
                    <a:pt x="101" y="43"/>
                  </a:cubicBezTo>
                  <a:cubicBezTo>
                    <a:pt x="95" y="39"/>
                    <a:pt x="87" y="39"/>
                    <a:pt x="83" y="44"/>
                  </a:cubicBezTo>
                  <a:cubicBezTo>
                    <a:pt x="63" y="63"/>
                    <a:pt x="63" y="63"/>
                    <a:pt x="63" y="63"/>
                  </a:cubicBezTo>
                  <a:cubicBezTo>
                    <a:pt x="44" y="82"/>
                    <a:pt x="44" y="82"/>
                    <a:pt x="44" y="82"/>
                  </a:cubicBezTo>
                  <a:cubicBezTo>
                    <a:pt x="39" y="87"/>
                    <a:pt x="39" y="95"/>
                    <a:pt x="43" y="100"/>
                  </a:cubicBezTo>
                  <a:cubicBezTo>
                    <a:pt x="66" y="132"/>
                    <a:pt x="66" y="132"/>
                    <a:pt x="66" y="132"/>
                  </a:cubicBezTo>
                  <a:cubicBezTo>
                    <a:pt x="59" y="143"/>
                    <a:pt x="54" y="156"/>
                    <a:pt x="51" y="169"/>
                  </a:cubicBezTo>
                  <a:cubicBezTo>
                    <a:pt x="12" y="175"/>
                    <a:pt x="12" y="175"/>
                    <a:pt x="12" y="175"/>
                  </a:cubicBezTo>
                  <a:cubicBezTo>
                    <a:pt x="6" y="176"/>
                    <a:pt x="0" y="181"/>
                    <a:pt x="0" y="188"/>
                  </a:cubicBezTo>
                  <a:cubicBezTo>
                    <a:pt x="0" y="215"/>
                    <a:pt x="0" y="215"/>
                    <a:pt x="0" y="215"/>
                  </a:cubicBezTo>
                  <a:cubicBezTo>
                    <a:pt x="0" y="242"/>
                    <a:pt x="0" y="242"/>
                    <a:pt x="0" y="242"/>
                  </a:cubicBezTo>
                  <a:cubicBezTo>
                    <a:pt x="0" y="249"/>
                    <a:pt x="6" y="255"/>
                    <a:pt x="12" y="256"/>
                  </a:cubicBezTo>
                  <a:cubicBezTo>
                    <a:pt x="51" y="262"/>
                    <a:pt x="51" y="262"/>
                    <a:pt x="51" y="262"/>
                  </a:cubicBezTo>
                  <a:cubicBezTo>
                    <a:pt x="54" y="275"/>
                    <a:pt x="59" y="288"/>
                    <a:pt x="66" y="299"/>
                  </a:cubicBezTo>
                  <a:cubicBezTo>
                    <a:pt x="43" y="331"/>
                    <a:pt x="43" y="331"/>
                    <a:pt x="43" y="331"/>
                  </a:cubicBezTo>
                  <a:cubicBezTo>
                    <a:pt x="39" y="336"/>
                    <a:pt x="39" y="344"/>
                    <a:pt x="44" y="349"/>
                  </a:cubicBezTo>
                  <a:cubicBezTo>
                    <a:pt x="63" y="368"/>
                    <a:pt x="63" y="368"/>
                    <a:pt x="63" y="368"/>
                  </a:cubicBezTo>
                  <a:cubicBezTo>
                    <a:pt x="83" y="387"/>
                    <a:pt x="83" y="387"/>
                    <a:pt x="83" y="387"/>
                  </a:cubicBezTo>
                  <a:cubicBezTo>
                    <a:pt x="87" y="392"/>
                    <a:pt x="95" y="392"/>
                    <a:pt x="101" y="388"/>
                  </a:cubicBezTo>
                  <a:cubicBezTo>
                    <a:pt x="132" y="366"/>
                    <a:pt x="132" y="366"/>
                    <a:pt x="132" y="366"/>
                  </a:cubicBezTo>
                  <a:cubicBezTo>
                    <a:pt x="144" y="372"/>
                    <a:pt x="156" y="377"/>
                    <a:pt x="169" y="381"/>
                  </a:cubicBezTo>
                  <a:cubicBezTo>
                    <a:pt x="176" y="419"/>
                    <a:pt x="176" y="419"/>
                    <a:pt x="176" y="419"/>
                  </a:cubicBezTo>
                  <a:cubicBezTo>
                    <a:pt x="176" y="426"/>
                    <a:pt x="182" y="431"/>
                    <a:pt x="189" y="431"/>
                  </a:cubicBezTo>
                  <a:cubicBezTo>
                    <a:pt x="216" y="431"/>
                    <a:pt x="216" y="431"/>
                    <a:pt x="216" y="431"/>
                  </a:cubicBezTo>
                  <a:cubicBezTo>
                    <a:pt x="243" y="431"/>
                    <a:pt x="243" y="431"/>
                    <a:pt x="243" y="431"/>
                  </a:cubicBezTo>
                  <a:cubicBezTo>
                    <a:pt x="250" y="431"/>
                    <a:pt x="256" y="426"/>
                    <a:pt x="256" y="419"/>
                  </a:cubicBezTo>
                  <a:cubicBezTo>
                    <a:pt x="263" y="381"/>
                    <a:pt x="263" y="381"/>
                    <a:pt x="263" y="381"/>
                  </a:cubicBezTo>
                  <a:cubicBezTo>
                    <a:pt x="276" y="377"/>
                    <a:pt x="288" y="372"/>
                    <a:pt x="300" y="366"/>
                  </a:cubicBezTo>
                  <a:cubicBezTo>
                    <a:pt x="332" y="388"/>
                    <a:pt x="332" y="388"/>
                    <a:pt x="332" y="388"/>
                  </a:cubicBezTo>
                  <a:cubicBezTo>
                    <a:pt x="337" y="392"/>
                    <a:pt x="345" y="392"/>
                    <a:pt x="350" y="387"/>
                  </a:cubicBezTo>
                  <a:cubicBezTo>
                    <a:pt x="369" y="368"/>
                    <a:pt x="369" y="368"/>
                    <a:pt x="369" y="368"/>
                  </a:cubicBezTo>
                  <a:cubicBezTo>
                    <a:pt x="388" y="349"/>
                    <a:pt x="388" y="349"/>
                    <a:pt x="388" y="349"/>
                  </a:cubicBezTo>
                  <a:cubicBezTo>
                    <a:pt x="393" y="344"/>
                    <a:pt x="393" y="336"/>
                    <a:pt x="389" y="331"/>
                  </a:cubicBezTo>
                  <a:cubicBezTo>
                    <a:pt x="366" y="299"/>
                    <a:pt x="366" y="299"/>
                    <a:pt x="366" y="299"/>
                  </a:cubicBezTo>
                  <a:cubicBezTo>
                    <a:pt x="373" y="288"/>
                    <a:pt x="378" y="275"/>
                    <a:pt x="382" y="262"/>
                  </a:cubicBezTo>
                  <a:cubicBezTo>
                    <a:pt x="420" y="256"/>
                    <a:pt x="420" y="256"/>
                    <a:pt x="420" y="256"/>
                  </a:cubicBezTo>
                  <a:cubicBezTo>
                    <a:pt x="427" y="255"/>
                    <a:pt x="432" y="249"/>
                    <a:pt x="432" y="242"/>
                  </a:cubicBezTo>
                  <a:cubicBezTo>
                    <a:pt x="432" y="215"/>
                    <a:pt x="432" y="215"/>
                    <a:pt x="432" y="215"/>
                  </a:cubicBezTo>
                  <a:cubicBezTo>
                    <a:pt x="432" y="188"/>
                    <a:pt x="432" y="188"/>
                    <a:pt x="432" y="188"/>
                  </a:cubicBezTo>
                  <a:cubicBezTo>
                    <a:pt x="432" y="181"/>
                    <a:pt x="427" y="176"/>
                    <a:pt x="420" y="175"/>
                  </a:cubicBezTo>
                  <a:cubicBezTo>
                    <a:pt x="382" y="169"/>
                    <a:pt x="382" y="169"/>
                    <a:pt x="382" y="169"/>
                  </a:cubicBezTo>
                  <a:cubicBezTo>
                    <a:pt x="378" y="156"/>
                    <a:pt x="373" y="143"/>
                    <a:pt x="366" y="132"/>
                  </a:cubicBezTo>
                  <a:cubicBezTo>
                    <a:pt x="389" y="100"/>
                    <a:pt x="389" y="100"/>
                    <a:pt x="389" y="100"/>
                  </a:cubicBezTo>
                  <a:cubicBezTo>
                    <a:pt x="393" y="95"/>
                    <a:pt x="393" y="87"/>
                    <a:pt x="388" y="82"/>
                  </a:cubicBezTo>
                  <a:cubicBezTo>
                    <a:pt x="369" y="63"/>
                    <a:pt x="369" y="63"/>
                    <a:pt x="369" y="63"/>
                  </a:cubicBezTo>
                  <a:cubicBezTo>
                    <a:pt x="350" y="44"/>
                    <a:pt x="350" y="44"/>
                    <a:pt x="350" y="44"/>
                  </a:cubicBezTo>
                  <a:cubicBezTo>
                    <a:pt x="345" y="39"/>
                    <a:pt x="337" y="39"/>
                    <a:pt x="332" y="43"/>
                  </a:cubicBezTo>
                  <a:cubicBezTo>
                    <a:pt x="300" y="65"/>
                    <a:pt x="300" y="65"/>
                    <a:pt x="300" y="65"/>
                  </a:cubicBezTo>
                  <a:cubicBezTo>
                    <a:pt x="288" y="59"/>
                    <a:pt x="276" y="54"/>
                    <a:pt x="263" y="50"/>
                  </a:cubicBezTo>
                  <a:cubicBezTo>
                    <a:pt x="256" y="12"/>
                    <a:pt x="256" y="12"/>
                    <a:pt x="256" y="12"/>
                  </a:cubicBezTo>
                  <a:cubicBezTo>
                    <a:pt x="256" y="5"/>
                    <a:pt x="250" y="0"/>
                    <a:pt x="243" y="0"/>
                  </a:cubicBezTo>
                  <a:cubicBezTo>
                    <a:pt x="216" y="0"/>
                    <a:pt x="216" y="0"/>
                    <a:pt x="216" y="0"/>
                  </a:cubicBezTo>
                  <a:cubicBezTo>
                    <a:pt x="189" y="0"/>
                    <a:pt x="189" y="0"/>
                    <a:pt x="189" y="0"/>
                  </a:cubicBezTo>
                  <a:cubicBezTo>
                    <a:pt x="182" y="0"/>
                    <a:pt x="176" y="5"/>
                    <a:pt x="176" y="12"/>
                  </a:cubicBezTo>
                  <a:cubicBezTo>
                    <a:pt x="169" y="50"/>
                    <a:pt x="169" y="50"/>
                    <a:pt x="169" y="50"/>
                  </a:cubicBezTo>
                  <a:close/>
                  <a:moveTo>
                    <a:pt x="216" y="135"/>
                  </a:moveTo>
                  <a:cubicBezTo>
                    <a:pt x="261" y="135"/>
                    <a:pt x="297" y="171"/>
                    <a:pt x="297" y="215"/>
                  </a:cubicBezTo>
                  <a:cubicBezTo>
                    <a:pt x="297" y="260"/>
                    <a:pt x="261" y="296"/>
                    <a:pt x="216" y="296"/>
                  </a:cubicBezTo>
                  <a:cubicBezTo>
                    <a:pt x="171" y="296"/>
                    <a:pt x="135" y="260"/>
                    <a:pt x="135" y="215"/>
                  </a:cubicBezTo>
                  <a:cubicBezTo>
                    <a:pt x="135" y="171"/>
                    <a:pt x="171" y="135"/>
                    <a:pt x="216" y="13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75" name="Freeform 35"/>
          <p:cNvSpPr>
            <a:spLocks/>
          </p:cNvSpPr>
          <p:nvPr userDrawn="1"/>
        </p:nvSpPr>
        <p:spPr bwMode="auto">
          <a:xfrm>
            <a:off x="562926" y="6203196"/>
            <a:ext cx="245672" cy="299304"/>
          </a:xfrm>
          <a:custGeom>
            <a:avLst/>
            <a:gdLst>
              <a:gd name="T0" fmla="*/ 191 w 356"/>
              <a:gd name="T1" fmla="*/ 13 h 433"/>
              <a:gd name="T2" fmla="*/ 191 w 356"/>
              <a:gd name="T3" fmla="*/ 149 h 433"/>
              <a:gd name="T4" fmla="*/ 340 w 356"/>
              <a:gd name="T5" fmla="*/ 149 h 433"/>
              <a:gd name="T6" fmla="*/ 347 w 356"/>
              <a:gd name="T7" fmla="*/ 151 h 433"/>
              <a:gd name="T8" fmla="*/ 352 w 356"/>
              <a:gd name="T9" fmla="*/ 170 h 433"/>
              <a:gd name="T10" fmla="*/ 190 w 356"/>
              <a:gd name="T11" fmla="*/ 426 h 433"/>
              <a:gd name="T12" fmla="*/ 178 w 356"/>
              <a:gd name="T13" fmla="*/ 433 h 433"/>
              <a:gd name="T14" fmla="*/ 164 w 356"/>
              <a:gd name="T15" fmla="*/ 420 h 433"/>
              <a:gd name="T16" fmla="*/ 164 w 356"/>
              <a:gd name="T17" fmla="*/ 284 h 433"/>
              <a:gd name="T18" fmla="*/ 15 w 356"/>
              <a:gd name="T19" fmla="*/ 284 h 433"/>
              <a:gd name="T20" fmla="*/ 8 w 356"/>
              <a:gd name="T21" fmla="*/ 282 h 433"/>
              <a:gd name="T22" fmla="*/ 4 w 356"/>
              <a:gd name="T23" fmla="*/ 264 h 433"/>
              <a:gd name="T24" fmla="*/ 166 w 356"/>
              <a:gd name="T25" fmla="*/ 7 h 433"/>
              <a:gd name="T26" fmla="*/ 178 w 356"/>
              <a:gd name="T27" fmla="*/ 0 h 433"/>
              <a:gd name="T28" fmla="*/ 191 w 356"/>
              <a:gd name="T29" fmla="*/ 1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6" h="433">
                <a:moveTo>
                  <a:pt x="191" y="13"/>
                </a:moveTo>
                <a:cubicBezTo>
                  <a:pt x="191" y="149"/>
                  <a:pt x="191" y="149"/>
                  <a:pt x="191" y="149"/>
                </a:cubicBezTo>
                <a:cubicBezTo>
                  <a:pt x="340" y="149"/>
                  <a:pt x="340" y="149"/>
                  <a:pt x="340" y="149"/>
                </a:cubicBezTo>
                <a:cubicBezTo>
                  <a:pt x="343" y="149"/>
                  <a:pt x="345" y="150"/>
                  <a:pt x="347" y="151"/>
                </a:cubicBezTo>
                <a:cubicBezTo>
                  <a:pt x="354" y="155"/>
                  <a:pt x="356" y="163"/>
                  <a:pt x="352" y="170"/>
                </a:cubicBezTo>
                <a:cubicBezTo>
                  <a:pt x="190" y="426"/>
                  <a:pt x="190" y="426"/>
                  <a:pt x="190" y="426"/>
                </a:cubicBezTo>
                <a:cubicBezTo>
                  <a:pt x="187" y="430"/>
                  <a:pt x="183" y="433"/>
                  <a:pt x="178" y="433"/>
                </a:cubicBezTo>
                <a:cubicBezTo>
                  <a:pt x="170" y="433"/>
                  <a:pt x="164" y="427"/>
                  <a:pt x="164" y="420"/>
                </a:cubicBezTo>
                <a:cubicBezTo>
                  <a:pt x="164" y="284"/>
                  <a:pt x="164" y="284"/>
                  <a:pt x="164" y="284"/>
                </a:cubicBezTo>
                <a:cubicBezTo>
                  <a:pt x="15" y="284"/>
                  <a:pt x="15" y="284"/>
                  <a:pt x="15" y="284"/>
                </a:cubicBezTo>
                <a:cubicBezTo>
                  <a:pt x="13" y="284"/>
                  <a:pt x="10" y="284"/>
                  <a:pt x="8" y="282"/>
                </a:cubicBezTo>
                <a:cubicBezTo>
                  <a:pt x="2" y="278"/>
                  <a:pt x="0" y="270"/>
                  <a:pt x="4" y="264"/>
                </a:cubicBezTo>
                <a:cubicBezTo>
                  <a:pt x="166" y="7"/>
                  <a:pt x="166" y="7"/>
                  <a:pt x="166" y="7"/>
                </a:cubicBezTo>
                <a:cubicBezTo>
                  <a:pt x="168" y="3"/>
                  <a:pt x="172" y="0"/>
                  <a:pt x="178" y="0"/>
                </a:cubicBezTo>
                <a:cubicBezTo>
                  <a:pt x="185" y="0"/>
                  <a:pt x="191" y="6"/>
                  <a:pt x="191"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76" name="Freeform 39"/>
          <p:cNvSpPr>
            <a:spLocks noEditPoints="1"/>
          </p:cNvSpPr>
          <p:nvPr userDrawn="1"/>
        </p:nvSpPr>
        <p:spPr bwMode="auto">
          <a:xfrm>
            <a:off x="586065" y="6771653"/>
            <a:ext cx="199396" cy="289790"/>
          </a:xfrm>
          <a:custGeom>
            <a:avLst/>
            <a:gdLst>
              <a:gd name="T0" fmla="*/ 144 w 288"/>
              <a:gd name="T1" fmla="*/ 0 h 419"/>
              <a:gd name="T2" fmla="*/ 0 w 288"/>
              <a:gd name="T3" fmla="*/ 144 h 419"/>
              <a:gd name="T4" fmla="*/ 67 w 288"/>
              <a:gd name="T5" fmla="*/ 267 h 419"/>
              <a:gd name="T6" fmla="*/ 92 w 288"/>
              <a:gd name="T7" fmla="*/ 316 h 419"/>
              <a:gd name="T8" fmla="*/ 92 w 288"/>
              <a:gd name="T9" fmla="*/ 334 h 419"/>
              <a:gd name="T10" fmla="*/ 197 w 288"/>
              <a:gd name="T11" fmla="*/ 334 h 419"/>
              <a:gd name="T12" fmla="*/ 197 w 288"/>
              <a:gd name="T13" fmla="*/ 316 h 419"/>
              <a:gd name="T14" fmla="*/ 222 w 288"/>
              <a:gd name="T15" fmla="*/ 267 h 419"/>
              <a:gd name="T16" fmla="*/ 288 w 288"/>
              <a:gd name="T17" fmla="*/ 144 h 419"/>
              <a:gd name="T18" fmla="*/ 144 w 288"/>
              <a:gd name="T19" fmla="*/ 0 h 419"/>
              <a:gd name="T20" fmla="*/ 197 w 288"/>
              <a:gd name="T21" fmla="*/ 354 h 419"/>
              <a:gd name="T22" fmla="*/ 197 w 288"/>
              <a:gd name="T23" fmla="*/ 386 h 419"/>
              <a:gd name="T24" fmla="*/ 164 w 288"/>
              <a:gd name="T25" fmla="*/ 419 h 419"/>
              <a:gd name="T26" fmla="*/ 125 w 288"/>
              <a:gd name="T27" fmla="*/ 419 h 419"/>
              <a:gd name="T28" fmla="*/ 92 w 288"/>
              <a:gd name="T29" fmla="*/ 386 h 419"/>
              <a:gd name="T30" fmla="*/ 92 w 288"/>
              <a:gd name="T31" fmla="*/ 354 h 419"/>
              <a:gd name="T32" fmla="*/ 197 w 288"/>
              <a:gd name="T33" fmla="*/ 354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419">
                <a:moveTo>
                  <a:pt x="144" y="0"/>
                </a:moveTo>
                <a:cubicBezTo>
                  <a:pt x="65" y="0"/>
                  <a:pt x="0" y="65"/>
                  <a:pt x="0" y="144"/>
                </a:cubicBezTo>
                <a:cubicBezTo>
                  <a:pt x="0" y="202"/>
                  <a:pt x="29" y="230"/>
                  <a:pt x="67" y="267"/>
                </a:cubicBezTo>
                <a:cubicBezTo>
                  <a:pt x="81" y="281"/>
                  <a:pt x="92" y="296"/>
                  <a:pt x="92" y="316"/>
                </a:cubicBezTo>
                <a:cubicBezTo>
                  <a:pt x="92" y="334"/>
                  <a:pt x="92" y="334"/>
                  <a:pt x="92" y="334"/>
                </a:cubicBezTo>
                <a:cubicBezTo>
                  <a:pt x="197" y="334"/>
                  <a:pt x="197" y="334"/>
                  <a:pt x="197" y="334"/>
                </a:cubicBezTo>
                <a:cubicBezTo>
                  <a:pt x="197" y="316"/>
                  <a:pt x="197" y="316"/>
                  <a:pt x="197" y="316"/>
                </a:cubicBezTo>
                <a:cubicBezTo>
                  <a:pt x="197" y="296"/>
                  <a:pt x="208" y="281"/>
                  <a:pt x="222" y="267"/>
                </a:cubicBezTo>
                <a:cubicBezTo>
                  <a:pt x="259" y="230"/>
                  <a:pt x="288" y="202"/>
                  <a:pt x="288" y="144"/>
                </a:cubicBezTo>
                <a:cubicBezTo>
                  <a:pt x="288" y="65"/>
                  <a:pt x="224" y="0"/>
                  <a:pt x="144" y="0"/>
                </a:cubicBezTo>
                <a:close/>
                <a:moveTo>
                  <a:pt x="197" y="354"/>
                </a:moveTo>
                <a:cubicBezTo>
                  <a:pt x="197" y="386"/>
                  <a:pt x="197" y="386"/>
                  <a:pt x="197" y="386"/>
                </a:cubicBezTo>
                <a:cubicBezTo>
                  <a:pt x="197" y="404"/>
                  <a:pt x="182" y="419"/>
                  <a:pt x="164" y="419"/>
                </a:cubicBezTo>
                <a:cubicBezTo>
                  <a:pt x="125" y="419"/>
                  <a:pt x="125" y="419"/>
                  <a:pt x="125" y="419"/>
                </a:cubicBezTo>
                <a:cubicBezTo>
                  <a:pt x="107" y="419"/>
                  <a:pt x="92" y="404"/>
                  <a:pt x="92" y="386"/>
                </a:cubicBezTo>
                <a:cubicBezTo>
                  <a:pt x="92" y="354"/>
                  <a:pt x="92" y="354"/>
                  <a:pt x="92" y="354"/>
                </a:cubicBezTo>
                <a:lnTo>
                  <a:pt x="197" y="35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80" name="Group 11"/>
          <p:cNvGrpSpPr/>
          <p:nvPr userDrawn="1"/>
        </p:nvGrpSpPr>
        <p:grpSpPr>
          <a:xfrm>
            <a:off x="570796" y="5560354"/>
            <a:ext cx="229932" cy="320210"/>
            <a:chOff x="2490788" y="-407988"/>
            <a:chExt cx="3836987" cy="5343526"/>
          </a:xfrm>
          <a:solidFill>
            <a:schemeClr val="tx1"/>
          </a:solidFill>
        </p:grpSpPr>
        <p:sp>
          <p:nvSpPr>
            <p:cNvPr id="381" name="Freeform 11"/>
            <p:cNvSpPr>
              <a:spLocks/>
            </p:cNvSpPr>
            <p:nvPr/>
          </p:nvSpPr>
          <p:spPr bwMode="auto">
            <a:xfrm>
              <a:off x="2490788" y="401637"/>
              <a:ext cx="3836987" cy="1879600"/>
            </a:xfrm>
            <a:custGeom>
              <a:avLst/>
              <a:gdLst>
                <a:gd name="T0" fmla="*/ 319 w 341"/>
                <a:gd name="T1" fmla="*/ 119 h 167"/>
                <a:gd name="T2" fmla="*/ 319 w 341"/>
                <a:gd name="T3" fmla="*/ 48 h 167"/>
                <a:gd name="T4" fmla="*/ 341 w 341"/>
                <a:gd name="T5" fmla="*/ 24 h 167"/>
                <a:gd name="T6" fmla="*/ 317 w 341"/>
                <a:gd name="T7" fmla="*/ 0 h 167"/>
                <a:gd name="T8" fmla="*/ 24 w 341"/>
                <a:gd name="T9" fmla="*/ 0 h 167"/>
                <a:gd name="T10" fmla="*/ 0 w 341"/>
                <a:gd name="T11" fmla="*/ 24 h 167"/>
                <a:gd name="T12" fmla="*/ 24 w 341"/>
                <a:gd name="T13" fmla="*/ 48 h 167"/>
                <a:gd name="T14" fmla="*/ 24 w 341"/>
                <a:gd name="T15" fmla="*/ 48 h 167"/>
                <a:gd name="T16" fmla="*/ 24 w 341"/>
                <a:gd name="T17" fmla="*/ 119 h 167"/>
                <a:gd name="T18" fmla="*/ 24 w 341"/>
                <a:gd name="T19" fmla="*/ 119 h 167"/>
                <a:gd name="T20" fmla="*/ 0 w 341"/>
                <a:gd name="T21" fmla="*/ 143 h 167"/>
                <a:gd name="T22" fmla="*/ 24 w 341"/>
                <a:gd name="T23" fmla="*/ 167 h 167"/>
                <a:gd name="T24" fmla="*/ 24 w 341"/>
                <a:gd name="T25" fmla="*/ 167 h 167"/>
                <a:gd name="T26" fmla="*/ 317 w 341"/>
                <a:gd name="T27" fmla="*/ 167 h 167"/>
                <a:gd name="T28" fmla="*/ 319 w 341"/>
                <a:gd name="T29" fmla="*/ 167 h 167"/>
                <a:gd name="T30" fmla="*/ 319 w 341"/>
                <a:gd name="T31" fmla="*/ 167 h 167"/>
                <a:gd name="T32" fmla="*/ 341 w 341"/>
                <a:gd name="T33" fmla="*/ 143 h 167"/>
                <a:gd name="T34" fmla="*/ 319 w 341"/>
                <a:gd name="T35" fmla="*/ 119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1" h="167">
                  <a:moveTo>
                    <a:pt x="319" y="119"/>
                  </a:moveTo>
                  <a:cubicBezTo>
                    <a:pt x="319" y="48"/>
                    <a:pt x="319" y="48"/>
                    <a:pt x="319" y="48"/>
                  </a:cubicBezTo>
                  <a:cubicBezTo>
                    <a:pt x="331" y="47"/>
                    <a:pt x="341" y="37"/>
                    <a:pt x="341" y="24"/>
                  </a:cubicBezTo>
                  <a:cubicBezTo>
                    <a:pt x="341" y="11"/>
                    <a:pt x="330" y="0"/>
                    <a:pt x="317" y="0"/>
                  </a:cubicBezTo>
                  <a:cubicBezTo>
                    <a:pt x="24" y="0"/>
                    <a:pt x="24" y="0"/>
                    <a:pt x="24" y="0"/>
                  </a:cubicBezTo>
                  <a:cubicBezTo>
                    <a:pt x="10" y="0"/>
                    <a:pt x="0" y="11"/>
                    <a:pt x="0" y="24"/>
                  </a:cubicBezTo>
                  <a:cubicBezTo>
                    <a:pt x="0" y="37"/>
                    <a:pt x="10" y="48"/>
                    <a:pt x="24" y="48"/>
                  </a:cubicBezTo>
                  <a:cubicBezTo>
                    <a:pt x="24" y="48"/>
                    <a:pt x="24" y="48"/>
                    <a:pt x="24" y="48"/>
                  </a:cubicBezTo>
                  <a:cubicBezTo>
                    <a:pt x="24" y="119"/>
                    <a:pt x="24" y="119"/>
                    <a:pt x="24" y="119"/>
                  </a:cubicBezTo>
                  <a:cubicBezTo>
                    <a:pt x="24" y="119"/>
                    <a:pt x="24" y="119"/>
                    <a:pt x="24" y="119"/>
                  </a:cubicBezTo>
                  <a:cubicBezTo>
                    <a:pt x="10" y="119"/>
                    <a:pt x="0" y="129"/>
                    <a:pt x="0" y="143"/>
                  </a:cubicBezTo>
                  <a:cubicBezTo>
                    <a:pt x="0" y="156"/>
                    <a:pt x="10" y="167"/>
                    <a:pt x="24" y="167"/>
                  </a:cubicBezTo>
                  <a:cubicBezTo>
                    <a:pt x="24" y="167"/>
                    <a:pt x="24" y="167"/>
                    <a:pt x="24" y="167"/>
                  </a:cubicBezTo>
                  <a:cubicBezTo>
                    <a:pt x="317" y="167"/>
                    <a:pt x="317" y="167"/>
                    <a:pt x="317" y="167"/>
                  </a:cubicBezTo>
                  <a:cubicBezTo>
                    <a:pt x="319" y="167"/>
                    <a:pt x="319" y="167"/>
                    <a:pt x="319" y="167"/>
                  </a:cubicBezTo>
                  <a:cubicBezTo>
                    <a:pt x="319" y="167"/>
                    <a:pt x="319" y="167"/>
                    <a:pt x="319" y="167"/>
                  </a:cubicBezTo>
                  <a:cubicBezTo>
                    <a:pt x="331" y="166"/>
                    <a:pt x="341" y="155"/>
                    <a:pt x="341" y="143"/>
                  </a:cubicBezTo>
                  <a:cubicBezTo>
                    <a:pt x="341" y="130"/>
                    <a:pt x="331" y="120"/>
                    <a:pt x="319"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2"/>
            <p:cNvSpPr>
              <a:spLocks/>
            </p:cNvSpPr>
            <p:nvPr/>
          </p:nvSpPr>
          <p:spPr bwMode="auto">
            <a:xfrm>
              <a:off x="2490788" y="2551113"/>
              <a:ext cx="3836987" cy="1057275"/>
            </a:xfrm>
            <a:custGeom>
              <a:avLst/>
              <a:gdLst>
                <a:gd name="T0" fmla="*/ 319 w 341"/>
                <a:gd name="T1" fmla="*/ 46 h 94"/>
                <a:gd name="T2" fmla="*/ 319 w 341"/>
                <a:gd name="T3" fmla="*/ 0 h 94"/>
                <a:gd name="T4" fmla="*/ 24 w 341"/>
                <a:gd name="T5" fmla="*/ 0 h 94"/>
                <a:gd name="T6" fmla="*/ 24 w 341"/>
                <a:gd name="T7" fmla="*/ 46 h 94"/>
                <a:gd name="T8" fmla="*/ 24 w 341"/>
                <a:gd name="T9" fmla="*/ 46 h 94"/>
                <a:gd name="T10" fmla="*/ 0 w 341"/>
                <a:gd name="T11" fmla="*/ 70 h 94"/>
                <a:gd name="T12" fmla="*/ 24 w 341"/>
                <a:gd name="T13" fmla="*/ 94 h 94"/>
                <a:gd name="T14" fmla="*/ 24 w 341"/>
                <a:gd name="T15" fmla="*/ 94 h 94"/>
                <a:gd name="T16" fmla="*/ 317 w 341"/>
                <a:gd name="T17" fmla="*/ 94 h 94"/>
                <a:gd name="T18" fmla="*/ 319 w 341"/>
                <a:gd name="T19" fmla="*/ 94 h 94"/>
                <a:gd name="T20" fmla="*/ 319 w 341"/>
                <a:gd name="T21" fmla="*/ 94 h 94"/>
                <a:gd name="T22" fmla="*/ 341 w 341"/>
                <a:gd name="T23" fmla="*/ 70 h 94"/>
                <a:gd name="T24" fmla="*/ 319 w 341"/>
                <a:gd name="T25" fmla="*/ 4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1" h="94">
                  <a:moveTo>
                    <a:pt x="319" y="46"/>
                  </a:moveTo>
                  <a:cubicBezTo>
                    <a:pt x="319" y="0"/>
                    <a:pt x="319" y="0"/>
                    <a:pt x="319" y="0"/>
                  </a:cubicBezTo>
                  <a:cubicBezTo>
                    <a:pt x="24" y="0"/>
                    <a:pt x="24" y="0"/>
                    <a:pt x="24" y="0"/>
                  </a:cubicBezTo>
                  <a:cubicBezTo>
                    <a:pt x="24" y="46"/>
                    <a:pt x="24" y="46"/>
                    <a:pt x="24" y="46"/>
                  </a:cubicBezTo>
                  <a:cubicBezTo>
                    <a:pt x="24" y="46"/>
                    <a:pt x="24" y="46"/>
                    <a:pt x="24" y="46"/>
                  </a:cubicBezTo>
                  <a:cubicBezTo>
                    <a:pt x="10" y="46"/>
                    <a:pt x="0" y="56"/>
                    <a:pt x="0" y="70"/>
                  </a:cubicBezTo>
                  <a:cubicBezTo>
                    <a:pt x="0" y="83"/>
                    <a:pt x="10" y="94"/>
                    <a:pt x="24" y="94"/>
                  </a:cubicBezTo>
                  <a:cubicBezTo>
                    <a:pt x="24" y="94"/>
                    <a:pt x="24" y="94"/>
                    <a:pt x="24" y="94"/>
                  </a:cubicBezTo>
                  <a:cubicBezTo>
                    <a:pt x="317" y="94"/>
                    <a:pt x="317" y="94"/>
                    <a:pt x="317" y="94"/>
                  </a:cubicBezTo>
                  <a:cubicBezTo>
                    <a:pt x="319" y="94"/>
                    <a:pt x="319" y="94"/>
                    <a:pt x="319" y="94"/>
                  </a:cubicBezTo>
                  <a:cubicBezTo>
                    <a:pt x="319" y="94"/>
                    <a:pt x="319" y="94"/>
                    <a:pt x="319" y="94"/>
                  </a:cubicBezTo>
                  <a:cubicBezTo>
                    <a:pt x="331" y="93"/>
                    <a:pt x="341" y="82"/>
                    <a:pt x="341" y="70"/>
                  </a:cubicBezTo>
                  <a:cubicBezTo>
                    <a:pt x="341" y="57"/>
                    <a:pt x="331" y="47"/>
                    <a:pt x="31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3"/>
            <p:cNvSpPr>
              <a:spLocks/>
            </p:cNvSpPr>
            <p:nvPr/>
          </p:nvSpPr>
          <p:spPr bwMode="auto">
            <a:xfrm>
              <a:off x="2490788" y="3878263"/>
              <a:ext cx="3836987" cy="1057275"/>
            </a:xfrm>
            <a:custGeom>
              <a:avLst/>
              <a:gdLst>
                <a:gd name="T0" fmla="*/ 319 w 341"/>
                <a:gd name="T1" fmla="*/ 46 h 94"/>
                <a:gd name="T2" fmla="*/ 319 w 341"/>
                <a:gd name="T3" fmla="*/ 0 h 94"/>
                <a:gd name="T4" fmla="*/ 24 w 341"/>
                <a:gd name="T5" fmla="*/ 0 h 94"/>
                <a:gd name="T6" fmla="*/ 24 w 341"/>
                <a:gd name="T7" fmla="*/ 46 h 94"/>
                <a:gd name="T8" fmla="*/ 24 w 341"/>
                <a:gd name="T9" fmla="*/ 46 h 94"/>
                <a:gd name="T10" fmla="*/ 0 w 341"/>
                <a:gd name="T11" fmla="*/ 70 h 94"/>
                <a:gd name="T12" fmla="*/ 24 w 341"/>
                <a:gd name="T13" fmla="*/ 94 h 94"/>
                <a:gd name="T14" fmla="*/ 317 w 341"/>
                <a:gd name="T15" fmla="*/ 94 h 94"/>
                <a:gd name="T16" fmla="*/ 341 w 341"/>
                <a:gd name="T17" fmla="*/ 70 h 94"/>
                <a:gd name="T18" fmla="*/ 319 w 341"/>
                <a:gd name="T19" fmla="*/ 4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1" h="94">
                  <a:moveTo>
                    <a:pt x="319" y="46"/>
                  </a:moveTo>
                  <a:cubicBezTo>
                    <a:pt x="319" y="0"/>
                    <a:pt x="319" y="0"/>
                    <a:pt x="319" y="0"/>
                  </a:cubicBezTo>
                  <a:cubicBezTo>
                    <a:pt x="24" y="0"/>
                    <a:pt x="24" y="0"/>
                    <a:pt x="24" y="0"/>
                  </a:cubicBezTo>
                  <a:cubicBezTo>
                    <a:pt x="24" y="46"/>
                    <a:pt x="24" y="46"/>
                    <a:pt x="24" y="46"/>
                  </a:cubicBezTo>
                  <a:cubicBezTo>
                    <a:pt x="24" y="46"/>
                    <a:pt x="24" y="46"/>
                    <a:pt x="24" y="46"/>
                  </a:cubicBezTo>
                  <a:cubicBezTo>
                    <a:pt x="10" y="46"/>
                    <a:pt x="0" y="57"/>
                    <a:pt x="0" y="70"/>
                  </a:cubicBezTo>
                  <a:cubicBezTo>
                    <a:pt x="0" y="83"/>
                    <a:pt x="10" y="94"/>
                    <a:pt x="24" y="94"/>
                  </a:cubicBezTo>
                  <a:cubicBezTo>
                    <a:pt x="317" y="94"/>
                    <a:pt x="317" y="94"/>
                    <a:pt x="317" y="94"/>
                  </a:cubicBezTo>
                  <a:cubicBezTo>
                    <a:pt x="330" y="94"/>
                    <a:pt x="341" y="83"/>
                    <a:pt x="341" y="70"/>
                  </a:cubicBezTo>
                  <a:cubicBezTo>
                    <a:pt x="341" y="57"/>
                    <a:pt x="331" y="47"/>
                    <a:pt x="31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
            <p:cNvSpPr>
              <a:spLocks/>
            </p:cNvSpPr>
            <p:nvPr/>
          </p:nvSpPr>
          <p:spPr bwMode="auto">
            <a:xfrm>
              <a:off x="4640263" y="-407988"/>
              <a:ext cx="900112" cy="539750"/>
            </a:xfrm>
            <a:custGeom>
              <a:avLst/>
              <a:gdLst>
                <a:gd name="T0" fmla="*/ 80 w 80"/>
                <a:gd name="T1" fmla="*/ 18 h 48"/>
                <a:gd name="T2" fmla="*/ 62 w 80"/>
                <a:gd name="T3" fmla="*/ 0 h 48"/>
                <a:gd name="T4" fmla="*/ 18 w 80"/>
                <a:gd name="T5" fmla="*/ 0 h 48"/>
                <a:gd name="T6" fmla="*/ 0 w 80"/>
                <a:gd name="T7" fmla="*/ 18 h 48"/>
                <a:gd name="T8" fmla="*/ 0 w 80"/>
                <a:gd name="T9" fmla="*/ 48 h 48"/>
                <a:gd name="T10" fmla="*/ 80 w 80"/>
                <a:gd name="T11" fmla="*/ 48 h 48"/>
                <a:gd name="T12" fmla="*/ 80 w 80"/>
                <a:gd name="T13" fmla="*/ 18 h 48"/>
              </a:gdLst>
              <a:ahLst/>
              <a:cxnLst>
                <a:cxn ang="0">
                  <a:pos x="T0" y="T1"/>
                </a:cxn>
                <a:cxn ang="0">
                  <a:pos x="T2" y="T3"/>
                </a:cxn>
                <a:cxn ang="0">
                  <a:pos x="T4" y="T5"/>
                </a:cxn>
                <a:cxn ang="0">
                  <a:pos x="T6" y="T7"/>
                </a:cxn>
                <a:cxn ang="0">
                  <a:pos x="T8" y="T9"/>
                </a:cxn>
                <a:cxn ang="0">
                  <a:pos x="T10" y="T11"/>
                </a:cxn>
                <a:cxn ang="0">
                  <a:pos x="T12" y="T13"/>
                </a:cxn>
              </a:cxnLst>
              <a:rect l="0" t="0" r="r" b="b"/>
              <a:pathLst>
                <a:path w="80" h="48">
                  <a:moveTo>
                    <a:pt x="80" y="18"/>
                  </a:moveTo>
                  <a:cubicBezTo>
                    <a:pt x="80" y="8"/>
                    <a:pt x="72" y="0"/>
                    <a:pt x="62" y="0"/>
                  </a:cubicBezTo>
                  <a:cubicBezTo>
                    <a:pt x="18" y="0"/>
                    <a:pt x="18" y="0"/>
                    <a:pt x="18" y="0"/>
                  </a:cubicBezTo>
                  <a:cubicBezTo>
                    <a:pt x="8" y="0"/>
                    <a:pt x="0" y="8"/>
                    <a:pt x="0" y="18"/>
                  </a:cubicBezTo>
                  <a:cubicBezTo>
                    <a:pt x="0" y="48"/>
                    <a:pt x="0" y="48"/>
                    <a:pt x="0" y="48"/>
                  </a:cubicBezTo>
                  <a:cubicBezTo>
                    <a:pt x="80" y="48"/>
                    <a:pt x="80" y="48"/>
                    <a:pt x="80" y="48"/>
                  </a:cubicBezTo>
                  <a:lnTo>
                    <a:pt x="8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85" name="Group 384"/>
          <p:cNvGrpSpPr/>
          <p:nvPr userDrawn="1"/>
        </p:nvGrpSpPr>
        <p:grpSpPr>
          <a:xfrm>
            <a:off x="520422" y="4936795"/>
            <a:ext cx="330680" cy="297448"/>
            <a:chOff x="290513" y="1127125"/>
            <a:chExt cx="4802188" cy="4319588"/>
          </a:xfrm>
          <a:solidFill>
            <a:schemeClr val="tx1"/>
          </a:solidFill>
        </p:grpSpPr>
        <p:sp>
          <p:nvSpPr>
            <p:cNvPr id="386" name="Freeform 6"/>
            <p:cNvSpPr>
              <a:spLocks/>
            </p:cNvSpPr>
            <p:nvPr/>
          </p:nvSpPr>
          <p:spPr bwMode="auto">
            <a:xfrm>
              <a:off x="538163" y="3838575"/>
              <a:ext cx="234950" cy="1608138"/>
            </a:xfrm>
            <a:custGeom>
              <a:avLst/>
              <a:gdLst>
                <a:gd name="T0" fmla="*/ 1 w 21"/>
                <a:gd name="T1" fmla="*/ 0 h 143"/>
                <a:gd name="T2" fmla="*/ 0 w 21"/>
                <a:gd name="T3" fmla="*/ 0 h 143"/>
                <a:gd name="T4" fmla="*/ 0 w 21"/>
                <a:gd name="T5" fmla="*/ 143 h 143"/>
                <a:gd name="T6" fmla="*/ 21 w 21"/>
                <a:gd name="T7" fmla="*/ 143 h 143"/>
                <a:gd name="T8" fmla="*/ 21 w 21"/>
                <a:gd name="T9" fmla="*/ 3 h 143"/>
                <a:gd name="T10" fmla="*/ 15 w 21"/>
                <a:gd name="T11" fmla="*/ 4 h 143"/>
                <a:gd name="T12" fmla="*/ 1 w 21"/>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21" h="143">
                  <a:moveTo>
                    <a:pt x="1" y="0"/>
                  </a:moveTo>
                  <a:cubicBezTo>
                    <a:pt x="0" y="0"/>
                    <a:pt x="0" y="0"/>
                    <a:pt x="0" y="0"/>
                  </a:cubicBezTo>
                  <a:cubicBezTo>
                    <a:pt x="0" y="143"/>
                    <a:pt x="0" y="143"/>
                    <a:pt x="0" y="143"/>
                  </a:cubicBezTo>
                  <a:cubicBezTo>
                    <a:pt x="21" y="143"/>
                    <a:pt x="21" y="143"/>
                    <a:pt x="21" y="143"/>
                  </a:cubicBezTo>
                  <a:cubicBezTo>
                    <a:pt x="21" y="3"/>
                    <a:pt x="21" y="3"/>
                    <a:pt x="21" y="3"/>
                  </a:cubicBezTo>
                  <a:cubicBezTo>
                    <a:pt x="19" y="3"/>
                    <a:pt x="17" y="4"/>
                    <a:pt x="15" y="4"/>
                  </a:cubicBezTo>
                  <a:cubicBezTo>
                    <a:pt x="10" y="4"/>
                    <a:pt x="5"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7"/>
            <p:cNvSpPr>
              <a:spLocks noEditPoints="1"/>
            </p:cNvSpPr>
            <p:nvPr/>
          </p:nvSpPr>
          <p:spPr bwMode="auto">
            <a:xfrm>
              <a:off x="290513" y="1127125"/>
              <a:ext cx="4802188" cy="4319588"/>
            </a:xfrm>
            <a:custGeom>
              <a:avLst/>
              <a:gdLst>
                <a:gd name="T0" fmla="*/ 402 w 427"/>
                <a:gd name="T1" fmla="*/ 176 h 384"/>
                <a:gd name="T2" fmla="*/ 133 w 427"/>
                <a:gd name="T3" fmla="*/ 89 h 384"/>
                <a:gd name="T4" fmla="*/ 134 w 427"/>
                <a:gd name="T5" fmla="*/ 22 h 384"/>
                <a:gd name="T6" fmla="*/ 130 w 427"/>
                <a:gd name="T7" fmla="*/ 18 h 384"/>
                <a:gd name="T8" fmla="*/ 94 w 427"/>
                <a:gd name="T9" fmla="*/ 1 h 384"/>
                <a:gd name="T10" fmla="*/ 89 w 427"/>
                <a:gd name="T11" fmla="*/ 0 h 384"/>
                <a:gd name="T12" fmla="*/ 25 w 427"/>
                <a:gd name="T13" fmla="*/ 63 h 384"/>
                <a:gd name="T14" fmla="*/ 8 w 427"/>
                <a:gd name="T15" fmla="*/ 207 h 384"/>
                <a:gd name="T16" fmla="*/ 13 w 427"/>
                <a:gd name="T17" fmla="*/ 214 h 384"/>
                <a:gd name="T18" fmla="*/ 31 w 427"/>
                <a:gd name="T19" fmla="*/ 223 h 384"/>
                <a:gd name="T20" fmla="*/ 35 w 427"/>
                <a:gd name="T21" fmla="*/ 224 h 384"/>
                <a:gd name="T22" fmla="*/ 42 w 427"/>
                <a:gd name="T23" fmla="*/ 221 h 384"/>
                <a:gd name="T24" fmla="*/ 103 w 427"/>
                <a:gd name="T25" fmla="*/ 146 h 384"/>
                <a:gd name="T26" fmla="*/ 355 w 427"/>
                <a:gd name="T27" fmla="*/ 227 h 384"/>
                <a:gd name="T28" fmla="*/ 328 w 427"/>
                <a:gd name="T29" fmla="*/ 341 h 384"/>
                <a:gd name="T30" fmla="*/ 269 w 427"/>
                <a:gd name="T31" fmla="*/ 222 h 384"/>
                <a:gd name="T32" fmla="*/ 198 w 427"/>
                <a:gd name="T33" fmla="*/ 199 h 384"/>
                <a:gd name="T34" fmla="*/ 107 w 427"/>
                <a:gd name="T35" fmla="*/ 384 h 384"/>
                <a:gd name="T36" fmla="*/ 154 w 427"/>
                <a:gd name="T37" fmla="*/ 384 h 384"/>
                <a:gd name="T38" fmla="*/ 154 w 427"/>
                <a:gd name="T39" fmla="*/ 384 h 384"/>
                <a:gd name="T40" fmla="*/ 282 w 427"/>
                <a:gd name="T41" fmla="*/ 342 h 384"/>
                <a:gd name="T42" fmla="*/ 302 w 427"/>
                <a:gd name="T43" fmla="*/ 384 h 384"/>
                <a:gd name="T44" fmla="*/ 350 w 427"/>
                <a:gd name="T45" fmla="*/ 384 h 384"/>
                <a:gd name="T46" fmla="*/ 385 w 427"/>
                <a:gd name="T47" fmla="*/ 237 h 384"/>
                <a:gd name="T48" fmla="*/ 393 w 427"/>
                <a:gd name="T49" fmla="*/ 237 h 384"/>
                <a:gd name="T50" fmla="*/ 422 w 427"/>
                <a:gd name="T51" fmla="*/ 216 h 384"/>
                <a:gd name="T52" fmla="*/ 402 w 427"/>
                <a:gd name="T53" fmla="*/ 176 h 384"/>
                <a:gd name="T54" fmla="*/ 228 w 427"/>
                <a:gd name="T55" fmla="*/ 166 h 384"/>
                <a:gd name="T56" fmla="*/ 218 w 427"/>
                <a:gd name="T57" fmla="*/ 155 h 384"/>
                <a:gd name="T58" fmla="*/ 228 w 427"/>
                <a:gd name="T59" fmla="*/ 145 h 384"/>
                <a:gd name="T60" fmla="*/ 239 w 427"/>
                <a:gd name="T61" fmla="*/ 155 h 384"/>
                <a:gd name="T62" fmla="*/ 228 w 427"/>
                <a:gd name="T63" fmla="*/ 166 h 384"/>
                <a:gd name="T64" fmla="*/ 174 w 427"/>
                <a:gd name="T65" fmla="*/ 344 h 384"/>
                <a:gd name="T66" fmla="*/ 193 w 427"/>
                <a:gd name="T67" fmla="*/ 305 h 384"/>
                <a:gd name="T68" fmla="*/ 243 w 427"/>
                <a:gd name="T69" fmla="*/ 321 h 384"/>
                <a:gd name="T70" fmla="*/ 174 w 427"/>
                <a:gd name="T71" fmla="*/ 344 h 384"/>
                <a:gd name="T72" fmla="*/ 207 w 427"/>
                <a:gd name="T73" fmla="*/ 277 h 384"/>
                <a:gd name="T74" fmla="*/ 228 w 427"/>
                <a:gd name="T75" fmla="*/ 233 h 384"/>
                <a:gd name="T76" fmla="*/ 257 w 427"/>
                <a:gd name="T77" fmla="*/ 293 h 384"/>
                <a:gd name="T78" fmla="*/ 207 w 427"/>
                <a:gd name="T79" fmla="*/ 27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7" h="384">
                  <a:moveTo>
                    <a:pt x="402" y="176"/>
                  </a:moveTo>
                  <a:cubicBezTo>
                    <a:pt x="133" y="89"/>
                    <a:pt x="133" y="89"/>
                    <a:pt x="133" y="89"/>
                  </a:cubicBezTo>
                  <a:cubicBezTo>
                    <a:pt x="148" y="46"/>
                    <a:pt x="135" y="24"/>
                    <a:pt x="134" y="22"/>
                  </a:cubicBezTo>
                  <a:cubicBezTo>
                    <a:pt x="133" y="20"/>
                    <a:pt x="131" y="19"/>
                    <a:pt x="130" y="18"/>
                  </a:cubicBezTo>
                  <a:cubicBezTo>
                    <a:pt x="94" y="1"/>
                    <a:pt x="94" y="1"/>
                    <a:pt x="94" y="1"/>
                  </a:cubicBezTo>
                  <a:cubicBezTo>
                    <a:pt x="93" y="0"/>
                    <a:pt x="91" y="0"/>
                    <a:pt x="89" y="0"/>
                  </a:cubicBezTo>
                  <a:cubicBezTo>
                    <a:pt x="85" y="0"/>
                    <a:pt x="53" y="4"/>
                    <a:pt x="25" y="63"/>
                  </a:cubicBezTo>
                  <a:cubicBezTo>
                    <a:pt x="11" y="91"/>
                    <a:pt x="0" y="167"/>
                    <a:pt x="8" y="207"/>
                  </a:cubicBezTo>
                  <a:cubicBezTo>
                    <a:pt x="8" y="210"/>
                    <a:pt x="10" y="213"/>
                    <a:pt x="13" y="214"/>
                  </a:cubicBezTo>
                  <a:cubicBezTo>
                    <a:pt x="31" y="223"/>
                    <a:pt x="31" y="223"/>
                    <a:pt x="31" y="223"/>
                  </a:cubicBezTo>
                  <a:cubicBezTo>
                    <a:pt x="32" y="223"/>
                    <a:pt x="34" y="224"/>
                    <a:pt x="35" y="224"/>
                  </a:cubicBezTo>
                  <a:cubicBezTo>
                    <a:pt x="38" y="224"/>
                    <a:pt x="40" y="223"/>
                    <a:pt x="42" y="221"/>
                  </a:cubicBezTo>
                  <a:cubicBezTo>
                    <a:pt x="64" y="202"/>
                    <a:pt x="87" y="172"/>
                    <a:pt x="103" y="146"/>
                  </a:cubicBezTo>
                  <a:cubicBezTo>
                    <a:pt x="355" y="227"/>
                    <a:pt x="355" y="227"/>
                    <a:pt x="355" y="227"/>
                  </a:cubicBezTo>
                  <a:cubicBezTo>
                    <a:pt x="328" y="341"/>
                    <a:pt x="328" y="341"/>
                    <a:pt x="328" y="341"/>
                  </a:cubicBezTo>
                  <a:cubicBezTo>
                    <a:pt x="269" y="222"/>
                    <a:pt x="269" y="222"/>
                    <a:pt x="269" y="222"/>
                  </a:cubicBezTo>
                  <a:cubicBezTo>
                    <a:pt x="198" y="199"/>
                    <a:pt x="198" y="199"/>
                    <a:pt x="198" y="199"/>
                  </a:cubicBezTo>
                  <a:cubicBezTo>
                    <a:pt x="107" y="384"/>
                    <a:pt x="107" y="384"/>
                    <a:pt x="107" y="384"/>
                  </a:cubicBezTo>
                  <a:cubicBezTo>
                    <a:pt x="154" y="384"/>
                    <a:pt x="154" y="384"/>
                    <a:pt x="154" y="384"/>
                  </a:cubicBezTo>
                  <a:cubicBezTo>
                    <a:pt x="154" y="384"/>
                    <a:pt x="154" y="384"/>
                    <a:pt x="154" y="384"/>
                  </a:cubicBezTo>
                  <a:cubicBezTo>
                    <a:pt x="282" y="342"/>
                    <a:pt x="282" y="342"/>
                    <a:pt x="282" y="342"/>
                  </a:cubicBezTo>
                  <a:cubicBezTo>
                    <a:pt x="302" y="384"/>
                    <a:pt x="302" y="384"/>
                    <a:pt x="302" y="384"/>
                  </a:cubicBezTo>
                  <a:cubicBezTo>
                    <a:pt x="350" y="384"/>
                    <a:pt x="350" y="384"/>
                    <a:pt x="350" y="384"/>
                  </a:cubicBezTo>
                  <a:cubicBezTo>
                    <a:pt x="385" y="237"/>
                    <a:pt x="385" y="237"/>
                    <a:pt x="385" y="237"/>
                  </a:cubicBezTo>
                  <a:cubicBezTo>
                    <a:pt x="388" y="237"/>
                    <a:pt x="391" y="237"/>
                    <a:pt x="393" y="237"/>
                  </a:cubicBezTo>
                  <a:cubicBezTo>
                    <a:pt x="406" y="237"/>
                    <a:pt x="418" y="228"/>
                    <a:pt x="422" y="216"/>
                  </a:cubicBezTo>
                  <a:cubicBezTo>
                    <a:pt x="427" y="199"/>
                    <a:pt x="418" y="181"/>
                    <a:pt x="402" y="176"/>
                  </a:cubicBezTo>
                  <a:close/>
                  <a:moveTo>
                    <a:pt x="228" y="166"/>
                  </a:moveTo>
                  <a:cubicBezTo>
                    <a:pt x="222" y="166"/>
                    <a:pt x="218" y="161"/>
                    <a:pt x="218" y="155"/>
                  </a:cubicBezTo>
                  <a:cubicBezTo>
                    <a:pt x="218" y="149"/>
                    <a:pt x="222" y="145"/>
                    <a:pt x="228" y="145"/>
                  </a:cubicBezTo>
                  <a:cubicBezTo>
                    <a:pt x="234" y="145"/>
                    <a:pt x="239" y="149"/>
                    <a:pt x="239" y="155"/>
                  </a:cubicBezTo>
                  <a:cubicBezTo>
                    <a:pt x="239" y="161"/>
                    <a:pt x="234" y="166"/>
                    <a:pt x="228" y="166"/>
                  </a:cubicBezTo>
                  <a:close/>
                  <a:moveTo>
                    <a:pt x="174" y="344"/>
                  </a:moveTo>
                  <a:cubicBezTo>
                    <a:pt x="193" y="305"/>
                    <a:pt x="193" y="305"/>
                    <a:pt x="193" y="305"/>
                  </a:cubicBezTo>
                  <a:cubicBezTo>
                    <a:pt x="243" y="321"/>
                    <a:pt x="243" y="321"/>
                    <a:pt x="243" y="321"/>
                  </a:cubicBezTo>
                  <a:lnTo>
                    <a:pt x="174" y="344"/>
                  </a:lnTo>
                  <a:close/>
                  <a:moveTo>
                    <a:pt x="207" y="277"/>
                  </a:moveTo>
                  <a:cubicBezTo>
                    <a:pt x="228" y="233"/>
                    <a:pt x="228" y="233"/>
                    <a:pt x="228" y="233"/>
                  </a:cubicBezTo>
                  <a:cubicBezTo>
                    <a:pt x="257" y="293"/>
                    <a:pt x="257" y="293"/>
                    <a:pt x="257" y="293"/>
                  </a:cubicBezTo>
                  <a:lnTo>
                    <a:pt x="207" y="2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83" name="Group 282"/>
          <p:cNvGrpSpPr/>
          <p:nvPr userDrawn="1"/>
        </p:nvGrpSpPr>
        <p:grpSpPr>
          <a:xfrm>
            <a:off x="2504109" y="3248652"/>
            <a:ext cx="369130" cy="206278"/>
            <a:chOff x="8113713" y="2613025"/>
            <a:chExt cx="755650" cy="422276"/>
          </a:xfrm>
          <a:solidFill>
            <a:schemeClr val="tx1"/>
          </a:solidFill>
        </p:grpSpPr>
        <p:sp>
          <p:nvSpPr>
            <p:cNvPr id="284" name="Freeform 45"/>
            <p:cNvSpPr>
              <a:spLocks noEditPoints="1"/>
            </p:cNvSpPr>
            <p:nvPr/>
          </p:nvSpPr>
          <p:spPr bwMode="auto">
            <a:xfrm>
              <a:off x="8113713" y="2674938"/>
              <a:ext cx="755650" cy="360363"/>
            </a:xfrm>
            <a:custGeom>
              <a:avLst/>
              <a:gdLst>
                <a:gd name="T0" fmla="*/ 333 w 333"/>
                <a:gd name="T1" fmla="*/ 84 h 159"/>
                <a:gd name="T2" fmla="*/ 200 w 333"/>
                <a:gd name="T3" fmla="*/ 0 h 159"/>
                <a:gd name="T4" fmla="*/ 123 w 333"/>
                <a:gd name="T5" fmla="*/ 27 h 159"/>
                <a:gd name="T6" fmla="*/ 70 w 333"/>
                <a:gd name="T7" fmla="*/ 33 h 159"/>
                <a:gd name="T8" fmla="*/ 36 w 333"/>
                <a:gd name="T9" fmla="*/ 10 h 159"/>
                <a:gd name="T10" fmla="*/ 0 w 333"/>
                <a:gd name="T11" fmla="*/ 47 h 159"/>
                <a:gd name="T12" fmla="*/ 36 w 333"/>
                <a:gd name="T13" fmla="*/ 84 h 159"/>
                <a:gd name="T14" fmla="*/ 69 w 333"/>
                <a:gd name="T15" fmla="*/ 65 h 159"/>
                <a:gd name="T16" fmla="*/ 115 w 333"/>
                <a:gd name="T17" fmla="*/ 74 h 159"/>
                <a:gd name="T18" fmla="*/ 194 w 333"/>
                <a:gd name="T19" fmla="*/ 129 h 159"/>
                <a:gd name="T20" fmla="*/ 189 w 333"/>
                <a:gd name="T21" fmla="*/ 146 h 159"/>
                <a:gd name="T22" fmla="*/ 155 w 333"/>
                <a:gd name="T23" fmla="*/ 146 h 159"/>
                <a:gd name="T24" fmla="*/ 148 w 333"/>
                <a:gd name="T25" fmla="*/ 152 h 159"/>
                <a:gd name="T26" fmla="*/ 155 w 333"/>
                <a:gd name="T27" fmla="*/ 159 h 159"/>
                <a:gd name="T28" fmla="*/ 301 w 333"/>
                <a:gd name="T29" fmla="*/ 159 h 159"/>
                <a:gd name="T30" fmla="*/ 307 w 333"/>
                <a:gd name="T31" fmla="*/ 152 h 159"/>
                <a:gd name="T32" fmla="*/ 301 w 333"/>
                <a:gd name="T33" fmla="*/ 146 h 159"/>
                <a:gd name="T34" fmla="*/ 269 w 333"/>
                <a:gd name="T35" fmla="*/ 146 h 159"/>
                <a:gd name="T36" fmla="*/ 264 w 333"/>
                <a:gd name="T37" fmla="*/ 130 h 159"/>
                <a:gd name="T38" fmla="*/ 333 w 333"/>
                <a:gd name="T39" fmla="*/ 84 h 159"/>
                <a:gd name="T40" fmla="*/ 36 w 333"/>
                <a:gd name="T41" fmla="*/ 58 h 159"/>
                <a:gd name="T42" fmla="*/ 57 w 333"/>
                <a:gd name="T43" fmla="*/ 62 h 159"/>
                <a:gd name="T44" fmla="*/ 36 w 333"/>
                <a:gd name="T45" fmla="*/ 72 h 159"/>
                <a:gd name="T46" fmla="*/ 11 w 333"/>
                <a:gd name="T47" fmla="*/ 47 h 159"/>
                <a:gd name="T48" fmla="*/ 36 w 333"/>
                <a:gd name="T49" fmla="*/ 22 h 159"/>
                <a:gd name="T50" fmla="*/ 58 w 333"/>
                <a:gd name="T51" fmla="*/ 34 h 159"/>
                <a:gd name="T52" fmla="*/ 36 w 333"/>
                <a:gd name="T53" fmla="*/ 36 h 159"/>
                <a:gd name="T54" fmla="*/ 26 w 333"/>
                <a:gd name="T55" fmla="*/ 46 h 159"/>
                <a:gd name="T56" fmla="*/ 36 w 333"/>
                <a:gd name="T57" fmla="*/ 58 h 159"/>
                <a:gd name="T58" fmla="*/ 187 w 333"/>
                <a:gd name="T59" fmla="*/ 69 h 159"/>
                <a:gd name="T60" fmla="*/ 187 w 333"/>
                <a:gd name="T61" fmla="*/ 87 h 159"/>
                <a:gd name="T62" fmla="*/ 170 w 333"/>
                <a:gd name="T63" fmla="*/ 87 h 159"/>
                <a:gd name="T64" fmla="*/ 170 w 333"/>
                <a:gd name="T65" fmla="*/ 69 h 159"/>
                <a:gd name="T66" fmla="*/ 151 w 333"/>
                <a:gd name="T67" fmla="*/ 69 h 159"/>
                <a:gd name="T68" fmla="*/ 151 w 333"/>
                <a:gd name="T69" fmla="*/ 52 h 159"/>
                <a:gd name="T70" fmla="*/ 170 w 333"/>
                <a:gd name="T71" fmla="*/ 52 h 159"/>
                <a:gd name="T72" fmla="*/ 170 w 333"/>
                <a:gd name="T73" fmla="*/ 34 h 159"/>
                <a:gd name="T74" fmla="*/ 187 w 333"/>
                <a:gd name="T75" fmla="*/ 34 h 159"/>
                <a:gd name="T76" fmla="*/ 187 w 333"/>
                <a:gd name="T77" fmla="*/ 52 h 159"/>
                <a:gd name="T78" fmla="*/ 205 w 333"/>
                <a:gd name="T79" fmla="*/ 52 h 159"/>
                <a:gd name="T80" fmla="*/ 205 w 333"/>
                <a:gd name="T81" fmla="*/ 69 h 159"/>
                <a:gd name="T82" fmla="*/ 187 w 333"/>
                <a:gd name="T83" fmla="*/ 69 h 159"/>
                <a:gd name="T84" fmla="*/ 203 w 333"/>
                <a:gd name="T85" fmla="*/ 146 h 159"/>
                <a:gd name="T86" fmla="*/ 207 w 333"/>
                <a:gd name="T87" fmla="*/ 130 h 159"/>
                <a:gd name="T88" fmla="*/ 208 w 333"/>
                <a:gd name="T89" fmla="*/ 130 h 159"/>
                <a:gd name="T90" fmla="*/ 250 w 333"/>
                <a:gd name="T91" fmla="*/ 130 h 159"/>
                <a:gd name="T92" fmla="*/ 255 w 333"/>
                <a:gd name="T93" fmla="*/ 146 h 159"/>
                <a:gd name="T94" fmla="*/ 203 w 333"/>
                <a:gd name="T95" fmla="*/ 146 h 159"/>
                <a:gd name="T96" fmla="*/ 219 w 333"/>
                <a:gd name="T97" fmla="*/ 8 h 159"/>
                <a:gd name="T98" fmla="*/ 324 w 333"/>
                <a:gd name="T99" fmla="*/ 76 h 159"/>
                <a:gd name="T100" fmla="*/ 278 w 333"/>
                <a:gd name="T101" fmla="*/ 76 h 159"/>
                <a:gd name="T102" fmla="*/ 219 w 333"/>
                <a:gd name="T103" fmla="*/ 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3" h="159">
                  <a:moveTo>
                    <a:pt x="333" y="84"/>
                  </a:moveTo>
                  <a:cubicBezTo>
                    <a:pt x="333" y="57"/>
                    <a:pt x="270" y="0"/>
                    <a:pt x="200" y="0"/>
                  </a:cubicBezTo>
                  <a:cubicBezTo>
                    <a:pt x="159" y="0"/>
                    <a:pt x="135" y="13"/>
                    <a:pt x="123" y="27"/>
                  </a:cubicBezTo>
                  <a:cubicBezTo>
                    <a:pt x="70" y="33"/>
                    <a:pt x="70" y="33"/>
                    <a:pt x="70" y="33"/>
                  </a:cubicBezTo>
                  <a:cubicBezTo>
                    <a:pt x="65" y="19"/>
                    <a:pt x="52" y="10"/>
                    <a:pt x="36" y="10"/>
                  </a:cubicBezTo>
                  <a:cubicBezTo>
                    <a:pt x="16" y="10"/>
                    <a:pt x="0" y="27"/>
                    <a:pt x="0" y="47"/>
                  </a:cubicBezTo>
                  <a:cubicBezTo>
                    <a:pt x="0" y="67"/>
                    <a:pt x="16" y="84"/>
                    <a:pt x="36" y="84"/>
                  </a:cubicBezTo>
                  <a:cubicBezTo>
                    <a:pt x="50" y="84"/>
                    <a:pt x="62" y="76"/>
                    <a:pt x="69" y="65"/>
                  </a:cubicBezTo>
                  <a:cubicBezTo>
                    <a:pt x="115" y="74"/>
                    <a:pt x="115" y="74"/>
                    <a:pt x="115" y="74"/>
                  </a:cubicBezTo>
                  <a:cubicBezTo>
                    <a:pt x="126" y="111"/>
                    <a:pt x="165" y="126"/>
                    <a:pt x="194" y="129"/>
                  </a:cubicBezTo>
                  <a:cubicBezTo>
                    <a:pt x="189" y="146"/>
                    <a:pt x="189" y="146"/>
                    <a:pt x="189" y="146"/>
                  </a:cubicBezTo>
                  <a:cubicBezTo>
                    <a:pt x="155" y="146"/>
                    <a:pt x="155" y="146"/>
                    <a:pt x="155" y="146"/>
                  </a:cubicBezTo>
                  <a:cubicBezTo>
                    <a:pt x="151" y="146"/>
                    <a:pt x="148" y="149"/>
                    <a:pt x="148" y="152"/>
                  </a:cubicBezTo>
                  <a:cubicBezTo>
                    <a:pt x="148" y="156"/>
                    <a:pt x="151" y="159"/>
                    <a:pt x="155" y="159"/>
                  </a:cubicBezTo>
                  <a:cubicBezTo>
                    <a:pt x="301" y="159"/>
                    <a:pt x="301" y="159"/>
                    <a:pt x="301" y="159"/>
                  </a:cubicBezTo>
                  <a:cubicBezTo>
                    <a:pt x="304" y="159"/>
                    <a:pt x="307" y="156"/>
                    <a:pt x="307" y="152"/>
                  </a:cubicBezTo>
                  <a:cubicBezTo>
                    <a:pt x="307" y="149"/>
                    <a:pt x="304" y="146"/>
                    <a:pt x="301" y="146"/>
                  </a:cubicBezTo>
                  <a:cubicBezTo>
                    <a:pt x="269" y="146"/>
                    <a:pt x="269" y="146"/>
                    <a:pt x="269" y="146"/>
                  </a:cubicBezTo>
                  <a:cubicBezTo>
                    <a:pt x="264" y="130"/>
                    <a:pt x="264" y="130"/>
                    <a:pt x="264" y="130"/>
                  </a:cubicBezTo>
                  <a:cubicBezTo>
                    <a:pt x="293" y="128"/>
                    <a:pt x="333" y="110"/>
                    <a:pt x="333" y="84"/>
                  </a:cubicBezTo>
                  <a:close/>
                  <a:moveTo>
                    <a:pt x="36" y="58"/>
                  </a:moveTo>
                  <a:cubicBezTo>
                    <a:pt x="57" y="62"/>
                    <a:pt x="57" y="62"/>
                    <a:pt x="57" y="62"/>
                  </a:cubicBezTo>
                  <a:cubicBezTo>
                    <a:pt x="52" y="68"/>
                    <a:pt x="45" y="72"/>
                    <a:pt x="36" y="72"/>
                  </a:cubicBezTo>
                  <a:cubicBezTo>
                    <a:pt x="23" y="72"/>
                    <a:pt x="11" y="61"/>
                    <a:pt x="11" y="47"/>
                  </a:cubicBezTo>
                  <a:cubicBezTo>
                    <a:pt x="11" y="33"/>
                    <a:pt x="23" y="22"/>
                    <a:pt x="36" y="22"/>
                  </a:cubicBezTo>
                  <a:cubicBezTo>
                    <a:pt x="45" y="22"/>
                    <a:pt x="53" y="27"/>
                    <a:pt x="58" y="34"/>
                  </a:cubicBezTo>
                  <a:cubicBezTo>
                    <a:pt x="36" y="36"/>
                    <a:pt x="36" y="36"/>
                    <a:pt x="36" y="36"/>
                  </a:cubicBezTo>
                  <a:cubicBezTo>
                    <a:pt x="30" y="37"/>
                    <a:pt x="26" y="40"/>
                    <a:pt x="26" y="46"/>
                  </a:cubicBezTo>
                  <a:cubicBezTo>
                    <a:pt x="26" y="52"/>
                    <a:pt x="31" y="57"/>
                    <a:pt x="36" y="58"/>
                  </a:cubicBezTo>
                  <a:close/>
                  <a:moveTo>
                    <a:pt x="187" y="69"/>
                  </a:moveTo>
                  <a:cubicBezTo>
                    <a:pt x="187" y="87"/>
                    <a:pt x="187" y="87"/>
                    <a:pt x="187" y="87"/>
                  </a:cubicBezTo>
                  <a:cubicBezTo>
                    <a:pt x="170" y="87"/>
                    <a:pt x="170" y="87"/>
                    <a:pt x="170" y="87"/>
                  </a:cubicBezTo>
                  <a:cubicBezTo>
                    <a:pt x="170" y="69"/>
                    <a:pt x="170" y="69"/>
                    <a:pt x="170" y="69"/>
                  </a:cubicBezTo>
                  <a:cubicBezTo>
                    <a:pt x="151" y="69"/>
                    <a:pt x="151" y="69"/>
                    <a:pt x="151" y="69"/>
                  </a:cubicBezTo>
                  <a:cubicBezTo>
                    <a:pt x="151" y="52"/>
                    <a:pt x="151" y="52"/>
                    <a:pt x="151" y="52"/>
                  </a:cubicBezTo>
                  <a:cubicBezTo>
                    <a:pt x="170" y="52"/>
                    <a:pt x="170" y="52"/>
                    <a:pt x="170" y="52"/>
                  </a:cubicBezTo>
                  <a:cubicBezTo>
                    <a:pt x="170" y="34"/>
                    <a:pt x="170" y="34"/>
                    <a:pt x="170" y="34"/>
                  </a:cubicBezTo>
                  <a:cubicBezTo>
                    <a:pt x="187" y="34"/>
                    <a:pt x="187" y="34"/>
                    <a:pt x="187" y="34"/>
                  </a:cubicBezTo>
                  <a:cubicBezTo>
                    <a:pt x="187" y="52"/>
                    <a:pt x="187" y="52"/>
                    <a:pt x="187" y="52"/>
                  </a:cubicBezTo>
                  <a:cubicBezTo>
                    <a:pt x="205" y="52"/>
                    <a:pt x="205" y="52"/>
                    <a:pt x="205" y="52"/>
                  </a:cubicBezTo>
                  <a:cubicBezTo>
                    <a:pt x="205" y="69"/>
                    <a:pt x="205" y="69"/>
                    <a:pt x="205" y="69"/>
                  </a:cubicBezTo>
                  <a:lnTo>
                    <a:pt x="187" y="69"/>
                  </a:lnTo>
                  <a:close/>
                  <a:moveTo>
                    <a:pt x="203" y="146"/>
                  </a:moveTo>
                  <a:cubicBezTo>
                    <a:pt x="207" y="130"/>
                    <a:pt x="207" y="130"/>
                    <a:pt x="207" y="130"/>
                  </a:cubicBezTo>
                  <a:cubicBezTo>
                    <a:pt x="208" y="130"/>
                    <a:pt x="208" y="130"/>
                    <a:pt x="208" y="130"/>
                  </a:cubicBezTo>
                  <a:cubicBezTo>
                    <a:pt x="250" y="130"/>
                    <a:pt x="250" y="130"/>
                    <a:pt x="250" y="130"/>
                  </a:cubicBezTo>
                  <a:cubicBezTo>
                    <a:pt x="255" y="146"/>
                    <a:pt x="255" y="146"/>
                    <a:pt x="255" y="146"/>
                  </a:cubicBezTo>
                  <a:lnTo>
                    <a:pt x="203" y="146"/>
                  </a:lnTo>
                  <a:close/>
                  <a:moveTo>
                    <a:pt x="219" y="8"/>
                  </a:moveTo>
                  <a:cubicBezTo>
                    <a:pt x="270" y="16"/>
                    <a:pt x="314" y="52"/>
                    <a:pt x="324" y="76"/>
                  </a:cubicBezTo>
                  <a:cubicBezTo>
                    <a:pt x="278" y="76"/>
                    <a:pt x="278" y="76"/>
                    <a:pt x="278" y="76"/>
                  </a:cubicBezTo>
                  <a:cubicBezTo>
                    <a:pt x="247" y="76"/>
                    <a:pt x="222" y="47"/>
                    <a:pt x="219"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5" name="Freeform 46"/>
            <p:cNvSpPr>
              <a:spLocks/>
            </p:cNvSpPr>
            <p:nvPr/>
          </p:nvSpPr>
          <p:spPr bwMode="auto">
            <a:xfrm>
              <a:off x="8297863" y="2613025"/>
              <a:ext cx="541338" cy="31750"/>
            </a:xfrm>
            <a:custGeom>
              <a:avLst/>
              <a:gdLst>
                <a:gd name="T0" fmla="*/ 129 w 239"/>
                <a:gd name="T1" fmla="*/ 6 h 14"/>
                <a:gd name="T2" fmla="*/ 119 w 239"/>
                <a:gd name="T3" fmla="*/ 0 h 14"/>
                <a:gd name="T4" fmla="*/ 110 w 239"/>
                <a:gd name="T5" fmla="*/ 6 h 14"/>
                <a:gd name="T6" fmla="*/ 0 w 239"/>
                <a:gd name="T7" fmla="*/ 6 h 14"/>
                <a:gd name="T8" fmla="*/ 0 w 239"/>
                <a:gd name="T9" fmla="*/ 14 h 14"/>
                <a:gd name="T10" fmla="*/ 239 w 239"/>
                <a:gd name="T11" fmla="*/ 14 h 14"/>
                <a:gd name="T12" fmla="*/ 239 w 239"/>
                <a:gd name="T13" fmla="*/ 6 h 14"/>
                <a:gd name="T14" fmla="*/ 129 w 239"/>
                <a:gd name="T15" fmla="*/ 6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 h="14">
                  <a:moveTo>
                    <a:pt x="129" y="6"/>
                  </a:moveTo>
                  <a:cubicBezTo>
                    <a:pt x="127" y="2"/>
                    <a:pt x="124" y="0"/>
                    <a:pt x="119" y="0"/>
                  </a:cubicBezTo>
                  <a:cubicBezTo>
                    <a:pt x="115" y="0"/>
                    <a:pt x="112" y="2"/>
                    <a:pt x="110" y="6"/>
                  </a:cubicBezTo>
                  <a:cubicBezTo>
                    <a:pt x="0" y="6"/>
                    <a:pt x="0" y="6"/>
                    <a:pt x="0" y="6"/>
                  </a:cubicBezTo>
                  <a:cubicBezTo>
                    <a:pt x="0" y="14"/>
                    <a:pt x="0" y="14"/>
                    <a:pt x="0" y="14"/>
                  </a:cubicBezTo>
                  <a:cubicBezTo>
                    <a:pt x="239" y="14"/>
                    <a:pt x="239" y="14"/>
                    <a:pt x="239" y="14"/>
                  </a:cubicBezTo>
                  <a:cubicBezTo>
                    <a:pt x="239" y="6"/>
                    <a:pt x="239" y="6"/>
                    <a:pt x="239" y="6"/>
                  </a:cubicBezTo>
                  <a:lnTo>
                    <a:pt x="129" y="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86" name="Group 285"/>
          <p:cNvGrpSpPr/>
          <p:nvPr userDrawn="1"/>
        </p:nvGrpSpPr>
        <p:grpSpPr>
          <a:xfrm>
            <a:off x="2512761" y="2690467"/>
            <a:ext cx="351826" cy="170512"/>
            <a:chOff x="12501563" y="1001713"/>
            <a:chExt cx="982663" cy="476250"/>
          </a:xfrm>
          <a:solidFill>
            <a:schemeClr val="tx1"/>
          </a:solidFill>
        </p:grpSpPr>
        <p:sp>
          <p:nvSpPr>
            <p:cNvPr id="287" name="Freeform 43"/>
            <p:cNvSpPr>
              <a:spLocks/>
            </p:cNvSpPr>
            <p:nvPr/>
          </p:nvSpPr>
          <p:spPr bwMode="auto">
            <a:xfrm>
              <a:off x="12601575" y="1431925"/>
              <a:ext cx="682625" cy="17463"/>
            </a:xfrm>
            <a:custGeom>
              <a:avLst/>
              <a:gdLst>
                <a:gd name="T0" fmla="*/ 0 w 235"/>
                <a:gd name="T1" fmla="*/ 0 h 6"/>
                <a:gd name="T2" fmla="*/ 0 w 235"/>
                <a:gd name="T3" fmla="*/ 6 h 6"/>
                <a:gd name="T4" fmla="*/ 235 w 235"/>
                <a:gd name="T5" fmla="*/ 6 h 6"/>
                <a:gd name="T6" fmla="*/ 235 w 235"/>
                <a:gd name="T7" fmla="*/ 0 h 6"/>
                <a:gd name="T8" fmla="*/ 0 w 235"/>
                <a:gd name="T9" fmla="*/ 0 h 6"/>
              </a:gdLst>
              <a:ahLst/>
              <a:cxnLst>
                <a:cxn ang="0">
                  <a:pos x="T0" y="T1"/>
                </a:cxn>
                <a:cxn ang="0">
                  <a:pos x="T2" y="T3"/>
                </a:cxn>
                <a:cxn ang="0">
                  <a:pos x="T4" y="T5"/>
                </a:cxn>
                <a:cxn ang="0">
                  <a:pos x="T6" y="T7"/>
                </a:cxn>
                <a:cxn ang="0">
                  <a:pos x="T8" y="T9"/>
                </a:cxn>
              </a:cxnLst>
              <a:rect l="0" t="0" r="r" b="b"/>
              <a:pathLst>
                <a:path w="235" h="6">
                  <a:moveTo>
                    <a:pt x="0" y="0"/>
                  </a:moveTo>
                  <a:cubicBezTo>
                    <a:pt x="0" y="2"/>
                    <a:pt x="0" y="4"/>
                    <a:pt x="0" y="6"/>
                  </a:cubicBezTo>
                  <a:cubicBezTo>
                    <a:pt x="235" y="6"/>
                    <a:pt x="235" y="6"/>
                    <a:pt x="235" y="6"/>
                  </a:cubicBezTo>
                  <a:cubicBezTo>
                    <a:pt x="235" y="4"/>
                    <a:pt x="235" y="2"/>
                    <a:pt x="235"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44"/>
            <p:cNvSpPr>
              <a:spLocks noEditPoints="1"/>
            </p:cNvSpPr>
            <p:nvPr/>
          </p:nvSpPr>
          <p:spPr bwMode="auto">
            <a:xfrm>
              <a:off x="12603163" y="1116013"/>
              <a:ext cx="684213" cy="315913"/>
            </a:xfrm>
            <a:custGeom>
              <a:avLst/>
              <a:gdLst>
                <a:gd name="T0" fmla="*/ 117 w 235"/>
                <a:gd name="T1" fmla="*/ 0 h 109"/>
                <a:gd name="T2" fmla="*/ 0 w 235"/>
                <a:gd name="T3" fmla="*/ 109 h 109"/>
                <a:gd name="T4" fmla="*/ 235 w 235"/>
                <a:gd name="T5" fmla="*/ 109 h 109"/>
                <a:gd name="T6" fmla="*/ 117 w 235"/>
                <a:gd name="T7" fmla="*/ 0 h 109"/>
                <a:gd name="T8" fmla="*/ 78 w 235"/>
                <a:gd name="T9" fmla="*/ 59 h 109"/>
                <a:gd name="T10" fmla="*/ 65 w 235"/>
                <a:gd name="T11" fmla="*/ 45 h 109"/>
                <a:gd name="T12" fmla="*/ 78 w 235"/>
                <a:gd name="T13" fmla="*/ 32 h 109"/>
                <a:gd name="T14" fmla="*/ 92 w 235"/>
                <a:gd name="T15" fmla="*/ 45 h 109"/>
                <a:gd name="T16" fmla="*/ 78 w 235"/>
                <a:gd name="T17" fmla="*/ 59 h 109"/>
                <a:gd name="T18" fmla="*/ 115 w 235"/>
                <a:gd name="T19" fmla="*/ 59 h 109"/>
                <a:gd name="T20" fmla="*/ 102 w 235"/>
                <a:gd name="T21" fmla="*/ 45 h 109"/>
                <a:gd name="T22" fmla="*/ 115 w 235"/>
                <a:gd name="T23" fmla="*/ 32 h 109"/>
                <a:gd name="T24" fmla="*/ 129 w 235"/>
                <a:gd name="T25" fmla="*/ 45 h 109"/>
                <a:gd name="T26" fmla="*/ 115 w 235"/>
                <a:gd name="T27" fmla="*/ 59 h 109"/>
                <a:gd name="T28" fmla="*/ 152 w 235"/>
                <a:gd name="T29" fmla="*/ 59 h 109"/>
                <a:gd name="T30" fmla="*/ 138 w 235"/>
                <a:gd name="T31" fmla="*/ 45 h 109"/>
                <a:gd name="T32" fmla="*/ 152 w 235"/>
                <a:gd name="T33" fmla="*/ 32 h 109"/>
                <a:gd name="T34" fmla="*/ 166 w 235"/>
                <a:gd name="T35" fmla="*/ 45 h 109"/>
                <a:gd name="T36" fmla="*/ 152 w 235"/>
                <a:gd name="T37" fmla="*/ 5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109">
                  <a:moveTo>
                    <a:pt x="117" y="0"/>
                  </a:moveTo>
                  <a:cubicBezTo>
                    <a:pt x="39" y="0"/>
                    <a:pt x="0" y="58"/>
                    <a:pt x="0" y="109"/>
                  </a:cubicBezTo>
                  <a:cubicBezTo>
                    <a:pt x="235" y="109"/>
                    <a:pt x="235" y="109"/>
                    <a:pt x="235" y="109"/>
                  </a:cubicBezTo>
                  <a:cubicBezTo>
                    <a:pt x="235" y="58"/>
                    <a:pt x="195" y="0"/>
                    <a:pt x="117" y="0"/>
                  </a:cubicBezTo>
                  <a:close/>
                  <a:moveTo>
                    <a:pt x="78" y="59"/>
                  </a:moveTo>
                  <a:cubicBezTo>
                    <a:pt x="71" y="59"/>
                    <a:pt x="65" y="53"/>
                    <a:pt x="65" y="45"/>
                  </a:cubicBezTo>
                  <a:cubicBezTo>
                    <a:pt x="65" y="38"/>
                    <a:pt x="71" y="32"/>
                    <a:pt x="78" y="32"/>
                  </a:cubicBezTo>
                  <a:cubicBezTo>
                    <a:pt x="86" y="32"/>
                    <a:pt x="92" y="38"/>
                    <a:pt x="92" y="45"/>
                  </a:cubicBezTo>
                  <a:cubicBezTo>
                    <a:pt x="92" y="53"/>
                    <a:pt x="86" y="59"/>
                    <a:pt x="78" y="59"/>
                  </a:cubicBezTo>
                  <a:close/>
                  <a:moveTo>
                    <a:pt x="115" y="59"/>
                  </a:moveTo>
                  <a:cubicBezTo>
                    <a:pt x="108" y="59"/>
                    <a:pt x="102" y="53"/>
                    <a:pt x="102" y="45"/>
                  </a:cubicBezTo>
                  <a:cubicBezTo>
                    <a:pt x="102" y="38"/>
                    <a:pt x="108" y="32"/>
                    <a:pt x="115" y="32"/>
                  </a:cubicBezTo>
                  <a:cubicBezTo>
                    <a:pt x="123" y="32"/>
                    <a:pt x="129" y="38"/>
                    <a:pt x="129" y="45"/>
                  </a:cubicBezTo>
                  <a:cubicBezTo>
                    <a:pt x="129" y="53"/>
                    <a:pt x="123" y="59"/>
                    <a:pt x="115" y="59"/>
                  </a:cubicBezTo>
                  <a:close/>
                  <a:moveTo>
                    <a:pt x="152" y="59"/>
                  </a:moveTo>
                  <a:cubicBezTo>
                    <a:pt x="144" y="59"/>
                    <a:pt x="138" y="53"/>
                    <a:pt x="138" y="45"/>
                  </a:cubicBezTo>
                  <a:cubicBezTo>
                    <a:pt x="138" y="38"/>
                    <a:pt x="144" y="32"/>
                    <a:pt x="152" y="32"/>
                  </a:cubicBezTo>
                  <a:cubicBezTo>
                    <a:pt x="160" y="32"/>
                    <a:pt x="166" y="38"/>
                    <a:pt x="166" y="45"/>
                  </a:cubicBezTo>
                  <a:cubicBezTo>
                    <a:pt x="166" y="53"/>
                    <a:pt x="160" y="59"/>
                    <a:pt x="15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45"/>
            <p:cNvSpPr>
              <a:spLocks noEditPoints="1"/>
            </p:cNvSpPr>
            <p:nvPr/>
          </p:nvSpPr>
          <p:spPr bwMode="auto">
            <a:xfrm>
              <a:off x="12501563" y="1001713"/>
              <a:ext cx="982663" cy="476250"/>
            </a:xfrm>
            <a:custGeom>
              <a:avLst/>
              <a:gdLst>
                <a:gd name="T0" fmla="*/ 327 w 338"/>
                <a:gd name="T1" fmla="*/ 141 h 164"/>
                <a:gd name="T2" fmla="*/ 291 w 338"/>
                <a:gd name="T3" fmla="*/ 127 h 164"/>
                <a:gd name="T4" fmla="*/ 152 w 338"/>
                <a:gd name="T5" fmla="*/ 0 h 164"/>
                <a:gd name="T6" fmla="*/ 13 w 338"/>
                <a:gd name="T7" fmla="*/ 141 h 164"/>
                <a:gd name="T8" fmla="*/ 12 w 338"/>
                <a:gd name="T9" fmla="*/ 141 h 164"/>
                <a:gd name="T10" fmla="*/ 0 w 338"/>
                <a:gd name="T11" fmla="*/ 152 h 164"/>
                <a:gd name="T12" fmla="*/ 12 w 338"/>
                <a:gd name="T13" fmla="*/ 164 h 164"/>
                <a:gd name="T14" fmla="*/ 12 w 338"/>
                <a:gd name="T15" fmla="*/ 164 h 164"/>
                <a:gd name="T16" fmla="*/ 325 w 338"/>
                <a:gd name="T17" fmla="*/ 164 h 164"/>
                <a:gd name="T18" fmla="*/ 336 w 338"/>
                <a:gd name="T19" fmla="*/ 155 h 164"/>
                <a:gd name="T20" fmla="*/ 327 w 338"/>
                <a:gd name="T21" fmla="*/ 141 h 164"/>
                <a:gd name="T22" fmla="*/ 152 w 338"/>
                <a:gd name="T23" fmla="*/ 18 h 164"/>
                <a:gd name="T24" fmla="*/ 275 w 338"/>
                <a:gd name="T25" fmla="*/ 144 h 164"/>
                <a:gd name="T26" fmla="*/ 30 w 338"/>
                <a:gd name="T27" fmla="*/ 144 h 164"/>
                <a:gd name="T28" fmla="*/ 152 w 338"/>
                <a:gd name="T29" fmla="*/ 1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8" h="164">
                  <a:moveTo>
                    <a:pt x="327" y="141"/>
                  </a:moveTo>
                  <a:cubicBezTo>
                    <a:pt x="291" y="127"/>
                    <a:pt x="291" y="127"/>
                    <a:pt x="291" y="127"/>
                  </a:cubicBezTo>
                  <a:cubicBezTo>
                    <a:pt x="288" y="71"/>
                    <a:pt x="244" y="0"/>
                    <a:pt x="152" y="0"/>
                  </a:cubicBezTo>
                  <a:cubicBezTo>
                    <a:pt x="60" y="0"/>
                    <a:pt x="18" y="69"/>
                    <a:pt x="13" y="141"/>
                  </a:cubicBezTo>
                  <a:cubicBezTo>
                    <a:pt x="12" y="141"/>
                    <a:pt x="12" y="141"/>
                    <a:pt x="12" y="141"/>
                  </a:cubicBezTo>
                  <a:cubicBezTo>
                    <a:pt x="5" y="141"/>
                    <a:pt x="0" y="146"/>
                    <a:pt x="0" y="152"/>
                  </a:cubicBezTo>
                  <a:cubicBezTo>
                    <a:pt x="0" y="159"/>
                    <a:pt x="5" y="164"/>
                    <a:pt x="12" y="164"/>
                  </a:cubicBezTo>
                  <a:cubicBezTo>
                    <a:pt x="12" y="164"/>
                    <a:pt x="12" y="164"/>
                    <a:pt x="12" y="164"/>
                  </a:cubicBezTo>
                  <a:cubicBezTo>
                    <a:pt x="12" y="164"/>
                    <a:pt x="324" y="164"/>
                    <a:pt x="325" y="164"/>
                  </a:cubicBezTo>
                  <a:cubicBezTo>
                    <a:pt x="330" y="164"/>
                    <a:pt x="335" y="160"/>
                    <a:pt x="336" y="155"/>
                  </a:cubicBezTo>
                  <a:cubicBezTo>
                    <a:pt x="338" y="149"/>
                    <a:pt x="333" y="143"/>
                    <a:pt x="327" y="141"/>
                  </a:cubicBezTo>
                  <a:close/>
                  <a:moveTo>
                    <a:pt x="152" y="18"/>
                  </a:moveTo>
                  <a:cubicBezTo>
                    <a:pt x="235" y="18"/>
                    <a:pt x="273" y="83"/>
                    <a:pt x="275" y="144"/>
                  </a:cubicBezTo>
                  <a:cubicBezTo>
                    <a:pt x="30" y="144"/>
                    <a:pt x="30" y="144"/>
                    <a:pt x="30" y="144"/>
                  </a:cubicBezTo>
                  <a:cubicBezTo>
                    <a:pt x="32" y="85"/>
                    <a:pt x="70" y="18"/>
                    <a:pt x="15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9" name="Group 308"/>
          <p:cNvGrpSpPr/>
          <p:nvPr userDrawn="1"/>
        </p:nvGrpSpPr>
        <p:grpSpPr>
          <a:xfrm>
            <a:off x="2502962" y="2101573"/>
            <a:ext cx="371424" cy="264156"/>
            <a:chOff x="12623800" y="1978025"/>
            <a:chExt cx="808038" cy="574676"/>
          </a:xfrm>
          <a:solidFill>
            <a:schemeClr val="tx1"/>
          </a:solidFill>
        </p:grpSpPr>
        <p:sp>
          <p:nvSpPr>
            <p:cNvPr id="310" name="Freeform 64"/>
            <p:cNvSpPr>
              <a:spLocks/>
            </p:cNvSpPr>
            <p:nvPr/>
          </p:nvSpPr>
          <p:spPr bwMode="auto">
            <a:xfrm>
              <a:off x="13203238" y="2044700"/>
              <a:ext cx="228600" cy="436563"/>
            </a:xfrm>
            <a:custGeom>
              <a:avLst/>
              <a:gdLst>
                <a:gd name="T0" fmla="*/ 7 w 79"/>
                <a:gd name="T1" fmla="*/ 150 h 150"/>
                <a:gd name="T2" fmla="*/ 69 w 79"/>
                <a:gd name="T3" fmla="*/ 143 h 150"/>
                <a:gd name="T4" fmla="*/ 24 w 79"/>
                <a:gd name="T5" fmla="*/ 134 h 150"/>
                <a:gd name="T6" fmla="*/ 12 w 79"/>
                <a:gd name="T7" fmla="*/ 7 h 150"/>
                <a:gd name="T8" fmla="*/ 6 w 79"/>
                <a:gd name="T9" fmla="*/ 0 h 150"/>
                <a:gd name="T10" fmla="*/ 0 w 79"/>
                <a:gd name="T11" fmla="*/ 6 h 150"/>
                <a:gd name="T12" fmla="*/ 0 w 79"/>
                <a:gd name="T13" fmla="*/ 143 h 150"/>
                <a:gd name="T14" fmla="*/ 7 w 7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 h="150">
                  <a:moveTo>
                    <a:pt x="7" y="150"/>
                  </a:moveTo>
                  <a:cubicBezTo>
                    <a:pt x="31" y="150"/>
                    <a:pt x="79" y="147"/>
                    <a:pt x="69" y="143"/>
                  </a:cubicBezTo>
                  <a:cubicBezTo>
                    <a:pt x="55" y="137"/>
                    <a:pt x="24" y="134"/>
                    <a:pt x="24" y="134"/>
                  </a:cubicBezTo>
                  <a:cubicBezTo>
                    <a:pt x="12" y="7"/>
                    <a:pt x="12" y="7"/>
                    <a:pt x="12" y="7"/>
                  </a:cubicBezTo>
                  <a:cubicBezTo>
                    <a:pt x="13" y="4"/>
                    <a:pt x="10" y="1"/>
                    <a:pt x="6" y="0"/>
                  </a:cubicBezTo>
                  <a:cubicBezTo>
                    <a:pt x="3" y="0"/>
                    <a:pt x="0" y="3"/>
                    <a:pt x="0" y="6"/>
                  </a:cubicBezTo>
                  <a:cubicBezTo>
                    <a:pt x="0" y="143"/>
                    <a:pt x="0" y="143"/>
                    <a:pt x="0" y="143"/>
                  </a:cubicBezTo>
                  <a:cubicBezTo>
                    <a:pt x="0" y="148"/>
                    <a:pt x="5" y="150"/>
                    <a:pt x="7" y="1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65"/>
            <p:cNvSpPr>
              <a:spLocks noEditPoints="1"/>
            </p:cNvSpPr>
            <p:nvPr/>
          </p:nvSpPr>
          <p:spPr bwMode="auto">
            <a:xfrm>
              <a:off x="12969875" y="2335213"/>
              <a:ext cx="217488" cy="217488"/>
            </a:xfrm>
            <a:custGeom>
              <a:avLst/>
              <a:gdLst>
                <a:gd name="T0" fmla="*/ 70 w 75"/>
                <a:gd name="T1" fmla="*/ 29 h 75"/>
                <a:gd name="T2" fmla="*/ 28 w 75"/>
                <a:gd name="T3" fmla="*/ 5 h 75"/>
                <a:gd name="T4" fmla="*/ 4 w 75"/>
                <a:gd name="T5" fmla="*/ 47 h 75"/>
                <a:gd name="T6" fmla="*/ 46 w 75"/>
                <a:gd name="T7" fmla="*/ 70 h 75"/>
                <a:gd name="T8" fmla="*/ 70 w 75"/>
                <a:gd name="T9" fmla="*/ 29 h 75"/>
                <a:gd name="T10" fmla="*/ 42 w 75"/>
                <a:gd name="T11" fmla="*/ 55 h 75"/>
                <a:gd name="T12" fmla="*/ 37 w 75"/>
                <a:gd name="T13" fmla="*/ 56 h 75"/>
                <a:gd name="T14" fmla="*/ 37 w 75"/>
                <a:gd name="T15" fmla="*/ 56 h 75"/>
                <a:gd name="T16" fmla="*/ 20 w 75"/>
                <a:gd name="T17" fmla="*/ 42 h 75"/>
                <a:gd name="T18" fmla="*/ 32 w 75"/>
                <a:gd name="T19" fmla="*/ 20 h 75"/>
                <a:gd name="T20" fmla="*/ 37 w 75"/>
                <a:gd name="T21" fmla="*/ 20 h 75"/>
                <a:gd name="T22" fmla="*/ 55 w 75"/>
                <a:gd name="T23" fmla="*/ 33 h 75"/>
                <a:gd name="T24" fmla="*/ 42 w 75"/>
                <a:gd name="T25"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75">
                  <a:moveTo>
                    <a:pt x="70" y="29"/>
                  </a:moveTo>
                  <a:cubicBezTo>
                    <a:pt x="65" y="11"/>
                    <a:pt x="46" y="0"/>
                    <a:pt x="28" y="5"/>
                  </a:cubicBezTo>
                  <a:cubicBezTo>
                    <a:pt x="10" y="10"/>
                    <a:pt x="0" y="29"/>
                    <a:pt x="4" y="47"/>
                  </a:cubicBezTo>
                  <a:cubicBezTo>
                    <a:pt x="9" y="65"/>
                    <a:pt x="28" y="75"/>
                    <a:pt x="46" y="70"/>
                  </a:cubicBezTo>
                  <a:cubicBezTo>
                    <a:pt x="64" y="66"/>
                    <a:pt x="75" y="47"/>
                    <a:pt x="70" y="29"/>
                  </a:cubicBezTo>
                  <a:close/>
                  <a:moveTo>
                    <a:pt x="42" y="55"/>
                  </a:moveTo>
                  <a:cubicBezTo>
                    <a:pt x="40" y="56"/>
                    <a:pt x="39" y="56"/>
                    <a:pt x="37" y="56"/>
                  </a:cubicBezTo>
                  <a:cubicBezTo>
                    <a:pt x="37" y="56"/>
                    <a:pt x="37" y="56"/>
                    <a:pt x="37" y="56"/>
                  </a:cubicBezTo>
                  <a:cubicBezTo>
                    <a:pt x="29" y="56"/>
                    <a:pt x="22" y="50"/>
                    <a:pt x="20" y="42"/>
                  </a:cubicBezTo>
                  <a:cubicBezTo>
                    <a:pt x="17" y="33"/>
                    <a:pt x="23" y="23"/>
                    <a:pt x="32" y="20"/>
                  </a:cubicBezTo>
                  <a:cubicBezTo>
                    <a:pt x="34" y="20"/>
                    <a:pt x="36" y="20"/>
                    <a:pt x="37" y="20"/>
                  </a:cubicBezTo>
                  <a:cubicBezTo>
                    <a:pt x="45" y="20"/>
                    <a:pt x="52" y="25"/>
                    <a:pt x="55" y="33"/>
                  </a:cubicBezTo>
                  <a:cubicBezTo>
                    <a:pt x="57" y="43"/>
                    <a:pt x="51" y="53"/>
                    <a:pt x="4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66"/>
            <p:cNvSpPr>
              <a:spLocks noEditPoints="1"/>
            </p:cNvSpPr>
            <p:nvPr/>
          </p:nvSpPr>
          <p:spPr bwMode="auto">
            <a:xfrm>
              <a:off x="12668250" y="2381250"/>
              <a:ext cx="168275" cy="168275"/>
            </a:xfrm>
            <a:custGeom>
              <a:avLst/>
              <a:gdLst>
                <a:gd name="T0" fmla="*/ 54 w 58"/>
                <a:gd name="T1" fmla="*/ 23 h 58"/>
                <a:gd name="T2" fmla="*/ 22 w 58"/>
                <a:gd name="T3" fmla="*/ 4 h 58"/>
                <a:gd name="T4" fmla="*/ 3 w 58"/>
                <a:gd name="T5" fmla="*/ 36 h 58"/>
                <a:gd name="T6" fmla="*/ 36 w 58"/>
                <a:gd name="T7" fmla="*/ 55 h 58"/>
                <a:gd name="T8" fmla="*/ 54 w 58"/>
                <a:gd name="T9" fmla="*/ 23 h 58"/>
                <a:gd name="T10" fmla="*/ 38 w 58"/>
                <a:gd name="T11" fmla="*/ 35 h 58"/>
                <a:gd name="T12" fmla="*/ 31 w 58"/>
                <a:gd name="T13" fmla="*/ 39 h 58"/>
                <a:gd name="T14" fmla="*/ 29 w 58"/>
                <a:gd name="T15" fmla="*/ 40 h 58"/>
                <a:gd name="T16" fmla="*/ 19 w 58"/>
                <a:gd name="T17" fmla="*/ 32 h 58"/>
                <a:gd name="T18" fmla="*/ 26 w 58"/>
                <a:gd name="T19" fmla="*/ 19 h 58"/>
                <a:gd name="T20" fmla="*/ 29 w 58"/>
                <a:gd name="T21" fmla="*/ 19 h 58"/>
                <a:gd name="T22" fmla="*/ 39 w 58"/>
                <a:gd name="T23" fmla="*/ 27 h 58"/>
                <a:gd name="T24" fmla="*/ 38 w 58"/>
                <a:gd name="T25" fmla="*/ 3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 h="58">
                  <a:moveTo>
                    <a:pt x="54" y="23"/>
                  </a:moveTo>
                  <a:cubicBezTo>
                    <a:pt x="50" y="9"/>
                    <a:pt x="36" y="0"/>
                    <a:pt x="22" y="4"/>
                  </a:cubicBezTo>
                  <a:cubicBezTo>
                    <a:pt x="8" y="8"/>
                    <a:pt x="0" y="22"/>
                    <a:pt x="3" y="36"/>
                  </a:cubicBezTo>
                  <a:cubicBezTo>
                    <a:pt x="7" y="50"/>
                    <a:pt x="22" y="58"/>
                    <a:pt x="36" y="55"/>
                  </a:cubicBezTo>
                  <a:cubicBezTo>
                    <a:pt x="49" y="51"/>
                    <a:pt x="58" y="37"/>
                    <a:pt x="54" y="23"/>
                  </a:cubicBezTo>
                  <a:close/>
                  <a:moveTo>
                    <a:pt x="38" y="35"/>
                  </a:moveTo>
                  <a:cubicBezTo>
                    <a:pt x="36" y="37"/>
                    <a:pt x="34" y="39"/>
                    <a:pt x="31" y="39"/>
                  </a:cubicBezTo>
                  <a:cubicBezTo>
                    <a:pt x="31" y="40"/>
                    <a:pt x="30" y="40"/>
                    <a:pt x="29" y="40"/>
                  </a:cubicBezTo>
                  <a:cubicBezTo>
                    <a:pt x="24" y="40"/>
                    <a:pt x="20" y="37"/>
                    <a:pt x="19" y="32"/>
                  </a:cubicBezTo>
                  <a:cubicBezTo>
                    <a:pt x="17" y="27"/>
                    <a:pt x="20" y="21"/>
                    <a:pt x="26" y="19"/>
                  </a:cubicBezTo>
                  <a:cubicBezTo>
                    <a:pt x="27" y="19"/>
                    <a:pt x="28" y="19"/>
                    <a:pt x="29" y="19"/>
                  </a:cubicBezTo>
                  <a:cubicBezTo>
                    <a:pt x="33" y="19"/>
                    <a:pt x="38" y="22"/>
                    <a:pt x="39" y="27"/>
                  </a:cubicBezTo>
                  <a:cubicBezTo>
                    <a:pt x="40" y="29"/>
                    <a:pt x="39" y="32"/>
                    <a:pt x="38"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67"/>
            <p:cNvSpPr>
              <a:spLocks noEditPoints="1"/>
            </p:cNvSpPr>
            <p:nvPr/>
          </p:nvSpPr>
          <p:spPr bwMode="auto">
            <a:xfrm>
              <a:off x="12623800" y="1978025"/>
              <a:ext cx="523875" cy="490538"/>
            </a:xfrm>
            <a:custGeom>
              <a:avLst/>
              <a:gdLst>
                <a:gd name="T0" fmla="*/ 151 w 180"/>
                <a:gd name="T1" fmla="*/ 6 h 169"/>
                <a:gd name="T2" fmla="*/ 144 w 180"/>
                <a:gd name="T3" fmla="*/ 0 h 169"/>
                <a:gd name="T4" fmla="*/ 59 w 180"/>
                <a:gd name="T5" fmla="*/ 0 h 169"/>
                <a:gd name="T6" fmla="*/ 53 w 180"/>
                <a:gd name="T7" fmla="*/ 6 h 169"/>
                <a:gd name="T8" fmla="*/ 53 w 180"/>
                <a:gd name="T9" fmla="*/ 85 h 169"/>
                <a:gd name="T10" fmla="*/ 26 w 180"/>
                <a:gd name="T11" fmla="*/ 85 h 169"/>
                <a:gd name="T12" fmla="*/ 7 w 180"/>
                <a:gd name="T13" fmla="*/ 148 h 169"/>
                <a:gd name="T14" fmla="*/ 33 w 180"/>
                <a:gd name="T15" fmla="*/ 128 h 169"/>
                <a:gd name="T16" fmla="*/ 44 w 180"/>
                <a:gd name="T17" fmla="*/ 126 h 169"/>
                <a:gd name="T18" fmla="*/ 84 w 180"/>
                <a:gd name="T19" fmla="*/ 158 h 169"/>
                <a:gd name="T20" fmla="*/ 86 w 180"/>
                <a:gd name="T21" fmla="*/ 169 h 169"/>
                <a:gd name="T22" fmla="*/ 107 w 180"/>
                <a:gd name="T23" fmla="*/ 169 h 169"/>
                <a:gd name="T24" fmla="*/ 143 w 180"/>
                <a:gd name="T25" fmla="*/ 113 h 169"/>
                <a:gd name="T26" fmla="*/ 156 w 180"/>
                <a:gd name="T27" fmla="*/ 111 h 169"/>
                <a:gd name="T28" fmla="*/ 180 w 180"/>
                <a:gd name="T29" fmla="*/ 117 h 169"/>
                <a:gd name="T30" fmla="*/ 151 w 180"/>
                <a:gd name="T31" fmla="*/ 6 h 169"/>
                <a:gd name="T32" fmla="*/ 154 w 180"/>
                <a:gd name="T33" fmla="*/ 97 h 169"/>
                <a:gd name="T34" fmla="*/ 113 w 180"/>
                <a:gd name="T35" fmla="*/ 112 h 169"/>
                <a:gd name="T36" fmla="*/ 90 w 180"/>
                <a:gd name="T37" fmla="*/ 112 h 169"/>
                <a:gd name="T38" fmla="*/ 68 w 180"/>
                <a:gd name="T39" fmla="*/ 76 h 169"/>
                <a:gd name="T40" fmla="*/ 68 w 180"/>
                <a:gd name="T41" fmla="*/ 21 h 169"/>
                <a:gd name="T42" fmla="*/ 74 w 180"/>
                <a:gd name="T43" fmla="*/ 15 h 169"/>
                <a:gd name="T44" fmla="*/ 132 w 180"/>
                <a:gd name="T45" fmla="*/ 15 h 169"/>
                <a:gd name="T46" fmla="*/ 139 w 180"/>
                <a:gd name="T47" fmla="*/ 21 h 169"/>
                <a:gd name="T48" fmla="*/ 158 w 180"/>
                <a:gd name="T49" fmla="*/ 92 h 169"/>
                <a:gd name="T50" fmla="*/ 154 w 180"/>
                <a:gd name="T51" fmla="*/ 9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0" h="169">
                  <a:moveTo>
                    <a:pt x="151" y="6"/>
                  </a:moveTo>
                  <a:cubicBezTo>
                    <a:pt x="151" y="2"/>
                    <a:pt x="147" y="0"/>
                    <a:pt x="144" y="0"/>
                  </a:cubicBezTo>
                  <a:cubicBezTo>
                    <a:pt x="59" y="0"/>
                    <a:pt x="59" y="0"/>
                    <a:pt x="59" y="0"/>
                  </a:cubicBezTo>
                  <a:cubicBezTo>
                    <a:pt x="56" y="0"/>
                    <a:pt x="53" y="3"/>
                    <a:pt x="53" y="6"/>
                  </a:cubicBezTo>
                  <a:cubicBezTo>
                    <a:pt x="53" y="85"/>
                    <a:pt x="53" y="85"/>
                    <a:pt x="53" y="85"/>
                  </a:cubicBezTo>
                  <a:cubicBezTo>
                    <a:pt x="26" y="85"/>
                    <a:pt x="26" y="85"/>
                    <a:pt x="26" y="85"/>
                  </a:cubicBezTo>
                  <a:cubicBezTo>
                    <a:pt x="10" y="85"/>
                    <a:pt x="0" y="124"/>
                    <a:pt x="7" y="148"/>
                  </a:cubicBezTo>
                  <a:cubicBezTo>
                    <a:pt x="13" y="138"/>
                    <a:pt x="22" y="131"/>
                    <a:pt x="33" y="128"/>
                  </a:cubicBezTo>
                  <a:cubicBezTo>
                    <a:pt x="36" y="127"/>
                    <a:pt x="40" y="126"/>
                    <a:pt x="44" y="126"/>
                  </a:cubicBezTo>
                  <a:cubicBezTo>
                    <a:pt x="63" y="126"/>
                    <a:pt x="79" y="139"/>
                    <a:pt x="84" y="158"/>
                  </a:cubicBezTo>
                  <a:cubicBezTo>
                    <a:pt x="85" y="161"/>
                    <a:pt x="86" y="165"/>
                    <a:pt x="86" y="169"/>
                  </a:cubicBezTo>
                  <a:cubicBezTo>
                    <a:pt x="107" y="169"/>
                    <a:pt x="107" y="169"/>
                    <a:pt x="107" y="169"/>
                  </a:cubicBezTo>
                  <a:cubicBezTo>
                    <a:pt x="103" y="144"/>
                    <a:pt x="118" y="120"/>
                    <a:pt x="143" y="113"/>
                  </a:cubicBezTo>
                  <a:cubicBezTo>
                    <a:pt x="147" y="112"/>
                    <a:pt x="152" y="111"/>
                    <a:pt x="156" y="111"/>
                  </a:cubicBezTo>
                  <a:cubicBezTo>
                    <a:pt x="165" y="111"/>
                    <a:pt x="173" y="113"/>
                    <a:pt x="180" y="117"/>
                  </a:cubicBezTo>
                  <a:lnTo>
                    <a:pt x="151" y="6"/>
                  </a:lnTo>
                  <a:close/>
                  <a:moveTo>
                    <a:pt x="154" y="97"/>
                  </a:moveTo>
                  <a:cubicBezTo>
                    <a:pt x="126" y="97"/>
                    <a:pt x="113" y="112"/>
                    <a:pt x="113" y="112"/>
                  </a:cubicBezTo>
                  <a:cubicBezTo>
                    <a:pt x="90" y="112"/>
                    <a:pt x="90" y="112"/>
                    <a:pt x="90" y="112"/>
                  </a:cubicBezTo>
                  <a:cubicBezTo>
                    <a:pt x="68" y="76"/>
                    <a:pt x="68" y="76"/>
                    <a:pt x="68" y="76"/>
                  </a:cubicBezTo>
                  <a:cubicBezTo>
                    <a:pt x="68" y="21"/>
                    <a:pt x="68" y="21"/>
                    <a:pt x="68" y="21"/>
                  </a:cubicBezTo>
                  <a:cubicBezTo>
                    <a:pt x="68" y="18"/>
                    <a:pt x="71" y="15"/>
                    <a:pt x="74" y="15"/>
                  </a:cubicBezTo>
                  <a:cubicBezTo>
                    <a:pt x="132" y="15"/>
                    <a:pt x="132" y="15"/>
                    <a:pt x="132" y="15"/>
                  </a:cubicBezTo>
                  <a:cubicBezTo>
                    <a:pt x="135" y="15"/>
                    <a:pt x="138" y="18"/>
                    <a:pt x="139" y="21"/>
                  </a:cubicBezTo>
                  <a:cubicBezTo>
                    <a:pt x="158" y="92"/>
                    <a:pt x="158" y="92"/>
                    <a:pt x="158" y="92"/>
                  </a:cubicBezTo>
                  <a:cubicBezTo>
                    <a:pt x="159" y="94"/>
                    <a:pt x="157" y="97"/>
                    <a:pt x="154"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65" name="Group 364"/>
          <p:cNvGrpSpPr/>
          <p:nvPr userDrawn="1"/>
        </p:nvGrpSpPr>
        <p:grpSpPr>
          <a:xfrm>
            <a:off x="2567513" y="5564338"/>
            <a:ext cx="263102" cy="312242"/>
            <a:chOff x="4562475" y="3013075"/>
            <a:chExt cx="4275138" cy="5073651"/>
          </a:xfrm>
          <a:solidFill>
            <a:schemeClr val="tx1"/>
          </a:solidFill>
        </p:grpSpPr>
        <p:sp>
          <p:nvSpPr>
            <p:cNvPr id="366" name="Freeform 24"/>
            <p:cNvSpPr>
              <a:spLocks/>
            </p:cNvSpPr>
            <p:nvPr/>
          </p:nvSpPr>
          <p:spPr bwMode="auto">
            <a:xfrm>
              <a:off x="4562475" y="7580313"/>
              <a:ext cx="3746500" cy="506413"/>
            </a:xfrm>
            <a:custGeom>
              <a:avLst/>
              <a:gdLst>
                <a:gd name="T0" fmla="*/ 321 w 333"/>
                <a:gd name="T1" fmla="*/ 0 h 45"/>
                <a:gd name="T2" fmla="*/ 313 w 333"/>
                <a:gd name="T3" fmla="*/ 0 h 45"/>
                <a:gd name="T4" fmla="*/ 307 w 333"/>
                <a:gd name="T5" fmla="*/ 0 h 45"/>
                <a:gd name="T6" fmla="*/ 25 w 333"/>
                <a:gd name="T7" fmla="*/ 0 h 45"/>
                <a:gd name="T8" fmla="*/ 20 w 333"/>
                <a:gd name="T9" fmla="*/ 0 h 45"/>
                <a:gd name="T10" fmla="*/ 11 w 333"/>
                <a:gd name="T11" fmla="*/ 0 h 45"/>
                <a:gd name="T12" fmla="*/ 0 w 333"/>
                <a:gd name="T13" fmla="*/ 12 h 45"/>
                <a:gd name="T14" fmla="*/ 0 w 333"/>
                <a:gd name="T15" fmla="*/ 34 h 45"/>
                <a:gd name="T16" fmla="*/ 11 w 333"/>
                <a:gd name="T17" fmla="*/ 45 h 45"/>
                <a:gd name="T18" fmla="*/ 321 w 333"/>
                <a:gd name="T19" fmla="*/ 45 h 45"/>
                <a:gd name="T20" fmla="*/ 333 w 333"/>
                <a:gd name="T21" fmla="*/ 34 h 45"/>
                <a:gd name="T22" fmla="*/ 333 w 333"/>
                <a:gd name="T23" fmla="*/ 12 h 45"/>
                <a:gd name="T24" fmla="*/ 321 w 333"/>
                <a:gd name="T25"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3" h="45">
                  <a:moveTo>
                    <a:pt x="321" y="0"/>
                  </a:moveTo>
                  <a:cubicBezTo>
                    <a:pt x="313" y="0"/>
                    <a:pt x="313" y="0"/>
                    <a:pt x="313" y="0"/>
                  </a:cubicBezTo>
                  <a:cubicBezTo>
                    <a:pt x="307" y="0"/>
                    <a:pt x="307" y="0"/>
                    <a:pt x="307" y="0"/>
                  </a:cubicBezTo>
                  <a:cubicBezTo>
                    <a:pt x="25" y="0"/>
                    <a:pt x="25" y="0"/>
                    <a:pt x="25" y="0"/>
                  </a:cubicBezTo>
                  <a:cubicBezTo>
                    <a:pt x="20" y="0"/>
                    <a:pt x="20" y="0"/>
                    <a:pt x="20" y="0"/>
                  </a:cubicBezTo>
                  <a:cubicBezTo>
                    <a:pt x="11" y="0"/>
                    <a:pt x="11" y="0"/>
                    <a:pt x="11" y="0"/>
                  </a:cubicBezTo>
                  <a:cubicBezTo>
                    <a:pt x="5" y="0"/>
                    <a:pt x="0" y="5"/>
                    <a:pt x="0" y="12"/>
                  </a:cubicBezTo>
                  <a:cubicBezTo>
                    <a:pt x="0" y="34"/>
                    <a:pt x="0" y="34"/>
                    <a:pt x="0" y="34"/>
                  </a:cubicBezTo>
                  <a:cubicBezTo>
                    <a:pt x="0" y="40"/>
                    <a:pt x="5" y="45"/>
                    <a:pt x="11" y="45"/>
                  </a:cubicBezTo>
                  <a:cubicBezTo>
                    <a:pt x="321" y="45"/>
                    <a:pt x="321" y="45"/>
                    <a:pt x="321" y="45"/>
                  </a:cubicBezTo>
                  <a:cubicBezTo>
                    <a:pt x="327" y="45"/>
                    <a:pt x="333" y="40"/>
                    <a:pt x="333" y="34"/>
                  </a:cubicBezTo>
                  <a:cubicBezTo>
                    <a:pt x="333" y="12"/>
                    <a:pt x="333" y="12"/>
                    <a:pt x="333" y="12"/>
                  </a:cubicBezTo>
                  <a:cubicBezTo>
                    <a:pt x="333" y="5"/>
                    <a:pt x="327" y="0"/>
                    <a:pt x="3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7" name="Freeform 25"/>
            <p:cNvSpPr>
              <a:spLocks/>
            </p:cNvSpPr>
            <p:nvPr/>
          </p:nvSpPr>
          <p:spPr bwMode="auto">
            <a:xfrm>
              <a:off x="5969000" y="3013075"/>
              <a:ext cx="2868613" cy="1530350"/>
            </a:xfrm>
            <a:custGeom>
              <a:avLst/>
              <a:gdLst>
                <a:gd name="T0" fmla="*/ 187 w 255"/>
                <a:gd name="T1" fmla="*/ 0 h 136"/>
                <a:gd name="T2" fmla="*/ 130 w 255"/>
                <a:gd name="T3" fmla="*/ 30 h 136"/>
                <a:gd name="T4" fmla="*/ 98 w 255"/>
                <a:gd name="T5" fmla="*/ 19 h 136"/>
                <a:gd name="T6" fmla="*/ 45 w 255"/>
                <a:gd name="T7" fmla="*/ 61 h 136"/>
                <a:gd name="T8" fmla="*/ 0 w 255"/>
                <a:gd name="T9" fmla="*/ 110 h 136"/>
                <a:gd name="T10" fmla="*/ 0 w 255"/>
                <a:gd name="T11" fmla="*/ 128 h 136"/>
                <a:gd name="T12" fmla="*/ 102 w 255"/>
                <a:gd name="T13" fmla="*/ 128 h 136"/>
                <a:gd name="T14" fmla="*/ 135 w 255"/>
                <a:gd name="T15" fmla="*/ 113 h 136"/>
                <a:gd name="T16" fmla="*/ 187 w 255"/>
                <a:gd name="T17" fmla="*/ 136 h 136"/>
                <a:gd name="T18" fmla="*/ 255 w 255"/>
                <a:gd name="T19" fmla="*/ 68 h 136"/>
                <a:gd name="T20" fmla="*/ 187 w 255"/>
                <a:gd name="T21"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5" h="136">
                  <a:moveTo>
                    <a:pt x="187" y="0"/>
                  </a:moveTo>
                  <a:cubicBezTo>
                    <a:pt x="163" y="0"/>
                    <a:pt x="142" y="12"/>
                    <a:pt x="130" y="30"/>
                  </a:cubicBezTo>
                  <a:cubicBezTo>
                    <a:pt x="121" y="24"/>
                    <a:pt x="110" y="19"/>
                    <a:pt x="98" y="19"/>
                  </a:cubicBezTo>
                  <a:cubicBezTo>
                    <a:pt x="72" y="19"/>
                    <a:pt x="51" y="37"/>
                    <a:pt x="45" y="61"/>
                  </a:cubicBezTo>
                  <a:cubicBezTo>
                    <a:pt x="20" y="63"/>
                    <a:pt x="0" y="84"/>
                    <a:pt x="0" y="110"/>
                  </a:cubicBezTo>
                  <a:cubicBezTo>
                    <a:pt x="0" y="128"/>
                    <a:pt x="0" y="128"/>
                    <a:pt x="0" y="128"/>
                  </a:cubicBezTo>
                  <a:cubicBezTo>
                    <a:pt x="102" y="128"/>
                    <a:pt x="102" y="128"/>
                    <a:pt x="102" y="128"/>
                  </a:cubicBezTo>
                  <a:cubicBezTo>
                    <a:pt x="115" y="127"/>
                    <a:pt x="126" y="121"/>
                    <a:pt x="135" y="113"/>
                  </a:cubicBezTo>
                  <a:cubicBezTo>
                    <a:pt x="148" y="127"/>
                    <a:pt x="166" y="136"/>
                    <a:pt x="187" y="136"/>
                  </a:cubicBezTo>
                  <a:cubicBezTo>
                    <a:pt x="224" y="136"/>
                    <a:pt x="255" y="106"/>
                    <a:pt x="255" y="68"/>
                  </a:cubicBezTo>
                  <a:cubicBezTo>
                    <a:pt x="255" y="31"/>
                    <a:pt x="224" y="0"/>
                    <a:pt x="18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26"/>
            <p:cNvSpPr>
              <a:spLocks noEditPoints="1"/>
            </p:cNvSpPr>
            <p:nvPr/>
          </p:nvSpPr>
          <p:spPr bwMode="auto">
            <a:xfrm>
              <a:off x="4956175" y="4711700"/>
              <a:ext cx="2959100" cy="2620963"/>
            </a:xfrm>
            <a:custGeom>
              <a:avLst/>
              <a:gdLst>
                <a:gd name="T0" fmla="*/ 263 w 263"/>
                <a:gd name="T1" fmla="*/ 233 h 233"/>
                <a:gd name="T2" fmla="*/ 217 w 263"/>
                <a:gd name="T3" fmla="*/ 45 h 233"/>
                <a:gd name="T4" fmla="*/ 227 w 263"/>
                <a:gd name="T5" fmla="*/ 45 h 233"/>
                <a:gd name="T6" fmla="*/ 238 w 263"/>
                <a:gd name="T7" fmla="*/ 33 h 233"/>
                <a:gd name="T8" fmla="*/ 238 w 263"/>
                <a:gd name="T9" fmla="*/ 11 h 233"/>
                <a:gd name="T10" fmla="*/ 227 w 263"/>
                <a:gd name="T11" fmla="*/ 0 h 233"/>
                <a:gd name="T12" fmla="*/ 36 w 263"/>
                <a:gd name="T13" fmla="*/ 0 h 233"/>
                <a:gd name="T14" fmla="*/ 25 w 263"/>
                <a:gd name="T15" fmla="*/ 11 h 233"/>
                <a:gd name="T16" fmla="*/ 25 w 263"/>
                <a:gd name="T17" fmla="*/ 33 h 233"/>
                <a:gd name="T18" fmla="*/ 36 w 263"/>
                <a:gd name="T19" fmla="*/ 45 h 233"/>
                <a:gd name="T20" fmla="*/ 46 w 263"/>
                <a:gd name="T21" fmla="*/ 45 h 233"/>
                <a:gd name="T22" fmla="*/ 0 w 263"/>
                <a:gd name="T23" fmla="*/ 233 h 233"/>
                <a:gd name="T24" fmla="*/ 263 w 263"/>
                <a:gd name="T25" fmla="*/ 233 h 233"/>
                <a:gd name="T26" fmla="*/ 101 w 263"/>
                <a:gd name="T27" fmla="*/ 178 h 233"/>
                <a:gd name="T28" fmla="*/ 117 w 263"/>
                <a:gd name="T29" fmla="*/ 151 h 233"/>
                <a:gd name="T30" fmla="*/ 145 w 263"/>
                <a:gd name="T31" fmla="*/ 151 h 233"/>
                <a:gd name="T32" fmla="*/ 161 w 263"/>
                <a:gd name="T33" fmla="*/ 179 h 233"/>
                <a:gd name="T34" fmla="*/ 101 w 263"/>
                <a:gd name="T35" fmla="*/ 178 h 233"/>
                <a:gd name="T36" fmla="*/ 161 w 263"/>
                <a:gd name="T37" fmla="*/ 75 h 233"/>
                <a:gd name="T38" fmla="*/ 191 w 263"/>
                <a:gd name="T39" fmla="*/ 127 h 233"/>
                <a:gd name="T40" fmla="*/ 160 w 263"/>
                <a:gd name="T41" fmla="*/ 127 h 233"/>
                <a:gd name="T42" fmla="*/ 145 w 263"/>
                <a:gd name="T43" fmla="*/ 102 h 233"/>
                <a:gd name="T44" fmla="*/ 161 w 263"/>
                <a:gd name="T45" fmla="*/ 75 h 233"/>
                <a:gd name="T46" fmla="*/ 131 w 263"/>
                <a:gd name="T47" fmla="*/ 115 h 233"/>
                <a:gd name="T48" fmla="*/ 143 w 263"/>
                <a:gd name="T49" fmla="*/ 127 h 233"/>
                <a:gd name="T50" fmla="*/ 131 w 263"/>
                <a:gd name="T51" fmla="*/ 139 h 233"/>
                <a:gd name="T52" fmla="*/ 120 w 263"/>
                <a:gd name="T53" fmla="*/ 127 h 233"/>
                <a:gd name="T54" fmla="*/ 131 w 263"/>
                <a:gd name="T55" fmla="*/ 115 h 233"/>
                <a:gd name="T56" fmla="*/ 102 w 263"/>
                <a:gd name="T57" fmla="*/ 75 h 233"/>
                <a:gd name="T58" fmla="*/ 117 w 263"/>
                <a:gd name="T59" fmla="*/ 102 h 233"/>
                <a:gd name="T60" fmla="*/ 103 w 263"/>
                <a:gd name="T61" fmla="*/ 127 h 233"/>
                <a:gd name="T62" fmla="*/ 72 w 263"/>
                <a:gd name="T63" fmla="*/ 127 h 233"/>
                <a:gd name="T64" fmla="*/ 102 w 263"/>
                <a:gd name="T65" fmla="*/ 7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3" h="233">
                  <a:moveTo>
                    <a:pt x="263" y="233"/>
                  </a:moveTo>
                  <a:cubicBezTo>
                    <a:pt x="230" y="155"/>
                    <a:pt x="220" y="84"/>
                    <a:pt x="217" y="45"/>
                  </a:cubicBezTo>
                  <a:cubicBezTo>
                    <a:pt x="227" y="45"/>
                    <a:pt x="227" y="45"/>
                    <a:pt x="227" y="45"/>
                  </a:cubicBezTo>
                  <a:cubicBezTo>
                    <a:pt x="233" y="45"/>
                    <a:pt x="238" y="40"/>
                    <a:pt x="238" y="33"/>
                  </a:cubicBezTo>
                  <a:cubicBezTo>
                    <a:pt x="238" y="11"/>
                    <a:pt x="238" y="11"/>
                    <a:pt x="238" y="11"/>
                  </a:cubicBezTo>
                  <a:cubicBezTo>
                    <a:pt x="238" y="5"/>
                    <a:pt x="233" y="0"/>
                    <a:pt x="227" y="0"/>
                  </a:cubicBezTo>
                  <a:cubicBezTo>
                    <a:pt x="36" y="0"/>
                    <a:pt x="36" y="0"/>
                    <a:pt x="36" y="0"/>
                  </a:cubicBezTo>
                  <a:cubicBezTo>
                    <a:pt x="30" y="0"/>
                    <a:pt x="25" y="5"/>
                    <a:pt x="25" y="11"/>
                  </a:cubicBezTo>
                  <a:cubicBezTo>
                    <a:pt x="25" y="33"/>
                    <a:pt x="25" y="33"/>
                    <a:pt x="25" y="33"/>
                  </a:cubicBezTo>
                  <a:cubicBezTo>
                    <a:pt x="25" y="40"/>
                    <a:pt x="30" y="45"/>
                    <a:pt x="36" y="45"/>
                  </a:cubicBezTo>
                  <a:cubicBezTo>
                    <a:pt x="46" y="45"/>
                    <a:pt x="46" y="45"/>
                    <a:pt x="46" y="45"/>
                  </a:cubicBezTo>
                  <a:cubicBezTo>
                    <a:pt x="43" y="84"/>
                    <a:pt x="32" y="155"/>
                    <a:pt x="0" y="233"/>
                  </a:cubicBezTo>
                  <a:lnTo>
                    <a:pt x="263" y="233"/>
                  </a:lnTo>
                  <a:close/>
                  <a:moveTo>
                    <a:pt x="101" y="178"/>
                  </a:moveTo>
                  <a:cubicBezTo>
                    <a:pt x="117" y="151"/>
                    <a:pt x="117" y="151"/>
                    <a:pt x="117" y="151"/>
                  </a:cubicBezTo>
                  <a:cubicBezTo>
                    <a:pt x="126" y="157"/>
                    <a:pt x="137" y="156"/>
                    <a:pt x="145" y="151"/>
                  </a:cubicBezTo>
                  <a:cubicBezTo>
                    <a:pt x="161" y="179"/>
                    <a:pt x="161" y="179"/>
                    <a:pt x="161" y="179"/>
                  </a:cubicBezTo>
                  <a:cubicBezTo>
                    <a:pt x="143" y="189"/>
                    <a:pt x="120" y="189"/>
                    <a:pt x="101" y="178"/>
                  </a:cubicBezTo>
                  <a:close/>
                  <a:moveTo>
                    <a:pt x="161" y="75"/>
                  </a:moveTo>
                  <a:cubicBezTo>
                    <a:pt x="179" y="85"/>
                    <a:pt x="191" y="105"/>
                    <a:pt x="191" y="127"/>
                  </a:cubicBezTo>
                  <a:cubicBezTo>
                    <a:pt x="160" y="127"/>
                    <a:pt x="160" y="127"/>
                    <a:pt x="160" y="127"/>
                  </a:cubicBezTo>
                  <a:cubicBezTo>
                    <a:pt x="160" y="116"/>
                    <a:pt x="154" y="107"/>
                    <a:pt x="145" y="102"/>
                  </a:cubicBezTo>
                  <a:lnTo>
                    <a:pt x="161" y="75"/>
                  </a:lnTo>
                  <a:close/>
                  <a:moveTo>
                    <a:pt x="131" y="115"/>
                  </a:moveTo>
                  <a:cubicBezTo>
                    <a:pt x="138" y="115"/>
                    <a:pt x="143" y="121"/>
                    <a:pt x="143" y="127"/>
                  </a:cubicBezTo>
                  <a:cubicBezTo>
                    <a:pt x="143" y="133"/>
                    <a:pt x="138" y="139"/>
                    <a:pt x="131" y="139"/>
                  </a:cubicBezTo>
                  <a:cubicBezTo>
                    <a:pt x="125" y="139"/>
                    <a:pt x="120" y="133"/>
                    <a:pt x="120" y="127"/>
                  </a:cubicBezTo>
                  <a:cubicBezTo>
                    <a:pt x="120" y="121"/>
                    <a:pt x="125" y="115"/>
                    <a:pt x="131" y="115"/>
                  </a:cubicBezTo>
                  <a:close/>
                  <a:moveTo>
                    <a:pt x="102" y="75"/>
                  </a:moveTo>
                  <a:cubicBezTo>
                    <a:pt x="117" y="102"/>
                    <a:pt x="117" y="102"/>
                    <a:pt x="117" y="102"/>
                  </a:cubicBezTo>
                  <a:cubicBezTo>
                    <a:pt x="109" y="107"/>
                    <a:pt x="103" y="116"/>
                    <a:pt x="103" y="127"/>
                  </a:cubicBezTo>
                  <a:cubicBezTo>
                    <a:pt x="72" y="127"/>
                    <a:pt x="72" y="127"/>
                    <a:pt x="72" y="127"/>
                  </a:cubicBezTo>
                  <a:cubicBezTo>
                    <a:pt x="72" y="105"/>
                    <a:pt x="84" y="85"/>
                    <a:pt x="102"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72" name="Group 371"/>
          <p:cNvGrpSpPr/>
          <p:nvPr userDrawn="1"/>
        </p:nvGrpSpPr>
        <p:grpSpPr>
          <a:xfrm>
            <a:off x="2570347" y="4937400"/>
            <a:ext cx="257434" cy="296238"/>
            <a:chOff x="11102975" y="665163"/>
            <a:chExt cx="747713" cy="860425"/>
          </a:xfrm>
          <a:solidFill>
            <a:schemeClr val="tx1"/>
          </a:solidFill>
        </p:grpSpPr>
        <p:sp>
          <p:nvSpPr>
            <p:cNvPr id="373" name="Freeform 49"/>
            <p:cNvSpPr>
              <a:spLocks/>
            </p:cNvSpPr>
            <p:nvPr/>
          </p:nvSpPr>
          <p:spPr bwMode="auto">
            <a:xfrm>
              <a:off x="11102975" y="1150938"/>
              <a:ext cx="230188" cy="374650"/>
            </a:xfrm>
            <a:custGeom>
              <a:avLst/>
              <a:gdLst>
                <a:gd name="T0" fmla="*/ 3 w 79"/>
                <a:gd name="T1" fmla="*/ 68 h 129"/>
                <a:gd name="T2" fmla="*/ 33 w 79"/>
                <a:gd name="T3" fmla="*/ 0 h 129"/>
                <a:gd name="T4" fmla="*/ 30 w 79"/>
                <a:gd name="T5" fmla="*/ 29 h 129"/>
                <a:gd name="T6" fmla="*/ 79 w 79"/>
                <a:gd name="T7" fmla="*/ 129 h 129"/>
                <a:gd name="T8" fmla="*/ 3 w 79"/>
                <a:gd name="T9" fmla="*/ 68 h 129"/>
              </a:gdLst>
              <a:ahLst/>
              <a:cxnLst>
                <a:cxn ang="0">
                  <a:pos x="T0" y="T1"/>
                </a:cxn>
                <a:cxn ang="0">
                  <a:pos x="T2" y="T3"/>
                </a:cxn>
                <a:cxn ang="0">
                  <a:pos x="T4" y="T5"/>
                </a:cxn>
                <a:cxn ang="0">
                  <a:pos x="T6" y="T7"/>
                </a:cxn>
                <a:cxn ang="0">
                  <a:pos x="T8" y="T9"/>
                </a:cxn>
              </a:cxnLst>
              <a:rect l="0" t="0" r="r" b="b"/>
              <a:pathLst>
                <a:path w="79" h="129">
                  <a:moveTo>
                    <a:pt x="3" y="68"/>
                  </a:moveTo>
                  <a:cubicBezTo>
                    <a:pt x="0" y="43"/>
                    <a:pt x="14" y="18"/>
                    <a:pt x="33" y="0"/>
                  </a:cubicBezTo>
                  <a:cubicBezTo>
                    <a:pt x="31" y="9"/>
                    <a:pt x="30" y="19"/>
                    <a:pt x="30" y="29"/>
                  </a:cubicBezTo>
                  <a:cubicBezTo>
                    <a:pt x="30" y="81"/>
                    <a:pt x="55" y="116"/>
                    <a:pt x="79" y="129"/>
                  </a:cubicBezTo>
                  <a:cubicBezTo>
                    <a:pt x="21" y="124"/>
                    <a:pt x="6" y="92"/>
                    <a:pt x="3" y="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4" name="Freeform 50"/>
            <p:cNvSpPr>
              <a:spLocks/>
            </p:cNvSpPr>
            <p:nvPr/>
          </p:nvSpPr>
          <p:spPr bwMode="auto">
            <a:xfrm>
              <a:off x="11256963" y="665163"/>
              <a:ext cx="593725" cy="854075"/>
            </a:xfrm>
            <a:custGeom>
              <a:avLst/>
              <a:gdLst>
                <a:gd name="T0" fmla="*/ 127 w 204"/>
                <a:gd name="T1" fmla="*/ 294 h 294"/>
                <a:gd name="T2" fmla="*/ 74 w 204"/>
                <a:gd name="T3" fmla="*/ 171 h 294"/>
                <a:gd name="T4" fmla="*/ 42 w 204"/>
                <a:gd name="T5" fmla="*/ 249 h 294"/>
                <a:gd name="T6" fmla="*/ 26 w 204"/>
                <a:gd name="T7" fmla="*/ 267 h 294"/>
                <a:gd name="T8" fmla="*/ 0 w 204"/>
                <a:gd name="T9" fmla="*/ 183 h 294"/>
                <a:gd name="T10" fmla="*/ 48 w 204"/>
                <a:gd name="T11" fmla="*/ 79 h 294"/>
                <a:gd name="T12" fmla="*/ 80 w 204"/>
                <a:gd name="T13" fmla="*/ 0 h 294"/>
                <a:gd name="T14" fmla="*/ 135 w 204"/>
                <a:gd name="T15" fmla="*/ 141 h 294"/>
                <a:gd name="T16" fmla="*/ 135 w 204"/>
                <a:gd name="T17" fmla="*/ 148 h 294"/>
                <a:gd name="T18" fmla="*/ 173 w 204"/>
                <a:gd name="T19" fmla="*/ 110 h 294"/>
                <a:gd name="T20" fmla="*/ 179 w 204"/>
                <a:gd name="T21" fmla="*/ 243 h 294"/>
                <a:gd name="T22" fmla="*/ 127 w 204"/>
                <a:gd name="T23" fmla="*/ 29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4" h="294">
                  <a:moveTo>
                    <a:pt x="127" y="294"/>
                  </a:moveTo>
                  <a:cubicBezTo>
                    <a:pt x="121" y="246"/>
                    <a:pt x="91" y="189"/>
                    <a:pt x="74" y="171"/>
                  </a:cubicBezTo>
                  <a:cubicBezTo>
                    <a:pt x="75" y="194"/>
                    <a:pt x="66" y="226"/>
                    <a:pt x="42" y="249"/>
                  </a:cubicBezTo>
                  <a:cubicBezTo>
                    <a:pt x="36" y="255"/>
                    <a:pt x="31" y="261"/>
                    <a:pt x="26" y="267"/>
                  </a:cubicBezTo>
                  <a:cubicBezTo>
                    <a:pt x="11" y="247"/>
                    <a:pt x="0" y="221"/>
                    <a:pt x="0" y="183"/>
                  </a:cubicBezTo>
                  <a:cubicBezTo>
                    <a:pt x="0" y="135"/>
                    <a:pt x="24" y="103"/>
                    <a:pt x="48" y="79"/>
                  </a:cubicBezTo>
                  <a:cubicBezTo>
                    <a:pt x="72" y="55"/>
                    <a:pt x="81" y="23"/>
                    <a:pt x="80" y="0"/>
                  </a:cubicBezTo>
                  <a:cubicBezTo>
                    <a:pt x="99" y="21"/>
                    <a:pt x="135" y="89"/>
                    <a:pt x="135" y="141"/>
                  </a:cubicBezTo>
                  <a:cubicBezTo>
                    <a:pt x="135" y="143"/>
                    <a:pt x="135" y="146"/>
                    <a:pt x="135" y="148"/>
                  </a:cubicBezTo>
                  <a:cubicBezTo>
                    <a:pt x="154" y="139"/>
                    <a:pt x="167" y="124"/>
                    <a:pt x="173" y="110"/>
                  </a:cubicBezTo>
                  <a:cubicBezTo>
                    <a:pt x="183" y="131"/>
                    <a:pt x="204" y="197"/>
                    <a:pt x="179" y="243"/>
                  </a:cubicBezTo>
                  <a:cubicBezTo>
                    <a:pt x="164" y="271"/>
                    <a:pt x="146" y="286"/>
                    <a:pt x="127" y="2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77" name="Freeform 43"/>
          <p:cNvSpPr>
            <a:spLocks/>
          </p:cNvSpPr>
          <p:nvPr userDrawn="1"/>
        </p:nvSpPr>
        <p:spPr bwMode="auto">
          <a:xfrm>
            <a:off x="2492000" y="6787212"/>
            <a:ext cx="414126" cy="258672"/>
          </a:xfrm>
          <a:custGeom>
            <a:avLst/>
            <a:gdLst>
              <a:gd name="T0" fmla="*/ 231 w 410"/>
              <a:gd name="T1" fmla="*/ 0 h 257"/>
              <a:gd name="T2" fmla="*/ 139 w 410"/>
              <a:gd name="T3" fmla="*/ 57 h 257"/>
              <a:gd name="T4" fmla="*/ 116 w 410"/>
              <a:gd name="T5" fmla="*/ 52 h 257"/>
              <a:gd name="T6" fmla="*/ 64 w 410"/>
              <a:gd name="T7" fmla="*/ 103 h 257"/>
              <a:gd name="T8" fmla="*/ 64 w 410"/>
              <a:gd name="T9" fmla="*/ 104 h 257"/>
              <a:gd name="T10" fmla="*/ 0 w 410"/>
              <a:gd name="T11" fmla="*/ 180 h 257"/>
              <a:gd name="T12" fmla="*/ 77 w 410"/>
              <a:gd name="T13" fmla="*/ 257 h 257"/>
              <a:gd name="T14" fmla="*/ 321 w 410"/>
              <a:gd name="T15" fmla="*/ 257 h 257"/>
              <a:gd name="T16" fmla="*/ 321 w 410"/>
              <a:gd name="T17" fmla="*/ 257 h 257"/>
              <a:gd name="T18" fmla="*/ 410 w 410"/>
              <a:gd name="T19" fmla="*/ 167 h 257"/>
              <a:gd name="T20" fmla="*/ 330 w 410"/>
              <a:gd name="T21" fmla="*/ 78 h 257"/>
              <a:gd name="T22" fmla="*/ 231 w 410"/>
              <a:gd name="T23"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0" h="257">
                <a:moveTo>
                  <a:pt x="231" y="0"/>
                </a:moveTo>
                <a:cubicBezTo>
                  <a:pt x="191" y="0"/>
                  <a:pt x="156" y="24"/>
                  <a:pt x="139" y="57"/>
                </a:cubicBezTo>
                <a:cubicBezTo>
                  <a:pt x="132" y="54"/>
                  <a:pt x="124" y="52"/>
                  <a:pt x="116" y="52"/>
                </a:cubicBezTo>
                <a:cubicBezTo>
                  <a:pt x="87" y="52"/>
                  <a:pt x="64" y="75"/>
                  <a:pt x="64" y="103"/>
                </a:cubicBezTo>
                <a:cubicBezTo>
                  <a:pt x="64" y="103"/>
                  <a:pt x="64" y="104"/>
                  <a:pt x="64" y="104"/>
                </a:cubicBezTo>
                <a:cubicBezTo>
                  <a:pt x="28" y="110"/>
                  <a:pt x="0" y="142"/>
                  <a:pt x="0" y="180"/>
                </a:cubicBezTo>
                <a:cubicBezTo>
                  <a:pt x="0" y="222"/>
                  <a:pt x="35" y="257"/>
                  <a:pt x="77" y="257"/>
                </a:cubicBezTo>
                <a:cubicBezTo>
                  <a:pt x="321" y="257"/>
                  <a:pt x="321" y="257"/>
                  <a:pt x="321" y="257"/>
                </a:cubicBezTo>
                <a:cubicBezTo>
                  <a:pt x="321" y="257"/>
                  <a:pt x="321" y="257"/>
                  <a:pt x="321" y="257"/>
                </a:cubicBezTo>
                <a:cubicBezTo>
                  <a:pt x="370" y="257"/>
                  <a:pt x="410" y="217"/>
                  <a:pt x="410" y="167"/>
                </a:cubicBezTo>
                <a:cubicBezTo>
                  <a:pt x="410" y="121"/>
                  <a:pt x="375" y="83"/>
                  <a:pt x="330" y="78"/>
                </a:cubicBezTo>
                <a:cubicBezTo>
                  <a:pt x="319" y="33"/>
                  <a:pt x="279" y="0"/>
                  <a:pt x="23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2"/>
          <p:cNvSpPr>
            <a:spLocks noEditPoints="1"/>
          </p:cNvSpPr>
          <p:nvPr userDrawn="1"/>
        </p:nvSpPr>
        <p:spPr bwMode="auto">
          <a:xfrm>
            <a:off x="2594004" y="6203953"/>
            <a:ext cx="210120" cy="297790"/>
          </a:xfrm>
          <a:custGeom>
            <a:avLst/>
            <a:gdLst>
              <a:gd name="T0" fmla="*/ 256 w 319"/>
              <a:gd name="T1" fmla="*/ 152 h 452"/>
              <a:gd name="T2" fmla="*/ 176 w 319"/>
              <a:gd name="T3" fmla="*/ 12 h 452"/>
              <a:gd name="T4" fmla="*/ 159 w 319"/>
              <a:gd name="T5" fmla="*/ 0 h 452"/>
              <a:gd name="T6" fmla="*/ 143 w 319"/>
              <a:gd name="T7" fmla="*/ 12 h 452"/>
              <a:gd name="T8" fmla="*/ 63 w 319"/>
              <a:gd name="T9" fmla="*/ 152 h 452"/>
              <a:gd name="T10" fmla="*/ 0 w 319"/>
              <a:gd name="T11" fmla="*/ 292 h 452"/>
              <a:gd name="T12" fmla="*/ 159 w 319"/>
              <a:gd name="T13" fmla="*/ 452 h 452"/>
              <a:gd name="T14" fmla="*/ 319 w 319"/>
              <a:gd name="T15" fmla="*/ 292 h 452"/>
              <a:gd name="T16" fmla="*/ 256 w 319"/>
              <a:gd name="T17" fmla="*/ 152 h 452"/>
              <a:gd name="T18" fmla="*/ 34 w 319"/>
              <a:gd name="T19" fmla="*/ 292 h 452"/>
              <a:gd name="T20" fmla="*/ 91 w 319"/>
              <a:gd name="T21" fmla="*/ 172 h 452"/>
              <a:gd name="T22" fmla="*/ 124 w 319"/>
              <a:gd name="T23" fmla="*/ 125 h 452"/>
              <a:gd name="T24" fmla="*/ 70 w 319"/>
              <a:gd name="T25" fmla="*/ 292 h 452"/>
              <a:gd name="T26" fmla="*/ 104 w 319"/>
              <a:gd name="T27" fmla="*/ 405 h 452"/>
              <a:gd name="T28" fmla="*/ 34 w 319"/>
              <a:gd name="T29" fmla="*/ 292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9" h="452">
                <a:moveTo>
                  <a:pt x="256" y="152"/>
                </a:moveTo>
                <a:cubicBezTo>
                  <a:pt x="228" y="114"/>
                  <a:pt x="196" y="71"/>
                  <a:pt x="176" y="12"/>
                </a:cubicBezTo>
                <a:cubicBezTo>
                  <a:pt x="173" y="5"/>
                  <a:pt x="167" y="0"/>
                  <a:pt x="159" y="0"/>
                </a:cubicBezTo>
                <a:cubicBezTo>
                  <a:pt x="152" y="0"/>
                  <a:pt x="146" y="5"/>
                  <a:pt x="143" y="12"/>
                </a:cubicBezTo>
                <a:cubicBezTo>
                  <a:pt x="123" y="71"/>
                  <a:pt x="91" y="114"/>
                  <a:pt x="63" y="152"/>
                </a:cubicBezTo>
                <a:cubicBezTo>
                  <a:pt x="29" y="198"/>
                  <a:pt x="0" y="237"/>
                  <a:pt x="0" y="292"/>
                </a:cubicBezTo>
                <a:cubicBezTo>
                  <a:pt x="0" y="380"/>
                  <a:pt x="71" y="452"/>
                  <a:pt x="159" y="452"/>
                </a:cubicBezTo>
                <a:cubicBezTo>
                  <a:pt x="247" y="452"/>
                  <a:pt x="319" y="380"/>
                  <a:pt x="319" y="292"/>
                </a:cubicBezTo>
                <a:cubicBezTo>
                  <a:pt x="319" y="237"/>
                  <a:pt x="290" y="198"/>
                  <a:pt x="256" y="152"/>
                </a:cubicBezTo>
                <a:close/>
                <a:moveTo>
                  <a:pt x="34" y="292"/>
                </a:moveTo>
                <a:cubicBezTo>
                  <a:pt x="34" y="249"/>
                  <a:pt x="59" y="215"/>
                  <a:pt x="91" y="172"/>
                </a:cubicBezTo>
                <a:cubicBezTo>
                  <a:pt x="102" y="158"/>
                  <a:pt x="113" y="142"/>
                  <a:pt x="124" y="125"/>
                </a:cubicBezTo>
                <a:cubicBezTo>
                  <a:pt x="97" y="187"/>
                  <a:pt x="70" y="230"/>
                  <a:pt x="70" y="292"/>
                </a:cubicBezTo>
                <a:cubicBezTo>
                  <a:pt x="70" y="338"/>
                  <a:pt x="83" y="379"/>
                  <a:pt x="104" y="405"/>
                </a:cubicBezTo>
                <a:cubicBezTo>
                  <a:pt x="63" y="385"/>
                  <a:pt x="34" y="342"/>
                  <a:pt x="34" y="29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73" name="Freeform 43"/>
          <p:cNvSpPr>
            <a:spLocks noEditPoints="1"/>
          </p:cNvSpPr>
          <p:nvPr userDrawn="1"/>
        </p:nvSpPr>
        <p:spPr bwMode="auto">
          <a:xfrm>
            <a:off x="1238229" y="2627584"/>
            <a:ext cx="296700" cy="296278"/>
          </a:xfrm>
          <a:custGeom>
            <a:avLst/>
            <a:gdLst>
              <a:gd name="T0" fmla="*/ 169 w 432"/>
              <a:gd name="T1" fmla="*/ 50 h 431"/>
              <a:gd name="T2" fmla="*/ 132 w 432"/>
              <a:gd name="T3" fmla="*/ 65 h 431"/>
              <a:gd name="T4" fmla="*/ 101 w 432"/>
              <a:gd name="T5" fmla="*/ 43 h 431"/>
              <a:gd name="T6" fmla="*/ 83 w 432"/>
              <a:gd name="T7" fmla="*/ 44 h 431"/>
              <a:gd name="T8" fmla="*/ 63 w 432"/>
              <a:gd name="T9" fmla="*/ 63 h 431"/>
              <a:gd name="T10" fmla="*/ 44 w 432"/>
              <a:gd name="T11" fmla="*/ 82 h 431"/>
              <a:gd name="T12" fmla="*/ 43 w 432"/>
              <a:gd name="T13" fmla="*/ 100 h 431"/>
              <a:gd name="T14" fmla="*/ 66 w 432"/>
              <a:gd name="T15" fmla="*/ 132 h 431"/>
              <a:gd name="T16" fmla="*/ 51 w 432"/>
              <a:gd name="T17" fmla="*/ 169 h 431"/>
              <a:gd name="T18" fmla="*/ 12 w 432"/>
              <a:gd name="T19" fmla="*/ 175 h 431"/>
              <a:gd name="T20" fmla="*/ 0 w 432"/>
              <a:gd name="T21" fmla="*/ 188 h 431"/>
              <a:gd name="T22" fmla="*/ 0 w 432"/>
              <a:gd name="T23" fmla="*/ 215 h 431"/>
              <a:gd name="T24" fmla="*/ 0 w 432"/>
              <a:gd name="T25" fmla="*/ 242 h 431"/>
              <a:gd name="T26" fmla="*/ 12 w 432"/>
              <a:gd name="T27" fmla="*/ 256 h 431"/>
              <a:gd name="T28" fmla="*/ 51 w 432"/>
              <a:gd name="T29" fmla="*/ 262 h 431"/>
              <a:gd name="T30" fmla="*/ 66 w 432"/>
              <a:gd name="T31" fmla="*/ 299 h 431"/>
              <a:gd name="T32" fmla="*/ 43 w 432"/>
              <a:gd name="T33" fmla="*/ 331 h 431"/>
              <a:gd name="T34" fmla="*/ 44 w 432"/>
              <a:gd name="T35" fmla="*/ 349 h 431"/>
              <a:gd name="T36" fmla="*/ 63 w 432"/>
              <a:gd name="T37" fmla="*/ 368 h 431"/>
              <a:gd name="T38" fmla="*/ 83 w 432"/>
              <a:gd name="T39" fmla="*/ 387 h 431"/>
              <a:gd name="T40" fmla="*/ 101 w 432"/>
              <a:gd name="T41" fmla="*/ 388 h 431"/>
              <a:gd name="T42" fmla="*/ 132 w 432"/>
              <a:gd name="T43" fmla="*/ 366 h 431"/>
              <a:gd name="T44" fmla="*/ 169 w 432"/>
              <a:gd name="T45" fmla="*/ 381 h 431"/>
              <a:gd name="T46" fmla="*/ 176 w 432"/>
              <a:gd name="T47" fmla="*/ 419 h 431"/>
              <a:gd name="T48" fmla="*/ 189 w 432"/>
              <a:gd name="T49" fmla="*/ 431 h 431"/>
              <a:gd name="T50" fmla="*/ 216 w 432"/>
              <a:gd name="T51" fmla="*/ 431 h 431"/>
              <a:gd name="T52" fmla="*/ 243 w 432"/>
              <a:gd name="T53" fmla="*/ 431 h 431"/>
              <a:gd name="T54" fmla="*/ 256 w 432"/>
              <a:gd name="T55" fmla="*/ 419 h 431"/>
              <a:gd name="T56" fmla="*/ 263 w 432"/>
              <a:gd name="T57" fmla="*/ 381 h 431"/>
              <a:gd name="T58" fmla="*/ 300 w 432"/>
              <a:gd name="T59" fmla="*/ 366 h 431"/>
              <a:gd name="T60" fmla="*/ 332 w 432"/>
              <a:gd name="T61" fmla="*/ 388 h 431"/>
              <a:gd name="T62" fmla="*/ 350 w 432"/>
              <a:gd name="T63" fmla="*/ 387 h 431"/>
              <a:gd name="T64" fmla="*/ 369 w 432"/>
              <a:gd name="T65" fmla="*/ 368 h 431"/>
              <a:gd name="T66" fmla="*/ 388 w 432"/>
              <a:gd name="T67" fmla="*/ 349 h 431"/>
              <a:gd name="T68" fmla="*/ 389 w 432"/>
              <a:gd name="T69" fmla="*/ 331 h 431"/>
              <a:gd name="T70" fmla="*/ 366 w 432"/>
              <a:gd name="T71" fmla="*/ 299 h 431"/>
              <a:gd name="T72" fmla="*/ 382 w 432"/>
              <a:gd name="T73" fmla="*/ 262 h 431"/>
              <a:gd name="T74" fmla="*/ 420 w 432"/>
              <a:gd name="T75" fmla="*/ 256 h 431"/>
              <a:gd name="T76" fmla="*/ 432 w 432"/>
              <a:gd name="T77" fmla="*/ 242 h 431"/>
              <a:gd name="T78" fmla="*/ 432 w 432"/>
              <a:gd name="T79" fmla="*/ 215 h 431"/>
              <a:gd name="T80" fmla="*/ 432 w 432"/>
              <a:gd name="T81" fmla="*/ 188 h 431"/>
              <a:gd name="T82" fmla="*/ 420 w 432"/>
              <a:gd name="T83" fmla="*/ 175 h 431"/>
              <a:gd name="T84" fmla="*/ 382 w 432"/>
              <a:gd name="T85" fmla="*/ 169 h 431"/>
              <a:gd name="T86" fmla="*/ 366 w 432"/>
              <a:gd name="T87" fmla="*/ 132 h 431"/>
              <a:gd name="T88" fmla="*/ 389 w 432"/>
              <a:gd name="T89" fmla="*/ 100 h 431"/>
              <a:gd name="T90" fmla="*/ 388 w 432"/>
              <a:gd name="T91" fmla="*/ 82 h 431"/>
              <a:gd name="T92" fmla="*/ 369 w 432"/>
              <a:gd name="T93" fmla="*/ 63 h 431"/>
              <a:gd name="T94" fmla="*/ 350 w 432"/>
              <a:gd name="T95" fmla="*/ 44 h 431"/>
              <a:gd name="T96" fmla="*/ 332 w 432"/>
              <a:gd name="T97" fmla="*/ 43 h 431"/>
              <a:gd name="T98" fmla="*/ 300 w 432"/>
              <a:gd name="T99" fmla="*/ 65 h 431"/>
              <a:gd name="T100" fmla="*/ 263 w 432"/>
              <a:gd name="T101" fmla="*/ 50 h 431"/>
              <a:gd name="T102" fmla="*/ 256 w 432"/>
              <a:gd name="T103" fmla="*/ 12 h 431"/>
              <a:gd name="T104" fmla="*/ 243 w 432"/>
              <a:gd name="T105" fmla="*/ 0 h 431"/>
              <a:gd name="T106" fmla="*/ 216 w 432"/>
              <a:gd name="T107" fmla="*/ 0 h 431"/>
              <a:gd name="T108" fmla="*/ 189 w 432"/>
              <a:gd name="T109" fmla="*/ 0 h 431"/>
              <a:gd name="T110" fmla="*/ 176 w 432"/>
              <a:gd name="T111" fmla="*/ 12 h 431"/>
              <a:gd name="T112" fmla="*/ 169 w 432"/>
              <a:gd name="T113" fmla="*/ 50 h 431"/>
              <a:gd name="T114" fmla="*/ 216 w 432"/>
              <a:gd name="T115" fmla="*/ 135 h 431"/>
              <a:gd name="T116" fmla="*/ 297 w 432"/>
              <a:gd name="T117" fmla="*/ 215 h 431"/>
              <a:gd name="T118" fmla="*/ 216 w 432"/>
              <a:gd name="T119" fmla="*/ 296 h 431"/>
              <a:gd name="T120" fmla="*/ 135 w 432"/>
              <a:gd name="T121" fmla="*/ 215 h 431"/>
              <a:gd name="T122" fmla="*/ 216 w 432"/>
              <a:gd name="T123" fmla="*/ 135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2" h="431">
                <a:moveTo>
                  <a:pt x="169" y="50"/>
                </a:moveTo>
                <a:cubicBezTo>
                  <a:pt x="156" y="54"/>
                  <a:pt x="144" y="59"/>
                  <a:pt x="132" y="65"/>
                </a:cubicBezTo>
                <a:cubicBezTo>
                  <a:pt x="101" y="43"/>
                  <a:pt x="101" y="43"/>
                  <a:pt x="101" y="43"/>
                </a:cubicBezTo>
                <a:cubicBezTo>
                  <a:pt x="95" y="39"/>
                  <a:pt x="87" y="39"/>
                  <a:pt x="83" y="44"/>
                </a:cubicBezTo>
                <a:cubicBezTo>
                  <a:pt x="63" y="63"/>
                  <a:pt x="63" y="63"/>
                  <a:pt x="63" y="63"/>
                </a:cubicBezTo>
                <a:cubicBezTo>
                  <a:pt x="44" y="82"/>
                  <a:pt x="44" y="82"/>
                  <a:pt x="44" y="82"/>
                </a:cubicBezTo>
                <a:cubicBezTo>
                  <a:pt x="39" y="87"/>
                  <a:pt x="39" y="95"/>
                  <a:pt x="43" y="100"/>
                </a:cubicBezTo>
                <a:cubicBezTo>
                  <a:pt x="66" y="132"/>
                  <a:pt x="66" y="132"/>
                  <a:pt x="66" y="132"/>
                </a:cubicBezTo>
                <a:cubicBezTo>
                  <a:pt x="59" y="143"/>
                  <a:pt x="54" y="156"/>
                  <a:pt x="51" y="169"/>
                </a:cubicBezTo>
                <a:cubicBezTo>
                  <a:pt x="12" y="175"/>
                  <a:pt x="12" y="175"/>
                  <a:pt x="12" y="175"/>
                </a:cubicBezTo>
                <a:cubicBezTo>
                  <a:pt x="6" y="176"/>
                  <a:pt x="0" y="181"/>
                  <a:pt x="0" y="188"/>
                </a:cubicBezTo>
                <a:cubicBezTo>
                  <a:pt x="0" y="215"/>
                  <a:pt x="0" y="215"/>
                  <a:pt x="0" y="215"/>
                </a:cubicBezTo>
                <a:cubicBezTo>
                  <a:pt x="0" y="242"/>
                  <a:pt x="0" y="242"/>
                  <a:pt x="0" y="242"/>
                </a:cubicBezTo>
                <a:cubicBezTo>
                  <a:pt x="0" y="249"/>
                  <a:pt x="6" y="255"/>
                  <a:pt x="12" y="256"/>
                </a:cubicBezTo>
                <a:cubicBezTo>
                  <a:pt x="51" y="262"/>
                  <a:pt x="51" y="262"/>
                  <a:pt x="51" y="262"/>
                </a:cubicBezTo>
                <a:cubicBezTo>
                  <a:pt x="54" y="275"/>
                  <a:pt x="59" y="288"/>
                  <a:pt x="66" y="299"/>
                </a:cubicBezTo>
                <a:cubicBezTo>
                  <a:pt x="43" y="331"/>
                  <a:pt x="43" y="331"/>
                  <a:pt x="43" y="331"/>
                </a:cubicBezTo>
                <a:cubicBezTo>
                  <a:pt x="39" y="336"/>
                  <a:pt x="39" y="344"/>
                  <a:pt x="44" y="349"/>
                </a:cubicBezTo>
                <a:cubicBezTo>
                  <a:pt x="63" y="368"/>
                  <a:pt x="63" y="368"/>
                  <a:pt x="63" y="368"/>
                </a:cubicBezTo>
                <a:cubicBezTo>
                  <a:pt x="83" y="387"/>
                  <a:pt x="83" y="387"/>
                  <a:pt x="83" y="387"/>
                </a:cubicBezTo>
                <a:cubicBezTo>
                  <a:pt x="87" y="392"/>
                  <a:pt x="95" y="392"/>
                  <a:pt x="101" y="388"/>
                </a:cubicBezTo>
                <a:cubicBezTo>
                  <a:pt x="132" y="366"/>
                  <a:pt x="132" y="366"/>
                  <a:pt x="132" y="366"/>
                </a:cubicBezTo>
                <a:cubicBezTo>
                  <a:pt x="144" y="372"/>
                  <a:pt x="156" y="377"/>
                  <a:pt x="169" y="381"/>
                </a:cubicBezTo>
                <a:cubicBezTo>
                  <a:pt x="176" y="419"/>
                  <a:pt x="176" y="419"/>
                  <a:pt x="176" y="419"/>
                </a:cubicBezTo>
                <a:cubicBezTo>
                  <a:pt x="176" y="426"/>
                  <a:pt x="182" y="431"/>
                  <a:pt x="189" y="431"/>
                </a:cubicBezTo>
                <a:cubicBezTo>
                  <a:pt x="216" y="431"/>
                  <a:pt x="216" y="431"/>
                  <a:pt x="216" y="431"/>
                </a:cubicBezTo>
                <a:cubicBezTo>
                  <a:pt x="243" y="431"/>
                  <a:pt x="243" y="431"/>
                  <a:pt x="243" y="431"/>
                </a:cubicBezTo>
                <a:cubicBezTo>
                  <a:pt x="250" y="431"/>
                  <a:pt x="256" y="426"/>
                  <a:pt x="256" y="419"/>
                </a:cubicBezTo>
                <a:cubicBezTo>
                  <a:pt x="263" y="381"/>
                  <a:pt x="263" y="381"/>
                  <a:pt x="263" y="381"/>
                </a:cubicBezTo>
                <a:cubicBezTo>
                  <a:pt x="276" y="377"/>
                  <a:pt x="288" y="372"/>
                  <a:pt x="300" y="366"/>
                </a:cubicBezTo>
                <a:cubicBezTo>
                  <a:pt x="332" y="388"/>
                  <a:pt x="332" y="388"/>
                  <a:pt x="332" y="388"/>
                </a:cubicBezTo>
                <a:cubicBezTo>
                  <a:pt x="337" y="392"/>
                  <a:pt x="345" y="392"/>
                  <a:pt x="350" y="387"/>
                </a:cubicBezTo>
                <a:cubicBezTo>
                  <a:pt x="369" y="368"/>
                  <a:pt x="369" y="368"/>
                  <a:pt x="369" y="368"/>
                </a:cubicBezTo>
                <a:cubicBezTo>
                  <a:pt x="388" y="349"/>
                  <a:pt x="388" y="349"/>
                  <a:pt x="388" y="349"/>
                </a:cubicBezTo>
                <a:cubicBezTo>
                  <a:pt x="393" y="344"/>
                  <a:pt x="393" y="336"/>
                  <a:pt x="389" y="331"/>
                </a:cubicBezTo>
                <a:cubicBezTo>
                  <a:pt x="366" y="299"/>
                  <a:pt x="366" y="299"/>
                  <a:pt x="366" y="299"/>
                </a:cubicBezTo>
                <a:cubicBezTo>
                  <a:pt x="373" y="288"/>
                  <a:pt x="378" y="275"/>
                  <a:pt x="382" y="262"/>
                </a:cubicBezTo>
                <a:cubicBezTo>
                  <a:pt x="420" y="256"/>
                  <a:pt x="420" y="256"/>
                  <a:pt x="420" y="256"/>
                </a:cubicBezTo>
                <a:cubicBezTo>
                  <a:pt x="427" y="255"/>
                  <a:pt x="432" y="249"/>
                  <a:pt x="432" y="242"/>
                </a:cubicBezTo>
                <a:cubicBezTo>
                  <a:pt x="432" y="215"/>
                  <a:pt x="432" y="215"/>
                  <a:pt x="432" y="215"/>
                </a:cubicBezTo>
                <a:cubicBezTo>
                  <a:pt x="432" y="188"/>
                  <a:pt x="432" y="188"/>
                  <a:pt x="432" y="188"/>
                </a:cubicBezTo>
                <a:cubicBezTo>
                  <a:pt x="432" y="181"/>
                  <a:pt x="427" y="176"/>
                  <a:pt x="420" y="175"/>
                </a:cubicBezTo>
                <a:cubicBezTo>
                  <a:pt x="382" y="169"/>
                  <a:pt x="382" y="169"/>
                  <a:pt x="382" y="169"/>
                </a:cubicBezTo>
                <a:cubicBezTo>
                  <a:pt x="378" y="156"/>
                  <a:pt x="373" y="143"/>
                  <a:pt x="366" y="132"/>
                </a:cubicBezTo>
                <a:cubicBezTo>
                  <a:pt x="389" y="100"/>
                  <a:pt x="389" y="100"/>
                  <a:pt x="389" y="100"/>
                </a:cubicBezTo>
                <a:cubicBezTo>
                  <a:pt x="393" y="95"/>
                  <a:pt x="393" y="87"/>
                  <a:pt x="388" y="82"/>
                </a:cubicBezTo>
                <a:cubicBezTo>
                  <a:pt x="369" y="63"/>
                  <a:pt x="369" y="63"/>
                  <a:pt x="369" y="63"/>
                </a:cubicBezTo>
                <a:cubicBezTo>
                  <a:pt x="350" y="44"/>
                  <a:pt x="350" y="44"/>
                  <a:pt x="350" y="44"/>
                </a:cubicBezTo>
                <a:cubicBezTo>
                  <a:pt x="345" y="39"/>
                  <a:pt x="337" y="39"/>
                  <a:pt x="332" y="43"/>
                </a:cubicBezTo>
                <a:cubicBezTo>
                  <a:pt x="300" y="65"/>
                  <a:pt x="300" y="65"/>
                  <a:pt x="300" y="65"/>
                </a:cubicBezTo>
                <a:cubicBezTo>
                  <a:pt x="288" y="59"/>
                  <a:pt x="276" y="54"/>
                  <a:pt x="263" y="50"/>
                </a:cubicBezTo>
                <a:cubicBezTo>
                  <a:pt x="256" y="12"/>
                  <a:pt x="256" y="12"/>
                  <a:pt x="256" y="12"/>
                </a:cubicBezTo>
                <a:cubicBezTo>
                  <a:pt x="256" y="5"/>
                  <a:pt x="250" y="0"/>
                  <a:pt x="243" y="0"/>
                </a:cubicBezTo>
                <a:cubicBezTo>
                  <a:pt x="216" y="0"/>
                  <a:pt x="216" y="0"/>
                  <a:pt x="216" y="0"/>
                </a:cubicBezTo>
                <a:cubicBezTo>
                  <a:pt x="189" y="0"/>
                  <a:pt x="189" y="0"/>
                  <a:pt x="189" y="0"/>
                </a:cubicBezTo>
                <a:cubicBezTo>
                  <a:pt x="182" y="0"/>
                  <a:pt x="176" y="5"/>
                  <a:pt x="176" y="12"/>
                </a:cubicBezTo>
                <a:cubicBezTo>
                  <a:pt x="169" y="50"/>
                  <a:pt x="169" y="50"/>
                  <a:pt x="169" y="50"/>
                </a:cubicBezTo>
                <a:close/>
                <a:moveTo>
                  <a:pt x="216" y="135"/>
                </a:moveTo>
                <a:cubicBezTo>
                  <a:pt x="261" y="135"/>
                  <a:pt x="297" y="171"/>
                  <a:pt x="297" y="215"/>
                </a:cubicBezTo>
                <a:cubicBezTo>
                  <a:pt x="297" y="260"/>
                  <a:pt x="261" y="296"/>
                  <a:pt x="216" y="296"/>
                </a:cubicBezTo>
                <a:cubicBezTo>
                  <a:pt x="171" y="296"/>
                  <a:pt x="135" y="260"/>
                  <a:pt x="135" y="215"/>
                </a:cubicBezTo>
                <a:cubicBezTo>
                  <a:pt x="135" y="171"/>
                  <a:pt x="171" y="135"/>
                  <a:pt x="216" y="13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77" name="Freeform 47"/>
          <p:cNvSpPr>
            <a:spLocks noEditPoints="1"/>
          </p:cNvSpPr>
          <p:nvPr userDrawn="1"/>
        </p:nvSpPr>
        <p:spPr bwMode="auto">
          <a:xfrm>
            <a:off x="1225223" y="3211395"/>
            <a:ext cx="322712" cy="280792"/>
          </a:xfrm>
          <a:custGeom>
            <a:avLst/>
            <a:gdLst>
              <a:gd name="T0" fmla="*/ 438 w 441"/>
              <a:gd name="T1" fmla="*/ 174 h 384"/>
              <a:gd name="T2" fmla="*/ 420 w 441"/>
              <a:gd name="T3" fmla="*/ 130 h 384"/>
              <a:gd name="T4" fmla="*/ 440 w 441"/>
              <a:gd name="T5" fmla="*/ 109 h 384"/>
              <a:gd name="T6" fmla="*/ 419 w 441"/>
              <a:gd name="T7" fmla="*/ 89 h 384"/>
              <a:gd name="T8" fmla="*/ 402 w 441"/>
              <a:gd name="T9" fmla="*/ 89 h 384"/>
              <a:gd name="T10" fmla="*/ 369 w 441"/>
              <a:gd name="T11" fmla="*/ 38 h 384"/>
              <a:gd name="T12" fmla="*/ 294 w 441"/>
              <a:gd name="T13" fmla="*/ 0 h 384"/>
              <a:gd name="T14" fmla="*/ 220 w 441"/>
              <a:gd name="T15" fmla="*/ 0 h 384"/>
              <a:gd name="T16" fmla="*/ 146 w 441"/>
              <a:gd name="T17" fmla="*/ 0 h 384"/>
              <a:gd name="T18" fmla="*/ 72 w 441"/>
              <a:gd name="T19" fmla="*/ 38 h 384"/>
              <a:gd name="T20" fmla="*/ 39 w 441"/>
              <a:gd name="T21" fmla="*/ 89 h 384"/>
              <a:gd name="T22" fmla="*/ 22 w 441"/>
              <a:gd name="T23" fmla="*/ 89 h 384"/>
              <a:gd name="T24" fmla="*/ 1 w 441"/>
              <a:gd name="T25" fmla="*/ 109 h 384"/>
              <a:gd name="T26" fmla="*/ 21 w 441"/>
              <a:gd name="T27" fmla="*/ 130 h 384"/>
              <a:gd name="T28" fmla="*/ 3 w 441"/>
              <a:gd name="T29" fmla="*/ 174 h 384"/>
              <a:gd name="T30" fmla="*/ 0 w 441"/>
              <a:gd name="T31" fmla="*/ 220 h 384"/>
              <a:gd name="T32" fmla="*/ 5 w 441"/>
              <a:gd name="T33" fmla="*/ 267 h 384"/>
              <a:gd name="T34" fmla="*/ 15 w 441"/>
              <a:gd name="T35" fmla="*/ 299 h 384"/>
              <a:gd name="T36" fmla="*/ 15 w 441"/>
              <a:gd name="T37" fmla="*/ 356 h 384"/>
              <a:gd name="T38" fmla="*/ 42 w 441"/>
              <a:gd name="T39" fmla="*/ 384 h 384"/>
              <a:gd name="T40" fmla="*/ 70 w 441"/>
              <a:gd name="T41" fmla="*/ 384 h 384"/>
              <a:gd name="T42" fmla="*/ 97 w 441"/>
              <a:gd name="T43" fmla="*/ 356 h 384"/>
              <a:gd name="T44" fmla="*/ 97 w 441"/>
              <a:gd name="T45" fmla="*/ 315 h 384"/>
              <a:gd name="T46" fmla="*/ 220 w 441"/>
              <a:gd name="T47" fmla="*/ 315 h 384"/>
              <a:gd name="T48" fmla="*/ 344 w 441"/>
              <a:gd name="T49" fmla="*/ 315 h 384"/>
              <a:gd name="T50" fmla="*/ 344 w 441"/>
              <a:gd name="T51" fmla="*/ 356 h 384"/>
              <a:gd name="T52" fmla="*/ 371 w 441"/>
              <a:gd name="T53" fmla="*/ 384 h 384"/>
              <a:gd name="T54" fmla="*/ 399 w 441"/>
              <a:gd name="T55" fmla="*/ 384 h 384"/>
              <a:gd name="T56" fmla="*/ 426 w 441"/>
              <a:gd name="T57" fmla="*/ 356 h 384"/>
              <a:gd name="T58" fmla="*/ 426 w 441"/>
              <a:gd name="T59" fmla="*/ 299 h 384"/>
              <a:gd name="T60" fmla="*/ 436 w 441"/>
              <a:gd name="T61" fmla="*/ 267 h 384"/>
              <a:gd name="T62" fmla="*/ 441 w 441"/>
              <a:gd name="T63" fmla="*/ 220 h 384"/>
              <a:gd name="T64" fmla="*/ 438 w 441"/>
              <a:gd name="T65" fmla="*/ 174 h 384"/>
              <a:gd name="T66" fmla="*/ 102 w 441"/>
              <a:gd name="T67" fmla="*/ 65 h 384"/>
              <a:gd name="T68" fmla="*/ 146 w 441"/>
              <a:gd name="T69" fmla="*/ 41 h 384"/>
              <a:gd name="T70" fmla="*/ 220 w 441"/>
              <a:gd name="T71" fmla="*/ 41 h 384"/>
              <a:gd name="T72" fmla="*/ 294 w 441"/>
              <a:gd name="T73" fmla="*/ 41 h 384"/>
              <a:gd name="T74" fmla="*/ 339 w 441"/>
              <a:gd name="T75" fmla="*/ 65 h 384"/>
              <a:gd name="T76" fmla="*/ 373 w 441"/>
              <a:gd name="T77" fmla="*/ 124 h 384"/>
              <a:gd name="T78" fmla="*/ 330 w 441"/>
              <a:gd name="T79" fmla="*/ 137 h 384"/>
              <a:gd name="T80" fmla="*/ 220 w 441"/>
              <a:gd name="T81" fmla="*/ 137 h 384"/>
              <a:gd name="T82" fmla="*/ 111 w 441"/>
              <a:gd name="T83" fmla="*/ 137 h 384"/>
              <a:gd name="T84" fmla="*/ 68 w 441"/>
              <a:gd name="T85" fmla="*/ 124 h 384"/>
              <a:gd name="T86" fmla="*/ 102 w 441"/>
              <a:gd name="T87" fmla="*/ 65 h 384"/>
              <a:gd name="T88" fmla="*/ 123 w 441"/>
              <a:gd name="T89" fmla="*/ 226 h 384"/>
              <a:gd name="T90" fmla="*/ 79 w 441"/>
              <a:gd name="T91" fmla="*/ 226 h 384"/>
              <a:gd name="T92" fmla="*/ 49 w 441"/>
              <a:gd name="T93" fmla="*/ 199 h 384"/>
              <a:gd name="T94" fmla="*/ 79 w 441"/>
              <a:gd name="T95" fmla="*/ 171 h 384"/>
              <a:gd name="T96" fmla="*/ 138 w 441"/>
              <a:gd name="T97" fmla="*/ 212 h 384"/>
              <a:gd name="T98" fmla="*/ 123 w 441"/>
              <a:gd name="T99" fmla="*/ 226 h 384"/>
              <a:gd name="T100" fmla="*/ 269 w 441"/>
              <a:gd name="T101" fmla="*/ 274 h 384"/>
              <a:gd name="T102" fmla="*/ 172 w 441"/>
              <a:gd name="T103" fmla="*/ 274 h 384"/>
              <a:gd name="T104" fmla="*/ 159 w 441"/>
              <a:gd name="T105" fmla="*/ 260 h 384"/>
              <a:gd name="T106" fmla="*/ 172 w 441"/>
              <a:gd name="T107" fmla="*/ 247 h 384"/>
              <a:gd name="T108" fmla="*/ 269 w 441"/>
              <a:gd name="T109" fmla="*/ 247 h 384"/>
              <a:gd name="T110" fmla="*/ 282 w 441"/>
              <a:gd name="T111" fmla="*/ 260 h 384"/>
              <a:gd name="T112" fmla="*/ 269 w 441"/>
              <a:gd name="T113" fmla="*/ 274 h 384"/>
              <a:gd name="T114" fmla="*/ 362 w 441"/>
              <a:gd name="T115" fmla="*/ 226 h 384"/>
              <a:gd name="T116" fmla="*/ 318 w 441"/>
              <a:gd name="T117" fmla="*/ 226 h 384"/>
              <a:gd name="T118" fmla="*/ 303 w 441"/>
              <a:gd name="T119" fmla="*/ 212 h 384"/>
              <a:gd name="T120" fmla="*/ 362 w 441"/>
              <a:gd name="T121" fmla="*/ 171 h 384"/>
              <a:gd name="T122" fmla="*/ 392 w 441"/>
              <a:gd name="T123" fmla="*/ 199 h 384"/>
              <a:gd name="T124" fmla="*/ 362 w 441"/>
              <a:gd name="T125" fmla="*/ 226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1" h="384">
                <a:moveTo>
                  <a:pt x="438" y="174"/>
                </a:moveTo>
                <a:cubicBezTo>
                  <a:pt x="435" y="159"/>
                  <a:pt x="429" y="143"/>
                  <a:pt x="420" y="130"/>
                </a:cubicBezTo>
                <a:cubicBezTo>
                  <a:pt x="431" y="130"/>
                  <a:pt x="440" y="120"/>
                  <a:pt x="440" y="109"/>
                </a:cubicBezTo>
                <a:cubicBezTo>
                  <a:pt x="440" y="98"/>
                  <a:pt x="431" y="89"/>
                  <a:pt x="419" y="89"/>
                </a:cubicBezTo>
                <a:cubicBezTo>
                  <a:pt x="402" y="89"/>
                  <a:pt x="402" y="89"/>
                  <a:pt x="402" y="89"/>
                </a:cubicBezTo>
                <a:cubicBezTo>
                  <a:pt x="394" y="71"/>
                  <a:pt x="382" y="53"/>
                  <a:pt x="369" y="38"/>
                </a:cubicBezTo>
                <a:cubicBezTo>
                  <a:pt x="349" y="15"/>
                  <a:pt x="324" y="0"/>
                  <a:pt x="294" y="0"/>
                </a:cubicBezTo>
                <a:cubicBezTo>
                  <a:pt x="220" y="0"/>
                  <a:pt x="220" y="0"/>
                  <a:pt x="220" y="0"/>
                </a:cubicBezTo>
                <a:cubicBezTo>
                  <a:pt x="146" y="0"/>
                  <a:pt x="146" y="0"/>
                  <a:pt x="146" y="0"/>
                </a:cubicBezTo>
                <a:cubicBezTo>
                  <a:pt x="117" y="0"/>
                  <a:pt x="92" y="15"/>
                  <a:pt x="72" y="38"/>
                </a:cubicBezTo>
                <a:cubicBezTo>
                  <a:pt x="59" y="53"/>
                  <a:pt x="47" y="71"/>
                  <a:pt x="39" y="89"/>
                </a:cubicBezTo>
                <a:cubicBezTo>
                  <a:pt x="22" y="89"/>
                  <a:pt x="22" y="89"/>
                  <a:pt x="22" y="89"/>
                </a:cubicBezTo>
                <a:cubicBezTo>
                  <a:pt x="10" y="89"/>
                  <a:pt x="1" y="98"/>
                  <a:pt x="1" y="109"/>
                </a:cubicBezTo>
                <a:cubicBezTo>
                  <a:pt x="1" y="120"/>
                  <a:pt x="10" y="130"/>
                  <a:pt x="21" y="130"/>
                </a:cubicBezTo>
                <a:cubicBezTo>
                  <a:pt x="12" y="143"/>
                  <a:pt x="6" y="159"/>
                  <a:pt x="3" y="174"/>
                </a:cubicBezTo>
                <a:cubicBezTo>
                  <a:pt x="0" y="192"/>
                  <a:pt x="0" y="208"/>
                  <a:pt x="0" y="220"/>
                </a:cubicBezTo>
                <a:cubicBezTo>
                  <a:pt x="1" y="232"/>
                  <a:pt x="2" y="250"/>
                  <a:pt x="5" y="267"/>
                </a:cubicBezTo>
                <a:cubicBezTo>
                  <a:pt x="7" y="278"/>
                  <a:pt x="10" y="289"/>
                  <a:pt x="15" y="299"/>
                </a:cubicBezTo>
                <a:cubicBezTo>
                  <a:pt x="15" y="356"/>
                  <a:pt x="15" y="356"/>
                  <a:pt x="15" y="356"/>
                </a:cubicBezTo>
                <a:cubicBezTo>
                  <a:pt x="15" y="371"/>
                  <a:pt x="27" y="384"/>
                  <a:pt x="42" y="384"/>
                </a:cubicBezTo>
                <a:cubicBezTo>
                  <a:pt x="70" y="384"/>
                  <a:pt x="70" y="384"/>
                  <a:pt x="70" y="384"/>
                </a:cubicBezTo>
                <a:cubicBezTo>
                  <a:pt x="85" y="384"/>
                  <a:pt x="97" y="371"/>
                  <a:pt x="97" y="356"/>
                </a:cubicBezTo>
                <a:cubicBezTo>
                  <a:pt x="97" y="315"/>
                  <a:pt x="97" y="315"/>
                  <a:pt x="97" y="315"/>
                </a:cubicBezTo>
                <a:cubicBezTo>
                  <a:pt x="220" y="315"/>
                  <a:pt x="220" y="315"/>
                  <a:pt x="220" y="315"/>
                </a:cubicBezTo>
                <a:cubicBezTo>
                  <a:pt x="344" y="315"/>
                  <a:pt x="344" y="315"/>
                  <a:pt x="344" y="315"/>
                </a:cubicBezTo>
                <a:cubicBezTo>
                  <a:pt x="344" y="356"/>
                  <a:pt x="344" y="356"/>
                  <a:pt x="344" y="356"/>
                </a:cubicBezTo>
                <a:cubicBezTo>
                  <a:pt x="344" y="371"/>
                  <a:pt x="356" y="384"/>
                  <a:pt x="371" y="384"/>
                </a:cubicBezTo>
                <a:cubicBezTo>
                  <a:pt x="399" y="384"/>
                  <a:pt x="399" y="384"/>
                  <a:pt x="399" y="384"/>
                </a:cubicBezTo>
                <a:cubicBezTo>
                  <a:pt x="414" y="384"/>
                  <a:pt x="426" y="371"/>
                  <a:pt x="426" y="356"/>
                </a:cubicBezTo>
                <a:cubicBezTo>
                  <a:pt x="426" y="299"/>
                  <a:pt x="426" y="299"/>
                  <a:pt x="426" y="299"/>
                </a:cubicBezTo>
                <a:cubicBezTo>
                  <a:pt x="430" y="289"/>
                  <a:pt x="433" y="278"/>
                  <a:pt x="436" y="267"/>
                </a:cubicBezTo>
                <a:cubicBezTo>
                  <a:pt x="439" y="250"/>
                  <a:pt x="440" y="232"/>
                  <a:pt x="441" y="220"/>
                </a:cubicBezTo>
                <a:cubicBezTo>
                  <a:pt x="441" y="208"/>
                  <a:pt x="441" y="192"/>
                  <a:pt x="438" y="174"/>
                </a:cubicBezTo>
                <a:close/>
                <a:moveTo>
                  <a:pt x="102" y="65"/>
                </a:moveTo>
                <a:cubicBezTo>
                  <a:pt x="115" y="51"/>
                  <a:pt x="130" y="41"/>
                  <a:pt x="146" y="41"/>
                </a:cubicBezTo>
                <a:cubicBezTo>
                  <a:pt x="220" y="41"/>
                  <a:pt x="220" y="41"/>
                  <a:pt x="220" y="41"/>
                </a:cubicBezTo>
                <a:cubicBezTo>
                  <a:pt x="294" y="41"/>
                  <a:pt x="294" y="41"/>
                  <a:pt x="294" y="41"/>
                </a:cubicBezTo>
                <a:cubicBezTo>
                  <a:pt x="311" y="41"/>
                  <a:pt x="326" y="51"/>
                  <a:pt x="339" y="65"/>
                </a:cubicBezTo>
                <a:cubicBezTo>
                  <a:pt x="353" y="82"/>
                  <a:pt x="365" y="103"/>
                  <a:pt x="373" y="124"/>
                </a:cubicBezTo>
                <a:cubicBezTo>
                  <a:pt x="355" y="126"/>
                  <a:pt x="341" y="131"/>
                  <a:pt x="330" y="137"/>
                </a:cubicBezTo>
                <a:cubicBezTo>
                  <a:pt x="220" y="137"/>
                  <a:pt x="220" y="137"/>
                  <a:pt x="220" y="137"/>
                </a:cubicBezTo>
                <a:cubicBezTo>
                  <a:pt x="111" y="137"/>
                  <a:pt x="111" y="137"/>
                  <a:pt x="111" y="137"/>
                </a:cubicBezTo>
                <a:cubicBezTo>
                  <a:pt x="100" y="131"/>
                  <a:pt x="86" y="126"/>
                  <a:pt x="68" y="124"/>
                </a:cubicBezTo>
                <a:cubicBezTo>
                  <a:pt x="76" y="103"/>
                  <a:pt x="88" y="82"/>
                  <a:pt x="102" y="65"/>
                </a:cubicBezTo>
                <a:close/>
                <a:moveTo>
                  <a:pt x="123" y="226"/>
                </a:moveTo>
                <a:cubicBezTo>
                  <a:pt x="79" y="226"/>
                  <a:pt x="79" y="226"/>
                  <a:pt x="79" y="226"/>
                </a:cubicBezTo>
                <a:cubicBezTo>
                  <a:pt x="62" y="226"/>
                  <a:pt x="49" y="214"/>
                  <a:pt x="49" y="199"/>
                </a:cubicBezTo>
                <a:cubicBezTo>
                  <a:pt x="49" y="183"/>
                  <a:pt x="62" y="171"/>
                  <a:pt x="79" y="171"/>
                </a:cubicBezTo>
                <a:cubicBezTo>
                  <a:pt x="108" y="171"/>
                  <a:pt x="138" y="196"/>
                  <a:pt x="138" y="212"/>
                </a:cubicBezTo>
                <a:cubicBezTo>
                  <a:pt x="138" y="220"/>
                  <a:pt x="131" y="226"/>
                  <a:pt x="123" y="226"/>
                </a:cubicBezTo>
                <a:close/>
                <a:moveTo>
                  <a:pt x="269" y="274"/>
                </a:moveTo>
                <a:cubicBezTo>
                  <a:pt x="172" y="274"/>
                  <a:pt x="172" y="274"/>
                  <a:pt x="172" y="274"/>
                </a:cubicBezTo>
                <a:cubicBezTo>
                  <a:pt x="165" y="274"/>
                  <a:pt x="159" y="268"/>
                  <a:pt x="159" y="260"/>
                </a:cubicBezTo>
                <a:cubicBezTo>
                  <a:pt x="159" y="253"/>
                  <a:pt x="165" y="247"/>
                  <a:pt x="172" y="247"/>
                </a:cubicBezTo>
                <a:cubicBezTo>
                  <a:pt x="269" y="247"/>
                  <a:pt x="269" y="247"/>
                  <a:pt x="269" y="247"/>
                </a:cubicBezTo>
                <a:cubicBezTo>
                  <a:pt x="276" y="247"/>
                  <a:pt x="282" y="253"/>
                  <a:pt x="282" y="260"/>
                </a:cubicBezTo>
                <a:cubicBezTo>
                  <a:pt x="282" y="268"/>
                  <a:pt x="276" y="274"/>
                  <a:pt x="269" y="274"/>
                </a:cubicBezTo>
                <a:close/>
                <a:moveTo>
                  <a:pt x="362" y="226"/>
                </a:moveTo>
                <a:cubicBezTo>
                  <a:pt x="318" y="226"/>
                  <a:pt x="318" y="226"/>
                  <a:pt x="318" y="226"/>
                </a:cubicBezTo>
                <a:cubicBezTo>
                  <a:pt x="309" y="226"/>
                  <a:pt x="303" y="220"/>
                  <a:pt x="303" y="212"/>
                </a:cubicBezTo>
                <a:cubicBezTo>
                  <a:pt x="303" y="196"/>
                  <a:pt x="333" y="171"/>
                  <a:pt x="362" y="171"/>
                </a:cubicBezTo>
                <a:cubicBezTo>
                  <a:pt x="379" y="171"/>
                  <a:pt x="392" y="183"/>
                  <a:pt x="392" y="199"/>
                </a:cubicBezTo>
                <a:cubicBezTo>
                  <a:pt x="392" y="214"/>
                  <a:pt x="379" y="226"/>
                  <a:pt x="362" y="22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32" name="Group 331"/>
          <p:cNvGrpSpPr/>
          <p:nvPr userDrawn="1"/>
        </p:nvGrpSpPr>
        <p:grpSpPr>
          <a:xfrm>
            <a:off x="1237572" y="2075772"/>
            <a:ext cx="298012" cy="315758"/>
            <a:chOff x="6446838" y="-201613"/>
            <a:chExt cx="4905375" cy="5197476"/>
          </a:xfrm>
          <a:solidFill>
            <a:schemeClr val="tx1"/>
          </a:solidFill>
        </p:grpSpPr>
        <p:sp>
          <p:nvSpPr>
            <p:cNvPr id="333" name="Freeform 6"/>
            <p:cNvSpPr>
              <a:spLocks/>
            </p:cNvSpPr>
            <p:nvPr/>
          </p:nvSpPr>
          <p:spPr bwMode="auto">
            <a:xfrm>
              <a:off x="6446838" y="4478338"/>
              <a:ext cx="3983038" cy="517525"/>
            </a:xfrm>
            <a:custGeom>
              <a:avLst/>
              <a:gdLst>
                <a:gd name="T0" fmla="*/ 343 w 354"/>
                <a:gd name="T1" fmla="*/ 0 h 46"/>
                <a:gd name="T2" fmla="*/ 11 w 354"/>
                <a:gd name="T3" fmla="*/ 0 h 46"/>
                <a:gd name="T4" fmla="*/ 0 w 354"/>
                <a:gd name="T5" fmla="*/ 12 h 46"/>
                <a:gd name="T6" fmla="*/ 0 w 354"/>
                <a:gd name="T7" fmla="*/ 35 h 46"/>
                <a:gd name="T8" fmla="*/ 11 w 354"/>
                <a:gd name="T9" fmla="*/ 46 h 46"/>
                <a:gd name="T10" fmla="*/ 343 w 354"/>
                <a:gd name="T11" fmla="*/ 46 h 46"/>
                <a:gd name="T12" fmla="*/ 354 w 354"/>
                <a:gd name="T13" fmla="*/ 35 h 46"/>
                <a:gd name="T14" fmla="*/ 354 w 354"/>
                <a:gd name="T15" fmla="*/ 12 h 46"/>
                <a:gd name="T16" fmla="*/ 343 w 354"/>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4" h="46">
                  <a:moveTo>
                    <a:pt x="343" y="0"/>
                  </a:moveTo>
                  <a:cubicBezTo>
                    <a:pt x="11" y="0"/>
                    <a:pt x="11" y="0"/>
                    <a:pt x="11" y="0"/>
                  </a:cubicBezTo>
                  <a:cubicBezTo>
                    <a:pt x="5" y="0"/>
                    <a:pt x="0" y="5"/>
                    <a:pt x="0" y="12"/>
                  </a:cubicBezTo>
                  <a:cubicBezTo>
                    <a:pt x="0" y="35"/>
                    <a:pt x="0" y="35"/>
                    <a:pt x="0" y="35"/>
                  </a:cubicBezTo>
                  <a:cubicBezTo>
                    <a:pt x="0" y="41"/>
                    <a:pt x="5" y="46"/>
                    <a:pt x="11" y="46"/>
                  </a:cubicBezTo>
                  <a:cubicBezTo>
                    <a:pt x="343" y="46"/>
                    <a:pt x="343" y="46"/>
                    <a:pt x="343" y="46"/>
                  </a:cubicBezTo>
                  <a:cubicBezTo>
                    <a:pt x="349" y="46"/>
                    <a:pt x="354" y="41"/>
                    <a:pt x="354" y="35"/>
                  </a:cubicBezTo>
                  <a:cubicBezTo>
                    <a:pt x="354" y="12"/>
                    <a:pt x="354" y="12"/>
                    <a:pt x="354" y="12"/>
                  </a:cubicBezTo>
                  <a:cubicBezTo>
                    <a:pt x="354" y="5"/>
                    <a:pt x="349" y="0"/>
                    <a:pt x="3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4" name="Freeform 7"/>
            <p:cNvSpPr>
              <a:spLocks noEditPoints="1"/>
            </p:cNvSpPr>
            <p:nvPr/>
          </p:nvSpPr>
          <p:spPr bwMode="auto">
            <a:xfrm>
              <a:off x="6986588" y="-201613"/>
              <a:ext cx="4365625" cy="4421188"/>
            </a:xfrm>
            <a:custGeom>
              <a:avLst/>
              <a:gdLst>
                <a:gd name="T0" fmla="*/ 383 w 388"/>
                <a:gd name="T1" fmla="*/ 89 h 393"/>
                <a:gd name="T2" fmla="*/ 306 w 388"/>
                <a:gd name="T3" fmla="*/ 7 h 393"/>
                <a:gd name="T4" fmla="*/ 282 w 388"/>
                <a:gd name="T5" fmla="*/ 6 h 393"/>
                <a:gd name="T6" fmla="*/ 281 w 388"/>
                <a:gd name="T7" fmla="*/ 31 h 393"/>
                <a:gd name="T8" fmla="*/ 326 w 388"/>
                <a:gd name="T9" fmla="*/ 78 h 393"/>
                <a:gd name="T10" fmla="*/ 326 w 388"/>
                <a:gd name="T11" fmla="*/ 119 h 393"/>
                <a:gd name="T12" fmla="*/ 333 w 388"/>
                <a:gd name="T13" fmla="*/ 136 h 393"/>
                <a:gd name="T14" fmla="*/ 353 w 388"/>
                <a:gd name="T15" fmla="*/ 157 h 393"/>
                <a:gd name="T16" fmla="*/ 353 w 388"/>
                <a:gd name="T17" fmla="*/ 300 h 393"/>
                <a:gd name="T18" fmla="*/ 334 w 388"/>
                <a:gd name="T19" fmla="*/ 319 h 393"/>
                <a:gd name="T20" fmla="*/ 316 w 388"/>
                <a:gd name="T21" fmla="*/ 300 h 393"/>
                <a:gd name="T22" fmla="*/ 316 w 388"/>
                <a:gd name="T23" fmla="*/ 222 h 393"/>
                <a:gd name="T24" fmla="*/ 311 w 388"/>
                <a:gd name="T25" fmla="*/ 210 h 393"/>
                <a:gd name="T26" fmla="*/ 258 w 388"/>
                <a:gd name="T27" fmla="*/ 156 h 393"/>
                <a:gd name="T28" fmla="*/ 258 w 388"/>
                <a:gd name="T29" fmla="*/ 47 h 393"/>
                <a:gd name="T30" fmla="*/ 235 w 388"/>
                <a:gd name="T31" fmla="*/ 24 h 393"/>
                <a:gd name="T32" fmla="*/ 23 w 388"/>
                <a:gd name="T33" fmla="*/ 24 h 393"/>
                <a:gd name="T34" fmla="*/ 0 w 388"/>
                <a:gd name="T35" fmla="*/ 47 h 393"/>
                <a:gd name="T36" fmla="*/ 0 w 388"/>
                <a:gd name="T37" fmla="*/ 393 h 393"/>
                <a:gd name="T38" fmla="*/ 258 w 388"/>
                <a:gd name="T39" fmla="*/ 393 h 393"/>
                <a:gd name="T40" fmla="*/ 258 w 388"/>
                <a:gd name="T41" fmla="*/ 205 h 393"/>
                <a:gd name="T42" fmla="*/ 281 w 388"/>
                <a:gd name="T43" fmla="*/ 229 h 393"/>
                <a:gd name="T44" fmla="*/ 281 w 388"/>
                <a:gd name="T45" fmla="*/ 300 h 393"/>
                <a:gd name="T46" fmla="*/ 334 w 388"/>
                <a:gd name="T47" fmla="*/ 353 h 393"/>
                <a:gd name="T48" fmla="*/ 388 w 388"/>
                <a:gd name="T49" fmla="*/ 300 h 393"/>
                <a:gd name="T50" fmla="*/ 388 w 388"/>
                <a:gd name="T51" fmla="*/ 101 h 393"/>
                <a:gd name="T52" fmla="*/ 383 w 388"/>
                <a:gd name="T53" fmla="*/ 89 h 393"/>
                <a:gd name="T54" fmla="*/ 212 w 388"/>
                <a:gd name="T55" fmla="*/ 209 h 393"/>
                <a:gd name="T56" fmla="*/ 46 w 388"/>
                <a:gd name="T57" fmla="*/ 209 h 393"/>
                <a:gd name="T58" fmla="*/ 46 w 388"/>
                <a:gd name="T59" fmla="*/ 70 h 393"/>
                <a:gd name="T60" fmla="*/ 212 w 388"/>
                <a:gd name="T61" fmla="*/ 70 h 393"/>
                <a:gd name="T62" fmla="*/ 212 w 388"/>
                <a:gd name="T63" fmla="*/ 209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8" h="393">
                  <a:moveTo>
                    <a:pt x="383" y="89"/>
                  </a:moveTo>
                  <a:cubicBezTo>
                    <a:pt x="306" y="7"/>
                    <a:pt x="306" y="7"/>
                    <a:pt x="306" y="7"/>
                  </a:cubicBezTo>
                  <a:cubicBezTo>
                    <a:pt x="299" y="0"/>
                    <a:pt x="288" y="0"/>
                    <a:pt x="282" y="6"/>
                  </a:cubicBezTo>
                  <a:cubicBezTo>
                    <a:pt x="275" y="13"/>
                    <a:pt x="274" y="24"/>
                    <a:pt x="281" y="31"/>
                  </a:cubicBezTo>
                  <a:cubicBezTo>
                    <a:pt x="326" y="78"/>
                    <a:pt x="326" y="78"/>
                    <a:pt x="326" y="78"/>
                  </a:cubicBezTo>
                  <a:cubicBezTo>
                    <a:pt x="326" y="119"/>
                    <a:pt x="326" y="119"/>
                    <a:pt x="326" y="119"/>
                  </a:cubicBezTo>
                  <a:cubicBezTo>
                    <a:pt x="326" y="124"/>
                    <a:pt x="329" y="132"/>
                    <a:pt x="333" y="136"/>
                  </a:cubicBezTo>
                  <a:cubicBezTo>
                    <a:pt x="353" y="157"/>
                    <a:pt x="353" y="157"/>
                    <a:pt x="353" y="157"/>
                  </a:cubicBezTo>
                  <a:cubicBezTo>
                    <a:pt x="353" y="300"/>
                    <a:pt x="353" y="300"/>
                    <a:pt x="353" y="300"/>
                  </a:cubicBezTo>
                  <a:cubicBezTo>
                    <a:pt x="353" y="310"/>
                    <a:pt x="345" y="319"/>
                    <a:pt x="334" y="319"/>
                  </a:cubicBezTo>
                  <a:cubicBezTo>
                    <a:pt x="324" y="319"/>
                    <a:pt x="316" y="310"/>
                    <a:pt x="316" y="300"/>
                  </a:cubicBezTo>
                  <a:cubicBezTo>
                    <a:pt x="316" y="222"/>
                    <a:pt x="316" y="222"/>
                    <a:pt x="316" y="222"/>
                  </a:cubicBezTo>
                  <a:cubicBezTo>
                    <a:pt x="316" y="218"/>
                    <a:pt x="314" y="214"/>
                    <a:pt x="311" y="210"/>
                  </a:cubicBezTo>
                  <a:cubicBezTo>
                    <a:pt x="258" y="156"/>
                    <a:pt x="258" y="156"/>
                    <a:pt x="258" y="156"/>
                  </a:cubicBezTo>
                  <a:cubicBezTo>
                    <a:pt x="258" y="47"/>
                    <a:pt x="258" y="47"/>
                    <a:pt x="258" y="47"/>
                  </a:cubicBezTo>
                  <a:cubicBezTo>
                    <a:pt x="258" y="34"/>
                    <a:pt x="248" y="24"/>
                    <a:pt x="235" y="24"/>
                  </a:cubicBezTo>
                  <a:cubicBezTo>
                    <a:pt x="23" y="24"/>
                    <a:pt x="23" y="24"/>
                    <a:pt x="23" y="24"/>
                  </a:cubicBezTo>
                  <a:cubicBezTo>
                    <a:pt x="11" y="24"/>
                    <a:pt x="0" y="34"/>
                    <a:pt x="0" y="47"/>
                  </a:cubicBezTo>
                  <a:cubicBezTo>
                    <a:pt x="0" y="393"/>
                    <a:pt x="0" y="393"/>
                    <a:pt x="0" y="393"/>
                  </a:cubicBezTo>
                  <a:cubicBezTo>
                    <a:pt x="258" y="393"/>
                    <a:pt x="258" y="393"/>
                    <a:pt x="258" y="393"/>
                  </a:cubicBezTo>
                  <a:cubicBezTo>
                    <a:pt x="258" y="205"/>
                    <a:pt x="258" y="205"/>
                    <a:pt x="258" y="205"/>
                  </a:cubicBezTo>
                  <a:cubicBezTo>
                    <a:pt x="281" y="229"/>
                    <a:pt x="281" y="229"/>
                    <a:pt x="281" y="229"/>
                  </a:cubicBezTo>
                  <a:cubicBezTo>
                    <a:pt x="281" y="300"/>
                    <a:pt x="281" y="300"/>
                    <a:pt x="281" y="300"/>
                  </a:cubicBezTo>
                  <a:cubicBezTo>
                    <a:pt x="281" y="329"/>
                    <a:pt x="305" y="353"/>
                    <a:pt x="334" y="353"/>
                  </a:cubicBezTo>
                  <a:cubicBezTo>
                    <a:pt x="364" y="353"/>
                    <a:pt x="388" y="329"/>
                    <a:pt x="388" y="300"/>
                  </a:cubicBezTo>
                  <a:cubicBezTo>
                    <a:pt x="388" y="101"/>
                    <a:pt x="388" y="101"/>
                    <a:pt x="388" y="101"/>
                  </a:cubicBezTo>
                  <a:cubicBezTo>
                    <a:pt x="388" y="96"/>
                    <a:pt x="386" y="92"/>
                    <a:pt x="383" y="89"/>
                  </a:cubicBezTo>
                  <a:close/>
                  <a:moveTo>
                    <a:pt x="212" y="209"/>
                  </a:moveTo>
                  <a:cubicBezTo>
                    <a:pt x="46" y="209"/>
                    <a:pt x="46" y="209"/>
                    <a:pt x="46" y="209"/>
                  </a:cubicBezTo>
                  <a:cubicBezTo>
                    <a:pt x="46" y="70"/>
                    <a:pt x="46" y="70"/>
                    <a:pt x="46" y="70"/>
                  </a:cubicBezTo>
                  <a:cubicBezTo>
                    <a:pt x="212" y="70"/>
                    <a:pt x="212" y="70"/>
                    <a:pt x="212" y="70"/>
                  </a:cubicBezTo>
                  <a:lnTo>
                    <a:pt x="212"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62" name="Freeform 51"/>
          <p:cNvSpPr>
            <a:spLocks noEditPoints="1"/>
          </p:cNvSpPr>
          <p:nvPr userDrawn="1"/>
        </p:nvSpPr>
        <p:spPr bwMode="auto">
          <a:xfrm>
            <a:off x="1278925" y="6207192"/>
            <a:ext cx="181918" cy="291312"/>
          </a:xfrm>
          <a:custGeom>
            <a:avLst/>
            <a:gdLst>
              <a:gd name="T0" fmla="*/ 81 w 269"/>
              <a:gd name="T1" fmla="*/ 14 h 430"/>
              <a:gd name="T2" fmla="*/ 81 w 269"/>
              <a:gd name="T3" fmla="*/ 27 h 430"/>
              <a:gd name="T4" fmla="*/ 27 w 269"/>
              <a:gd name="T5" fmla="*/ 27 h 430"/>
              <a:gd name="T6" fmla="*/ 0 w 269"/>
              <a:gd name="T7" fmla="*/ 54 h 430"/>
              <a:gd name="T8" fmla="*/ 0 w 269"/>
              <a:gd name="T9" fmla="*/ 404 h 430"/>
              <a:gd name="T10" fmla="*/ 27 w 269"/>
              <a:gd name="T11" fmla="*/ 430 h 430"/>
              <a:gd name="T12" fmla="*/ 242 w 269"/>
              <a:gd name="T13" fmla="*/ 430 h 430"/>
              <a:gd name="T14" fmla="*/ 269 w 269"/>
              <a:gd name="T15" fmla="*/ 404 h 430"/>
              <a:gd name="T16" fmla="*/ 269 w 269"/>
              <a:gd name="T17" fmla="*/ 54 h 430"/>
              <a:gd name="T18" fmla="*/ 242 w 269"/>
              <a:gd name="T19" fmla="*/ 27 h 430"/>
              <a:gd name="T20" fmla="*/ 188 w 269"/>
              <a:gd name="T21" fmla="*/ 27 h 430"/>
              <a:gd name="T22" fmla="*/ 188 w 269"/>
              <a:gd name="T23" fmla="*/ 14 h 430"/>
              <a:gd name="T24" fmla="*/ 175 w 269"/>
              <a:gd name="T25" fmla="*/ 0 h 430"/>
              <a:gd name="T26" fmla="*/ 94 w 269"/>
              <a:gd name="T27" fmla="*/ 0 h 430"/>
              <a:gd name="T28" fmla="*/ 81 w 269"/>
              <a:gd name="T29" fmla="*/ 14 h 430"/>
              <a:gd name="T30" fmla="*/ 40 w 269"/>
              <a:gd name="T31" fmla="*/ 377 h 430"/>
              <a:gd name="T32" fmla="*/ 40 w 269"/>
              <a:gd name="T33" fmla="*/ 323 h 430"/>
              <a:gd name="T34" fmla="*/ 54 w 269"/>
              <a:gd name="T35" fmla="*/ 309 h 430"/>
              <a:gd name="T36" fmla="*/ 215 w 269"/>
              <a:gd name="T37" fmla="*/ 309 h 430"/>
              <a:gd name="T38" fmla="*/ 229 w 269"/>
              <a:gd name="T39" fmla="*/ 323 h 430"/>
              <a:gd name="T40" fmla="*/ 229 w 269"/>
              <a:gd name="T41" fmla="*/ 377 h 430"/>
              <a:gd name="T42" fmla="*/ 215 w 269"/>
              <a:gd name="T43" fmla="*/ 390 h 430"/>
              <a:gd name="T44" fmla="*/ 54 w 269"/>
              <a:gd name="T45" fmla="*/ 390 h 430"/>
              <a:gd name="T46" fmla="*/ 40 w 269"/>
              <a:gd name="T47" fmla="*/ 377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9" h="430">
                <a:moveTo>
                  <a:pt x="81" y="14"/>
                </a:moveTo>
                <a:cubicBezTo>
                  <a:pt x="81" y="27"/>
                  <a:pt x="81" y="27"/>
                  <a:pt x="81" y="27"/>
                </a:cubicBezTo>
                <a:cubicBezTo>
                  <a:pt x="27" y="27"/>
                  <a:pt x="27" y="27"/>
                  <a:pt x="27" y="27"/>
                </a:cubicBezTo>
                <a:cubicBezTo>
                  <a:pt x="12" y="27"/>
                  <a:pt x="0" y="39"/>
                  <a:pt x="0" y="54"/>
                </a:cubicBezTo>
                <a:cubicBezTo>
                  <a:pt x="0" y="404"/>
                  <a:pt x="0" y="404"/>
                  <a:pt x="0" y="404"/>
                </a:cubicBezTo>
                <a:cubicBezTo>
                  <a:pt x="0" y="418"/>
                  <a:pt x="12" y="430"/>
                  <a:pt x="27" y="430"/>
                </a:cubicBezTo>
                <a:cubicBezTo>
                  <a:pt x="242" y="430"/>
                  <a:pt x="242" y="430"/>
                  <a:pt x="242" y="430"/>
                </a:cubicBezTo>
                <a:cubicBezTo>
                  <a:pt x="257" y="430"/>
                  <a:pt x="269" y="418"/>
                  <a:pt x="269" y="404"/>
                </a:cubicBezTo>
                <a:cubicBezTo>
                  <a:pt x="269" y="54"/>
                  <a:pt x="269" y="54"/>
                  <a:pt x="269" y="54"/>
                </a:cubicBezTo>
                <a:cubicBezTo>
                  <a:pt x="269" y="39"/>
                  <a:pt x="257" y="27"/>
                  <a:pt x="242" y="27"/>
                </a:cubicBezTo>
                <a:cubicBezTo>
                  <a:pt x="188" y="27"/>
                  <a:pt x="188" y="27"/>
                  <a:pt x="188" y="27"/>
                </a:cubicBezTo>
                <a:cubicBezTo>
                  <a:pt x="188" y="14"/>
                  <a:pt x="188" y="14"/>
                  <a:pt x="188" y="14"/>
                </a:cubicBezTo>
                <a:cubicBezTo>
                  <a:pt x="188" y="6"/>
                  <a:pt x="182" y="0"/>
                  <a:pt x="175" y="0"/>
                </a:cubicBezTo>
                <a:cubicBezTo>
                  <a:pt x="94" y="0"/>
                  <a:pt x="94" y="0"/>
                  <a:pt x="94" y="0"/>
                </a:cubicBezTo>
                <a:cubicBezTo>
                  <a:pt x="87" y="0"/>
                  <a:pt x="81" y="6"/>
                  <a:pt x="81" y="14"/>
                </a:cubicBezTo>
                <a:close/>
                <a:moveTo>
                  <a:pt x="40" y="377"/>
                </a:moveTo>
                <a:cubicBezTo>
                  <a:pt x="40" y="323"/>
                  <a:pt x="40" y="323"/>
                  <a:pt x="40" y="323"/>
                </a:cubicBezTo>
                <a:cubicBezTo>
                  <a:pt x="40" y="316"/>
                  <a:pt x="46" y="309"/>
                  <a:pt x="54" y="309"/>
                </a:cubicBezTo>
                <a:cubicBezTo>
                  <a:pt x="215" y="309"/>
                  <a:pt x="215" y="309"/>
                  <a:pt x="215" y="309"/>
                </a:cubicBezTo>
                <a:cubicBezTo>
                  <a:pt x="223" y="309"/>
                  <a:pt x="229" y="316"/>
                  <a:pt x="229" y="323"/>
                </a:cubicBezTo>
                <a:cubicBezTo>
                  <a:pt x="229" y="377"/>
                  <a:pt x="229" y="377"/>
                  <a:pt x="229" y="377"/>
                </a:cubicBezTo>
                <a:cubicBezTo>
                  <a:pt x="229" y="384"/>
                  <a:pt x="223" y="390"/>
                  <a:pt x="215" y="390"/>
                </a:cubicBezTo>
                <a:cubicBezTo>
                  <a:pt x="54" y="390"/>
                  <a:pt x="54" y="390"/>
                  <a:pt x="54" y="390"/>
                </a:cubicBezTo>
                <a:cubicBezTo>
                  <a:pt x="46" y="390"/>
                  <a:pt x="40" y="384"/>
                  <a:pt x="40" y="37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69" name="Group 368"/>
          <p:cNvGrpSpPr/>
          <p:nvPr userDrawn="1"/>
        </p:nvGrpSpPr>
        <p:grpSpPr>
          <a:xfrm>
            <a:off x="1236403" y="4940137"/>
            <a:ext cx="266964" cy="290764"/>
            <a:chOff x="6689725" y="3797300"/>
            <a:chExt cx="2386013" cy="2598738"/>
          </a:xfrm>
          <a:solidFill>
            <a:schemeClr val="tx1"/>
          </a:solidFill>
        </p:grpSpPr>
        <p:sp>
          <p:nvSpPr>
            <p:cNvPr id="370" name="Freeform 31"/>
            <p:cNvSpPr>
              <a:spLocks/>
            </p:cNvSpPr>
            <p:nvPr/>
          </p:nvSpPr>
          <p:spPr bwMode="auto">
            <a:xfrm>
              <a:off x="6689725" y="5062538"/>
              <a:ext cx="2098675" cy="1333500"/>
            </a:xfrm>
            <a:custGeom>
              <a:avLst/>
              <a:gdLst>
                <a:gd name="T0" fmla="*/ 365 w 373"/>
                <a:gd name="T1" fmla="*/ 206 h 237"/>
                <a:gd name="T2" fmla="*/ 303 w 373"/>
                <a:gd name="T3" fmla="*/ 17 h 237"/>
                <a:gd name="T4" fmla="*/ 286 w 373"/>
                <a:gd name="T5" fmla="*/ 0 h 237"/>
                <a:gd name="T6" fmla="*/ 244 w 373"/>
                <a:gd name="T7" fmla="*/ 0 h 237"/>
                <a:gd name="T8" fmla="*/ 226 w 373"/>
                <a:gd name="T9" fmla="*/ 17 h 237"/>
                <a:gd name="T10" fmla="*/ 186 w 373"/>
                <a:gd name="T11" fmla="*/ 179 h 237"/>
                <a:gd name="T12" fmla="*/ 146 w 373"/>
                <a:gd name="T13" fmla="*/ 17 h 237"/>
                <a:gd name="T14" fmla="*/ 129 w 373"/>
                <a:gd name="T15" fmla="*/ 0 h 237"/>
                <a:gd name="T16" fmla="*/ 87 w 373"/>
                <a:gd name="T17" fmla="*/ 0 h 237"/>
                <a:gd name="T18" fmla="*/ 69 w 373"/>
                <a:gd name="T19" fmla="*/ 17 h 237"/>
                <a:gd name="T20" fmla="*/ 7 w 373"/>
                <a:gd name="T21" fmla="*/ 206 h 237"/>
                <a:gd name="T22" fmla="*/ 2 w 373"/>
                <a:gd name="T23" fmla="*/ 225 h 237"/>
                <a:gd name="T24" fmla="*/ 19 w 373"/>
                <a:gd name="T25" fmla="*/ 237 h 237"/>
                <a:gd name="T26" fmla="*/ 176 w 373"/>
                <a:gd name="T27" fmla="*/ 237 h 237"/>
                <a:gd name="T28" fmla="*/ 197 w 373"/>
                <a:gd name="T29" fmla="*/ 237 h 237"/>
                <a:gd name="T30" fmla="*/ 354 w 373"/>
                <a:gd name="T31" fmla="*/ 237 h 237"/>
                <a:gd name="T32" fmla="*/ 370 w 373"/>
                <a:gd name="T33" fmla="*/ 225 h 237"/>
                <a:gd name="T34" fmla="*/ 365 w 373"/>
                <a:gd name="T35" fmla="*/ 20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3" h="237">
                  <a:moveTo>
                    <a:pt x="365" y="206"/>
                  </a:moveTo>
                  <a:cubicBezTo>
                    <a:pt x="323" y="169"/>
                    <a:pt x="303" y="74"/>
                    <a:pt x="303" y="17"/>
                  </a:cubicBezTo>
                  <a:cubicBezTo>
                    <a:pt x="303" y="7"/>
                    <a:pt x="295" y="0"/>
                    <a:pt x="286" y="0"/>
                  </a:cubicBezTo>
                  <a:cubicBezTo>
                    <a:pt x="244" y="0"/>
                    <a:pt x="244" y="0"/>
                    <a:pt x="244" y="0"/>
                  </a:cubicBezTo>
                  <a:cubicBezTo>
                    <a:pt x="234" y="0"/>
                    <a:pt x="226" y="7"/>
                    <a:pt x="226" y="17"/>
                  </a:cubicBezTo>
                  <a:cubicBezTo>
                    <a:pt x="226" y="63"/>
                    <a:pt x="214" y="134"/>
                    <a:pt x="186" y="179"/>
                  </a:cubicBezTo>
                  <a:cubicBezTo>
                    <a:pt x="159" y="134"/>
                    <a:pt x="146" y="63"/>
                    <a:pt x="146" y="17"/>
                  </a:cubicBezTo>
                  <a:cubicBezTo>
                    <a:pt x="146" y="7"/>
                    <a:pt x="139" y="0"/>
                    <a:pt x="129" y="0"/>
                  </a:cubicBezTo>
                  <a:cubicBezTo>
                    <a:pt x="87" y="0"/>
                    <a:pt x="87" y="0"/>
                    <a:pt x="87" y="0"/>
                  </a:cubicBezTo>
                  <a:cubicBezTo>
                    <a:pt x="77" y="0"/>
                    <a:pt x="69" y="7"/>
                    <a:pt x="69" y="17"/>
                  </a:cubicBezTo>
                  <a:cubicBezTo>
                    <a:pt x="69" y="74"/>
                    <a:pt x="50" y="169"/>
                    <a:pt x="7" y="206"/>
                  </a:cubicBezTo>
                  <a:cubicBezTo>
                    <a:pt x="2" y="211"/>
                    <a:pt x="0" y="218"/>
                    <a:pt x="2" y="225"/>
                  </a:cubicBezTo>
                  <a:cubicBezTo>
                    <a:pt x="5" y="232"/>
                    <a:pt x="11" y="237"/>
                    <a:pt x="19" y="237"/>
                  </a:cubicBezTo>
                  <a:cubicBezTo>
                    <a:pt x="176" y="237"/>
                    <a:pt x="176" y="237"/>
                    <a:pt x="176" y="237"/>
                  </a:cubicBezTo>
                  <a:cubicBezTo>
                    <a:pt x="197" y="237"/>
                    <a:pt x="197" y="237"/>
                    <a:pt x="197" y="237"/>
                  </a:cubicBezTo>
                  <a:cubicBezTo>
                    <a:pt x="354" y="237"/>
                    <a:pt x="354" y="237"/>
                    <a:pt x="354" y="237"/>
                  </a:cubicBezTo>
                  <a:cubicBezTo>
                    <a:pt x="361" y="237"/>
                    <a:pt x="368" y="232"/>
                    <a:pt x="370" y="225"/>
                  </a:cubicBezTo>
                  <a:cubicBezTo>
                    <a:pt x="373" y="218"/>
                    <a:pt x="371" y="211"/>
                    <a:pt x="365" y="2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32"/>
            <p:cNvSpPr>
              <a:spLocks/>
            </p:cNvSpPr>
            <p:nvPr/>
          </p:nvSpPr>
          <p:spPr bwMode="auto">
            <a:xfrm>
              <a:off x="7045325" y="3797300"/>
              <a:ext cx="2030413" cy="1136650"/>
            </a:xfrm>
            <a:custGeom>
              <a:avLst/>
              <a:gdLst>
                <a:gd name="T0" fmla="*/ 286 w 361"/>
                <a:gd name="T1" fmla="*/ 0 h 202"/>
                <a:gd name="T2" fmla="*/ 235 w 361"/>
                <a:gd name="T3" fmla="*/ 20 h 202"/>
                <a:gd name="T4" fmla="*/ 208 w 361"/>
                <a:gd name="T5" fmla="*/ 14 h 202"/>
                <a:gd name="T6" fmla="*/ 161 w 361"/>
                <a:gd name="T7" fmla="*/ 34 h 202"/>
                <a:gd name="T8" fmla="*/ 132 w 361"/>
                <a:gd name="T9" fmla="*/ 27 h 202"/>
                <a:gd name="T10" fmla="*/ 87 w 361"/>
                <a:gd name="T11" fmla="*/ 48 h 202"/>
                <a:gd name="T12" fmla="*/ 58 w 361"/>
                <a:gd name="T13" fmla="*/ 40 h 202"/>
                <a:gd name="T14" fmla="*/ 0 w 361"/>
                <a:gd name="T15" fmla="*/ 98 h 202"/>
                <a:gd name="T16" fmla="*/ 2 w 361"/>
                <a:gd name="T17" fmla="*/ 114 h 202"/>
                <a:gd name="T18" fmla="*/ 2 w 361"/>
                <a:gd name="T19" fmla="*/ 114 h 202"/>
                <a:gd name="T20" fmla="*/ 2 w 361"/>
                <a:gd name="T21" fmla="*/ 114 h 202"/>
                <a:gd name="T22" fmla="*/ 6 w 361"/>
                <a:gd name="T23" fmla="*/ 124 h 202"/>
                <a:gd name="T24" fmla="*/ 26 w 361"/>
                <a:gd name="T25" fmla="*/ 190 h 202"/>
                <a:gd name="T26" fmla="*/ 26 w 361"/>
                <a:gd name="T27" fmla="*/ 202 h 202"/>
                <a:gd name="T28" fmla="*/ 62 w 361"/>
                <a:gd name="T29" fmla="*/ 202 h 202"/>
                <a:gd name="T30" fmla="*/ 62 w 361"/>
                <a:gd name="T31" fmla="*/ 193 h 202"/>
                <a:gd name="T32" fmla="*/ 128 w 361"/>
                <a:gd name="T33" fmla="*/ 149 h 202"/>
                <a:gd name="T34" fmla="*/ 130 w 361"/>
                <a:gd name="T35" fmla="*/ 149 h 202"/>
                <a:gd name="T36" fmla="*/ 169 w 361"/>
                <a:gd name="T37" fmla="*/ 138 h 202"/>
                <a:gd name="T38" fmla="*/ 183 w 361"/>
                <a:gd name="T39" fmla="*/ 190 h 202"/>
                <a:gd name="T40" fmla="*/ 183 w 361"/>
                <a:gd name="T41" fmla="*/ 202 h 202"/>
                <a:gd name="T42" fmla="*/ 219 w 361"/>
                <a:gd name="T43" fmla="*/ 202 h 202"/>
                <a:gd name="T44" fmla="*/ 219 w 361"/>
                <a:gd name="T45" fmla="*/ 193 h 202"/>
                <a:gd name="T46" fmla="*/ 285 w 361"/>
                <a:gd name="T47" fmla="*/ 149 h 202"/>
                <a:gd name="T48" fmla="*/ 286 w 361"/>
                <a:gd name="T49" fmla="*/ 149 h 202"/>
                <a:gd name="T50" fmla="*/ 361 w 361"/>
                <a:gd name="T51" fmla="*/ 74 h 202"/>
                <a:gd name="T52" fmla="*/ 286 w 361"/>
                <a:gd name="T53"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1" h="202">
                  <a:moveTo>
                    <a:pt x="286" y="0"/>
                  </a:moveTo>
                  <a:cubicBezTo>
                    <a:pt x="267" y="0"/>
                    <a:pt x="248" y="7"/>
                    <a:pt x="235" y="20"/>
                  </a:cubicBezTo>
                  <a:cubicBezTo>
                    <a:pt x="227" y="16"/>
                    <a:pt x="217" y="14"/>
                    <a:pt x="208" y="14"/>
                  </a:cubicBezTo>
                  <a:cubicBezTo>
                    <a:pt x="189" y="14"/>
                    <a:pt x="172" y="22"/>
                    <a:pt x="161" y="34"/>
                  </a:cubicBezTo>
                  <a:cubicBezTo>
                    <a:pt x="152" y="29"/>
                    <a:pt x="143" y="27"/>
                    <a:pt x="132" y="27"/>
                  </a:cubicBezTo>
                  <a:cubicBezTo>
                    <a:pt x="114" y="27"/>
                    <a:pt x="98" y="35"/>
                    <a:pt x="87" y="48"/>
                  </a:cubicBezTo>
                  <a:cubicBezTo>
                    <a:pt x="78" y="43"/>
                    <a:pt x="68" y="40"/>
                    <a:pt x="58" y="40"/>
                  </a:cubicBezTo>
                  <a:cubicBezTo>
                    <a:pt x="26" y="40"/>
                    <a:pt x="0" y="66"/>
                    <a:pt x="0" y="98"/>
                  </a:cubicBezTo>
                  <a:cubicBezTo>
                    <a:pt x="0" y="104"/>
                    <a:pt x="1" y="109"/>
                    <a:pt x="2" y="114"/>
                  </a:cubicBezTo>
                  <a:cubicBezTo>
                    <a:pt x="2" y="114"/>
                    <a:pt x="2" y="114"/>
                    <a:pt x="2" y="114"/>
                  </a:cubicBezTo>
                  <a:cubicBezTo>
                    <a:pt x="2" y="114"/>
                    <a:pt x="2" y="114"/>
                    <a:pt x="2" y="114"/>
                  </a:cubicBezTo>
                  <a:cubicBezTo>
                    <a:pt x="3" y="118"/>
                    <a:pt x="4" y="121"/>
                    <a:pt x="6" y="124"/>
                  </a:cubicBezTo>
                  <a:cubicBezTo>
                    <a:pt x="17" y="150"/>
                    <a:pt x="26" y="168"/>
                    <a:pt x="26" y="190"/>
                  </a:cubicBezTo>
                  <a:cubicBezTo>
                    <a:pt x="26" y="202"/>
                    <a:pt x="26" y="202"/>
                    <a:pt x="26" y="202"/>
                  </a:cubicBezTo>
                  <a:cubicBezTo>
                    <a:pt x="62" y="202"/>
                    <a:pt x="62" y="202"/>
                    <a:pt x="62" y="202"/>
                  </a:cubicBezTo>
                  <a:cubicBezTo>
                    <a:pt x="62" y="193"/>
                    <a:pt x="62" y="193"/>
                    <a:pt x="62" y="193"/>
                  </a:cubicBezTo>
                  <a:cubicBezTo>
                    <a:pt x="62" y="177"/>
                    <a:pt x="74" y="150"/>
                    <a:pt x="128" y="149"/>
                  </a:cubicBezTo>
                  <a:cubicBezTo>
                    <a:pt x="129" y="149"/>
                    <a:pt x="129" y="149"/>
                    <a:pt x="130" y="149"/>
                  </a:cubicBezTo>
                  <a:cubicBezTo>
                    <a:pt x="144" y="149"/>
                    <a:pt x="157" y="145"/>
                    <a:pt x="169" y="138"/>
                  </a:cubicBezTo>
                  <a:cubicBezTo>
                    <a:pt x="177" y="157"/>
                    <a:pt x="183" y="172"/>
                    <a:pt x="183" y="190"/>
                  </a:cubicBezTo>
                  <a:cubicBezTo>
                    <a:pt x="183" y="202"/>
                    <a:pt x="183" y="202"/>
                    <a:pt x="183" y="202"/>
                  </a:cubicBezTo>
                  <a:cubicBezTo>
                    <a:pt x="219" y="202"/>
                    <a:pt x="219" y="202"/>
                    <a:pt x="219" y="202"/>
                  </a:cubicBezTo>
                  <a:cubicBezTo>
                    <a:pt x="219" y="193"/>
                    <a:pt x="219" y="193"/>
                    <a:pt x="219" y="193"/>
                  </a:cubicBezTo>
                  <a:cubicBezTo>
                    <a:pt x="219" y="177"/>
                    <a:pt x="231" y="150"/>
                    <a:pt x="285" y="149"/>
                  </a:cubicBezTo>
                  <a:cubicBezTo>
                    <a:pt x="285" y="149"/>
                    <a:pt x="286" y="149"/>
                    <a:pt x="286" y="149"/>
                  </a:cubicBezTo>
                  <a:cubicBezTo>
                    <a:pt x="328" y="149"/>
                    <a:pt x="361" y="116"/>
                    <a:pt x="361" y="74"/>
                  </a:cubicBezTo>
                  <a:cubicBezTo>
                    <a:pt x="361" y="33"/>
                    <a:pt x="328" y="0"/>
                    <a:pt x="28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78" name="Freeform 19"/>
          <p:cNvSpPr>
            <a:spLocks noEditPoints="1"/>
          </p:cNvSpPr>
          <p:nvPr userDrawn="1"/>
        </p:nvSpPr>
        <p:spPr bwMode="auto">
          <a:xfrm>
            <a:off x="1208306" y="6750012"/>
            <a:ext cx="323158" cy="333072"/>
          </a:xfrm>
          <a:custGeom>
            <a:avLst/>
            <a:gdLst>
              <a:gd name="T0" fmla="*/ 194 w 389"/>
              <a:gd name="T1" fmla="*/ 69 h 401"/>
              <a:gd name="T2" fmla="*/ 175 w 389"/>
              <a:gd name="T3" fmla="*/ 19 h 401"/>
              <a:gd name="T4" fmla="*/ 213 w 389"/>
              <a:gd name="T5" fmla="*/ 19 h 401"/>
              <a:gd name="T6" fmla="*/ 232 w 389"/>
              <a:gd name="T7" fmla="*/ 351 h 401"/>
              <a:gd name="T8" fmla="*/ 207 w 389"/>
              <a:gd name="T9" fmla="*/ 401 h 401"/>
              <a:gd name="T10" fmla="*/ 156 w 389"/>
              <a:gd name="T11" fmla="*/ 376 h 401"/>
              <a:gd name="T12" fmla="*/ 232 w 389"/>
              <a:gd name="T13" fmla="*/ 351 h 401"/>
              <a:gd name="T14" fmla="*/ 156 w 389"/>
              <a:gd name="T15" fmla="*/ 314 h 401"/>
              <a:gd name="T16" fmla="*/ 94 w 389"/>
              <a:gd name="T17" fmla="*/ 194 h 401"/>
              <a:gd name="T18" fmla="*/ 295 w 389"/>
              <a:gd name="T19" fmla="*/ 194 h 401"/>
              <a:gd name="T20" fmla="*/ 232 w 389"/>
              <a:gd name="T21" fmla="*/ 314 h 401"/>
              <a:gd name="T22" fmla="*/ 156 w 389"/>
              <a:gd name="T23" fmla="*/ 326 h 401"/>
              <a:gd name="T24" fmla="*/ 332 w 389"/>
              <a:gd name="T25" fmla="*/ 83 h 401"/>
              <a:gd name="T26" fmla="*/ 305 w 389"/>
              <a:gd name="T27" fmla="*/ 57 h 401"/>
              <a:gd name="T28" fmla="*/ 283 w 389"/>
              <a:gd name="T29" fmla="*/ 106 h 401"/>
              <a:gd name="T30" fmla="*/ 338 w 389"/>
              <a:gd name="T31" fmla="*/ 213 h 401"/>
              <a:gd name="T32" fmla="*/ 338 w 389"/>
              <a:gd name="T33" fmla="*/ 176 h 401"/>
              <a:gd name="T34" fmla="*/ 389 w 389"/>
              <a:gd name="T35" fmla="*/ 194 h 401"/>
              <a:gd name="T36" fmla="*/ 338 w 389"/>
              <a:gd name="T37" fmla="*/ 213 h 401"/>
              <a:gd name="T38" fmla="*/ 305 w 389"/>
              <a:gd name="T39" fmla="*/ 332 h 401"/>
              <a:gd name="T40" fmla="*/ 332 w 389"/>
              <a:gd name="T41" fmla="*/ 305 h 401"/>
              <a:gd name="T42" fmla="*/ 283 w 389"/>
              <a:gd name="T43" fmla="*/ 283 h 401"/>
              <a:gd name="T44" fmla="*/ 79 w 389"/>
              <a:gd name="T45" fmla="*/ 283 h 401"/>
              <a:gd name="T46" fmla="*/ 57 w 389"/>
              <a:gd name="T47" fmla="*/ 332 h 401"/>
              <a:gd name="T48" fmla="*/ 105 w 389"/>
              <a:gd name="T49" fmla="*/ 310 h 401"/>
              <a:gd name="T50" fmla="*/ 79 w 389"/>
              <a:gd name="T51" fmla="*/ 283 h 401"/>
              <a:gd name="T52" fmla="*/ 69 w 389"/>
              <a:gd name="T53" fmla="*/ 194 h 401"/>
              <a:gd name="T54" fmla="*/ 18 w 389"/>
              <a:gd name="T55" fmla="*/ 213 h 401"/>
              <a:gd name="T56" fmla="*/ 18 w 389"/>
              <a:gd name="T57" fmla="*/ 176 h 401"/>
              <a:gd name="T58" fmla="*/ 105 w 389"/>
              <a:gd name="T59" fmla="*/ 79 h 401"/>
              <a:gd name="T60" fmla="*/ 57 w 389"/>
              <a:gd name="T61" fmla="*/ 57 h 401"/>
              <a:gd name="T62" fmla="*/ 79 w 389"/>
              <a:gd name="T63" fmla="*/ 106 h 401"/>
              <a:gd name="T64" fmla="*/ 105 w 389"/>
              <a:gd name="T65" fmla="*/ 79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9" h="401">
                <a:moveTo>
                  <a:pt x="213" y="50"/>
                </a:moveTo>
                <a:cubicBezTo>
                  <a:pt x="213" y="60"/>
                  <a:pt x="205" y="69"/>
                  <a:pt x="194" y="69"/>
                </a:cubicBezTo>
                <a:cubicBezTo>
                  <a:pt x="184" y="69"/>
                  <a:pt x="175" y="60"/>
                  <a:pt x="175" y="50"/>
                </a:cubicBezTo>
                <a:cubicBezTo>
                  <a:pt x="175" y="19"/>
                  <a:pt x="175" y="19"/>
                  <a:pt x="175" y="19"/>
                </a:cubicBezTo>
                <a:cubicBezTo>
                  <a:pt x="175" y="8"/>
                  <a:pt x="184" y="0"/>
                  <a:pt x="194" y="0"/>
                </a:cubicBezTo>
                <a:cubicBezTo>
                  <a:pt x="205" y="0"/>
                  <a:pt x="213" y="8"/>
                  <a:pt x="213" y="19"/>
                </a:cubicBezTo>
                <a:cubicBezTo>
                  <a:pt x="213" y="50"/>
                  <a:pt x="213" y="50"/>
                  <a:pt x="213" y="50"/>
                </a:cubicBezTo>
                <a:close/>
                <a:moveTo>
                  <a:pt x="232" y="351"/>
                </a:moveTo>
                <a:cubicBezTo>
                  <a:pt x="232" y="376"/>
                  <a:pt x="232" y="376"/>
                  <a:pt x="232" y="376"/>
                </a:cubicBezTo>
                <a:cubicBezTo>
                  <a:pt x="232" y="390"/>
                  <a:pt x="220" y="401"/>
                  <a:pt x="207" y="401"/>
                </a:cubicBezTo>
                <a:cubicBezTo>
                  <a:pt x="182" y="401"/>
                  <a:pt x="182" y="401"/>
                  <a:pt x="182" y="401"/>
                </a:cubicBezTo>
                <a:cubicBezTo>
                  <a:pt x="168" y="401"/>
                  <a:pt x="156" y="390"/>
                  <a:pt x="156" y="376"/>
                </a:cubicBezTo>
                <a:cubicBezTo>
                  <a:pt x="156" y="351"/>
                  <a:pt x="156" y="351"/>
                  <a:pt x="156" y="351"/>
                </a:cubicBezTo>
                <a:cubicBezTo>
                  <a:pt x="232" y="351"/>
                  <a:pt x="232" y="351"/>
                  <a:pt x="232" y="351"/>
                </a:cubicBezTo>
                <a:close/>
                <a:moveTo>
                  <a:pt x="156" y="326"/>
                </a:moveTo>
                <a:cubicBezTo>
                  <a:pt x="156" y="314"/>
                  <a:pt x="156" y="314"/>
                  <a:pt x="156" y="314"/>
                </a:cubicBezTo>
                <a:cubicBezTo>
                  <a:pt x="156" y="285"/>
                  <a:pt x="126" y="272"/>
                  <a:pt x="112" y="252"/>
                </a:cubicBezTo>
                <a:cubicBezTo>
                  <a:pt x="100" y="235"/>
                  <a:pt x="94" y="215"/>
                  <a:pt x="94" y="194"/>
                </a:cubicBezTo>
                <a:cubicBezTo>
                  <a:pt x="94" y="139"/>
                  <a:pt x="139" y="94"/>
                  <a:pt x="194" y="94"/>
                </a:cubicBezTo>
                <a:cubicBezTo>
                  <a:pt x="250" y="94"/>
                  <a:pt x="295" y="139"/>
                  <a:pt x="295" y="194"/>
                </a:cubicBezTo>
                <a:cubicBezTo>
                  <a:pt x="295" y="215"/>
                  <a:pt x="288" y="235"/>
                  <a:pt x="277" y="252"/>
                </a:cubicBezTo>
                <a:cubicBezTo>
                  <a:pt x="262" y="272"/>
                  <a:pt x="232" y="285"/>
                  <a:pt x="232" y="314"/>
                </a:cubicBezTo>
                <a:cubicBezTo>
                  <a:pt x="232" y="326"/>
                  <a:pt x="232" y="326"/>
                  <a:pt x="232" y="326"/>
                </a:cubicBezTo>
                <a:cubicBezTo>
                  <a:pt x="156" y="326"/>
                  <a:pt x="156" y="326"/>
                  <a:pt x="156" y="326"/>
                </a:cubicBezTo>
                <a:close/>
                <a:moveTo>
                  <a:pt x="309" y="106"/>
                </a:moveTo>
                <a:cubicBezTo>
                  <a:pt x="332" y="83"/>
                  <a:pt x="332" y="83"/>
                  <a:pt x="332" y="83"/>
                </a:cubicBezTo>
                <a:cubicBezTo>
                  <a:pt x="339" y="76"/>
                  <a:pt x="339" y="64"/>
                  <a:pt x="332" y="57"/>
                </a:cubicBezTo>
                <a:cubicBezTo>
                  <a:pt x="324" y="49"/>
                  <a:pt x="312" y="49"/>
                  <a:pt x="305" y="57"/>
                </a:cubicBezTo>
                <a:cubicBezTo>
                  <a:pt x="283" y="79"/>
                  <a:pt x="283" y="79"/>
                  <a:pt x="283" y="79"/>
                </a:cubicBezTo>
                <a:cubicBezTo>
                  <a:pt x="275" y="86"/>
                  <a:pt x="275" y="98"/>
                  <a:pt x="283" y="106"/>
                </a:cubicBezTo>
                <a:cubicBezTo>
                  <a:pt x="290" y="113"/>
                  <a:pt x="302" y="113"/>
                  <a:pt x="309" y="106"/>
                </a:cubicBezTo>
                <a:close/>
                <a:moveTo>
                  <a:pt x="338" y="213"/>
                </a:moveTo>
                <a:cubicBezTo>
                  <a:pt x="328" y="213"/>
                  <a:pt x="320" y="205"/>
                  <a:pt x="320" y="194"/>
                </a:cubicBezTo>
                <a:cubicBezTo>
                  <a:pt x="320" y="184"/>
                  <a:pt x="328" y="176"/>
                  <a:pt x="338" y="176"/>
                </a:cubicBezTo>
                <a:cubicBezTo>
                  <a:pt x="370" y="176"/>
                  <a:pt x="370" y="176"/>
                  <a:pt x="370" y="176"/>
                </a:cubicBezTo>
                <a:cubicBezTo>
                  <a:pt x="380" y="176"/>
                  <a:pt x="389" y="184"/>
                  <a:pt x="389" y="194"/>
                </a:cubicBezTo>
                <a:cubicBezTo>
                  <a:pt x="389" y="205"/>
                  <a:pt x="380" y="213"/>
                  <a:pt x="370" y="213"/>
                </a:cubicBezTo>
                <a:cubicBezTo>
                  <a:pt x="338" y="213"/>
                  <a:pt x="338" y="213"/>
                  <a:pt x="338" y="213"/>
                </a:cubicBezTo>
                <a:close/>
                <a:moveTo>
                  <a:pt x="283" y="310"/>
                </a:moveTo>
                <a:cubicBezTo>
                  <a:pt x="305" y="332"/>
                  <a:pt x="305" y="332"/>
                  <a:pt x="305" y="332"/>
                </a:cubicBezTo>
                <a:cubicBezTo>
                  <a:pt x="312" y="339"/>
                  <a:pt x="324" y="339"/>
                  <a:pt x="332" y="332"/>
                </a:cubicBezTo>
                <a:cubicBezTo>
                  <a:pt x="339" y="325"/>
                  <a:pt x="339" y="313"/>
                  <a:pt x="332" y="305"/>
                </a:cubicBezTo>
                <a:cubicBezTo>
                  <a:pt x="309" y="283"/>
                  <a:pt x="309" y="283"/>
                  <a:pt x="309" y="283"/>
                </a:cubicBezTo>
                <a:cubicBezTo>
                  <a:pt x="302" y="276"/>
                  <a:pt x="290" y="276"/>
                  <a:pt x="283" y="283"/>
                </a:cubicBezTo>
                <a:cubicBezTo>
                  <a:pt x="275" y="290"/>
                  <a:pt x="275" y="302"/>
                  <a:pt x="283" y="310"/>
                </a:cubicBezTo>
                <a:close/>
                <a:moveTo>
                  <a:pt x="79" y="283"/>
                </a:moveTo>
                <a:cubicBezTo>
                  <a:pt x="57" y="305"/>
                  <a:pt x="57" y="305"/>
                  <a:pt x="57" y="305"/>
                </a:cubicBezTo>
                <a:cubicBezTo>
                  <a:pt x="49" y="313"/>
                  <a:pt x="49" y="325"/>
                  <a:pt x="57" y="332"/>
                </a:cubicBezTo>
                <a:cubicBezTo>
                  <a:pt x="64" y="339"/>
                  <a:pt x="76" y="339"/>
                  <a:pt x="83" y="332"/>
                </a:cubicBezTo>
                <a:cubicBezTo>
                  <a:pt x="105" y="310"/>
                  <a:pt x="105" y="310"/>
                  <a:pt x="105" y="310"/>
                </a:cubicBezTo>
                <a:cubicBezTo>
                  <a:pt x="113" y="302"/>
                  <a:pt x="113" y="290"/>
                  <a:pt x="105" y="283"/>
                </a:cubicBezTo>
                <a:cubicBezTo>
                  <a:pt x="98" y="276"/>
                  <a:pt x="86" y="276"/>
                  <a:pt x="79" y="283"/>
                </a:cubicBezTo>
                <a:close/>
                <a:moveTo>
                  <a:pt x="50" y="176"/>
                </a:moveTo>
                <a:cubicBezTo>
                  <a:pt x="60" y="176"/>
                  <a:pt x="69" y="184"/>
                  <a:pt x="69" y="194"/>
                </a:cubicBezTo>
                <a:cubicBezTo>
                  <a:pt x="69" y="205"/>
                  <a:pt x="60" y="213"/>
                  <a:pt x="50" y="213"/>
                </a:cubicBezTo>
                <a:cubicBezTo>
                  <a:pt x="18" y="213"/>
                  <a:pt x="18" y="213"/>
                  <a:pt x="18" y="213"/>
                </a:cubicBezTo>
                <a:cubicBezTo>
                  <a:pt x="8" y="213"/>
                  <a:pt x="0" y="205"/>
                  <a:pt x="0" y="194"/>
                </a:cubicBezTo>
                <a:cubicBezTo>
                  <a:pt x="0" y="184"/>
                  <a:pt x="8" y="176"/>
                  <a:pt x="18" y="176"/>
                </a:cubicBezTo>
                <a:cubicBezTo>
                  <a:pt x="50" y="176"/>
                  <a:pt x="50" y="176"/>
                  <a:pt x="50" y="176"/>
                </a:cubicBezTo>
                <a:close/>
                <a:moveTo>
                  <a:pt x="105" y="79"/>
                </a:moveTo>
                <a:cubicBezTo>
                  <a:pt x="83" y="57"/>
                  <a:pt x="83" y="57"/>
                  <a:pt x="83" y="57"/>
                </a:cubicBezTo>
                <a:cubicBezTo>
                  <a:pt x="76" y="49"/>
                  <a:pt x="64" y="49"/>
                  <a:pt x="57" y="57"/>
                </a:cubicBezTo>
                <a:cubicBezTo>
                  <a:pt x="49" y="64"/>
                  <a:pt x="49" y="76"/>
                  <a:pt x="57" y="83"/>
                </a:cubicBezTo>
                <a:cubicBezTo>
                  <a:pt x="79" y="106"/>
                  <a:pt x="79" y="106"/>
                  <a:pt x="79" y="106"/>
                </a:cubicBezTo>
                <a:cubicBezTo>
                  <a:pt x="86" y="113"/>
                  <a:pt x="98" y="113"/>
                  <a:pt x="105" y="106"/>
                </a:cubicBezTo>
                <a:cubicBezTo>
                  <a:pt x="113" y="98"/>
                  <a:pt x="113" y="86"/>
                  <a:pt x="105" y="7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95" name="Group 394"/>
          <p:cNvGrpSpPr/>
          <p:nvPr userDrawn="1"/>
        </p:nvGrpSpPr>
        <p:grpSpPr>
          <a:xfrm>
            <a:off x="1211847" y="5576083"/>
            <a:ext cx="316074" cy="288752"/>
            <a:chOff x="2843213" y="2803525"/>
            <a:chExt cx="936624" cy="855663"/>
          </a:xfrm>
          <a:solidFill>
            <a:schemeClr val="tx1"/>
          </a:solidFill>
        </p:grpSpPr>
        <p:sp>
          <p:nvSpPr>
            <p:cNvPr id="396" name="Freeform 32"/>
            <p:cNvSpPr>
              <a:spLocks/>
            </p:cNvSpPr>
            <p:nvPr/>
          </p:nvSpPr>
          <p:spPr bwMode="auto">
            <a:xfrm>
              <a:off x="3335338" y="2921000"/>
              <a:ext cx="273050" cy="168275"/>
            </a:xfrm>
            <a:custGeom>
              <a:avLst/>
              <a:gdLst>
                <a:gd name="T0" fmla="*/ 123 w 138"/>
                <a:gd name="T1" fmla="*/ 13 h 85"/>
                <a:gd name="T2" fmla="*/ 106 w 138"/>
                <a:gd name="T3" fmla="*/ 0 h 85"/>
                <a:gd name="T4" fmla="*/ 0 w 138"/>
                <a:gd name="T5" fmla="*/ 0 h 85"/>
                <a:gd name="T6" fmla="*/ 0 w 138"/>
                <a:gd name="T7" fmla="*/ 85 h 85"/>
                <a:gd name="T8" fmla="*/ 138 w 138"/>
                <a:gd name="T9" fmla="*/ 85 h 85"/>
                <a:gd name="T10" fmla="*/ 123 w 138"/>
                <a:gd name="T11" fmla="*/ 13 h 85"/>
              </a:gdLst>
              <a:ahLst/>
              <a:cxnLst>
                <a:cxn ang="0">
                  <a:pos x="T0" y="T1"/>
                </a:cxn>
                <a:cxn ang="0">
                  <a:pos x="T2" y="T3"/>
                </a:cxn>
                <a:cxn ang="0">
                  <a:pos x="T4" y="T5"/>
                </a:cxn>
                <a:cxn ang="0">
                  <a:pos x="T6" y="T7"/>
                </a:cxn>
                <a:cxn ang="0">
                  <a:pos x="T8" y="T9"/>
                </a:cxn>
                <a:cxn ang="0">
                  <a:pos x="T10" y="T11"/>
                </a:cxn>
              </a:cxnLst>
              <a:rect l="0" t="0" r="r" b="b"/>
              <a:pathLst>
                <a:path w="138" h="85">
                  <a:moveTo>
                    <a:pt x="123" y="13"/>
                  </a:moveTo>
                  <a:cubicBezTo>
                    <a:pt x="121" y="6"/>
                    <a:pt x="113" y="0"/>
                    <a:pt x="106" y="0"/>
                  </a:cubicBezTo>
                  <a:cubicBezTo>
                    <a:pt x="0" y="0"/>
                    <a:pt x="0" y="0"/>
                    <a:pt x="0" y="0"/>
                  </a:cubicBezTo>
                  <a:cubicBezTo>
                    <a:pt x="0" y="85"/>
                    <a:pt x="0" y="85"/>
                    <a:pt x="0" y="85"/>
                  </a:cubicBezTo>
                  <a:cubicBezTo>
                    <a:pt x="138" y="85"/>
                    <a:pt x="138" y="85"/>
                    <a:pt x="138" y="85"/>
                  </a:cubicBezTo>
                  <a:lnTo>
                    <a:pt x="123"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33"/>
            <p:cNvSpPr>
              <a:spLocks/>
            </p:cNvSpPr>
            <p:nvPr/>
          </p:nvSpPr>
          <p:spPr bwMode="auto">
            <a:xfrm>
              <a:off x="3013075" y="2921000"/>
              <a:ext cx="274637" cy="168275"/>
            </a:xfrm>
            <a:custGeom>
              <a:avLst/>
              <a:gdLst>
                <a:gd name="T0" fmla="*/ 15 w 138"/>
                <a:gd name="T1" fmla="*/ 13 h 85"/>
                <a:gd name="T2" fmla="*/ 0 w 138"/>
                <a:gd name="T3" fmla="*/ 85 h 85"/>
                <a:gd name="T4" fmla="*/ 138 w 138"/>
                <a:gd name="T5" fmla="*/ 85 h 85"/>
                <a:gd name="T6" fmla="*/ 138 w 138"/>
                <a:gd name="T7" fmla="*/ 0 h 85"/>
                <a:gd name="T8" fmla="*/ 32 w 138"/>
                <a:gd name="T9" fmla="*/ 0 h 85"/>
                <a:gd name="T10" fmla="*/ 15 w 138"/>
                <a:gd name="T11" fmla="*/ 13 h 85"/>
              </a:gdLst>
              <a:ahLst/>
              <a:cxnLst>
                <a:cxn ang="0">
                  <a:pos x="T0" y="T1"/>
                </a:cxn>
                <a:cxn ang="0">
                  <a:pos x="T2" y="T3"/>
                </a:cxn>
                <a:cxn ang="0">
                  <a:pos x="T4" y="T5"/>
                </a:cxn>
                <a:cxn ang="0">
                  <a:pos x="T6" y="T7"/>
                </a:cxn>
                <a:cxn ang="0">
                  <a:pos x="T8" y="T9"/>
                </a:cxn>
                <a:cxn ang="0">
                  <a:pos x="T10" y="T11"/>
                </a:cxn>
              </a:cxnLst>
              <a:rect l="0" t="0" r="r" b="b"/>
              <a:pathLst>
                <a:path w="138" h="85">
                  <a:moveTo>
                    <a:pt x="15" y="13"/>
                  </a:moveTo>
                  <a:cubicBezTo>
                    <a:pt x="0" y="85"/>
                    <a:pt x="0" y="85"/>
                    <a:pt x="0" y="85"/>
                  </a:cubicBezTo>
                  <a:cubicBezTo>
                    <a:pt x="138" y="85"/>
                    <a:pt x="138" y="85"/>
                    <a:pt x="138" y="85"/>
                  </a:cubicBezTo>
                  <a:cubicBezTo>
                    <a:pt x="138" y="0"/>
                    <a:pt x="138" y="0"/>
                    <a:pt x="138" y="0"/>
                  </a:cubicBezTo>
                  <a:cubicBezTo>
                    <a:pt x="32" y="0"/>
                    <a:pt x="32" y="0"/>
                    <a:pt x="32" y="0"/>
                  </a:cubicBezTo>
                  <a:cubicBezTo>
                    <a:pt x="25" y="0"/>
                    <a:pt x="17" y="6"/>
                    <a:pt x="1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34"/>
            <p:cNvSpPr>
              <a:spLocks/>
            </p:cNvSpPr>
            <p:nvPr/>
          </p:nvSpPr>
          <p:spPr bwMode="auto">
            <a:xfrm>
              <a:off x="2971800" y="3136900"/>
              <a:ext cx="315912" cy="168275"/>
            </a:xfrm>
            <a:custGeom>
              <a:avLst/>
              <a:gdLst>
                <a:gd name="T0" fmla="*/ 1 w 159"/>
                <a:gd name="T1" fmla="*/ 77 h 85"/>
                <a:gd name="T2" fmla="*/ 2 w 159"/>
                <a:gd name="T3" fmla="*/ 83 h 85"/>
                <a:gd name="T4" fmla="*/ 8 w 159"/>
                <a:gd name="T5" fmla="*/ 85 h 85"/>
                <a:gd name="T6" fmla="*/ 159 w 159"/>
                <a:gd name="T7" fmla="*/ 85 h 85"/>
                <a:gd name="T8" fmla="*/ 159 w 159"/>
                <a:gd name="T9" fmla="*/ 0 h 85"/>
                <a:gd name="T10" fmla="*/ 17 w 159"/>
                <a:gd name="T11" fmla="*/ 0 h 85"/>
                <a:gd name="T12" fmla="*/ 1 w 159"/>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159" h="85">
                  <a:moveTo>
                    <a:pt x="1" y="77"/>
                  </a:moveTo>
                  <a:cubicBezTo>
                    <a:pt x="0" y="79"/>
                    <a:pt x="0" y="81"/>
                    <a:pt x="2" y="83"/>
                  </a:cubicBezTo>
                  <a:cubicBezTo>
                    <a:pt x="3" y="85"/>
                    <a:pt x="5" y="85"/>
                    <a:pt x="8" y="85"/>
                  </a:cubicBezTo>
                  <a:cubicBezTo>
                    <a:pt x="159" y="85"/>
                    <a:pt x="159" y="85"/>
                    <a:pt x="159" y="85"/>
                  </a:cubicBezTo>
                  <a:cubicBezTo>
                    <a:pt x="159" y="0"/>
                    <a:pt x="159" y="0"/>
                    <a:pt x="159" y="0"/>
                  </a:cubicBezTo>
                  <a:cubicBezTo>
                    <a:pt x="17" y="0"/>
                    <a:pt x="17" y="0"/>
                    <a:pt x="17" y="0"/>
                  </a:cubicBezTo>
                  <a:lnTo>
                    <a:pt x="1" y="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35"/>
            <p:cNvSpPr>
              <a:spLocks/>
            </p:cNvSpPr>
            <p:nvPr/>
          </p:nvSpPr>
          <p:spPr bwMode="auto">
            <a:xfrm>
              <a:off x="3335338" y="3136900"/>
              <a:ext cx="314325" cy="168275"/>
            </a:xfrm>
            <a:custGeom>
              <a:avLst/>
              <a:gdLst>
                <a:gd name="T0" fmla="*/ 142 w 159"/>
                <a:gd name="T1" fmla="*/ 0 h 85"/>
                <a:gd name="T2" fmla="*/ 0 w 159"/>
                <a:gd name="T3" fmla="*/ 0 h 85"/>
                <a:gd name="T4" fmla="*/ 0 w 159"/>
                <a:gd name="T5" fmla="*/ 85 h 85"/>
                <a:gd name="T6" fmla="*/ 151 w 159"/>
                <a:gd name="T7" fmla="*/ 85 h 85"/>
                <a:gd name="T8" fmla="*/ 157 w 159"/>
                <a:gd name="T9" fmla="*/ 83 h 85"/>
                <a:gd name="T10" fmla="*/ 158 w 159"/>
                <a:gd name="T11" fmla="*/ 77 h 85"/>
                <a:gd name="T12" fmla="*/ 142 w 159"/>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159" h="85">
                  <a:moveTo>
                    <a:pt x="142" y="0"/>
                  </a:moveTo>
                  <a:cubicBezTo>
                    <a:pt x="0" y="0"/>
                    <a:pt x="0" y="0"/>
                    <a:pt x="0" y="0"/>
                  </a:cubicBezTo>
                  <a:cubicBezTo>
                    <a:pt x="0" y="85"/>
                    <a:pt x="0" y="85"/>
                    <a:pt x="0" y="85"/>
                  </a:cubicBezTo>
                  <a:cubicBezTo>
                    <a:pt x="151" y="85"/>
                    <a:pt x="151" y="85"/>
                    <a:pt x="151" y="85"/>
                  </a:cubicBezTo>
                  <a:cubicBezTo>
                    <a:pt x="154" y="85"/>
                    <a:pt x="156" y="85"/>
                    <a:pt x="157" y="83"/>
                  </a:cubicBezTo>
                  <a:cubicBezTo>
                    <a:pt x="159" y="81"/>
                    <a:pt x="159" y="79"/>
                    <a:pt x="158" y="77"/>
                  </a:cubicBezTo>
                  <a:lnTo>
                    <a:pt x="14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36"/>
            <p:cNvSpPr>
              <a:spLocks noEditPoints="1"/>
            </p:cNvSpPr>
            <p:nvPr/>
          </p:nvSpPr>
          <p:spPr bwMode="auto">
            <a:xfrm>
              <a:off x="2843213" y="2803525"/>
              <a:ext cx="936624" cy="617538"/>
            </a:xfrm>
            <a:custGeom>
              <a:avLst/>
              <a:gdLst>
                <a:gd name="T0" fmla="*/ 469 w 472"/>
                <a:gd name="T1" fmla="*/ 256 h 312"/>
                <a:gd name="T2" fmla="*/ 426 w 472"/>
                <a:gd name="T3" fmla="*/ 48 h 312"/>
                <a:gd name="T4" fmla="*/ 366 w 472"/>
                <a:gd name="T5" fmla="*/ 0 h 312"/>
                <a:gd name="T6" fmla="*/ 106 w 472"/>
                <a:gd name="T7" fmla="*/ 0 h 312"/>
                <a:gd name="T8" fmla="*/ 46 w 472"/>
                <a:gd name="T9" fmla="*/ 48 h 312"/>
                <a:gd name="T10" fmla="*/ 3 w 472"/>
                <a:gd name="T11" fmla="*/ 256 h 312"/>
                <a:gd name="T12" fmla="*/ 12 w 472"/>
                <a:gd name="T13" fmla="*/ 296 h 312"/>
                <a:gd name="T14" fmla="*/ 48 w 472"/>
                <a:gd name="T15" fmla="*/ 312 h 312"/>
                <a:gd name="T16" fmla="*/ 424 w 472"/>
                <a:gd name="T17" fmla="*/ 312 h 312"/>
                <a:gd name="T18" fmla="*/ 460 w 472"/>
                <a:gd name="T19" fmla="*/ 296 h 312"/>
                <a:gd name="T20" fmla="*/ 469 w 472"/>
                <a:gd name="T21" fmla="*/ 256 h 312"/>
                <a:gd name="T22" fmla="*/ 424 w 472"/>
                <a:gd name="T23" fmla="*/ 266 h 312"/>
                <a:gd name="T24" fmla="*/ 399 w 472"/>
                <a:gd name="T25" fmla="*/ 277 h 312"/>
                <a:gd name="T26" fmla="*/ 73 w 472"/>
                <a:gd name="T27" fmla="*/ 277 h 312"/>
                <a:gd name="T28" fmla="*/ 48 w 472"/>
                <a:gd name="T29" fmla="*/ 266 h 312"/>
                <a:gd name="T30" fmla="*/ 43 w 472"/>
                <a:gd name="T31" fmla="*/ 240 h 312"/>
                <a:gd name="T32" fmla="*/ 78 w 472"/>
                <a:gd name="T33" fmla="*/ 68 h 312"/>
                <a:gd name="T34" fmla="*/ 118 w 472"/>
                <a:gd name="T35" fmla="*/ 35 h 312"/>
                <a:gd name="T36" fmla="*/ 354 w 472"/>
                <a:gd name="T37" fmla="*/ 35 h 312"/>
                <a:gd name="T38" fmla="*/ 394 w 472"/>
                <a:gd name="T39" fmla="*/ 68 h 312"/>
                <a:gd name="T40" fmla="*/ 429 w 472"/>
                <a:gd name="T41" fmla="*/ 240 h 312"/>
                <a:gd name="T42" fmla="*/ 424 w 472"/>
                <a:gd name="T43" fmla="*/ 26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2" h="312">
                  <a:moveTo>
                    <a:pt x="469" y="256"/>
                  </a:moveTo>
                  <a:cubicBezTo>
                    <a:pt x="426" y="48"/>
                    <a:pt x="426" y="48"/>
                    <a:pt x="426" y="48"/>
                  </a:cubicBezTo>
                  <a:cubicBezTo>
                    <a:pt x="420" y="21"/>
                    <a:pt x="394" y="0"/>
                    <a:pt x="366" y="0"/>
                  </a:cubicBezTo>
                  <a:cubicBezTo>
                    <a:pt x="106" y="0"/>
                    <a:pt x="106" y="0"/>
                    <a:pt x="106" y="0"/>
                  </a:cubicBezTo>
                  <a:cubicBezTo>
                    <a:pt x="78" y="0"/>
                    <a:pt x="52" y="21"/>
                    <a:pt x="46" y="48"/>
                  </a:cubicBezTo>
                  <a:cubicBezTo>
                    <a:pt x="3" y="256"/>
                    <a:pt x="3" y="256"/>
                    <a:pt x="3" y="256"/>
                  </a:cubicBezTo>
                  <a:cubicBezTo>
                    <a:pt x="0" y="271"/>
                    <a:pt x="3" y="285"/>
                    <a:pt x="12" y="296"/>
                  </a:cubicBezTo>
                  <a:cubicBezTo>
                    <a:pt x="21" y="306"/>
                    <a:pt x="34" y="312"/>
                    <a:pt x="48" y="312"/>
                  </a:cubicBezTo>
                  <a:cubicBezTo>
                    <a:pt x="424" y="312"/>
                    <a:pt x="424" y="312"/>
                    <a:pt x="424" y="312"/>
                  </a:cubicBezTo>
                  <a:cubicBezTo>
                    <a:pt x="438" y="312"/>
                    <a:pt x="451" y="306"/>
                    <a:pt x="460" y="296"/>
                  </a:cubicBezTo>
                  <a:cubicBezTo>
                    <a:pt x="469" y="285"/>
                    <a:pt x="472" y="271"/>
                    <a:pt x="469" y="256"/>
                  </a:cubicBezTo>
                  <a:close/>
                  <a:moveTo>
                    <a:pt x="424" y="266"/>
                  </a:moveTo>
                  <a:cubicBezTo>
                    <a:pt x="418" y="273"/>
                    <a:pt x="409" y="277"/>
                    <a:pt x="399" y="277"/>
                  </a:cubicBezTo>
                  <a:cubicBezTo>
                    <a:pt x="73" y="277"/>
                    <a:pt x="73" y="277"/>
                    <a:pt x="73" y="277"/>
                  </a:cubicBezTo>
                  <a:cubicBezTo>
                    <a:pt x="63" y="277"/>
                    <a:pt x="54" y="273"/>
                    <a:pt x="48" y="266"/>
                  </a:cubicBezTo>
                  <a:cubicBezTo>
                    <a:pt x="43" y="259"/>
                    <a:pt x="41" y="249"/>
                    <a:pt x="43" y="240"/>
                  </a:cubicBezTo>
                  <a:cubicBezTo>
                    <a:pt x="78" y="68"/>
                    <a:pt x="78" y="68"/>
                    <a:pt x="78" y="68"/>
                  </a:cubicBezTo>
                  <a:cubicBezTo>
                    <a:pt x="82" y="49"/>
                    <a:pt x="100" y="35"/>
                    <a:pt x="118" y="35"/>
                  </a:cubicBezTo>
                  <a:cubicBezTo>
                    <a:pt x="354" y="35"/>
                    <a:pt x="354" y="35"/>
                    <a:pt x="354" y="35"/>
                  </a:cubicBezTo>
                  <a:cubicBezTo>
                    <a:pt x="372" y="35"/>
                    <a:pt x="390" y="49"/>
                    <a:pt x="394" y="68"/>
                  </a:cubicBezTo>
                  <a:cubicBezTo>
                    <a:pt x="429" y="240"/>
                    <a:pt x="429" y="240"/>
                    <a:pt x="429" y="240"/>
                  </a:cubicBezTo>
                  <a:cubicBezTo>
                    <a:pt x="431" y="249"/>
                    <a:pt x="429" y="259"/>
                    <a:pt x="424" y="2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37"/>
            <p:cNvSpPr>
              <a:spLocks/>
            </p:cNvSpPr>
            <p:nvPr/>
          </p:nvSpPr>
          <p:spPr bwMode="auto">
            <a:xfrm>
              <a:off x="3076575" y="3468688"/>
              <a:ext cx="468312" cy="190500"/>
            </a:xfrm>
            <a:custGeom>
              <a:avLst/>
              <a:gdLst>
                <a:gd name="T0" fmla="*/ 200 w 236"/>
                <a:gd name="T1" fmla="*/ 48 h 96"/>
                <a:gd name="T2" fmla="*/ 142 w 236"/>
                <a:gd name="T3" fmla="*/ 48 h 96"/>
                <a:gd name="T4" fmla="*/ 142 w 236"/>
                <a:gd name="T5" fmla="*/ 0 h 96"/>
                <a:gd name="T6" fmla="*/ 94 w 236"/>
                <a:gd name="T7" fmla="*/ 0 h 96"/>
                <a:gd name="T8" fmla="*/ 94 w 236"/>
                <a:gd name="T9" fmla="*/ 48 h 96"/>
                <a:gd name="T10" fmla="*/ 36 w 236"/>
                <a:gd name="T11" fmla="*/ 48 h 96"/>
                <a:gd name="T12" fmla="*/ 0 w 236"/>
                <a:gd name="T13" fmla="*/ 71 h 96"/>
                <a:gd name="T14" fmla="*/ 0 w 236"/>
                <a:gd name="T15" fmla="*/ 96 h 96"/>
                <a:gd name="T16" fmla="*/ 236 w 236"/>
                <a:gd name="T17" fmla="*/ 96 h 96"/>
                <a:gd name="T18" fmla="*/ 236 w 236"/>
                <a:gd name="T19" fmla="*/ 71 h 96"/>
                <a:gd name="T20" fmla="*/ 200 w 236"/>
                <a:gd name="T21" fmla="*/ 4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6" h="96">
                  <a:moveTo>
                    <a:pt x="200" y="48"/>
                  </a:moveTo>
                  <a:cubicBezTo>
                    <a:pt x="142" y="48"/>
                    <a:pt x="142" y="48"/>
                    <a:pt x="142" y="48"/>
                  </a:cubicBezTo>
                  <a:cubicBezTo>
                    <a:pt x="142" y="0"/>
                    <a:pt x="142" y="0"/>
                    <a:pt x="142" y="0"/>
                  </a:cubicBezTo>
                  <a:cubicBezTo>
                    <a:pt x="94" y="0"/>
                    <a:pt x="94" y="0"/>
                    <a:pt x="94" y="0"/>
                  </a:cubicBezTo>
                  <a:cubicBezTo>
                    <a:pt x="94" y="48"/>
                    <a:pt x="94" y="48"/>
                    <a:pt x="94" y="48"/>
                  </a:cubicBezTo>
                  <a:cubicBezTo>
                    <a:pt x="36" y="48"/>
                    <a:pt x="36" y="48"/>
                    <a:pt x="36" y="48"/>
                  </a:cubicBezTo>
                  <a:cubicBezTo>
                    <a:pt x="16" y="48"/>
                    <a:pt x="0" y="58"/>
                    <a:pt x="0" y="71"/>
                  </a:cubicBezTo>
                  <a:cubicBezTo>
                    <a:pt x="0" y="96"/>
                    <a:pt x="0" y="96"/>
                    <a:pt x="0" y="96"/>
                  </a:cubicBezTo>
                  <a:cubicBezTo>
                    <a:pt x="236" y="96"/>
                    <a:pt x="236" y="96"/>
                    <a:pt x="236" y="96"/>
                  </a:cubicBezTo>
                  <a:cubicBezTo>
                    <a:pt x="236" y="71"/>
                    <a:pt x="236" y="71"/>
                    <a:pt x="236" y="71"/>
                  </a:cubicBezTo>
                  <a:cubicBezTo>
                    <a:pt x="236" y="58"/>
                    <a:pt x="220" y="48"/>
                    <a:pt x="20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8" name="Group 277"/>
          <p:cNvGrpSpPr/>
          <p:nvPr userDrawn="1"/>
        </p:nvGrpSpPr>
        <p:grpSpPr>
          <a:xfrm>
            <a:off x="1867660" y="3236820"/>
            <a:ext cx="303330" cy="229942"/>
            <a:chOff x="8199438" y="1474788"/>
            <a:chExt cx="590550" cy="447675"/>
          </a:xfrm>
          <a:solidFill>
            <a:schemeClr val="tx1"/>
          </a:solidFill>
        </p:grpSpPr>
        <p:sp>
          <p:nvSpPr>
            <p:cNvPr id="279" name="Freeform 17"/>
            <p:cNvSpPr>
              <a:spLocks noEditPoints="1"/>
            </p:cNvSpPr>
            <p:nvPr/>
          </p:nvSpPr>
          <p:spPr bwMode="auto">
            <a:xfrm>
              <a:off x="8199438" y="1530350"/>
              <a:ext cx="590550" cy="322263"/>
            </a:xfrm>
            <a:custGeom>
              <a:avLst/>
              <a:gdLst>
                <a:gd name="T0" fmla="*/ 242 w 260"/>
                <a:gd name="T1" fmla="*/ 74 h 142"/>
                <a:gd name="T2" fmla="*/ 238 w 260"/>
                <a:gd name="T3" fmla="*/ 73 h 142"/>
                <a:gd name="T4" fmla="*/ 209 w 260"/>
                <a:gd name="T5" fmla="*/ 31 h 142"/>
                <a:gd name="T6" fmla="*/ 149 w 260"/>
                <a:gd name="T7" fmla="*/ 0 h 142"/>
                <a:gd name="T8" fmla="*/ 38 w 260"/>
                <a:gd name="T9" fmla="*/ 0 h 142"/>
                <a:gd name="T10" fmla="*/ 0 w 260"/>
                <a:gd name="T11" fmla="*/ 38 h 142"/>
                <a:gd name="T12" fmla="*/ 0 w 260"/>
                <a:gd name="T13" fmla="*/ 123 h 142"/>
                <a:gd name="T14" fmla="*/ 19 w 260"/>
                <a:gd name="T15" fmla="*/ 142 h 142"/>
                <a:gd name="T16" fmla="*/ 30 w 260"/>
                <a:gd name="T17" fmla="*/ 142 h 142"/>
                <a:gd name="T18" fmla="*/ 69 w 260"/>
                <a:gd name="T19" fmla="*/ 104 h 142"/>
                <a:gd name="T20" fmla="*/ 107 w 260"/>
                <a:gd name="T21" fmla="*/ 142 h 142"/>
                <a:gd name="T22" fmla="*/ 153 w 260"/>
                <a:gd name="T23" fmla="*/ 142 h 142"/>
                <a:gd name="T24" fmla="*/ 191 w 260"/>
                <a:gd name="T25" fmla="*/ 104 h 142"/>
                <a:gd name="T26" fmla="*/ 230 w 260"/>
                <a:gd name="T27" fmla="*/ 142 h 142"/>
                <a:gd name="T28" fmla="*/ 241 w 260"/>
                <a:gd name="T29" fmla="*/ 142 h 142"/>
                <a:gd name="T30" fmla="*/ 260 w 260"/>
                <a:gd name="T31" fmla="*/ 123 h 142"/>
                <a:gd name="T32" fmla="*/ 260 w 260"/>
                <a:gd name="T33" fmla="*/ 100 h 142"/>
                <a:gd name="T34" fmla="*/ 242 w 260"/>
                <a:gd name="T35" fmla="*/ 74 h 142"/>
                <a:gd name="T36" fmla="*/ 107 w 260"/>
                <a:gd name="T37" fmla="*/ 61 h 142"/>
                <a:gd name="T38" fmla="*/ 88 w 260"/>
                <a:gd name="T39" fmla="*/ 61 h 142"/>
                <a:gd name="T40" fmla="*/ 88 w 260"/>
                <a:gd name="T41" fmla="*/ 81 h 142"/>
                <a:gd name="T42" fmla="*/ 68 w 260"/>
                <a:gd name="T43" fmla="*/ 81 h 142"/>
                <a:gd name="T44" fmla="*/ 68 w 260"/>
                <a:gd name="T45" fmla="*/ 61 h 142"/>
                <a:gd name="T46" fmla="*/ 49 w 260"/>
                <a:gd name="T47" fmla="*/ 61 h 142"/>
                <a:gd name="T48" fmla="*/ 49 w 260"/>
                <a:gd name="T49" fmla="*/ 42 h 142"/>
                <a:gd name="T50" fmla="*/ 68 w 260"/>
                <a:gd name="T51" fmla="*/ 42 h 142"/>
                <a:gd name="T52" fmla="*/ 68 w 260"/>
                <a:gd name="T53" fmla="*/ 23 h 142"/>
                <a:gd name="T54" fmla="*/ 88 w 260"/>
                <a:gd name="T55" fmla="*/ 23 h 142"/>
                <a:gd name="T56" fmla="*/ 88 w 260"/>
                <a:gd name="T57" fmla="*/ 42 h 142"/>
                <a:gd name="T58" fmla="*/ 107 w 260"/>
                <a:gd name="T59" fmla="*/ 42 h 142"/>
                <a:gd name="T60" fmla="*/ 107 w 260"/>
                <a:gd name="T61" fmla="*/ 61 h 142"/>
                <a:gd name="T62" fmla="*/ 219 w 260"/>
                <a:gd name="T63" fmla="*/ 71 h 142"/>
                <a:gd name="T64" fmla="*/ 155 w 260"/>
                <a:gd name="T65" fmla="*/ 71 h 142"/>
                <a:gd name="T66" fmla="*/ 151 w 260"/>
                <a:gd name="T67" fmla="*/ 67 h 142"/>
                <a:gd name="T68" fmla="*/ 151 w 260"/>
                <a:gd name="T69" fmla="*/ 34 h 142"/>
                <a:gd name="T70" fmla="*/ 155 w 260"/>
                <a:gd name="T71" fmla="*/ 30 h 142"/>
                <a:gd name="T72" fmla="*/ 190 w 260"/>
                <a:gd name="T73" fmla="*/ 30 h 142"/>
                <a:gd name="T74" fmla="*/ 196 w 260"/>
                <a:gd name="T75" fmla="*/ 33 h 142"/>
                <a:gd name="T76" fmla="*/ 220 w 260"/>
                <a:gd name="T77" fmla="*/ 67 h 142"/>
                <a:gd name="T78" fmla="*/ 219 w 260"/>
                <a:gd name="T79"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0" h="142">
                  <a:moveTo>
                    <a:pt x="242" y="74"/>
                  </a:moveTo>
                  <a:cubicBezTo>
                    <a:pt x="238" y="73"/>
                    <a:pt x="238" y="73"/>
                    <a:pt x="238" y="73"/>
                  </a:cubicBezTo>
                  <a:cubicBezTo>
                    <a:pt x="237" y="72"/>
                    <a:pt x="209" y="31"/>
                    <a:pt x="209" y="31"/>
                  </a:cubicBezTo>
                  <a:cubicBezTo>
                    <a:pt x="197" y="14"/>
                    <a:pt x="170" y="0"/>
                    <a:pt x="149" y="0"/>
                  </a:cubicBezTo>
                  <a:cubicBezTo>
                    <a:pt x="38" y="0"/>
                    <a:pt x="38" y="0"/>
                    <a:pt x="38" y="0"/>
                  </a:cubicBezTo>
                  <a:cubicBezTo>
                    <a:pt x="17" y="0"/>
                    <a:pt x="0" y="17"/>
                    <a:pt x="0" y="38"/>
                  </a:cubicBezTo>
                  <a:cubicBezTo>
                    <a:pt x="0" y="123"/>
                    <a:pt x="0" y="123"/>
                    <a:pt x="0" y="123"/>
                  </a:cubicBezTo>
                  <a:cubicBezTo>
                    <a:pt x="0" y="134"/>
                    <a:pt x="8" y="142"/>
                    <a:pt x="19" y="142"/>
                  </a:cubicBezTo>
                  <a:cubicBezTo>
                    <a:pt x="30" y="142"/>
                    <a:pt x="30" y="142"/>
                    <a:pt x="30" y="142"/>
                  </a:cubicBezTo>
                  <a:cubicBezTo>
                    <a:pt x="30" y="121"/>
                    <a:pt x="47" y="104"/>
                    <a:pt x="69" y="104"/>
                  </a:cubicBezTo>
                  <a:cubicBezTo>
                    <a:pt x="90" y="104"/>
                    <a:pt x="107" y="121"/>
                    <a:pt x="107" y="142"/>
                  </a:cubicBezTo>
                  <a:cubicBezTo>
                    <a:pt x="153" y="142"/>
                    <a:pt x="153" y="142"/>
                    <a:pt x="153" y="142"/>
                  </a:cubicBezTo>
                  <a:cubicBezTo>
                    <a:pt x="153" y="121"/>
                    <a:pt x="170" y="104"/>
                    <a:pt x="191" y="104"/>
                  </a:cubicBezTo>
                  <a:cubicBezTo>
                    <a:pt x="213" y="104"/>
                    <a:pt x="230" y="121"/>
                    <a:pt x="230" y="142"/>
                  </a:cubicBezTo>
                  <a:cubicBezTo>
                    <a:pt x="241" y="142"/>
                    <a:pt x="241" y="142"/>
                    <a:pt x="241" y="142"/>
                  </a:cubicBezTo>
                  <a:cubicBezTo>
                    <a:pt x="252" y="142"/>
                    <a:pt x="260" y="134"/>
                    <a:pt x="260" y="123"/>
                  </a:cubicBezTo>
                  <a:cubicBezTo>
                    <a:pt x="260" y="100"/>
                    <a:pt x="260" y="100"/>
                    <a:pt x="260" y="100"/>
                  </a:cubicBezTo>
                  <a:cubicBezTo>
                    <a:pt x="260" y="89"/>
                    <a:pt x="252" y="78"/>
                    <a:pt x="242" y="74"/>
                  </a:cubicBezTo>
                  <a:close/>
                  <a:moveTo>
                    <a:pt x="107" y="61"/>
                  </a:moveTo>
                  <a:cubicBezTo>
                    <a:pt x="88" y="61"/>
                    <a:pt x="88" y="61"/>
                    <a:pt x="88" y="61"/>
                  </a:cubicBezTo>
                  <a:cubicBezTo>
                    <a:pt x="88" y="81"/>
                    <a:pt x="88" y="81"/>
                    <a:pt x="88" y="81"/>
                  </a:cubicBezTo>
                  <a:cubicBezTo>
                    <a:pt x="68" y="81"/>
                    <a:pt x="68" y="81"/>
                    <a:pt x="68" y="81"/>
                  </a:cubicBezTo>
                  <a:cubicBezTo>
                    <a:pt x="68" y="61"/>
                    <a:pt x="68" y="61"/>
                    <a:pt x="68" y="61"/>
                  </a:cubicBezTo>
                  <a:cubicBezTo>
                    <a:pt x="49" y="61"/>
                    <a:pt x="49" y="61"/>
                    <a:pt x="49" y="61"/>
                  </a:cubicBezTo>
                  <a:cubicBezTo>
                    <a:pt x="49" y="42"/>
                    <a:pt x="49" y="42"/>
                    <a:pt x="49" y="42"/>
                  </a:cubicBezTo>
                  <a:cubicBezTo>
                    <a:pt x="68" y="42"/>
                    <a:pt x="68" y="42"/>
                    <a:pt x="68" y="42"/>
                  </a:cubicBezTo>
                  <a:cubicBezTo>
                    <a:pt x="68" y="23"/>
                    <a:pt x="68" y="23"/>
                    <a:pt x="68" y="23"/>
                  </a:cubicBezTo>
                  <a:cubicBezTo>
                    <a:pt x="88" y="23"/>
                    <a:pt x="88" y="23"/>
                    <a:pt x="88" y="23"/>
                  </a:cubicBezTo>
                  <a:cubicBezTo>
                    <a:pt x="88" y="42"/>
                    <a:pt x="88" y="42"/>
                    <a:pt x="88" y="42"/>
                  </a:cubicBezTo>
                  <a:cubicBezTo>
                    <a:pt x="107" y="42"/>
                    <a:pt x="107" y="42"/>
                    <a:pt x="107" y="42"/>
                  </a:cubicBezTo>
                  <a:lnTo>
                    <a:pt x="107" y="61"/>
                  </a:lnTo>
                  <a:close/>
                  <a:moveTo>
                    <a:pt x="219" y="71"/>
                  </a:moveTo>
                  <a:cubicBezTo>
                    <a:pt x="155" y="71"/>
                    <a:pt x="155" y="71"/>
                    <a:pt x="155" y="71"/>
                  </a:cubicBezTo>
                  <a:cubicBezTo>
                    <a:pt x="153" y="71"/>
                    <a:pt x="151" y="69"/>
                    <a:pt x="151" y="67"/>
                  </a:cubicBezTo>
                  <a:cubicBezTo>
                    <a:pt x="151" y="34"/>
                    <a:pt x="151" y="34"/>
                    <a:pt x="151" y="34"/>
                  </a:cubicBezTo>
                  <a:cubicBezTo>
                    <a:pt x="151" y="32"/>
                    <a:pt x="153" y="30"/>
                    <a:pt x="155" y="30"/>
                  </a:cubicBezTo>
                  <a:cubicBezTo>
                    <a:pt x="190" y="30"/>
                    <a:pt x="190" y="30"/>
                    <a:pt x="190" y="30"/>
                  </a:cubicBezTo>
                  <a:cubicBezTo>
                    <a:pt x="193" y="30"/>
                    <a:pt x="195" y="32"/>
                    <a:pt x="196" y="33"/>
                  </a:cubicBezTo>
                  <a:cubicBezTo>
                    <a:pt x="220" y="67"/>
                    <a:pt x="220" y="67"/>
                    <a:pt x="220" y="67"/>
                  </a:cubicBezTo>
                  <a:cubicBezTo>
                    <a:pt x="222" y="69"/>
                    <a:pt x="221" y="71"/>
                    <a:pt x="219" y="7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0" name="Freeform 18"/>
            <p:cNvSpPr>
              <a:spLocks noEditPoints="1"/>
            </p:cNvSpPr>
            <p:nvPr/>
          </p:nvSpPr>
          <p:spPr bwMode="auto">
            <a:xfrm>
              <a:off x="8564563" y="1784350"/>
              <a:ext cx="139700" cy="138113"/>
            </a:xfrm>
            <a:custGeom>
              <a:avLst/>
              <a:gdLst>
                <a:gd name="T0" fmla="*/ 0 w 61"/>
                <a:gd name="T1" fmla="*/ 30 h 61"/>
                <a:gd name="T2" fmla="*/ 30 w 61"/>
                <a:gd name="T3" fmla="*/ 61 h 61"/>
                <a:gd name="T4" fmla="*/ 61 w 61"/>
                <a:gd name="T5" fmla="*/ 30 h 61"/>
                <a:gd name="T6" fmla="*/ 30 w 61"/>
                <a:gd name="T7" fmla="*/ 0 h 61"/>
                <a:gd name="T8" fmla="*/ 0 w 61"/>
                <a:gd name="T9" fmla="*/ 30 h 61"/>
                <a:gd name="T10" fmla="*/ 19 w 61"/>
                <a:gd name="T11" fmla="*/ 30 h 61"/>
                <a:gd name="T12" fmla="*/ 30 w 61"/>
                <a:gd name="T13" fmla="*/ 19 h 61"/>
                <a:gd name="T14" fmla="*/ 42 w 61"/>
                <a:gd name="T15" fmla="*/ 30 h 61"/>
                <a:gd name="T16" fmla="*/ 30 w 61"/>
                <a:gd name="T17" fmla="*/ 42 h 61"/>
                <a:gd name="T18" fmla="*/ 19 w 61"/>
                <a:gd name="T19" fmla="*/ 3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61">
                  <a:moveTo>
                    <a:pt x="0" y="30"/>
                  </a:moveTo>
                  <a:cubicBezTo>
                    <a:pt x="0" y="47"/>
                    <a:pt x="13" y="61"/>
                    <a:pt x="30" y="61"/>
                  </a:cubicBezTo>
                  <a:cubicBezTo>
                    <a:pt x="47" y="61"/>
                    <a:pt x="61" y="47"/>
                    <a:pt x="61" y="30"/>
                  </a:cubicBezTo>
                  <a:cubicBezTo>
                    <a:pt x="61" y="13"/>
                    <a:pt x="47" y="0"/>
                    <a:pt x="30" y="0"/>
                  </a:cubicBezTo>
                  <a:cubicBezTo>
                    <a:pt x="13" y="0"/>
                    <a:pt x="0" y="13"/>
                    <a:pt x="0" y="30"/>
                  </a:cubicBezTo>
                  <a:close/>
                  <a:moveTo>
                    <a:pt x="19" y="30"/>
                  </a:moveTo>
                  <a:cubicBezTo>
                    <a:pt x="19" y="24"/>
                    <a:pt x="24" y="19"/>
                    <a:pt x="30" y="19"/>
                  </a:cubicBezTo>
                  <a:cubicBezTo>
                    <a:pt x="37" y="19"/>
                    <a:pt x="42" y="24"/>
                    <a:pt x="42" y="30"/>
                  </a:cubicBezTo>
                  <a:cubicBezTo>
                    <a:pt x="42" y="37"/>
                    <a:pt x="37" y="42"/>
                    <a:pt x="30" y="42"/>
                  </a:cubicBezTo>
                  <a:cubicBezTo>
                    <a:pt x="24" y="42"/>
                    <a:pt x="19" y="37"/>
                    <a:pt x="19" y="3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19"/>
            <p:cNvSpPr>
              <a:spLocks noEditPoints="1"/>
            </p:cNvSpPr>
            <p:nvPr/>
          </p:nvSpPr>
          <p:spPr bwMode="auto">
            <a:xfrm>
              <a:off x="8286750" y="1784350"/>
              <a:ext cx="138113" cy="138113"/>
            </a:xfrm>
            <a:custGeom>
              <a:avLst/>
              <a:gdLst>
                <a:gd name="T0" fmla="*/ 31 w 61"/>
                <a:gd name="T1" fmla="*/ 0 h 61"/>
                <a:gd name="T2" fmla="*/ 0 w 61"/>
                <a:gd name="T3" fmla="*/ 30 h 61"/>
                <a:gd name="T4" fmla="*/ 31 w 61"/>
                <a:gd name="T5" fmla="*/ 61 h 61"/>
                <a:gd name="T6" fmla="*/ 61 w 61"/>
                <a:gd name="T7" fmla="*/ 30 h 61"/>
                <a:gd name="T8" fmla="*/ 31 w 61"/>
                <a:gd name="T9" fmla="*/ 0 h 61"/>
                <a:gd name="T10" fmla="*/ 31 w 61"/>
                <a:gd name="T11" fmla="*/ 42 h 61"/>
                <a:gd name="T12" fmla="*/ 19 w 61"/>
                <a:gd name="T13" fmla="*/ 30 h 61"/>
                <a:gd name="T14" fmla="*/ 31 w 61"/>
                <a:gd name="T15" fmla="*/ 19 h 61"/>
                <a:gd name="T16" fmla="*/ 42 w 61"/>
                <a:gd name="T17" fmla="*/ 30 h 61"/>
                <a:gd name="T18" fmla="*/ 31 w 61"/>
                <a:gd name="T19" fmla="*/ 4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61">
                  <a:moveTo>
                    <a:pt x="31" y="0"/>
                  </a:moveTo>
                  <a:cubicBezTo>
                    <a:pt x="14" y="0"/>
                    <a:pt x="0" y="13"/>
                    <a:pt x="0" y="30"/>
                  </a:cubicBezTo>
                  <a:cubicBezTo>
                    <a:pt x="0" y="47"/>
                    <a:pt x="14" y="61"/>
                    <a:pt x="31" y="61"/>
                  </a:cubicBezTo>
                  <a:cubicBezTo>
                    <a:pt x="48" y="61"/>
                    <a:pt x="61" y="47"/>
                    <a:pt x="61" y="30"/>
                  </a:cubicBezTo>
                  <a:cubicBezTo>
                    <a:pt x="61" y="13"/>
                    <a:pt x="48" y="0"/>
                    <a:pt x="31" y="0"/>
                  </a:cubicBezTo>
                  <a:close/>
                  <a:moveTo>
                    <a:pt x="31" y="42"/>
                  </a:moveTo>
                  <a:cubicBezTo>
                    <a:pt x="24" y="42"/>
                    <a:pt x="19" y="37"/>
                    <a:pt x="19" y="30"/>
                  </a:cubicBezTo>
                  <a:cubicBezTo>
                    <a:pt x="19" y="24"/>
                    <a:pt x="24" y="19"/>
                    <a:pt x="31" y="19"/>
                  </a:cubicBezTo>
                  <a:cubicBezTo>
                    <a:pt x="37" y="19"/>
                    <a:pt x="42" y="24"/>
                    <a:pt x="42" y="30"/>
                  </a:cubicBezTo>
                  <a:cubicBezTo>
                    <a:pt x="42" y="37"/>
                    <a:pt x="37" y="42"/>
                    <a:pt x="31" y="4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2" name="Freeform 20"/>
            <p:cNvSpPr>
              <a:spLocks/>
            </p:cNvSpPr>
            <p:nvPr/>
          </p:nvSpPr>
          <p:spPr bwMode="auto">
            <a:xfrm>
              <a:off x="8437563" y="1474788"/>
              <a:ext cx="87313" cy="36513"/>
            </a:xfrm>
            <a:custGeom>
              <a:avLst/>
              <a:gdLst>
                <a:gd name="T0" fmla="*/ 19 w 38"/>
                <a:gd name="T1" fmla="*/ 0 h 16"/>
                <a:gd name="T2" fmla="*/ 0 w 38"/>
                <a:gd name="T3" fmla="*/ 16 h 16"/>
                <a:gd name="T4" fmla="*/ 38 w 38"/>
                <a:gd name="T5" fmla="*/ 16 h 16"/>
                <a:gd name="T6" fmla="*/ 19 w 38"/>
                <a:gd name="T7" fmla="*/ 0 h 16"/>
              </a:gdLst>
              <a:ahLst/>
              <a:cxnLst>
                <a:cxn ang="0">
                  <a:pos x="T0" y="T1"/>
                </a:cxn>
                <a:cxn ang="0">
                  <a:pos x="T2" y="T3"/>
                </a:cxn>
                <a:cxn ang="0">
                  <a:pos x="T4" y="T5"/>
                </a:cxn>
                <a:cxn ang="0">
                  <a:pos x="T6" y="T7"/>
                </a:cxn>
              </a:cxnLst>
              <a:rect l="0" t="0" r="r" b="b"/>
              <a:pathLst>
                <a:path w="38" h="16">
                  <a:moveTo>
                    <a:pt x="19" y="0"/>
                  </a:moveTo>
                  <a:cubicBezTo>
                    <a:pt x="8" y="0"/>
                    <a:pt x="0" y="7"/>
                    <a:pt x="0" y="16"/>
                  </a:cubicBezTo>
                  <a:cubicBezTo>
                    <a:pt x="38" y="16"/>
                    <a:pt x="38" y="16"/>
                    <a:pt x="38" y="16"/>
                  </a:cubicBezTo>
                  <a:cubicBezTo>
                    <a:pt x="38" y="7"/>
                    <a:pt x="29" y="0"/>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41" name="Group 340"/>
          <p:cNvGrpSpPr/>
          <p:nvPr userDrawn="1"/>
        </p:nvGrpSpPr>
        <p:grpSpPr>
          <a:xfrm>
            <a:off x="1830690" y="2105934"/>
            <a:ext cx="377270" cy="255434"/>
            <a:chOff x="11182350" y="6326188"/>
            <a:chExt cx="712788" cy="482600"/>
          </a:xfrm>
          <a:solidFill>
            <a:schemeClr val="tx1"/>
          </a:solidFill>
        </p:grpSpPr>
        <p:sp>
          <p:nvSpPr>
            <p:cNvPr id="342" name="Freeform 88"/>
            <p:cNvSpPr>
              <a:spLocks/>
            </p:cNvSpPr>
            <p:nvPr/>
          </p:nvSpPr>
          <p:spPr bwMode="auto">
            <a:xfrm>
              <a:off x="11182350" y="6326188"/>
              <a:ext cx="555625" cy="266700"/>
            </a:xfrm>
            <a:custGeom>
              <a:avLst/>
              <a:gdLst>
                <a:gd name="T0" fmla="*/ 185 w 191"/>
                <a:gd name="T1" fmla="*/ 0 h 92"/>
                <a:gd name="T2" fmla="*/ 165 w 191"/>
                <a:gd name="T3" fmla="*/ 0 h 92"/>
                <a:gd name="T4" fmla="*/ 154 w 191"/>
                <a:gd name="T5" fmla="*/ 3 h 92"/>
                <a:gd name="T6" fmla="*/ 118 w 191"/>
                <a:gd name="T7" fmla="*/ 22 h 92"/>
                <a:gd name="T8" fmla="*/ 107 w 191"/>
                <a:gd name="T9" fmla="*/ 25 h 92"/>
                <a:gd name="T10" fmla="*/ 5 w 191"/>
                <a:gd name="T11" fmla="*/ 20 h 92"/>
                <a:gd name="T12" fmla="*/ 0 w 191"/>
                <a:gd name="T13" fmla="*/ 25 h 92"/>
                <a:gd name="T14" fmla="*/ 0 w 191"/>
                <a:gd name="T15" fmla="*/ 62 h 92"/>
                <a:gd name="T16" fmla="*/ 4 w 191"/>
                <a:gd name="T17" fmla="*/ 69 h 92"/>
                <a:gd name="T18" fmla="*/ 66 w 191"/>
                <a:gd name="T19" fmla="*/ 89 h 92"/>
                <a:gd name="T20" fmla="*/ 83 w 191"/>
                <a:gd name="T21" fmla="*/ 92 h 92"/>
                <a:gd name="T22" fmla="*/ 116 w 191"/>
                <a:gd name="T23" fmla="*/ 92 h 92"/>
                <a:gd name="T24" fmla="*/ 126 w 191"/>
                <a:gd name="T25" fmla="*/ 86 h 92"/>
                <a:gd name="T26" fmla="*/ 156 w 191"/>
                <a:gd name="T27" fmla="*/ 20 h 92"/>
                <a:gd name="T28" fmla="*/ 171 w 191"/>
                <a:gd name="T29" fmla="*/ 11 h 92"/>
                <a:gd name="T30" fmla="*/ 185 w 191"/>
                <a:gd name="T31" fmla="*/ 11 h 92"/>
                <a:gd name="T32" fmla="*/ 185 w 191"/>
                <a:gd name="T33" fmla="*/ 11 h 92"/>
                <a:gd name="T34" fmla="*/ 191 w 191"/>
                <a:gd name="T35" fmla="*/ 5 h 92"/>
                <a:gd name="T36" fmla="*/ 185 w 191"/>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1" h="92">
                  <a:moveTo>
                    <a:pt x="185" y="0"/>
                  </a:moveTo>
                  <a:cubicBezTo>
                    <a:pt x="185" y="0"/>
                    <a:pt x="168" y="0"/>
                    <a:pt x="165" y="0"/>
                  </a:cubicBezTo>
                  <a:cubicBezTo>
                    <a:pt x="162" y="0"/>
                    <a:pt x="158" y="0"/>
                    <a:pt x="154" y="3"/>
                  </a:cubicBezTo>
                  <a:cubicBezTo>
                    <a:pt x="118" y="22"/>
                    <a:pt x="118" y="22"/>
                    <a:pt x="118" y="22"/>
                  </a:cubicBezTo>
                  <a:cubicBezTo>
                    <a:pt x="115" y="24"/>
                    <a:pt x="111" y="25"/>
                    <a:pt x="107" y="25"/>
                  </a:cubicBezTo>
                  <a:cubicBezTo>
                    <a:pt x="5" y="20"/>
                    <a:pt x="5" y="20"/>
                    <a:pt x="5" y="20"/>
                  </a:cubicBezTo>
                  <a:cubicBezTo>
                    <a:pt x="2" y="20"/>
                    <a:pt x="0" y="22"/>
                    <a:pt x="0" y="25"/>
                  </a:cubicBezTo>
                  <a:cubicBezTo>
                    <a:pt x="0" y="62"/>
                    <a:pt x="0" y="62"/>
                    <a:pt x="0" y="62"/>
                  </a:cubicBezTo>
                  <a:cubicBezTo>
                    <a:pt x="0" y="65"/>
                    <a:pt x="0" y="67"/>
                    <a:pt x="4" y="69"/>
                  </a:cubicBezTo>
                  <a:cubicBezTo>
                    <a:pt x="66" y="89"/>
                    <a:pt x="66" y="89"/>
                    <a:pt x="66" y="89"/>
                  </a:cubicBezTo>
                  <a:cubicBezTo>
                    <a:pt x="66" y="89"/>
                    <a:pt x="77" y="92"/>
                    <a:pt x="83" y="92"/>
                  </a:cubicBezTo>
                  <a:cubicBezTo>
                    <a:pt x="90" y="92"/>
                    <a:pt x="116" y="92"/>
                    <a:pt x="116" y="92"/>
                  </a:cubicBezTo>
                  <a:cubicBezTo>
                    <a:pt x="122" y="92"/>
                    <a:pt x="125" y="86"/>
                    <a:pt x="126" y="86"/>
                  </a:cubicBezTo>
                  <a:cubicBezTo>
                    <a:pt x="156" y="20"/>
                    <a:pt x="156" y="20"/>
                    <a:pt x="156" y="20"/>
                  </a:cubicBezTo>
                  <a:cubicBezTo>
                    <a:pt x="159" y="15"/>
                    <a:pt x="165" y="11"/>
                    <a:pt x="171" y="11"/>
                  </a:cubicBezTo>
                  <a:cubicBezTo>
                    <a:pt x="185" y="11"/>
                    <a:pt x="185" y="11"/>
                    <a:pt x="185" y="11"/>
                  </a:cubicBezTo>
                  <a:cubicBezTo>
                    <a:pt x="185" y="11"/>
                    <a:pt x="185" y="11"/>
                    <a:pt x="185" y="11"/>
                  </a:cubicBezTo>
                  <a:cubicBezTo>
                    <a:pt x="189" y="11"/>
                    <a:pt x="191" y="8"/>
                    <a:pt x="191" y="5"/>
                  </a:cubicBezTo>
                  <a:cubicBezTo>
                    <a:pt x="191" y="2"/>
                    <a:pt x="189" y="0"/>
                    <a:pt x="18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89"/>
            <p:cNvSpPr>
              <a:spLocks noEditPoints="1"/>
            </p:cNvSpPr>
            <p:nvPr/>
          </p:nvSpPr>
          <p:spPr bwMode="auto">
            <a:xfrm>
              <a:off x="11242675" y="6405563"/>
              <a:ext cx="652463" cy="403225"/>
            </a:xfrm>
            <a:custGeom>
              <a:avLst/>
              <a:gdLst>
                <a:gd name="T0" fmla="*/ 218 w 224"/>
                <a:gd name="T1" fmla="*/ 88 h 139"/>
                <a:gd name="T2" fmla="*/ 214 w 224"/>
                <a:gd name="T3" fmla="*/ 88 h 139"/>
                <a:gd name="T4" fmla="*/ 214 w 224"/>
                <a:gd name="T5" fmla="*/ 57 h 139"/>
                <a:gd name="T6" fmla="*/ 212 w 224"/>
                <a:gd name="T7" fmla="*/ 47 h 139"/>
                <a:gd name="T8" fmla="*/ 192 w 224"/>
                <a:gd name="T9" fmla="*/ 5 h 139"/>
                <a:gd name="T10" fmla="*/ 184 w 224"/>
                <a:gd name="T11" fmla="*/ 0 h 139"/>
                <a:gd name="T12" fmla="*/ 155 w 224"/>
                <a:gd name="T13" fmla="*/ 0 h 139"/>
                <a:gd name="T14" fmla="*/ 147 w 224"/>
                <a:gd name="T15" fmla="*/ 4 h 139"/>
                <a:gd name="T16" fmla="*/ 115 w 224"/>
                <a:gd name="T17" fmla="*/ 75 h 139"/>
                <a:gd name="T18" fmla="*/ 106 w 224"/>
                <a:gd name="T19" fmla="*/ 80 h 139"/>
                <a:gd name="T20" fmla="*/ 57 w 224"/>
                <a:gd name="T21" fmla="*/ 80 h 139"/>
                <a:gd name="T22" fmla="*/ 34 w 224"/>
                <a:gd name="T23" fmla="*/ 71 h 139"/>
                <a:gd name="T24" fmla="*/ 0 w 224"/>
                <a:gd name="T25" fmla="*/ 105 h 139"/>
                <a:gd name="T26" fmla="*/ 34 w 224"/>
                <a:gd name="T27" fmla="*/ 139 h 139"/>
                <a:gd name="T28" fmla="*/ 68 w 224"/>
                <a:gd name="T29" fmla="*/ 110 h 139"/>
                <a:gd name="T30" fmla="*/ 124 w 224"/>
                <a:gd name="T31" fmla="*/ 110 h 139"/>
                <a:gd name="T32" fmla="*/ 158 w 224"/>
                <a:gd name="T33" fmla="*/ 139 h 139"/>
                <a:gd name="T34" fmla="*/ 192 w 224"/>
                <a:gd name="T35" fmla="*/ 110 h 139"/>
                <a:gd name="T36" fmla="*/ 218 w 224"/>
                <a:gd name="T37" fmla="*/ 110 h 139"/>
                <a:gd name="T38" fmla="*/ 224 w 224"/>
                <a:gd name="T39" fmla="*/ 104 h 139"/>
                <a:gd name="T40" fmla="*/ 224 w 224"/>
                <a:gd name="T41" fmla="*/ 94 h 139"/>
                <a:gd name="T42" fmla="*/ 218 w 224"/>
                <a:gd name="T43" fmla="*/ 88 h 139"/>
                <a:gd name="T44" fmla="*/ 34 w 224"/>
                <a:gd name="T45" fmla="*/ 122 h 139"/>
                <a:gd name="T46" fmla="*/ 17 w 224"/>
                <a:gd name="T47" fmla="*/ 105 h 139"/>
                <a:gd name="T48" fmla="*/ 34 w 224"/>
                <a:gd name="T49" fmla="*/ 88 h 139"/>
                <a:gd name="T50" fmla="*/ 51 w 224"/>
                <a:gd name="T51" fmla="*/ 105 h 139"/>
                <a:gd name="T52" fmla="*/ 34 w 224"/>
                <a:gd name="T53" fmla="*/ 122 h 139"/>
                <a:gd name="T54" fmla="*/ 158 w 224"/>
                <a:gd name="T55" fmla="*/ 122 h 139"/>
                <a:gd name="T56" fmla="*/ 141 w 224"/>
                <a:gd name="T57" fmla="*/ 105 h 139"/>
                <a:gd name="T58" fmla="*/ 158 w 224"/>
                <a:gd name="T59" fmla="*/ 88 h 139"/>
                <a:gd name="T60" fmla="*/ 175 w 224"/>
                <a:gd name="T61" fmla="*/ 105 h 139"/>
                <a:gd name="T62" fmla="*/ 158 w 224"/>
                <a:gd name="T63" fmla="*/ 122 h 139"/>
                <a:gd name="T64" fmla="*/ 195 w 224"/>
                <a:gd name="T65" fmla="*/ 50 h 139"/>
                <a:gd name="T66" fmla="*/ 161 w 224"/>
                <a:gd name="T67" fmla="*/ 50 h 139"/>
                <a:gd name="T68" fmla="*/ 156 w 224"/>
                <a:gd name="T69" fmla="*/ 45 h 139"/>
                <a:gd name="T70" fmla="*/ 156 w 224"/>
                <a:gd name="T71" fmla="*/ 18 h 139"/>
                <a:gd name="T72" fmla="*/ 161 w 224"/>
                <a:gd name="T73" fmla="*/ 12 h 139"/>
                <a:gd name="T74" fmla="*/ 177 w 224"/>
                <a:gd name="T75" fmla="*/ 12 h 139"/>
                <a:gd name="T76" fmla="*/ 185 w 224"/>
                <a:gd name="T77" fmla="*/ 17 h 139"/>
                <a:gd name="T78" fmla="*/ 198 w 224"/>
                <a:gd name="T79" fmla="*/ 45 h 139"/>
                <a:gd name="T80" fmla="*/ 195 w 224"/>
                <a:gd name="T81" fmla="*/ 5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4" h="139">
                  <a:moveTo>
                    <a:pt x="218" y="88"/>
                  </a:moveTo>
                  <a:cubicBezTo>
                    <a:pt x="214" y="88"/>
                    <a:pt x="214" y="88"/>
                    <a:pt x="214" y="88"/>
                  </a:cubicBezTo>
                  <a:cubicBezTo>
                    <a:pt x="214" y="57"/>
                    <a:pt x="214" y="57"/>
                    <a:pt x="214" y="57"/>
                  </a:cubicBezTo>
                  <a:cubicBezTo>
                    <a:pt x="214" y="54"/>
                    <a:pt x="213" y="49"/>
                    <a:pt x="212" y="47"/>
                  </a:cubicBezTo>
                  <a:cubicBezTo>
                    <a:pt x="192" y="5"/>
                    <a:pt x="192" y="5"/>
                    <a:pt x="192" y="5"/>
                  </a:cubicBezTo>
                  <a:cubicBezTo>
                    <a:pt x="191" y="2"/>
                    <a:pt x="187" y="0"/>
                    <a:pt x="184" y="0"/>
                  </a:cubicBezTo>
                  <a:cubicBezTo>
                    <a:pt x="155" y="0"/>
                    <a:pt x="155" y="0"/>
                    <a:pt x="155" y="0"/>
                  </a:cubicBezTo>
                  <a:cubicBezTo>
                    <a:pt x="152" y="0"/>
                    <a:pt x="148" y="2"/>
                    <a:pt x="147" y="4"/>
                  </a:cubicBezTo>
                  <a:cubicBezTo>
                    <a:pt x="115" y="75"/>
                    <a:pt x="115" y="75"/>
                    <a:pt x="115" y="75"/>
                  </a:cubicBezTo>
                  <a:cubicBezTo>
                    <a:pt x="113" y="78"/>
                    <a:pt x="109" y="80"/>
                    <a:pt x="106" y="80"/>
                  </a:cubicBezTo>
                  <a:cubicBezTo>
                    <a:pt x="57" y="80"/>
                    <a:pt x="57" y="80"/>
                    <a:pt x="57" y="80"/>
                  </a:cubicBezTo>
                  <a:cubicBezTo>
                    <a:pt x="51" y="74"/>
                    <a:pt x="43" y="71"/>
                    <a:pt x="34" y="71"/>
                  </a:cubicBezTo>
                  <a:cubicBezTo>
                    <a:pt x="15" y="71"/>
                    <a:pt x="0" y="86"/>
                    <a:pt x="0" y="105"/>
                  </a:cubicBezTo>
                  <a:cubicBezTo>
                    <a:pt x="0" y="124"/>
                    <a:pt x="15" y="139"/>
                    <a:pt x="34" y="139"/>
                  </a:cubicBezTo>
                  <a:cubicBezTo>
                    <a:pt x="51" y="139"/>
                    <a:pt x="65" y="126"/>
                    <a:pt x="68" y="110"/>
                  </a:cubicBezTo>
                  <a:cubicBezTo>
                    <a:pt x="124" y="110"/>
                    <a:pt x="124" y="110"/>
                    <a:pt x="124" y="110"/>
                  </a:cubicBezTo>
                  <a:cubicBezTo>
                    <a:pt x="127" y="126"/>
                    <a:pt x="141" y="139"/>
                    <a:pt x="158" y="139"/>
                  </a:cubicBezTo>
                  <a:cubicBezTo>
                    <a:pt x="175" y="139"/>
                    <a:pt x="190" y="126"/>
                    <a:pt x="192" y="110"/>
                  </a:cubicBezTo>
                  <a:cubicBezTo>
                    <a:pt x="218" y="110"/>
                    <a:pt x="218" y="110"/>
                    <a:pt x="218" y="110"/>
                  </a:cubicBezTo>
                  <a:cubicBezTo>
                    <a:pt x="221" y="110"/>
                    <a:pt x="224" y="107"/>
                    <a:pt x="224" y="104"/>
                  </a:cubicBezTo>
                  <a:cubicBezTo>
                    <a:pt x="224" y="94"/>
                    <a:pt x="224" y="94"/>
                    <a:pt x="224" y="94"/>
                  </a:cubicBezTo>
                  <a:cubicBezTo>
                    <a:pt x="224" y="91"/>
                    <a:pt x="221" y="88"/>
                    <a:pt x="218" y="88"/>
                  </a:cubicBezTo>
                  <a:close/>
                  <a:moveTo>
                    <a:pt x="34" y="122"/>
                  </a:moveTo>
                  <a:cubicBezTo>
                    <a:pt x="24" y="122"/>
                    <a:pt x="17" y="114"/>
                    <a:pt x="17" y="105"/>
                  </a:cubicBezTo>
                  <a:cubicBezTo>
                    <a:pt x="17" y="96"/>
                    <a:pt x="24" y="88"/>
                    <a:pt x="34" y="88"/>
                  </a:cubicBezTo>
                  <a:cubicBezTo>
                    <a:pt x="43" y="88"/>
                    <a:pt x="51" y="96"/>
                    <a:pt x="51" y="105"/>
                  </a:cubicBezTo>
                  <a:cubicBezTo>
                    <a:pt x="51" y="114"/>
                    <a:pt x="43" y="122"/>
                    <a:pt x="34" y="122"/>
                  </a:cubicBezTo>
                  <a:close/>
                  <a:moveTo>
                    <a:pt x="158" y="122"/>
                  </a:moveTo>
                  <a:cubicBezTo>
                    <a:pt x="149" y="122"/>
                    <a:pt x="141" y="114"/>
                    <a:pt x="141" y="105"/>
                  </a:cubicBezTo>
                  <a:cubicBezTo>
                    <a:pt x="141" y="96"/>
                    <a:pt x="149" y="88"/>
                    <a:pt x="158" y="88"/>
                  </a:cubicBezTo>
                  <a:cubicBezTo>
                    <a:pt x="168" y="88"/>
                    <a:pt x="175" y="96"/>
                    <a:pt x="175" y="105"/>
                  </a:cubicBezTo>
                  <a:cubicBezTo>
                    <a:pt x="175" y="114"/>
                    <a:pt x="168" y="122"/>
                    <a:pt x="158" y="122"/>
                  </a:cubicBezTo>
                  <a:close/>
                  <a:moveTo>
                    <a:pt x="195" y="50"/>
                  </a:moveTo>
                  <a:cubicBezTo>
                    <a:pt x="161" y="50"/>
                    <a:pt x="161" y="50"/>
                    <a:pt x="161" y="50"/>
                  </a:cubicBezTo>
                  <a:cubicBezTo>
                    <a:pt x="158" y="50"/>
                    <a:pt x="156" y="48"/>
                    <a:pt x="156" y="45"/>
                  </a:cubicBezTo>
                  <a:cubicBezTo>
                    <a:pt x="156" y="18"/>
                    <a:pt x="156" y="18"/>
                    <a:pt x="156" y="18"/>
                  </a:cubicBezTo>
                  <a:cubicBezTo>
                    <a:pt x="156" y="15"/>
                    <a:pt x="158" y="12"/>
                    <a:pt x="161" y="12"/>
                  </a:cubicBezTo>
                  <a:cubicBezTo>
                    <a:pt x="177" y="12"/>
                    <a:pt x="177" y="12"/>
                    <a:pt x="177" y="12"/>
                  </a:cubicBezTo>
                  <a:cubicBezTo>
                    <a:pt x="180" y="12"/>
                    <a:pt x="183" y="14"/>
                    <a:pt x="185" y="17"/>
                  </a:cubicBezTo>
                  <a:cubicBezTo>
                    <a:pt x="198" y="45"/>
                    <a:pt x="198" y="45"/>
                    <a:pt x="198" y="45"/>
                  </a:cubicBezTo>
                  <a:cubicBezTo>
                    <a:pt x="199" y="48"/>
                    <a:pt x="198" y="50"/>
                    <a:pt x="195"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8" name="Freeform 6"/>
          <p:cNvSpPr>
            <a:spLocks noEditPoints="1"/>
          </p:cNvSpPr>
          <p:nvPr userDrawn="1"/>
        </p:nvSpPr>
        <p:spPr bwMode="auto">
          <a:xfrm>
            <a:off x="1837038" y="2624748"/>
            <a:ext cx="364576" cy="301950"/>
          </a:xfrm>
          <a:custGeom>
            <a:avLst/>
            <a:gdLst>
              <a:gd name="T0" fmla="*/ 372 w 442"/>
              <a:gd name="T1" fmla="*/ 146 h 366"/>
              <a:gd name="T2" fmla="*/ 293 w 442"/>
              <a:gd name="T3" fmla="*/ 221 h 366"/>
              <a:gd name="T4" fmla="*/ 221 w 442"/>
              <a:gd name="T5" fmla="*/ 149 h 366"/>
              <a:gd name="T6" fmla="*/ 296 w 442"/>
              <a:gd name="T7" fmla="*/ 70 h 366"/>
              <a:gd name="T8" fmla="*/ 296 w 442"/>
              <a:gd name="T9" fmla="*/ 0 h 366"/>
              <a:gd name="T10" fmla="*/ 151 w 442"/>
              <a:gd name="T11" fmla="*/ 146 h 366"/>
              <a:gd name="T12" fmla="*/ 174 w 442"/>
              <a:gd name="T13" fmla="*/ 223 h 366"/>
              <a:gd name="T14" fmla="*/ 142 w 442"/>
              <a:gd name="T15" fmla="*/ 255 h 366"/>
              <a:gd name="T16" fmla="*/ 136 w 442"/>
              <a:gd name="T17" fmla="*/ 255 h 366"/>
              <a:gd name="T18" fmla="*/ 93 w 442"/>
              <a:gd name="T19" fmla="*/ 275 h 366"/>
              <a:gd name="T20" fmla="*/ 0 w 442"/>
              <a:gd name="T21" fmla="*/ 275 h 366"/>
              <a:gd name="T22" fmla="*/ 0 w 442"/>
              <a:gd name="T23" fmla="*/ 345 h 366"/>
              <a:gd name="T24" fmla="*/ 93 w 442"/>
              <a:gd name="T25" fmla="*/ 345 h 366"/>
              <a:gd name="T26" fmla="*/ 136 w 442"/>
              <a:gd name="T27" fmla="*/ 366 h 366"/>
              <a:gd name="T28" fmla="*/ 192 w 442"/>
              <a:gd name="T29" fmla="*/ 310 h 366"/>
              <a:gd name="T30" fmla="*/ 192 w 442"/>
              <a:gd name="T31" fmla="*/ 304 h 366"/>
              <a:gd name="T32" fmla="*/ 224 w 442"/>
              <a:gd name="T33" fmla="*/ 272 h 366"/>
              <a:gd name="T34" fmla="*/ 296 w 442"/>
              <a:gd name="T35" fmla="*/ 291 h 366"/>
              <a:gd name="T36" fmla="*/ 442 w 442"/>
              <a:gd name="T37" fmla="*/ 146 h 366"/>
              <a:gd name="T38" fmla="*/ 372 w 442"/>
              <a:gd name="T39" fmla="*/ 146 h 366"/>
              <a:gd name="T40" fmla="*/ 139 w 442"/>
              <a:gd name="T41" fmla="*/ 333 h 366"/>
              <a:gd name="T42" fmla="*/ 114 w 442"/>
              <a:gd name="T43" fmla="*/ 307 h 366"/>
              <a:gd name="T44" fmla="*/ 133 w 442"/>
              <a:gd name="T45" fmla="*/ 288 h 366"/>
              <a:gd name="T46" fmla="*/ 159 w 442"/>
              <a:gd name="T47" fmla="*/ 313 h 366"/>
              <a:gd name="T48" fmla="*/ 139 w 442"/>
              <a:gd name="T49" fmla="*/ 333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2" h="366">
                <a:moveTo>
                  <a:pt x="372" y="146"/>
                </a:moveTo>
                <a:cubicBezTo>
                  <a:pt x="372" y="188"/>
                  <a:pt x="336" y="223"/>
                  <a:pt x="293" y="221"/>
                </a:cubicBezTo>
                <a:cubicBezTo>
                  <a:pt x="254" y="219"/>
                  <a:pt x="223" y="188"/>
                  <a:pt x="221" y="149"/>
                </a:cubicBezTo>
                <a:cubicBezTo>
                  <a:pt x="219" y="106"/>
                  <a:pt x="254" y="70"/>
                  <a:pt x="296" y="70"/>
                </a:cubicBezTo>
                <a:cubicBezTo>
                  <a:pt x="296" y="0"/>
                  <a:pt x="296" y="0"/>
                  <a:pt x="296" y="0"/>
                </a:cubicBezTo>
                <a:cubicBezTo>
                  <a:pt x="216" y="0"/>
                  <a:pt x="151" y="66"/>
                  <a:pt x="151" y="146"/>
                </a:cubicBezTo>
                <a:cubicBezTo>
                  <a:pt x="151" y="174"/>
                  <a:pt x="159" y="201"/>
                  <a:pt x="174" y="223"/>
                </a:cubicBezTo>
                <a:cubicBezTo>
                  <a:pt x="142" y="255"/>
                  <a:pt x="142" y="255"/>
                  <a:pt x="142" y="255"/>
                </a:cubicBezTo>
                <a:cubicBezTo>
                  <a:pt x="140" y="255"/>
                  <a:pt x="138" y="255"/>
                  <a:pt x="136" y="255"/>
                </a:cubicBezTo>
                <a:cubicBezTo>
                  <a:pt x="119" y="255"/>
                  <a:pt x="103" y="263"/>
                  <a:pt x="93" y="275"/>
                </a:cubicBezTo>
                <a:cubicBezTo>
                  <a:pt x="0" y="275"/>
                  <a:pt x="0" y="275"/>
                  <a:pt x="0" y="275"/>
                </a:cubicBezTo>
                <a:cubicBezTo>
                  <a:pt x="0" y="345"/>
                  <a:pt x="0" y="345"/>
                  <a:pt x="0" y="345"/>
                </a:cubicBezTo>
                <a:cubicBezTo>
                  <a:pt x="93" y="345"/>
                  <a:pt x="93" y="345"/>
                  <a:pt x="93" y="345"/>
                </a:cubicBezTo>
                <a:cubicBezTo>
                  <a:pt x="103" y="358"/>
                  <a:pt x="119" y="366"/>
                  <a:pt x="136" y="366"/>
                </a:cubicBezTo>
                <a:cubicBezTo>
                  <a:pt x="167" y="366"/>
                  <a:pt x="192" y="341"/>
                  <a:pt x="192" y="310"/>
                </a:cubicBezTo>
                <a:cubicBezTo>
                  <a:pt x="192" y="308"/>
                  <a:pt x="192" y="306"/>
                  <a:pt x="192" y="304"/>
                </a:cubicBezTo>
                <a:cubicBezTo>
                  <a:pt x="224" y="272"/>
                  <a:pt x="224" y="272"/>
                  <a:pt x="224" y="272"/>
                </a:cubicBezTo>
                <a:cubicBezTo>
                  <a:pt x="246" y="284"/>
                  <a:pt x="270" y="291"/>
                  <a:pt x="296" y="291"/>
                </a:cubicBezTo>
                <a:cubicBezTo>
                  <a:pt x="376" y="291"/>
                  <a:pt x="442" y="226"/>
                  <a:pt x="442" y="146"/>
                </a:cubicBezTo>
                <a:lnTo>
                  <a:pt x="372" y="146"/>
                </a:lnTo>
                <a:close/>
                <a:moveTo>
                  <a:pt x="139" y="333"/>
                </a:moveTo>
                <a:cubicBezTo>
                  <a:pt x="125" y="335"/>
                  <a:pt x="112" y="322"/>
                  <a:pt x="114" y="307"/>
                </a:cubicBezTo>
                <a:cubicBezTo>
                  <a:pt x="115" y="297"/>
                  <a:pt x="123" y="289"/>
                  <a:pt x="133" y="288"/>
                </a:cubicBezTo>
                <a:cubicBezTo>
                  <a:pt x="148" y="286"/>
                  <a:pt x="161" y="298"/>
                  <a:pt x="159" y="313"/>
                </a:cubicBezTo>
                <a:cubicBezTo>
                  <a:pt x="157" y="323"/>
                  <a:pt x="149" y="331"/>
                  <a:pt x="139" y="3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63" name="Freeform 31"/>
          <p:cNvSpPr>
            <a:spLocks noEditPoints="1"/>
          </p:cNvSpPr>
          <p:nvPr userDrawn="1"/>
        </p:nvSpPr>
        <p:spPr bwMode="auto">
          <a:xfrm>
            <a:off x="1937261" y="6204938"/>
            <a:ext cx="184784" cy="295820"/>
          </a:xfrm>
          <a:custGeom>
            <a:avLst/>
            <a:gdLst>
              <a:gd name="T0" fmla="*/ 0 w 276"/>
              <a:gd name="T1" fmla="*/ 415 h 442"/>
              <a:gd name="T2" fmla="*/ 0 w 276"/>
              <a:gd name="T3" fmla="*/ 56 h 442"/>
              <a:gd name="T4" fmla="*/ 28 w 276"/>
              <a:gd name="T5" fmla="*/ 28 h 442"/>
              <a:gd name="T6" fmla="*/ 83 w 276"/>
              <a:gd name="T7" fmla="*/ 28 h 442"/>
              <a:gd name="T8" fmla="*/ 83 w 276"/>
              <a:gd name="T9" fmla="*/ 14 h 442"/>
              <a:gd name="T10" fmla="*/ 97 w 276"/>
              <a:gd name="T11" fmla="*/ 0 h 442"/>
              <a:gd name="T12" fmla="*/ 180 w 276"/>
              <a:gd name="T13" fmla="*/ 0 h 442"/>
              <a:gd name="T14" fmla="*/ 194 w 276"/>
              <a:gd name="T15" fmla="*/ 14 h 442"/>
              <a:gd name="T16" fmla="*/ 194 w 276"/>
              <a:gd name="T17" fmla="*/ 28 h 442"/>
              <a:gd name="T18" fmla="*/ 249 w 276"/>
              <a:gd name="T19" fmla="*/ 28 h 442"/>
              <a:gd name="T20" fmla="*/ 276 w 276"/>
              <a:gd name="T21" fmla="*/ 56 h 442"/>
              <a:gd name="T22" fmla="*/ 276 w 276"/>
              <a:gd name="T23" fmla="*/ 415 h 442"/>
              <a:gd name="T24" fmla="*/ 249 w 276"/>
              <a:gd name="T25" fmla="*/ 442 h 442"/>
              <a:gd name="T26" fmla="*/ 28 w 276"/>
              <a:gd name="T27" fmla="*/ 442 h 442"/>
              <a:gd name="T28" fmla="*/ 0 w 276"/>
              <a:gd name="T29" fmla="*/ 415 h 442"/>
              <a:gd name="T30" fmla="*/ 42 w 276"/>
              <a:gd name="T31" fmla="*/ 138 h 442"/>
              <a:gd name="T32" fmla="*/ 55 w 276"/>
              <a:gd name="T33" fmla="*/ 152 h 442"/>
              <a:gd name="T34" fmla="*/ 221 w 276"/>
              <a:gd name="T35" fmla="*/ 152 h 442"/>
              <a:gd name="T36" fmla="*/ 235 w 276"/>
              <a:gd name="T37" fmla="*/ 138 h 442"/>
              <a:gd name="T38" fmla="*/ 235 w 276"/>
              <a:gd name="T39" fmla="*/ 83 h 442"/>
              <a:gd name="T40" fmla="*/ 221 w 276"/>
              <a:gd name="T41" fmla="*/ 69 h 442"/>
              <a:gd name="T42" fmla="*/ 55 w 276"/>
              <a:gd name="T43" fmla="*/ 69 h 442"/>
              <a:gd name="T44" fmla="*/ 42 w 276"/>
              <a:gd name="T45" fmla="*/ 83 h 442"/>
              <a:gd name="T46" fmla="*/ 42 w 276"/>
              <a:gd name="T47" fmla="*/ 138 h 442"/>
              <a:gd name="T48" fmla="*/ 42 w 276"/>
              <a:gd name="T49" fmla="*/ 263 h 442"/>
              <a:gd name="T50" fmla="*/ 55 w 276"/>
              <a:gd name="T51" fmla="*/ 277 h 442"/>
              <a:gd name="T52" fmla="*/ 221 w 276"/>
              <a:gd name="T53" fmla="*/ 277 h 442"/>
              <a:gd name="T54" fmla="*/ 235 w 276"/>
              <a:gd name="T55" fmla="*/ 263 h 442"/>
              <a:gd name="T56" fmla="*/ 235 w 276"/>
              <a:gd name="T57" fmla="*/ 208 h 442"/>
              <a:gd name="T58" fmla="*/ 221 w 276"/>
              <a:gd name="T59" fmla="*/ 194 h 442"/>
              <a:gd name="T60" fmla="*/ 55 w 276"/>
              <a:gd name="T61" fmla="*/ 194 h 442"/>
              <a:gd name="T62" fmla="*/ 42 w 276"/>
              <a:gd name="T63" fmla="*/ 208 h 442"/>
              <a:gd name="T64" fmla="*/ 42 w 276"/>
              <a:gd name="T65" fmla="*/ 263 h 442"/>
              <a:gd name="T66" fmla="*/ 42 w 276"/>
              <a:gd name="T67" fmla="*/ 387 h 442"/>
              <a:gd name="T68" fmla="*/ 55 w 276"/>
              <a:gd name="T69" fmla="*/ 401 h 442"/>
              <a:gd name="T70" fmla="*/ 221 w 276"/>
              <a:gd name="T71" fmla="*/ 401 h 442"/>
              <a:gd name="T72" fmla="*/ 235 w 276"/>
              <a:gd name="T73" fmla="*/ 387 h 442"/>
              <a:gd name="T74" fmla="*/ 235 w 276"/>
              <a:gd name="T75" fmla="*/ 332 h 442"/>
              <a:gd name="T76" fmla="*/ 221 w 276"/>
              <a:gd name="T77" fmla="*/ 318 h 442"/>
              <a:gd name="T78" fmla="*/ 55 w 276"/>
              <a:gd name="T79" fmla="*/ 318 h 442"/>
              <a:gd name="T80" fmla="*/ 42 w 276"/>
              <a:gd name="T81" fmla="*/ 332 h 442"/>
              <a:gd name="T82" fmla="*/ 42 w 276"/>
              <a:gd name="T83" fmla="*/ 387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6" h="442">
                <a:moveTo>
                  <a:pt x="0" y="415"/>
                </a:moveTo>
                <a:cubicBezTo>
                  <a:pt x="0" y="56"/>
                  <a:pt x="0" y="56"/>
                  <a:pt x="0" y="56"/>
                </a:cubicBezTo>
                <a:cubicBezTo>
                  <a:pt x="0" y="40"/>
                  <a:pt x="13" y="28"/>
                  <a:pt x="28" y="28"/>
                </a:cubicBezTo>
                <a:cubicBezTo>
                  <a:pt x="83" y="28"/>
                  <a:pt x="83" y="28"/>
                  <a:pt x="83" y="28"/>
                </a:cubicBezTo>
                <a:cubicBezTo>
                  <a:pt x="83" y="14"/>
                  <a:pt x="83" y="14"/>
                  <a:pt x="83" y="14"/>
                </a:cubicBezTo>
                <a:cubicBezTo>
                  <a:pt x="83" y="7"/>
                  <a:pt x="89" y="0"/>
                  <a:pt x="97" y="0"/>
                </a:cubicBezTo>
                <a:cubicBezTo>
                  <a:pt x="180" y="0"/>
                  <a:pt x="180" y="0"/>
                  <a:pt x="180" y="0"/>
                </a:cubicBezTo>
                <a:cubicBezTo>
                  <a:pt x="187" y="0"/>
                  <a:pt x="194" y="7"/>
                  <a:pt x="194" y="14"/>
                </a:cubicBezTo>
                <a:cubicBezTo>
                  <a:pt x="194" y="28"/>
                  <a:pt x="194" y="28"/>
                  <a:pt x="194" y="28"/>
                </a:cubicBezTo>
                <a:cubicBezTo>
                  <a:pt x="249" y="28"/>
                  <a:pt x="249" y="28"/>
                  <a:pt x="249" y="28"/>
                </a:cubicBezTo>
                <a:cubicBezTo>
                  <a:pt x="264" y="28"/>
                  <a:pt x="276" y="40"/>
                  <a:pt x="276" y="56"/>
                </a:cubicBezTo>
                <a:cubicBezTo>
                  <a:pt x="276" y="415"/>
                  <a:pt x="276" y="415"/>
                  <a:pt x="276" y="415"/>
                </a:cubicBezTo>
                <a:cubicBezTo>
                  <a:pt x="276" y="430"/>
                  <a:pt x="264" y="442"/>
                  <a:pt x="249" y="442"/>
                </a:cubicBezTo>
                <a:cubicBezTo>
                  <a:pt x="28" y="442"/>
                  <a:pt x="28" y="442"/>
                  <a:pt x="28" y="442"/>
                </a:cubicBezTo>
                <a:cubicBezTo>
                  <a:pt x="13" y="442"/>
                  <a:pt x="0" y="430"/>
                  <a:pt x="0" y="415"/>
                </a:cubicBezTo>
                <a:close/>
                <a:moveTo>
                  <a:pt x="42" y="138"/>
                </a:moveTo>
                <a:cubicBezTo>
                  <a:pt x="42" y="146"/>
                  <a:pt x="48" y="152"/>
                  <a:pt x="55" y="152"/>
                </a:cubicBezTo>
                <a:cubicBezTo>
                  <a:pt x="221" y="152"/>
                  <a:pt x="221" y="152"/>
                  <a:pt x="221" y="152"/>
                </a:cubicBezTo>
                <a:cubicBezTo>
                  <a:pt x="229" y="152"/>
                  <a:pt x="235" y="146"/>
                  <a:pt x="235" y="138"/>
                </a:cubicBezTo>
                <a:cubicBezTo>
                  <a:pt x="235" y="83"/>
                  <a:pt x="235" y="83"/>
                  <a:pt x="235" y="83"/>
                </a:cubicBezTo>
                <a:cubicBezTo>
                  <a:pt x="235" y="76"/>
                  <a:pt x="229" y="69"/>
                  <a:pt x="221" y="69"/>
                </a:cubicBezTo>
                <a:cubicBezTo>
                  <a:pt x="55" y="69"/>
                  <a:pt x="55" y="69"/>
                  <a:pt x="55" y="69"/>
                </a:cubicBezTo>
                <a:cubicBezTo>
                  <a:pt x="48" y="69"/>
                  <a:pt x="42" y="76"/>
                  <a:pt x="42" y="83"/>
                </a:cubicBezTo>
                <a:cubicBezTo>
                  <a:pt x="42" y="138"/>
                  <a:pt x="42" y="138"/>
                  <a:pt x="42" y="138"/>
                </a:cubicBezTo>
                <a:close/>
                <a:moveTo>
                  <a:pt x="42" y="263"/>
                </a:moveTo>
                <a:cubicBezTo>
                  <a:pt x="42" y="270"/>
                  <a:pt x="48" y="277"/>
                  <a:pt x="55" y="277"/>
                </a:cubicBezTo>
                <a:cubicBezTo>
                  <a:pt x="221" y="277"/>
                  <a:pt x="221" y="277"/>
                  <a:pt x="221" y="277"/>
                </a:cubicBezTo>
                <a:cubicBezTo>
                  <a:pt x="229" y="277"/>
                  <a:pt x="235" y="270"/>
                  <a:pt x="235" y="263"/>
                </a:cubicBezTo>
                <a:cubicBezTo>
                  <a:pt x="235" y="208"/>
                  <a:pt x="235" y="208"/>
                  <a:pt x="235" y="208"/>
                </a:cubicBezTo>
                <a:cubicBezTo>
                  <a:pt x="235" y="200"/>
                  <a:pt x="229" y="194"/>
                  <a:pt x="221" y="194"/>
                </a:cubicBezTo>
                <a:cubicBezTo>
                  <a:pt x="55" y="194"/>
                  <a:pt x="55" y="194"/>
                  <a:pt x="55" y="194"/>
                </a:cubicBezTo>
                <a:cubicBezTo>
                  <a:pt x="48" y="194"/>
                  <a:pt x="42" y="200"/>
                  <a:pt x="42" y="208"/>
                </a:cubicBezTo>
                <a:cubicBezTo>
                  <a:pt x="42" y="263"/>
                  <a:pt x="42" y="263"/>
                  <a:pt x="42" y="263"/>
                </a:cubicBezTo>
                <a:close/>
                <a:moveTo>
                  <a:pt x="42" y="387"/>
                </a:moveTo>
                <a:cubicBezTo>
                  <a:pt x="42" y="395"/>
                  <a:pt x="48" y="401"/>
                  <a:pt x="55" y="401"/>
                </a:cubicBezTo>
                <a:cubicBezTo>
                  <a:pt x="221" y="401"/>
                  <a:pt x="221" y="401"/>
                  <a:pt x="221" y="401"/>
                </a:cubicBezTo>
                <a:cubicBezTo>
                  <a:pt x="229" y="401"/>
                  <a:pt x="235" y="395"/>
                  <a:pt x="235" y="387"/>
                </a:cubicBezTo>
                <a:cubicBezTo>
                  <a:pt x="235" y="332"/>
                  <a:pt x="235" y="332"/>
                  <a:pt x="235" y="332"/>
                </a:cubicBezTo>
                <a:cubicBezTo>
                  <a:pt x="235" y="324"/>
                  <a:pt x="229" y="318"/>
                  <a:pt x="221" y="318"/>
                </a:cubicBezTo>
                <a:cubicBezTo>
                  <a:pt x="55" y="318"/>
                  <a:pt x="55" y="318"/>
                  <a:pt x="55" y="318"/>
                </a:cubicBezTo>
                <a:cubicBezTo>
                  <a:pt x="48" y="318"/>
                  <a:pt x="42" y="324"/>
                  <a:pt x="42" y="332"/>
                </a:cubicBezTo>
                <a:lnTo>
                  <a:pt x="42" y="38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9"/>
          <p:cNvSpPr>
            <a:spLocks noEditPoints="1"/>
          </p:cNvSpPr>
          <p:nvPr userDrawn="1"/>
        </p:nvSpPr>
        <p:spPr bwMode="auto">
          <a:xfrm>
            <a:off x="1909034" y="5576685"/>
            <a:ext cx="241240" cy="287548"/>
          </a:xfrm>
          <a:custGeom>
            <a:avLst/>
            <a:gdLst>
              <a:gd name="T0" fmla="*/ 269 w 386"/>
              <a:gd name="T1" fmla="*/ 117 h 460"/>
              <a:gd name="T2" fmla="*/ 369 w 386"/>
              <a:gd name="T3" fmla="*/ 152 h 460"/>
              <a:gd name="T4" fmla="*/ 386 w 386"/>
              <a:gd name="T5" fmla="*/ 100 h 460"/>
              <a:gd name="T6" fmla="*/ 252 w 386"/>
              <a:gd name="T7" fmla="*/ 0 h 460"/>
              <a:gd name="T8" fmla="*/ 7 w 386"/>
              <a:gd name="T9" fmla="*/ 86 h 460"/>
              <a:gd name="T10" fmla="*/ 5 w 386"/>
              <a:gd name="T11" fmla="*/ 88 h 460"/>
              <a:gd name="T12" fmla="*/ 3 w 386"/>
              <a:gd name="T13" fmla="*/ 89 h 460"/>
              <a:gd name="T14" fmla="*/ 2 w 386"/>
              <a:gd name="T15" fmla="*/ 91 h 460"/>
              <a:gd name="T16" fmla="*/ 1 w 386"/>
              <a:gd name="T17" fmla="*/ 94 h 460"/>
              <a:gd name="T18" fmla="*/ 0 w 386"/>
              <a:gd name="T19" fmla="*/ 96 h 460"/>
              <a:gd name="T20" fmla="*/ 0 w 386"/>
              <a:gd name="T21" fmla="*/ 98 h 460"/>
              <a:gd name="T22" fmla="*/ 0 w 386"/>
              <a:gd name="T23" fmla="*/ 135 h 460"/>
              <a:gd name="T24" fmla="*/ 34 w 386"/>
              <a:gd name="T25" fmla="*/ 117 h 460"/>
              <a:gd name="T26" fmla="*/ 7 w 386"/>
              <a:gd name="T27" fmla="*/ 239 h 460"/>
              <a:gd name="T28" fmla="*/ 5 w 386"/>
              <a:gd name="T29" fmla="*/ 241 h 460"/>
              <a:gd name="T30" fmla="*/ 3 w 386"/>
              <a:gd name="T31" fmla="*/ 242 h 460"/>
              <a:gd name="T32" fmla="*/ 2 w 386"/>
              <a:gd name="T33" fmla="*/ 245 h 460"/>
              <a:gd name="T34" fmla="*/ 1 w 386"/>
              <a:gd name="T35" fmla="*/ 247 h 460"/>
              <a:gd name="T36" fmla="*/ 0 w 386"/>
              <a:gd name="T37" fmla="*/ 249 h 460"/>
              <a:gd name="T38" fmla="*/ 0 w 386"/>
              <a:gd name="T39" fmla="*/ 251 h 460"/>
              <a:gd name="T40" fmla="*/ 0 w 386"/>
              <a:gd name="T41" fmla="*/ 288 h 460"/>
              <a:gd name="T42" fmla="*/ 34 w 386"/>
              <a:gd name="T43" fmla="*/ 270 h 460"/>
              <a:gd name="T44" fmla="*/ 45 w 386"/>
              <a:gd name="T45" fmla="*/ 435 h 460"/>
              <a:gd name="T46" fmla="*/ 69 w 386"/>
              <a:gd name="T47" fmla="*/ 458 h 460"/>
              <a:gd name="T48" fmla="*/ 326 w 386"/>
              <a:gd name="T49" fmla="*/ 460 h 460"/>
              <a:gd name="T50" fmla="*/ 269 w 386"/>
              <a:gd name="T51" fmla="*/ 309 h 460"/>
              <a:gd name="T52" fmla="*/ 352 w 386"/>
              <a:gd name="T53" fmla="*/ 288 h 460"/>
              <a:gd name="T54" fmla="*/ 386 w 386"/>
              <a:gd name="T55" fmla="*/ 254 h 460"/>
              <a:gd name="T56" fmla="*/ 151 w 386"/>
              <a:gd name="T57" fmla="*/ 187 h 460"/>
              <a:gd name="T58" fmla="*/ 151 w 386"/>
              <a:gd name="T59" fmla="*/ 236 h 460"/>
              <a:gd name="T60" fmla="*/ 269 w 386"/>
              <a:gd name="T61" fmla="*/ 50 h 460"/>
              <a:gd name="T62" fmla="*/ 151 w 386"/>
              <a:gd name="T63" fmla="*/ 34 h 460"/>
              <a:gd name="T64" fmla="*/ 151 w 386"/>
              <a:gd name="T65" fmla="*/ 83 h 460"/>
              <a:gd name="T66" fmla="*/ 117 w 386"/>
              <a:gd name="T67" fmla="*/ 50 h 460"/>
              <a:gd name="T68" fmla="*/ 235 w 386"/>
              <a:gd name="T69" fmla="*/ 117 h 460"/>
              <a:gd name="T70" fmla="*/ 151 w 386"/>
              <a:gd name="T71" fmla="*/ 117 h 460"/>
              <a:gd name="T72" fmla="*/ 117 w 386"/>
              <a:gd name="T73" fmla="*/ 203 h 460"/>
              <a:gd name="T74" fmla="*/ 106 w 386"/>
              <a:gd name="T75" fmla="*/ 397 h 460"/>
              <a:gd name="T76" fmla="*/ 106 w 386"/>
              <a:gd name="T77" fmla="*/ 397 h 460"/>
              <a:gd name="T78" fmla="*/ 280 w 386"/>
              <a:gd name="T79" fmla="*/ 397 h 460"/>
              <a:gd name="T80" fmla="*/ 193 w 386"/>
              <a:gd name="T81" fmla="*/ 347 h 460"/>
              <a:gd name="T82" fmla="*/ 235 w 386"/>
              <a:gd name="T83" fmla="*/ 270 h 460"/>
              <a:gd name="T84" fmla="*/ 269 w 386"/>
              <a:gd name="T85" fmla="*/ 204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86" h="460">
                <a:moveTo>
                  <a:pt x="378" y="239"/>
                </a:moveTo>
                <a:cubicBezTo>
                  <a:pt x="269" y="161"/>
                  <a:pt x="269" y="161"/>
                  <a:pt x="269" y="161"/>
                </a:cubicBezTo>
                <a:cubicBezTo>
                  <a:pt x="269" y="117"/>
                  <a:pt x="269" y="117"/>
                  <a:pt x="269" y="117"/>
                </a:cubicBezTo>
                <a:cubicBezTo>
                  <a:pt x="352" y="117"/>
                  <a:pt x="352" y="117"/>
                  <a:pt x="352" y="117"/>
                </a:cubicBezTo>
                <a:cubicBezTo>
                  <a:pt x="352" y="135"/>
                  <a:pt x="352" y="135"/>
                  <a:pt x="352" y="135"/>
                </a:cubicBezTo>
                <a:cubicBezTo>
                  <a:pt x="352" y="144"/>
                  <a:pt x="360" y="152"/>
                  <a:pt x="369" y="152"/>
                </a:cubicBezTo>
                <a:cubicBezTo>
                  <a:pt x="379" y="152"/>
                  <a:pt x="386" y="144"/>
                  <a:pt x="386" y="135"/>
                </a:cubicBezTo>
                <a:cubicBezTo>
                  <a:pt x="386" y="100"/>
                  <a:pt x="386" y="100"/>
                  <a:pt x="386" y="100"/>
                </a:cubicBezTo>
                <a:cubicBezTo>
                  <a:pt x="386" y="100"/>
                  <a:pt x="386" y="100"/>
                  <a:pt x="386" y="100"/>
                </a:cubicBezTo>
                <a:cubicBezTo>
                  <a:pt x="386" y="94"/>
                  <a:pt x="383" y="88"/>
                  <a:pt x="378" y="85"/>
                </a:cubicBezTo>
                <a:cubicBezTo>
                  <a:pt x="262" y="3"/>
                  <a:pt x="262" y="3"/>
                  <a:pt x="262" y="3"/>
                </a:cubicBezTo>
                <a:cubicBezTo>
                  <a:pt x="259" y="1"/>
                  <a:pt x="255" y="0"/>
                  <a:pt x="252" y="0"/>
                </a:cubicBezTo>
                <a:cubicBezTo>
                  <a:pt x="133" y="0"/>
                  <a:pt x="133" y="0"/>
                  <a:pt x="133" y="0"/>
                </a:cubicBezTo>
                <a:cubicBezTo>
                  <a:pt x="130" y="0"/>
                  <a:pt x="126" y="1"/>
                  <a:pt x="123" y="3"/>
                </a:cubicBezTo>
                <a:cubicBezTo>
                  <a:pt x="7" y="86"/>
                  <a:pt x="7" y="86"/>
                  <a:pt x="7" y="86"/>
                </a:cubicBezTo>
                <a:cubicBezTo>
                  <a:pt x="7" y="86"/>
                  <a:pt x="6" y="86"/>
                  <a:pt x="6" y="86"/>
                </a:cubicBezTo>
                <a:cubicBezTo>
                  <a:pt x="6" y="86"/>
                  <a:pt x="6" y="87"/>
                  <a:pt x="6" y="87"/>
                </a:cubicBezTo>
                <a:cubicBezTo>
                  <a:pt x="5" y="87"/>
                  <a:pt x="5" y="87"/>
                  <a:pt x="5" y="88"/>
                </a:cubicBezTo>
                <a:cubicBezTo>
                  <a:pt x="5" y="88"/>
                  <a:pt x="5" y="88"/>
                  <a:pt x="5" y="88"/>
                </a:cubicBezTo>
                <a:cubicBezTo>
                  <a:pt x="4" y="88"/>
                  <a:pt x="4" y="89"/>
                  <a:pt x="4" y="89"/>
                </a:cubicBezTo>
                <a:cubicBezTo>
                  <a:pt x="4" y="89"/>
                  <a:pt x="4" y="89"/>
                  <a:pt x="3" y="89"/>
                </a:cubicBezTo>
                <a:cubicBezTo>
                  <a:pt x="3" y="89"/>
                  <a:pt x="3" y="90"/>
                  <a:pt x="3" y="90"/>
                </a:cubicBezTo>
                <a:cubicBezTo>
                  <a:pt x="3" y="90"/>
                  <a:pt x="3" y="90"/>
                  <a:pt x="2" y="91"/>
                </a:cubicBezTo>
                <a:cubicBezTo>
                  <a:pt x="2" y="91"/>
                  <a:pt x="2" y="91"/>
                  <a:pt x="2" y="91"/>
                </a:cubicBezTo>
                <a:cubicBezTo>
                  <a:pt x="2" y="92"/>
                  <a:pt x="2" y="92"/>
                  <a:pt x="2" y="92"/>
                </a:cubicBezTo>
                <a:cubicBezTo>
                  <a:pt x="2" y="92"/>
                  <a:pt x="1" y="93"/>
                  <a:pt x="1" y="93"/>
                </a:cubicBezTo>
                <a:cubicBezTo>
                  <a:pt x="1" y="93"/>
                  <a:pt x="1" y="93"/>
                  <a:pt x="1" y="94"/>
                </a:cubicBezTo>
                <a:cubicBezTo>
                  <a:pt x="1" y="94"/>
                  <a:pt x="1" y="94"/>
                  <a:pt x="1" y="95"/>
                </a:cubicBezTo>
                <a:cubicBezTo>
                  <a:pt x="0" y="95"/>
                  <a:pt x="0" y="95"/>
                  <a:pt x="0" y="95"/>
                </a:cubicBezTo>
                <a:cubicBezTo>
                  <a:pt x="0" y="96"/>
                  <a:pt x="0" y="96"/>
                  <a:pt x="0" y="96"/>
                </a:cubicBezTo>
                <a:cubicBezTo>
                  <a:pt x="0" y="96"/>
                  <a:pt x="0" y="97"/>
                  <a:pt x="0" y="97"/>
                </a:cubicBezTo>
                <a:cubicBezTo>
                  <a:pt x="0" y="97"/>
                  <a:pt x="0" y="97"/>
                  <a:pt x="0" y="98"/>
                </a:cubicBezTo>
                <a:cubicBezTo>
                  <a:pt x="0" y="98"/>
                  <a:pt x="0" y="98"/>
                  <a:pt x="0" y="98"/>
                </a:cubicBezTo>
                <a:cubicBezTo>
                  <a:pt x="0" y="99"/>
                  <a:pt x="0" y="99"/>
                  <a:pt x="0" y="100"/>
                </a:cubicBezTo>
                <a:cubicBezTo>
                  <a:pt x="0" y="100"/>
                  <a:pt x="0" y="100"/>
                  <a:pt x="0" y="100"/>
                </a:cubicBezTo>
                <a:cubicBezTo>
                  <a:pt x="0" y="135"/>
                  <a:pt x="0" y="135"/>
                  <a:pt x="0" y="135"/>
                </a:cubicBezTo>
                <a:cubicBezTo>
                  <a:pt x="0" y="144"/>
                  <a:pt x="7" y="152"/>
                  <a:pt x="17" y="152"/>
                </a:cubicBezTo>
                <a:cubicBezTo>
                  <a:pt x="26" y="152"/>
                  <a:pt x="34" y="144"/>
                  <a:pt x="34" y="135"/>
                </a:cubicBezTo>
                <a:cubicBezTo>
                  <a:pt x="34" y="117"/>
                  <a:pt x="34" y="117"/>
                  <a:pt x="34" y="117"/>
                </a:cubicBezTo>
                <a:cubicBezTo>
                  <a:pt x="117" y="117"/>
                  <a:pt x="117" y="117"/>
                  <a:pt x="117" y="117"/>
                </a:cubicBezTo>
                <a:cubicBezTo>
                  <a:pt x="117" y="161"/>
                  <a:pt x="117" y="161"/>
                  <a:pt x="117" y="161"/>
                </a:cubicBezTo>
                <a:cubicBezTo>
                  <a:pt x="7" y="239"/>
                  <a:pt x="7" y="239"/>
                  <a:pt x="7" y="239"/>
                </a:cubicBezTo>
                <a:cubicBezTo>
                  <a:pt x="7" y="239"/>
                  <a:pt x="6" y="239"/>
                  <a:pt x="6" y="240"/>
                </a:cubicBezTo>
                <a:cubicBezTo>
                  <a:pt x="6" y="240"/>
                  <a:pt x="6" y="240"/>
                  <a:pt x="6" y="240"/>
                </a:cubicBezTo>
                <a:cubicBezTo>
                  <a:pt x="5" y="240"/>
                  <a:pt x="5" y="241"/>
                  <a:pt x="5" y="241"/>
                </a:cubicBezTo>
                <a:cubicBezTo>
                  <a:pt x="5" y="241"/>
                  <a:pt x="5" y="241"/>
                  <a:pt x="5" y="241"/>
                </a:cubicBezTo>
                <a:cubicBezTo>
                  <a:pt x="4" y="241"/>
                  <a:pt x="4" y="242"/>
                  <a:pt x="4" y="242"/>
                </a:cubicBezTo>
                <a:cubicBezTo>
                  <a:pt x="4" y="242"/>
                  <a:pt x="4" y="242"/>
                  <a:pt x="3" y="242"/>
                </a:cubicBezTo>
                <a:cubicBezTo>
                  <a:pt x="3" y="243"/>
                  <a:pt x="3" y="243"/>
                  <a:pt x="3" y="243"/>
                </a:cubicBezTo>
                <a:cubicBezTo>
                  <a:pt x="3" y="243"/>
                  <a:pt x="3" y="244"/>
                  <a:pt x="2" y="244"/>
                </a:cubicBezTo>
                <a:cubicBezTo>
                  <a:pt x="2" y="244"/>
                  <a:pt x="2" y="244"/>
                  <a:pt x="2" y="245"/>
                </a:cubicBezTo>
                <a:cubicBezTo>
                  <a:pt x="2" y="245"/>
                  <a:pt x="2" y="245"/>
                  <a:pt x="2" y="245"/>
                </a:cubicBezTo>
                <a:cubicBezTo>
                  <a:pt x="2" y="245"/>
                  <a:pt x="1" y="246"/>
                  <a:pt x="1" y="246"/>
                </a:cubicBezTo>
                <a:cubicBezTo>
                  <a:pt x="1" y="246"/>
                  <a:pt x="1" y="247"/>
                  <a:pt x="1" y="247"/>
                </a:cubicBezTo>
                <a:cubicBezTo>
                  <a:pt x="1" y="247"/>
                  <a:pt x="1" y="247"/>
                  <a:pt x="1" y="248"/>
                </a:cubicBezTo>
                <a:cubicBezTo>
                  <a:pt x="0" y="248"/>
                  <a:pt x="0" y="248"/>
                  <a:pt x="0" y="248"/>
                </a:cubicBezTo>
                <a:cubicBezTo>
                  <a:pt x="0" y="249"/>
                  <a:pt x="0" y="249"/>
                  <a:pt x="0" y="249"/>
                </a:cubicBezTo>
                <a:cubicBezTo>
                  <a:pt x="0" y="249"/>
                  <a:pt x="0" y="250"/>
                  <a:pt x="0" y="250"/>
                </a:cubicBezTo>
                <a:cubicBezTo>
                  <a:pt x="0" y="250"/>
                  <a:pt x="0" y="251"/>
                  <a:pt x="0" y="251"/>
                </a:cubicBezTo>
                <a:cubicBezTo>
                  <a:pt x="0" y="251"/>
                  <a:pt x="0" y="251"/>
                  <a:pt x="0" y="251"/>
                </a:cubicBezTo>
                <a:cubicBezTo>
                  <a:pt x="0" y="252"/>
                  <a:pt x="0" y="253"/>
                  <a:pt x="0" y="253"/>
                </a:cubicBezTo>
                <a:cubicBezTo>
                  <a:pt x="0" y="253"/>
                  <a:pt x="0" y="253"/>
                  <a:pt x="0" y="253"/>
                </a:cubicBezTo>
                <a:cubicBezTo>
                  <a:pt x="0" y="288"/>
                  <a:pt x="0" y="288"/>
                  <a:pt x="0" y="288"/>
                </a:cubicBezTo>
                <a:cubicBezTo>
                  <a:pt x="0" y="298"/>
                  <a:pt x="7" y="305"/>
                  <a:pt x="17" y="305"/>
                </a:cubicBezTo>
                <a:cubicBezTo>
                  <a:pt x="26" y="305"/>
                  <a:pt x="34" y="298"/>
                  <a:pt x="34" y="288"/>
                </a:cubicBezTo>
                <a:cubicBezTo>
                  <a:pt x="34" y="270"/>
                  <a:pt x="34" y="270"/>
                  <a:pt x="34" y="270"/>
                </a:cubicBezTo>
                <a:cubicBezTo>
                  <a:pt x="117" y="270"/>
                  <a:pt x="117" y="270"/>
                  <a:pt x="117" y="270"/>
                </a:cubicBezTo>
                <a:cubicBezTo>
                  <a:pt x="117" y="309"/>
                  <a:pt x="117" y="309"/>
                  <a:pt x="117" y="309"/>
                </a:cubicBezTo>
                <a:cubicBezTo>
                  <a:pt x="45" y="435"/>
                  <a:pt x="45" y="435"/>
                  <a:pt x="45" y="435"/>
                </a:cubicBezTo>
                <a:cubicBezTo>
                  <a:pt x="41" y="441"/>
                  <a:pt x="43" y="450"/>
                  <a:pt x="48" y="455"/>
                </a:cubicBezTo>
                <a:cubicBezTo>
                  <a:pt x="51" y="459"/>
                  <a:pt x="56" y="460"/>
                  <a:pt x="60" y="460"/>
                </a:cubicBezTo>
                <a:cubicBezTo>
                  <a:pt x="63" y="460"/>
                  <a:pt x="66" y="460"/>
                  <a:pt x="69" y="458"/>
                </a:cubicBezTo>
                <a:cubicBezTo>
                  <a:pt x="193" y="388"/>
                  <a:pt x="193" y="388"/>
                  <a:pt x="193" y="388"/>
                </a:cubicBezTo>
                <a:cubicBezTo>
                  <a:pt x="317" y="458"/>
                  <a:pt x="317" y="458"/>
                  <a:pt x="317" y="458"/>
                </a:cubicBezTo>
                <a:cubicBezTo>
                  <a:pt x="320" y="460"/>
                  <a:pt x="323" y="460"/>
                  <a:pt x="326" y="460"/>
                </a:cubicBezTo>
                <a:cubicBezTo>
                  <a:pt x="330" y="460"/>
                  <a:pt x="335" y="459"/>
                  <a:pt x="338" y="455"/>
                </a:cubicBezTo>
                <a:cubicBezTo>
                  <a:pt x="343" y="450"/>
                  <a:pt x="345" y="441"/>
                  <a:pt x="341" y="435"/>
                </a:cubicBezTo>
                <a:cubicBezTo>
                  <a:pt x="269" y="309"/>
                  <a:pt x="269" y="309"/>
                  <a:pt x="269" y="309"/>
                </a:cubicBezTo>
                <a:cubicBezTo>
                  <a:pt x="269" y="270"/>
                  <a:pt x="269" y="270"/>
                  <a:pt x="269" y="270"/>
                </a:cubicBezTo>
                <a:cubicBezTo>
                  <a:pt x="352" y="270"/>
                  <a:pt x="352" y="270"/>
                  <a:pt x="352" y="270"/>
                </a:cubicBezTo>
                <a:cubicBezTo>
                  <a:pt x="352" y="288"/>
                  <a:pt x="352" y="288"/>
                  <a:pt x="352" y="288"/>
                </a:cubicBezTo>
                <a:cubicBezTo>
                  <a:pt x="352" y="298"/>
                  <a:pt x="360" y="305"/>
                  <a:pt x="369" y="305"/>
                </a:cubicBezTo>
                <a:cubicBezTo>
                  <a:pt x="379" y="305"/>
                  <a:pt x="386" y="298"/>
                  <a:pt x="386" y="288"/>
                </a:cubicBezTo>
                <a:cubicBezTo>
                  <a:pt x="386" y="254"/>
                  <a:pt x="386" y="254"/>
                  <a:pt x="386" y="254"/>
                </a:cubicBezTo>
                <a:cubicBezTo>
                  <a:pt x="386" y="253"/>
                  <a:pt x="386" y="253"/>
                  <a:pt x="386" y="253"/>
                </a:cubicBezTo>
                <a:cubicBezTo>
                  <a:pt x="386" y="247"/>
                  <a:pt x="383" y="242"/>
                  <a:pt x="378" y="239"/>
                </a:cubicBezTo>
                <a:close/>
                <a:moveTo>
                  <a:pt x="151" y="187"/>
                </a:moveTo>
                <a:cubicBezTo>
                  <a:pt x="235" y="187"/>
                  <a:pt x="235" y="187"/>
                  <a:pt x="235" y="187"/>
                </a:cubicBezTo>
                <a:cubicBezTo>
                  <a:pt x="235" y="236"/>
                  <a:pt x="235" y="236"/>
                  <a:pt x="235" y="236"/>
                </a:cubicBezTo>
                <a:cubicBezTo>
                  <a:pt x="151" y="236"/>
                  <a:pt x="151" y="236"/>
                  <a:pt x="151" y="236"/>
                </a:cubicBezTo>
                <a:lnTo>
                  <a:pt x="151" y="187"/>
                </a:lnTo>
                <a:close/>
                <a:moveTo>
                  <a:pt x="269" y="83"/>
                </a:moveTo>
                <a:cubicBezTo>
                  <a:pt x="269" y="50"/>
                  <a:pt x="269" y="50"/>
                  <a:pt x="269" y="50"/>
                </a:cubicBezTo>
                <a:cubicBezTo>
                  <a:pt x="315" y="83"/>
                  <a:pt x="315" y="83"/>
                  <a:pt x="315" y="83"/>
                </a:cubicBezTo>
                <a:lnTo>
                  <a:pt x="269" y="83"/>
                </a:lnTo>
                <a:close/>
                <a:moveTo>
                  <a:pt x="151" y="34"/>
                </a:moveTo>
                <a:cubicBezTo>
                  <a:pt x="235" y="34"/>
                  <a:pt x="235" y="34"/>
                  <a:pt x="235" y="34"/>
                </a:cubicBezTo>
                <a:cubicBezTo>
                  <a:pt x="235" y="83"/>
                  <a:pt x="235" y="83"/>
                  <a:pt x="235" y="83"/>
                </a:cubicBezTo>
                <a:cubicBezTo>
                  <a:pt x="151" y="83"/>
                  <a:pt x="151" y="83"/>
                  <a:pt x="151" y="83"/>
                </a:cubicBezTo>
                <a:lnTo>
                  <a:pt x="151" y="34"/>
                </a:lnTo>
                <a:close/>
                <a:moveTo>
                  <a:pt x="71" y="83"/>
                </a:moveTo>
                <a:cubicBezTo>
                  <a:pt x="117" y="50"/>
                  <a:pt x="117" y="50"/>
                  <a:pt x="117" y="50"/>
                </a:cubicBezTo>
                <a:cubicBezTo>
                  <a:pt x="117" y="83"/>
                  <a:pt x="117" y="83"/>
                  <a:pt x="117" y="83"/>
                </a:cubicBezTo>
                <a:lnTo>
                  <a:pt x="71" y="83"/>
                </a:lnTo>
                <a:close/>
                <a:moveTo>
                  <a:pt x="235" y="117"/>
                </a:moveTo>
                <a:cubicBezTo>
                  <a:pt x="235" y="153"/>
                  <a:pt x="235" y="153"/>
                  <a:pt x="235" y="153"/>
                </a:cubicBezTo>
                <a:cubicBezTo>
                  <a:pt x="151" y="153"/>
                  <a:pt x="151" y="153"/>
                  <a:pt x="151" y="153"/>
                </a:cubicBezTo>
                <a:cubicBezTo>
                  <a:pt x="151" y="117"/>
                  <a:pt x="151" y="117"/>
                  <a:pt x="151" y="117"/>
                </a:cubicBezTo>
                <a:lnTo>
                  <a:pt x="235" y="117"/>
                </a:lnTo>
                <a:close/>
                <a:moveTo>
                  <a:pt x="71" y="236"/>
                </a:moveTo>
                <a:cubicBezTo>
                  <a:pt x="117" y="203"/>
                  <a:pt x="117" y="203"/>
                  <a:pt x="117" y="203"/>
                </a:cubicBezTo>
                <a:cubicBezTo>
                  <a:pt x="117" y="236"/>
                  <a:pt x="117" y="236"/>
                  <a:pt x="117" y="236"/>
                </a:cubicBezTo>
                <a:lnTo>
                  <a:pt x="71" y="236"/>
                </a:lnTo>
                <a:close/>
                <a:moveTo>
                  <a:pt x="106" y="397"/>
                </a:moveTo>
                <a:cubicBezTo>
                  <a:pt x="138" y="341"/>
                  <a:pt x="138" y="341"/>
                  <a:pt x="138" y="341"/>
                </a:cubicBezTo>
                <a:cubicBezTo>
                  <a:pt x="162" y="365"/>
                  <a:pt x="162" y="365"/>
                  <a:pt x="162" y="365"/>
                </a:cubicBezTo>
                <a:lnTo>
                  <a:pt x="106" y="397"/>
                </a:lnTo>
                <a:close/>
                <a:moveTo>
                  <a:pt x="224" y="365"/>
                </a:moveTo>
                <a:cubicBezTo>
                  <a:pt x="248" y="341"/>
                  <a:pt x="248" y="341"/>
                  <a:pt x="248" y="341"/>
                </a:cubicBezTo>
                <a:cubicBezTo>
                  <a:pt x="280" y="397"/>
                  <a:pt x="280" y="397"/>
                  <a:pt x="280" y="397"/>
                </a:cubicBezTo>
                <a:lnTo>
                  <a:pt x="224" y="365"/>
                </a:lnTo>
                <a:close/>
                <a:moveTo>
                  <a:pt x="235" y="305"/>
                </a:moveTo>
                <a:cubicBezTo>
                  <a:pt x="193" y="347"/>
                  <a:pt x="193" y="347"/>
                  <a:pt x="193" y="347"/>
                </a:cubicBezTo>
                <a:cubicBezTo>
                  <a:pt x="151" y="305"/>
                  <a:pt x="151" y="305"/>
                  <a:pt x="151" y="305"/>
                </a:cubicBezTo>
                <a:cubicBezTo>
                  <a:pt x="151" y="270"/>
                  <a:pt x="151" y="270"/>
                  <a:pt x="151" y="270"/>
                </a:cubicBezTo>
                <a:cubicBezTo>
                  <a:pt x="235" y="270"/>
                  <a:pt x="235" y="270"/>
                  <a:pt x="235" y="270"/>
                </a:cubicBezTo>
                <a:lnTo>
                  <a:pt x="235" y="305"/>
                </a:lnTo>
                <a:close/>
                <a:moveTo>
                  <a:pt x="269" y="236"/>
                </a:moveTo>
                <a:cubicBezTo>
                  <a:pt x="269" y="204"/>
                  <a:pt x="269" y="204"/>
                  <a:pt x="269" y="204"/>
                </a:cubicBezTo>
                <a:cubicBezTo>
                  <a:pt x="315" y="236"/>
                  <a:pt x="315" y="236"/>
                  <a:pt x="315" y="236"/>
                </a:cubicBezTo>
                <a:lnTo>
                  <a:pt x="269" y="23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89" name="Group 388"/>
          <p:cNvGrpSpPr/>
          <p:nvPr userDrawn="1"/>
        </p:nvGrpSpPr>
        <p:grpSpPr>
          <a:xfrm>
            <a:off x="1877417" y="4907430"/>
            <a:ext cx="304472" cy="356178"/>
            <a:chOff x="1624012" y="1554163"/>
            <a:chExt cx="4365626" cy="5106987"/>
          </a:xfrm>
          <a:solidFill>
            <a:schemeClr val="tx1"/>
          </a:solidFill>
        </p:grpSpPr>
        <p:sp>
          <p:nvSpPr>
            <p:cNvPr id="390" name="Freeform 17"/>
            <p:cNvSpPr>
              <a:spLocks/>
            </p:cNvSpPr>
            <p:nvPr/>
          </p:nvSpPr>
          <p:spPr bwMode="auto">
            <a:xfrm>
              <a:off x="2884488" y="4511675"/>
              <a:ext cx="1238250" cy="2149475"/>
            </a:xfrm>
            <a:custGeom>
              <a:avLst/>
              <a:gdLst>
                <a:gd name="T0" fmla="*/ 94 w 110"/>
                <a:gd name="T1" fmla="*/ 0 h 191"/>
                <a:gd name="T2" fmla="*/ 81 w 110"/>
                <a:gd name="T3" fmla="*/ 14 h 191"/>
                <a:gd name="T4" fmla="*/ 8 w 110"/>
                <a:gd name="T5" fmla="*/ 86 h 191"/>
                <a:gd name="T6" fmla="*/ 1 w 110"/>
                <a:gd name="T7" fmla="*/ 172 h 191"/>
                <a:gd name="T8" fmla="*/ 5 w 110"/>
                <a:gd name="T9" fmla="*/ 185 h 191"/>
                <a:gd name="T10" fmla="*/ 18 w 110"/>
                <a:gd name="T11" fmla="*/ 191 h 191"/>
                <a:gd name="T12" fmla="*/ 92 w 110"/>
                <a:gd name="T13" fmla="*/ 191 h 191"/>
                <a:gd name="T14" fmla="*/ 105 w 110"/>
                <a:gd name="T15" fmla="*/ 185 h 191"/>
                <a:gd name="T16" fmla="*/ 109 w 110"/>
                <a:gd name="T17" fmla="*/ 172 h 191"/>
                <a:gd name="T18" fmla="*/ 94 w 110"/>
                <a:gd name="T19"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91">
                  <a:moveTo>
                    <a:pt x="94" y="0"/>
                  </a:moveTo>
                  <a:cubicBezTo>
                    <a:pt x="81" y="14"/>
                    <a:pt x="81" y="14"/>
                    <a:pt x="81" y="14"/>
                  </a:cubicBezTo>
                  <a:cubicBezTo>
                    <a:pt x="59" y="38"/>
                    <a:pt x="33" y="63"/>
                    <a:pt x="8" y="86"/>
                  </a:cubicBezTo>
                  <a:cubicBezTo>
                    <a:pt x="1" y="172"/>
                    <a:pt x="1" y="172"/>
                    <a:pt x="1" y="172"/>
                  </a:cubicBezTo>
                  <a:cubicBezTo>
                    <a:pt x="0" y="177"/>
                    <a:pt x="2" y="182"/>
                    <a:pt x="5" y="185"/>
                  </a:cubicBezTo>
                  <a:cubicBezTo>
                    <a:pt x="8" y="189"/>
                    <a:pt x="13" y="191"/>
                    <a:pt x="18" y="191"/>
                  </a:cubicBezTo>
                  <a:cubicBezTo>
                    <a:pt x="92" y="191"/>
                    <a:pt x="92" y="191"/>
                    <a:pt x="92" y="191"/>
                  </a:cubicBezTo>
                  <a:cubicBezTo>
                    <a:pt x="97" y="191"/>
                    <a:pt x="102" y="189"/>
                    <a:pt x="105" y="185"/>
                  </a:cubicBezTo>
                  <a:cubicBezTo>
                    <a:pt x="108" y="182"/>
                    <a:pt x="110" y="177"/>
                    <a:pt x="109" y="172"/>
                  </a:cubicBezTo>
                  <a:lnTo>
                    <a:pt x="9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8"/>
            <p:cNvSpPr>
              <a:spLocks/>
            </p:cNvSpPr>
            <p:nvPr/>
          </p:nvSpPr>
          <p:spPr bwMode="auto">
            <a:xfrm>
              <a:off x="3076575" y="3611563"/>
              <a:ext cx="865188" cy="866775"/>
            </a:xfrm>
            <a:custGeom>
              <a:avLst/>
              <a:gdLst>
                <a:gd name="T0" fmla="*/ 27 w 77"/>
                <a:gd name="T1" fmla="*/ 7 h 77"/>
                <a:gd name="T2" fmla="*/ 7 w 77"/>
                <a:gd name="T3" fmla="*/ 51 h 77"/>
                <a:gd name="T4" fmla="*/ 51 w 77"/>
                <a:gd name="T5" fmla="*/ 70 h 77"/>
                <a:gd name="T6" fmla="*/ 71 w 77"/>
                <a:gd name="T7" fmla="*/ 26 h 77"/>
                <a:gd name="T8" fmla="*/ 27 w 77"/>
                <a:gd name="T9" fmla="*/ 7 h 77"/>
              </a:gdLst>
              <a:ahLst/>
              <a:cxnLst>
                <a:cxn ang="0">
                  <a:pos x="T0" y="T1"/>
                </a:cxn>
                <a:cxn ang="0">
                  <a:pos x="T2" y="T3"/>
                </a:cxn>
                <a:cxn ang="0">
                  <a:pos x="T4" y="T5"/>
                </a:cxn>
                <a:cxn ang="0">
                  <a:pos x="T6" y="T7"/>
                </a:cxn>
                <a:cxn ang="0">
                  <a:pos x="T8" y="T9"/>
                </a:cxn>
              </a:cxnLst>
              <a:rect l="0" t="0" r="r" b="b"/>
              <a:pathLst>
                <a:path w="77" h="77">
                  <a:moveTo>
                    <a:pt x="27" y="7"/>
                  </a:moveTo>
                  <a:cubicBezTo>
                    <a:pt x="9" y="13"/>
                    <a:pt x="0" y="33"/>
                    <a:pt x="7" y="51"/>
                  </a:cubicBezTo>
                  <a:cubicBezTo>
                    <a:pt x="14" y="68"/>
                    <a:pt x="34" y="77"/>
                    <a:pt x="51" y="70"/>
                  </a:cubicBezTo>
                  <a:cubicBezTo>
                    <a:pt x="69" y="63"/>
                    <a:pt x="77" y="43"/>
                    <a:pt x="71" y="26"/>
                  </a:cubicBezTo>
                  <a:cubicBezTo>
                    <a:pt x="64" y="8"/>
                    <a:pt x="44" y="0"/>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9"/>
            <p:cNvSpPr>
              <a:spLocks/>
            </p:cNvSpPr>
            <p:nvPr/>
          </p:nvSpPr>
          <p:spPr bwMode="auto">
            <a:xfrm>
              <a:off x="1624012" y="4186238"/>
              <a:ext cx="1822450" cy="1754187"/>
            </a:xfrm>
            <a:custGeom>
              <a:avLst/>
              <a:gdLst>
                <a:gd name="T0" fmla="*/ 162 w 162"/>
                <a:gd name="T1" fmla="*/ 44 h 156"/>
                <a:gd name="T2" fmla="*/ 115 w 162"/>
                <a:gd name="T3" fmla="*/ 8 h 156"/>
                <a:gd name="T4" fmla="*/ 113 w 162"/>
                <a:gd name="T5" fmla="*/ 0 h 156"/>
                <a:gd name="T6" fmla="*/ 104 w 162"/>
                <a:gd name="T7" fmla="*/ 3 h 156"/>
                <a:gd name="T8" fmla="*/ 59 w 162"/>
                <a:gd name="T9" fmla="*/ 47 h 156"/>
                <a:gd name="T10" fmla="*/ 57 w 162"/>
                <a:gd name="T11" fmla="*/ 50 h 156"/>
                <a:gd name="T12" fmla="*/ 52 w 162"/>
                <a:gd name="T13" fmla="*/ 57 h 156"/>
                <a:gd name="T14" fmla="*/ 14 w 162"/>
                <a:gd name="T15" fmla="*/ 112 h 156"/>
                <a:gd name="T16" fmla="*/ 11 w 162"/>
                <a:gd name="T17" fmla="*/ 148 h 156"/>
                <a:gd name="T18" fmla="*/ 37 w 162"/>
                <a:gd name="T19" fmla="*/ 148 h 156"/>
                <a:gd name="T20" fmla="*/ 162 w 162"/>
                <a:gd name="T21" fmla="*/ 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56">
                  <a:moveTo>
                    <a:pt x="162" y="44"/>
                  </a:moveTo>
                  <a:cubicBezTo>
                    <a:pt x="142" y="41"/>
                    <a:pt x="123" y="28"/>
                    <a:pt x="115" y="8"/>
                  </a:cubicBezTo>
                  <a:cubicBezTo>
                    <a:pt x="114" y="5"/>
                    <a:pt x="113" y="3"/>
                    <a:pt x="113" y="0"/>
                  </a:cubicBezTo>
                  <a:cubicBezTo>
                    <a:pt x="110" y="1"/>
                    <a:pt x="107" y="2"/>
                    <a:pt x="104" y="3"/>
                  </a:cubicBezTo>
                  <a:cubicBezTo>
                    <a:pt x="83" y="13"/>
                    <a:pt x="68" y="34"/>
                    <a:pt x="59" y="47"/>
                  </a:cubicBezTo>
                  <a:cubicBezTo>
                    <a:pt x="58" y="48"/>
                    <a:pt x="57" y="49"/>
                    <a:pt x="57" y="50"/>
                  </a:cubicBezTo>
                  <a:cubicBezTo>
                    <a:pt x="52" y="57"/>
                    <a:pt x="52" y="57"/>
                    <a:pt x="52" y="57"/>
                  </a:cubicBezTo>
                  <a:cubicBezTo>
                    <a:pt x="34" y="82"/>
                    <a:pt x="21" y="100"/>
                    <a:pt x="14" y="112"/>
                  </a:cubicBezTo>
                  <a:cubicBezTo>
                    <a:pt x="9" y="120"/>
                    <a:pt x="0" y="137"/>
                    <a:pt x="11" y="148"/>
                  </a:cubicBezTo>
                  <a:cubicBezTo>
                    <a:pt x="20" y="156"/>
                    <a:pt x="33" y="150"/>
                    <a:pt x="37" y="148"/>
                  </a:cubicBezTo>
                  <a:cubicBezTo>
                    <a:pt x="63" y="136"/>
                    <a:pt x="111" y="96"/>
                    <a:pt x="16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3" name="Freeform 20"/>
            <p:cNvSpPr>
              <a:spLocks/>
            </p:cNvSpPr>
            <p:nvPr/>
          </p:nvSpPr>
          <p:spPr bwMode="auto">
            <a:xfrm>
              <a:off x="2647950" y="1554163"/>
              <a:ext cx="1092200" cy="2114550"/>
            </a:xfrm>
            <a:custGeom>
              <a:avLst/>
              <a:gdLst>
                <a:gd name="T0" fmla="*/ 56 w 97"/>
                <a:gd name="T1" fmla="*/ 169 h 188"/>
                <a:gd name="T2" fmla="*/ 93 w 97"/>
                <a:gd name="T3" fmla="*/ 167 h 188"/>
                <a:gd name="T4" fmla="*/ 95 w 97"/>
                <a:gd name="T5" fmla="*/ 158 h 188"/>
                <a:gd name="T6" fmla="*/ 80 w 97"/>
                <a:gd name="T7" fmla="*/ 97 h 188"/>
                <a:gd name="T8" fmla="*/ 78 w 97"/>
                <a:gd name="T9" fmla="*/ 93 h 188"/>
                <a:gd name="T10" fmla="*/ 75 w 97"/>
                <a:gd name="T11" fmla="*/ 86 h 188"/>
                <a:gd name="T12" fmla="*/ 46 w 97"/>
                <a:gd name="T13" fmla="*/ 25 h 188"/>
                <a:gd name="T14" fmla="*/ 16 w 97"/>
                <a:gd name="T15" fmla="*/ 5 h 188"/>
                <a:gd name="T16" fmla="*/ 3 w 97"/>
                <a:gd name="T17" fmla="*/ 28 h 188"/>
                <a:gd name="T18" fmla="*/ 31 w 97"/>
                <a:gd name="T19" fmla="*/ 188 h 188"/>
                <a:gd name="T20" fmla="*/ 56 w 97"/>
                <a:gd name="T21" fmla="*/ 16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188">
                  <a:moveTo>
                    <a:pt x="56" y="169"/>
                  </a:moveTo>
                  <a:cubicBezTo>
                    <a:pt x="69" y="164"/>
                    <a:pt x="82" y="163"/>
                    <a:pt x="93" y="167"/>
                  </a:cubicBezTo>
                  <a:cubicBezTo>
                    <a:pt x="94" y="164"/>
                    <a:pt x="95" y="161"/>
                    <a:pt x="95" y="158"/>
                  </a:cubicBezTo>
                  <a:cubicBezTo>
                    <a:pt x="97" y="135"/>
                    <a:pt x="86" y="111"/>
                    <a:pt x="80" y="97"/>
                  </a:cubicBezTo>
                  <a:cubicBezTo>
                    <a:pt x="79" y="96"/>
                    <a:pt x="79" y="94"/>
                    <a:pt x="78" y="93"/>
                  </a:cubicBezTo>
                  <a:cubicBezTo>
                    <a:pt x="75" y="86"/>
                    <a:pt x="75" y="86"/>
                    <a:pt x="75" y="86"/>
                  </a:cubicBezTo>
                  <a:cubicBezTo>
                    <a:pt x="62" y="58"/>
                    <a:pt x="53" y="38"/>
                    <a:pt x="46" y="25"/>
                  </a:cubicBezTo>
                  <a:cubicBezTo>
                    <a:pt x="41" y="17"/>
                    <a:pt x="31" y="0"/>
                    <a:pt x="16" y="5"/>
                  </a:cubicBezTo>
                  <a:cubicBezTo>
                    <a:pt x="5" y="8"/>
                    <a:pt x="3" y="23"/>
                    <a:pt x="3" y="28"/>
                  </a:cubicBezTo>
                  <a:cubicBezTo>
                    <a:pt x="0" y="56"/>
                    <a:pt x="11" y="118"/>
                    <a:pt x="31" y="188"/>
                  </a:cubicBezTo>
                  <a:cubicBezTo>
                    <a:pt x="37" y="180"/>
                    <a:pt x="46" y="173"/>
                    <a:pt x="56" y="1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21"/>
            <p:cNvSpPr>
              <a:spLocks/>
            </p:cNvSpPr>
            <p:nvPr/>
          </p:nvSpPr>
          <p:spPr bwMode="auto">
            <a:xfrm>
              <a:off x="3952875" y="3781425"/>
              <a:ext cx="2036763" cy="1057275"/>
            </a:xfrm>
            <a:custGeom>
              <a:avLst/>
              <a:gdLst>
                <a:gd name="T0" fmla="*/ 166 w 181"/>
                <a:gd name="T1" fmla="*/ 56 h 94"/>
                <a:gd name="T2" fmla="*/ 13 w 181"/>
                <a:gd name="T3" fmla="*/ 0 h 94"/>
                <a:gd name="T4" fmla="*/ 14 w 181"/>
                <a:gd name="T5" fmla="*/ 2 h 94"/>
                <a:gd name="T6" fmla="*/ 0 w 181"/>
                <a:gd name="T7" fmla="*/ 65 h 94"/>
                <a:gd name="T8" fmla="*/ 7 w 181"/>
                <a:gd name="T9" fmla="*/ 70 h 94"/>
                <a:gd name="T10" fmla="*/ 67 w 181"/>
                <a:gd name="T11" fmla="*/ 88 h 94"/>
                <a:gd name="T12" fmla="*/ 71 w 181"/>
                <a:gd name="T13" fmla="*/ 88 h 94"/>
                <a:gd name="T14" fmla="*/ 79 w 181"/>
                <a:gd name="T15" fmla="*/ 89 h 94"/>
                <a:gd name="T16" fmla="*/ 146 w 181"/>
                <a:gd name="T17" fmla="*/ 94 h 94"/>
                <a:gd name="T18" fmla="*/ 179 w 181"/>
                <a:gd name="T19" fmla="*/ 79 h 94"/>
                <a:gd name="T20" fmla="*/ 166 w 181"/>
                <a:gd name="T21" fmla="*/ 5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1" h="94">
                  <a:moveTo>
                    <a:pt x="166" y="56"/>
                  </a:moveTo>
                  <a:cubicBezTo>
                    <a:pt x="142" y="39"/>
                    <a:pt x="84" y="18"/>
                    <a:pt x="13" y="0"/>
                  </a:cubicBezTo>
                  <a:cubicBezTo>
                    <a:pt x="13" y="1"/>
                    <a:pt x="13" y="2"/>
                    <a:pt x="14" y="2"/>
                  </a:cubicBezTo>
                  <a:cubicBezTo>
                    <a:pt x="22" y="25"/>
                    <a:pt x="16" y="49"/>
                    <a:pt x="0" y="65"/>
                  </a:cubicBezTo>
                  <a:cubicBezTo>
                    <a:pt x="2" y="67"/>
                    <a:pt x="4" y="69"/>
                    <a:pt x="7" y="70"/>
                  </a:cubicBezTo>
                  <a:cubicBezTo>
                    <a:pt x="26" y="84"/>
                    <a:pt x="52" y="86"/>
                    <a:pt x="67" y="88"/>
                  </a:cubicBezTo>
                  <a:cubicBezTo>
                    <a:pt x="69" y="88"/>
                    <a:pt x="70" y="88"/>
                    <a:pt x="71" y="88"/>
                  </a:cubicBezTo>
                  <a:cubicBezTo>
                    <a:pt x="79" y="89"/>
                    <a:pt x="79" y="89"/>
                    <a:pt x="79" y="89"/>
                  </a:cubicBezTo>
                  <a:cubicBezTo>
                    <a:pt x="110" y="92"/>
                    <a:pt x="132" y="94"/>
                    <a:pt x="146" y="94"/>
                  </a:cubicBezTo>
                  <a:cubicBezTo>
                    <a:pt x="156" y="94"/>
                    <a:pt x="175" y="94"/>
                    <a:pt x="179" y="79"/>
                  </a:cubicBezTo>
                  <a:cubicBezTo>
                    <a:pt x="181" y="67"/>
                    <a:pt x="170" y="59"/>
                    <a:pt x="166"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10" name="Group 409"/>
          <p:cNvGrpSpPr/>
          <p:nvPr userDrawn="1"/>
        </p:nvGrpSpPr>
        <p:grpSpPr>
          <a:xfrm>
            <a:off x="1938684" y="6752919"/>
            <a:ext cx="181938" cy="327258"/>
            <a:chOff x="-1671638" y="1866900"/>
            <a:chExt cx="1538288" cy="2767013"/>
          </a:xfrm>
          <a:solidFill>
            <a:schemeClr val="tx1"/>
          </a:solidFill>
        </p:grpSpPr>
        <p:sp>
          <p:nvSpPr>
            <p:cNvPr id="411" name="Freeform 53"/>
            <p:cNvSpPr>
              <a:spLocks/>
            </p:cNvSpPr>
            <p:nvPr/>
          </p:nvSpPr>
          <p:spPr bwMode="auto">
            <a:xfrm>
              <a:off x="-1489075" y="3594100"/>
              <a:ext cx="1173163" cy="1039813"/>
            </a:xfrm>
            <a:custGeom>
              <a:avLst/>
              <a:gdLst>
                <a:gd name="T0" fmla="*/ 169 w 186"/>
                <a:gd name="T1" fmla="*/ 0 h 165"/>
                <a:gd name="T2" fmla="*/ 16 w 186"/>
                <a:gd name="T3" fmla="*/ 0 h 165"/>
                <a:gd name="T4" fmla="*/ 0 w 186"/>
                <a:gd name="T5" fmla="*/ 17 h 165"/>
                <a:gd name="T6" fmla="*/ 0 w 186"/>
                <a:gd name="T7" fmla="*/ 49 h 165"/>
                <a:gd name="T8" fmla="*/ 37 w 186"/>
                <a:gd name="T9" fmla="*/ 99 h 165"/>
                <a:gd name="T10" fmla="*/ 37 w 186"/>
                <a:gd name="T11" fmla="*/ 134 h 165"/>
                <a:gd name="T12" fmla="*/ 68 w 186"/>
                <a:gd name="T13" fmla="*/ 165 h 165"/>
                <a:gd name="T14" fmla="*/ 117 w 186"/>
                <a:gd name="T15" fmla="*/ 165 h 165"/>
                <a:gd name="T16" fmla="*/ 149 w 186"/>
                <a:gd name="T17" fmla="*/ 134 h 165"/>
                <a:gd name="T18" fmla="*/ 149 w 186"/>
                <a:gd name="T19" fmla="*/ 99 h 165"/>
                <a:gd name="T20" fmla="*/ 186 w 186"/>
                <a:gd name="T21" fmla="*/ 49 h 165"/>
                <a:gd name="T22" fmla="*/ 186 w 186"/>
                <a:gd name="T23" fmla="*/ 17 h 165"/>
                <a:gd name="T24" fmla="*/ 169 w 186"/>
                <a:gd name="T2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 h="165">
                  <a:moveTo>
                    <a:pt x="169" y="0"/>
                  </a:moveTo>
                  <a:cubicBezTo>
                    <a:pt x="16" y="0"/>
                    <a:pt x="16" y="0"/>
                    <a:pt x="16" y="0"/>
                  </a:cubicBezTo>
                  <a:cubicBezTo>
                    <a:pt x="7" y="0"/>
                    <a:pt x="0" y="7"/>
                    <a:pt x="0" y="17"/>
                  </a:cubicBezTo>
                  <a:cubicBezTo>
                    <a:pt x="0" y="49"/>
                    <a:pt x="0" y="49"/>
                    <a:pt x="0" y="49"/>
                  </a:cubicBezTo>
                  <a:cubicBezTo>
                    <a:pt x="0" y="72"/>
                    <a:pt x="15" y="92"/>
                    <a:pt x="37" y="99"/>
                  </a:cubicBezTo>
                  <a:cubicBezTo>
                    <a:pt x="37" y="134"/>
                    <a:pt x="37" y="134"/>
                    <a:pt x="37" y="134"/>
                  </a:cubicBezTo>
                  <a:cubicBezTo>
                    <a:pt x="37" y="151"/>
                    <a:pt x="51" y="165"/>
                    <a:pt x="68" y="165"/>
                  </a:cubicBezTo>
                  <a:cubicBezTo>
                    <a:pt x="117" y="165"/>
                    <a:pt x="117" y="165"/>
                    <a:pt x="117" y="165"/>
                  </a:cubicBezTo>
                  <a:cubicBezTo>
                    <a:pt x="135" y="165"/>
                    <a:pt x="149" y="151"/>
                    <a:pt x="149" y="134"/>
                  </a:cubicBezTo>
                  <a:cubicBezTo>
                    <a:pt x="149" y="99"/>
                    <a:pt x="149" y="99"/>
                    <a:pt x="149" y="99"/>
                  </a:cubicBezTo>
                  <a:cubicBezTo>
                    <a:pt x="170" y="92"/>
                    <a:pt x="186" y="72"/>
                    <a:pt x="186" y="49"/>
                  </a:cubicBezTo>
                  <a:cubicBezTo>
                    <a:pt x="186" y="17"/>
                    <a:pt x="186" y="17"/>
                    <a:pt x="186" y="17"/>
                  </a:cubicBezTo>
                  <a:cubicBezTo>
                    <a:pt x="186" y="7"/>
                    <a:pt x="178" y="0"/>
                    <a:pt x="16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2" name="Freeform 54"/>
            <p:cNvSpPr>
              <a:spLocks/>
            </p:cNvSpPr>
            <p:nvPr/>
          </p:nvSpPr>
          <p:spPr bwMode="auto">
            <a:xfrm>
              <a:off x="-1671638" y="2138363"/>
              <a:ext cx="1538288" cy="698500"/>
            </a:xfrm>
            <a:custGeom>
              <a:avLst/>
              <a:gdLst>
                <a:gd name="T0" fmla="*/ 24 w 244"/>
                <a:gd name="T1" fmla="*/ 111 h 111"/>
                <a:gd name="T2" fmla="*/ 31 w 244"/>
                <a:gd name="T3" fmla="*/ 110 h 111"/>
                <a:gd name="T4" fmla="*/ 226 w 244"/>
                <a:gd name="T5" fmla="*/ 45 h 111"/>
                <a:gd name="T6" fmla="*/ 240 w 244"/>
                <a:gd name="T7" fmla="*/ 18 h 111"/>
                <a:gd name="T8" fmla="*/ 212 w 244"/>
                <a:gd name="T9" fmla="*/ 4 h 111"/>
                <a:gd name="T10" fmla="*/ 18 w 244"/>
                <a:gd name="T11" fmla="*/ 68 h 111"/>
                <a:gd name="T12" fmla="*/ 4 w 244"/>
                <a:gd name="T13" fmla="*/ 96 h 111"/>
                <a:gd name="T14" fmla="*/ 24 w 244"/>
                <a:gd name="T15" fmla="*/ 111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4" h="111">
                  <a:moveTo>
                    <a:pt x="24" y="111"/>
                  </a:moveTo>
                  <a:cubicBezTo>
                    <a:pt x="27" y="111"/>
                    <a:pt x="29" y="111"/>
                    <a:pt x="31" y="110"/>
                  </a:cubicBezTo>
                  <a:cubicBezTo>
                    <a:pt x="226" y="45"/>
                    <a:pt x="226" y="45"/>
                    <a:pt x="226" y="45"/>
                  </a:cubicBezTo>
                  <a:cubicBezTo>
                    <a:pt x="237" y="42"/>
                    <a:pt x="244" y="29"/>
                    <a:pt x="240" y="18"/>
                  </a:cubicBezTo>
                  <a:cubicBezTo>
                    <a:pt x="236" y="6"/>
                    <a:pt x="224" y="0"/>
                    <a:pt x="212" y="4"/>
                  </a:cubicBezTo>
                  <a:cubicBezTo>
                    <a:pt x="18" y="68"/>
                    <a:pt x="18" y="68"/>
                    <a:pt x="18" y="68"/>
                  </a:cubicBezTo>
                  <a:cubicBezTo>
                    <a:pt x="6" y="72"/>
                    <a:pt x="0" y="84"/>
                    <a:pt x="4" y="96"/>
                  </a:cubicBezTo>
                  <a:cubicBezTo>
                    <a:pt x="7" y="105"/>
                    <a:pt x="15" y="111"/>
                    <a:pt x="24" y="1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3" name="Freeform 55"/>
            <p:cNvSpPr>
              <a:spLocks/>
            </p:cNvSpPr>
            <p:nvPr/>
          </p:nvSpPr>
          <p:spPr bwMode="auto">
            <a:xfrm>
              <a:off x="-1576388" y="1866900"/>
              <a:ext cx="938213" cy="504825"/>
            </a:xfrm>
            <a:custGeom>
              <a:avLst/>
              <a:gdLst>
                <a:gd name="T0" fmla="*/ 24 w 149"/>
                <a:gd name="T1" fmla="*/ 80 h 80"/>
                <a:gd name="T2" fmla="*/ 31 w 149"/>
                <a:gd name="T3" fmla="*/ 78 h 80"/>
                <a:gd name="T4" fmla="*/ 131 w 149"/>
                <a:gd name="T5" fmla="*/ 45 h 80"/>
                <a:gd name="T6" fmla="*/ 145 w 149"/>
                <a:gd name="T7" fmla="*/ 18 h 80"/>
                <a:gd name="T8" fmla="*/ 117 w 149"/>
                <a:gd name="T9" fmla="*/ 4 h 80"/>
                <a:gd name="T10" fmla="*/ 18 w 149"/>
                <a:gd name="T11" fmla="*/ 37 h 80"/>
                <a:gd name="T12" fmla="*/ 4 w 149"/>
                <a:gd name="T13" fmla="*/ 65 h 80"/>
                <a:gd name="T14" fmla="*/ 24 w 149"/>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9" h="80">
                  <a:moveTo>
                    <a:pt x="24" y="80"/>
                  </a:moveTo>
                  <a:cubicBezTo>
                    <a:pt x="27" y="80"/>
                    <a:pt x="29" y="79"/>
                    <a:pt x="31" y="78"/>
                  </a:cubicBezTo>
                  <a:cubicBezTo>
                    <a:pt x="131" y="45"/>
                    <a:pt x="131" y="45"/>
                    <a:pt x="131" y="45"/>
                  </a:cubicBezTo>
                  <a:cubicBezTo>
                    <a:pt x="143" y="42"/>
                    <a:pt x="149" y="29"/>
                    <a:pt x="145" y="18"/>
                  </a:cubicBezTo>
                  <a:cubicBezTo>
                    <a:pt x="141" y="6"/>
                    <a:pt x="129" y="0"/>
                    <a:pt x="117" y="4"/>
                  </a:cubicBezTo>
                  <a:cubicBezTo>
                    <a:pt x="18" y="37"/>
                    <a:pt x="18" y="37"/>
                    <a:pt x="18" y="37"/>
                  </a:cubicBezTo>
                  <a:cubicBezTo>
                    <a:pt x="6" y="41"/>
                    <a:pt x="0" y="53"/>
                    <a:pt x="4" y="65"/>
                  </a:cubicBezTo>
                  <a:cubicBezTo>
                    <a:pt x="7" y="74"/>
                    <a:pt x="15" y="80"/>
                    <a:pt x="24"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4" name="Freeform 56"/>
            <p:cNvSpPr>
              <a:spLocks/>
            </p:cNvSpPr>
            <p:nvPr/>
          </p:nvSpPr>
          <p:spPr bwMode="auto">
            <a:xfrm>
              <a:off x="-801688" y="3014663"/>
              <a:ext cx="668338" cy="441325"/>
            </a:xfrm>
            <a:custGeom>
              <a:avLst/>
              <a:gdLst>
                <a:gd name="T0" fmla="*/ 74 w 106"/>
                <a:gd name="T1" fmla="*/ 3 h 70"/>
                <a:gd name="T2" fmla="*/ 35 w 106"/>
                <a:gd name="T3" fmla="*/ 16 h 70"/>
                <a:gd name="T4" fmla="*/ 0 w 106"/>
                <a:gd name="T5" fmla="*/ 69 h 70"/>
                <a:gd name="T6" fmla="*/ 0 w 106"/>
                <a:gd name="T7" fmla="*/ 70 h 70"/>
                <a:gd name="T8" fmla="*/ 44 w 106"/>
                <a:gd name="T9" fmla="*/ 70 h 70"/>
                <a:gd name="T10" fmla="*/ 44 w 106"/>
                <a:gd name="T11" fmla="*/ 69 h 70"/>
                <a:gd name="T12" fmla="*/ 49 w 106"/>
                <a:gd name="T13" fmla="*/ 58 h 70"/>
                <a:gd name="T14" fmla="*/ 88 w 106"/>
                <a:gd name="T15" fmla="*/ 45 h 70"/>
                <a:gd name="T16" fmla="*/ 102 w 106"/>
                <a:gd name="T17" fmla="*/ 17 h 70"/>
                <a:gd name="T18" fmla="*/ 74 w 106"/>
                <a:gd name="T19" fmla="*/ 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70">
                  <a:moveTo>
                    <a:pt x="74" y="3"/>
                  </a:moveTo>
                  <a:cubicBezTo>
                    <a:pt x="35" y="16"/>
                    <a:pt x="35" y="16"/>
                    <a:pt x="35" y="16"/>
                  </a:cubicBezTo>
                  <a:cubicBezTo>
                    <a:pt x="14" y="23"/>
                    <a:pt x="0" y="45"/>
                    <a:pt x="0" y="69"/>
                  </a:cubicBezTo>
                  <a:cubicBezTo>
                    <a:pt x="0" y="70"/>
                    <a:pt x="0" y="70"/>
                    <a:pt x="0" y="70"/>
                  </a:cubicBezTo>
                  <a:cubicBezTo>
                    <a:pt x="44" y="70"/>
                    <a:pt x="44" y="70"/>
                    <a:pt x="44" y="70"/>
                  </a:cubicBezTo>
                  <a:cubicBezTo>
                    <a:pt x="44" y="69"/>
                    <a:pt x="44" y="69"/>
                    <a:pt x="44" y="69"/>
                  </a:cubicBezTo>
                  <a:cubicBezTo>
                    <a:pt x="44" y="63"/>
                    <a:pt x="47" y="59"/>
                    <a:pt x="49" y="58"/>
                  </a:cubicBezTo>
                  <a:cubicBezTo>
                    <a:pt x="88" y="45"/>
                    <a:pt x="88" y="45"/>
                    <a:pt x="88" y="45"/>
                  </a:cubicBezTo>
                  <a:cubicBezTo>
                    <a:pt x="99" y="41"/>
                    <a:pt x="106" y="29"/>
                    <a:pt x="102" y="17"/>
                  </a:cubicBezTo>
                  <a:cubicBezTo>
                    <a:pt x="98" y="6"/>
                    <a:pt x="86" y="0"/>
                    <a:pt x="7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Freeform 57"/>
            <p:cNvSpPr>
              <a:spLocks/>
            </p:cNvSpPr>
            <p:nvPr/>
          </p:nvSpPr>
          <p:spPr bwMode="auto">
            <a:xfrm>
              <a:off x="-1658938" y="2579688"/>
              <a:ext cx="1525588" cy="876300"/>
            </a:xfrm>
            <a:custGeom>
              <a:avLst/>
              <a:gdLst>
                <a:gd name="T0" fmla="*/ 210 w 242"/>
                <a:gd name="T1" fmla="*/ 3 h 139"/>
                <a:gd name="T2" fmla="*/ 16 w 242"/>
                <a:gd name="T3" fmla="*/ 68 h 139"/>
                <a:gd name="T4" fmla="*/ 1 w 242"/>
                <a:gd name="T5" fmla="*/ 87 h 139"/>
                <a:gd name="T6" fmla="*/ 13 w 242"/>
                <a:gd name="T7" fmla="*/ 108 h 139"/>
                <a:gd name="T8" fmla="*/ 52 w 242"/>
                <a:gd name="T9" fmla="*/ 126 h 139"/>
                <a:gd name="T10" fmla="*/ 60 w 242"/>
                <a:gd name="T11" fmla="*/ 138 h 139"/>
                <a:gd name="T12" fmla="*/ 60 w 242"/>
                <a:gd name="T13" fmla="*/ 139 h 139"/>
                <a:gd name="T14" fmla="*/ 103 w 242"/>
                <a:gd name="T15" fmla="*/ 139 h 139"/>
                <a:gd name="T16" fmla="*/ 103 w 242"/>
                <a:gd name="T17" fmla="*/ 138 h 139"/>
                <a:gd name="T18" fmla="*/ 81 w 242"/>
                <a:gd name="T19" fmla="*/ 92 h 139"/>
                <a:gd name="T20" fmla="*/ 224 w 242"/>
                <a:gd name="T21" fmla="*/ 45 h 139"/>
                <a:gd name="T22" fmla="*/ 238 w 242"/>
                <a:gd name="T23" fmla="*/ 17 h 139"/>
                <a:gd name="T24" fmla="*/ 210 w 242"/>
                <a:gd name="T25" fmla="*/ 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 h="139">
                  <a:moveTo>
                    <a:pt x="210" y="3"/>
                  </a:moveTo>
                  <a:cubicBezTo>
                    <a:pt x="16" y="68"/>
                    <a:pt x="16" y="68"/>
                    <a:pt x="16" y="68"/>
                  </a:cubicBezTo>
                  <a:cubicBezTo>
                    <a:pt x="7" y="70"/>
                    <a:pt x="1" y="78"/>
                    <a:pt x="1" y="87"/>
                  </a:cubicBezTo>
                  <a:cubicBezTo>
                    <a:pt x="0" y="96"/>
                    <a:pt x="5" y="105"/>
                    <a:pt x="13" y="108"/>
                  </a:cubicBezTo>
                  <a:cubicBezTo>
                    <a:pt x="14" y="108"/>
                    <a:pt x="45" y="123"/>
                    <a:pt x="52" y="126"/>
                  </a:cubicBezTo>
                  <a:cubicBezTo>
                    <a:pt x="57" y="128"/>
                    <a:pt x="60" y="133"/>
                    <a:pt x="60" y="138"/>
                  </a:cubicBezTo>
                  <a:cubicBezTo>
                    <a:pt x="60" y="139"/>
                    <a:pt x="60" y="139"/>
                    <a:pt x="60" y="139"/>
                  </a:cubicBezTo>
                  <a:cubicBezTo>
                    <a:pt x="103" y="139"/>
                    <a:pt x="103" y="139"/>
                    <a:pt x="103" y="139"/>
                  </a:cubicBezTo>
                  <a:cubicBezTo>
                    <a:pt x="103" y="138"/>
                    <a:pt x="103" y="138"/>
                    <a:pt x="103" y="138"/>
                  </a:cubicBezTo>
                  <a:cubicBezTo>
                    <a:pt x="103" y="120"/>
                    <a:pt x="95" y="103"/>
                    <a:pt x="81" y="92"/>
                  </a:cubicBezTo>
                  <a:cubicBezTo>
                    <a:pt x="224" y="45"/>
                    <a:pt x="224" y="45"/>
                    <a:pt x="224" y="45"/>
                  </a:cubicBezTo>
                  <a:cubicBezTo>
                    <a:pt x="235" y="41"/>
                    <a:pt x="242" y="29"/>
                    <a:pt x="238" y="17"/>
                  </a:cubicBezTo>
                  <a:cubicBezTo>
                    <a:pt x="234" y="6"/>
                    <a:pt x="222" y="0"/>
                    <a:pt x="2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7" name="Group 206"/>
          <p:cNvGrpSpPr/>
          <p:nvPr userDrawn="1"/>
        </p:nvGrpSpPr>
        <p:grpSpPr>
          <a:xfrm>
            <a:off x="7030706" y="3790301"/>
            <a:ext cx="272746" cy="277546"/>
            <a:chOff x="395288" y="2595563"/>
            <a:chExt cx="450850" cy="458788"/>
          </a:xfrm>
          <a:solidFill>
            <a:schemeClr val="tx1"/>
          </a:solidFill>
        </p:grpSpPr>
        <p:sp>
          <p:nvSpPr>
            <p:cNvPr id="208" name="Freeform 21"/>
            <p:cNvSpPr>
              <a:spLocks noEditPoints="1"/>
            </p:cNvSpPr>
            <p:nvPr/>
          </p:nvSpPr>
          <p:spPr bwMode="auto">
            <a:xfrm>
              <a:off x="395288" y="2595563"/>
              <a:ext cx="450850" cy="458788"/>
            </a:xfrm>
            <a:custGeom>
              <a:avLst/>
              <a:gdLst>
                <a:gd name="T0" fmla="*/ 168 w 199"/>
                <a:gd name="T1" fmla="*/ 0 h 202"/>
                <a:gd name="T2" fmla="*/ 32 w 199"/>
                <a:gd name="T3" fmla="*/ 0 h 202"/>
                <a:gd name="T4" fmla="*/ 0 w 199"/>
                <a:gd name="T5" fmla="*/ 31 h 202"/>
                <a:gd name="T6" fmla="*/ 0 w 199"/>
                <a:gd name="T7" fmla="*/ 140 h 202"/>
                <a:gd name="T8" fmla="*/ 32 w 199"/>
                <a:gd name="T9" fmla="*/ 171 h 202"/>
                <a:gd name="T10" fmla="*/ 71 w 199"/>
                <a:gd name="T11" fmla="*/ 171 h 202"/>
                <a:gd name="T12" fmla="*/ 71 w 199"/>
                <a:gd name="T13" fmla="*/ 191 h 202"/>
                <a:gd name="T14" fmla="*/ 59 w 199"/>
                <a:gd name="T15" fmla="*/ 191 h 202"/>
                <a:gd name="T16" fmla="*/ 48 w 199"/>
                <a:gd name="T17" fmla="*/ 202 h 202"/>
                <a:gd name="T18" fmla="*/ 152 w 199"/>
                <a:gd name="T19" fmla="*/ 202 h 202"/>
                <a:gd name="T20" fmla="*/ 141 w 199"/>
                <a:gd name="T21" fmla="*/ 191 h 202"/>
                <a:gd name="T22" fmla="*/ 129 w 199"/>
                <a:gd name="T23" fmla="*/ 191 h 202"/>
                <a:gd name="T24" fmla="*/ 129 w 199"/>
                <a:gd name="T25" fmla="*/ 171 h 202"/>
                <a:gd name="T26" fmla="*/ 168 w 199"/>
                <a:gd name="T27" fmla="*/ 171 h 202"/>
                <a:gd name="T28" fmla="*/ 199 w 199"/>
                <a:gd name="T29" fmla="*/ 140 h 202"/>
                <a:gd name="T30" fmla="*/ 199 w 199"/>
                <a:gd name="T31" fmla="*/ 31 h 202"/>
                <a:gd name="T32" fmla="*/ 168 w 199"/>
                <a:gd name="T33" fmla="*/ 0 h 202"/>
                <a:gd name="T34" fmla="*/ 172 w 199"/>
                <a:gd name="T35" fmla="*/ 141 h 202"/>
                <a:gd name="T36" fmla="*/ 28 w 199"/>
                <a:gd name="T37" fmla="*/ 141 h 202"/>
                <a:gd name="T38" fmla="*/ 28 w 199"/>
                <a:gd name="T39" fmla="*/ 24 h 202"/>
                <a:gd name="T40" fmla="*/ 172 w 199"/>
                <a:gd name="T41" fmla="*/ 24 h 202"/>
                <a:gd name="T42" fmla="*/ 172 w 199"/>
                <a:gd name="T43" fmla="*/ 14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 h="202">
                  <a:moveTo>
                    <a:pt x="168" y="0"/>
                  </a:moveTo>
                  <a:cubicBezTo>
                    <a:pt x="32" y="0"/>
                    <a:pt x="32" y="0"/>
                    <a:pt x="32" y="0"/>
                  </a:cubicBezTo>
                  <a:cubicBezTo>
                    <a:pt x="14" y="0"/>
                    <a:pt x="0" y="14"/>
                    <a:pt x="0" y="31"/>
                  </a:cubicBezTo>
                  <a:cubicBezTo>
                    <a:pt x="0" y="140"/>
                    <a:pt x="0" y="140"/>
                    <a:pt x="0" y="140"/>
                  </a:cubicBezTo>
                  <a:cubicBezTo>
                    <a:pt x="0" y="157"/>
                    <a:pt x="14" y="171"/>
                    <a:pt x="32" y="171"/>
                  </a:cubicBezTo>
                  <a:cubicBezTo>
                    <a:pt x="71" y="171"/>
                    <a:pt x="71" y="171"/>
                    <a:pt x="71" y="171"/>
                  </a:cubicBezTo>
                  <a:cubicBezTo>
                    <a:pt x="71" y="191"/>
                    <a:pt x="71" y="191"/>
                    <a:pt x="71" y="191"/>
                  </a:cubicBezTo>
                  <a:cubicBezTo>
                    <a:pt x="59" y="191"/>
                    <a:pt x="59" y="191"/>
                    <a:pt x="59" y="191"/>
                  </a:cubicBezTo>
                  <a:cubicBezTo>
                    <a:pt x="53" y="191"/>
                    <a:pt x="48" y="196"/>
                    <a:pt x="48" y="202"/>
                  </a:cubicBezTo>
                  <a:cubicBezTo>
                    <a:pt x="152" y="202"/>
                    <a:pt x="152" y="202"/>
                    <a:pt x="152" y="202"/>
                  </a:cubicBezTo>
                  <a:cubicBezTo>
                    <a:pt x="152" y="196"/>
                    <a:pt x="147" y="191"/>
                    <a:pt x="141" y="191"/>
                  </a:cubicBezTo>
                  <a:cubicBezTo>
                    <a:pt x="129" y="191"/>
                    <a:pt x="129" y="191"/>
                    <a:pt x="129" y="191"/>
                  </a:cubicBezTo>
                  <a:cubicBezTo>
                    <a:pt x="129" y="171"/>
                    <a:pt x="129" y="171"/>
                    <a:pt x="129" y="171"/>
                  </a:cubicBezTo>
                  <a:cubicBezTo>
                    <a:pt x="168" y="171"/>
                    <a:pt x="168" y="171"/>
                    <a:pt x="168" y="171"/>
                  </a:cubicBezTo>
                  <a:cubicBezTo>
                    <a:pt x="185" y="171"/>
                    <a:pt x="199" y="157"/>
                    <a:pt x="199" y="140"/>
                  </a:cubicBezTo>
                  <a:cubicBezTo>
                    <a:pt x="199" y="31"/>
                    <a:pt x="199" y="31"/>
                    <a:pt x="199" y="31"/>
                  </a:cubicBezTo>
                  <a:cubicBezTo>
                    <a:pt x="199" y="14"/>
                    <a:pt x="185" y="0"/>
                    <a:pt x="168" y="0"/>
                  </a:cubicBezTo>
                  <a:close/>
                  <a:moveTo>
                    <a:pt x="172" y="141"/>
                  </a:moveTo>
                  <a:cubicBezTo>
                    <a:pt x="28" y="141"/>
                    <a:pt x="28" y="141"/>
                    <a:pt x="28" y="141"/>
                  </a:cubicBezTo>
                  <a:cubicBezTo>
                    <a:pt x="28" y="24"/>
                    <a:pt x="28" y="24"/>
                    <a:pt x="28" y="24"/>
                  </a:cubicBezTo>
                  <a:cubicBezTo>
                    <a:pt x="172" y="24"/>
                    <a:pt x="172" y="24"/>
                    <a:pt x="172" y="24"/>
                  </a:cubicBezTo>
                  <a:lnTo>
                    <a:pt x="172" y="141"/>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22"/>
            <p:cNvSpPr>
              <a:spLocks/>
            </p:cNvSpPr>
            <p:nvPr/>
          </p:nvSpPr>
          <p:spPr bwMode="auto">
            <a:xfrm>
              <a:off x="511175" y="2681288"/>
              <a:ext cx="222250" cy="201613"/>
            </a:xfrm>
            <a:custGeom>
              <a:avLst/>
              <a:gdLst>
                <a:gd name="T0" fmla="*/ 94 w 140"/>
                <a:gd name="T1" fmla="*/ 127 h 127"/>
                <a:gd name="T2" fmla="*/ 75 w 140"/>
                <a:gd name="T3" fmla="*/ 46 h 127"/>
                <a:gd name="T4" fmla="*/ 55 w 140"/>
                <a:gd name="T5" fmla="*/ 112 h 127"/>
                <a:gd name="T6" fmla="*/ 31 w 140"/>
                <a:gd name="T7" fmla="*/ 60 h 127"/>
                <a:gd name="T8" fmla="*/ 20 w 140"/>
                <a:gd name="T9" fmla="*/ 80 h 127"/>
                <a:gd name="T10" fmla="*/ 0 w 140"/>
                <a:gd name="T11" fmla="*/ 80 h 127"/>
                <a:gd name="T12" fmla="*/ 0 w 140"/>
                <a:gd name="T13" fmla="*/ 69 h 127"/>
                <a:gd name="T14" fmla="*/ 12 w 140"/>
                <a:gd name="T15" fmla="*/ 69 h 127"/>
                <a:gd name="T16" fmla="*/ 32 w 140"/>
                <a:gd name="T17" fmla="*/ 34 h 127"/>
                <a:gd name="T18" fmla="*/ 54 w 140"/>
                <a:gd name="T19" fmla="*/ 80 h 127"/>
                <a:gd name="T20" fmla="*/ 77 w 140"/>
                <a:gd name="T21" fmla="*/ 0 h 127"/>
                <a:gd name="T22" fmla="*/ 97 w 140"/>
                <a:gd name="T23" fmla="*/ 87 h 127"/>
                <a:gd name="T24" fmla="*/ 104 w 140"/>
                <a:gd name="T25" fmla="*/ 69 h 127"/>
                <a:gd name="T26" fmla="*/ 140 w 140"/>
                <a:gd name="T27" fmla="*/ 69 h 127"/>
                <a:gd name="T28" fmla="*/ 140 w 140"/>
                <a:gd name="T29" fmla="*/ 80 h 127"/>
                <a:gd name="T30" fmla="*/ 112 w 140"/>
                <a:gd name="T31" fmla="*/ 80 h 127"/>
                <a:gd name="T32" fmla="*/ 94 w 140"/>
                <a:gd name="T33"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0" h="127">
                  <a:moveTo>
                    <a:pt x="94" y="127"/>
                  </a:moveTo>
                  <a:lnTo>
                    <a:pt x="75" y="46"/>
                  </a:lnTo>
                  <a:lnTo>
                    <a:pt x="55" y="112"/>
                  </a:lnTo>
                  <a:lnTo>
                    <a:pt x="31" y="60"/>
                  </a:lnTo>
                  <a:lnTo>
                    <a:pt x="20" y="80"/>
                  </a:lnTo>
                  <a:lnTo>
                    <a:pt x="0" y="80"/>
                  </a:lnTo>
                  <a:lnTo>
                    <a:pt x="0" y="69"/>
                  </a:lnTo>
                  <a:lnTo>
                    <a:pt x="12" y="69"/>
                  </a:lnTo>
                  <a:lnTo>
                    <a:pt x="32" y="34"/>
                  </a:lnTo>
                  <a:lnTo>
                    <a:pt x="54" y="80"/>
                  </a:lnTo>
                  <a:lnTo>
                    <a:pt x="77" y="0"/>
                  </a:lnTo>
                  <a:lnTo>
                    <a:pt x="97" y="87"/>
                  </a:lnTo>
                  <a:lnTo>
                    <a:pt x="104" y="69"/>
                  </a:lnTo>
                  <a:lnTo>
                    <a:pt x="140" y="69"/>
                  </a:lnTo>
                  <a:lnTo>
                    <a:pt x="140" y="80"/>
                  </a:lnTo>
                  <a:lnTo>
                    <a:pt x="112" y="80"/>
                  </a:lnTo>
                  <a:lnTo>
                    <a:pt x="94" y="12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13" name="Group 212"/>
          <p:cNvGrpSpPr/>
          <p:nvPr userDrawn="1"/>
        </p:nvGrpSpPr>
        <p:grpSpPr>
          <a:xfrm>
            <a:off x="7086284" y="2620144"/>
            <a:ext cx="206480" cy="311158"/>
            <a:chOff x="2700338" y="2566988"/>
            <a:chExt cx="341313" cy="514350"/>
          </a:xfrm>
          <a:solidFill>
            <a:schemeClr val="tx1"/>
          </a:solidFill>
        </p:grpSpPr>
        <p:sp>
          <p:nvSpPr>
            <p:cNvPr id="214" name="Freeform 25"/>
            <p:cNvSpPr>
              <a:spLocks/>
            </p:cNvSpPr>
            <p:nvPr/>
          </p:nvSpPr>
          <p:spPr bwMode="auto">
            <a:xfrm>
              <a:off x="2700338" y="2566988"/>
              <a:ext cx="333375" cy="514350"/>
            </a:xfrm>
            <a:custGeom>
              <a:avLst/>
              <a:gdLst>
                <a:gd name="T0" fmla="*/ 136 w 147"/>
                <a:gd name="T1" fmla="*/ 30 h 226"/>
                <a:gd name="T2" fmla="*/ 128 w 147"/>
                <a:gd name="T3" fmla="*/ 17 h 226"/>
                <a:gd name="T4" fmla="*/ 94 w 147"/>
                <a:gd name="T5" fmla="*/ 0 h 226"/>
                <a:gd name="T6" fmla="*/ 57 w 147"/>
                <a:gd name="T7" fmla="*/ 0 h 226"/>
                <a:gd name="T8" fmla="*/ 23 w 147"/>
                <a:gd name="T9" fmla="*/ 17 h 226"/>
                <a:gd name="T10" fmla="*/ 14 w 147"/>
                <a:gd name="T11" fmla="*/ 30 h 226"/>
                <a:gd name="T12" fmla="*/ 19 w 147"/>
                <a:gd name="T13" fmla="*/ 98 h 226"/>
                <a:gd name="T14" fmla="*/ 38 w 147"/>
                <a:gd name="T15" fmla="*/ 126 h 226"/>
                <a:gd name="T16" fmla="*/ 69 w 147"/>
                <a:gd name="T17" fmla="*/ 81 h 226"/>
                <a:gd name="T18" fmla="*/ 42 w 147"/>
                <a:gd name="T19" fmla="*/ 41 h 226"/>
                <a:gd name="T20" fmla="*/ 108 w 147"/>
                <a:gd name="T21" fmla="*/ 41 h 226"/>
                <a:gd name="T22" fmla="*/ 0 w 147"/>
                <a:gd name="T23" fmla="*/ 201 h 226"/>
                <a:gd name="T24" fmla="*/ 45 w 147"/>
                <a:gd name="T25" fmla="*/ 226 h 226"/>
                <a:gd name="T26" fmla="*/ 131 w 147"/>
                <a:gd name="T27" fmla="*/ 98 h 226"/>
                <a:gd name="T28" fmla="*/ 136 w 147"/>
                <a:gd name="T29" fmla="*/ 3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7" h="226">
                  <a:moveTo>
                    <a:pt x="136" y="30"/>
                  </a:moveTo>
                  <a:cubicBezTo>
                    <a:pt x="128" y="17"/>
                    <a:pt x="128" y="17"/>
                    <a:pt x="128" y="17"/>
                  </a:cubicBezTo>
                  <a:cubicBezTo>
                    <a:pt x="117" y="2"/>
                    <a:pt x="106" y="0"/>
                    <a:pt x="94" y="0"/>
                  </a:cubicBezTo>
                  <a:cubicBezTo>
                    <a:pt x="57" y="0"/>
                    <a:pt x="57" y="0"/>
                    <a:pt x="57" y="0"/>
                  </a:cubicBezTo>
                  <a:cubicBezTo>
                    <a:pt x="44" y="0"/>
                    <a:pt x="33" y="2"/>
                    <a:pt x="23" y="17"/>
                  </a:cubicBezTo>
                  <a:cubicBezTo>
                    <a:pt x="14" y="30"/>
                    <a:pt x="14" y="30"/>
                    <a:pt x="14" y="30"/>
                  </a:cubicBezTo>
                  <a:cubicBezTo>
                    <a:pt x="3" y="47"/>
                    <a:pt x="5" y="77"/>
                    <a:pt x="19" y="98"/>
                  </a:cubicBezTo>
                  <a:cubicBezTo>
                    <a:pt x="38" y="126"/>
                    <a:pt x="38" y="126"/>
                    <a:pt x="38" y="126"/>
                  </a:cubicBezTo>
                  <a:cubicBezTo>
                    <a:pt x="69" y="81"/>
                    <a:pt x="69" y="81"/>
                    <a:pt x="69" y="81"/>
                  </a:cubicBezTo>
                  <a:cubicBezTo>
                    <a:pt x="42" y="41"/>
                    <a:pt x="42" y="41"/>
                    <a:pt x="42" y="41"/>
                  </a:cubicBezTo>
                  <a:cubicBezTo>
                    <a:pt x="108" y="41"/>
                    <a:pt x="108" y="41"/>
                    <a:pt x="108" y="41"/>
                  </a:cubicBezTo>
                  <a:cubicBezTo>
                    <a:pt x="0" y="201"/>
                    <a:pt x="0" y="201"/>
                    <a:pt x="0" y="201"/>
                  </a:cubicBezTo>
                  <a:cubicBezTo>
                    <a:pt x="45" y="226"/>
                    <a:pt x="45" y="226"/>
                    <a:pt x="45" y="226"/>
                  </a:cubicBezTo>
                  <a:cubicBezTo>
                    <a:pt x="131" y="98"/>
                    <a:pt x="131" y="98"/>
                    <a:pt x="131" y="98"/>
                  </a:cubicBezTo>
                  <a:cubicBezTo>
                    <a:pt x="145" y="77"/>
                    <a:pt x="147" y="47"/>
                    <a:pt x="136" y="3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26"/>
            <p:cNvSpPr>
              <a:spLocks/>
            </p:cNvSpPr>
            <p:nvPr/>
          </p:nvSpPr>
          <p:spPr bwMode="auto">
            <a:xfrm>
              <a:off x="2884488" y="2897188"/>
              <a:ext cx="157163" cy="184150"/>
            </a:xfrm>
            <a:custGeom>
              <a:avLst/>
              <a:gdLst>
                <a:gd name="T0" fmla="*/ 44 w 99"/>
                <a:gd name="T1" fmla="*/ 0 h 116"/>
                <a:gd name="T2" fmla="*/ 0 w 99"/>
                <a:gd name="T3" fmla="*/ 66 h 116"/>
                <a:gd name="T4" fmla="*/ 34 w 99"/>
                <a:gd name="T5" fmla="*/ 116 h 116"/>
                <a:gd name="T6" fmla="*/ 99 w 99"/>
                <a:gd name="T7" fmla="*/ 80 h 116"/>
                <a:gd name="T8" fmla="*/ 44 w 99"/>
                <a:gd name="T9" fmla="*/ 0 h 116"/>
              </a:gdLst>
              <a:ahLst/>
              <a:cxnLst>
                <a:cxn ang="0">
                  <a:pos x="T0" y="T1"/>
                </a:cxn>
                <a:cxn ang="0">
                  <a:pos x="T2" y="T3"/>
                </a:cxn>
                <a:cxn ang="0">
                  <a:pos x="T4" y="T5"/>
                </a:cxn>
                <a:cxn ang="0">
                  <a:pos x="T6" y="T7"/>
                </a:cxn>
                <a:cxn ang="0">
                  <a:pos x="T8" y="T9"/>
                </a:cxn>
              </a:cxnLst>
              <a:rect l="0" t="0" r="r" b="b"/>
              <a:pathLst>
                <a:path w="99" h="116">
                  <a:moveTo>
                    <a:pt x="44" y="0"/>
                  </a:moveTo>
                  <a:lnTo>
                    <a:pt x="0" y="66"/>
                  </a:lnTo>
                  <a:lnTo>
                    <a:pt x="34" y="116"/>
                  </a:lnTo>
                  <a:lnTo>
                    <a:pt x="99" y="80"/>
                  </a:lnTo>
                  <a:lnTo>
                    <a:pt x="44"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38" name="Group 237"/>
          <p:cNvGrpSpPr/>
          <p:nvPr userDrawn="1"/>
        </p:nvGrpSpPr>
        <p:grpSpPr>
          <a:xfrm>
            <a:off x="7099978" y="2075670"/>
            <a:ext cx="190154" cy="315962"/>
            <a:chOff x="4964113" y="3689350"/>
            <a:chExt cx="314325" cy="522288"/>
          </a:xfrm>
          <a:solidFill>
            <a:schemeClr val="tx1"/>
          </a:solidFill>
        </p:grpSpPr>
        <p:sp>
          <p:nvSpPr>
            <p:cNvPr id="239" name="Freeform 54"/>
            <p:cNvSpPr>
              <a:spLocks noEditPoints="1"/>
            </p:cNvSpPr>
            <p:nvPr/>
          </p:nvSpPr>
          <p:spPr bwMode="auto">
            <a:xfrm>
              <a:off x="4964113" y="3851275"/>
              <a:ext cx="314325" cy="360363"/>
            </a:xfrm>
            <a:custGeom>
              <a:avLst/>
              <a:gdLst>
                <a:gd name="T0" fmla="*/ 132 w 139"/>
                <a:gd name="T1" fmla="*/ 37 h 159"/>
                <a:gd name="T2" fmla="*/ 110 w 139"/>
                <a:gd name="T3" fmla="*/ 0 h 159"/>
                <a:gd name="T4" fmla="*/ 28 w 139"/>
                <a:gd name="T5" fmla="*/ 0 h 159"/>
                <a:gd name="T6" fmla="*/ 7 w 139"/>
                <a:gd name="T7" fmla="*/ 37 h 159"/>
                <a:gd name="T8" fmla="*/ 0 w 139"/>
                <a:gd name="T9" fmla="*/ 63 h 159"/>
                <a:gd name="T10" fmla="*/ 0 w 139"/>
                <a:gd name="T11" fmla="*/ 131 h 159"/>
                <a:gd name="T12" fmla="*/ 27 w 139"/>
                <a:gd name="T13" fmla="*/ 159 h 159"/>
                <a:gd name="T14" fmla="*/ 111 w 139"/>
                <a:gd name="T15" fmla="*/ 159 h 159"/>
                <a:gd name="T16" fmla="*/ 139 w 139"/>
                <a:gd name="T17" fmla="*/ 131 h 159"/>
                <a:gd name="T18" fmla="*/ 139 w 139"/>
                <a:gd name="T19" fmla="*/ 63 h 159"/>
                <a:gd name="T20" fmla="*/ 132 w 139"/>
                <a:gd name="T21" fmla="*/ 37 h 159"/>
                <a:gd name="T22" fmla="*/ 128 w 139"/>
                <a:gd name="T23" fmla="*/ 114 h 159"/>
                <a:gd name="T24" fmla="*/ 10 w 139"/>
                <a:gd name="T25" fmla="*/ 114 h 159"/>
                <a:gd name="T26" fmla="*/ 10 w 139"/>
                <a:gd name="T27" fmla="*/ 63 h 159"/>
                <a:gd name="T28" fmla="*/ 128 w 139"/>
                <a:gd name="T29" fmla="*/ 63 h 159"/>
                <a:gd name="T30" fmla="*/ 128 w 139"/>
                <a:gd name="T31" fmla="*/ 114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9" h="159">
                  <a:moveTo>
                    <a:pt x="132" y="37"/>
                  </a:moveTo>
                  <a:cubicBezTo>
                    <a:pt x="110" y="0"/>
                    <a:pt x="110" y="0"/>
                    <a:pt x="110" y="0"/>
                  </a:cubicBezTo>
                  <a:cubicBezTo>
                    <a:pt x="28" y="0"/>
                    <a:pt x="28" y="0"/>
                    <a:pt x="28" y="0"/>
                  </a:cubicBezTo>
                  <a:cubicBezTo>
                    <a:pt x="7" y="37"/>
                    <a:pt x="7" y="37"/>
                    <a:pt x="7" y="37"/>
                  </a:cubicBezTo>
                  <a:cubicBezTo>
                    <a:pt x="3" y="44"/>
                    <a:pt x="0" y="55"/>
                    <a:pt x="0" y="63"/>
                  </a:cubicBezTo>
                  <a:cubicBezTo>
                    <a:pt x="0" y="131"/>
                    <a:pt x="0" y="131"/>
                    <a:pt x="0" y="131"/>
                  </a:cubicBezTo>
                  <a:cubicBezTo>
                    <a:pt x="0" y="146"/>
                    <a:pt x="12" y="159"/>
                    <a:pt x="27" y="159"/>
                  </a:cubicBezTo>
                  <a:cubicBezTo>
                    <a:pt x="111" y="159"/>
                    <a:pt x="111" y="159"/>
                    <a:pt x="111" y="159"/>
                  </a:cubicBezTo>
                  <a:cubicBezTo>
                    <a:pt x="126" y="159"/>
                    <a:pt x="139" y="146"/>
                    <a:pt x="139" y="131"/>
                  </a:cubicBezTo>
                  <a:cubicBezTo>
                    <a:pt x="139" y="63"/>
                    <a:pt x="139" y="63"/>
                    <a:pt x="139" y="63"/>
                  </a:cubicBezTo>
                  <a:cubicBezTo>
                    <a:pt x="139" y="55"/>
                    <a:pt x="135" y="44"/>
                    <a:pt x="132" y="37"/>
                  </a:cubicBezTo>
                  <a:close/>
                  <a:moveTo>
                    <a:pt x="128" y="114"/>
                  </a:moveTo>
                  <a:cubicBezTo>
                    <a:pt x="10" y="114"/>
                    <a:pt x="10" y="114"/>
                    <a:pt x="10" y="114"/>
                  </a:cubicBezTo>
                  <a:cubicBezTo>
                    <a:pt x="10" y="63"/>
                    <a:pt x="10" y="63"/>
                    <a:pt x="10" y="63"/>
                  </a:cubicBezTo>
                  <a:cubicBezTo>
                    <a:pt x="128" y="63"/>
                    <a:pt x="128" y="63"/>
                    <a:pt x="128" y="63"/>
                  </a:cubicBezTo>
                  <a:lnTo>
                    <a:pt x="128" y="11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55"/>
            <p:cNvSpPr>
              <a:spLocks/>
            </p:cNvSpPr>
            <p:nvPr/>
          </p:nvSpPr>
          <p:spPr bwMode="auto">
            <a:xfrm>
              <a:off x="5003800" y="3689350"/>
              <a:ext cx="234950" cy="139700"/>
            </a:xfrm>
            <a:custGeom>
              <a:avLst/>
              <a:gdLst>
                <a:gd name="T0" fmla="*/ 69 w 103"/>
                <a:gd name="T1" fmla="*/ 0 h 61"/>
                <a:gd name="T2" fmla="*/ 33 w 103"/>
                <a:gd name="T3" fmla="*/ 0 h 61"/>
                <a:gd name="T4" fmla="*/ 0 w 103"/>
                <a:gd name="T5" fmla="*/ 28 h 61"/>
                <a:gd name="T6" fmla="*/ 0 w 103"/>
                <a:gd name="T7" fmla="*/ 61 h 61"/>
                <a:gd name="T8" fmla="*/ 103 w 103"/>
                <a:gd name="T9" fmla="*/ 61 h 61"/>
                <a:gd name="T10" fmla="*/ 103 w 103"/>
                <a:gd name="T11" fmla="*/ 28 h 61"/>
                <a:gd name="T12" fmla="*/ 69 w 103"/>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103" h="61">
                  <a:moveTo>
                    <a:pt x="69" y="0"/>
                  </a:moveTo>
                  <a:cubicBezTo>
                    <a:pt x="33" y="0"/>
                    <a:pt x="33" y="0"/>
                    <a:pt x="33" y="0"/>
                  </a:cubicBezTo>
                  <a:cubicBezTo>
                    <a:pt x="15" y="0"/>
                    <a:pt x="0" y="12"/>
                    <a:pt x="0" y="28"/>
                  </a:cubicBezTo>
                  <a:cubicBezTo>
                    <a:pt x="0" y="61"/>
                    <a:pt x="0" y="61"/>
                    <a:pt x="0" y="61"/>
                  </a:cubicBezTo>
                  <a:cubicBezTo>
                    <a:pt x="103" y="61"/>
                    <a:pt x="103" y="61"/>
                    <a:pt x="103" y="61"/>
                  </a:cubicBezTo>
                  <a:cubicBezTo>
                    <a:pt x="103" y="28"/>
                    <a:pt x="103" y="28"/>
                    <a:pt x="103" y="28"/>
                  </a:cubicBezTo>
                  <a:cubicBezTo>
                    <a:pt x="103" y="12"/>
                    <a:pt x="88" y="0"/>
                    <a:pt x="6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77" name="Group 576"/>
          <p:cNvGrpSpPr/>
          <p:nvPr userDrawn="1"/>
        </p:nvGrpSpPr>
        <p:grpSpPr>
          <a:xfrm>
            <a:off x="7554504" y="6174469"/>
            <a:ext cx="312024" cy="295798"/>
            <a:chOff x="3114675" y="5580063"/>
            <a:chExt cx="915988" cy="868362"/>
          </a:xfrm>
          <a:solidFill>
            <a:schemeClr val="tx1"/>
          </a:solidFill>
        </p:grpSpPr>
        <p:sp>
          <p:nvSpPr>
            <p:cNvPr id="578" name="Freeform 8"/>
            <p:cNvSpPr>
              <a:spLocks/>
            </p:cNvSpPr>
            <p:nvPr/>
          </p:nvSpPr>
          <p:spPr bwMode="auto">
            <a:xfrm>
              <a:off x="3114675" y="6359525"/>
              <a:ext cx="915988" cy="88900"/>
            </a:xfrm>
            <a:custGeom>
              <a:avLst/>
              <a:gdLst>
                <a:gd name="T0" fmla="*/ 318 w 330"/>
                <a:gd name="T1" fmla="*/ 0 h 32"/>
                <a:gd name="T2" fmla="*/ 12 w 330"/>
                <a:gd name="T3" fmla="*/ 0 h 32"/>
                <a:gd name="T4" fmla="*/ 66 w 330"/>
                <a:gd name="T5" fmla="*/ 32 h 32"/>
                <a:gd name="T6" fmla="*/ 264 w 330"/>
                <a:gd name="T7" fmla="*/ 32 h 32"/>
                <a:gd name="T8" fmla="*/ 318 w 330"/>
                <a:gd name="T9" fmla="*/ 0 h 32"/>
              </a:gdLst>
              <a:ahLst/>
              <a:cxnLst>
                <a:cxn ang="0">
                  <a:pos x="T0" y="T1"/>
                </a:cxn>
                <a:cxn ang="0">
                  <a:pos x="T2" y="T3"/>
                </a:cxn>
                <a:cxn ang="0">
                  <a:pos x="T4" y="T5"/>
                </a:cxn>
                <a:cxn ang="0">
                  <a:pos x="T6" y="T7"/>
                </a:cxn>
                <a:cxn ang="0">
                  <a:pos x="T8" y="T9"/>
                </a:cxn>
              </a:cxnLst>
              <a:rect l="0" t="0" r="r" b="b"/>
              <a:pathLst>
                <a:path w="330" h="32">
                  <a:moveTo>
                    <a:pt x="318" y="0"/>
                  </a:moveTo>
                  <a:cubicBezTo>
                    <a:pt x="12" y="0"/>
                    <a:pt x="12" y="0"/>
                    <a:pt x="12" y="0"/>
                  </a:cubicBezTo>
                  <a:cubicBezTo>
                    <a:pt x="0" y="19"/>
                    <a:pt x="58" y="32"/>
                    <a:pt x="66" y="32"/>
                  </a:cubicBezTo>
                  <a:cubicBezTo>
                    <a:pt x="264" y="32"/>
                    <a:pt x="264" y="32"/>
                    <a:pt x="264" y="32"/>
                  </a:cubicBezTo>
                  <a:cubicBezTo>
                    <a:pt x="272" y="32"/>
                    <a:pt x="330" y="19"/>
                    <a:pt x="3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9" name="Freeform 9"/>
            <p:cNvSpPr>
              <a:spLocks/>
            </p:cNvSpPr>
            <p:nvPr/>
          </p:nvSpPr>
          <p:spPr bwMode="auto">
            <a:xfrm>
              <a:off x="3459163" y="5670550"/>
              <a:ext cx="134938" cy="252413"/>
            </a:xfrm>
            <a:custGeom>
              <a:avLst/>
              <a:gdLst>
                <a:gd name="T0" fmla="*/ 21 w 49"/>
                <a:gd name="T1" fmla="*/ 0 h 91"/>
                <a:gd name="T2" fmla="*/ 11 w 49"/>
                <a:gd name="T3" fmla="*/ 49 h 91"/>
                <a:gd name="T4" fmla="*/ 20 w 49"/>
                <a:gd name="T5" fmla="*/ 91 h 91"/>
                <a:gd name="T6" fmla="*/ 31 w 49"/>
                <a:gd name="T7" fmla="*/ 41 h 91"/>
                <a:gd name="T8" fmla="*/ 21 w 49"/>
                <a:gd name="T9" fmla="*/ 0 h 91"/>
              </a:gdLst>
              <a:ahLst/>
              <a:cxnLst>
                <a:cxn ang="0">
                  <a:pos x="T0" y="T1"/>
                </a:cxn>
                <a:cxn ang="0">
                  <a:pos x="T2" y="T3"/>
                </a:cxn>
                <a:cxn ang="0">
                  <a:pos x="T4" y="T5"/>
                </a:cxn>
                <a:cxn ang="0">
                  <a:pos x="T6" y="T7"/>
                </a:cxn>
                <a:cxn ang="0">
                  <a:pos x="T8" y="T9"/>
                </a:cxn>
              </a:cxnLst>
              <a:rect l="0" t="0" r="r" b="b"/>
              <a:pathLst>
                <a:path w="49" h="91">
                  <a:moveTo>
                    <a:pt x="21" y="0"/>
                  </a:moveTo>
                  <a:cubicBezTo>
                    <a:pt x="0" y="13"/>
                    <a:pt x="2" y="29"/>
                    <a:pt x="11" y="49"/>
                  </a:cubicBezTo>
                  <a:cubicBezTo>
                    <a:pt x="20" y="70"/>
                    <a:pt x="26" y="80"/>
                    <a:pt x="20" y="91"/>
                  </a:cubicBezTo>
                  <a:cubicBezTo>
                    <a:pt x="49" y="74"/>
                    <a:pt x="44" y="58"/>
                    <a:pt x="31" y="41"/>
                  </a:cubicBezTo>
                  <a:cubicBezTo>
                    <a:pt x="17" y="25"/>
                    <a:pt x="16" y="14"/>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0" name="Freeform 10"/>
            <p:cNvSpPr>
              <a:spLocks/>
            </p:cNvSpPr>
            <p:nvPr/>
          </p:nvSpPr>
          <p:spPr bwMode="auto">
            <a:xfrm>
              <a:off x="3552825" y="5580063"/>
              <a:ext cx="188913" cy="349250"/>
            </a:xfrm>
            <a:custGeom>
              <a:avLst/>
              <a:gdLst>
                <a:gd name="T0" fmla="*/ 29 w 68"/>
                <a:gd name="T1" fmla="*/ 0 h 126"/>
                <a:gd name="T2" fmla="*/ 14 w 68"/>
                <a:gd name="T3" fmla="*/ 68 h 126"/>
                <a:gd name="T4" fmla="*/ 28 w 68"/>
                <a:gd name="T5" fmla="*/ 126 h 126"/>
                <a:gd name="T6" fmla="*/ 42 w 68"/>
                <a:gd name="T7" fmla="*/ 57 h 126"/>
                <a:gd name="T8" fmla="*/ 29 w 68"/>
                <a:gd name="T9" fmla="*/ 0 h 126"/>
              </a:gdLst>
              <a:ahLst/>
              <a:cxnLst>
                <a:cxn ang="0">
                  <a:pos x="T0" y="T1"/>
                </a:cxn>
                <a:cxn ang="0">
                  <a:pos x="T2" y="T3"/>
                </a:cxn>
                <a:cxn ang="0">
                  <a:pos x="T4" y="T5"/>
                </a:cxn>
                <a:cxn ang="0">
                  <a:pos x="T6" y="T7"/>
                </a:cxn>
                <a:cxn ang="0">
                  <a:pos x="T8" y="T9"/>
                </a:cxn>
              </a:cxnLst>
              <a:rect l="0" t="0" r="r" b="b"/>
              <a:pathLst>
                <a:path w="68" h="126">
                  <a:moveTo>
                    <a:pt x="29" y="0"/>
                  </a:moveTo>
                  <a:cubicBezTo>
                    <a:pt x="0" y="19"/>
                    <a:pt x="2" y="40"/>
                    <a:pt x="14" y="68"/>
                  </a:cubicBezTo>
                  <a:cubicBezTo>
                    <a:pt x="27" y="96"/>
                    <a:pt x="36" y="111"/>
                    <a:pt x="28" y="126"/>
                  </a:cubicBezTo>
                  <a:cubicBezTo>
                    <a:pt x="68" y="102"/>
                    <a:pt x="60" y="80"/>
                    <a:pt x="42" y="57"/>
                  </a:cubicBezTo>
                  <a:cubicBezTo>
                    <a:pt x="24" y="34"/>
                    <a:pt x="22" y="19"/>
                    <a:pt x="2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1" name="Freeform 11"/>
            <p:cNvSpPr>
              <a:spLocks noEditPoints="1"/>
            </p:cNvSpPr>
            <p:nvPr/>
          </p:nvSpPr>
          <p:spPr bwMode="auto">
            <a:xfrm>
              <a:off x="3275013" y="5988050"/>
              <a:ext cx="714375" cy="390525"/>
            </a:xfrm>
            <a:custGeom>
              <a:avLst/>
              <a:gdLst>
                <a:gd name="T0" fmla="*/ 254 w 257"/>
                <a:gd name="T1" fmla="*/ 43 h 141"/>
                <a:gd name="T2" fmla="*/ 210 w 257"/>
                <a:gd name="T3" fmla="*/ 19 h 141"/>
                <a:gd name="T4" fmla="*/ 209 w 257"/>
                <a:gd name="T5" fmla="*/ 7 h 141"/>
                <a:gd name="T6" fmla="*/ 209 w 257"/>
                <a:gd name="T7" fmla="*/ 7 h 141"/>
                <a:gd name="T8" fmla="*/ 201 w 257"/>
                <a:gd name="T9" fmla="*/ 0 h 141"/>
                <a:gd name="T10" fmla="*/ 13 w 257"/>
                <a:gd name="T11" fmla="*/ 0 h 141"/>
                <a:gd name="T12" fmla="*/ 5 w 257"/>
                <a:gd name="T13" fmla="*/ 7 h 141"/>
                <a:gd name="T14" fmla="*/ 5 w 257"/>
                <a:gd name="T15" fmla="*/ 7 h 141"/>
                <a:gd name="T16" fmla="*/ 34 w 257"/>
                <a:gd name="T17" fmla="*/ 136 h 141"/>
                <a:gd name="T18" fmla="*/ 44 w 257"/>
                <a:gd name="T19" fmla="*/ 141 h 141"/>
                <a:gd name="T20" fmla="*/ 170 w 257"/>
                <a:gd name="T21" fmla="*/ 141 h 141"/>
                <a:gd name="T22" fmla="*/ 180 w 257"/>
                <a:gd name="T23" fmla="*/ 136 h 141"/>
                <a:gd name="T24" fmla="*/ 189 w 257"/>
                <a:gd name="T25" fmla="*/ 117 h 141"/>
                <a:gd name="T26" fmla="*/ 190 w 257"/>
                <a:gd name="T27" fmla="*/ 117 h 141"/>
                <a:gd name="T28" fmla="*/ 204 w 257"/>
                <a:gd name="T29" fmla="*/ 109 h 141"/>
                <a:gd name="T30" fmla="*/ 206 w 257"/>
                <a:gd name="T31" fmla="*/ 100 h 141"/>
                <a:gd name="T32" fmla="*/ 254 w 257"/>
                <a:gd name="T33" fmla="*/ 43 h 141"/>
                <a:gd name="T34" fmla="*/ 49 w 257"/>
                <a:gd name="T35" fmla="*/ 128 h 141"/>
                <a:gd name="T36" fmla="*/ 47 w 257"/>
                <a:gd name="T37" fmla="*/ 127 h 141"/>
                <a:gd name="T38" fmla="*/ 19 w 257"/>
                <a:gd name="T39" fmla="*/ 15 h 141"/>
                <a:gd name="T40" fmla="*/ 55 w 257"/>
                <a:gd name="T41" fmla="*/ 15 h 141"/>
                <a:gd name="T42" fmla="*/ 69 w 257"/>
                <a:gd name="T43" fmla="*/ 127 h 141"/>
                <a:gd name="T44" fmla="*/ 71 w 257"/>
                <a:gd name="T45" fmla="*/ 128 h 141"/>
                <a:gd name="T46" fmla="*/ 49 w 257"/>
                <a:gd name="T47" fmla="*/ 128 h 141"/>
                <a:gd name="T48" fmla="*/ 200 w 257"/>
                <a:gd name="T49" fmla="*/ 86 h 141"/>
                <a:gd name="T50" fmla="*/ 209 w 257"/>
                <a:gd name="T51" fmla="*/ 43 h 141"/>
                <a:gd name="T52" fmla="*/ 220 w 257"/>
                <a:gd name="T53" fmla="*/ 40 h 141"/>
                <a:gd name="T54" fmla="*/ 232 w 257"/>
                <a:gd name="T55" fmla="*/ 51 h 141"/>
                <a:gd name="T56" fmla="*/ 200 w 257"/>
                <a:gd name="T57" fmla="*/ 86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7" h="141">
                  <a:moveTo>
                    <a:pt x="254" y="43"/>
                  </a:moveTo>
                  <a:cubicBezTo>
                    <a:pt x="251" y="28"/>
                    <a:pt x="235" y="9"/>
                    <a:pt x="210" y="19"/>
                  </a:cubicBezTo>
                  <a:cubicBezTo>
                    <a:pt x="210" y="15"/>
                    <a:pt x="209" y="11"/>
                    <a:pt x="209" y="7"/>
                  </a:cubicBezTo>
                  <a:cubicBezTo>
                    <a:pt x="209" y="7"/>
                    <a:pt x="209" y="7"/>
                    <a:pt x="209" y="7"/>
                  </a:cubicBezTo>
                  <a:cubicBezTo>
                    <a:pt x="208" y="3"/>
                    <a:pt x="205" y="0"/>
                    <a:pt x="201" y="0"/>
                  </a:cubicBezTo>
                  <a:cubicBezTo>
                    <a:pt x="13" y="0"/>
                    <a:pt x="13" y="0"/>
                    <a:pt x="13" y="0"/>
                  </a:cubicBezTo>
                  <a:cubicBezTo>
                    <a:pt x="9" y="0"/>
                    <a:pt x="5" y="3"/>
                    <a:pt x="5" y="7"/>
                  </a:cubicBezTo>
                  <a:cubicBezTo>
                    <a:pt x="5" y="7"/>
                    <a:pt x="5" y="7"/>
                    <a:pt x="5" y="7"/>
                  </a:cubicBezTo>
                  <a:cubicBezTo>
                    <a:pt x="0" y="73"/>
                    <a:pt x="23" y="127"/>
                    <a:pt x="34" y="136"/>
                  </a:cubicBezTo>
                  <a:cubicBezTo>
                    <a:pt x="37" y="138"/>
                    <a:pt x="41" y="141"/>
                    <a:pt x="44" y="141"/>
                  </a:cubicBezTo>
                  <a:cubicBezTo>
                    <a:pt x="170" y="141"/>
                    <a:pt x="170" y="141"/>
                    <a:pt x="170" y="141"/>
                  </a:cubicBezTo>
                  <a:cubicBezTo>
                    <a:pt x="173" y="141"/>
                    <a:pt x="177" y="138"/>
                    <a:pt x="180" y="136"/>
                  </a:cubicBezTo>
                  <a:cubicBezTo>
                    <a:pt x="183" y="134"/>
                    <a:pt x="186" y="125"/>
                    <a:pt x="189" y="117"/>
                  </a:cubicBezTo>
                  <a:cubicBezTo>
                    <a:pt x="189" y="117"/>
                    <a:pt x="190" y="117"/>
                    <a:pt x="190" y="117"/>
                  </a:cubicBezTo>
                  <a:cubicBezTo>
                    <a:pt x="196" y="119"/>
                    <a:pt x="203" y="115"/>
                    <a:pt x="204" y="109"/>
                  </a:cubicBezTo>
                  <a:cubicBezTo>
                    <a:pt x="205" y="104"/>
                    <a:pt x="204" y="103"/>
                    <a:pt x="206" y="100"/>
                  </a:cubicBezTo>
                  <a:cubicBezTo>
                    <a:pt x="248" y="75"/>
                    <a:pt x="257" y="64"/>
                    <a:pt x="254" y="43"/>
                  </a:cubicBezTo>
                  <a:close/>
                  <a:moveTo>
                    <a:pt x="49" y="128"/>
                  </a:moveTo>
                  <a:cubicBezTo>
                    <a:pt x="49" y="128"/>
                    <a:pt x="48" y="128"/>
                    <a:pt x="47" y="127"/>
                  </a:cubicBezTo>
                  <a:cubicBezTo>
                    <a:pt x="41" y="122"/>
                    <a:pt x="17" y="72"/>
                    <a:pt x="19" y="15"/>
                  </a:cubicBezTo>
                  <a:cubicBezTo>
                    <a:pt x="55" y="15"/>
                    <a:pt x="55" y="15"/>
                    <a:pt x="55" y="15"/>
                  </a:cubicBezTo>
                  <a:cubicBezTo>
                    <a:pt x="53" y="72"/>
                    <a:pt x="66" y="122"/>
                    <a:pt x="69" y="127"/>
                  </a:cubicBezTo>
                  <a:cubicBezTo>
                    <a:pt x="70" y="128"/>
                    <a:pt x="70" y="128"/>
                    <a:pt x="71" y="128"/>
                  </a:cubicBezTo>
                  <a:lnTo>
                    <a:pt x="49" y="128"/>
                  </a:lnTo>
                  <a:close/>
                  <a:moveTo>
                    <a:pt x="200" y="86"/>
                  </a:moveTo>
                  <a:cubicBezTo>
                    <a:pt x="204" y="75"/>
                    <a:pt x="208" y="55"/>
                    <a:pt x="209" y="43"/>
                  </a:cubicBezTo>
                  <a:cubicBezTo>
                    <a:pt x="213" y="39"/>
                    <a:pt x="218" y="39"/>
                    <a:pt x="220" y="40"/>
                  </a:cubicBezTo>
                  <a:cubicBezTo>
                    <a:pt x="225" y="40"/>
                    <a:pt x="231" y="44"/>
                    <a:pt x="232" y="51"/>
                  </a:cubicBezTo>
                  <a:cubicBezTo>
                    <a:pt x="234" y="60"/>
                    <a:pt x="221" y="74"/>
                    <a:pt x="20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5" name="Group 584"/>
          <p:cNvGrpSpPr/>
          <p:nvPr userDrawn="1"/>
        </p:nvGrpSpPr>
        <p:grpSpPr>
          <a:xfrm>
            <a:off x="7576211" y="6807388"/>
            <a:ext cx="322484" cy="218320"/>
            <a:chOff x="4513263" y="5789613"/>
            <a:chExt cx="973138" cy="658813"/>
          </a:xfrm>
          <a:solidFill>
            <a:schemeClr val="tx1"/>
          </a:solidFill>
        </p:grpSpPr>
        <p:sp>
          <p:nvSpPr>
            <p:cNvPr id="586" name="Rectangle 585"/>
            <p:cNvSpPr>
              <a:spLocks noChangeArrowheads="1"/>
            </p:cNvSpPr>
            <p:nvPr/>
          </p:nvSpPr>
          <p:spPr bwMode="auto">
            <a:xfrm>
              <a:off x="4975225" y="6000750"/>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7" name="Freeform 586"/>
            <p:cNvSpPr>
              <a:spLocks noEditPoints="1"/>
            </p:cNvSpPr>
            <p:nvPr/>
          </p:nvSpPr>
          <p:spPr bwMode="auto">
            <a:xfrm>
              <a:off x="4513263" y="5789613"/>
              <a:ext cx="973138" cy="658813"/>
            </a:xfrm>
            <a:custGeom>
              <a:avLst/>
              <a:gdLst>
                <a:gd name="T0" fmla="*/ 237 w 350"/>
                <a:gd name="T1" fmla="*/ 55 h 237"/>
                <a:gd name="T2" fmla="*/ 237 w 350"/>
                <a:gd name="T3" fmla="*/ 64 h 237"/>
                <a:gd name="T4" fmla="*/ 94 w 350"/>
                <a:gd name="T5" fmla="*/ 64 h 237"/>
                <a:gd name="T6" fmla="*/ 94 w 350"/>
                <a:gd name="T7" fmla="*/ 55 h 237"/>
                <a:gd name="T8" fmla="*/ 94 w 350"/>
                <a:gd name="T9" fmla="*/ 55 h 237"/>
                <a:gd name="T10" fmla="*/ 135 w 350"/>
                <a:gd name="T11" fmla="*/ 37 h 237"/>
                <a:gd name="T12" fmla="*/ 152 w 350"/>
                <a:gd name="T13" fmla="*/ 23 h 237"/>
                <a:gd name="T14" fmla="*/ 150 w 350"/>
                <a:gd name="T15" fmla="*/ 15 h 237"/>
                <a:gd name="T16" fmla="*/ 166 w 350"/>
                <a:gd name="T17" fmla="*/ 0 h 237"/>
                <a:gd name="T18" fmla="*/ 181 w 350"/>
                <a:gd name="T19" fmla="*/ 15 h 237"/>
                <a:gd name="T20" fmla="*/ 179 w 350"/>
                <a:gd name="T21" fmla="*/ 23 h 237"/>
                <a:gd name="T22" fmla="*/ 196 w 350"/>
                <a:gd name="T23" fmla="*/ 37 h 237"/>
                <a:gd name="T24" fmla="*/ 237 w 350"/>
                <a:gd name="T25" fmla="*/ 55 h 237"/>
                <a:gd name="T26" fmla="*/ 343 w 350"/>
                <a:gd name="T27" fmla="*/ 139 h 237"/>
                <a:gd name="T28" fmla="*/ 342 w 350"/>
                <a:gd name="T29" fmla="*/ 140 h 237"/>
                <a:gd name="T30" fmla="*/ 274 w 350"/>
                <a:gd name="T31" fmla="*/ 197 h 237"/>
                <a:gd name="T32" fmla="*/ 264 w 350"/>
                <a:gd name="T33" fmla="*/ 197 h 237"/>
                <a:gd name="T34" fmla="*/ 232 w 350"/>
                <a:gd name="T35" fmla="*/ 225 h 237"/>
                <a:gd name="T36" fmla="*/ 232 w 350"/>
                <a:gd name="T37" fmla="*/ 225 h 237"/>
                <a:gd name="T38" fmla="*/ 244 w 350"/>
                <a:gd name="T39" fmla="*/ 237 h 237"/>
                <a:gd name="T40" fmla="*/ 88 w 350"/>
                <a:gd name="T41" fmla="*/ 237 h 237"/>
                <a:gd name="T42" fmla="*/ 99 w 350"/>
                <a:gd name="T43" fmla="*/ 225 h 237"/>
                <a:gd name="T44" fmla="*/ 99 w 350"/>
                <a:gd name="T45" fmla="*/ 225 h 237"/>
                <a:gd name="T46" fmla="*/ 59 w 350"/>
                <a:gd name="T47" fmla="*/ 182 h 237"/>
                <a:gd name="T48" fmla="*/ 20 w 350"/>
                <a:gd name="T49" fmla="*/ 110 h 237"/>
                <a:gd name="T50" fmla="*/ 2 w 350"/>
                <a:gd name="T51" fmla="*/ 58 h 237"/>
                <a:gd name="T52" fmla="*/ 26 w 350"/>
                <a:gd name="T53" fmla="*/ 51 h 237"/>
                <a:gd name="T54" fmla="*/ 54 w 350"/>
                <a:gd name="T55" fmla="*/ 97 h 237"/>
                <a:gd name="T56" fmla="*/ 58 w 350"/>
                <a:gd name="T57" fmla="*/ 106 h 237"/>
                <a:gd name="T58" fmla="*/ 94 w 350"/>
                <a:gd name="T59" fmla="*/ 75 h 237"/>
                <a:gd name="T60" fmla="*/ 237 w 350"/>
                <a:gd name="T61" fmla="*/ 75 h 237"/>
                <a:gd name="T62" fmla="*/ 253 w 350"/>
                <a:gd name="T63" fmla="*/ 83 h 237"/>
                <a:gd name="T64" fmla="*/ 257 w 350"/>
                <a:gd name="T65" fmla="*/ 87 h 237"/>
                <a:gd name="T66" fmla="*/ 307 w 350"/>
                <a:gd name="T67" fmla="*/ 65 h 237"/>
                <a:gd name="T68" fmla="*/ 312 w 350"/>
                <a:gd name="T69" fmla="*/ 66 h 237"/>
                <a:gd name="T70" fmla="*/ 340 w 350"/>
                <a:gd name="T71" fmla="*/ 87 h 237"/>
                <a:gd name="T72" fmla="*/ 343 w 350"/>
                <a:gd name="T73" fmla="*/ 139 h 237"/>
                <a:gd name="T74" fmla="*/ 120 w 350"/>
                <a:gd name="T75" fmla="*/ 212 h 237"/>
                <a:gd name="T76" fmla="*/ 91 w 350"/>
                <a:gd name="T77" fmla="*/ 136 h 237"/>
                <a:gd name="T78" fmla="*/ 115 w 350"/>
                <a:gd name="T79" fmla="*/ 88 h 237"/>
                <a:gd name="T80" fmla="*/ 97 w 350"/>
                <a:gd name="T81" fmla="*/ 88 h 237"/>
                <a:gd name="T82" fmla="*/ 63 w 350"/>
                <a:gd name="T83" fmla="*/ 136 h 237"/>
                <a:gd name="T84" fmla="*/ 102 w 350"/>
                <a:gd name="T85" fmla="*/ 212 h 237"/>
                <a:gd name="T86" fmla="*/ 120 w 350"/>
                <a:gd name="T87" fmla="*/ 212 h 237"/>
                <a:gd name="T88" fmla="*/ 306 w 350"/>
                <a:gd name="T89" fmla="*/ 88 h 237"/>
                <a:gd name="T90" fmla="*/ 272 w 350"/>
                <a:gd name="T91" fmla="*/ 108 h 237"/>
                <a:gd name="T92" fmla="*/ 268 w 350"/>
                <a:gd name="T93" fmla="*/ 175 h 237"/>
                <a:gd name="T94" fmla="*/ 321 w 350"/>
                <a:gd name="T95" fmla="*/ 133 h 237"/>
                <a:gd name="T96" fmla="*/ 306 w 350"/>
                <a:gd name="T97" fmla="*/ 8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0" h="237">
                  <a:moveTo>
                    <a:pt x="237" y="55"/>
                  </a:moveTo>
                  <a:cubicBezTo>
                    <a:pt x="237" y="64"/>
                    <a:pt x="237" y="64"/>
                    <a:pt x="237" y="64"/>
                  </a:cubicBezTo>
                  <a:cubicBezTo>
                    <a:pt x="94" y="64"/>
                    <a:pt x="94" y="64"/>
                    <a:pt x="94" y="64"/>
                  </a:cubicBezTo>
                  <a:cubicBezTo>
                    <a:pt x="94" y="55"/>
                    <a:pt x="94" y="55"/>
                    <a:pt x="94" y="55"/>
                  </a:cubicBezTo>
                  <a:cubicBezTo>
                    <a:pt x="94" y="55"/>
                    <a:pt x="94" y="55"/>
                    <a:pt x="94" y="55"/>
                  </a:cubicBezTo>
                  <a:cubicBezTo>
                    <a:pt x="95" y="40"/>
                    <a:pt x="122" y="43"/>
                    <a:pt x="135" y="37"/>
                  </a:cubicBezTo>
                  <a:cubicBezTo>
                    <a:pt x="148" y="31"/>
                    <a:pt x="152" y="23"/>
                    <a:pt x="152" y="23"/>
                  </a:cubicBezTo>
                  <a:cubicBezTo>
                    <a:pt x="151" y="20"/>
                    <a:pt x="150" y="18"/>
                    <a:pt x="150" y="15"/>
                  </a:cubicBezTo>
                  <a:cubicBezTo>
                    <a:pt x="150" y="7"/>
                    <a:pt x="157" y="0"/>
                    <a:pt x="166" y="0"/>
                  </a:cubicBezTo>
                  <a:cubicBezTo>
                    <a:pt x="174" y="0"/>
                    <a:pt x="181" y="7"/>
                    <a:pt x="181" y="15"/>
                  </a:cubicBezTo>
                  <a:cubicBezTo>
                    <a:pt x="181" y="18"/>
                    <a:pt x="181" y="21"/>
                    <a:pt x="179" y="23"/>
                  </a:cubicBezTo>
                  <a:cubicBezTo>
                    <a:pt x="180" y="25"/>
                    <a:pt x="185" y="32"/>
                    <a:pt x="196" y="37"/>
                  </a:cubicBezTo>
                  <a:cubicBezTo>
                    <a:pt x="210" y="43"/>
                    <a:pt x="237" y="40"/>
                    <a:pt x="237" y="55"/>
                  </a:cubicBezTo>
                  <a:close/>
                  <a:moveTo>
                    <a:pt x="343" y="139"/>
                  </a:moveTo>
                  <a:cubicBezTo>
                    <a:pt x="343" y="140"/>
                    <a:pt x="342" y="140"/>
                    <a:pt x="342" y="140"/>
                  </a:cubicBezTo>
                  <a:cubicBezTo>
                    <a:pt x="328" y="182"/>
                    <a:pt x="289" y="193"/>
                    <a:pt x="274" y="197"/>
                  </a:cubicBezTo>
                  <a:cubicBezTo>
                    <a:pt x="271" y="198"/>
                    <a:pt x="267" y="198"/>
                    <a:pt x="264" y="197"/>
                  </a:cubicBezTo>
                  <a:cubicBezTo>
                    <a:pt x="256" y="209"/>
                    <a:pt x="245" y="219"/>
                    <a:pt x="232" y="225"/>
                  </a:cubicBezTo>
                  <a:cubicBezTo>
                    <a:pt x="232" y="225"/>
                    <a:pt x="232" y="225"/>
                    <a:pt x="232" y="225"/>
                  </a:cubicBezTo>
                  <a:cubicBezTo>
                    <a:pt x="239" y="225"/>
                    <a:pt x="244" y="230"/>
                    <a:pt x="244" y="237"/>
                  </a:cubicBezTo>
                  <a:cubicBezTo>
                    <a:pt x="88" y="237"/>
                    <a:pt x="88" y="237"/>
                    <a:pt x="88" y="237"/>
                  </a:cubicBezTo>
                  <a:cubicBezTo>
                    <a:pt x="88" y="230"/>
                    <a:pt x="93" y="225"/>
                    <a:pt x="99" y="225"/>
                  </a:cubicBezTo>
                  <a:cubicBezTo>
                    <a:pt x="99" y="225"/>
                    <a:pt x="99" y="225"/>
                    <a:pt x="99" y="225"/>
                  </a:cubicBezTo>
                  <a:cubicBezTo>
                    <a:pt x="81" y="216"/>
                    <a:pt x="67" y="200"/>
                    <a:pt x="59" y="182"/>
                  </a:cubicBezTo>
                  <a:cubicBezTo>
                    <a:pt x="46" y="179"/>
                    <a:pt x="17" y="159"/>
                    <a:pt x="20" y="110"/>
                  </a:cubicBezTo>
                  <a:cubicBezTo>
                    <a:pt x="22" y="63"/>
                    <a:pt x="9" y="72"/>
                    <a:pt x="2" y="58"/>
                  </a:cubicBezTo>
                  <a:cubicBezTo>
                    <a:pt x="0" y="54"/>
                    <a:pt x="11" y="48"/>
                    <a:pt x="26" y="51"/>
                  </a:cubicBezTo>
                  <a:cubicBezTo>
                    <a:pt x="38" y="53"/>
                    <a:pt x="45" y="52"/>
                    <a:pt x="54" y="97"/>
                  </a:cubicBezTo>
                  <a:cubicBezTo>
                    <a:pt x="54" y="101"/>
                    <a:pt x="56" y="104"/>
                    <a:pt x="58" y="106"/>
                  </a:cubicBezTo>
                  <a:cubicBezTo>
                    <a:pt x="65" y="92"/>
                    <a:pt x="77" y="82"/>
                    <a:pt x="94" y="75"/>
                  </a:cubicBezTo>
                  <a:cubicBezTo>
                    <a:pt x="237" y="75"/>
                    <a:pt x="237" y="75"/>
                    <a:pt x="237" y="75"/>
                  </a:cubicBezTo>
                  <a:cubicBezTo>
                    <a:pt x="243" y="77"/>
                    <a:pt x="248" y="80"/>
                    <a:pt x="253" y="83"/>
                  </a:cubicBezTo>
                  <a:cubicBezTo>
                    <a:pt x="254" y="84"/>
                    <a:pt x="256" y="86"/>
                    <a:pt x="257" y="87"/>
                  </a:cubicBezTo>
                  <a:cubicBezTo>
                    <a:pt x="269" y="69"/>
                    <a:pt x="286" y="61"/>
                    <a:pt x="307" y="65"/>
                  </a:cubicBezTo>
                  <a:cubicBezTo>
                    <a:pt x="309" y="65"/>
                    <a:pt x="311" y="65"/>
                    <a:pt x="312" y="66"/>
                  </a:cubicBezTo>
                  <a:cubicBezTo>
                    <a:pt x="324" y="69"/>
                    <a:pt x="334" y="76"/>
                    <a:pt x="340" y="87"/>
                  </a:cubicBezTo>
                  <a:cubicBezTo>
                    <a:pt x="345" y="97"/>
                    <a:pt x="350" y="114"/>
                    <a:pt x="343" y="139"/>
                  </a:cubicBezTo>
                  <a:close/>
                  <a:moveTo>
                    <a:pt x="120" y="212"/>
                  </a:moveTo>
                  <a:cubicBezTo>
                    <a:pt x="102" y="198"/>
                    <a:pt x="90" y="167"/>
                    <a:pt x="91" y="136"/>
                  </a:cubicBezTo>
                  <a:cubicBezTo>
                    <a:pt x="92" y="123"/>
                    <a:pt x="96" y="99"/>
                    <a:pt x="115" y="88"/>
                  </a:cubicBezTo>
                  <a:cubicBezTo>
                    <a:pt x="97" y="88"/>
                    <a:pt x="97" y="88"/>
                    <a:pt x="97" y="88"/>
                  </a:cubicBezTo>
                  <a:cubicBezTo>
                    <a:pt x="69" y="99"/>
                    <a:pt x="64" y="123"/>
                    <a:pt x="63" y="136"/>
                  </a:cubicBezTo>
                  <a:cubicBezTo>
                    <a:pt x="61" y="167"/>
                    <a:pt x="77" y="198"/>
                    <a:pt x="102" y="212"/>
                  </a:cubicBezTo>
                  <a:lnTo>
                    <a:pt x="120" y="212"/>
                  </a:lnTo>
                  <a:close/>
                  <a:moveTo>
                    <a:pt x="306" y="88"/>
                  </a:moveTo>
                  <a:cubicBezTo>
                    <a:pt x="303" y="87"/>
                    <a:pt x="283" y="81"/>
                    <a:pt x="272" y="108"/>
                  </a:cubicBezTo>
                  <a:cubicBezTo>
                    <a:pt x="281" y="129"/>
                    <a:pt x="278" y="153"/>
                    <a:pt x="268" y="175"/>
                  </a:cubicBezTo>
                  <a:cubicBezTo>
                    <a:pt x="282" y="171"/>
                    <a:pt x="310" y="162"/>
                    <a:pt x="321" y="133"/>
                  </a:cubicBezTo>
                  <a:cubicBezTo>
                    <a:pt x="329" y="105"/>
                    <a:pt x="319" y="91"/>
                    <a:pt x="306"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91" name="Group 590"/>
          <p:cNvGrpSpPr/>
          <p:nvPr userDrawn="1"/>
        </p:nvGrpSpPr>
        <p:grpSpPr>
          <a:xfrm>
            <a:off x="7586982" y="5582907"/>
            <a:ext cx="309642" cy="275104"/>
            <a:chOff x="1733550" y="2919413"/>
            <a:chExt cx="825500" cy="733425"/>
          </a:xfrm>
          <a:solidFill>
            <a:schemeClr val="tx1"/>
          </a:solidFill>
        </p:grpSpPr>
        <p:sp>
          <p:nvSpPr>
            <p:cNvPr id="592" name="Freeform 18"/>
            <p:cNvSpPr>
              <a:spLocks/>
            </p:cNvSpPr>
            <p:nvPr/>
          </p:nvSpPr>
          <p:spPr bwMode="auto">
            <a:xfrm>
              <a:off x="1733550" y="2927350"/>
              <a:ext cx="725488" cy="725488"/>
            </a:xfrm>
            <a:custGeom>
              <a:avLst/>
              <a:gdLst>
                <a:gd name="T0" fmla="*/ 248 w 261"/>
                <a:gd name="T1" fmla="*/ 131 h 261"/>
                <a:gd name="T2" fmla="*/ 131 w 261"/>
                <a:gd name="T3" fmla="*/ 248 h 261"/>
                <a:gd name="T4" fmla="*/ 14 w 261"/>
                <a:gd name="T5" fmla="*/ 131 h 261"/>
                <a:gd name="T6" fmla="*/ 131 w 261"/>
                <a:gd name="T7" fmla="*/ 14 h 261"/>
                <a:gd name="T8" fmla="*/ 189 w 261"/>
                <a:gd name="T9" fmla="*/ 30 h 261"/>
                <a:gd name="T10" fmla="*/ 196 w 261"/>
                <a:gd name="T11" fmla="*/ 18 h 261"/>
                <a:gd name="T12" fmla="*/ 131 w 261"/>
                <a:gd name="T13" fmla="*/ 0 h 261"/>
                <a:gd name="T14" fmla="*/ 0 w 261"/>
                <a:gd name="T15" fmla="*/ 131 h 261"/>
                <a:gd name="T16" fmla="*/ 131 w 261"/>
                <a:gd name="T17" fmla="*/ 261 h 261"/>
                <a:gd name="T18" fmla="*/ 261 w 261"/>
                <a:gd name="T19" fmla="*/ 131 h 261"/>
                <a:gd name="T20" fmla="*/ 248 w 261"/>
                <a:gd name="T21" fmla="*/ 13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1" h="261">
                  <a:moveTo>
                    <a:pt x="248" y="131"/>
                  </a:moveTo>
                  <a:cubicBezTo>
                    <a:pt x="248" y="195"/>
                    <a:pt x="195" y="248"/>
                    <a:pt x="131" y="248"/>
                  </a:cubicBezTo>
                  <a:cubicBezTo>
                    <a:pt x="67" y="248"/>
                    <a:pt x="14" y="195"/>
                    <a:pt x="14" y="131"/>
                  </a:cubicBezTo>
                  <a:cubicBezTo>
                    <a:pt x="14" y="66"/>
                    <a:pt x="67" y="14"/>
                    <a:pt x="131" y="14"/>
                  </a:cubicBezTo>
                  <a:cubicBezTo>
                    <a:pt x="152" y="14"/>
                    <a:pt x="172" y="20"/>
                    <a:pt x="189" y="30"/>
                  </a:cubicBezTo>
                  <a:cubicBezTo>
                    <a:pt x="196" y="18"/>
                    <a:pt x="196" y="18"/>
                    <a:pt x="196" y="18"/>
                  </a:cubicBezTo>
                  <a:cubicBezTo>
                    <a:pt x="177" y="7"/>
                    <a:pt x="155" y="0"/>
                    <a:pt x="131" y="0"/>
                  </a:cubicBezTo>
                  <a:cubicBezTo>
                    <a:pt x="59" y="0"/>
                    <a:pt x="0" y="59"/>
                    <a:pt x="0" y="131"/>
                  </a:cubicBezTo>
                  <a:cubicBezTo>
                    <a:pt x="0" y="203"/>
                    <a:pt x="59" y="261"/>
                    <a:pt x="131" y="261"/>
                  </a:cubicBezTo>
                  <a:cubicBezTo>
                    <a:pt x="203" y="261"/>
                    <a:pt x="261" y="203"/>
                    <a:pt x="261" y="131"/>
                  </a:cubicBezTo>
                  <a:lnTo>
                    <a:pt x="248"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3" name="Freeform 19"/>
            <p:cNvSpPr>
              <a:spLocks/>
            </p:cNvSpPr>
            <p:nvPr/>
          </p:nvSpPr>
          <p:spPr bwMode="auto">
            <a:xfrm>
              <a:off x="2359025" y="2919413"/>
              <a:ext cx="200025" cy="314325"/>
            </a:xfrm>
            <a:custGeom>
              <a:avLst/>
              <a:gdLst>
                <a:gd name="T0" fmla="*/ 58 w 72"/>
                <a:gd name="T1" fmla="*/ 113 h 113"/>
                <a:gd name="T2" fmla="*/ 72 w 72"/>
                <a:gd name="T3" fmla="*/ 113 h 113"/>
                <a:gd name="T4" fmla="*/ 7 w 72"/>
                <a:gd name="T5" fmla="*/ 0 h 113"/>
                <a:gd name="T6" fmla="*/ 0 w 72"/>
                <a:gd name="T7" fmla="*/ 12 h 113"/>
                <a:gd name="T8" fmla="*/ 58 w 72"/>
                <a:gd name="T9" fmla="*/ 113 h 113"/>
              </a:gdLst>
              <a:ahLst/>
              <a:cxnLst>
                <a:cxn ang="0">
                  <a:pos x="T0" y="T1"/>
                </a:cxn>
                <a:cxn ang="0">
                  <a:pos x="T2" y="T3"/>
                </a:cxn>
                <a:cxn ang="0">
                  <a:pos x="T4" y="T5"/>
                </a:cxn>
                <a:cxn ang="0">
                  <a:pos x="T6" y="T7"/>
                </a:cxn>
                <a:cxn ang="0">
                  <a:pos x="T8" y="T9"/>
                </a:cxn>
              </a:cxnLst>
              <a:rect l="0" t="0" r="r" b="b"/>
              <a:pathLst>
                <a:path w="72" h="113">
                  <a:moveTo>
                    <a:pt x="58" y="113"/>
                  </a:moveTo>
                  <a:cubicBezTo>
                    <a:pt x="72" y="113"/>
                    <a:pt x="72" y="113"/>
                    <a:pt x="72" y="113"/>
                  </a:cubicBezTo>
                  <a:cubicBezTo>
                    <a:pt x="72" y="65"/>
                    <a:pt x="46" y="23"/>
                    <a:pt x="7" y="0"/>
                  </a:cubicBezTo>
                  <a:cubicBezTo>
                    <a:pt x="0" y="12"/>
                    <a:pt x="0" y="12"/>
                    <a:pt x="0" y="12"/>
                  </a:cubicBezTo>
                  <a:cubicBezTo>
                    <a:pt x="35" y="32"/>
                    <a:pt x="58" y="70"/>
                    <a:pt x="58"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4" name="Freeform 20"/>
            <p:cNvSpPr>
              <a:spLocks noEditPoints="1"/>
            </p:cNvSpPr>
            <p:nvPr/>
          </p:nvSpPr>
          <p:spPr bwMode="auto">
            <a:xfrm>
              <a:off x="2195513" y="2986088"/>
              <a:ext cx="287338" cy="247650"/>
            </a:xfrm>
            <a:custGeom>
              <a:avLst/>
              <a:gdLst>
                <a:gd name="T0" fmla="*/ 52 w 104"/>
                <a:gd name="T1" fmla="*/ 0 h 89"/>
                <a:gd name="T2" fmla="*/ 0 w 104"/>
                <a:gd name="T3" fmla="*/ 89 h 89"/>
                <a:gd name="T4" fmla="*/ 104 w 104"/>
                <a:gd name="T5" fmla="*/ 89 h 89"/>
                <a:gd name="T6" fmla="*/ 52 w 104"/>
                <a:gd name="T7" fmla="*/ 0 h 89"/>
                <a:gd name="T8" fmla="*/ 38 w 104"/>
                <a:gd name="T9" fmla="*/ 72 h 89"/>
                <a:gd name="T10" fmla="*/ 26 w 104"/>
                <a:gd name="T11" fmla="*/ 69 h 89"/>
                <a:gd name="T12" fmla="*/ 29 w 104"/>
                <a:gd name="T13" fmla="*/ 56 h 89"/>
                <a:gd name="T14" fmla="*/ 41 w 104"/>
                <a:gd name="T15" fmla="*/ 60 h 89"/>
                <a:gd name="T16" fmla="*/ 38 w 104"/>
                <a:gd name="T17" fmla="*/ 72 h 89"/>
                <a:gd name="T18" fmla="*/ 80 w 104"/>
                <a:gd name="T19" fmla="*/ 75 h 89"/>
                <a:gd name="T20" fmla="*/ 64 w 104"/>
                <a:gd name="T21" fmla="*/ 70 h 89"/>
                <a:gd name="T22" fmla="*/ 68 w 104"/>
                <a:gd name="T23" fmla="*/ 54 h 89"/>
                <a:gd name="T24" fmla="*/ 84 w 104"/>
                <a:gd name="T25" fmla="*/ 59 h 89"/>
                <a:gd name="T26" fmla="*/ 80 w 104"/>
                <a:gd name="T27" fmla="*/ 7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 h="89">
                  <a:moveTo>
                    <a:pt x="52" y="0"/>
                  </a:moveTo>
                  <a:cubicBezTo>
                    <a:pt x="0" y="89"/>
                    <a:pt x="0" y="89"/>
                    <a:pt x="0" y="89"/>
                  </a:cubicBezTo>
                  <a:cubicBezTo>
                    <a:pt x="104" y="89"/>
                    <a:pt x="104" y="89"/>
                    <a:pt x="104" y="89"/>
                  </a:cubicBezTo>
                  <a:cubicBezTo>
                    <a:pt x="104" y="51"/>
                    <a:pt x="83" y="18"/>
                    <a:pt x="52" y="0"/>
                  </a:cubicBezTo>
                  <a:close/>
                  <a:moveTo>
                    <a:pt x="38" y="72"/>
                  </a:moveTo>
                  <a:cubicBezTo>
                    <a:pt x="34" y="74"/>
                    <a:pt x="28" y="73"/>
                    <a:pt x="26" y="69"/>
                  </a:cubicBezTo>
                  <a:cubicBezTo>
                    <a:pt x="23" y="64"/>
                    <a:pt x="25" y="59"/>
                    <a:pt x="29" y="56"/>
                  </a:cubicBezTo>
                  <a:cubicBezTo>
                    <a:pt x="33" y="54"/>
                    <a:pt x="39" y="55"/>
                    <a:pt x="41" y="60"/>
                  </a:cubicBezTo>
                  <a:cubicBezTo>
                    <a:pt x="43" y="64"/>
                    <a:pt x="42" y="69"/>
                    <a:pt x="38" y="72"/>
                  </a:cubicBezTo>
                  <a:close/>
                  <a:moveTo>
                    <a:pt x="80" y="75"/>
                  </a:moveTo>
                  <a:cubicBezTo>
                    <a:pt x="74" y="78"/>
                    <a:pt x="67" y="76"/>
                    <a:pt x="64" y="70"/>
                  </a:cubicBezTo>
                  <a:cubicBezTo>
                    <a:pt x="60" y="65"/>
                    <a:pt x="62" y="58"/>
                    <a:pt x="68" y="54"/>
                  </a:cubicBezTo>
                  <a:cubicBezTo>
                    <a:pt x="73" y="51"/>
                    <a:pt x="81" y="53"/>
                    <a:pt x="84" y="59"/>
                  </a:cubicBezTo>
                  <a:cubicBezTo>
                    <a:pt x="87" y="64"/>
                    <a:pt x="85" y="71"/>
                    <a:pt x="80"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5" name="Freeform 21"/>
            <p:cNvSpPr>
              <a:spLocks noEditPoints="1"/>
            </p:cNvSpPr>
            <p:nvPr/>
          </p:nvSpPr>
          <p:spPr bwMode="auto">
            <a:xfrm>
              <a:off x="1811338" y="3005138"/>
              <a:ext cx="571500" cy="571500"/>
            </a:xfrm>
            <a:custGeom>
              <a:avLst/>
              <a:gdLst>
                <a:gd name="T0" fmla="*/ 103 w 206"/>
                <a:gd name="T1" fmla="*/ 103 h 206"/>
                <a:gd name="T2" fmla="*/ 154 w 206"/>
                <a:gd name="T3" fmla="*/ 13 h 206"/>
                <a:gd name="T4" fmla="*/ 103 w 206"/>
                <a:gd name="T5" fmla="*/ 0 h 206"/>
                <a:gd name="T6" fmla="*/ 0 w 206"/>
                <a:gd name="T7" fmla="*/ 103 h 206"/>
                <a:gd name="T8" fmla="*/ 103 w 206"/>
                <a:gd name="T9" fmla="*/ 206 h 206"/>
                <a:gd name="T10" fmla="*/ 206 w 206"/>
                <a:gd name="T11" fmla="*/ 103 h 206"/>
                <a:gd name="T12" fmla="*/ 103 w 206"/>
                <a:gd name="T13" fmla="*/ 103 h 206"/>
                <a:gd name="T14" fmla="*/ 95 w 206"/>
                <a:gd name="T15" fmla="*/ 28 h 206"/>
                <a:gd name="T16" fmla="*/ 109 w 206"/>
                <a:gd name="T17" fmla="*/ 32 h 206"/>
                <a:gd name="T18" fmla="*/ 105 w 206"/>
                <a:gd name="T19" fmla="*/ 46 h 206"/>
                <a:gd name="T20" fmla="*/ 91 w 206"/>
                <a:gd name="T21" fmla="*/ 42 h 206"/>
                <a:gd name="T22" fmla="*/ 95 w 206"/>
                <a:gd name="T23" fmla="*/ 28 h 206"/>
                <a:gd name="T24" fmla="*/ 102 w 206"/>
                <a:gd name="T25" fmla="*/ 187 h 206"/>
                <a:gd name="T26" fmla="*/ 86 w 206"/>
                <a:gd name="T27" fmla="*/ 183 h 206"/>
                <a:gd name="T28" fmla="*/ 91 w 206"/>
                <a:gd name="T29" fmla="*/ 167 h 206"/>
                <a:gd name="T30" fmla="*/ 107 w 206"/>
                <a:gd name="T31" fmla="*/ 172 h 206"/>
                <a:gd name="T32" fmla="*/ 102 w 206"/>
                <a:gd name="T33" fmla="*/ 187 h 206"/>
                <a:gd name="T34" fmla="*/ 51 w 206"/>
                <a:gd name="T35" fmla="*/ 112 h 206"/>
                <a:gd name="T36" fmla="*/ 33 w 206"/>
                <a:gd name="T37" fmla="*/ 107 h 206"/>
                <a:gd name="T38" fmla="*/ 38 w 206"/>
                <a:gd name="T39" fmla="*/ 89 h 206"/>
                <a:gd name="T40" fmla="*/ 56 w 206"/>
                <a:gd name="T41" fmla="*/ 94 h 206"/>
                <a:gd name="T42" fmla="*/ 51 w 206"/>
                <a:gd name="T43" fmla="*/ 112 h 206"/>
                <a:gd name="T44" fmla="*/ 52 w 206"/>
                <a:gd name="T45" fmla="*/ 64 h 206"/>
                <a:gd name="T46" fmla="*/ 39 w 206"/>
                <a:gd name="T47" fmla="*/ 60 h 206"/>
                <a:gd name="T48" fmla="*/ 43 w 206"/>
                <a:gd name="T49" fmla="*/ 48 h 206"/>
                <a:gd name="T50" fmla="*/ 55 w 206"/>
                <a:gd name="T51" fmla="*/ 51 h 206"/>
                <a:gd name="T52" fmla="*/ 52 w 206"/>
                <a:gd name="T53" fmla="*/ 64 h 206"/>
                <a:gd name="T54" fmla="*/ 91 w 206"/>
                <a:gd name="T55" fmla="*/ 85 h 206"/>
                <a:gd name="T56" fmla="*/ 78 w 206"/>
                <a:gd name="T57" fmla="*/ 82 h 206"/>
                <a:gd name="T58" fmla="*/ 82 w 206"/>
                <a:gd name="T59" fmla="*/ 70 h 206"/>
                <a:gd name="T60" fmla="*/ 94 w 206"/>
                <a:gd name="T61" fmla="*/ 73 h 206"/>
                <a:gd name="T62" fmla="*/ 91 w 206"/>
                <a:gd name="T63" fmla="*/ 85 h 206"/>
                <a:gd name="T64" fmla="*/ 112 w 206"/>
                <a:gd name="T65" fmla="*/ 143 h 206"/>
                <a:gd name="T66" fmla="*/ 100 w 206"/>
                <a:gd name="T67" fmla="*/ 140 h 206"/>
                <a:gd name="T68" fmla="*/ 104 w 206"/>
                <a:gd name="T69" fmla="*/ 128 h 206"/>
                <a:gd name="T70" fmla="*/ 116 w 206"/>
                <a:gd name="T71" fmla="*/ 131 h 206"/>
                <a:gd name="T72" fmla="*/ 112 w 206"/>
                <a:gd name="T73" fmla="*/ 143 h 206"/>
                <a:gd name="T74" fmla="*/ 42 w 206"/>
                <a:gd name="T75" fmla="*/ 150 h 206"/>
                <a:gd name="T76" fmla="*/ 30 w 206"/>
                <a:gd name="T77" fmla="*/ 147 h 206"/>
                <a:gd name="T78" fmla="*/ 33 w 206"/>
                <a:gd name="T79" fmla="*/ 134 h 206"/>
                <a:gd name="T80" fmla="*/ 46 w 206"/>
                <a:gd name="T81" fmla="*/ 138 h 206"/>
                <a:gd name="T82" fmla="*/ 42 w 206"/>
                <a:gd name="T83" fmla="*/ 150 h 206"/>
                <a:gd name="T84" fmla="*/ 168 w 206"/>
                <a:gd name="T85" fmla="*/ 155 h 206"/>
                <a:gd name="T86" fmla="*/ 150 w 206"/>
                <a:gd name="T87" fmla="*/ 150 h 206"/>
                <a:gd name="T88" fmla="*/ 155 w 206"/>
                <a:gd name="T89" fmla="*/ 131 h 206"/>
                <a:gd name="T90" fmla="*/ 173 w 206"/>
                <a:gd name="T91" fmla="*/ 136 h 206"/>
                <a:gd name="T92" fmla="*/ 168 w 206"/>
                <a:gd name="T93" fmla="*/ 15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6" h="206">
                  <a:moveTo>
                    <a:pt x="103" y="103"/>
                  </a:moveTo>
                  <a:cubicBezTo>
                    <a:pt x="154" y="13"/>
                    <a:pt x="154" y="13"/>
                    <a:pt x="154" y="13"/>
                  </a:cubicBezTo>
                  <a:cubicBezTo>
                    <a:pt x="139" y="5"/>
                    <a:pt x="122" y="0"/>
                    <a:pt x="103" y="0"/>
                  </a:cubicBezTo>
                  <a:cubicBezTo>
                    <a:pt x="46" y="0"/>
                    <a:pt x="0" y="46"/>
                    <a:pt x="0" y="103"/>
                  </a:cubicBezTo>
                  <a:cubicBezTo>
                    <a:pt x="0" y="160"/>
                    <a:pt x="46" y="206"/>
                    <a:pt x="103" y="206"/>
                  </a:cubicBezTo>
                  <a:cubicBezTo>
                    <a:pt x="160" y="206"/>
                    <a:pt x="206" y="160"/>
                    <a:pt x="206" y="103"/>
                  </a:cubicBezTo>
                  <a:lnTo>
                    <a:pt x="103" y="103"/>
                  </a:lnTo>
                  <a:close/>
                  <a:moveTo>
                    <a:pt x="95" y="28"/>
                  </a:moveTo>
                  <a:cubicBezTo>
                    <a:pt x="100" y="25"/>
                    <a:pt x="106" y="27"/>
                    <a:pt x="109" y="32"/>
                  </a:cubicBezTo>
                  <a:cubicBezTo>
                    <a:pt x="112" y="37"/>
                    <a:pt x="110" y="43"/>
                    <a:pt x="105" y="46"/>
                  </a:cubicBezTo>
                  <a:cubicBezTo>
                    <a:pt x="101" y="49"/>
                    <a:pt x="94" y="47"/>
                    <a:pt x="91" y="42"/>
                  </a:cubicBezTo>
                  <a:cubicBezTo>
                    <a:pt x="89" y="37"/>
                    <a:pt x="90" y="31"/>
                    <a:pt x="95" y="28"/>
                  </a:cubicBezTo>
                  <a:close/>
                  <a:moveTo>
                    <a:pt x="102" y="187"/>
                  </a:moveTo>
                  <a:cubicBezTo>
                    <a:pt x="97" y="191"/>
                    <a:pt x="90" y="189"/>
                    <a:pt x="86" y="183"/>
                  </a:cubicBezTo>
                  <a:cubicBezTo>
                    <a:pt x="83" y="178"/>
                    <a:pt x="85" y="171"/>
                    <a:pt x="91" y="167"/>
                  </a:cubicBezTo>
                  <a:cubicBezTo>
                    <a:pt x="96" y="164"/>
                    <a:pt x="103" y="166"/>
                    <a:pt x="107" y="172"/>
                  </a:cubicBezTo>
                  <a:cubicBezTo>
                    <a:pt x="110" y="177"/>
                    <a:pt x="108" y="184"/>
                    <a:pt x="102" y="187"/>
                  </a:cubicBezTo>
                  <a:close/>
                  <a:moveTo>
                    <a:pt x="51" y="112"/>
                  </a:moveTo>
                  <a:cubicBezTo>
                    <a:pt x="45" y="116"/>
                    <a:pt x="36" y="114"/>
                    <a:pt x="33" y="107"/>
                  </a:cubicBezTo>
                  <a:cubicBezTo>
                    <a:pt x="29" y="101"/>
                    <a:pt x="31" y="93"/>
                    <a:pt x="38" y="89"/>
                  </a:cubicBezTo>
                  <a:cubicBezTo>
                    <a:pt x="44" y="85"/>
                    <a:pt x="52" y="87"/>
                    <a:pt x="56" y="94"/>
                  </a:cubicBezTo>
                  <a:cubicBezTo>
                    <a:pt x="60" y="100"/>
                    <a:pt x="58" y="109"/>
                    <a:pt x="51" y="112"/>
                  </a:cubicBezTo>
                  <a:close/>
                  <a:moveTo>
                    <a:pt x="52" y="64"/>
                  </a:moveTo>
                  <a:cubicBezTo>
                    <a:pt x="47" y="66"/>
                    <a:pt x="42" y="65"/>
                    <a:pt x="39" y="60"/>
                  </a:cubicBezTo>
                  <a:cubicBezTo>
                    <a:pt x="37" y="56"/>
                    <a:pt x="38" y="51"/>
                    <a:pt x="43" y="48"/>
                  </a:cubicBezTo>
                  <a:cubicBezTo>
                    <a:pt x="47" y="46"/>
                    <a:pt x="52" y="47"/>
                    <a:pt x="55" y="51"/>
                  </a:cubicBezTo>
                  <a:cubicBezTo>
                    <a:pt x="57" y="56"/>
                    <a:pt x="56" y="61"/>
                    <a:pt x="52" y="64"/>
                  </a:cubicBezTo>
                  <a:close/>
                  <a:moveTo>
                    <a:pt x="91" y="85"/>
                  </a:moveTo>
                  <a:cubicBezTo>
                    <a:pt x="86" y="88"/>
                    <a:pt x="81" y="86"/>
                    <a:pt x="78" y="82"/>
                  </a:cubicBezTo>
                  <a:cubicBezTo>
                    <a:pt x="76" y="78"/>
                    <a:pt x="77" y="72"/>
                    <a:pt x="82" y="70"/>
                  </a:cubicBezTo>
                  <a:cubicBezTo>
                    <a:pt x="86" y="67"/>
                    <a:pt x="91" y="69"/>
                    <a:pt x="94" y="73"/>
                  </a:cubicBezTo>
                  <a:cubicBezTo>
                    <a:pt x="96" y="77"/>
                    <a:pt x="95" y="83"/>
                    <a:pt x="91" y="85"/>
                  </a:cubicBezTo>
                  <a:close/>
                  <a:moveTo>
                    <a:pt x="112" y="143"/>
                  </a:moveTo>
                  <a:cubicBezTo>
                    <a:pt x="108" y="146"/>
                    <a:pt x="103" y="144"/>
                    <a:pt x="100" y="140"/>
                  </a:cubicBezTo>
                  <a:cubicBezTo>
                    <a:pt x="98" y="136"/>
                    <a:pt x="99" y="130"/>
                    <a:pt x="104" y="128"/>
                  </a:cubicBezTo>
                  <a:cubicBezTo>
                    <a:pt x="108" y="125"/>
                    <a:pt x="113" y="127"/>
                    <a:pt x="116" y="131"/>
                  </a:cubicBezTo>
                  <a:cubicBezTo>
                    <a:pt x="118" y="135"/>
                    <a:pt x="117" y="141"/>
                    <a:pt x="112" y="143"/>
                  </a:cubicBezTo>
                  <a:close/>
                  <a:moveTo>
                    <a:pt x="42" y="150"/>
                  </a:moveTo>
                  <a:cubicBezTo>
                    <a:pt x="38" y="152"/>
                    <a:pt x="33" y="151"/>
                    <a:pt x="30" y="147"/>
                  </a:cubicBezTo>
                  <a:cubicBezTo>
                    <a:pt x="28" y="142"/>
                    <a:pt x="29" y="137"/>
                    <a:pt x="33" y="134"/>
                  </a:cubicBezTo>
                  <a:cubicBezTo>
                    <a:pt x="38" y="132"/>
                    <a:pt x="43" y="133"/>
                    <a:pt x="46" y="138"/>
                  </a:cubicBezTo>
                  <a:cubicBezTo>
                    <a:pt x="48" y="142"/>
                    <a:pt x="47" y="147"/>
                    <a:pt x="42" y="150"/>
                  </a:cubicBezTo>
                  <a:close/>
                  <a:moveTo>
                    <a:pt x="168" y="155"/>
                  </a:moveTo>
                  <a:cubicBezTo>
                    <a:pt x="162" y="159"/>
                    <a:pt x="153" y="157"/>
                    <a:pt x="150" y="150"/>
                  </a:cubicBezTo>
                  <a:cubicBezTo>
                    <a:pt x="146" y="144"/>
                    <a:pt x="148" y="135"/>
                    <a:pt x="155" y="131"/>
                  </a:cubicBezTo>
                  <a:cubicBezTo>
                    <a:pt x="161" y="128"/>
                    <a:pt x="169" y="130"/>
                    <a:pt x="173" y="136"/>
                  </a:cubicBezTo>
                  <a:cubicBezTo>
                    <a:pt x="177" y="143"/>
                    <a:pt x="175" y="151"/>
                    <a:pt x="168" y="1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02" name="Group 601"/>
          <p:cNvGrpSpPr/>
          <p:nvPr userDrawn="1"/>
        </p:nvGrpSpPr>
        <p:grpSpPr>
          <a:xfrm>
            <a:off x="7637612" y="4936404"/>
            <a:ext cx="249276" cy="298230"/>
            <a:chOff x="4646613" y="4210050"/>
            <a:chExt cx="703263" cy="841375"/>
          </a:xfrm>
          <a:solidFill>
            <a:schemeClr val="tx1"/>
          </a:solidFill>
        </p:grpSpPr>
        <p:sp>
          <p:nvSpPr>
            <p:cNvPr id="603" name="Freeform 27"/>
            <p:cNvSpPr>
              <a:spLocks noEditPoints="1"/>
            </p:cNvSpPr>
            <p:nvPr/>
          </p:nvSpPr>
          <p:spPr bwMode="auto">
            <a:xfrm>
              <a:off x="4646613" y="4210050"/>
              <a:ext cx="703263" cy="841375"/>
            </a:xfrm>
            <a:custGeom>
              <a:avLst/>
              <a:gdLst>
                <a:gd name="T0" fmla="*/ 206 w 253"/>
                <a:gd name="T1" fmla="*/ 294 h 303"/>
                <a:gd name="T2" fmla="*/ 137 w 253"/>
                <a:gd name="T3" fmla="*/ 269 h 303"/>
                <a:gd name="T4" fmla="*/ 137 w 253"/>
                <a:gd name="T5" fmla="*/ 209 h 303"/>
                <a:gd name="T6" fmla="*/ 144 w 253"/>
                <a:gd name="T7" fmla="*/ 200 h 303"/>
                <a:gd name="T8" fmla="*/ 206 w 253"/>
                <a:gd name="T9" fmla="*/ 15 h 303"/>
                <a:gd name="T10" fmla="*/ 189 w 253"/>
                <a:gd name="T11" fmla="*/ 0 h 303"/>
                <a:gd name="T12" fmla="*/ 63 w 253"/>
                <a:gd name="T13" fmla="*/ 0 h 303"/>
                <a:gd name="T14" fmla="*/ 46 w 253"/>
                <a:gd name="T15" fmla="*/ 15 h 303"/>
                <a:gd name="T16" fmla="*/ 108 w 253"/>
                <a:gd name="T17" fmla="*/ 200 h 303"/>
                <a:gd name="T18" fmla="*/ 115 w 253"/>
                <a:gd name="T19" fmla="*/ 209 h 303"/>
                <a:gd name="T20" fmla="*/ 115 w 253"/>
                <a:gd name="T21" fmla="*/ 269 h 303"/>
                <a:gd name="T22" fmla="*/ 46 w 253"/>
                <a:gd name="T23" fmla="*/ 294 h 303"/>
                <a:gd name="T24" fmla="*/ 42 w 253"/>
                <a:gd name="T25" fmla="*/ 298 h 303"/>
                <a:gd name="T26" fmla="*/ 46 w 253"/>
                <a:gd name="T27" fmla="*/ 303 h 303"/>
                <a:gd name="T28" fmla="*/ 126 w 253"/>
                <a:gd name="T29" fmla="*/ 303 h 303"/>
                <a:gd name="T30" fmla="*/ 206 w 253"/>
                <a:gd name="T31" fmla="*/ 303 h 303"/>
                <a:gd name="T32" fmla="*/ 210 w 253"/>
                <a:gd name="T33" fmla="*/ 298 h 303"/>
                <a:gd name="T34" fmla="*/ 206 w 253"/>
                <a:gd name="T35" fmla="*/ 294 h 303"/>
                <a:gd name="T36" fmla="*/ 110 w 253"/>
                <a:gd name="T37" fmla="*/ 178 h 303"/>
                <a:gd name="T38" fmla="*/ 63 w 253"/>
                <a:gd name="T39" fmla="*/ 150 h 303"/>
                <a:gd name="T40" fmla="*/ 57 w 253"/>
                <a:gd name="T41" fmla="*/ 23 h 303"/>
                <a:gd name="T42" fmla="*/ 68 w 253"/>
                <a:gd name="T43" fmla="*/ 13 h 303"/>
                <a:gd name="T44" fmla="*/ 126 w 253"/>
                <a:gd name="T45" fmla="*/ 13 h 303"/>
                <a:gd name="T46" fmla="*/ 184 w 253"/>
                <a:gd name="T47" fmla="*/ 13 h 303"/>
                <a:gd name="T48" fmla="*/ 196 w 253"/>
                <a:gd name="T49" fmla="*/ 25 h 303"/>
                <a:gd name="T50" fmla="*/ 189 w 253"/>
                <a:gd name="T51" fmla="*/ 150 h 303"/>
                <a:gd name="T52" fmla="*/ 142 w 253"/>
                <a:gd name="T53" fmla="*/ 178 h 303"/>
                <a:gd name="T54" fmla="*/ 110 w 253"/>
                <a:gd name="T55" fmla="*/ 17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53" h="303">
                  <a:moveTo>
                    <a:pt x="206" y="294"/>
                  </a:moveTo>
                  <a:cubicBezTo>
                    <a:pt x="206" y="294"/>
                    <a:pt x="179" y="297"/>
                    <a:pt x="137" y="269"/>
                  </a:cubicBezTo>
                  <a:cubicBezTo>
                    <a:pt x="137" y="269"/>
                    <a:pt x="137" y="239"/>
                    <a:pt x="137" y="209"/>
                  </a:cubicBezTo>
                  <a:cubicBezTo>
                    <a:pt x="137" y="204"/>
                    <a:pt x="140" y="201"/>
                    <a:pt x="144" y="200"/>
                  </a:cubicBezTo>
                  <a:cubicBezTo>
                    <a:pt x="175" y="195"/>
                    <a:pt x="253" y="151"/>
                    <a:pt x="206" y="15"/>
                  </a:cubicBezTo>
                  <a:cubicBezTo>
                    <a:pt x="204" y="10"/>
                    <a:pt x="199" y="0"/>
                    <a:pt x="189" y="0"/>
                  </a:cubicBezTo>
                  <a:cubicBezTo>
                    <a:pt x="63" y="0"/>
                    <a:pt x="63" y="0"/>
                    <a:pt x="63" y="0"/>
                  </a:cubicBezTo>
                  <a:cubicBezTo>
                    <a:pt x="53" y="0"/>
                    <a:pt x="48" y="10"/>
                    <a:pt x="46" y="15"/>
                  </a:cubicBezTo>
                  <a:cubicBezTo>
                    <a:pt x="0" y="151"/>
                    <a:pt x="77" y="195"/>
                    <a:pt x="108" y="200"/>
                  </a:cubicBezTo>
                  <a:cubicBezTo>
                    <a:pt x="112" y="201"/>
                    <a:pt x="115" y="204"/>
                    <a:pt x="115" y="209"/>
                  </a:cubicBezTo>
                  <a:cubicBezTo>
                    <a:pt x="115" y="239"/>
                    <a:pt x="115" y="269"/>
                    <a:pt x="115" y="269"/>
                  </a:cubicBezTo>
                  <a:cubicBezTo>
                    <a:pt x="73" y="297"/>
                    <a:pt x="46" y="294"/>
                    <a:pt x="46" y="294"/>
                  </a:cubicBezTo>
                  <a:cubicBezTo>
                    <a:pt x="44" y="294"/>
                    <a:pt x="42" y="296"/>
                    <a:pt x="42" y="298"/>
                  </a:cubicBezTo>
                  <a:cubicBezTo>
                    <a:pt x="42" y="301"/>
                    <a:pt x="44" y="303"/>
                    <a:pt x="46" y="303"/>
                  </a:cubicBezTo>
                  <a:cubicBezTo>
                    <a:pt x="46" y="303"/>
                    <a:pt x="81" y="303"/>
                    <a:pt x="126" y="303"/>
                  </a:cubicBezTo>
                  <a:cubicBezTo>
                    <a:pt x="171" y="303"/>
                    <a:pt x="206" y="303"/>
                    <a:pt x="206" y="303"/>
                  </a:cubicBezTo>
                  <a:cubicBezTo>
                    <a:pt x="209" y="303"/>
                    <a:pt x="210" y="301"/>
                    <a:pt x="210" y="298"/>
                  </a:cubicBezTo>
                  <a:cubicBezTo>
                    <a:pt x="210" y="296"/>
                    <a:pt x="209" y="294"/>
                    <a:pt x="206" y="294"/>
                  </a:cubicBezTo>
                  <a:close/>
                  <a:moveTo>
                    <a:pt x="110" y="178"/>
                  </a:moveTo>
                  <a:cubicBezTo>
                    <a:pt x="99" y="178"/>
                    <a:pt x="78" y="171"/>
                    <a:pt x="63" y="150"/>
                  </a:cubicBezTo>
                  <a:cubicBezTo>
                    <a:pt x="48" y="129"/>
                    <a:pt x="32" y="95"/>
                    <a:pt x="57" y="23"/>
                  </a:cubicBezTo>
                  <a:cubicBezTo>
                    <a:pt x="58" y="20"/>
                    <a:pt x="61" y="13"/>
                    <a:pt x="68" y="13"/>
                  </a:cubicBezTo>
                  <a:cubicBezTo>
                    <a:pt x="126" y="13"/>
                    <a:pt x="126" y="13"/>
                    <a:pt x="126" y="13"/>
                  </a:cubicBezTo>
                  <a:cubicBezTo>
                    <a:pt x="184" y="13"/>
                    <a:pt x="184" y="13"/>
                    <a:pt x="184" y="13"/>
                  </a:cubicBezTo>
                  <a:cubicBezTo>
                    <a:pt x="192" y="13"/>
                    <a:pt x="195" y="23"/>
                    <a:pt x="196" y="25"/>
                  </a:cubicBezTo>
                  <a:cubicBezTo>
                    <a:pt x="221" y="97"/>
                    <a:pt x="204" y="129"/>
                    <a:pt x="189" y="150"/>
                  </a:cubicBezTo>
                  <a:cubicBezTo>
                    <a:pt x="174" y="171"/>
                    <a:pt x="153" y="178"/>
                    <a:pt x="142" y="178"/>
                  </a:cubicBezTo>
                  <a:lnTo>
                    <a:pt x="110"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4" name="Freeform 28"/>
            <p:cNvSpPr>
              <a:spLocks/>
            </p:cNvSpPr>
            <p:nvPr/>
          </p:nvSpPr>
          <p:spPr bwMode="auto">
            <a:xfrm>
              <a:off x="4786313" y="4357688"/>
              <a:ext cx="423863" cy="314325"/>
            </a:xfrm>
            <a:custGeom>
              <a:avLst/>
              <a:gdLst>
                <a:gd name="T0" fmla="*/ 141 w 153"/>
                <a:gd name="T1" fmla="*/ 0 h 113"/>
                <a:gd name="T2" fmla="*/ 42 w 153"/>
                <a:gd name="T3" fmla="*/ 0 h 113"/>
                <a:gd name="T4" fmla="*/ 48 w 153"/>
                <a:gd name="T5" fmla="*/ 82 h 113"/>
                <a:gd name="T6" fmla="*/ 65 w 153"/>
                <a:gd name="T7" fmla="*/ 100 h 113"/>
                <a:gd name="T8" fmla="*/ 33 w 153"/>
                <a:gd name="T9" fmla="*/ 82 h 113"/>
                <a:gd name="T10" fmla="*/ 23 w 153"/>
                <a:gd name="T11" fmla="*/ 0 h 113"/>
                <a:gd name="T12" fmla="*/ 11 w 153"/>
                <a:gd name="T13" fmla="*/ 0 h 113"/>
                <a:gd name="T14" fmla="*/ 23 w 153"/>
                <a:gd name="T15" fmla="*/ 89 h 113"/>
                <a:gd name="T16" fmla="*/ 60 w 153"/>
                <a:gd name="T17" fmla="*/ 113 h 113"/>
                <a:gd name="T18" fmla="*/ 92 w 153"/>
                <a:gd name="T19" fmla="*/ 113 h 113"/>
                <a:gd name="T20" fmla="*/ 129 w 153"/>
                <a:gd name="T21" fmla="*/ 89 h 113"/>
                <a:gd name="T22" fmla="*/ 141 w 153"/>
                <a:gd name="T23"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3" h="113">
                  <a:moveTo>
                    <a:pt x="141" y="0"/>
                  </a:moveTo>
                  <a:cubicBezTo>
                    <a:pt x="42" y="0"/>
                    <a:pt x="42" y="0"/>
                    <a:pt x="42" y="0"/>
                  </a:cubicBezTo>
                  <a:cubicBezTo>
                    <a:pt x="35" y="42"/>
                    <a:pt x="42" y="69"/>
                    <a:pt x="48" y="82"/>
                  </a:cubicBezTo>
                  <a:cubicBezTo>
                    <a:pt x="55" y="97"/>
                    <a:pt x="60" y="96"/>
                    <a:pt x="65" y="100"/>
                  </a:cubicBezTo>
                  <a:cubicBezTo>
                    <a:pt x="53" y="99"/>
                    <a:pt x="43" y="97"/>
                    <a:pt x="33" y="82"/>
                  </a:cubicBezTo>
                  <a:cubicBezTo>
                    <a:pt x="24" y="69"/>
                    <a:pt x="16" y="40"/>
                    <a:pt x="23" y="0"/>
                  </a:cubicBezTo>
                  <a:cubicBezTo>
                    <a:pt x="11" y="0"/>
                    <a:pt x="11" y="0"/>
                    <a:pt x="11" y="0"/>
                  </a:cubicBezTo>
                  <a:cubicBezTo>
                    <a:pt x="0" y="48"/>
                    <a:pt x="11" y="73"/>
                    <a:pt x="23" y="89"/>
                  </a:cubicBezTo>
                  <a:cubicBezTo>
                    <a:pt x="35" y="107"/>
                    <a:pt x="53" y="113"/>
                    <a:pt x="60" y="113"/>
                  </a:cubicBezTo>
                  <a:cubicBezTo>
                    <a:pt x="92" y="113"/>
                    <a:pt x="92" y="113"/>
                    <a:pt x="92" y="113"/>
                  </a:cubicBezTo>
                  <a:cubicBezTo>
                    <a:pt x="99" y="113"/>
                    <a:pt x="117" y="107"/>
                    <a:pt x="129" y="89"/>
                  </a:cubicBezTo>
                  <a:cubicBezTo>
                    <a:pt x="143" y="71"/>
                    <a:pt x="153" y="47"/>
                    <a:pt x="1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2" name="Group 581"/>
          <p:cNvGrpSpPr/>
          <p:nvPr userDrawn="1"/>
        </p:nvGrpSpPr>
        <p:grpSpPr>
          <a:xfrm>
            <a:off x="6346052" y="6165166"/>
            <a:ext cx="178042" cy="314404"/>
            <a:chOff x="1906588" y="4213225"/>
            <a:chExt cx="474663" cy="838201"/>
          </a:xfrm>
          <a:solidFill>
            <a:schemeClr val="tx1"/>
          </a:solidFill>
        </p:grpSpPr>
        <p:sp>
          <p:nvSpPr>
            <p:cNvPr id="583" name="Freeform 12"/>
            <p:cNvSpPr>
              <a:spLocks noEditPoints="1"/>
            </p:cNvSpPr>
            <p:nvPr/>
          </p:nvSpPr>
          <p:spPr bwMode="auto">
            <a:xfrm>
              <a:off x="1906588" y="4213225"/>
              <a:ext cx="474663" cy="493713"/>
            </a:xfrm>
            <a:custGeom>
              <a:avLst/>
              <a:gdLst>
                <a:gd name="T0" fmla="*/ 157 w 171"/>
                <a:gd name="T1" fmla="*/ 124 h 178"/>
                <a:gd name="T2" fmla="*/ 134 w 171"/>
                <a:gd name="T3" fmla="*/ 78 h 178"/>
                <a:gd name="T4" fmla="*/ 128 w 171"/>
                <a:gd name="T5" fmla="*/ 62 h 178"/>
                <a:gd name="T6" fmla="*/ 99 w 171"/>
                <a:gd name="T7" fmla="*/ 31 h 178"/>
                <a:gd name="T8" fmla="*/ 78 w 171"/>
                <a:gd name="T9" fmla="*/ 8 h 178"/>
                <a:gd name="T10" fmla="*/ 57 w 171"/>
                <a:gd name="T11" fmla="*/ 34 h 178"/>
                <a:gd name="T12" fmla="*/ 31 w 171"/>
                <a:gd name="T13" fmla="*/ 94 h 178"/>
                <a:gd name="T14" fmla="*/ 15 w 171"/>
                <a:gd name="T15" fmla="*/ 152 h 178"/>
                <a:gd name="T16" fmla="*/ 87 w 171"/>
                <a:gd name="T17" fmla="*/ 178 h 178"/>
                <a:gd name="T18" fmla="*/ 162 w 171"/>
                <a:gd name="T19" fmla="*/ 157 h 178"/>
                <a:gd name="T20" fmla="*/ 157 w 171"/>
                <a:gd name="T21" fmla="*/ 124 h 178"/>
                <a:gd name="T22" fmla="*/ 67 w 171"/>
                <a:gd name="T23" fmla="*/ 34 h 178"/>
                <a:gd name="T24" fmla="*/ 78 w 171"/>
                <a:gd name="T25" fmla="*/ 21 h 178"/>
                <a:gd name="T26" fmla="*/ 83 w 171"/>
                <a:gd name="T27" fmla="*/ 36 h 178"/>
                <a:gd name="T28" fmla="*/ 93 w 171"/>
                <a:gd name="T29" fmla="*/ 56 h 178"/>
                <a:gd name="T30" fmla="*/ 87 w 171"/>
                <a:gd name="T31" fmla="*/ 57 h 178"/>
                <a:gd name="T32" fmla="*/ 67 w 171"/>
                <a:gd name="T33" fmla="*/ 34 h 178"/>
                <a:gd name="T34" fmla="*/ 39 w 171"/>
                <a:gd name="T35" fmla="*/ 57 h 178"/>
                <a:gd name="T36" fmla="*/ 55 w 171"/>
                <a:gd name="T37" fmla="*/ 44 h 178"/>
                <a:gd name="T38" fmla="*/ 73 w 171"/>
                <a:gd name="T39" fmla="*/ 71 h 178"/>
                <a:gd name="T40" fmla="*/ 130 w 171"/>
                <a:gd name="T41" fmla="*/ 92 h 178"/>
                <a:gd name="T42" fmla="*/ 58 w 171"/>
                <a:gd name="T43" fmla="*/ 84 h 178"/>
                <a:gd name="T44" fmla="*/ 39 w 171"/>
                <a:gd name="T45" fmla="*/ 57 h 178"/>
                <a:gd name="T46" fmla="*/ 54 w 171"/>
                <a:gd name="T47" fmla="*/ 147 h 178"/>
                <a:gd name="T48" fmla="*/ 19 w 171"/>
                <a:gd name="T49" fmla="*/ 121 h 178"/>
                <a:gd name="T50" fmla="*/ 39 w 171"/>
                <a:gd name="T51" fmla="*/ 102 h 178"/>
                <a:gd name="T52" fmla="*/ 39 w 171"/>
                <a:gd name="T53" fmla="*/ 102 h 178"/>
                <a:gd name="T54" fmla="*/ 88 w 171"/>
                <a:gd name="T55" fmla="*/ 112 h 178"/>
                <a:gd name="T56" fmla="*/ 132 w 171"/>
                <a:gd name="T57" fmla="*/ 116 h 178"/>
                <a:gd name="T58" fmla="*/ 153 w 171"/>
                <a:gd name="T59" fmla="*/ 140 h 178"/>
                <a:gd name="T60" fmla="*/ 54 w 171"/>
                <a:gd name="T61" fmla="*/ 14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1" h="178">
                  <a:moveTo>
                    <a:pt x="157" y="124"/>
                  </a:moveTo>
                  <a:cubicBezTo>
                    <a:pt x="161" y="115"/>
                    <a:pt x="157" y="89"/>
                    <a:pt x="134" y="78"/>
                  </a:cubicBezTo>
                  <a:cubicBezTo>
                    <a:pt x="135" y="71"/>
                    <a:pt x="132" y="64"/>
                    <a:pt x="128" y="62"/>
                  </a:cubicBezTo>
                  <a:cubicBezTo>
                    <a:pt x="118" y="56"/>
                    <a:pt x="104" y="47"/>
                    <a:pt x="99" y="31"/>
                  </a:cubicBezTo>
                  <a:cubicBezTo>
                    <a:pt x="93" y="0"/>
                    <a:pt x="85" y="6"/>
                    <a:pt x="78" y="8"/>
                  </a:cubicBezTo>
                  <a:cubicBezTo>
                    <a:pt x="72" y="11"/>
                    <a:pt x="55" y="23"/>
                    <a:pt x="57" y="34"/>
                  </a:cubicBezTo>
                  <a:cubicBezTo>
                    <a:pt x="42" y="33"/>
                    <a:pt x="11" y="57"/>
                    <a:pt x="31" y="94"/>
                  </a:cubicBezTo>
                  <a:cubicBezTo>
                    <a:pt x="0" y="108"/>
                    <a:pt x="6" y="138"/>
                    <a:pt x="15" y="152"/>
                  </a:cubicBezTo>
                  <a:cubicBezTo>
                    <a:pt x="31" y="175"/>
                    <a:pt x="55" y="178"/>
                    <a:pt x="87" y="178"/>
                  </a:cubicBezTo>
                  <a:cubicBezTo>
                    <a:pt x="130" y="178"/>
                    <a:pt x="156" y="170"/>
                    <a:pt x="162" y="157"/>
                  </a:cubicBezTo>
                  <a:cubicBezTo>
                    <a:pt x="171" y="139"/>
                    <a:pt x="162" y="128"/>
                    <a:pt x="157" y="124"/>
                  </a:cubicBezTo>
                  <a:close/>
                  <a:moveTo>
                    <a:pt x="67" y="34"/>
                  </a:moveTo>
                  <a:cubicBezTo>
                    <a:pt x="68" y="27"/>
                    <a:pt x="73" y="21"/>
                    <a:pt x="78" y="21"/>
                  </a:cubicBezTo>
                  <a:cubicBezTo>
                    <a:pt x="83" y="21"/>
                    <a:pt x="84" y="21"/>
                    <a:pt x="83" y="36"/>
                  </a:cubicBezTo>
                  <a:cubicBezTo>
                    <a:pt x="83" y="45"/>
                    <a:pt x="90" y="52"/>
                    <a:pt x="93" y="56"/>
                  </a:cubicBezTo>
                  <a:cubicBezTo>
                    <a:pt x="97" y="61"/>
                    <a:pt x="107" y="64"/>
                    <a:pt x="87" y="57"/>
                  </a:cubicBezTo>
                  <a:cubicBezTo>
                    <a:pt x="71" y="52"/>
                    <a:pt x="65" y="41"/>
                    <a:pt x="67" y="34"/>
                  </a:cubicBezTo>
                  <a:close/>
                  <a:moveTo>
                    <a:pt x="39" y="57"/>
                  </a:moveTo>
                  <a:cubicBezTo>
                    <a:pt x="43" y="48"/>
                    <a:pt x="51" y="45"/>
                    <a:pt x="55" y="44"/>
                  </a:cubicBezTo>
                  <a:cubicBezTo>
                    <a:pt x="55" y="54"/>
                    <a:pt x="60" y="68"/>
                    <a:pt x="73" y="71"/>
                  </a:cubicBezTo>
                  <a:cubicBezTo>
                    <a:pt x="82" y="73"/>
                    <a:pt x="125" y="76"/>
                    <a:pt x="130" y="92"/>
                  </a:cubicBezTo>
                  <a:cubicBezTo>
                    <a:pt x="95" y="80"/>
                    <a:pt x="95" y="94"/>
                    <a:pt x="58" y="84"/>
                  </a:cubicBezTo>
                  <a:cubicBezTo>
                    <a:pt x="45" y="81"/>
                    <a:pt x="33" y="69"/>
                    <a:pt x="39" y="57"/>
                  </a:cubicBezTo>
                  <a:close/>
                  <a:moveTo>
                    <a:pt x="54" y="147"/>
                  </a:moveTo>
                  <a:cubicBezTo>
                    <a:pt x="36" y="148"/>
                    <a:pt x="17" y="134"/>
                    <a:pt x="19" y="121"/>
                  </a:cubicBezTo>
                  <a:cubicBezTo>
                    <a:pt x="21" y="114"/>
                    <a:pt x="29" y="104"/>
                    <a:pt x="39" y="102"/>
                  </a:cubicBezTo>
                  <a:cubicBezTo>
                    <a:pt x="39" y="102"/>
                    <a:pt x="39" y="102"/>
                    <a:pt x="39" y="102"/>
                  </a:cubicBezTo>
                  <a:cubicBezTo>
                    <a:pt x="49" y="117"/>
                    <a:pt x="81" y="113"/>
                    <a:pt x="88" y="112"/>
                  </a:cubicBezTo>
                  <a:cubicBezTo>
                    <a:pt x="118" y="107"/>
                    <a:pt x="118" y="112"/>
                    <a:pt x="132" y="116"/>
                  </a:cubicBezTo>
                  <a:cubicBezTo>
                    <a:pt x="137" y="118"/>
                    <a:pt x="152" y="130"/>
                    <a:pt x="153" y="140"/>
                  </a:cubicBezTo>
                  <a:cubicBezTo>
                    <a:pt x="119" y="121"/>
                    <a:pt x="84" y="147"/>
                    <a:pt x="54"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 name="Freeform 583"/>
            <p:cNvSpPr>
              <a:spLocks/>
            </p:cNvSpPr>
            <p:nvPr/>
          </p:nvSpPr>
          <p:spPr bwMode="auto">
            <a:xfrm>
              <a:off x="1970088" y="4729163"/>
              <a:ext cx="352425" cy="322263"/>
            </a:xfrm>
            <a:custGeom>
              <a:avLst/>
              <a:gdLst>
                <a:gd name="T0" fmla="*/ 60 w 127"/>
                <a:gd name="T1" fmla="*/ 8 h 116"/>
                <a:gd name="T2" fmla="*/ 0 w 127"/>
                <a:gd name="T3" fmla="*/ 0 h 116"/>
                <a:gd name="T4" fmla="*/ 57 w 127"/>
                <a:gd name="T5" fmla="*/ 110 h 116"/>
                <a:gd name="T6" fmla="*/ 64 w 127"/>
                <a:gd name="T7" fmla="*/ 116 h 116"/>
                <a:gd name="T8" fmla="*/ 71 w 127"/>
                <a:gd name="T9" fmla="*/ 110 h 116"/>
                <a:gd name="T10" fmla="*/ 127 w 127"/>
                <a:gd name="T11" fmla="*/ 0 h 116"/>
                <a:gd name="T12" fmla="*/ 60 w 127"/>
                <a:gd name="T13" fmla="*/ 8 h 116"/>
              </a:gdLst>
              <a:ahLst/>
              <a:cxnLst>
                <a:cxn ang="0">
                  <a:pos x="T0" y="T1"/>
                </a:cxn>
                <a:cxn ang="0">
                  <a:pos x="T2" y="T3"/>
                </a:cxn>
                <a:cxn ang="0">
                  <a:pos x="T4" y="T5"/>
                </a:cxn>
                <a:cxn ang="0">
                  <a:pos x="T6" y="T7"/>
                </a:cxn>
                <a:cxn ang="0">
                  <a:pos x="T8" y="T9"/>
                </a:cxn>
                <a:cxn ang="0">
                  <a:pos x="T10" y="T11"/>
                </a:cxn>
                <a:cxn ang="0">
                  <a:pos x="T12" y="T13"/>
                </a:cxn>
              </a:cxnLst>
              <a:rect l="0" t="0" r="r" b="b"/>
              <a:pathLst>
                <a:path w="127" h="116">
                  <a:moveTo>
                    <a:pt x="60" y="8"/>
                  </a:moveTo>
                  <a:cubicBezTo>
                    <a:pt x="42" y="8"/>
                    <a:pt x="20" y="7"/>
                    <a:pt x="0" y="0"/>
                  </a:cubicBezTo>
                  <a:cubicBezTo>
                    <a:pt x="57" y="110"/>
                    <a:pt x="57" y="110"/>
                    <a:pt x="57" y="110"/>
                  </a:cubicBezTo>
                  <a:cubicBezTo>
                    <a:pt x="58" y="114"/>
                    <a:pt x="61" y="116"/>
                    <a:pt x="64" y="116"/>
                  </a:cubicBezTo>
                  <a:cubicBezTo>
                    <a:pt x="67" y="116"/>
                    <a:pt x="69" y="114"/>
                    <a:pt x="71" y="110"/>
                  </a:cubicBezTo>
                  <a:cubicBezTo>
                    <a:pt x="127" y="0"/>
                    <a:pt x="127" y="0"/>
                    <a:pt x="127" y="0"/>
                  </a:cubicBezTo>
                  <a:cubicBezTo>
                    <a:pt x="103" y="7"/>
                    <a:pt x="72" y="8"/>
                    <a:pt x="6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08" name="Group 607"/>
          <p:cNvGrpSpPr/>
          <p:nvPr userDrawn="1"/>
        </p:nvGrpSpPr>
        <p:grpSpPr>
          <a:xfrm>
            <a:off x="6307459" y="5598500"/>
            <a:ext cx="260400" cy="243918"/>
            <a:chOff x="6046788" y="5743575"/>
            <a:chExt cx="752475" cy="704850"/>
          </a:xfrm>
          <a:solidFill>
            <a:schemeClr val="tx1"/>
          </a:solidFill>
        </p:grpSpPr>
        <p:sp>
          <p:nvSpPr>
            <p:cNvPr id="609" name="Oval 35"/>
            <p:cNvSpPr>
              <a:spLocks noChangeArrowheads="1"/>
            </p:cNvSpPr>
            <p:nvPr/>
          </p:nvSpPr>
          <p:spPr bwMode="auto">
            <a:xfrm>
              <a:off x="6327775" y="6018213"/>
              <a:ext cx="79375" cy="809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0" name="Oval 36"/>
            <p:cNvSpPr>
              <a:spLocks noChangeArrowheads="1"/>
            </p:cNvSpPr>
            <p:nvPr/>
          </p:nvSpPr>
          <p:spPr bwMode="auto">
            <a:xfrm>
              <a:off x="6407150" y="5867400"/>
              <a:ext cx="61913" cy="587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1" name="Oval 37"/>
            <p:cNvSpPr>
              <a:spLocks noChangeArrowheads="1"/>
            </p:cNvSpPr>
            <p:nvPr/>
          </p:nvSpPr>
          <p:spPr bwMode="auto">
            <a:xfrm>
              <a:off x="6161088" y="6056313"/>
              <a:ext cx="52388" cy="539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2" name="Oval 38"/>
            <p:cNvSpPr>
              <a:spLocks noChangeArrowheads="1"/>
            </p:cNvSpPr>
            <p:nvPr/>
          </p:nvSpPr>
          <p:spPr bwMode="auto">
            <a:xfrm>
              <a:off x="6276975" y="5915025"/>
              <a:ext cx="50800" cy="50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3" name="Oval 39"/>
            <p:cNvSpPr>
              <a:spLocks noChangeArrowheads="1"/>
            </p:cNvSpPr>
            <p:nvPr/>
          </p:nvSpPr>
          <p:spPr bwMode="auto">
            <a:xfrm>
              <a:off x="6496050" y="5976938"/>
              <a:ext cx="50800" cy="52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4" name="Oval 40"/>
            <p:cNvSpPr>
              <a:spLocks noChangeArrowheads="1"/>
            </p:cNvSpPr>
            <p:nvPr/>
          </p:nvSpPr>
          <p:spPr bwMode="auto">
            <a:xfrm>
              <a:off x="6616700" y="6043613"/>
              <a:ext cx="79375" cy="793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5" name="Freeform 41"/>
            <p:cNvSpPr>
              <a:spLocks noEditPoints="1"/>
            </p:cNvSpPr>
            <p:nvPr/>
          </p:nvSpPr>
          <p:spPr bwMode="auto">
            <a:xfrm>
              <a:off x="6046788" y="5743575"/>
              <a:ext cx="752475" cy="704850"/>
            </a:xfrm>
            <a:custGeom>
              <a:avLst/>
              <a:gdLst>
                <a:gd name="T0" fmla="*/ 233 w 271"/>
                <a:gd name="T1" fmla="*/ 68 h 254"/>
                <a:gd name="T2" fmla="*/ 181 w 271"/>
                <a:gd name="T3" fmla="*/ 34 h 254"/>
                <a:gd name="T4" fmla="*/ 180 w 271"/>
                <a:gd name="T5" fmla="*/ 34 h 254"/>
                <a:gd name="T6" fmla="*/ 156 w 271"/>
                <a:gd name="T7" fmla="*/ 15 h 254"/>
                <a:gd name="T8" fmla="*/ 141 w 271"/>
                <a:gd name="T9" fmla="*/ 0 h 254"/>
                <a:gd name="T10" fmla="*/ 93 w 271"/>
                <a:gd name="T11" fmla="*/ 35 h 254"/>
                <a:gd name="T12" fmla="*/ 39 w 271"/>
                <a:gd name="T13" fmla="*/ 68 h 254"/>
                <a:gd name="T14" fmla="*/ 0 w 271"/>
                <a:gd name="T15" fmla="*/ 118 h 254"/>
                <a:gd name="T16" fmla="*/ 22 w 271"/>
                <a:gd name="T17" fmla="*/ 163 h 254"/>
                <a:gd name="T18" fmla="*/ 44 w 271"/>
                <a:gd name="T19" fmla="*/ 239 h 254"/>
                <a:gd name="T20" fmla="*/ 61 w 271"/>
                <a:gd name="T21" fmla="*/ 254 h 254"/>
                <a:gd name="T22" fmla="*/ 209 w 271"/>
                <a:gd name="T23" fmla="*/ 254 h 254"/>
                <a:gd name="T24" fmla="*/ 226 w 271"/>
                <a:gd name="T25" fmla="*/ 239 h 254"/>
                <a:gd name="T26" fmla="*/ 248 w 271"/>
                <a:gd name="T27" fmla="*/ 163 h 254"/>
                <a:gd name="T28" fmla="*/ 271 w 271"/>
                <a:gd name="T29" fmla="*/ 118 h 254"/>
                <a:gd name="T30" fmla="*/ 233 w 271"/>
                <a:gd name="T31" fmla="*/ 68 h 254"/>
                <a:gd name="T32" fmla="*/ 225 w 271"/>
                <a:gd name="T33" fmla="*/ 153 h 254"/>
                <a:gd name="T34" fmla="*/ 219 w 271"/>
                <a:gd name="T35" fmla="*/ 151 h 254"/>
                <a:gd name="T36" fmla="*/ 195 w 271"/>
                <a:gd name="T37" fmla="*/ 144 h 254"/>
                <a:gd name="T38" fmla="*/ 171 w 271"/>
                <a:gd name="T39" fmla="*/ 151 h 254"/>
                <a:gd name="T40" fmla="*/ 165 w 271"/>
                <a:gd name="T41" fmla="*/ 153 h 254"/>
                <a:gd name="T42" fmla="*/ 159 w 271"/>
                <a:gd name="T43" fmla="*/ 151 h 254"/>
                <a:gd name="T44" fmla="*/ 135 w 271"/>
                <a:gd name="T45" fmla="*/ 144 h 254"/>
                <a:gd name="T46" fmla="*/ 111 w 271"/>
                <a:gd name="T47" fmla="*/ 151 h 254"/>
                <a:gd name="T48" fmla="*/ 105 w 271"/>
                <a:gd name="T49" fmla="*/ 153 h 254"/>
                <a:gd name="T50" fmla="*/ 98 w 271"/>
                <a:gd name="T51" fmla="*/ 151 h 254"/>
                <a:gd name="T52" fmla="*/ 75 w 271"/>
                <a:gd name="T53" fmla="*/ 144 h 254"/>
                <a:gd name="T54" fmla="*/ 54 w 271"/>
                <a:gd name="T55" fmla="*/ 149 h 254"/>
                <a:gd name="T56" fmla="*/ 52 w 271"/>
                <a:gd name="T57" fmla="*/ 151 h 254"/>
                <a:gd name="T58" fmla="*/ 41 w 271"/>
                <a:gd name="T59" fmla="*/ 153 h 254"/>
                <a:gd name="T60" fmla="*/ 41 w 271"/>
                <a:gd name="T61" fmla="*/ 153 h 254"/>
                <a:gd name="T62" fmla="*/ 15 w 271"/>
                <a:gd name="T63" fmla="*/ 118 h 254"/>
                <a:gd name="T64" fmla="*/ 46 w 271"/>
                <a:gd name="T65" fmla="*/ 82 h 254"/>
                <a:gd name="T66" fmla="*/ 52 w 271"/>
                <a:gd name="T67" fmla="*/ 77 h 254"/>
                <a:gd name="T68" fmla="*/ 95 w 271"/>
                <a:gd name="T69" fmla="*/ 50 h 254"/>
                <a:gd name="T70" fmla="*/ 104 w 271"/>
                <a:gd name="T71" fmla="*/ 46 h 254"/>
                <a:gd name="T72" fmla="*/ 140 w 271"/>
                <a:gd name="T73" fmla="*/ 15 h 254"/>
                <a:gd name="T74" fmla="*/ 140 w 271"/>
                <a:gd name="T75" fmla="*/ 16 h 254"/>
                <a:gd name="T76" fmla="*/ 179 w 271"/>
                <a:gd name="T77" fmla="*/ 49 h 254"/>
                <a:gd name="T78" fmla="*/ 221 w 271"/>
                <a:gd name="T79" fmla="*/ 78 h 254"/>
                <a:gd name="T80" fmla="*/ 226 w 271"/>
                <a:gd name="T81" fmla="*/ 82 h 254"/>
                <a:gd name="T82" fmla="*/ 255 w 271"/>
                <a:gd name="T83" fmla="*/ 118 h 254"/>
                <a:gd name="T84" fmla="*/ 225 w 271"/>
                <a:gd name="T85" fmla="*/ 15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1" h="254">
                  <a:moveTo>
                    <a:pt x="233" y="68"/>
                  </a:moveTo>
                  <a:cubicBezTo>
                    <a:pt x="224" y="51"/>
                    <a:pt x="202" y="36"/>
                    <a:pt x="181" y="34"/>
                  </a:cubicBezTo>
                  <a:cubicBezTo>
                    <a:pt x="180" y="34"/>
                    <a:pt x="180" y="34"/>
                    <a:pt x="180" y="34"/>
                  </a:cubicBezTo>
                  <a:cubicBezTo>
                    <a:pt x="164" y="33"/>
                    <a:pt x="156" y="26"/>
                    <a:pt x="156" y="15"/>
                  </a:cubicBezTo>
                  <a:cubicBezTo>
                    <a:pt x="155" y="6"/>
                    <a:pt x="150" y="0"/>
                    <a:pt x="141" y="0"/>
                  </a:cubicBezTo>
                  <a:cubicBezTo>
                    <a:pt x="126" y="0"/>
                    <a:pt x="104" y="18"/>
                    <a:pt x="93" y="35"/>
                  </a:cubicBezTo>
                  <a:cubicBezTo>
                    <a:pt x="69" y="32"/>
                    <a:pt x="47" y="46"/>
                    <a:pt x="39" y="68"/>
                  </a:cubicBezTo>
                  <a:cubicBezTo>
                    <a:pt x="16" y="74"/>
                    <a:pt x="0" y="94"/>
                    <a:pt x="0" y="118"/>
                  </a:cubicBezTo>
                  <a:cubicBezTo>
                    <a:pt x="0" y="142"/>
                    <a:pt x="9" y="157"/>
                    <a:pt x="22" y="163"/>
                  </a:cubicBezTo>
                  <a:cubicBezTo>
                    <a:pt x="44" y="239"/>
                    <a:pt x="44" y="239"/>
                    <a:pt x="44" y="239"/>
                  </a:cubicBezTo>
                  <a:cubicBezTo>
                    <a:pt x="47" y="254"/>
                    <a:pt x="60" y="254"/>
                    <a:pt x="61" y="254"/>
                  </a:cubicBezTo>
                  <a:cubicBezTo>
                    <a:pt x="209" y="254"/>
                    <a:pt x="209" y="254"/>
                    <a:pt x="209" y="254"/>
                  </a:cubicBezTo>
                  <a:cubicBezTo>
                    <a:pt x="210" y="254"/>
                    <a:pt x="223" y="254"/>
                    <a:pt x="226" y="239"/>
                  </a:cubicBezTo>
                  <a:cubicBezTo>
                    <a:pt x="248" y="163"/>
                    <a:pt x="248" y="163"/>
                    <a:pt x="248" y="163"/>
                  </a:cubicBezTo>
                  <a:cubicBezTo>
                    <a:pt x="262" y="156"/>
                    <a:pt x="271" y="140"/>
                    <a:pt x="271" y="118"/>
                  </a:cubicBezTo>
                  <a:cubicBezTo>
                    <a:pt x="271" y="95"/>
                    <a:pt x="255" y="75"/>
                    <a:pt x="233" y="68"/>
                  </a:cubicBezTo>
                  <a:close/>
                  <a:moveTo>
                    <a:pt x="225" y="153"/>
                  </a:moveTo>
                  <a:cubicBezTo>
                    <a:pt x="222" y="153"/>
                    <a:pt x="221" y="153"/>
                    <a:pt x="219" y="151"/>
                  </a:cubicBezTo>
                  <a:cubicBezTo>
                    <a:pt x="214" y="148"/>
                    <a:pt x="207" y="144"/>
                    <a:pt x="195" y="144"/>
                  </a:cubicBezTo>
                  <a:cubicBezTo>
                    <a:pt x="183" y="144"/>
                    <a:pt x="175" y="148"/>
                    <a:pt x="171" y="151"/>
                  </a:cubicBezTo>
                  <a:cubicBezTo>
                    <a:pt x="168" y="153"/>
                    <a:pt x="168" y="153"/>
                    <a:pt x="165" y="153"/>
                  </a:cubicBezTo>
                  <a:cubicBezTo>
                    <a:pt x="162" y="153"/>
                    <a:pt x="161" y="153"/>
                    <a:pt x="159" y="151"/>
                  </a:cubicBezTo>
                  <a:cubicBezTo>
                    <a:pt x="154" y="148"/>
                    <a:pt x="147" y="144"/>
                    <a:pt x="135" y="144"/>
                  </a:cubicBezTo>
                  <a:cubicBezTo>
                    <a:pt x="123" y="144"/>
                    <a:pt x="115" y="148"/>
                    <a:pt x="111" y="151"/>
                  </a:cubicBezTo>
                  <a:cubicBezTo>
                    <a:pt x="108" y="153"/>
                    <a:pt x="108" y="153"/>
                    <a:pt x="105" y="153"/>
                  </a:cubicBezTo>
                  <a:cubicBezTo>
                    <a:pt x="102" y="153"/>
                    <a:pt x="101" y="153"/>
                    <a:pt x="98" y="151"/>
                  </a:cubicBezTo>
                  <a:cubicBezTo>
                    <a:pt x="94" y="148"/>
                    <a:pt x="87" y="144"/>
                    <a:pt x="75" y="144"/>
                  </a:cubicBezTo>
                  <a:cubicBezTo>
                    <a:pt x="65" y="144"/>
                    <a:pt x="58" y="147"/>
                    <a:pt x="54" y="149"/>
                  </a:cubicBezTo>
                  <a:cubicBezTo>
                    <a:pt x="53" y="150"/>
                    <a:pt x="53" y="150"/>
                    <a:pt x="52" y="151"/>
                  </a:cubicBezTo>
                  <a:cubicBezTo>
                    <a:pt x="48" y="152"/>
                    <a:pt x="45" y="153"/>
                    <a:pt x="41" y="153"/>
                  </a:cubicBezTo>
                  <a:cubicBezTo>
                    <a:pt x="41" y="153"/>
                    <a:pt x="41" y="153"/>
                    <a:pt x="41" y="153"/>
                  </a:cubicBezTo>
                  <a:cubicBezTo>
                    <a:pt x="35" y="153"/>
                    <a:pt x="15" y="150"/>
                    <a:pt x="15" y="118"/>
                  </a:cubicBezTo>
                  <a:cubicBezTo>
                    <a:pt x="15" y="100"/>
                    <a:pt x="28" y="85"/>
                    <a:pt x="46" y="82"/>
                  </a:cubicBezTo>
                  <a:cubicBezTo>
                    <a:pt x="49" y="82"/>
                    <a:pt x="51" y="79"/>
                    <a:pt x="52" y="77"/>
                  </a:cubicBezTo>
                  <a:cubicBezTo>
                    <a:pt x="57" y="58"/>
                    <a:pt x="76" y="46"/>
                    <a:pt x="95" y="50"/>
                  </a:cubicBezTo>
                  <a:cubicBezTo>
                    <a:pt x="99" y="51"/>
                    <a:pt x="102" y="50"/>
                    <a:pt x="104" y="46"/>
                  </a:cubicBezTo>
                  <a:cubicBezTo>
                    <a:pt x="112" y="31"/>
                    <a:pt x="132" y="17"/>
                    <a:pt x="140" y="15"/>
                  </a:cubicBezTo>
                  <a:cubicBezTo>
                    <a:pt x="140" y="15"/>
                    <a:pt x="140" y="16"/>
                    <a:pt x="140" y="16"/>
                  </a:cubicBezTo>
                  <a:cubicBezTo>
                    <a:pt x="141" y="35"/>
                    <a:pt x="155" y="47"/>
                    <a:pt x="179" y="49"/>
                  </a:cubicBezTo>
                  <a:cubicBezTo>
                    <a:pt x="197" y="51"/>
                    <a:pt x="215" y="64"/>
                    <a:pt x="221" y="78"/>
                  </a:cubicBezTo>
                  <a:cubicBezTo>
                    <a:pt x="222" y="80"/>
                    <a:pt x="224" y="82"/>
                    <a:pt x="226" y="82"/>
                  </a:cubicBezTo>
                  <a:cubicBezTo>
                    <a:pt x="243" y="86"/>
                    <a:pt x="255" y="101"/>
                    <a:pt x="255" y="118"/>
                  </a:cubicBezTo>
                  <a:cubicBezTo>
                    <a:pt x="255" y="153"/>
                    <a:pt x="232" y="153"/>
                    <a:pt x="225" y="1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16" name="Freeform 42"/>
          <p:cNvSpPr>
            <a:spLocks/>
          </p:cNvSpPr>
          <p:nvPr userDrawn="1"/>
        </p:nvSpPr>
        <p:spPr bwMode="auto">
          <a:xfrm>
            <a:off x="6250678" y="4938738"/>
            <a:ext cx="328100" cy="293562"/>
          </a:xfrm>
          <a:custGeom>
            <a:avLst/>
            <a:gdLst>
              <a:gd name="T0" fmla="*/ 269 w 315"/>
              <a:gd name="T1" fmla="*/ 246 h 282"/>
              <a:gd name="T2" fmla="*/ 269 w 315"/>
              <a:gd name="T3" fmla="*/ 246 h 282"/>
              <a:gd name="T4" fmla="*/ 269 w 315"/>
              <a:gd name="T5" fmla="*/ 274 h 282"/>
              <a:gd name="T6" fmla="*/ 241 w 315"/>
              <a:gd name="T7" fmla="*/ 274 h 282"/>
              <a:gd name="T8" fmla="*/ 241 w 315"/>
              <a:gd name="T9" fmla="*/ 274 h 282"/>
              <a:gd name="T10" fmla="*/ 156 w 315"/>
              <a:gd name="T11" fmla="*/ 181 h 282"/>
              <a:gd name="T12" fmla="*/ 69 w 315"/>
              <a:gd name="T13" fmla="*/ 274 h 282"/>
              <a:gd name="T14" fmla="*/ 69 w 315"/>
              <a:gd name="T15" fmla="*/ 274 h 282"/>
              <a:gd name="T16" fmla="*/ 41 w 315"/>
              <a:gd name="T17" fmla="*/ 274 h 282"/>
              <a:gd name="T18" fmla="*/ 41 w 315"/>
              <a:gd name="T19" fmla="*/ 247 h 282"/>
              <a:gd name="T20" fmla="*/ 135 w 315"/>
              <a:gd name="T21" fmla="*/ 160 h 282"/>
              <a:gd name="T22" fmla="*/ 110 w 315"/>
              <a:gd name="T23" fmla="*/ 132 h 282"/>
              <a:gd name="T24" fmla="*/ 38 w 315"/>
              <a:gd name="T25" fmla="*/ 110 h 282"/>
              <a:gd name="T26" fmla="*/ 19 w 315"/>
              <a:gd name="T27" fmla="*/ 24 h 282"/>
              <a:gd name="T28" fmla="*/ 105 w 315"/>
              <a:gd name="T29" fmla="*/ 43 h 282"/>
              <a:gd name="T30" fmla="*/ 127 w 315"/>
              <a:gd name="T31" fmla="*/ 115 h 282"/>
              <a:gd name="T32" fmla="*/ 156 w 315"/>
              <a:gd name="T33" fmla="*/ 141 h 282"/>
              <a:gd name="T34" fmla="*/ 184 w 315"/>
              <a:gd name="T35" fmla="*/ 117 h 282"/>
              <a:gd name="T36" fmla="*/ 190 w 315"/>
              <a:gd name="T37" fmla="*/ 69 h 282"/>
              <a:gd name="T38" fmla="*/ 269 w 315"/>
              <a:gd name="T39" fmla="*/ 7 h 282"/>
              <a:gd name="T40" fmla="*/ 221 w 315"/>
              <a:gd name="T41" fmla="*/ 65 h 282"/>
              <a:gd name="T42" fmla="*/ 219 w 315"/>
              <a:gd name="T43" fmla="*/ 77 h 282"/>
              <a:gd name="T44" fmla="*/ 231 w 315"/>
              <a:gd name="T45" fmla="*/ 75 h 282"/>
              <a:gd name="T46" fmla="*/ 289 w 315"/>
              <a:gd name="T47" fmla="*/ 27 h 282"/>
              <a:gd name="T48" fmla="*/ 241 w 315"/>
              <a:gd name="T49" fmla="*/ 85 h 282"/>
              <a:gd name="T50" fmla="*/ 239 w 315"/>
              <a:gd name="T51" fmla="*/ 97 h 282"/>
              <a:gd name="T52" fmla="*/ 251 w 315"/>
              <a:gd name="T53" fmla="*/ 95 h 282"/>
              <a:gd name="T54" fmla="*/ 308 w 315"/>
              <a:gd name="T55" fmla="*/ 47 h 282"/>
              <a:gd name="T56" fmla="*/ 246 w 315"/>
              <a:gd name="T57" fmla="*/ 125 h 282"/>
              <a:gd name="T58" fmla="*/ 199 w 315"/>
              <a:gd name="T59" fmla="*/ 132 h 282"/>
              <a:gd name="T60" fmla="*/ 175 w 315"/>
              <a:gd name="T61" fmla="*/ 159 h 282"/>
              <a:gd name="T62" fmla="*/ 269 w 315"/>
              <a:gd name="T63" fmla="*/ 24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282">
                <a:moveTo>
                  <a:pt x="269" y="246"/>
                </a:moveTo>
                <a:cubicBezTo>
                  <a:pt x="269" y="246"/>
                  <a:pt x="269" y="246"/>
                  <a:pt x="269" y="246"/>
                </a:cubicBezTo>
                <a:cubicBezTo>
                  <a:pt x="277" y="254"/>
                  <a:pt x="277" y="266"/>
                  <a:pt x="269" y="274"/>
                </a:cubicBezTo>
                <a:cubicBezTo>
                  <a:pt x="261" y="282"/>
                  <a:pt x="249" y="282"/>
                  <a:pt x="241" y="274"/>
                </a:cubicBezTo>
                <a:cubicBezTo>
                  <a:pt x="241" y="274"/>
                  <a:pt x="241" y="274"/>
                  <a:pt x="241" y="274"/>
                </a:cubicBezTo>
                <a:cubicBezTo>
                  <a:pt x="222" y="255"/>
                  <a:pt x="186" y="214"/>
                  <a:pt x="156" y="181"/>
                </a:cubicBezTo>
                <a:cubicBezTo>
                  <a:pt x="126" y="215"/>
                  <a:pt x="89" y="255"/>
                  <a:pt x="69" y="274"/>
                </a:cubicBezTo>
                <a:cubicBezTo>
                  <a:pt x="69" y="274"/>
                  <a:pt x="69" y="274"/>
                  <a:pt x="69" y="274"/>
                </a:cubicBezTo>
                <a:cubicBezTo>
                  <a:pt x="62" y="282"/>
                  <a:pt x="49" y="282"/>
                  <a:pt x="41" y="274"/>
                </a:cubicBezTo>
                <a:cubicBezTo>
                  <a:pt x="34" y="267"/>
                  <a:pt x="34" y="254"/>
                  <a:pt x="41" y="247"/>
                </a:cubicBezTo>
                <a:cubicBezTo>
                  <a:pt x="61" y="227"/>
                  <a:pt x="101" y="190"/>
                  <a:pt x="135" y="160"/>
                </a:cubicBezTo>
                <a:cubicBezTo>
                  <a:pt x="123" y="146"/>
                  <a:pt x="113" y="136"/>
                  <a:pt x="110" y="132"/>
                </a:cubicBezTo>
                <a:cubicBezTo>
                  <a:pt x="91" y="142"/>
                  <a:pt x="63" y="135"/>
                  <a:pt x="38" y="110"/>
                </a:cubicBezTo>
                <a:cubicBezTo>
                  <a:pt x="9" y="81"/>
                  <a:pt x="0" y="42"/>
                  <a:pt x="19" y="24"/>
                </a:cubicBezTo>
                <a:cubicBezTo>
                  <a:pt x="37" y="5"/>
                  <a:pt x="76" y="14"/>
                  <a:pt x="105" y="43"/>
                </a:cubicBezTo>
                <a:cubicBezTo>
                  <a:pt x="130" y="68"/>
                  <a:pt x="137" y="96"/>
                  <a:pt x="127" y="115"/>
                </a:cubicBezTo>
                <a:cubicBezTo>
                  <a:pt x="131" y="119"/>
                  <a:pt x="142" y="128"/>
                  <a:pt x="156" y="141"/>
                </a:cubicBezTo>
                <a:cubicBezTo>
                  <a:pt x="168" y="130"/>
                  <a:pt x="178" y="122"/>
                  <a:pt x="184" y="117"/>
                </a:cubicBezTo>
                <a:cubicBezTo>
                  <a:pt x="175" y="101"/>
                  <a:pt x="178" y="82"/>
                  <a:pt x="190" y="69"/>
                </a:cubicBezTo>
                <a:cubicBezTo>
                  <a:pt x="190" y="69"/>
                  <a:pt x="261" y="0"/>
                  <a:pt x="269" y="7"/>
                </a:cubicBezTo>
                <a:cubicBezTo>
                  <a:pt x="277" y="15"/>
                  <a:pt x="221" y="65"/>
                  <a:pt x="221" y="65"/>
                </a:cubicBezTo>
                <a:cubicBezTo>
                  <a:pt x="217" y="69"/>
                  <a:pt x="216" y="74"/>
                  <a:pt x="219" y="77"/>
                </a:cubicBezTo>
                <a:cubicBezTo>
                  <a:pt x="222" y="80"/>
                  <a:pt x="227" y="79"/>
                  <a:pt x="231" y="75"/>
                </a:cubicBezTo>
                <a:cubicBezTo>
                  <a:pt x="231" y="75"/>
                  <a:pt x="281" y="20"/>
                  <a:pt x="289" y="27"/>
                </a:cubicBezTo>
                <a:cubicBezTo>
                  <a:pt x="296" y="35"/>
                  <a:pt x="241" y="85"/>
                  <a:pt x="241" y="85"/>
                </a:cubicBezTo>
                <a:cubicBezTo>
                  <a:pt x="237" y="89"/>
                  <a:pt x="236" y="94"/>
                  <a:pt x="239" y="97"/>
                </a:cubicBezTo>
                <a:cubicBezTo>
                  <a:pt x="241" y="99"/>
                  <a:pt x="247" y="98"/>
                  <a:pt x="251" y="95"/>
                </a:cubicBezTo>
                <a:cubicBezTo>
                  <a:pt x="251" y="95"/>
                  <a:pt x="302" y="40"/>
                  <a:pt x="308" y="47"/>
                </a:cubicBezTo>
                <a:cubicBezTo>
                  <a:pt x="315" y="53"/>
                  <a:pt x="246" y="125"/>
                  <a:pt x="246" y="125"/>
                </a:cubicBezTo>
                <a:cubicBezTo>
                  <a:pt x="234" y="138"/>
                  <a:pt x="214" y="140"/>
                  <a:pt x="199" y="132"/>
                </a:cubicBezTo>
                <a:cubicBezTo>
                  <a:pt x="194" y="138"/>
                  <a:pt x="186" y="147"/>
                  <a:pt x="175" y="159"/>
                </a:cubicBezTo>
                <a:cubicBezTo>
                  <a:pt x="209" y="189"/>
                  <a:pt x="249" y="226"/>
                  <a:pt x="269" y="2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17" name="Group 616"/>
          <p:cNvGrpSpPr/>
          <p:nvPr userDrawn="1"/>
        </p:nvGrpSpPr>
        <p:grpSpPr>
          <a:xfrm>
            <a:off x="6348172" y="6760074"/>
            <a:ext cx="211858" cy="312948"/>
            <a:chOff x="6165850" y="4127500"/>
            <a:chExt cx="625475" cy="923925"/>
          </a:xfrm>
          <a:solidFill>
            <a:schemeClr val="tx1"/>
          </a:solidFill>
        </p:grpSpPr>
        <p:sp>
          <p:nvSpPr>
            <p:cNvPr id="618" name="Freeform 43"/>
            <p:cNvSpPr>
              <a:spLocks noEditPoints="1"/>
            </p:cNvSpPr>
            <p:nvPr/>
          </p:nvSpPr>
          <p:spPr bwMode="auto">
            <a:xfrm>
              <a:off x="6165850" y="4127500"/>
              <a:ext cx="625475" cy="923925"/>
            </a:xfrm>
            <a:custGeom>
              <a:avLst/>
              <a:gdLst>
                <a:gd name="T0" fmla="*/ 207 w 225"/>
                <a:gd name="T1" fmla="*/ 99 h 333"/>
                <a:gd name="T2" fmla="*/ 179 w 225"/>
                <a:gd name="T3" fmla="*/ 88 h 333"/>
                <a:gd name="T4" fmla="*/ 156 w 225"/>
                <a:gd name="T5" fmla="*/ 94 h 333"/>
                <a:gd name="T6" fmla="*/ 157 w 225"/>
                <a:gd name="T7" fmla="*/ 88 h 333"/>
                <a:gd name="T8" fmla="*/ 162 w 225"/>
                <a:gd name="T9" fmla="*/ 63 h 333"/>
                <a:gd name="T10" fmla="*/ 168 w 225"/>
                <a:gd name="T11" fmla="*/ 63 h 333"/>
                <a:gd name="T12" fmla="*/ 176 w 225"/>
                <a:gd name="T13" fmla="*/ 55 h 333"/>
                <a:gd name="T14" fmla="*/ 168 w 225"/>
                <a:gd name="T15" fmla="*/ 47 h 333"/>
                <a:gd name="T16" fmla="*/ 166 w 225"/>
                <a:gd name="T17" fmla="*/ 47 h 333"/>
                <a:gd name="T18" fmla="*/ 126 w 225"/>
                <a:gd name="T19" fmla="*/ 17 h 333"/>
                <a:gd name="T20" fmla="*/ 108 w 225"/>
                <a:gd name="T21" fmla="*/ 1 h 333"/>
                <a:gd name="T22" fmla="*/ 85 w 225"/>
                <a:gd name="T23" fmla="*/ 16 h 333"/>
                <a:gd name="T24" fmla="*/ 62 w 225"/>
                <a:gd name="T25" fmla="*/ 9 h 333"/>
                <a:gd name="T26" fmla="*/ 42 w 225"/>
                <a:gd name="T27" fmla="*/ 23 h 333"/>
                <a:gd name="T28" fmla="*/ 11 w 225"/>
                <a:gd name="T29" fmla="*/ 47 h 333"/>
                <a:gd name="T30" fmla="*/ 8 w 225"/>
                <a:gd name="T31" fmla="*/ 47 h 333"/>
                <a:gd name="T32" fmla="*/ 0 w 225"/>
                <a:gd name="T33" fmla="*/ 55 h 333"/>
                <a:gd name="T34" fmla="*/ 8 w 225"/>
                <a:gd name="T35" fmla="*/ 63 h 333"/>
                <a:gd name="T36" fmla="*/ 14 w 225"/>
                <a:gd name="T37" fmla="*/ 63 h 333"/>
                <a:gd name="T38" fmla="*/ 19 w 225"/>
                <a:gd name="T39" fmla="*/ 88 h 333"/>
                <a:gd name="T40" fmla="*/ 21 w 225"/>
                <a:gd name="T41" fmla="*/ 207 h 333"/>
                <a:gd name="T42" fmla="*/ 65 w 225"/>
                <a:gd name="T43" fmla="*/ 246 h 333"/>
                <a:gd name="T44" fmla="*/ 57 w 225"/>
                <a:gd name="T45" fmla="*/ 266 h 333"/>
                <a:gd name="T46" fmla="*/ 65 w 225"/>
                <a:gd name="T47" fmla="*/ 279 h 333"/>
                <a:gd name="T48" fmla="*/ 69 w 225"/>
                <a:gd name="T49" fmla="*/ 291 h 333"/>
                <a:gd name="T50" fmla="*/ 68 w 225"/>
                <a:gd name="T51" fmla="*/ 296 h 333"/>
                <a:gd name="T52" fmla="*/ 19 w 225"/>
                <a:gd name="T53" fmla="*/ 325 h 333"/>
                <a:gd name="T54" fmla="*/ 15 w 225"/>
                <a:gd name="T55" fmla="*/ 329 h 333"/>
                <a:gd name="T56" fmla="*/ 19 w 225"/>
                <a:gd name="T57" fmla="*/ 333 h 333"/>
                <a:gd name="T58" fmla="*/ 88 w 225"/>
                <a:gd name="T59" fmla="*/ 333 h 333"/>
                <a:gd name="T60" fmla="*/ 157 w 225"/>
                <a:gd name="T61" fmla="*/ 333 h 333"/>
                <a:gd name="T62" fmla="*/ 161 w 225"/>
                <a:gd name="T63" fmla="*/ 329 h 333"/>
                <a:gd name="T64" fmla="*/ 157 w 225"/>
                <a:gd name="T65" fmla="*/ 325 h 333"/>
                <a:gd name="T66" fmla="*/ 108 w 225"/>
                <a:gd name="T67" fmla="*/ 296 h 333"/>
                <a:gd name="T68" fmla="*/ 107 w 225"/>
                <a:gd name="T69" fmla="*/ 291 h 333"/>
                <a:gd name="T70" fmla="*/ 111 w 225"/>
                <a:gd name="T71" fmla="*/ 279 h 333"/>
                <a:gd name="T72" fmla="*/ 119 w 225"/>
                <a:gd name="T73" fmla="*/ 266 h 333"/>
                <a:gd name="T74" fmla="*/ 111 w 225"/>
                <a:gd name="T75" fmla="*/ 246 h 333"/>
                <a:gd name="T76" fmla="*/ 155 w 225"/>
                <a:gd name="T77" fmla="*/ 207 h 333"/>
                <a:gd name="T78" fmla="*/ 155 w 225"/>
                <a:gd name="T79" fmla="*/ 201 h 333"/>
                <a:gd name="T80" fmla="*/ 217 w 225"/>
                <a:gd name="T81" fmla="*/ 154 h 333"/>
                <a:gd name="T82" fmla="*/ 207 w 225"/>
                <a:gd name="T83" fmla="*/ 99 h 333"/>
                <a:gd name="T84" fmla="*/ 143 w 225"/>
                <a:gd name="T85" fmla="*/ 87 h 333"/>
                <a:gd name="T86" fmla="*/ 141 w 225"/>
                <a:gd name="T87" fmla="*/ 155 h 333"/>
                <a:gd name="T88" fmla="*/ 140 w 225"/>
                <a:gd name="T89" fmla="*/ 206 h 333"/>
                <a:gd name="T90" fmla="*/ 111 w 225"/>
                <a:gd name="T91" fmla="*/ 232 h 333"/>
                <a:gd name="T92" fmla="*/ 65 w 225"/>
                <a:gd name="T93" fmla="*/ 232 h 333"/>
                <a:gd name="T94" fmla="*/ 36 w 225"/>
                <a:gd name="T95" fmla="*/ 206 h 333"/>
                <a:gd name="T96" fmla="*/ 35 w 225"/>
                <a:gd name="T97" fmla="*/ 155 h 333"/>
                <a:gd name="T98" fmla="*/ 33 w 225"/>
                <a:gd name="T99" fmla="*/ 87 h 333"/>
                <a:gd name="T100" fmla="*/ 28 w 225"/>
                <a:gd name="T101" fmla="*/ 61 h 333"/>
                <a:gd name="T102" fmla="*/ 148 w 225"/>
                <a:gd name="T103" fmla="*/ 61 h 333"/>
                <a:gd name="T104" fmla="*/ 143 w 225"/>
                <a:gd name="T105" fmla="*/ 87 h 333"/>
                <a:gd name="T106" fmla="*/ 156 w 225"/>
                <a:gd name="T107" fmla="*/ 183 h 333"/>
                <a:gd name="T108" fmla="*/ 156 w 225"/>
                <a:gd name="T109" fmla="*/ 115 h 333"/>
                <a:gd name="T110" fmla="*/ 190 w 225"/>
                <a:gd name="T111" fmla="*/ 119 h 333"/>
                <a:gd name="T112" fmla="*/ 156 w 225"/>
                <a:gd name="T113" fmla="*/ 183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5" h="333">
                  <a:moveTo>
                    <a:pt x="207" y="99"/>
                  </a:moveTo>
                  <a:cubicBezTo>
                    <a:pt x="199" y="91"/>
                    <a:pt x="189" y="88"/>
                    <a:pt x="179" y="88"/>
                  </a:cubicBezTo>
                  <a:cubicBezTo>
                    <a:pt x="170" y="88"/>
                    <a:pt x="163" y="90"/>
                    <a:pt x="156" y="94"/>
                  </a:cubicBezTo>
                  <a:cubicBezTo>
                    <a:pt x="157" y="92"/>
                    <a:pt x="157" y="90"/>
                    <a:pt x="157" y="88"/>
                  </a:cubicBezTo>
                  <a:cubicBezTo>
                    <a:pt x="158" y="78"/>
                    <a:pt x="160" y="70"/>
                    <a:pt x="162" y="63"/>
                  </a:cubicBezTo>
                  <a:cubicBezTo>
                    <a:pt x="168" y="63"/>
                    <a:pt x="168" y="63"/>
                    <a:pt x="168" y="63"/>
                  </a:cubicBezTo>
                  <a:cubicBezTo>
                    <a:pt x="172" y="63"/>
                    <a:pt x="176" y="59"/>
                    <a:pt x="176" y="55"/>
                  </a:cubicBezTo>
                  <a:cubicBezTo>
                    <a:pt x="176" y="50"/>
                    <a:pt x="172" y="47"/>
                    <a:pt x="168" y="47"/>
                  </a:cubicBezTo>
                  <a:cubicBezTo>
                    <a:pt x="166" y="47"/>
                    <a:pt x="166" y="47"/>
                    <a:pt x="166" y="47"/>
                  </a:cubicBezTo>
                  <a:cubicBezTo>
                    <a:pt x="169" y="34"/>
                    <a:pt x="158" y="19"/>
                    <a:pt x="126" y="17"/>
                  </a:cubicBezTo>
                  <a:cubicBezTo>
                    <a:pt x="119" y="17"/>
                    <a:pt x="119" y="3"/>
                    <a:pt x="108" y="1"/>
                  </a:cubicBezTo>
                  <a:cubicBezTo>
                    <a:pt x="100" y="0"/>
                    <a:pt x="96" y="16"/>
                    <a:pt x="85" y="16"/>
                  </a:cubicBezTo>
                  <a:cubicBezTo>
                    <a:pt x="74" y="16"/>
                    <a:pt x="73" y="7"/>
                    <a:pt x="62" y="9"/>
                  </a:cubicBezTo>
                  <a:cubicBezTo>
                    <a:pt x="51" y="11"/>
                    <a:pt x="54" y="25"/>
                    <a:pt x="42" y="23"/>
                  </a:cubicBezTo>
                  <a:cubicBezTo>
                    <a:pt x="23" y="19"/>
                    <a:pt x="9" y="34"/>
                    <a:pt x="11" y="47"/>
                  </a:cubicBezTo>
                  <a:cubicBezTo>
                    <a:pt x="8" y="47"/>
                    <a:pt x="8" y="47"/>
                    <a:pt x="8" y="47"/>
                  </a:cubicBezTo>
                  <a:cubicBezTo>
                    <a:pt x="4" y="47"/>
                    <a:pt x="0" y="50"/>
                    <a:pt x="0" y="55"/>
                  </a:cubicBezTo>
                  <a:cubicBezTo>
                    <a:pt x="0" y="59"/>
                    <a:pt x="4" y="63"/>
                    <a:pt x="8" y="63"/>
                  </a:cubicBezTo>
                  <a:cubicBezTo>
                    <a:pt x="14" y="63"/>
                    <a:pt x="14" y="63"/>
                    <a:pt x="14" y="63"/>
                  </a:cubicBezTo>
                  <a:cubicBezTo>
                    <a:pt x="16" y="70"/>
                    <a:pt x="18" y="78"/>
                    <a:pt x="19" y="88"/>
                  </a:cubicBezTo>
                  <a:cubicBezTo>
                    <a:pt x="23" y="126"/>
                    <a:pt x="18" y="179"/>
                    <a:pt x="21" y="207"/>
                  </a:cubicBezTo>
                  <a:cubicBezTo>
                    <a:pt x="24" y="232"/>
                    <a:pt x="45" y="246"/>
                    <a:pt x="65" y="246"/>
                  </a:cubicBezTo>
                  <a:cubicBezTo>
                    <a:pt x="61" y="257"/>
                    <a:pt x="57" y="261"/>
                    <a:pt x="57" y="266"/>
                  </a:cubicBezTo>
                  <a:cubicBezTo>
                    <a:pt x="57" y="271"/>
                    <a:pt x="60" y="274"/>
                    <a:pt x="65" y="279"/>
                  </a:cubicBezTo>
                  <a:cubicBezTo>
                    <a:pt x="66" y="281"/>
                    <a:pt x="68" y="285"/>
                    <a:pt x="69" y="291"/>
                  </a:cubicBezTo>
                  <a:cubicBezTo>
                    <a:pt x="69" y="292"/>
                    <a:pt x="69" y="295"/>
                    <a:pt x="68" y="296"/>
                  </a:cubicBezTo>
                  <a:cubicBezTo>
                    <a:pt x="51" y="313"/>
                    <a:pt x="19" y="325"/>
                    <a:pt x="19" y="325"/>
                  </a:cubicBezTo>
                  <a:cubicBezTo>
                    <a:pt x="17" y="325"/>
                    <a:pt x="15" y="327"/>
                    <a:pt x="15" y="329"/>
                  </a:cubicBezTo>
                  <a:cubicBezTo>
                    <a:pt x="15" y="331"/>
                    <a:pt x="17" y="333"/>
                    <a:pt x="19" y="333"/>
                  </a:cubicBezTo>
                  <a:cubicBezTo>
                    <a:pt x="19" y="333"/>
                    <a:pt x="53" y="333"/>
                    <a:pt x="88" y="333"/>
                  </a:cubicBezTo>
                  <a:cubicBezTo>
                    <a:pt x="122" y="333"/>
                    <a:pt x="157" y="333"/>
                    <a:pt x="157" y="333"/>
                  </a:cubicBezTo>
                  <a:cubicBezTo>
                    <a:pt x="159" y="333"/>
                    <a:pt x="161" y="331"/>
                    <a:pt x="161" y="329"/>
                  </a:cubicBezTo>
                  <a:cubicBezTo>
                    <a:pt x="161" y="327"/>
                    <a:pt x="159" y="325"/>
                    <a:pt x="157" y="325"/>
                  </a:cubicBezTo>
                  <a:cubicBezTo>
                    <a:pt x="157" y="325"/>
                    <a:pt x="125" y="313"/>
                    <a:pt x="108" y="296"/>
                  </a:cubicBezTo>
                  <a:cubicBezTo>
                    <a:pt x="107" y="295"/>
                    <a:pt x="107" y="292"/>
                    <a:pt x="107" y="291"/>
                  </a:cubicBezTo>
                  <a:cubicBezTo>
                    <a:pt x="108" y="285"/>
                    <a:pt x="110" y="281"/>
                    <a:pt x="111" y="279"/>
                  </a:cubicBezTo>
                  <a:cubicBezTo>
                    <a:pt x="115" y="274"/>
                    <a:pt x="119" y="271"/>
                    <a:pt x="119" y="266"/>
                  </a:cubicBezTo>
                  <a:cubicBezTo>
                    <a:pt x="119" y="261"/>
                    <a:pt x="115" y="257"/>
                    <a:pt x="111" y="246"/>
                  </a:cubicBezTo>
                  <a:cubicBezTo>
                    <a:pt x="131" y="246"/>
                    <a:pt x="152" y="232"/>
                    <a:pt x="155" y="207"/>
                  </a:cubicBezTo>
                  <a:cubicBezTo>
                    <a:pt x="155" y="205"/>
                    <a:pt x="155" y="203"/>
                    <a:pt x="155" y="201"/>
                  </a:cubicBezTo>
                  <a:cubicBezTo>
                    <a:pt x="186" y="200"/>
                    <a:pt x="209" y="176"/>
                    <a:pt x="217" y="154"/>
                  </a:cubicBezTo>
                  <a:cubicBezTo>
                    <a:pt x="225" y="133"/>
                    <a:pt x="221" y="111"/>
                    <a:pt x="207" y="99"/>
                  </a:cubicBezTo>
                  <a:close/>
                  <a:moveTo>
                    <a:pt x="143" y="87"/>
                  </a:moveTo>
                  <a:cubicBezTo>
                    <a:pt x="141" y="108"/>
                    <a:pt x="141" y="132"/>
                    <a:pt x="141" y="155"/>
                  </a:cubicBezTo>
                  <a:cubicBezTo>
                    <a:pt x="141" y="174"/>
                    <a:pt x="142" y="193"/>
                    <a:pt x="140" y="206"/>
                  </a:cubicBezTo>
                  <a:cubicBezTo>
                    <a:pt x="139" y="222"/>
                    <a:pt x="124" y="232"/>
                    <a:pt x="111" y="232"/>
                  </a:cubicBezTo>
                  <a:cubicBezTo>
                    <a:pt x="65" y="232"/>
                    <a:pt x="65" y="232"/>
                    <a:pt x="65" y="232"/>
                  </a:cubicBezTo>
                  <a:cubicBezTo>
                    <a:pt x="52" y="232"/>
                    <a:pt x="37" y="222"/>
                    <a:pt x="36" y="206"/>
                  </a:cubicBezTo>
                  <a:cubicBezTo>
                    <a:pt x="34" y="193"/>
                    <a:pt x="34" y="174"/>
                    <a:pt x="35" y="155"/>
                  </a:cubicBezTo>
                  <a:cubicBezTo>
                    <a:pt x="35" y="132"/>
                    <a:pt x="35" y="108"/>
                    <a:pt x="33" y="87"/>
                  </a:cubicBezTo>
                  <a:cubicBezTo>
                    <a:pt x="32" y="76"/>
                    <a:pt x="30" y="68"/>
                    <a:pt x="28" y="61"/>
                  </a:cubicBezTo>
                  <a:cubicBezTo>
                    <a:pt x="148" y="61"/>
                    <a:pt x="148" y="61"/>
                    <a:pt x="148" y="61"/>
                  </a:cubicBezTo>
                  <a:cubicBezTo>
                    <a:pt x="146" y="68"/>
                    <a:pt x="144" y="76"/>
                    <a:pt x="143" y="87"/>
                  </a:cubicBezTo>
                  <a:close/>
                  <a:moveTo>
                    <a:pt x="156" y="183"/>
                  </a:moveTo>
                  <a:cubicBezTo>
                    <a:pt x="156" y="163"/>
                    <a:pt x="155" y="138"/>
                    <a:pt x="156" y="115"/>
                  </a:cubicBezTo>
                  <a:cubicBezTo>
                    <a:pt x="165" y="107"/>
                    <a:pt x="181" y="106"/>
                    <a:pt x="190" y="119"/>
                  </a:cubicBezTo>
                  <a:cubicBezTo>
                    <a:pt x="207" y="144"/>
                    <a:pt x="193" y="182"/>
                    <a:pt x="156"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9" name="Freeform 44"/>
            <p:cNvSpPr>
              <a:spLocks/>
            </p:cNvSpPr>
            <p:nvPr/>
          </p:nvSpPr>
          <p:spPr bwMode="auto">
            <a:xfrm>
              <a:off x="6288088" y="4387850"/>
              <a:ext cx="244475" cy="355600"/>
            </a:xfrm>
            <a:custGeom>
              <a:avLst/>
              <a:gdLst>
                <a:gd name="T0" fmla="*/ 1 w 88"/>
                <a:gd name="T1" fmla="*/ 61 h 128"/>
                <a:gd name="T2" fmla="*/ 2 w 88"/>
                <a:gd name="T3" fmla="*/ 111 h 128"/>
                <a:gd name="T4" fmla="*/ 21 w 88"/>
                <a:gd name="T5" fmla="*/ 128 h 128"/>
                <a:gd name="T6" fmla="*/ 67 w 88"/>
                <a:gd name="T7" fmla="*/ 128 h 128"/>
                <a:gd name="T8" fmla="*/ 86 w 88"/>
                <a:gd name="T9" fmla="*/ 111 h 128"/>
                <a:gd name="T10" fmla="*/ 87 w 88"/>
                <a:gd name="T11" fmla="*/ 61 h 128"/>
                <a:gd name="T12" fmla="*/ 88 w 88"/>
                <a:gd name="T13" fmla="*/ 0 h 128"/>
                <a:gd name="T14" fmla="*/ 26 w 88"/>
                <a:gd name="T15" fmla="*/ 0 h 128"/>
                <a:gd name="T16" fmla="*/ 26 w 88"/>
                <a:gd name="T17" fmla="*/ 61 h 128"/>
                <a:gd name="T18" fmla="*/ 26 w 88"/>
                <a:gd name="T19" fmla="*/ 110 h 128"/>
                <a:gd name="T20" fmla="*/ 31 w 88"/>
                <a:gd name="T21" fmla="*/ 118 h 128"/>
                <a:gd name="T22" fmla="*/ 21 w 88"/>
                <a:gd name="T23" fmla="*/ 118 h 128"/>
                <a:gd name="T24" fmla="*/ 12 w 88"/>
                <a:gd name="T25" fmla="*/ 110 h 128"/>
                <a:gd name="T26" fmla="*/ 11 w 88"/>
                <a:gd name="T27" fmla="*/ 61 h 128"/>
                <a:gd name="T28" fmla="*/ 11 w 88"/>
                <a:gd name="T29" fmla="*/ 0 h 128"/>
                <a:gd name="T30" fmla="*/ 0 w 88"/>
                <a:gd name="T31" fmla="*/ 0 h 128"/>
                <a:gd name="T32" fmla="*/ 1 w 88"/>
                <a:gd name="T33" fmla="*/ 6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8" h="128">
                  <a:moveTo>
                    <a:pt x="1" y="61"/>
                  </a:moveTo>
                  <a:cubicBezTo>
                    <a:pt x="1" y="80"/>
                    <a:pt x="0" y="99"/>
                    <a:pt x="2" y="111"/>
                  </a:cubicBezTo>
                  <a:cubicBezTo>
                    <a:pt x="3" y="121"/>
                    <a:pt x="12" y="128"/>
                    <a:pt x="21" y="128"/>
                  </a:cubicBezTo>
                  <a:cubicBezTo>
                    <a:pt x="67" y="128"/>
                    <a:pt x="67" y="128"/>
                    <a:pt x="67" y="128"/>
                  </a:cubicBezTo>
                  <a:cubicBezTo>
                    <a:pt x="76" y="128"/>
                    <a:pt x="85" y="121"/>
                    <a:pt x="86" y="111"/>
                  </a:cubicBezTo>
                  <a:cubicBezTo>
                    <a:pt x="88" y="99"/>
                    <a:pt x="87" y="80"/>
                    <a:pt x="87" y="61"/>
                  </a:cubicBezTo>
                  <a:cubicBezTo>
                    <a:pt x="87" y="40"/>
                    <a:pt x="87" y="19"/>
                    <a:pt x="88" y="0"/>
                  </a:cubicBezTo>
                  <a:cubicBezTo>
                    <a:pt x="26" y="0"/>
                    <a:pt x="26" y="0"/>
                    <a:pt x="26" y="0"/>
                  </a:cubicBezTo>
                  <a:cubicBezTo>
                    <a:pt x="26" y="17"/>
                    <a:pt x="26" y="46"/>
                    <a:pt x="26" y="61"/>
                  </a:cubicBezTo>
                  <a:cubicBezTo>
                    <a:pt x="26" y="80"/>
                    <a:pt x="26" y="98"/>
                    <a:pt x="26" y="110"/>
                  </a:cubicBezTo>
                  <a:cubicBezTo>
                    <a:pt x="26" y="115"/>
                    <a:pt x="29" y="118"/>
                    <a:pt x="31" y="118"/>
                  </a:cubicBezTo>
                  <a:cubicBezTo>
                    <a:pt x="21" y="118"/>
                    <a:pt x="21" y="118"/>
                    <a:pt x="21" y="118"/>
                  </a:cubicBezTo>
                  <a:cubicBezTo>
                    <a:pt x="17" y="118"/>
                    <a:pt x="12" y="115"/>
                    <a:pt x="12" y="110"/>
                  </a:cubicBezTo>
                  <a:cubicBezTo>
                    <a:pt x="10" y="98"/>
                    <a:pt x="11" y="80"/>
                    <a:pt x="11" y="61"/>
                  </a:cubicBezTo>
                  <a:cubicBezTo>
                    <a:pt x="11" y="46"/>
                    <a:pt x="11" y="17"/>
                    <a:pt x="11" y="0"/>
                  </a:cubicBezTo>
                  <a:cubicBezTo>
                    <a:pt x="0" y="0"/>
                    <a:pt x="0" y="0"/>
                    <a:pt x="0" y="0"/>
                  </a:cubicBezTo>
                  <a:cubicBezTo>
                    <a:pt x="1" y="19"/>
                    <a:pt x="1" y="40"/>
                    <a:pt x="1"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74" name="Group 573"/>
          <p:cNvGrpSpPr/>
          <p:nvPr userDrawn="1"/>
        </p:nvGrpSpPr>
        <p:grpSpPr>
          <a:xfrm>
            <a:off x="6969054" y="5573976"/>
            <a:ext cx="237590" cy="292966"/>
            <a:chOff x="3255963" y="1474788"/>
            <a:chExt cx="633413" cy="781050"/>
          </a:xfrm>
          <a:solidFill>
            <a:schemeClr val="tx1"/>
          </a:solidFill>
        </p:grpSpPr>
        <p:sp>
          <p:nvSpPr>
            <p:cNvPr id="575" name="Freeform 6"/>
            <p:cNvSpPr>
              <a:spLocks/>
            </p:cNvSpPr>
            <p:nvPr/>
          </p:nvSpPr>
          <p:spPr bwMode="auto">
            <a:xfrm>
              <a:off x="3549650" y="1474788"/>
              <a:ext cx="250825" cy="242888"/>
            </a:xfrm>
            <a:custGeom>
              <a:avLst/>
              <a:gdLst>
                <a:gd name="T0" fmla="*/ 0 w 90"/>
                <a:gd name="T1" fmla="*/ 50 h 87"/>
                <a:gd name="T2" fmla="*/ 0 w 90"/>
                <a:gd name="T3" fmla="*/ 71 h 87"/>
                <a:gd name="T4" fmla="*/ 0 w 90"/>
                <a:gd name="T5" fmla="*/ 79 h 87"/>
                <a:gd name="T6" fmla="*/ 8 w 90"/>
                <a:gd name="T7" fmla="*/ 87 h 87"/>
                <a:gd name="T8" fmla="*/ 16 w 90"/>
                <a:gd name="T9" fmla="*/ 79 h 87"/>
                <a:gd name="T10" fmla="*/ 16 w 90"/>
                <a:gd name="T11" fmla="*/ 75 h 87"/>
                <a:gd name="T12" fmla="*/ 90 w 90"/>
                <a:gd name="T13" fmla="*/ 3 h 87"/>
                <a:gd name="T14" fmla="*/ 0 w 90"/>
                <a:gd name="T15" fmla="*/ 5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87">
                  <a:moveTo>
                    <a:pt x="0" y="50"/>
                  </a:moveTo>
                  <a:cubicBezTo>
                    <a:pt x="0" y="57"/>
                    <a:pt x="0" y="63"/>
                    <a:pt x="0" y="71"/>
                  </a:cubicBezTo>
                  <a:cubicBezTo>
                    <a:pt x="0" y="73"/>
                    <a:pt x="0" y="76"/>
                    <a:pt x="0" y="79"/>
                  </a:cubicBezTo>
                  <a:cubicBezTo>
                    <a:pt x="0" y="83"/>
                    <a:pt x="3" y="87"/>
                    <a:pt x="8" y="87"/>
                  </a:cubicBezTo>
                  <a:cubicBezTo>
                    <a:pt x="12" y="87"/>
                    <a:pt x="16" y="83"/>
                    <a:pt x="16" y="79"/>
                  </a:cubicBezTo>
                  <a:cubicBezTo>
                    <a:pt x="16" y="77"/>
                    <a:pt x="16" y="76"/>
                    <a:pt x="16" y="75"/>
                  </a:cubicBezTo>
                  <a:cubicBezTo>
                    <a:pt x="50" y="79"/>
                    <a:pt x="82" y="65"/>
                    <a:pt x="90" y="3"/>
                  </a:cubicBezTo>
                  <a:cubicBezTo>
                    <a:pt x="40" y="0"/>
                    <a:pt x="4" y="21"/>
                    <a:pt x="0"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6" name="Freeform 7"/>
            <p:cNvSpPr>
              <a:spLocks noEditPoints="1"/>
            </p:cNvSpPr>
            <p:nvPr/>
          </p:nvSpPr>
          <p:spPr bwMode="auto">
            <a:xfrm>
              <a:off x="3255963" y="1719263"/>
              <a:ext cx="633413" cy="536575"/>
            </a:xfrm>
            <a:custGeom>
              <a:avLst/>
              <a:gdLst>
                <a:gd name="T0" fmla="*/ 228 w 228"/>
                <a:gd name="T1" fmla="*/ 70 h 193"/>
                <a:gd name="T2" fmla="*/ 164 w 228"/>
                <a:gd name="T3" fmla="*/ 0 h 193"/>
                <a:gd name="T4" fmla="*/ 114 w 228"/>
                <a:gd name="T5" fmla="*/ 14 h 193"/>
                <a:gd name="T6" fmla="*/ 63 w 228"/>
                <a:gd name="T7" fmla="*/ 0 h 193"/>
                <a:gd name="T8" fmla="*/ 0 w 228"/>
                <a:gd name="T9" fmla="*/ 70 h 193"/>
                <a:gd name="T10" fmla="*/ 87 w 228"/>
                <a:gd name="T11" fmla="*/ 193 h 193"/>
                <a:gd name="T12" fmla="*/ 114 w 228"/>
                <a:gd name="T13" fmla="*/ 188 h 193"/>
                <a:gd name="T14" fmla="*/ 141 w 228"/>
                <a:gd name="T15" fmla="*/ 193 h 193"/>
                <a:gd name="T16" fmla="*/ 228 w 228"/>
                <a:gd name="T17" fmla="*/ 70 h 193"/>
                <a:gd name="T18" fmla="*/ 24 w 228"/>
                <a:gd name="T19" fmla="*/ 70 h 193"/>
                <a:gd name="T20" fmla="*/ 63 w 228"/>
                <a:gd name="T21" fmla="*/ 15 h 193"/>
                <a:gd name="T22" fmla="*/ 81 w 228"/>
                <a:gd name="T23" fmla="*/ 42 h 193"/>
                <a:gd name="T24" fmla="*/ 24 w 228"/>
                <a:gd name="T25" fmla="*/ 7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8" h="193">
                  <a:moveTo>
                    <a:pt x="228" y="70"/>
                  </a:moveTo>
                  <a:cubicBezTo>
                    <a:pt x="228" y="38"/>
                    <a:pt x="207" y="0"/>
                    <a:pt x="164" y="0"/>
                  </a:cubicBezTo>
                  <a:cubicBezTo>
                    <a:pt x="136" y="0"/>
                    <a:pt x="138" y="14"/>
                    <a:pt x="114" y="14"/>
                  </a:cubicBezTo>
                  <a:cubicBezTo>
                    <a:pt x="90" y="14"/>
                    <a:pt x="91" y="0"/>
                    <a:pt x="63" y="0"/>
                  </a:cubicBezTo>
                  <a:cubicBezTo>
                    <a:pt x="20" y="0"/>
                    <a:pt x="0" y="38"/>
                    <a:pt x="0" y="70"/>
                  </a:cubicBezTo>
                  <a:cubicBezTo>
                    <a:pt x="0" y="126"/>
                    <a:pt x="41" y="193"/>
                    <a:pt x="87" y="193"/>
                  </a:cubicBezTo>
                  <a:cubicBezTo>
                    <a:pt x="112" y="193"/>
                    <a:pt x="108" y="188"/>
                    <a:pt x="114" y="188"/>
                  </a:cubicBezTo>
                  <a:cubicBezTo>
                    <a:pt x="120" y="188"/>
                    <a:pt x="116" y="193"/>
                    <a:pt x="141" y="193"/>
                  </a:cubicBezTo>
                  <a:cubicBezTo>
                    <a:pt x="187" y="193"/>
                    <a:pt x="228" y="127"/>
                    <a:pt x="228" y="70"/>
                  </a:cubicBezTo>
                  <a:close/>
                  <a:moveTo>
                    <a:pt x="24" y="70"/>
                  </a:moveTo>
                  <a:cubicBezTo>
                    <a:pt x="21" y="56"/>
                    <a:pt x="29" y="15"/>
                    <a:pt x="63" y="15"/>
                  </a:cubicBezTo>
                  <a:cubicBezTo>
                    <a:pt x="81" y="15"/>
                    <a:pt x="85" y="30"/>
                    <a:pt x="81" y="42"/>
                  </a:cubicBezTo>
                  <a:cubicBezTo>
                    <a:pt x="70" y="69"/>
                    <a:pt x="31" y="99"/>
                    <a:pt x="2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8" name="Group 587"/>
          <p:cNvGrpSpPr/>
          <p:nvPr userDrawn="1"/>
        </p:nvGrpSpPr>
        <p:grpSpPr>
          <a:xfrm>
            <a:off x="6889647" y="6784653"/>
            <a:ext cx="332268" cy="263790"/>
            <a:chOff x="5980113" y="2949575"/>
            <a:chExt cx="885825" cy="703263"/>
          </a:xfrm>
          <a:solidFill>
            <a:schemeClr val="tx1"/>
          </a:solidFill>
        </p:grpSpPr>
        <p:sp>
          <p:nvSpPr>
            <p:cNvPr id="589" name="Freeform 588"/>
            <p:cNvSpPr>
              <a:spLocks noEditPoints="1"/>
            </p:cNvSpPr>
            <p:nvPr/>
          </p:nvSpPr>
          <p:spPr bwMode="auto">
            <a:xfrm>
              <a:off x="5980113" y="3019425"/>
              <a:ext cx="449263" cy="633413"/>
            </a:xfrm>
            <a:custGeom>
              <a:avLst/>
              <a:gdLst>
                <a:gd name="T0" fmla="*/ 123 w 162"/>
                <a:gd name="T1" fmla="*/ 196 h 228"/>
                <a:gd name="T2" fmla="*/ 122 w 162"/>
                <a:gd name="T3" fmla="*/ 94 h 228"/>
                <a:gd name="T4" fmla="*/ 116 w 162"/>
                <a:gd name="T5" fmla="*/ 66 h 228"/>
                <a:gd name="T6" fmla="*/ 119 w 162"/>
                <a:gd name="T7" fmla="*/ 66 h 228"/>
                <a:gd name="T8" fmla="*/ 132 w 162"/>
                <a:gd name="T9" fmla="*/ 44 h 228"/>
                <a:gd name="T10" fmla="*/ 106 w 162"/>
                <a:gd name="T11" fmla="*/ 6 h 228"/>
                <a:gd name="T12" fmla="*/ 99 w 162"/>
                <a:gd name="T13" fmla="*/ 6 h 228"/>
                <a:gd name="T14" fmla="*/ 87 w 162"/>
                <a:gd name="T15" fmla="*/ 2 h 228"/>
                <a:gd name="T16" fmla="*/ 88 w 162"/>
                <a:gd name="T17" fmla="*/ 1 h 228"/>
                <a:gd name="T18" fmla="*/ 81 w 162"/>
                <a:gd name="T19" fmla="*/ 0 h 228"/>
                <a:gd name="T20" fmla="*/ 73 w 162"/>
                <a:gd name="T21" fmla="*/ 1 h 228"/>
                <a:gd name="T22" fmla="*/ 74 w 162"/>
                <a:gd name="T23" fmla="*/ 2 h 228"/>
                <a:gd name="T24" fmla="*/ 62 w 162"/>
                <a:gd name="T25" fmla="*/ 6 h 228"/>
                <a:gd name="T26" fmla="*/ 56 w 162"/>
                <a:gd name="T27" fmla="*/ 6 h 228"/>
                <a:gd name="T28" fmla="*/ 30 w 162"/>
                <a:gd name="T29" fmla="*/ 44 h 228"/>
                <a:gd name="T30" fmla="*/ 43 w 162"/>
                <a:gd name="T31" fmla="*/ 66 h 228"/>
                <a:gd name="T32" fmla="*/ 43 w 162"/>
                <a:gd name="T33" fmla="*/ 66 h 228"/>
                <a:gd name="T34" fmla="*/ 45 w 162"/>
                <a:gd name="T35" fmla="*/ 66 h 228"/>
                <a:gd name="T36" fmla="*/ 40 w 162"/>
                <a:gd name="T37" fmla="*/ 94 h 228"/>
                <a:gd name="T38" fmla="*/ 39 w 162"/>
                <a:gd name="T39" fmla="*/ 196 h 228"/>
                <a:gd name="T40" fmla="*/ 20 w 162"/>
                <a:gd name="T41" fmla="*/ 216 h 228"/>
                <a:gd name="T42" fmla="*/ 20 w 162"/>
                <a:gd name="T43" fmla="*/ 222 h 228"/>
                <a:gd name="T44" fmla="*/ 26 w 162"/>
                <a:gd name="T45" fmla="*/ 228 h 228"/>
                <a:gd name="T46" fmla="*/ 136 w 162"/>
                <a:gd name="T47" fmla="*/ 228 h 228"/>
                <a:gd name="T48" fmla="*/ 142 w 162"/>
                <a:gd name="T49" fmla="*/ 222 h 228"/>
                <a:gd name="T50" fmla="*/ 142 w 162"/>
                <a:gd name="T51" fmla="*/ 216 h 228"/>
                <a:gd name="T52" fmla="*/ 123 w 162"/>
                <a:gd name="T53" fmla="*/ 196 h 228"/>
                <a:gd name="T54" fmla="*/ 62 w 162"/>
                <a:gd name="T55" fmla="*/ 99 h 228"/>
                <a:gd name="T56" fmla="*/ 60 w 162"/>
                <a:gd name="T57" fmla="*/ 187 h 228"/>
                <a:gd name="T58" fmla="*/ 44 w 162"/>
                <a:gd name="T59" fmla="*/ 187 h 228"/>
                <a:gd name="T60" fmla="*/ 48 w 162"/>
                <a:gd name="T61" fmla="*/ 99 h 228"/>
                <a:gd name="T62" fmla="*/ 56 w 162"/>
                <a:gd name="T63" fmla="*/ 70 h 228"/>
                <a:gd name="T64" fmla="*/ 67 w 162"/>
                <a:gd name="T65" fmla="*/ 70 h 228"/>
                <a:gd name="T66" fmla="*/ 62 w 162"/>
                <a:gd name="T67" fmla="*/ 9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2" h="228">
                  <a:moveTo>
                    <a:pt x="123" y="196"/>
                  </a:moveTo>
                  <a:cubicBezTo>
                    <a:pt x="162" y="159"/>
                    <a:pt x="129" y="106"/>
                    <a:pt x="122" y="94"/>
                  </a:cubicBezTo>
                  <a:cubicBezTo>
                    <a:pt x="116" y="84"/>
                    <a:pt x="115" y="74"/>
                    <a:pt x="116" y="66"/>
                  </a:cubicBezTo>
                  <a:cubicBezTo>
                    <a:pt x="119" y="66"/>
                    <a:pt x="119" y="66"/>
                    <a:pt x="119" y="66"/>
                  </a:cubicBezTo>
                  <a:cubicBezTo>
                    <a:pt x="119" y="66"/>
                    <a:pt x="129" y="60"/>
                    <a:pt x="132" y="44"/>
                  </a:cubicBezTo>
                  <a:cubicBezTo>
                    <a:pt x="132" y="28"/>
                    <a:pt x="121" y="13"/>
                    <a:pt x="106" y="6"/>
                  </a:cubicBezTo>
                  <a:cubicBezTo>
                    <a:pt x="104" y="6"/>
                    <a:pt x="102" y="6"/>
                    <a:pt x="99" y="6"/>
                  </a:cubicBezTo>
                  <a:cubicBezTo>
                    <a:pt x="93" y="6"/>
                    <a:pt x="87" y="5"/>
                    <a:pt x="87" y="2"/>
                  </a:cubicBezTo>
                  <a:cubicBezTo>
                    <a:pt x="87" y="2"/>
                    <a:pt x="88" y="1"/>
                    <a:pt x="88" y="1"/>
                  </a:cubicBezTo>
                  <a:cubicBezTo>
                    <a:pt x="86" y="0"/>
                    <a:pt x="83" y="0"/>
                    <a:pt x="81" y="0"/>
                  </a:cubicBezTo>
                  <a:cubicBezTo>
                    <a:pt x="78" y="0"/>
                    <a:pt x="76" y="0"/>
                    <a:pt x="73" y="1"/>
                  </a:cubicBezTo>
                  <a:cubicBezTo>
                    <a:pt x="74" y="1"/>
                    <a:pt x="74" y="2"/>
                    <a:pt x="74" y="2"/>
                  </a:cubicBezTo>
                  <a:cubicBezTo>
                    <a:pt x="74" y="5"/>
                    <a:pt x="69" y="6"/>
                    <a:pt x="62" y="6"/>
                  </a:cubicBezTo>
                  <a:cubicBezTo>
                    <a:pt x="60" y="6"/>
                    <a:pt x="58" y="6"/>
                    <a:pt x="56" y="6"/>
                  </a:cubicBezTo>
                  <a:cubicBezTo>
                    <a:pt x="40" y="13"/>
                    <a:pt x="30" y="28"/>
                    <a:pt x="30" y="44"/>
                  </a:cubicBezTo>
                  <a:cubicBezTo>
                    <a:pt x="33" y="60"/>
                    <a:pt x="43" y="66"/>
                    <a:pt x="43" y="66"/>
                  </a:cubicBezTo>
                  <a:cubicBezTo>
                    <a:pt x="43" y="66"/>
                    <a:pt x="43" y="66"/>
                    <a:pt x="43" y="66"/>
                  </a:cubicBezTo>
                  <a:cubicBezTo>
                    <a:pt x="45" y="66"/>
                    <a:pt x="45" y="66"/>
                    <a:pt x="45" y="66"/>
                  </a:cubicBezTo>
                  <a:cubicBezTo>
                    <a:pt x="46" y="74"/>
                    <a:pt x="45" y="84"/>
                    <a:pt x="40" y="94"/>
                  </a:cubicBezTo>
                  <a:cubicBezTo>
                    <a:pt x="32" y="106"/>
                    <a:pt x="0" y="159"/>
                    <a:pt x="39" y="196"/>
                  </a:cubicBezTo>
                  <a:cubicBezTo>
                    <a:pt x="28" y="196"/>
                    <a:pt x="20" y="205"/>
                    <a:pt x="20" y="216"/>
                  </a:cubicBezTo>
                  <a:cubicBezTo>
                    <a:pt x="20" y="222"/>
                    <a:pt x="20" y="222"/>
                    <a:pt x="20" y="222"/>
                  </a:cubicBezTo>
                  <a:cubicBezTo>
                    <a:pt x="20" y="225"/>
                    <a:pt x="22" y="228"/>
                    <a:pt x="26" y="228"/>
                  </a:cubicBezTo>
                  <a:cubicBezTo>
                    <a:pt x="136" y="228"/>
                    <a:pt x="136" y="228"/>
                    <a:pt x="136" y="228"/>
                  </a:cubicBezTo>
                  <a:cubicBezTo>
                    <a:pt x="139" y="228"/>
                    <a:pt x="142" y="225"/>
                    <a:pt x="142" y="222"/>
                  </a:cubicBezTo>
                  <a:cubicBezTo>
                    <a:pt x="142" y="216"/>
                    <a:pt x="142" y="216"/>
                    <a:pt x="142" y="216"/>
                  </a:cubicBezTo>
                  <a:cubicBezTo>
                    <a:pt x="142" y="205"/>
                    <a:pt x="133" y="196"/>
                    <a:pt x="123" y="196"/>
                  </a:cubicBezTo>
                  <a:close/>
                  <a:moveTo>
                    <a:pt x="62" y="99"/>
                  </a:moveTo>
                  <a:cubicBezTo>
                    <a:pt x="50" y="137"/>
                    <a:pt x="49" y="166"/>
                    <a:pt x="60" y="187"/>
                  </a:cubicBezTo>
                  <a:cubicBezTo>
                    <a:pt x="44" y="187"/>
                    <a:pt x="44" y="187"/>
                    <a:pt x="44" y="187"/>
                  </a:cubicBezTo>
                  <a:cubicBezTo>
                    <a:pt x="24" y="166"/>
                    <a:pt x="25" y="137"/>
                    <a:pt x="48" y="99"/>
                  </a:cubicBezTo>
                  <a:cubicBezTo>
                    <a:pt x="54" y="89"/>
                    <a:pt x="56" y="79"/>
                    <a:pt x="56" y="70"/>
                  </a:cubicBezTo>
                  <a:cubicBezTo>
                    <a:pt x="67" y="70"/>
                    <a:pt x="67" y="70"/>
                    <a:pt x="67" y="70"/>
                  </a:cubicBezTo>
                  <a:cubicBezTo>
                    <a:pt x="67" y="79"/>
                    <a:pt x="66" y="89"/>
                    <a:pt x="62"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0" name="Freeform 589"/>
            <p:cNvSpPr>
              <a:spLocks noEditPoints="1"/>
            </p:cNvSpPr>
            <p:nvPr/>
          </p:nvSpPr>
          <p:spPr bwMode="auto">
            <a:xfrm>
              <a:off x="6413500" y="2949575"/>
              <a:ext cx="452438" cy="703263"/>
            </a:xfrm>
            <a:custGeom>
              <a:avLst/>
              <a:gdLst>
                <a:gd name="T0" fmla="*/ 123 w 163"/>
                <a:gd name="T1" fmla="*/ 221 h 253"/>
                <a:gd name="T2" fmla="*/ 123 w 163"/>
                <a:gd name="T3" fmla="*/ 119 h 253"/>
                <a:gd name="T4" fmla="*/ 117 w 163"/>
                <a:gd name="T5" fmla="*/ 91 h 253"/>
                <a:gd name="T6" fmla="*/ 119 w 163"/>
                <a:gd name="T7" fmla="*/ 91 h 253"/>
                <a:gd name="T8" fmla="*/ 133 w 163"/>
                <a:gd name="T9" fmla="*/ 69 h 253"/>
                <a:gd name="T10" fmla="*/ 91 w 163"/>
                <a:gd name="T11" fmla="*/ 26 h 253"/>
                <a:gd name="T12" fmla="*/ 92 w 163"/>
                <a:gd name="T13" fmla="*/ 15 h 253"/>
                <a:gd name="T14" fmla="*/ 93 w 163"/>
                <a:gd name="T15" fmla="*/ 15 h 253"/>
                <a:gd name="T16" fmla="*/ 95 w 163"/>
                <a:gd name="T17" fmla="*/ 13 h 253"/>
                <a:gd name="T18" fmla="*/ 95 w 163"/>
                <a:gd name="T19" fmla="*/ 7 h 253"/>
                <a:gd name="T20" fmla="*/ 82 w 163"/>
                <a:gd name="T21" fmla="*/ 0 h 253"/>
                <a:gd name="T22" fmla="*/ 68 w 163"/>
                <a:gd name="T23" fmla="*/ 7 h 253"/>
                <a:gd name="T24" fmla="*/ 68 w 163"/>
                <a:gd name="T25" fmla="*/ 13 h 253"/>
                <a:gd name="T26" fmla="*/ 70 w 163"/>
                <a:gd name="T27" fmla="*/ 15 h 253"/>
                <a:gd name="T28" fmla="*/ 72 w 163"/>
                <a:gd name="T29" fmla="*/ 15 h 253"/>
                <a:gd name="T30" fmla="*/ 72 w 163"/>
                <a:gd name="T31" fmla="*/ 26 h 253"/>
                <a:gd name="T32" fmla="*/ 30 w 163"/>
                <a:gd name="T33" fmla="*/ 69 h 253"/>
                <a:gd name="T34" fmla="*/ 44 w 163"/>
                <a:gd name="T35" fmla="*/ 91 h 253"/>
                <a:gd name="T36" fmla="*/ 44 w 163"/>
                <a:gd name="T37" fmla="*/ 91 h 253"/>
                <a:gd name="T38" fmla="*/ 46 w 163"/>
                <a:gd name="T39" fmla="*/ 91 h 253"/>
                <a:gd name="T40" fmla="*/ 41 w 163"/>
                <a:gd name="T41" fmla="*/ 119 h 253"/>
                <a:gd name="T42" fmla="*/ 40 w 163"/>
                <a:gd name="T43" fmla="*/ 221 h 253"/>
                <a:gd name="T44" fmla="*/ 20 w 163"/>
                <a:gd name="T45" fmla="*/ 241 h 253"/>
                <a:gd name="T46" fmla="*/ 20 w 163"/>
                <a:gd name="T47" fmla="*/ 247 h 253"/>
                <a:gd name="T48" fmla="*/ 27 w 163"/>
                <a:gd name="T49" fmla="*/ 253 h 253"/>
                <a:gd name="T50" fmla="*/ 137 w 163"/>
                <a:gd name="T51" fmla="*/ 253 h 253"/>
                <a:gd name="T52" fmla="*/ 143 w 163"/>
                <a:gd name="T53" fmla="*/ 247 h 253"/>
                <a:gd name="T54" fmla="*/ 143 w 163"/>
                <a:gd name="T55" fmla="*/ 241 h 253"/>
                <a:gd name="T56" fmla="*/ 123 w 163"/>
                <a:gd name="T57" fmla="*/ 221 h 253"/>
                <a:gd name="T58" fmla="*/ 63 w 163"/>
                <a:gd name="T59" fmla="*/ 124 h 253"/>
                <a:gd name="T60" fmla="*/ 61 w 163"/>
                <a:gd name="T61" fmla="*/ 212 h 253"/>
                <a:gd name="T62" fmla="*/ 45 w 163"/>
                <a:gd name="T63" fmla="*/ 212 h 253"/>
                <a:gd name="T64" fmla="*/ 49 w 163"/>
                <a:gd name="T65" fmla="*/ 124 h 253"/>
                <a:gd name="T66" fmla="*/ 57 w 163"/>
                <a:gd name="T67" fmla="*/ 95 h 253"/>
                <a:gd name="T68" fmla="*/ 67 w 163"/>
                <a:gd name="T69" fmla="*/ 95 h 253"/>
                <a:gd name="T70" fmla="*/ 63 w 163"/>
                <a:gd name="T71" fmla="*/ 124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253">
                  <a:moveTo>
                    <a:pt x="123" y="221"/>
                  </a:moveTo>
                  <a:cubicBezTo>
                    <a:pt x="163" y="184"/>
                    <a:pt x="130" y="131"/>
                    <a:pt x="123" y="119"/>
                  </a:cubicBezTo>
                  <a:cubicBezTo>
                    <a:pt x="117" y="109"/>
                    <a:pt x="116" y="99"/>
                    <a:pt x="117" y="91"/>
                  </a:cubicBezTo>
                  <a:cubicBezTo>
                    <a:pt x="119" y="91"/>
                    <a:pt x="119" y="91"/>
                    <a:pt x="119" y="91"/>
                  </a:cubicBezTo>
                  <a:cubicBezTo>
                    <a:pt x="119" y="91"/>
                    <a:pt x="130" y="85"/>
                    <a:pt x="133" y="69"/>
                  </a:cubicBezTo>
                  <a:cubicBezTo>
                    <a:pt x="133" y="48"/>
                    <a:pt x="115" y="30"/>
                    <a:pt x="91" y="26"/>
                  </a:cubicBezTo>
                  <a:cubicBezTo>
                    <a:pt x="89" y="23"/>
                    <a:pt x="90" y="18"/>
                    <a:pt x="92" y="15"/>
                  </a:cubicBezTo>
                  <a:cubicBezTo>
                    <a:pt x="93" y="15"/>
                    <a:pt x="93" y="15"/>
                    <a:pt x="93" y="15"/>
                  </a:cubicBezTo>
                  <a:cubicBezTo>
                    <a:pt x="94" y="15"/>
                    <a:pt x="95" y="14"/>
                    <a:pt x="95" y="13"/>
                  </a:cubicBezTo>
                  <a:cubicBezTo>
                    <a:pt x="95" y="7"/>
                    <a:pt x="95" y="7"/>
                    <a:pt x="95" y="7"/>
                  </a:cubicBezTo>
                  <a:cubicBezTo>
                    <a:pt x="95" y="3"/>
                    <a:pt x="89" y="0"/>
                    <a:pt x="82" y="0"/>
                  </a:cubicBezTo>
                  <a:cubicBezTo>
                    <a:pt x="74" y="0"/>
                    <a:pt x="68" y="3"/>
                    <a:pt x="68" y="7"/>
                  </a:cubicBezTo>
                  <a:cubicBezTo>
                    <a:pt x="68" y="13"/>
                    <a:pt x="68" y="13"/>
                    <a:pt x="68" y="13"/>
                  </a:cubicBezTo>
                  <a:cubicBezTo>
                    <a:pt x="68" y="14"/>
                    <a:pt x="69" y="15"/>
                    <a:pt x="70" y="15"/>
                  </a:cubicBezTo>
                  <a:cubicBezTo>
                    <a:pt x="72" y="15"/>
                    <a:pt x="72" y="15"/>
                    <a:pt x="72" y="15"/>
                  </a:cubicBezTo>
                  <a:cubicBezTo>
                    <a:pt x="73" y="18"/>
                    <a:pt x="74" y="23"/>
                    <a:pt x="72" y="26"/>
                  </a:cubicBezTo>
                  <a:cubicBezTo>
                    <a:pt x="48" y="30"/>
                    <a:pt x="30" y="48"/>
                    <a:pt x="30" y="69"/>
                  </a:cubicBezTo>
                  <a:cubicBezTo>
                    <a:pt x="34" y="85"/>
                    <a:pt x="44" y="91"/>
                    <a:pt x="44" y="91"/>
                  </a:cubicBezTo>
                  <a:cubicBezTo>
                    <a:pt x="44" y="91"/>
                    <a:pt x="44" y="91"/>
                    <a:pt x="44" y="91"/>
                  </a:cubicBezTo>
                  <a:cubicBezTo>
                    <a:pt x="46" y="91"/>
                    <a:pt x="46" y="91"/>
                    <a:pt x="46" y="91"/>
                  </a:cubicBezTo>
                  <a:cubicBezTo>
                    <a:pt x="47" y="99"/>
                    <a:pt x="46" y="109"/>
                    <a:pt x="41" y="119"/>
                  </a:cubicBezTo>
                  <a:cubicBezTo>
                    <a:pt x="33" y="131"/>
                    <a:pt x="0" y="184"/>
                    <a:pt x="40" y="221"/>
                  </a:cubicBezTo>
                  <a:cubicBezTo>
                    <a:pt x="29" y="221"/>
                    <a:pt x="20" y="230"/>
                    <a:pt x="20" y="241"/>
                  </a:cubicBezTo>
                  <a:cubicBezTo>
                    <a:pt x="20" y="247"/>
                    <a:pt x="20" y="247"/>
                    <a:pt x="20" y="247"/>
                  </a:cubicBezTo>
                  <a:cubicBezTo>
                    <a:pt x="20" y="250"/>
                    <a:pt x="23" y="253"/>
                    <a:pt x="27" y="253"/>
                  </a:cubicBezTo>
                  <a:cubicBezTo>
                    <a:pt x="137" y="253"/>
                    <a:pt x="137" y="253"/>
                    <a:pt x="137" y="253"/>
                  </a:cubicBezTo>
                  <a:cubicBezTo>
                    <a:pt x="140" y="253"/>
                    <a:pt x="143" y="250"/>
                    <a:pt x="143" y="247"/>
                  </a:cubicBezTo>
                  <a:cubicBezTo>
                    <a:pt x="143" y="241"/>
                    <a:pt x="143" y="241"/>
                    <a:pt x="143" y="241"/>
                  </a:cubicBezTo>
                  <a:cubicBezTo>
                    <a:pt x="143" y="230"/>
                    <a:pt x="134" y="221"/>
                    <a:pt x="123" y="221"/>
                  </a:cubicBezTo>
                  <a:close/>
                  <a:moveTo>
                    <a:pt x="63" y="124"/>
                  </a:moveTo>
                  <a:cubicBezTo>
                    <a:pt x="50" y="162"/>
                    <a:pt x="50" y="191"/>
                    <a:pt x="61" y="212"/>
                  </a:cubicBezTo>
                  <a:cubicBezTo>
                    <a:pt x="45" y="212"/>
                    <a:pt x="45" y="212"/>
                    <a:pt x="45" y="212"/>
                  </a:cubicBezTo>
                  <a:cubicBezTo>
                    <a:pt x="25" y="191"/>
                    <a:pt x="26" y="162"/>
                    <a:pt x="49" y="124"/>
                  </a:cubicBezTo>
                  <a:cubicBezTo>
                    <a:pt x="55" y="114"/>
                    <a:pt x="57" y="104"/>
                    <a:pt x="57" y="95"/>
                  </a:cubicBezTo>
                  <a:cubicBezTo>
                    <a:pt x="67" y="95"/>
                    <a:pt x="67" y="95"/>
                    <a:pt x="67" y="95"/>
                  </a:cubicBezTo>
                  <a:cubicBezTo>
                    <a:pt x="68" y="104"/>
                    <a:pt x="66" y="114"/>
                    <a:pt x="63" y="1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96" name="Group 595"/>
          <p:cNvGrpSpPr/>
          <p:nvPr userDrawn="1"/>
        </p:nvGrpSpPr>
        <p:grpSpPr>
          <a:xfrm>
            <a:off x="6901649" y="6159729"/>
            <a:ext cx="281618" cy="325278"/>
            <a:chOff x="3097213" y="4105275"/>
            <a:chExt cx="819150" cy="946150"/>
          </a:xfrm>
          <a:solidFill>
            <a:schemeClr val="tx1"/>
          </a:solidFill>
        </p:grpSpPr>
        <p:sp>
          <p:nvSpPr>
            <p:cNvPr id="597" name="Freeform 22"/>
            <p:cNvSpPr>
              <a:spLocks/>
            </p:cNvSpPr>
            <p:nvPr/>
          </p:nvSpPr>
          <p:spPr bwMode="auto">
            <a:xfrm>
              <a:off x="3733800" y="4132263"/>
              <a:ext cx="138113" cy="180975"/>
            </a:xfrm>
            <a:custGeom>
              <a:avLst/>
              <a:gdLst>
                <a:gd name="T0" fmla="*/ 47 w 50"/>
                <a:gd name="T1" fmla="*/ 1 h 65"/>
                <a:gd name="T2" fmla="*/ 0 w 50"/>
                <a:gd name="T3" fmla="*/ 65 h 65"/>
                <a:gd name="T4" fmla="*/ 21 w 50"/>
                <a:gd name="T5" fmla="*/ 65 h 65"/>
                <a:gd name="T6" fmla="*/ 47 w 50"/>
                <a:gd name="T7" fmla="*/ 1 h 65"/>
              </a:gdLst>
              <a:ahLst/>
              <a:cxnLst>
                <a:cxn ang="0">
                  <a:pos x="T0" y="T1"/>
                </a:cxn>
                <a:cxn ang="0">
                  <a:pos x="T2" y="T3"/>
                </a:cxn>
                <a:cxn ang="0">
                  <a:pos x="T4" y="T5"/>
                </a:cxn>
                <a:cxn ang="0">
                  <a:pos x="T6" y="T7"/>
                </a:cxn>
              </a:cxnLst>
              <a:rect l="0" t="0" r="r" b="b"/>
              <a:pathLst>
                <a:path w="50" h="65">
                  <a:moveTo>
                    <a:pt x="47" y="1"/>
                  </a:moveTo>
                  <a:cubicBezTo>
                    <a:pt x="45" y="0"/>
                    <a:pt x="0" y="65"/>
                    <a:pt x="0" y="65"/>
                  </a:cubicBezTo>
                  <a:cubicBezTo>
                    <a:pt x="21" y="65"/>
                    <a:pt x="21" y="65"/>
                    <a:pt x="21" y="65"/>
                  </a:cubicBezTo>
                  <a:cubicBezTo>
                    <a:pt x="21" y="65"/>
                    <a:pt x="50" y="3"/>
                    <a:pt x="4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8" name="Rectangle 23"/>
            <p:cNvSpPr>
              <a:spLocks noChangeArrowheads="1"/>
            </p:cNvSpPr>
            <p:nvPr/>
          </p:nvSpPr>
          <p:spPr bwMode="auto">
            <a:xfrm>
              <a:off x="3557588" y="49609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9" name="Freeform 24"/>
            <p:cNvSpPr>
              <a:spLocks noEditPoints="1"/>
            </p:cNvSpPr>
            <p:nvPr/>
          </p:nvSpPr>
          <p:spPr bwMode="auto">
            <a:xfrm>
              <a:off x="3252788" y="4340225"/>
              <a:ext cx="663575" cy="711200"/>
            </a:xfrm>
            <a:custGeom>
              <a:avLst/>
              <a:gdLst>
                <a:gd name="T0" fmla="*/ 137 w 239"/>
                <a:gd name="T1" fmla="*/ 131 h 256"/>
                <a:gd name="T2" fmla="*/ 232 w 239"/>
                <a:gd name="T3" fmla="*/ 9 h 256"/>
                <a:gd name="T4" fmla="*/ 230 w 239"/>
                <a:gd name="T5" fmla="*/ 0 h 256"/>
                <a:gd name="T6" fmla="*/ 8 w 239"/>
                <a:gd name="T7" fmla="*/ 0 h 256"/>
                <a:gd name="T8" fmla="*/ 7 w 239"/>
                <a:gd name="T9" fmla="*/ 9 h 256"/>
                <a:gd name="T10" fmla="*/ 103 w 239"/>
                <a:gd name="T11" fmla="*/ 132 h 256"/>
                <a:gd name="T12" fmla="*/ 112 w 239"/>
                <a:gd name="T13" fmla="*/ 147 h 256"/>
                <a:gd name="T14" fmla="*/ 112 w 239"/>
                <a:gd name="T15" fmla="*/ 223 h 256"/>
                <a:gd name="T16" fmla="*/ 50 w 239"/>
                <a:gd name="T17" fmla="*/ 249 h 256"/>
                <a:gd name="T18" fmla="*/ 47 w 239"/>
                <a:gd name="T19" fmla="*/ 252 h 256"/>
                <a:gd name="T20" fmla="*/ 50 w 239"/>
                <a:gd name="T21" fmla="*/ 256 h 256"/>
                <a:gd name="T22" fmla="*/ 190 w 239"/>
                <a:gd name="T23" fmla="*/ 256 h 256"/>
                <a:gd name="T24" fmla="*/ 193 w 239"/>
                <a:gd name="T25" fmla="*/ 252 h 256"/>
                <a:gd name="T26" fmla="*/ 190 w 239"/>
                <a:gd name="T27" fmla="*/ 249 h 256"/>
                <a:gd name="T28" fmla="*/ 129 w 239"/>
                <a:gd name="T29" fmla="*/ 223 h 256"/>
                <a:gd name="T30" fmla="*/ 129 w 239"/>
                <a:gd name="T31" fmla="*/ 148 h 256"/>
                <a:gd name="T32" fmla="*/ 137 w 239"/>
                <a:gd name="T33" fmla="*/ 131 h 256"/>
                <a:gd name="T34" fmla="*/ 127 w 239"/>
                <a:gd name="T35" fmla="*/ 124 h 256"/>
                <a:gd name="T36" fmla="*/ 119 w 239"/>
                <a:gd name="T37" fmla="*/ 129 h 256"/>
                <a:gd name="T38" fmla="*/ 112 w 239"/>
                <a:gd name="T39" fmla="*/ 124 h 256"/>
                <a:gd name="T40" fmla="*/ 21 w 239"/>
                <a:gd name="T41" fmla="*/ 10 h 256"/>
                <a:gd name="T42" fmla="*/ 217 w 239"/>
                <a:gd name="T43" fmla="*/ 10 h 256"/>
                <a:gd name="T44" fmla="*/ 127 w 239"/>
                <a:gd name="T45"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9" h="256">
                  <a:moveTo>
                    <a:pt x="137" y="131"/>
                  </a:moveTo>
                  <a:cubicBezTo>
                    <a:pt x="232" y="9"/>
                    <a:pt x="232" y="9"/>
                    <a:pt x="232" y="9"/>
                  </a:cubicBezTo>
                  <a:cubicBezTo>
                    <a:pt x="237" y="3"/>
                    <a:pt x="239" y="0"/>
                    <a:pt x="230" y="0"/>
                  </a:cubicBezTo>
                  <a:cubicBezTo>
                    <a:pt x="8" y="0"/>
                    <a:pt x="8" y="0"/>
                    <a:pt x="8" y="0"/>
                  </a:cubicBezTo>
                  <a:cubicBezTo>
                    <a:pt x="0" y="0"/>
                    <a:pt x="2" y="3"/>
                    <a:pt x="7" y="9"/>
                  </a:cubicBezTo>
                  <a:cubicBezTo>
                    <a:pt x="103" y="132"/>
                    <a:pt x="103" y="132"/>
                    <a:pt x="103" y="132"/>
                  </a:cubicBezTo>
                  <a:cubicBezTo>
                    <a:pt x="103" y="132"/>
                    <a:pt x="112" y="141"/>
                    <a:pt x="112" y="147"/>
                  </a:cubicBezTo>
                  <a:cubicBezTo>
                    <a:pt x="112" y="153"/>
                    <a:pt x="112" y="223"/>
                    <a:pt x="112" y="223"/>
                  </a:cubicBezTo>
                  <a:cubicBezTo>
                    <a:pt x="79" y="244"/>
                    <a:pt x="50" y="249"/>
                    <a:pt x="50" y="249"/>
                  </a:cubicBezTo>
                  <a:cubicBezTo>
                    <a:pt x="49" y="249"/>
                    <a:pt x="47" y="250"/>
                    <a:pt x="47" y="252"/>
                  </a:cubicBezTo>
                  <a:cubicBezTo>
                    <a:pt x="47" y="254"/>
                    <a:pt x="49" y="256"/>
                    <a:pt x="50" y="256"/>
                  </a:cubicBezTo>
                  <a:cubicBezTo>
                    <a:pt x="50" y="256"/>
                    <a:pt x="190" y="256"/>
                    <a:pt x="190" y="256"/>
                  </a:cubicBezTo>
                  <a:cubicBezTo>
                    <a:pt x="192" y="256"/>
                    <a:pt x="193" y="254"/>
                    <a:pt x="193" y="252"/>
                  </a:cubicBezTo>
                  <a:cubicBezTo>
                    <a:pt x="193" y="250"/>
                    <a:pt x="192" y="249"/>
                    <a:pt x="190" y="249"/>
                  </a:cubicBezTo>
                  <a:cubicBezTo>
                    <a:pt x="190" y="249"/>
                    <a:pt x="161" y="244"/>
                    <a:pt x="129" y="223"/>
                  </a:cubicBezTo>
                  <a:cubicBezTo>
                    <a:pt x="129" y="223"/>
                    <a:pt x="129" y="154"/>
                    <a:pt x="129" y="148"/>
                  </a:cubicBezTo>
                  <a:cubicBezTo>
                    <a:pt x="129" y="141"/>
                    <a:pt x="137" y="131"/>
                    <a:pt x="137" y="131"/>
                  </a:cubicBezTo>
                  <a:close/>
                  <a:moveTo>
                    <a:pt x="127" y="124"/>
                  </a:moveTo>
                  <a:cubicBezTo>
                    <a:pt x="125" y="127"/>
                    <a:pt x="122" y="129"/>
                    <a:pt x="119" y="129"/>
                  </a:cubicBezTo>
                  <a:cubicBezTo>
                    <a:pt x="117" y="129"/>
                    <a:pt x="114" y="127"/>
                    <a:pt x="112" y="124"/>
                  </a:cubicBezTo>
                  <a:cubicBezTo>
                    <a:pt x="21" y="10"/>
                    <a:pt x="21" y="10"/>
                    <a:pt x="21" y="10"/>
                  </a:cubicBezTo>
                  <a:cubicBezTo>
                    <a:pt x="217" y="10"/>
                    <a:pt x="217" y="10"/>
                    <a:pt x="217" y="10"/>
                  </a:cubicBezTo>
                  <a:lnTo>
                    <a:pt x="127" y="1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0" name="Freeform 25"/>
            <p:cNvSpPr>
              <a:spLocks noEditPoints="1"/>
            </p:cNvSpPr>
            <p:nvPr/>
          </p:nvSpPr>
          <p:spPr bwMode="auto">
            <a:xfrm>
              <a:off x="3097213" y="4105275"/>
              <a:ext cx="388938" cy="396875"/>
            </a:xfrm>
            <a:custGeom>
              <a:avLst/>
              <a:gdLst>
                <a:gd name="T0" fmla="*/ 70 w 140"/>
                <a:gd name="T1" fmla="*/ 125 h 143"/>
                <a:gd name="T2" fmla="*/ 68 w 140"/>
                <a:gd name="T3" fmla="*/ 123 h 143"/>
                <a:gd name="T4" fmla="*/ 59 w 140"/>
                <a:gd name="T5" fmla="*/ 112 h 143"/>
                <a:gd name="T6" fmla="*/ 58 w 140"/>
                <a:gd name="T7" fmla="*/ 117 h 143"/>
                <a:gd name="T8" fmla="*/ 50 w 140"/>
                <a:gd name="T9" fmla="*/ 120 h 143"/>
                <a:gd name="T10" fmla="*/ 37 w 140"/>
                <a:gd name="T11" fmla="*/ 110 h 143"/>
                <a:gd name="T12" fmla="*/ 38 w 140"/>
                <a:gd name="T13" fmla="*/ 101 h 143"/>
                <a:gd name="T14" fmla="*/ 47 w 140"/>
                <a:gd name="T15" fmla="*/ 96 h 143"/>
                <a:gd name="T16" fmla="*/ 45 w 140"/>
                <a:gd name="T17" fmla="*/ 88 h 143"/>
                <a:gd name="T18" fmla="*/ 34 w 140"/>
                <a:gd name="T19" fmla="*/ 94 h 143"/>
                <a:gd name="T20" fmla="*/ 26 w 140"/>
                <a:gd name="T21" fmla="*/ 90 h 143"/>
                <a:gd name="T22" fmla="*/ 24 w 140"/>
                <a:gd name="T23" fmla="*/ 74 h 143"/>
                <a:gd name="T24" fmla="*/ 31 w 140"/>
                <a:gd name="T25" fmla="*/ 69 h 143"/>
                <a:gd name="T26" fmla="*/ 51 w 140"/>
                <a:gd name="T27" fmla="*/ 74 h 143"/>
                <a:gd name="T28" fmla="*/ 64 w 140"/>
                <a:gd name="T29" fmla="*/ 71 h 143"/>
                <a:gd name="T30" fmla="*/ 91 w 140"/>
                <a:gd name="T31" fmla="*/ 71 h 143"/>
                <a:gd name="T32" fmla="*/ 93 w 140"/>
                <a:gd name="T33" fmla="*/ 70 h 143"/>
                <a:gd name="T34" fmla="*/ 115 w 140"/>
                <a:gd name="T35" fmla="*/ 57 h 143"/>
                <a:gd name="T36" fmla="*/ 123 w 140"/>
                <a:gd name="T37" fmla="*/ 60 h 143"/>
                <a:gd name="T38" fmla="*/ 125 w 140"/>
                <a:gd name="T39" fmla="*/ 71 h 143"/>
                <a:gd name="T40" fmla="*/ 140 w 140"/>
                <a:gd name="T41" fmla="*/ 71 h 143"/>
                <a:gd name="T42" fmla="*/ 131 w 140"/>
                <a:gd name="T43" fmla="*/ 42 h 143"/>
                <a:gd name="T44" fmla="*/ 42 w 140"/>
                <a:gd name="T45" fmla="*/ 18 h 143"/>
                <a:gd name="T46" fmla="*/ 18 w 140"/>
                <a:gd name="T47" fmla="*/ 108 h 143"/>
                <a:gd name="T48" fmla="*/ 81 w 140"/>
                <a:gd name="T49" fmla="*/ 140 h 143"/>
                <a:gd name="T50" fmla="*/ 70 w 140"/>
                <a:gd name="T51" fmla="*/ 125 h 143"/>
                <a:gd name="T52" fmla="*/ 84 w 140"/>
                <a:gd name="T53" fmla="*/ 59 h 143"/>
                <a:gd name="T54" fmla="*/ 91 w 140"/>
                <a:gd name="T55" fmla="*/ 34 h 143"/>
                <a:gd name="T56" fmla="*/ 99 w 140"/>
                <a:gd name="T57" fmla="*/ 30 h 143"/>
                <a:gd name="T58" fmla="*/ 112 w 140"/>
                <a:gd name="T59" fmla="*/ 41 h 143"/>
                <a:gd name="T60" fmla="*/ 111 w 140"/>
                <a:gd name="T61" fmla="*/ 49 h 143"/>
                <a:gd name="T62" fmla="*/ 89 w 140"/>
                <a:gd name="T63" fmla="*/ 62 h 143"/>
                <a:gd name="T64" fmla="*/ 84 w 140"/>
                <a:gd name="T65" fmla="*/ 59 h 143"/>
                <a:gd name="T66" fmla="*/ 60 w 140"/>
                <a:gd name="T67" fmla="*/ 26 h 143"/>
                <a:gd name="T68" fmla="*/ 77 w 140"/>
                <a:gd name="T69" fmla="*/ 24 h 143"/>
                <a:gd name="T70" fmla="*/ 82 w 140"/>
                <a:gd name="T71" fmla="*/ 31 h 143"/>
                <a:gd name="T72" fmla="*/ 75 w 140"/>
                <a:gd name="T73" fmla="*/ 56 h 143"/>
                <a:gd name="T74" fmla="*/ 70 w 140"/>
                <a:gd name="T75" fmla="*/ 57 h 143"/>
                <a:gd name="T76" fmla="*/ 57 w 140"/>
                <a:gd name="T77" fmla="*/ 34 h 143"/>
                <a:gd name="T78" fmla="*/ 60 w 140"/>
                <a:gd name="T79" fmla="*/ 26 h 143"/>
                <a:gd name="T80" fmla="*/ 30 w 140"/>
                <a:gd name="T81" fmla="*/ 51 h 143"/>
                <a:gd name="T82" fmla="*/ 40 w 140"/>
                <a:gd name="T83" fmla="*/ 38 h 143"/>
                <a:gd name="T84" fmla="*/ 48 w 140"/>
                <a:gd name="T85" fmla="*/ 39 h 143"/>
                <a:gd name="T86" fmla="*/ 61 w 140"/>
                <a:gd name="T87" fmla="*/ 62 h 143"/>
                <a:gd name="T88" fmla="*/ 58 w 140"/>
                <a:gd name="T89" fmla="*/ 66 h 143"/>
                <a:gd name="T90" fmla="*/ 33 w 140"/>
                <a:gd name="T91" fmla="*/ 59 h 143"/>
                <a:gd name="T92" fmla="*/ 30 w 140"/>
                <a:gd name="T93" fmla="*/ 5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0" h="143">
                  <a:moveTo>
                    <a:pt x="70" y="125"/>
                  </a:moveTo>
                  <a:cubicBezTo>
                    <a:pt x="69" y="125"/>
                    <a:pt x="68" y="124"/>
                    <a:pt x="68" y="123"/>
                  </a:cubicBezTo>
                  <a:cubicBezTo>
                    <a:pt x="59" y="112"/>
                    <a:pt x="59" y="112"/>
                    <a:pt x="59" y="112"/>
                  </a:cubicBezTo>
                  <a:cubicBezTo>
                    <a:pt x="58" y="117"/>
                    <a:pt x="58" y="117"/>
                    <a:pt x="58" y="117"/>
                  </a:cubicBezTo>
                  <a:cubicBezTo>
                    <a:pt x="57" y="120"/>
                    <a:pt x="54" y="122"/>
                    <a:pt x="50" y="120"/>
                  </a:cubicBezTo>
                  <a:cubicBezTo>
                    <a:pt x="37" y="110"/>
                    <a:pt x="37" y="110"/>
                    <a:pt x="37" y="110"/>
                  </a:cubicBezTo>
                  <a:cubicBezTo>
                    <a:pt x="35" y="107"/>
                    <a:pt x="35" y="103"/>
                    <a:pt x="38" y="101"/>
                  </a:cubicBezTo>
                  <a:cubicBezTo>
                    <a:pt x="47" y="96"/>
                    <a:pt x="47" y="96"/>
                    <a:pt x="47" y="96"/>
                  </a:cubicBezTo>
                  <a:cubicBezTo>
                    <a:pt x="46" y="94"/>
                    <a:pt x="45" y="91"/>
                    <a:pt x="45" y="88"/>
                  </a:cubicBezTo>
                  <a:cubicBezTo>
                    <a:pt x="34" y="94"/>
                    <a:pt x="34" y="94"/>
                    <a:pt x="34" y="94"/>
                  </a:cubicBezTo>
                  <a:cubicBezTo>
                    <a:pt x="31" y="96"/>
                    <a:pt x="27" y="94"/>
                    <a:pt x="26" y="90"/>
                  </a:cubicBezTo>
                  <a:cubicBezTo>
                    <a:pt x="24" y="74"/>
                    <a:pt x="24" y="74"/>
                    <a:pt x="24" y="74"/>
                  </a:cubicBezTo>
                  <a:cubicBezTo>
                    <a:pt x="24" y="70"/>
                    <a:pt x="27" y="68"/>
                    <a:pt x="31" y="69"/>
                  </a:cubicBezTo>
                  <a:cubicBezTo>
                    <a:pt x="51" y="74"/>
                    <a:pt x="51" y="74"/>
                    <a:pt x="51" y="74"/>
                  </a:cubicBezTo>
                  <a:cubicBezTo>
                    <a:pt x="55" y="72"/>
                    <a:pt x="59" y="71"/>
                    <a:pt x="64" y="71"/>
                  </a:cubicBezTo>
                  <a:cubicBezTo>
                    <a:pt x="91" y="71"/>
                    <a:pt x="91" y="71"/>
                    <a:pt x="91" y="71"/>
                  </a:cubicBezTo>
                  <a:cubicBezTo>
                    <a:pt x="92" y="70"/>
                    <a:pt x="92" y="70"/>
                    <a:pt x="93" y="70"/>
                  </a:cubicBezTo>
                  <a:cubicBezTo>
                    <a:pt x="115" y="57"/>
                    <a:pt x="115" y="57"/>
                    <a:pt x="115" y="57"/>
                  </a:cubicBezTo>
                  <a:cubicBezTo>
                    <a:pt x="119" y="55"/>
                    <a:pt x="122" y="56"/>
                    <a:pt x="123" y="60"/>
                  </a:cubicBezTo>
                  <a:cubicBezTo>
                    <a:pt x="125" y="71"/>
                    <a:pt x="125" y="71"/>
                    <a:pt x="125" y="71"/>
                  </a:cubicBezTo>
                  <a:cubicBezTo>
                    <a:pt x="140" y="71"/>
                    <a:pt x="140" y="71"/>
                    <a:pt x="140" y="71"/>
                  </a:cubicBezTo>
                  <a:cubicBezTo>
                    <a:pt x="139" y="61"/>
                    <a:pt x="137" y="51"/>
                    <a:pt x="131" y="42"/>
                  </a:cubicBezTo>
                  <a:cubicBezTo>
                    <a:pt x="113" y="11"/>
                    <a:pt x="73" y="0"/>
                    <a:pt x="42" y="18"/>
                  </a:cubicBezTo>
                  <a:cubicBezTo>
                    <a:pt x="11" y="37"/>
                    <a:pt x="0" y="77"/>
                    <a:pt x="18" y="108"/>
                  </a:cubicBezTo>
                  <a:cubicBezTo>
                    <a:pt x="31" y="131"/>
                    <a:pt x="57" y="143"/>
                    <a:pt x="81" y="140"/>
                  </a:cubicBezTo>
                  <a:lnTo>
                    <a:pt x="70" y="125"/>
                  </a:lnTo>
                  <a:close/>
                  <a:moveTo>
                    <a:pt x="84" y="59"/>
                  </a:moveTo>
                  <a:cubicBezTo>
                    <a:pt x="91" y="34"/>
                    <a:pt x="91" y="34"/>
                    <a:pt x="91" y="34"/>
                  </a:cubicBezTo>
                  <a:cubicBezTo>
                    <a:pt x="92" y="30"/>
                    <a:pt x="96" y="29"/>
                    <a:pt x="99" y="30"/>
                  </a:cubicBezTo>
                  <a:cubicBezTo>
                    <a:pt x="112" y="41"/>
                    <a:pt x="112" y="41"/>
                    <a:pt x="112" y="41"/>
                  </a:cubicBezTo>
                  <a:cubicBezTo>
                    <a:pt x="115" y="43"/>
                    <a:pt x="114" y="47"/>
                    <a:pt x="111" y="49"/>
                  </a:cubicBezTo>
                  <a:cubicBezTo>
                    <a:pt x="89" y="62"/>
                    <a:pt x="89" y="62"/>
                    <a:pt x="89" y="62"/>
                  </a:cubicBezTo>
                  <a:cubicBezTo>
                    <a:pt x="85" y="64"/>
                    <a:pt x="83" y="63"/>
                    <a:pt x="84" y="59"/>
                  </a:cubicBezTo>
                  <a:close/>
                  <a:moveTo>
                    <a:pt x="60" y="26"/>
                  </a:moveTo>
                  <a:cubicBezTo>
                    <a:pt x="77" y="24"/>
                    <a:pt x="77" y="24"/>
                    <a:pt x="77" y="24"/>
                  </a:cubicBezTo>
                  <a:cubicBezTo>
                    <a:pt x="80" y="24"/>
                    <a:pt x="83" y="27"/>
                    <a:pt x="82" y="31"/>
                  </a:cubicBezTo>
                  <a:cubicBezTo>
                    <a:pt x="75" y="56"/>
                    <a:pt x="75" y="56"/>
                    <a:pt x="75" y="56"/>
                  </a:cubicBezTo>
                  <a:cubicBezTo>
                    <a:pt x="74" y="60"/>
                    <a:pt x="72" y="60"/>
                    <a:pt x="70" y="57"/>
                  </a:cubicBezTo>
                  <a:cubicBezTo>
                    <a:pt x="57" y="34"/>
                    <a:pt x="57" y="34"/>
                    <a:pt x="57" y="34"/>
                  </a:cubicBezTo>
                  <a:cubicBezTo>
                    <a:pt x="55" y="31"/>
                    <a:pt x="56" y="27"/>
                    <a:pt x="60" y="26"/>
                  </a:cubicBezTo>
                  <a:close/>
                  <a:moveTo>
                    <a:pt x="30" y="51"/>
                  </a:moveTo>
                  <a:cubicBezTo>
                    <a:pt x="40" y="38"/>
                    <a:pt x="40" y="38"/>
                    <a:pt x="40" y="38"/>
                  </a:cubicBezTo>
                  <a:cubicBezTo>
                    <a:pt x="43" y="35"/>
                    <a:pt x="46" y="36"/>
                    <a:pt x="48" y="39"/>
                  </a:cubicBezTo>
                  <a:cubicBezTo>
                    <a:pt x="61" y="62"/>
                    <a:pt x="61" y="62"/>
                    <a:pt x="61" y="62"/>
                  </a:cubicBezTo>
                  <a:cubicBezTo>
                    <a:pt x="63" y="65"/>
                    <a:pt x="62" y="67"/>
                    <a:pt x="58" y="66"/>
                  </a:cubicBezTo>
                  <a:cubicBezTo>
                    <a:pt x="33" y="59"/>
                    <a:pt x="33" y="59"/>
                    <a:pt x="33" y="59"/>
                  </a:cubicBezTo>
                  <a:cubicBezTo>
                    <a:pt x="29" y="58"/>
                    <a:pt x="28" y="55"/>
                    <a:pt x="3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1" name="Freeform 26"/>
            <p:cNvSpPr>
              <a:spLocks/>
            </p:cNvSpPr>
            <p:nvPr/>
          </p:nvSpPr>
          <p:spPr bwMode="auto">
            <a:xfrm>
              <a:off x="3386138" y="4416425"/>
              <a:ext cx="396875" cy="252413"/>
            </a:xfrm>
            <a:custGeom>
              <a:avLst/>
              <a:gdLst>
                <a:gd name="T0" fmla="*/ 49 w 143"/>
                <a:gd name="T1" fmla="*/ 0 h 91"/>
                <a:gd name="T2" fmla="*/ 70 w 143"/>
                <a:gd name="T3" fmla="*/ 76 h 91"/>
                <a:gd name="T4" fmla="*/ 16 w 143"/>
                <a:gd name="T5" fmla="*/ 0 h 91"/>
                <a:gd name="T6" fmla="*/ 0 w 143"/>
                <a:gd name="T7" fmla="*/ 0 h 91"/>
                <a:gd name="T8" fmla="*/ 71 w 143"/>
                <a:gd name="T9" fmla="*/ 91 h 91"/>
                <a:gd name="T10" fmla="*/ 143 w 143"/>
                <a:gd name="T11" fmla="*/ 0 h 91"/>
                <a:gd name="T12" fmla="*/ 49 w 143"/>
                <a:gd name="T13" fmla="*/ 0 h 91"/>
              </a:gdLst>
              <a:ahLst/>
              <a:cxnLst>
                <a:cxn ang="0">
                  <a:pos x="T0" y="T1"/>
                </a:cxn>
                <a:cxn ang="0">
                  <a:pos x="T2" y="T3"/>
                </a:cxn>
                <a:cxn ang="0">
                  <a:pos x="T4" y="T5"/>
                </a:cxn>
                <a:cxn ang="0">
                  <a:pos x="T6" y="T7"/>
                </a:cxn>
                <a:cxn ang="0">
                  <a:pos x="T8" y="T9"/>
                </a:cxn>
                <a:cxn ang="0">
                  <a:pos x="T10" y="T11"/>
                </a:cxn>
                <a:cxn ang="0">
                  <a:pos x="T12" y="T13"/>
                </a:cxn>
              </a:cxnLst>
              <a:rect l="0" t="0" r="r" b="b"/>
              <a:pathLst>
                <a:path w="143" h="91">
                  <a:moveTo>
                    <a:pt x="49" y="0"/>
                  </a:moveTo>
                  <a:cubicBezTo>
                    <a:pt x="70" y="76"/>
                    <a:pt x="70" y="76"/>
                    <a:pt x="70" y="76"/>
                  </a:cubicBezTo>
                  <a:cubicBezTo>
                    <a:pt x="16" y="0"/>
                    <a:pt x="16" y="0"/>
                    <a:pt x="16" y="0"/>
                  </a:cubicBezTo>
                  <a:cubicBezTo>
                    <a:pt x="0" y="0"/>
                    <a:pt x="0" y="0"/>
                    <a:pt x="0" y="0"/>
                  </a:cubicBezTo>
                  <a:cubicBezTo>
                    <a:pt x="71" y="91"/>
                    <a:pt x="71" y="91"/>
                    <a:pt x="71" y="91"/>
                  </a:cubicBezTo>
                  <a:cubicBezTo>
                    <a:pt x="71" y="91"/>
                    <a:pt x="124" y="24"/>
                    <a:pt x="143" y="0"/>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05" name="Group 604"/>
          <p:cNvGrpSpPr/>
          <p:nvPr userDrawn="1"/>
        </p:nvGrpSpPr>
        <p:grpSpPr>
          <a:xfrm>
            <a:off x="6906043" y="4954422"/>
            <a:ext cx="312718" cy="262194"/>
            <a:chOff x="4530725" y="2792413"/>
            <a:chExt cx="933450" cy="782637"/>
          </a:xfrm>
          <a:solidFill>
            <a:schemeClr val="tx1"/>
          </a:solidFill>
        </p:grpSpPr>
        <p:sp>
          <p:nvSpPr>
            <p:cNvPr id="606" name="Freeform 33"/>
            <p:cNvSpPr>
              <a:spLocks noEditPoints="1"/>
            </p:cNvSpPr>
            <p:nvPr/>
          </p:nvSpPr>
          <p:spPr bwMode="auto">
            <a:xfrm>
              <a:off x="4530725" y="3302000"/>
              <a:ext cx="830263" cy="273050"/>
            </a:xfrm>
            <a:custGeom>
              <a:avLst/>
              <a:gdLst>
                <a:gd name="T0" fmla="*/ 281 w 299"/>
                <a:gd name="T1" fmla="*/ 5 h 98"/>
                <a:gd name="T2" fmla="*/ 231 w 299"/>
                <a:gd name="T3" fmla="*/ 17 h 98"/>
                <a:gd name="T4" fmla="*/ 226 w 299"/>
                <a:gd name="T5" fmla="*/ 31 h 98"/>
                <a:gd name="T6" fmla="*/ 202 w 299"/>
                <a:gd name="T7" fmla="*/ 42 h 98"/>
                <a:gd name="T8" fmla="*/ 152 w 299"/>
                <a:gd name="T9" fmla="*/ 43 h 98"/>
                <a:gd name="T10" fmla="*/ 202 w 299"/>
                <a:gd name="T11" fmla="*/ 29 h 98"/>
                <a:gd name="T12" fmla="*/ 214 w 299"/>
                <a:gd name="T13" fmla="*/ 25 h 98"/>
                <a:gd name="T14" fmla="*/ 216 w 299"/>
                <a:gd name="T15" fmla="*/ 10 h 98"/>
                <a:gd name="T16" fmla="*/ 205 w 299"/>
                <a:gd name="T17" fmla="*/ 6 h 98"/>
                <a:gd name="T18" fmla="*/ 70 w 299"/>
                <a:gd name="T19" fmla="*/ 6 h 98"/>
                <a:gd name="T20" fmla="*/ 62 w 299"/>
                <a:gd name="T21" fmla="*/ 0 h 98"/>
                <a:gd name="T22" fmla="*/ 17 w 299"/>
                <a:gd name="T23" fmla="*/ 0 h 98"/>
                <a:gd name="T24" fmla="*/ 0 w 299"/>
                <a:gd name="T25" fmla="*/ 18 h 98"/>
                <a:gd name="T26" fmla="*/ 17 w 299"/>
                <a:gd name="T27" fmla="*/ 67 h 98"/>
                <a:gd name="T28" fmla="*/ 37 w 299"/>
                <a:gd name="T29" fmla="*/ 90 h 98"/>
                <a:gd name="T30" fmla="*/ 57 w 299"/>
                <a:gd name="T31" fmla="*/ 98 h 98"/>
                <a:gd name="T32" fmla="*/ 59 w 299"/>
                <a:gd name="T33" fmla="*/ 98 h 98"/>
                <a:gd name="T34" fmla="*/ 70 w 299"/>
                <a:gd name="T35" fmla="*/ 98 h 98"/>
                <a:gd name="T36" fmla="*/ 70 w 299"/>
                <a:gd name="T37" fmla="*/ 98 h 98"/>
                <a:gd name="T38" fmla="*/ 99 w 299"/>
                <a:gd name="T39" fmla="*/ 90 h 98"/>
                <a:gd name="T40" fmla="*/ 97 w 299"/>
                <a:gd name="T41" fmla="*/ 77 h 98"/>
                <a:gd name="T42" fmla="*/ 126 w 299"/>
                <a:gd name="T43" fmla="*/ 68 h 98"/>
                <a:gd name="T44" fmla="*/ 187 w 299"/>
                <a:gd name="T45" fmla="*/ 76 h 98"/>
                <a:gd name="T46" fmla="*/ 289 w 299"/>
                <a:gd name="T47" fmla="*/ 24 h 98"/>
                <a:gd name="T48" fmla="*/ 298 w 299"/>
                <a:gd name="T49" fmla="*/ 10 h 98"/>
                <a:gd name="T50" fmla="*/ 281 w 299"/>
                <a:gd name="T51" fmla="*/ 5 h 98"/>
                <a:gd name="T52" fmla="*/ 70 w 299"/>
                <a:gd name="T53" fmla="*/ 81 h 98"/>
                <a:gd name="T54" fmla="*/ 59 w 299"/>
                <a:gd name="T55" fmla="*/ 81 h 98"/>
                <a:gd name="T56" fmla="*/ 58 w 299"/>
                <a:gd name="T57" fmla="*/ 81 h 98"/>
                <a:gd name="T58" fmla="*/ 57 w 299"/>
                <a:gd name="T59" fmla="*/ 81 h 98"/>
                <a:gd name="T60" fmla="*/ 48 w 299"/>
                <a:gd name="T61" fmla="*/ 78 h 98"/>
                <a:gd name="T62" fmla="*/ 31 w 299"/>
                <a:gd name="T63" fmla="*/ 58 h 98"/>
                <a:gd name="T64" fmla="*/ 17 w 299"/>
                <a:gd name="T65" fmla="*/ 18 h 98"/>
                <a:gd name="T66" fmla="*/ 17 w 299"/>
                <a:gd name="T67" fmla="*/ 17 h 98"/>
                <a:gd name="T68" fmla="*/ 17 w 299"/>
                <a:gd name="T69" fmla="*/ 17 h 98"/>
                <a:gd name="T70" fmla="*/ 47 w 299"/>
                <a:gd name="T71" fmla="*/ 17 h 98"/>
                <a:gd name="T72" fmla="*/ 47 w 299"/>
                <a:gd name="T73" fmla="*/ 18 h 98"/>
                <a:gd name="T74" fmla="*/ 64 w 299"/>
                <a:gd name="T75" fmla="*/ 67 h 98"/>
                <a:gd name="T76" fmla="*/ 75 w 299"/>
                <a:gd name="T77" fmla="*/ 81 h 98"/>
                <a:gd name="T78" fmla="*/ 70 w 299"/>
                <a:gd name="T79" fmla="*/ 8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9" h="98">
                  <a:moveTo>
                    <a:pt x="281" y="5"/>
                  </a:moveTo>
                  <a:cubicBezTo>
                    <a:pt x="272" y="7"/>
                    <a:pt x="242" y="15"/>
                    <a:pt x="231" y="17"/>
                  </a:cubicBezTo>
                  <a:cubicBezTo>
                    <a:pt x="231" y="22"/>
                    <a:pt x="229" y="27"/>
                    <a:pt x="226" y="31"/>
                  </a:cubicBezTo>
                  <a:cubicBezTo>
                    <a:pt x="222" y="36"/>
                    <a:pt x="215" y="42"/>
                    <a:pt x="202" y="42"/>
                  </a:cubicBezTo>
                  <a:cubicBezTo>
                    <a:pt x="188" y="42"/>
                    <a:pt x="153" y="44"/>
                    <a:pt x="152" y="43"/>
                  </a:cubicBezTo>
                  <a:cubicBezTo>
                    <a:pt x="150" y="40"/>
                    <a:pt x="165" y="29"/>
                    <a:pt x="202" y="29"/>
                  </a:cubicBezTo>
                  <a:cubicBezTo>
                    <a:pt x="207" y="29"/>
                    <a:pt x="211" y="28"/>
                    <a:pt x="214" y="25"/>
                  </a:cubicBezTo>
                  <a:cubicBezTo>
                    <a:pt x="217" y="22"/>
                    <a:pt x="221" y="15"/>
                    <a:pt x="216" y="10"/>
                  </a:cubicBezTo>
                  <a:cubicBezTo>
                    <a:pt x="214" y="8"/>
                    <a:pt x="209" y="7"/>
                    <a:pt x="205" y="6"/>
                  </a:cubicBezTo>
                  <a:cubicBezTo>
                    <a:pt x="70" y="6"/>
                    <a:pt x="70" y="6"/>
                    <a:pt x="70" y="6"/>
                  </a:cubicBezTo>
                  <a:cubicBezTo>
                    <a:pt x="69" y="3"/>
                    <a:pt x="66" y="0"/>
                    <a:pt x="62" y="0"/>
                  </a:cubicBezTo>
                  <a:cubicBezTo>
                    <a:pt x="17" y="0"/>
                    <a:pt x="17" y="0"/>
                    <a:pt x="17" y="0"/>
                  </a:cubicBezTo>
                  <a:cubicBezTo>
                    <a:pt x="3" y="0"/>
                    <a:pt x="0" y="11"/>
                    <a:pt x="0" y="18"/>
                  </a:cubicBezTo>
                  <a:cubicBezTo>
                    <a:pt x="1" y="35"/>
                    <a:pt x="5" y="49"/>
                    <a:pt x="17" y="67"/>
                  </a:cubicBezTo>
                  <a:cubicBezTo>
                    <a:pt x="24" y="77"/>
                    <a:pt x="29" y="83"/>
                    <a:pt x="37" y="90"/>
                  </a:cubicBezTo>
                  <a:cubicBezTo>
                    <a:pt x="45" y="97"/>
                    <a:pt x="53" y="98"/>
                    <a:pt x="57" y="98"/>
                  </a:cubicBezTo>
                  <a:cubicBezTo>
                    <a:pt x="58" y="98"/>
                    <a:pt x="59" y="98"/>
                    <a:pt x="59" y="98"/>
                  </a:cubicBezTo>
                  <a:cubicBezTo>
                    <a:pt x="70" y="98"/>
                    <a:pt x="70" y="98"/>
                    <a:pt x="70" y="98"/>
                  </a:cubicBezTo>
                  <a:cubicBezTo>
                    <a:pt x="70" y="98"/>
                    <a:pt x="70" y="98"/>
                    <a:pt x="70" y="98"/>
                  </a:cubicBezTo>
                  <a:cubicBezTo>
                    <a:pt x="86" y="98"/>
                    <a:pt x="96" y="98"/>
                    <a:pt x="99" y="90"/>
                  </a:cubicBezTo>
                  <a:cubicBezTo>
                    <a:pt x="99" y="88"/>
                    <a:pt x="99" y="83"/>
                    <a:pt x="97" y="77"/>
                  </a:cubicBezTo>
                  <a:cubicBezTo>
                    <a:pt x="92" y="58"/>
                    <a:pt x="112" y="65"/>
                    <a:pt x="126" y="68"/>
                  </a:cubicBezTo>
                  <a:cubicBezTo>
                    <a:pt x="140" y="71"/>
                    <a:pt x="163" y="80"/>
                    <a:pt x="187" y="76"/>
                  </a:cubicBezTo>
                  <a:cubicBezTo>
                    <a:pt x="231" y="71"/>
                    <a:pt x="285" y="25"/>
                    <a:pt x="289" y="24"/>
                  </a:cubicBezTo>
                  <a:cubicBezTo>
                    <a:pt x="292" y="22"/>
                    <a:pt x="299" y="16"/>
                    <a:pt x="298" y="10"/>
                  </a:cubicBezTo>
                  <a:cubicBezTo>
                    <a:pt x="297" y="5"/>
                    <a:pt x="289" y="4"/>
                    <a:pt x="281" y="5"/>
                  </a:cubicBezTo>
                  <a:close/>
                  <a:moveTo>
                    <a:pt x="70" y="81"/>
                  </a:moveTo>
                  <a:cubicBezTo>
                    <a:pt x="59" y="81"/>
                    <a:pt x="59" y="81"/>
                    <a:pt x="59" y="81"/>
                  </a:cubicBezTo>
                  <a:cubicBezTo>
                    <a:pt x="59" y="81"/>
                    <a:pt x="58" y="81"/>
                    <a:pt x="58" y="81"/>
                  </a:cubicBezTo>
                  <a:cubicBezTo>
                    <a:pt x="57" y="81"/>
                    <a:pt x="57" y="81"/>
                    <a:pt x="57" y="81"/>
                  </a:cubicBezTo>
                  <a:cubicBezTo>
                    <a:pt x="55" y="81"/>
                    <a:pt x="52" y="81"/>
                    <a:pt x="48" y="78"/>
                  </a:cubicBezTo>
                  <a:cubicBezTo>
                    <a:pt x="41" y="72"/>
                    <a:pt x="37" y="67"/>
                    <a:pt x="31" y="58"/>
                  </a:cubicBezTo>
                  <a:cubicBezTo>
                    <a:pt x="20" y="41"/>
                    <a:pt x="17" y="29"/>
                    <a:pt x="17" y="18"/>
                  </a:cubicBezTo>
                  <a:cubicBezTo>
                    <a:pt x="17" y="17"/>
                    <a:pt x="17" y="17"/>
                    <a:pt x="17" y="17"/>
                  </a:cubicBezTo>
                  <a:cubicBezTo>
                    <a:pt x="17" y="17"/>
                    <a:pt x="17" y="17"/>
                    <a:pt x="17" y="17"/>
                  </a:cubicBezTo>
                  <a:cubicBezTo>
                    <a:pt x="47" y="17"/>
                    <a:pt x="47" y="17"/>
                    <a:pt x="47" y="17"/>
                  </a:cubicBezTo>
                  <a:cubicBezTo>
                    <a:pt x="47" y="17"/>
                    <a:pt x="47" y="17"/>
                    <a:pt x="47" y="18"/>
                  </a:cubicBezTo>
                  <a:cubicBezTo>
                    <a:pt x="47" y="35"/>
                    <a:pt x="52" y="49"/>
                    <a:pt x="64" y="67"/>
                  </a:cubicBezTo>
                  <a:cubicBezTo>
                    <a:pt x="68" y="73"/>
                    <a:pt x="71" y="77"/>
                    <a:pt x="75" y="81"/>
                  </a:cubicBezTo>
                  <a:cubicBezTo>
                    <a:pt x="73" y="81"/>
                    <a:pt x="72" y="81"/>
                    <a:pt x="70"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7" name="Freeform 34"/>
            <p:cNvSpPr>
              <a:spLocks noEditPoints="1"/>
            </p:cNvSpPr>
            <p:nvPr/>
          </p:nvSpPr>
          <p:spPr bwMode="auto">
            <a:xfrm>
              <a:off x="4549775" y="2792413"/>
              <a:ext cx="914400" cy="479425"/>
            </a:xfrm>
            <a:custGeom>
              <a:avLst/>
              <a:gdLst>
                <a:gd name="T0" fmla="*/ 321 w 329"/>
                <a:gd name="T1" fmla="*/ 158 h 173"/>
                <a:gd name="T2" fmla="*/ 307 w 329"/>
                <a:gd name="T3" fmla="*/ 158 h 173"/>
                <a:gd name="T4" fmla="*/ 185 w 329"/>
                <a:gd name="T5" fmla="*/ 22 h 173"/>
                <a:gd name="T6" fmla="*/ 185 w 329"/>
                <a:gd name="T7" fmla="*/ 20 h 173"/>
                <a:gd name="T8" fmla="*/ 165 w 329"/>
                <a:gd name="T9" fmla="*/ 0 h 173"/>
                <a:gd name="T10" fmla="*/ 144 w 329"/>
                <a:gd name="T11" fmla="*/ 20 h 173"/>
                <a:gd name="T12" fmla="*/ 144 w 329"/>
                <a:gd name="T13" fmla="*/ 22 h 173"/>
                <a:gd name="T14" fmla="*/ 22 w 329"/>
                <a:gd name="T15" fmla="*/ 158 h 173"/>
                <a:gd name="T16" fmla="*/ 9 w 329"/>
                <a:gd name="T17" fmla="*/ 158 h 173"/>
                <a:gd name="T18" fmla="*/ 0 w 329"/>
                <a:gd name="T19" fmla="*/ 165 h 173"/>
                <a:gd name="T20" fmla="*/ 9 w 329"/>
                <a:gd name="T21" fmla="*/ 173 h 173"/>
                <a:gd name="T22" fmla="*/ 321 w 329"/>
                <a:gd name="T23" fmla="*/ 173 h 173"/>
                <a:gd name="T24" fmla="*/ 329 w 329"/>
                <a:gd name="T25" fmla="*/ 165 h 173"/>
                <a:gd name="T26" fmla="*/ 321 w 329"/>
                <a:gd name="T27" fmla="*/ 158 h 173"/>
                <a:gd name="T28" fmla="*/ 72 w 329"/>
                <a:gd name="T29" fmla="*/ 143 h 173"/>
                <a:gd name="T30" fmla="*/ 38 w 329"/>
                <a:gd name="T31" fmla="*/ 143 h 173"/>
                <a:gd name="T32" fmla="*/ 142 w 329"/>
                <a:gd name="T33" fmla="*/ 38 h 173"/>
                <a:gd name="T34" fmla="*/ 72 w 329"/>
                <a:gd name="T35" fmla="*/ 14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9" h="173">
                  <a:moveTo>
                    <a:pt x="321" y="158"/>
                  </a:moveTo>
                  <a:cubicBezTo>
                    <a:pt x="307" y="158"/>
                    <a:pt x="307" y="158"/>
                    <a:pt x="307" y="158"/>
                  </a:cubicBezTo>
                  <a:cubicBezTo>
                    <a:pt x="305" y="89"/>
                    <a:pt x="252" y="32"/>
                    <a:pt x="185" y="22"/>
                  </a:cubicBezTo>
                  <a:cubicBezTo>
                    <a:pt x="185" y="22"/>
                    <a:pt x="185" y="21"/>
                    <a:pt x="185" y="20"/>
                  </a:cubicBezTo>
                  <a:cubicBezTo>
                    <a:pt x="185" y="9"/>
                    <a:pt x="176" y="0"/>
                    <a:pt x="165" y="0"/>
                  </a:cubicBezTo>
                  <a:cubicBezTo>
                    <a:pt x="153" y="0"/>
                    <a:pt x="144" y="9"/>
                    <a:pt x="144" y="20"/>
                  </a:cubicBezTo>
                  <a:cubicBezTo>
                    <a:pt x="144" y="21"/>
                    <a:pt x="144" y="22"/>
                    <a:pt x="144" y="22"/>
                  </a:cubicBezTo>
                  <a:cubicBezTo>
                    <a:pt x="77" y="32"/>
                    <a:pt x="25" y="89"/>
                    <a:pt x="22" y="158"/>
                  </a:cubicBezTo>
                  <a:cubicBezTo>
                    <a:pt x="9" y="158"/>
                    <a:pt x="9" y="158"/>
                    <a:pt x="9" y="158"/>
                  </a:cubicBezTo>
                  <a:cubicBezTo>
                    <a:pt x="4" y="158"/>
                    <a:pt x="0" y="161"/>
                    <a:pt x="0" y="165"/>
                  </a:cubicBezTo>
                  <a:cubicBezTo>
                    <a:pt x="0" y="170"/>
                    <a:pt x="4" y="173"/>
                    <a:pt x="9" y="173"/>
                  </a:cubicBezTo>
                  <a:cubicBezTo>
                    <a:pt x="321" y="173"/>
                    <a:pt x="321" y="173"/>
                    <a:pt x="321" y="173"/>
                  </a:cubicBezTo>
                  <a:cubicBezTo>
                    <a:pt x="325" y="173"/>
                    <a:pt x="329" y="170"/>
                    <a:pt x="329" y="165"/>
                  </a:cubicBezTo>
                  <a:cubicBezTo>
                    <a:pt x="329" y="161"/>
                    <a:pt x="325" y="158"/>
                    <a:pt x="321" y="158"/>
                  </a:cubicBezTo>
                  <a:close/>
                  <a:moveTo>
                    <a:pt x="72" y="143"/>
                  </a:moveTo>
                  <a:cubicBezTo>
                    <a:pt x="38" y="143"/>
                    <a:pt x="38" y="143"/>
                    <a:pt x="38" y="143"/>
                  </a:cubicBezTo>
                  <a:cubicBezTo>
                    <a:pt x="47" y="89"/>
                    <a:pt x="89" y="47"/>
                    <a:pt x="142" y="38"/>
                  </a:cubicBezTo>
                  <a:cubicBezTo>
                    <a:pt x="116" y="48"/>
                    <a:pt x="79" y="82"/>
                    <a:pt x="72"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0" name="Group 289"/>
          <p:cNvGrpSpPr/>
          <p:nvPr userDrawn="1"/>
        </p:nvGrpSpPr>
        <p:grpSpPr>
          <a:xfrm>
            <a:off x="4458169" y="3208727"/>
            <a:ext cx="324356" cy="286128"/>
            <a:chOff x="9783763" y="574675"/>
            <a:chExt cx="915988" cy="808038"/>
          </a:xfrm>
          <a:solidFill>
            <a:schemeClr val="tx1"/>
          </a:solidFill>
        </p:grpSpPr>
        <p:grpSp>
          <p:nvGrpSpPr>
            <p:cNvPr id="291" name="Group 290"/>
            <p:cNvGrpSpPr/>
            <p:nvPr/>
          </p:nvGrpSpPr>
          <p:grpSpPr>
            <a:xfrm>
              <a:off x="10063163" y="574675"/>
              <a:ext cx="636588" cy="525463"/>
              <a:chOff x="10063163" y="574675"/>
              <a:chExt cx="636588" cy="525463"/>
            </a:xfrm>
            <a:grpFill/>
          </p:grpSpPr>
          <p:sp>
            <p:nvSpPr>
              <p:cNvPr id="293" name="Freeform 46"/>
              <p:cNvSpPr>
                <a:spLocks/>
              </p:cNvSpPr>
              <p:nvPr/>
            </p:nvSpPr>
            <p:spPr bwMode="auto">
              <a:xfrm>
                <a:off x="10098088" y="574675"/>
                <a:ext cx="601663" cy="419100"/>
              </a:xfrm>
              <a:custGeom>
                <a:avLst/>
                <a:gdLst>
                  <a:gd name="T0" fmla="*/ 202 w 207"/>
                  <a:gd name="T1" fmla="*/ 86 h 144"/>
                  <a:gd name="T2" fmla="*/ 186 w 207"/>
                  <a:gd name="T3" fmla="*/ 70 h 144"/>
                  <a:gd name="T4" fmla="*/ 170 w 207"/>
                  <a:gd name="T5" fmla="*/ 70 h 144"/>
                  <a:gd name="T6" fmla="*/ 169 w 207"/>
                  <a:gd name="T7" fmla="*/ 70 h 144"/>
                  <a:gd name="T8" fmla="*/ 115 w 207"/>
                  <a:gd name="T9" fmla="*/ 16 h 144"/>
                  <a:gd name="T10" fmla="*/ 87 w 207"/>
                  <a:gd name="T11" fmla="*/ 4 h 144"/>
                  <a:gd name="T12" fmla="*/ 11 w 207"/>
                  <a:gd name="T13" fmla="*/ 1 h 144"/>
                  <a:gd name="T14" fmla="*/ 9 w 207"/>
                  <a:gd name="T15" fmla="*/ 11 h 144"/>
                  <a:gd name="T16" fmla="*/ 70 w 207"/>
                  <a:gd name="T17" fmla="*/ 44 h 144"/>
                  <a:gd name="T18" fmla="*/ 133 w 207"/>
                  <a:gd name="T19" fmla="*/ 106 h 144"/>
                  <a:gd name="T20" fmla="*/ 132 w 207"/>
                  <a:gd name="T21" fmla="*/ 107 h 144"/>
                  <a:gd name="T22" fmla="*/ 132 w 207"/>
                  <a:gd name="T23" fmla="*/ 123 h 144"/>
                  <a:gd name="T24" fmla="*/ 149 w 207"/>
                  <a:gd name="T25" fmla="*/ 139 h 144"/>
                  <a:gd name="T26" fmla="*/ 165 w 207"/>
                  <a:gd name="T27" fmla="*/ 139 h 144"/>
                  <a:gd name="T28" fmla="*/ 202 w 207"/>
                  <a:gd name="T29" fmla="*/ 102 h 144"/>
                  <a:gd name="T30" fmla="*/ 202 w 207"/>
                  <a:gd name="T31" fmla="*/ 8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7" h="144">
                    <a:moveTo>
                      <a:pt x="202" y="86"/>
                    </a:moveTo>
                    <a:cubicBezTo>
                      <a:pt x="186" y="70"/>
                      <a:pt x="186" y="70"/>
                      <a:pt x="186" y="70"/>
                    </a:cubicBezTo>
                    <a:cubicBezTo>
                      <a:pt x="181" y="65"/>
                      <a:pt x="174" y="65"/>
                      <a:pt x="170" y="70"/>
                    </a:cubicBezTo>
                    <a:cubicBezTo>
                      <a:pt x="169" y="70"/>
                      <a:pt x="169" y="70"/>
                      <a:pt x="169" y="70"/>
                    </a:cubicBezTo>
                    <a:cubicBezTo>
                      <a:pt x="115" y="16"/>
                      <a:pt x="115" y="16"/>
                      <a:pt x="115" y="16"/>
                    </a:cubicBezTo>
                    <a:cubicBezTo>
                      <a:pt x="105" y="6"/>
                      <a:pt x="96" y="4"/>
                      <a:pt x="87" y="4"/>
                    </a:cubicBezTo>
                    <a:cubicBezTo>
                      <a:pt x="11" y="1"/>
                      <a:pt x="11" y="1"/>
                      <a:pt x="11" y="1"/>
                    </a:cubicBezTo>
                    <a:cubicBezTo>
                      <a:pt x="1" y="0"/>
                      <a:pt x="0" y="7"/>
                      <a:pt x="9" y="11"/>
                    </a:cubicBezTo>
                    <a:cubicBezTo>
                      <a:pt x="9" y="11"/>
                      <a:pt x="58" y="32"/>
                      <a:pt x="70" y="44"/>
                    </a:cubicBezTo>
                    <a:cubicBezTo>
                      <a:pt x="79" y="52"/>
                      <a:pt x="133" y="106"/>
                      <a:pt x="133" y="106"/>
                    </a:cubicBezTo>
                    <a:cubicBezTo>
                      <a:pt x="132" y="107"/>
                      <a:pt x="132" y="107"/>
                      <a:pt x="132" y="107"/>
                    </a:cubicBezTo>
                    <a:cubicBezTo>
                      <a:pt x="128" y="111"/>
                      <a:pt x="128" y="119"/>
                      <a:pt x="132" y="123"/>
                    </a:cubicBezTo>
                    <a:cubicBezTo>
                      <a:pt x="149" y="139"/>
                      <a:pt x="149" y="139"/>
                      <a:pt x="149" y="139"/>
                    </a:cubicBezTo>
                    <a:cubicBezTo>
                      <a:pt x="153" y="144"/>
                      <a:pt x="160" y="144"/>
                      <a:pt x="165" y="139"/>
                    </a:cubicBezTo>
                    <a:cubicBezTo>
                      <a:pt x="202" y="102"/>
                      <a:pt x="202" y="102"/>
                      <a:pt x="202" y="102"/>
                    </a:cubicBezTo>
                    <a:cubicBezTo>
                      <a:pt x="207" y="98"/>
                      <a:pt x="207" y="90"/>
                      <a:pt x="202"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47"/>
              <p:cNvSpPr>
                <a:spLocks/>
              </p:cNvSpPr>
              <p:nvPr/>
            </p:nvSpPr>
            <p:spPr bwMode="auto">
              <a:xfrm>
                <a:off x="10063163" y="777875"/>
                <a:ext cx="325438" cy="322263"/>
              </a:xfrm>
              <a:custGeom>
                <a:avLst/>
                <a:gdLst>
                  <a:gd name="T0" fmla="*/ 0 w 205"/>
                  <a:gd name="T1" fmla="*/ 159 h 203"/>
                  <a:gd name="T2" fmla="*/ 46 w 205"/>
                  <a:gd name="T3" fmla="*/ 203 h 203"/>
                  <a:gd name="T4" fmla="*/ 205 w 205"/>
                  <a:gd name="T5" fmla="*/ 46 h 203"/>
                  <a:gd name="T6" fmla="*/ 159 w 205"/>
                  <a:gd name="T7" fmla="*/ 0 h 203"/>
                  <a:gd name="T8" fmla="*/ 0 w 205"/>
                  <a:gd name="T9" fmla="*/ 159 h 203"/>
                </a:gdLst>
                <a:ahLst/>
                <a:cxnLst>
                  <a:cxn ang="0">
                    <a:pos x="T0" y="T1"/>
                  </a:cxn>
                  <a:cxn ang="0">
                    <a:pos x="T2" y="T3"/>
                  </a:cxn>
                  <a:cxn ang="0">
                    <a:pos x="T4" y="T5"/>
                  </a:cxn>
                  <a:cxn ang="0">
                    <a:pos x="T6" y="T7"/>
                  </a:cxn>
                  <a:cxn ang="0">
                    <a:pos x="T8" y="T9"/>
                  </a:cxn>
                </a:cxnLst>
                <a:rect l="0" t="0" r="r" b="b"/>
                <a:pathLst>
                  <a:path w="205" h="203">
                    <a:moveTo>
                      <a:pt x="0" y="159"/>
                    </a:moveTo>
                    <a:lnTo>
                      <a:pt x="46" y="203"/>
                    </a:lnTo>
                    <a:lnTo>
                      <a:pt x="205" y="46"/>
                    </a:lnTo>
                    <a:lnTo>
                      <a:pt x="159" y="0"/>
                    </a:lnTo>
                    <a:lnTo>
                      <a:pt x="0"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2" name="Freeform 48"/>
            <p:cNvSpPr>
              <a:spLocks noEditPoints="1"/>
            </p:cNvSpPr>
            <p:nvPr/>
          </p:nvSpPr>
          <p:spPr bwMode="auto">
            <a:xfrm>
              <a:off x="9783763" y="979488"/>
              <a:ext cx="403225" cy="403225"/>
            </a:xfrm>
            <a:custGeom>
              <a:avLst/>
              <a:gdLst>
                <a:gd name="T0" fmla="*/ 132 w 139"/>
                <a:gd name="T1" fmla="*/ 27 h 139"/>
                <a:gd name="T2" fmla="*/ 112 w 139"/>
                <a:gd name="T3" fmla="*/ 7 h 139"/>
                <a:gd name="T4" fmla="*/ 86 w 139"/>
                <a:gd name="T5" fmla="*/ 7 h 139"/>
                <a:gd name="T6" fmla="*/ 7 w 139"/>
                <a:gd name="T7" fmla="*/ 86 h 139"/>
                <a:gd name="T8" fmla="*/ 7 w 139"/>
                <a:gd name="T9" fmla="*/ 112 h 139"/>
                <a:gd name="T10" fmla="*/ 27 w 139"/>
                <a:gd name="T11" fmla="*/ 132 h 139"/>
                <a:gd name="T12" fmla="*/ 53 w 139"/>
                <a:gd name="T13" fmla="*/ 132 h 139"/>
                <a:gd name="T14" fmla="*/ 132 w 139"/>
                <a:gd name="T15" fmla="*/ 53 h 139"/>
                <a:gd name="T16" fmla="*/ 132 w 139"/>
                <a:gd name="T17" fmla="*/ 27 h 139"/>
                <a:gd name="T18" fmla="*/ 27 w 139"/>
                <a:gd name="T19" fmla="*/ 100 h 139"/>
                <a:gd name="T20" fmla="*/ 21 w 139"/>
                <a:gd name="T21" fmla="*/ 94 h 139"/>
                <a:gd name="T22" fmla="*/ 92 w 139"/>
                <a:gd name="T23" fmla="*/ 23 h 139"/>
                <a:gd name="T24" fmla="*/ 99 w 139"/>
                <a:gd name="T25" fmla="*/ 29 h 139"/>
                <a:gd name="T26" fmla="*/ 27 w 139"/>
                <a:gd name="T27" fmla="*/ 100 h 139"/>
                <a:gd name="T28" fmla="*/ 45 w 139"/>
                <a:gd name="T29" fmla="*/ 118 h 139"/>
                <a:gd name="T30" fmla="*/ 39 w 139"/>
                <a:gd name="T31" fmla="*/ 112 h 139"/>
                <a:gd name="T32" fmla="*/ 110 w 139"/>
                <a:gd name="T33" fmla="*/ 40 h 139"/>
                <a:gd name="T34" fmla="*/ 116 w 139"/>
                <a:gd name="T35" fmla="*/ 46 h 139"/>
                <a:gd name="T36" fmla="*/ 45 w 139"/>
                <a:gd name="T37" fmla="*/ 118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9" h="139">
                  <a:moveTo>
                    <a:pt x="132" y="27"/>
                  </a:moveTo>
                  <a:cubicBezTo>
                    <a:pt x="112" y="7"/>
                    <a:pt x="112" y="7"/>
                    <a:pt x="112" y="7"/>
                  </a:cubicBezTo>
                  <a:cubicBezTo>
                    <a:pt x="104" y="0"/>
                    <a:pt x="93" y="0"/>
                    <a:pt x="86" y="7"/>
                  </a:cubicBezTo>
                  <a:cubicBezTo>
                    <a:pt x="7" y="86"/>
                    <a:pt x="7" y="86"/>
                    <a:pt x="7" y="86"/>
                  </a:cubicBezTo>
                  <a:cubicBezTo>
                    <a:pt x="0" y="93"/>
                    <a:pt x="0" y="104"/>
                    <a:pt x="7" y="112"/>
                  </a:cubicBezTo>
                  <a:cubicBezTo>
                    <a:pt x="27" y="132"/>
                    <a:pt x="27" y="132"/>
                    <a:pt x="27" y="132"/>
                  </a:cubicBezTo>
                  <a:cubicBezTo>
                    <a:pt x="34" y="139"/>
                    <a:pt x="46" y="139"/>
                    <a:pt x="53" y="132"/>
                  </a:cubicBezTo>
                  <a:cubicBezTo>
                    <a:pt x="132" y="53"/>
                    <a:pt x="132" y="53"/>
                    <a:pt x="132" y="53"/>
                  </a:cubicBezTo>
                  <a:cubicBezTo>
                    <a:pt x="139" y="46"/>
                    <a:pt x="139" y="34"/>
                    <a:pt x="132" y="27"/>
                  </a:cubicBezTo>
                  <a:close/>
                  <a:moveTo>
                    <a:pt x="27" y="100"/>
                  </a:moveTo>
                  <a:cubicBezTo>
                    <a:pt x="21" y="94"/>
                    <a:pt x="21" y="94"/>
                    <a:pt x="21" y="94"/>
                  </a:cubicBezTo>
                  <a:cubicBezTo>
                    <a:pt x="92" y="23"/>
                    <a:pt x="92" y="23"/>
                    <a:pt x="92" y="23"/>
                  </a:cubicBezTo>
                  <a:cubicBezTo>
                    <a:pt x="99" y="29"/>
                    <a:pt x="99" y="29"/>
                    <a:pt x="99" y="29"/>
                  </a:cubicBezTo>
                  <a:lnTo>
                    <a:pt x="27" y="100"/>
                  </a:lnTo>
                  <a:close/>
                  <a:moveTo>
                    <a:pt x="45" y="118"/>
                  </a:moveTo>
                  <a:cubicBezTo>
                    <a:pt x="39" y="112"/>
                    <a:pt x="39" y="112"/>
                    <a:pt x="39" y="112"/>
                  </a:cubicBezTo>
                  <a:cubicBezTo>
                    <a:pt x="110" y="40"/>
                    <a:pt x="110" y="40"/>
                    <a:pt x="110" y="40"/>
                  </a:cubicBezTo>
                  <a:cubicBezTo>
                    <a:pt x="116" y="46"/>
                    <a:pt x="116" y="46"/>
                    <a:pt x="116" y="46"/>
                  </a:cubicBezTo>
                  <a:lnTo>
                    <a:pt x="45"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5" name="Group 294"/>
          <p:cNvGrpSpPr/>
          <p:nvPr userDrawn="1"/>
        </p:nvGrpSpPr>
        <p:grpSpPr>
          <a:xfrm>
            <a:off x="4436120" y="2089552"/>
            <a:ext cx="368454" cy="288198"/>
            <a:chOff x="13857288" y="623888"/>
            <a:chExt cx="962025" cy="752475"/>
          </a:xfrm>
          <a:solidFill>
            <a:schemeClr val="tx1"/>
          </a:solidFill>
        </p:grpSpPr>
        <p:sp>
          <p:nvSpPr>
            <p:cNvPr id="296" name="Freeform 51"/>
            <p:cNvSpPr>
              <a:spLocks noEditPoints="1"/>
            </p:cNvSpPr>
            <p:nvPr/>
          </p:nvSpPr>
          <p:spPr bwMode="auto">
            <a:xfrm>
              <a:off x="14136688" y="1254125"/>
              <a:ext cx="606425" cy="122238"/>
            </a:xfrm>
            <a:custGeom>
              <a:avLst/>
              <a:gdLst>
                <a:gd name="T0" fmla="*/ 188 w 209"/>
                <a:gd name="T1" fmla="*/ 0 h 42"/>
                <a:gd name="T2" fmla="*/ 21 w 209"/>
                <a:gd name="T3" fmla="*/ 0 h 42"/>
                <a:gd name="T4" fmla="*/ 0 w 209"/>
                <a:gd name="T5" fmla="*/ 21 h 42"/>
                <a:gd name="T6" fmla="*/ 21 w 209"/>
                <a:gd name="T7" fmla="*/ 42 h 42"/>
                <a:gd name="T8" fmla="*/ 188 w 209"/>
                <a:gd name="T9" fmla="*/ 42 h 42"/>
                <a:gd name="T10" fmla="*/ 209 w 209"/>
                <a:gd name="T11" fmla="*/ 21 h 42"/>
                <a:gd name="T12" fmla="*/ 188 w 209"/>
                <a:gd name="T13" fmla="*/ 0 h 42"/>
                <a:gd name="T14" fmla="*/ 162 w 209"/>
                <a:gd name="T15" fmla="*/ 22 h 42"/>
                <a:gd name="T16" fmla="*/ 159 w 209"/>
                <a:gd name="T17" fmla="*/ 25 h 42"/>
                <a:gd name="T18" fmla="*/ 50 w 209"/>
                <a:gd name="T19" fmla="*/ 25 h 42"/>
                <a:gd name="T20" fmla="*/ 47 w 209"/>
                <a:gd name="T21" fmla="*/ 22 h 42"/>
                <a:gd name="T22" fmla="*/ 47 w 209"/>
                <a:gd name="T23" fmla="*/ 20 h 42"/>
                <a:gd name="T24" fmla="*/ 50 w 209"/>
                <a:gd name="T25" fmla="*/ 16 h 42"/>
                <a:gd name="T26" fmla="*/ 159 w 209"/>
                <a:gd name="T27" fmla="*/ 16 h 42"/>
                <a:gd name="T28" fmla="*/ 162 w 209"/>
                <a:gd name="T29" fmla="*/ 20 h 42"/>
                <a:gd name="T30" fmla="*/ 162 w 209"/>
                <a:gd name="T31" fmla="*/ 2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9" h="42">
                  <a:moveTo>
                    <a:pt x="188" y="0"/>
                  </a:moveTo>
                  <a:cubicBezTo>
                    <a:pt x="21" y="0"/>
                    <a:pt x="21" y="0"/>
                    <a:pt x="21" y="0"/>
                  </a:cubicBezTo>
                  <a:cubicBezTo>
                    <a:pt x="10" y="0"/>
                    <a:pt x="0" y="9"/>
                    <a:pt x="0" y="21"/>
                  </a:cubicBezTo>
                  <a:cubicBezTo>
                    <a:pt x="0" y="32"/>
                    <a:pt x="10" y="42"/>
                    <a:pt x="21" y="42"/>
                  </a:cubicBezTo>
                  <a:cubicBezTo>
                    <a:pt x="188" y="42"/>
                    <a:pt x="188" y="42"/>
                    <a:pt x="188" y="42"/>
                  </a:cubicBezTo>
                  <a:cubicBezTo>
                    <a:pt x="200" y="42"/>
                    <a:pt x="209" y="32"/>
                    <a:pt x="209" y="21"/>
                  </a:cubicBezTo>
                  <a:cubicBezTo>
                    <a:pt x="209" y="9"/>
                    <a:pt x="200" y="0"/>
                    <a:pt x="188" y="0"/>
                  </a:cubicBezTo>
                  <a:close/>
                  <a:moveTo>
                    <a:pt x="162" y="22"/>
                  </a:moveTo>
                  <a:cubicBezTo>
                    <a:pt x="162" y="24"/>
                    <a:pt x="161" y="25"/>
                    <a:pt x="159" y="25"/>
                  </a:cubicBezTo>
                  <a:cubicBezTo>
                    <a:pt x="50" y="25"/>
                    <a:pt x="50" y="25"/>
                    <a:pt x="50" y="25"/>
                  </a:cubicBezTo>
                  <a:cubicBezTo>
                    <a:pt x="49" y="25"/>
                    <a:pt x="47" y="24"/>
                    <a:pt x="47" y="22"/>
                  </a:cubicBezTo>
                  <a:cubicBezTo>
                    <a:pt x="47" y="20"/>
                    <a:pt x="47" y="20"/>
                    <a:pt x="47" y="20"/>
                  </a:cubicBezTo>
                  <a:cubicBezTo>
                    <a:pt x="47" y="18"/>
                    <a:pt x="49" y="16"/>
                    <a:pt x="50" y="16"/>
                  </a:cubicBezTo>
                  <a:cubicBezTo>
                    <a:pt x="159" y="16"/>
                    <a:pt x="159" y="16"/>
                    <a:pt x="159" y="16"/>
                  </a:cubicBezTo>
                  <a:cubicBezTo>
                    <a:pt x="161" y="16"/>
                    <a:pt x="162" y="18"/>
                    <a:pt x="162" y="20"/>
                  </a:cubicBezTo>
                  <a:lnTo>
                    <a:pt x="162"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2"/>
            <p:cNvSpPr>
              <a:spLocks/>
            </p:cNvSpPr>
            <p:nvPr/>
          </p:nvSpPr>
          <p:spPr bwMode="auto">
            <a:xfrm>
              <a:off x="13892213" y="661988"/>
              <a:ext cx="25400" cy="360363"/>
            </a:xfrm>
            <a:custGeom>
              <a:avLst/>
              <a:gdLst>
                <a:gd name="T0" fmla="*/ 5 w 9"/>
                <a:gd name="T1" fmla="*/ 123 h 124"/>
                <a:gd name="T2" fmla="*/ 9 w 9"/>
                <a:gd name="T3" fmla="*/ 124 h 124"/>
                <a:gd name="T4" fmla="*/ 9 w 9"/>
                <a:gd name="T5" fmla="*/ 5 h 124"/>
                <a:gd name="T6" fmla="*/ 6 w 9"/>
                <a:gd name="T7" fmla="*/ 0 h 124"/>
                <a:gd name="T8" fmla="*/ 6 w 9"/>
                <a:gd name="T9" fmla="*/ 0 h 124"/>
                <a:gd name="T10" fmla="*/ 0 w 9"/>
                <a:gd name="T11" fmla="*/ 0 h 124"/>
                <a:gd name="T12" fmla="*/ 0 w 9"/>
                <a:gd name="T13" fmla="*/ 124 h 124"/>
                <a:gd name="T14" fmla="*/ 5 w 9"/>
                <a:gd name="T15" fmla="*/ 123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24">
                  <a:moveTo>
                    <a:pt x="5" y="123"/>
                  </a:moveTo>
                  <a:cubicBezTo>
                    <a:pt x="6" y="123"/>
                    <a:pt x="8" y="124"/>
                    <a:pt x="9" y="124"/>
                  </a:cubicBezTo>
                  <a:cubicBezTo>
                    <a:pt x="9" y="5"/>
                    <a:pt x="9" y="5"/>
                    <a:pt x="9" y="5"/>
                  </a:cubicBezTo>
                  <a:cubicBezTo>
                    <a:pt x="8" y="4"/>
                    <a:pt x="6" y="2"/>
                    <a:pt x="6" y="0"/>
                  </a:cubicBezTo>
                  <a:cubicBezTo>
                    <a:pt x="6" y="0"/>
                    <a:pt x="6" y="0"/>
                    <a:pt x="6" y="0"/>
                  </a:cubicBezTo>
                  <a:cubicBezTo>
                    <a:pt x="0" y="0"/>
                    <a:pt x="0" y="0"/>
                    <a:pt x="0" y="0"/>
                  </a:cubicBezTo>
                  <a:cubicBezTo>
                    <a:pt x="0" y="124"/>
                    <a:pt x="0" y="124"/>
                    <a:pt x="0" y="124"/>
                  </a:cubicBezTo>
                  <a:cubicBezTo>
                    <a:pt x="1" y="124"/>
                    <a:pt x="3" y="123"/>
                    <a:pt x="5"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53"/>
            <p:cNvSpPr>
              <a:spLocks noEditPoints="1"/>
            </p:cNvSpPr>
            <p:nvPr/>
          </p:nvSpPr>
          <p:spPr bwMode="auto">
            <a:xfrm>
              <a:off x="13889038" y="623888"/>
              <a:ext cx="930275" cy="584200"/>
            </a:xfrm>
            <a:custGeom>
              <a:avLst/>
              <a:gdLst>
                <a:gd name="T0" fmla="*/ 317 w 320"/>
                <a:gd name="T1" fmla="*/ 135 h 201"/>
                <a:gd name="T2" fmla="*/ 317 w 320"/>
                <a:gd name="T3" fmla="*/ 135 h 201"/>
                <a:gd name="T4" fmla="*/ 316 w 320"/>
                <a:gd name="T5" fmla="*/ 134 h 201"/>
                <a:gd name="T6" fmla="*/ 316 w 320"/>
                <a:gd name="T7" fmla="*/ 134 h 201"/>
                <a:gd name="T8" fmla="*/ 20 w 320"/>
                <a:gd name="T9" fmla="*/ 2 h 201"/>
                <a:gd name="T10" fmla="*/ 18 w 320"/>
                <a:gd name="T11" fmla="*/ 1 h 201"/>
                <a:gd name="T12" fmla="*/ 17 w 320"/>
                <a:gd name="T13" fmla="*/ 1 h 201"/>
                <a:gd name="T14" fmla="*/ 17 w 320"/>
                <a:gd name="T15" fmla="*/ 1 h 201"/>
                <a:gd name="T16" fmla="*/ 5 w 320"/>
                <a:gd name="T17" fmla="*/ 4 h 201"/>
                <a:gd name="T18" fmla="*/ 4 w 320"/>
                <a:gd name="T19" fmla="*/ 22 h 201"/>
                <a:gd name="T20" fmla="*/ 130 w 320"/>
                <a:gd name="T21" fmla="*/ 171 h 201"/>
                <a:gd name="T22" fmla="*/ 130 w 320"/>
                <a:gd name="T23" fmla="*/ 171 h 201"/>
                <a:gd name="T24" fmla="*/ 122 w 320"/>
                <a:gd name="T25" fmla="*/ 194 h 201"/>
                <a:gd name="T26" fmla="*/ 128 w 320"/>
                <a:gd name="T27" fmla="*/ 201 h 201"/>
                <a:gd name="T28" fmla="*/ 307 w 320"/>
                <a:gd name="T29" fmla="*/ 201 h 201"/>
                <a:gd name="T30" fmla="*/ 320 w 320"/>
                <a:gd name="T31" fmla="*/ 188 h 201"/>
                <a:gd name="T32" fmla="*/ 320 w 320"/>
                <a:gd name="T33" fmla="*/ 139 h 201"/>
                <a:gd name="T34" fmla="*/ 317 w 320"/>
                <a:gd name="T35" fmla="*/ 135 h 201"/>
                <a:gd name="T36" fmla="*/ 42 w 320"/>
                <a:gd name="T37" fmla="*/ 24 h 201"/>
                <a:gd name="T38" fmla="*/ 290 w 320"/>
                <a:gd name="T39" fmla="*/ 134 h 201"/>
                <a:gd name="T40" fmla="*/ 153 w 320"/>
                <a:gd name="T41" fmla="*/ 134 h 201"/>
                <a:gd name="T42" fmla="*/ 42 w 320"/>
                <a:gd name="T43" fmla="*/ 24 h 201"/>
                <a:gd name="T44" fmla="*/ 200 w 320"/>
                <a:gd name="T45" fmla="*/ 181 h 201"/>
                <a:gd name="T46" fmla="*/ 195 w 320"/>
                <a:gd name="T47" fmla="*/ 186 h 201"/>
                <a:gd name="T48" fmla="*/ 140 w 320"/>
                <a:gd name="T49" fmla="*/ 186 h 201"/>
                <a:gd name="T50" fmla="*/ 154 w 320"/>
                <a:gd name="T51" fmla="*/ 148 h 201"/>
                <a:gd name="T52" fmla="*/ 195 w 320"/>
                <a:gd name="T53" fmla="*/ 148 h 201"/>
                <a:gd name="T54" fmla="*/ 200 w 320"/>
                <a:gd name="T55" fmla="*/ 154 h 201"/>
                <a:gd name="T56" fmla="*/ 200 w 320"/>
                <a:gd name="T57" fmla="*/ 18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0" h="201">
                  <a:moveTo>
                    <a:pt x="317" y="135"/>
                  </a:moveTo>
                  <a:cubicBezTo>
                    <a:pt x="317" y="135"/>
                    <a:pt x="317" y="135"/>
                    <a:pt x="317" y="135"/>
                  </a:cubicBezTo>
                  <a:cubicBezTo>
                    <a:pt x="316" y="134"/>
                    <a:pt x="316" y="134"/>
                    <a:pt x="316" y="134"/>
                  </a:cubicBezTo>
                  <a:cubicBezTo>
                    <a:pt x="316" y="134"/>
                    <a:pt x="316" y="134"/>
                    <a:pt x="316" y="134"/>
                  </a:cubicBezTo>
                  <a:cubicBezTo>
                    <a:pt x="20" y="2"/>
                    <a:pt x="20" y="2"/>
                    <a:pt x="20" y="2"/>
                  </a:cubicBezTo>
                  <a:cubicBezTo>
                    <a:pt x="19" y="2"/>
                    <a:pt x="18" y="2"/>
                    <a:pt x="18" y="1"/>
                  </a:cubicBezTo>
                  <a:cubicBezTo>
                    <a:pt x="17" y="1"/>
                    <a:pt x="17" y="1"/>
                    <a:pt x="17" y="1"/>
                  </a:cubicBezTo>
                  <a:cubicBezTo>
                    <a:pt x="17" y="1"/>
                    <a:pt x="17" y="1"/>
                    <a:pt x="17" y="1"/>
                  </a:cubicBezTo>
                  <a:cubicBezTo>
                    <a:pt x="13" y="0"/>
                    <a:pt x="8" y="1"/>
                    <a:pt x="5" y="4"/>
                  </a:cubicBezTo>
                  <a:cubicBezTo>
                    <a:pt x="0" y="9"/>
                    <a:pt x="0" y="17"/>
                    <a:pt x="4" y="22"/>
                  </a:cubicBezTo>
                  <a:cubicBezTo>
                    <a:pt x="130" y="171"/>
                    <a:pt x="130" y="171"/>
                    <a:pt x="130" y="171"/>
                  </a:cubicBezTo>
                  <a:cubicBezTo>
                    <a:pt x="130" y="171"/>
                    <a:pt x="130" y="171"/>
                    <a:pt x="130" y="171"/>
                  </a:cubicBezTo>
                  <a:cubicBezTo>
                    <a:pt x="122" y="194"/>
                    <a:pt x="122" y="194"/>
                    <a:pt x="122" y="194"/>
                  </a:cubicBezTo>
                  <a:cubicBezTo>
                    <a:pt x="121" y="197"/>
                    <a:pt x="123" y="201"/>
                    <a:pt x="128" y="201"/>
                  </a:cubicBezTo>
                  <a:cubicBezTo>
                    <a:pt x="307" y="201"/>
                    <a:pt x="307" y="201"/>
                    <a:pt x="307" y="201"/>
                  </a:cubicBezTo>
                  <a:cubicBezTo>
                    <a:pt x="315" y="201"/>
                    <a:pt x="320" y="197"/>
                    <a:pt x="320" y="188"/>
                  </a:cubicBezTo>
                  <a:cubicBezTo>
                    <a:pt x="320" y="139"/>
                    <a:pt x="320" y="139"/>
                    <a:pt x="320" y="139"/>
                  </a:cubicBezTo>
                  <a:cubicBezTo>
                    <a:pt x="320" y="137"/>
                    <a:pt x="318" y="135"/>
                    <a:pt x="317" y="135"/>
                  </a:cubicBezTo>
                  <a:close/>
                  <a:moveTo>
                    <a:pt x="42" y="24"/>
                  </a:moveTo>
                  <a:cubicBezTo>
                    <a:pt x="290" y="134"/>
                    <a:pt x="290" y="134"/>
                    <a:pt x="290" y="134"/>
                  </a:cubicBezTo>
                  <a:cubicBezTo>
                    <a:pt x="153" y="134"/>
                    <a:pt x="153" y="134"/>
                    <a:pt x="153" y="134"/>
                  </a:cubicBezTo>
                  <a:lnTo>
                    <a:pt x="42" y="24"/>
                  </a:lnTo>
                  <a:close/>
                  <a:moveTo>
                    <a:pt x="200" y="181"/>
                  </a:moveTo>
                  <a:cubicBezTo>
                    <a:pt x="200" y="185"/>
                    <a:pt x="199" y="186"/>
                    <a:pt x="195" y="186"/>
                  </a:cubicBezTo>
                  <a:cubicBezTo>
                    <a:pt x="140" y="186"/>
                    <a:pt x="140" y="186"/>
                    <a:pt x="140" y="186"/>
                  </a:cubicBezTo>
                  <a:cubicBezTo>
                    <a:pt x="154" y="148"/>
                    <a:pt x="154" y="148"/>
                    <a:pt x="154" y="148"/>
                  </a:cubicBezTo>
                  <a:cubicBezTo>
                    <a:pt x="195" y="148"/>
                    <a:pt x="195" y="148"/>
                    <a:pt x="195" y="148"/>
                  </a:cubicBezTo>
                  <a:cubicBezTo>
                    <a:pt x="199" y="148"/>
                    <a:pt x="200" y="150"/>
                    <a:pt x="200" y="154"/>
                  </a:cubicBezTo>
                  <a:lnTo>
                    <a:pt x="20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54"/>
            <p:cNvSpPr>
              <a:spLocks/>
            </p:cNvSpPr>
            <p:nvPr/>
          </p:nvSpPr>
          <p:spPr bwMode="auto">
            <a:xfrm>
              <a:off x="13857288" y="1042988"/>
              <a:ext cx="98425" cy="101600"/>
            </a:xfrm>
            <a:custGeom>
              <a:avLst/>
              <a:gdLst>
                <a:gd name="T0" fmla="*/ 33 w 34"/>
                <a:gd name="T1" fmla="*/ 20 h 35"/>
                <a:gd name="T2" fmla="*/ 33 w 34"/>
                <a:gd name="T3" fmla="*/ 20 h 35"/>
                <a:gd name="T4" fmla="*/ 29 w 34"/>
                <a:gd name="T5" fmla="*/ 18 h 35"/>
                <a:gd name="T6" fmla="*/ 29 w 34"/>
                <a:gd name="T7" fmla="*/ 18 h 35"/>
                <a:gd name="T8" fmla="*/ 25 w 34"/>
                <a:gd name="T9" fmla="*/ 20 h 35"/>
                <a:gd name="T10" fmla="*/ 18 w 34"/>
                <a:gd name="T11" fmla="*/ 25 h 35"/>
                <a:gd name="T12" fmla="*/ 10 w 34"/>
                <a:gd name="T13" fmla="*/ 17 h 35"/>
                <a:gd name="T14" fmla="*/ 17 w 34"/>
                <a:gd name="T15" fmla="*/ 9 h 35"/>
                <a:gd name="T16" fmla="*/ 17 w 34"/>
                <a:gd name="T17" fmla="*/ 9 h 35"/>
                <a:gd name="T18" fmla="*/ 18 w 34"/>
                <a:gd name="T19" fmla="*/ 9 h 35"/>
                <a:gd name="T20" fmla="*/ 18 w 34"/>
                <a:gd name="T21" fmla="*/ 10 h 35"/>
                <a:gd name="T22" fmla="*/ 18 w 34"/>
                <a:gd name="T23" fmla="*/ 10 h 35"/>
                <a:gd name="T24" fmla="*/ 21 w 34"/>
                <a:gd name="T25" fmla="*/ 8 h 35"/>
                <a:gd name="T26" fmla="*/ 23 w 34"/>
                <a:gd name="T27" fmla="*/ 5 h 35"/>
                <a:gd name="T28" fmla="*/ 23 w 34"/>
                <a:gd name="T29" fmla="*/ 5 h 35"/>
                <a:gd name="T30" fmla="*/ 19 w 34"/>
                <a:gd name="T31" fmla="*/ 0 h 35"/>
                <a:gd name="T32" fmla="*/ 18 w 34"/>
                <a:gd name="T33" fmla="*/ 0 h 35"/>
                <a:gd name="T34" fmla="*/ 0 w 34"/>
                <a:gd name="T35" fmla="*/ 17 h 35"/>
                <a:gd name="T36" fmla="*/ 18 w 34"/>
                <a:gd name="T37" fmla="*/ 35 h 35"/>
                <a:gd name="T38" fmla="*/ 34 w 34"/>
                <a:gd name="T39" fmla="*/ 24 h 35"/>
                <a:gd name="T40" fmla="*/ 34 w 34"/>
                <a:gd name="T41" fmla="*/ 22 h 35"/>
                <a:gd name="T42" fmla="*/ 33 w 34"/>
                <a:gd name="T43"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4" h="35">
                  <a:moveTo>
                    <a:pt x="33" y="20"/>
                  </a:moveTo>
                  <a:cubicBezTo>
                    <a:pt x="33" y="20"/>
                    <a:pt x="33" y="20"/>
                    <a:pt x="33" y="20"/>
                  </a:cubicBezTo>
                  <a:cubicBezTo>
                    <a:pt x="32" y="18"/>
                    <a:pt x="31" y="18"/>
                    <a:pt x="29" y="18"/>
                  </a:cubicBezTo>
                  <a:cubicBezTo>
                    <a:pt x="29" y="18"/>
                    <a:pt x="29" y="18"/>
                    <a:pt x="29" y="18"/>
                  </a:cubicBezTo>
                  <a:cubicBezTo>
                    <a:pt x="27" y="18"/>
                    <a:pt x="25" y="19"/>
                    <a:pt x="25" y="20"/>
                  </a:cubicBezTo>
                  <a:cubicBezTo>
                    <a:pt x="24" y="23"/>
                    <a:pt x="21" y="25"/>
                    <a:pt x="18" y="25"/>
                  </a:cubicBezTo>
                  <a:cubicBezTo>
                    <a:pt x="13" y="25"/>
                    <a:pt x="10" y="22"/>
                    <a:pt x="10" y="17"/>
                  </a:cubicBezTo>
                  <a:cubicBezTo>
                    <a:pt x="10" y="13"/>
                    <a:pt x="13" y="10"/>
                    <a:pt x="17" y="9"/>
                  </a:cubicBezTo>
                  <a:cubicBezTo>
                    <a:pt x="17" y="9"/>
                    <a:pt x="17" y="9"/>
                    <a:pt x="17" y="9"/>
                  </a:cubicBezTo>
                  <a:cubicBezTo>
                    <a:pt x="17" y="9"/>
                    <a:pt x="18" y="9"/>
                    <a:pt x="18" y="9"/>
                  </a:cubicBezTo>
                  <a:cubicBezTo>
                    <a:pt x="18" y="9"/>
                    <a:pt x="18" y="9"/>
                    <a:pt x="18" y="10"/>
                  </a:cubicBezTo>
                  <a:cubicBezTo>
                    <a:pt x="18" y="10"/>
                    <a:pt x="18" y="10"/>
                    <a:pt x="18" y="10"/>
                  </a:cubicBezTo>
                  <a:cubicBezTo>
                    <a:pt x="19" y="10"/>
                    <a:pt x="21" y="9"/>
                    <a:pt x="21" y="8"/>
                  </a:cubicBezTo>
                  <a:cubicBezTo>
                    <a:pt x="22" y="7"/>
                    <a:pt x="23" y="6"/>
                    <a:pt x="23" y="5"/>
                  </a:cubicBezTo>
                  <a:cubicBezTo>
                    <a:pt x="23" y="5"/>
                    <a:pt x="23" y="5"/>
                    <a:pt x="23" y="5"/>
                  </a:cubicBezTo>
                  <a:cubicBezTo>
                    <a:pt x="23" y="2"/>
                    <a:pt x="21" y="0"/>
                    <a:pt x="19" y="0"/>
                  </a:cubicBezTo>
                  <a:cubicBezTo>
                    <a:pt x="18" y="0"/>
                    <a:pt x="18" y="0"/>
                    <a:pt x="18" y="0"/>
                  </a:cubicBezTo>
                  <a:cubicBezTo>
                    <a:pt x="8" y="0"/>
                    <a:pt x="0" y="8"/>
                    <a:pt x="0" y="17"/>
                  </a:cubicBezTo>
                  <a:cubicBezTo>
                    <a:pt x="0" y="27"/>
                    <a:pt x="8" y="35"/>
                    <a:pt x="18" y="35"/>
                  </a:cubicBezTo>
                  <a:cubicBezTo>
                    <a:pt x="25" y="35"/>
                    <a:pt x="31" y="30"/>
                    <a:pt x="34" y="24"/>
                  </a:cubicBezTo>
                  <a:cubicBezTo>
                    <a:pt x="34" y="23"/>
                    <a:pt x="34" y="23"/>
                    <a:pt x="34" y="22"/>
                  </a:cubicBezTo>
                  <a:cubicBezTo>
                    <a:pt x="34" y="21"/>
                    <a:pt x="34" y="20"/>
                    <a:pt x="3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3" name="Freeform 90"/>
          <p:cNvSpPr>
            <a:spLocks noEditPoints="1"/>
          </p:cNvSpPr>
          <p:nvPr userDrawn="1"/>
        </p:nvSpPr>
        <p:spPr bwMode="auto">
          <a:xfrm>
            <a:off x="4511111" y="2647106"/>
            <a:ext cx="218472" cy="257234"/>
          </a:xfrm>
          <a:custGeom>
            <a:avLst/>
            <a:gdLst>
              <a:gd name="T0" fmla="*/ 136 w 188"/>
              <a:gd name="T1" fmla="*/ 118 h 220"/>
              <a:gd name="T2" fmla="*/ 139 w 188"/>
              <a:gd name="T3" fmla="*/ 118 h 220"/>
              <a:gd name="T4" fmla="*/ 94 w 188"/>
              <a:gd name="T5" fmla="*/ 84 h 220"/>
              <a:gd name="T6" fmla="*/ 46 w 188"/>
              <a:gd name="T7" fmla="*/ 131 h 220"/>
              <a:gd name="T8" fmla="*/ 94 w 188"/>
              <a:gd name="T9" fmla="*/ 179 h 220"/>
              <a:gd name="T10" fmla="*/ 139 w 188"/>
              <a:gd name="T11" fmla="*/ 145 h 220"/>
              <a:gd name="T12" fmla="*/ 136 w 188"/>
              <a:gd name="T13" fmla="*/ 145 h 220"/>
              <a:gd name="T14" fmla="*/ 128 w 188"/>
              <a:gd name="T15" fmla="*/ 137 h 220"/>
              <a:gd name="T16" fmla="*/ 128 w 188"/>
              <a:gd name="T17" fmla="*/ 126 h 220"/>
              <a:gd name="T18" fmla="*/ 136 w 188"/>
              <a:gd name="T19" fmla="*/ 118 h 220"/>
              <a:gd name="T20" fmla="*/ 85 w 188"/>
              <a:gd name="T21" fmla="*/ 125 h 220"/>
              <a:gd name="T22" fmla="*/ 70 w 188"/>
              <a:gd name="T23" fmla="*/ 150 h 220"/>
              <a:gd name="T24" fmla="*/ 69 w 188"/>
              <a:gd name="T25" fmla="*/ 113 h 220"/>
              <a:gd name="T26" fmla="*/ 105 w 188"/>
              <a:gd name="T27" fmla="*/ 101 h 220"/>
              <a:gd name="T28" fmla="*/ 85 w 188"/>
              <a:gd name="T29" fmla="*/ 125 h 220"/>
              <a:gd name="T30" fmla="*/ 180 w 188"/>
              <a:gd name="T31" fmla="*/ 0 h 220"/>
              <a:gd name="T32" fmla="*/ 8 w 188"/>
              <a:gd name="T33" fmla="*/ 0 h 220"/>
              <a:gd name="T34" fmla="*/ 0 w 188"/>
              <a:gd name="T35" fmla="*/ 8 h 220"/>
              <a:gd name="T36" fmla="*/ 0 w 188"/>
              <a:gd name="T37" fmla="*/ 211 h 220"/>
              <a:gd name="T38" fmla="*/ 8 w 188"/>
              <a:gd name="T39" fmla="*/ 220 h 220"/>
              <a:gd name="T40" fmla="*/ 180 w 188"/>
              <a:gd name="T41" fmla="*/ 220 h 220"/>
              <a:gd name="T42" fmla="*/ 188 w 188"/>
              <a:gd name="T43" fmla="*/ 211 h 220"/>
              <a:gd name="T44" fmla="*/ 188 w 188"/>
              <a:gd name="T45" fmla="*/ 8 h 220"/>
              <a:gd name="T46" fmla="*/ 180 w 188"/>
              <a:gd name="T47" fmla="*/ 0 h 220"/>
              <a:gd name="T48" fmla="*/ 138 w 188"/>
              <a:gd name="T49" fmla="*/ 28 h 220"/>
              <a:gd name="T50" fmla="*/ 145 w 188"/>
              <a:gd name="T51" fmla="*/ 35 h 220"/>
              <a:gd name="T52" fmla="*/ 138 w 188"/>
              <a:gd name="T53" fmla="*/ 42 h 220"/>
              <a:gd name="T54" fmla="*/ 131 w 188"/>
              <a:gd name="T55" fmla="*/ 35 h 220"/>
              <a:gd name="T56" fmla="*/ 138 w 188"/>
              <a:gd name="T57" fmla="*/ 28 h 220"/>
              <a:gd name="T58" fmla="*/ 77 w 188"/>
              <a:gd name="T59" fmla="*/ 27 h 220"/>
              <a:gd name="T60" fmla="*/ 81 w 188"/>
              <a:gd name="T61" fmla="*/ 23 h 220"/>
              <a:gd name="T62" fmla="*/ 107 w 188"/>
              <a:gd name="T63" fmla="*/ 23 h 220"/>
              <a:gd name="T64" fmla="*/ 111 w 188"/>
              <a:gd name="T65" fmla="*/ 27 h 220"/>
              <a:gd name="T66" fmla="*/ 111 w 188"/>
              <a:gd name="T67" fmla="*/ 44 h 220"/>
              <a:gd name="T68" fmla="*/ 107 w 188"/>
              <a:gd name="T69" fmla="*/ 48 h 220"/>
              <a:gd name="T70" fmla="*/ 81 w 188"/>
              <a:gd name="T71" fmla="*/ 48 h 220"/>
              <a:gd name="T72" fmla="*/ 77 w 188"/>
              <a:gd name="T73" fmla="*/ 44 h 220"/>
              <a:gd name="T74" fmla="*/ 77 w 188"/>
              <a:gd name="T75" fmla="*/ 27 h 220"/>
              <a:gd name="T76" fmla="*/ 26 w 188"/>
              <a:gd name="T77" fmla="*/ 27 h 220"/>
              <a:gd name="T78" fmla="*/ 43 w 188"/>
              <a:gd name="T79" fmla="*/ 27 h 220"/>
              <a:gd name="T80" fmla="*/ 43 w 188"/>
              <a:gd name="T81" fmla="*/ 45 h 220"/>
              <a:gd name="T82" fmla="*/ 26 w 188"/>
              <a:gd name="T83" fmla="*/ 45 h 220"/>
              <a:gd name="T84" fmla="*/ 26 w 188"/>
              <a:gd name="T85" fmla="*/ 27 h 220"/>
              <a:gd name="T86" fmla="*/ 94 w 188"/>
              <a:gd name="T87" fmla="*/ 193 h 220"/>
              <a:gd name="T88" fmla="*/ 32 w 188"/>
              <a:gd name="T89" fmla="*/ 131 h 220"/>
              <a:gd name="T90" fmla="*/ 94 w 188"/>
              <a:gd name="T91" fmla="*/ 69 h 220"/>
              <a:gd name="T92" fmla="*/ 156 w 188"/>
              <a:gd name="T93" fmla="*/ 131 h 220"/>
              <a:gd name="T94" fmla="*/ 94 w 188"/>
              <a:gd name="T95" fmla="*/ 193 h 220"/>
              <a:gd name="T96" fmla="*/ 159 w 188"/>
              <a:gd name="T97" fmla="*/ 42 h 220"/>
              <a:gd name="T98" fmla="*/ 152 w 188"/>
              <a:gd name="T99" fmla="*/ 35 h 220"/>
              <a:gd name="T100" fmla="*/ 159 w 188"/>
              <a:gd name="T101" fmla="*/ 28 h 220"/>
              <a:gd name="T102" fmla="*/ 166 w 188"/>
              <a:gd name="T103" fmla="*/ 35 h 220"/>
              <a:gd name="T104" fmla="*/ 159 w 188"/>
              <a:gd name="T105" fmla="*/ 4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8" h="220">
                <a:moveTo>
                  <a:pt x="136" y="118"/>
                </a:moveTo>
                <a:cubicBezTo>
                  <a:pt x="139" y="118"/>
                  <a:pt x="139" y="118"/>
                  <a:pt x="139" y="118"/>
                </a:cubicBezTo>
                <a:cubicBezTo>
                  <a:pt x="134" y="98"/>
                  <a:pt x="115" y="84"/>
                  <a:pt x="94" y="84"/>
                </a:cubicBezTo>
                <a:cubicBezTo>
                  <a:pt x="68" y="84"/>
                  <a:pt x="46" y="105"/>
                  <a:pt x="46" y="131"/>
                </a:cubicBezTo>
                <a:cubicBezTo>
                  <a:pt x="46" y="158"/>
                  <a:pt x="68" y="179"/>
                  <a:pt x="94" y="179"/>
                </a:cubicBezTo>
                <a:cubicBezTo>
                  <a:pt x="115" y="179"/>
                  <a:pt x="134" y="165"/>
                  <a:pt x="139" y="145"/>
                </a:cubicBezTo>
                <a:cubicBezTo>
                  <a:pt x="136" y="145"/>
                  <a:pt x="136" y="145"/>
                  <a:pt x="136" y="145"/>
                </a:cubicBezTo>
                <a:cubicBezTo>
                  <a:pt x="132" y="145"/>
                  <a:pt x="128" y="141"/>
                  <a:pt x="128" y="137"/>
                </a:cubicBezTo>
                <a:cubicBezTo>
                  <a:pt x="128" y="126"/>
                  <a:pt x="128" y="126"/>
                  <a:pt x="128" y="126"/>
                </a:cubicBezTo>
                <a:cubicBezTo>
                  <a:pt x="128" y="121"/>
                  <a:pt x="132" y="118"/>
                  <a:pt x="136" y="118"/>
                </a:cubicBezTo>
                <a:close/>
                <a:moveTo>
                  <a:pt x="85" y="125"/>
                </a:moveTo>
                <a:cubicBezTo>
                  <a:pt x="76" y="138"/>
                  <a:pt x="76" y="155"/>
                  <a:pt x="70" y="150"/>
                </a:cubicBezTo>
                <a:cubicBezTo>
                  <a:pt x="63" y="146"/>
                  <a:pt x="60" y="127"/>
                  <a:pt x="69" y="113"/>
                </a:cubicBezTo>
                <a:cubicBezTo>
                  <a:pt x="79" y="100"/>
                  <a:pt x="98" y="97"/>
                  <a:pt x="105" y="101"/>
                </a:cubicBezTo>
                <a:cubicBezTo>
                  <a:pt x="111" y="106"/>
                  <a:pt x="95" y="111"/>
                  <a:pt x="85" y="125"/>
                </a:cubicBezTo>
                <a:close/>
                <a:moveTo>
                  <a:pt x="180" y="0"/>
                </a:moveTo>
                <a:cubicBezTo>
                  <a:pt x="8" y="0"/>
                  <a:pt x="8" y="0"/>
                  <a:pt x="8" y="0"/>
                </a:cubicBezTo>
                <a:cubicBezTo>
                  <a:pt x="4" y="0"/>
                  <a:pt x="0" y="4"/>
                  <a:pt x="0" y="8"/>
                </a:cubicBezTo>
                <a:cubicBezTo>
                  <a:pt x="0" y="211"/>
                  <a:pt x="0" y="211"/>
                  <a:pt x="0" y="211"/>
                </a:cubicBezTo>
                <a:cubicBezTo>
                  <a:pt x="0" y="216"/>
                  <a:pt x="4" y="220"/>
                  <a:pt x="8" y="220"/>
                </a:cubicBezTo>
                <a:cubicBezTo>
                  <a:pt x="180" y="220"/>
                  <a:pt x="180" y="220"/>
                  <a:pt x="180" y="220"/>
                </a:cubicBezTo>
                <a:cubicBezTo>
                  <a:pt x="184" y="220"/>
                  <a:pt x="188" y="216"/>
                  <a:pt x="188" y="211"/>
                </a:cubicBezTo>
                <a:cubicBezTo>
                  <a:pt x="188" y="8"/>
                  <a:pt x="188" y="8"/>
                  <a:pt x="188" y="8"/>
                </a:cubicBezTo>
                <a:cubicBezTo>
                  <a:pt x="188" y="4"/>
                  <a:pt x="184" y="0"/>
                  <a:pt x="180" y="0"/>
                </a:cubicBezTo>
                <a:close/>
                <a:moveTo>
                  <a:pt x="138" y="28"/>
                </a:moveTo>
                <a:cubicBezTo>
                  <a:pt x="142" y="28"/>
                  <a:pt x="145" y="31"/>
                  <a:pt x="145" y="35"/>
                </a:cubicBezTo>
                <a:cubicBezTo>
                  <a:pt x="145" y="39"/>
                  <a:pt x="142" y="42"/>
                  <a:pt x="138" y="42"/>
                </a:cubicBezTo>
                <a:cubicBezTo>
                  <a:pt x="134" y="42"/>
                  <a:pt x="131" y="39"/>
                  <a:pt x="131" y="35"/>
                </a:cubicBezTo>
                <a:cubicBezTo>
                  <a:pt x="131" y="31"/>
                  <a:pt x="134" y="28"/>
                  <a:pt x="138" y="28"/>
                </a:cubicBezTo>
                <a:close/>
                <a:moveTo>
                  <a:pt x="77" y="27"/>
                </a:moveTo>
                <a:cubicBezTo>
                  <a:pt x="77" y="25"/>
                  <a:pt x="79" y="23"/>
                  <a:pt x="81" y="23"/>
                </a:cubicBezTo>
                <a:cubicBezTo>
                  <a:pt x="107" y="23"/>
                  <a:pt x="107" y="23"/>
                  <a:pt x="107" y="23"/>
                </a:cubicBezTo>
                <a:cubicBezTo>
                  <a:pt x="109" y="23"/>
                  <a:pt x="111" y="25"/>
                  <a:pt x="111" y="27"/>
                </a:cubicBezTo>
                <a:cubicBezTo>
                  <a:pt x="111" y="32"/>
                  <a:pt x="111" y="38"/>
                  <a:pt x="111" y="44"/>
                </a:cubicBezTo>
                <a:cubicBezTo>
                  <a:pt x="111" y="46"/>
                  <a:pt x="109" y="48"/>
                  <a:pt x="107" y="48"/>
                </a:cubicBezTo>
                <a:cubicBezTo>
                  <a:pt x="98" y="49"/>
                  <a:pt x="90" y="49"/>
                  <a:pt x="81" y="48"/>
                </a:cubicBezTo>
                <a:cubicBezTo>
                  <a:pt x="79" y="48"/>
                  <a:pt x="77" y="46"/>
                  <a:pt x="77" y="44"/>
                </a:cubicBezTo>
                <a:lnTo>
                  <a:pt x="77" y="27"/>
                </a:lnTo>
                <a:close/>
                <a:moveTo>
                  <a:pt x="26" y="27"/>
                </a:moveTo>
                <a:cubicBezTo>
                  <a:pt x="30" y="22"/>
                  <a:pt x="38" y="22"/>
                  <a:pt x="43" y="27"/>
                </a:cubicBezTo>
                <a:cubicBezTo>
                  <a:pt x="48" y="32"/>
                  <a:pt x="48" y="40"/>
                  <a:pt x="43" y="45"/>
                </a:cubicBezTo>
                <a:cubicBezTo>
                  <a:pt x="38" y="49"/>
                  <a:pt x="30" y="49"/>
                  <a:pt x="26" y="45"/>
                </a:cubicBezTo>
                <a:cubicBezTo>
                  <a:pt x="21" y="40"/>
                  <a:pt x="21" y="32"/>
                  <a:pt x="26" y="27"/>
                </a:cubicBezTo>
                <a:close/>
                <a:moveTo>
                  <a:pt x="94" y="193"/>
                </a:moveTo>
                <a:cubicBezTo>
                  <a:pt x="60" y="193"/>
                  <a:pt x="32" y="166"/>
                  <a:pt x="32" y="131"/>
                </a:cubicBezTo>
                <a:cubicBezTo>
                  <a:pt x="32" y="97"/>
                  <a:pt x="60" y="69"/>
                  <a:pt x="94" y="69"/>
                </a:cubicBezTo>
                <a:cubicBezTo>
                  <a:pt x="128" y="69"/>
                  <a:pt x="156" y="97"/>
                  <a:pt x="156" y="131"/>
                </a:cubicBezTo>
                <a:cubicBezTo>
                  <a:pt x="156" y="166"/>
                  <a:pt x="128" y="193"/>
                  <a:pt x="94" y="193"/>
                </a:cubicBezTo>
                <a:close/>
                <a:moveTo>
                  <a:pt x="159" y="42"/>
                </a:moveTo>
                <a:cubicBezTo>
                  <a:pt x="155" y="42"/>
                  <a:pt x="152" y="39"/>
                  <a:pt x="152" y="35"/>
                </a:cubicBezTo>
                <a:cubicBezTo>
                  <a:pt x="152" y="31"/>
                  <a:pt x="155" y="28"/>
                  <a:pt x="159" y="28"/>
                </a:cubicBezTo>
                <a:cubicBezTo>
                  <a:pt x="163" y="28"/>
                  <a:pt x="166" y="31"/>
                  <a:pt x="166" y="35"/>
                </a:cubicBezTo>
                <a:cubicBezTo>
                  <a:pt x="166" y="39"/>
                  <a:pt x="163" y="42"/>
                  <a:pt x="159" y="4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93" name="Rectangle 492"/>
          <p:cNvSpPr/>
          <p:nvPr userDrawn="1"/>
        </p:nvSpPr>
        <p:spPr>
          <a:xfrm>
            <a:off x="497779" y="4474853"/>
            <a:ext cx="2085827"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Environmental/Energy</a:t>
            </a:r>
          </a:p>
        </p:txBody>
      </p:sp>
      <p:sp>
        <p:nvSpPr>
          <p:cNvPr id="276" name="Freeform 23"/>
          <p:cNvSpPr>
            <a:spLocks/>
          </p:cNvSpPr>
          <p:nvPr userDrawn="1"/>
        </p:nvSpPr>
        <p:spPr bwMode="auto">
          <a:xfrm>
            <a:off x="3175557" y="3194749"/>
            <a:ext cx="314086" cy="314084"/>
          </a:xfrm>
          <a:custGeom>
            <a:avLst/>
            <a:gdLst>
              <a:gd name="T0" fmla="*/ 98 w 429"/>
              <a:gd name="T1" fmla="*/ 266 h 429"/>
              <a:gd name="T2" fmla="*/ 168 w 429"/>
              <a:gd name="T3" fmla="*/ 196 h 429"/>
              <a:gd name="T4" fmla="*/ 4 w 429"/>
              <a:gd name="T5" fmla="*/ 93 h 429"/>
              <a:gd name="T6" fmla="*/ 2 w 429"/>
              <a:gd name="T7" fmla="*/ 83 h 429"/>
              <a:gd name="T8" fmla="*/ 3 w 429"/>
              <a:gd name="T9" fmla="*/ 82 h 429"/>
              <a:gd name="T10" fmla="*/ 3 w 429"/>
              <a:gd name="T11" fmla="*/ 82 h 429"/>
              <a:gd name="T12" fmla="*/ 23 w 429"/>
              <a:gd name="T13" fmla="*/ 62 h 429"/>
              <a:gd name="T14" fmla="*/ 30 w 429"/>
              <a:gd name="T15" fmla="*/ 60 h 429"/>
              <a:gd name="T16" fmla="*/ 260 w 429"/>
              <a:gd name="T17" fmla="*/ 105 h 429"/>
              <a:gd name="T18" fmla="*/ 337 w 429"/>
              <a:gd name="T19" fmla="*/ 27 h 429"/>
              <a:gd name="T20" fmla="*/ 378 w 429"/>
              <a:gd name="T21" fmla="*/ 3 h 429"/>
              <a:gd name="T22" fmla="*/ 415 w 429"/>
              <a:gd name="T23" fmla="*/ 14 h 429"/>
              <a:gd name="T24" fmla="*/ 426 w 429"/>
              <a:gd name="T25" fmla="*/ 51 h 429"/>
              <a:gd name="T26" fmla="*/ 401 w 429"/>
              <a:gd name="T27" fmla="*/ 92 h 429"/>
              <a:gd name="T28" fmla="*/ 324 w 429"/>
              <a:gd name="T29" fmla="*/ 169 h 429"/>
              <a:gd name="T30" fmla="*/ 369 w 429"/>
              <a:gd name="T31" fmla="*/ 399 h 429"/>
              <a:gd name="T32" fmla="*/ 367 w 429"/>
              <a:gd name="T33" fmla="*/ 405 h 429"/>
              <a:gd name="T34" fmla="*/ 367 w 429"/>
              <a:gd name="T35" fmla="*/ 405 h 429"/>
              <a:gd name="T36" fmla="*/ 347 w 429"/>
              <a:gd name="T37" fmla="*/ 426 h 429"/>
              <a:gd name="T38" fmla="*/ 337 w 429"/>
              <a:gd name="T39" fmla="*/ 426 h 429"/>
              <a:gd name="T40" fmla="*/ 336 w 429"/>
              <a:gd name="T41" fmla="*/ 424 h 429"/>
              <a:gd name="T42" fmla="*/ 232 w 429"/>
              <a:gd name="T43" fmla="*/ 261 h 429"/>
              <a:gd name="T44" fmla="*/ 163 w 429"/>
              <a:gd name="T45" fmla="*/ 330 h 429"/>
              <a:gd name="T46" fmla="*/ 161 w 429"/>
              <a:gd name="T47" fmla="*/ 332 h 429"/>
              <a:gd name="T48" fmla="*/ 115 w 429"/>
              <a:gd name="T49" fmla="*/ 357 h 429"/>
              <a:gd name="T50" fmla="*/ 124 w 429"/>
              <a:gd name="T51" fmla="*/ 406 h 429"/>
              <a:gd name="T52" fmla="*/ 122 w 429"/>
              <a:gd name="T53" fmla="*/ 412 h 429"/>
              <a:gd name="T54" fmla="*/ 108 w 429"/>
              <a:gd name="T55" fmla="*/ 426 h 429"/>
              <a:gd name="T56" fmla="*/ 108 w 429"/>
              <a:gd name="T57" fmla="*/ 426 h 429"/>
              <a:gd name="T58" fmla="*/ 107 w 429"/>
              <a:gd name="T59" fmla="*/ 426 h 429"/>
              <a:gd name="T60" fmla="*/ 98 w 429"/>
              <a:gd name="T61" fmla="*/ 425 h 429"/>
              <a:gd name="T62" fmla="*/ 67 w 429"/>
              <a:gd name="T63" fmla="*/ 384 h 429"/>
              <a:gd name="T64" fmla="*/ 38 w 429"/>
              <a:gd name="T65" fmla="*/ 400 h 429"/>
              <a:gd name="T66" fmla="*/ 29 w 429"/>
              <a:gd name="T67" fmla="*/ 397 h 429"/>
              <a:gd name="T68" fmla="*/ 29 w 429"/>
              <a:gd name="T69" fmla="*/ 390 h 429"/>
              <a:gd name="T70" fmla="*/ 45 w 429"/>
              <a:gd name="T71" fmla="*/ 362 h 429"/>
              <a:gd name="T72" fmla="*/ 4 w 429"/>
              <a:gd name="T73" fmla="*/ 331 h 429"/>
              <a:gd name="T74" fmla="*/ 3 w 429"/>
              <a:gd name="T75" fmla="*/ 330 h 429"/>
              <a:gd name="T76" fmla="*/ 3 w 429"/>
              <a:gd name="T77" fmla="*/ 321 h 429"/>
              <a:gd name="T78" fmla="*/ 17 w 429"/>
              <a:gd name="T79" fmla="*/ 307 h 429"/>
              <a:gd name="T80" fmla="*/ 17 w 429"/>
              <a:gd name="T81" fmla="*/ 307 h 429"/>
              <a:gd name="T82" fmla="*/ 23 w 429"/>
              <a:gd name="T83" fmla="*/ 305 h 429"/>
              <a:gd name="T84" fmla="*/ 72 w 429"/>
              <a:gd name="T85" fmla="*/ 313 h 429"/>
              <a:gd name="T86" fmla="*/ 97 w 429"/>
              <a:gd name="T87" fmla="*/ 268 h 429"/>
              <a:gd name="T88" fmla="*/ 98 w 429"/>
              <a:gd name="T89" fmla="*/ 266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29" h="429">
                <a:moveTo>
                  <a:pt x="98" y="266"/>
                </a:moveTo>
                <a:cubicBezTo>
                  <a:pt x="168" y="196"/>
                  <a:pt x="168" y="196"/>
                  <a:pt x="168" y="196"/>
                </a:cubicBezTo>
                <a:cubicBezTo>
                  <a:pt x="4" y="93"/>
                  <a:pt x="4" y="93"/>
                  <a:pt x="4" y="93"/>
                </a:cubicBezTo>
                <a:cubicBezTo>
                  <a:pt x="1" y="91"/>
                  <a:pt x="0" y="86"/>
                  <a:pt x="2" y="83"/>
                </a:cubicBezTo>
                <a:cubicBezTo>
                  <a:pt x="2" y="83"/>
                  <a:pt x="3" y="82"/>
                  <a:pt x="3" y="82"/>
                </a:cubicBezTo>
                <a:cubicBezTo>
                  <a:pt x="3" y="82"/>
                  <a:pt x="3" y="82"/>
                  <a:pt x="3" y="82"/>
                </a:cubicBezTo>
                <a:cubicBezTo>
                  <a:pt x="23" y="62"/>
                  <a:pt x="23" y="62"/>
                  <a:pt x="23" y="62"/>
                </a:cubicBezTo>
                <a:cubicBezTo>
                  <a:pt x="25" y="60"/>
                  <a:pt x="28" y="59"/>
                  <a:pt x="30" y="60"/>
                </a:cubicBezTo>
                <a:cubicBezTo>
                  <a:pt x="260" y="105"/>
                  <a:pt x="260" y="105"/>
                  <a:pt x="260" y="105"/>
                </a:cubicBezTo>
                <a:cubicBezTo>
                  <a:pt x="337" y="27"/>
                  <a:pt x="337" y="27"/>
                  <a:pt x="337" y="27"/>
                </a:cubicBezTo>
                <a:cubicBezTo>
                  <a:pt x="349" y="15"/>
                  <a:pt x="364" y="5"/>
                  <a:pt x="378" y="3"/>
                </a:cubicBezTo>
                <a:cubicBezTo>
                  <a:pt x="391" y="0"/>
                  <a:pt x="404" y="3"/>
                  <a:pt x="415" y="14"/>
                </a:cubicBezTo>
                <a:cubicBezTo>
                  <a:pt x="426" y="25"/>
                  <a:pt x="429" y="38"/>
                  <a:pt x="426" y="51"/>
                </a:cubicBezTo>
                <a:cubicBezTo>
                  <a:pt x="423" y="65"/>
                  <a:pt x="413" y="80"/>
                  <a:pt x="401" y="92"/>
                </a:cubicBezTo>
                <a:cubicBezTo>
                  <a:pt x="324" y="169"/>
                  <a:pt x="324" y="169"/>
                  <a:pt x="324" y="169"/>
                </a:cubicBezTo>
                <a:cubicBezTo>
                  <a:pt x="369" y="399"/>
                  <a:pt x="369" y="399"/>
                  <a:pt x="369" y="399"/>
                </a:cubicBezTo>
                <a:cubicBezTo>
                  <a:pt x="370" y="401"/>
                  <a:pt x="369" y="404"/>
                  <a:pt x="367" y="405"/>
                </a:cubicBezTo>
                <a:cubicBezTo>
                  <a:pt x="367" y="405"/>
                  <a:pt x="367" y="405"/>
                  <a:pt x="367" y="405"/>
                </a:cubicBezTo>
                <a:cubicBezTo>
                  <a:pt x="347" y="426"/>
                  <a:pt x="347" y="426"/>
                  <a:pt x="347" y="426"/>
                </a:cubicBezTo>
                <a:cubicBezTo>
                  <a:pt x="344" y="428"/>
                  <a:pt x="340" y="428"/>
                  <a:pt x="337" y="426"/>
                </a:cubicBezTo>
                <a:cubicBezTo>
                  <a:pt x="337" y="425"/>
                  <a:pt x="336" y="425"/>
                  <a:pt x="336" y="424"/>
                </a:cubicBezTo>
                <a:cubicBezTo>
                  <a:pt x="232" y="261"/>
                  <a:pt x="232" y="261"/>
                  <a:pt x="232" y="261"/>
                </a:cubicBezTo>
                <a:cubicBezTo>
                  <a:pt x="163" y="330"/>
                  <a:pt x="163" y="330"/>
                  <a:pt x="163" y="330"/>
                </a:cubicBezTo>
                <a:cubicBezTo>
                  <a:pt x="162" y="331"/>
                  <a:pt x="161" y="331"/>
                  <a:pt x="161" y="332"/>
                </a:cubicBezTo>
                <a:cubicBezTo>
                  <a:pt x="115" y="357"/>
                  <a:pt x="115" y="357"/>
                  <a:pt x="115" y="357"/>
                </a:cubicBezTo>
                <a:cubicBezTo>
                  <a:pt x="124" y="406"/>
                  <a:pt x="124" y="406"/>
                  <a:pt x="124" y="406"/>
                </a:cubicBezTo>
                <a:cubicBezTo>
                  <a:pt x="124" y="408"/>
                  <a:pt x="124" y="410"/>
                  <a:pt x="122" y="412"/>
                </a:cubicBezTo>
                <a:cubicBezTo>
                  <a:pt x="108" y="426"/>
                  <a:pt x="108" y="426"/>
                  <a:pt x="108" y="426"/>
                </a:cubicBezTo>
                <a:cubicBezTo>
                  <a:pt x="108" y="426"/>
                  <a:pt x="108" y="426"/>
                  <a:pt x="108" y="426"/>
                </a:cubicBezTo>
                <a:cubicBezTo>
                  <a:pt x="108" y="426"/>
                  <a:pt x="108" y="426"/>
                  <a:pt x="107" y="426"/>
                </a:cubicBezTo>
                <a:cubicBezTo>
                  <a:pt x="104" y="429"/>
                  <a:pt x="100" y="428"/>
                  <a:pt x="98" y="425"/>
                </a:cubicBezTo>
                <a:cubicBezTo>
                  <a:pt x="67" y="384"/>
                  <a:pt x="67" y="384"/>
                  <a:pt x="67" y="384"/>
                </a:cubicBezTo>
                <a:cubicBezTo>
                  <a:pt x="38" y="400"/>
                  <a:pt x="38" y="400"/>
                  <a:pt x="38" y="400"/>
                </a:cubicBezTo>
                <a:cubicBezTo>
                  <a:pt x="35" y="401"/>
                  <a:pt x="31" y="400"/>
                  <a:pt x="29" y="397"/>
                </a:cubicBezTo>
                <a:cubicBezTo>
                  <a:pt x="28" y="395"/>
                  <a:pt x="28" y="392"/>
                  <a:pt x="29" y="390"/>
                </a:cubicBezTo>
                <a:cubicBezTo>
                  <a:pt x="45" y="362"/>
                  <a:pt x="45" y="362"/>
                  <a:pt x="45" y="362"/>
                </a:cubicBezTo>
                <a:cubicBezTo>
                  <a:pt x="4" y="331"/>
                  <a:pt x="4" y="331"/>
                  <a:pt x="4" y="331"/>
                </a:cubicBezTo>
                <a:cubicBezTo>
                  <a:pt x="4" y="331"/>
                  <a:pt x="3" y="331"/>
                  <a:pt x="3" y="330"/>
                </a:cubicBezTo>
                <a:cubicBezTo>
                  <a:pt x="0" y="328"/>
                  <a:pt x="0" y="323"/>
                  <a:pt x="3" y="321"/>
                </a:cubicBezTo>
                <a:cubicBezTo>
                  <a:pt x="17" y="307"/>
                  <a:pt x="17" y="307"/>
                  <a:pt x="17" y="307"/>
                </a:cubicBezTo>
                <a:cubicBezTo>
                  <a:pt x="17" y="307"/>
                  <a:pt x="17" y="307"/>
                  <a:pt x="17" y="307"/>
                </a:cubicBezTo>
                <a:cubicBezTo>
                  <a:pt x="18" y="306"/>
                  <a:pt x="20" y="305"/>
                  <a:pt x="23" y="305"/>
                </a:cubicBezTo>
                <a:cubicBezTo>
                  <a:pt x="72" y="313"/>
                  <a:pt x="72" y="313"/>
                  <a:pt x="72" y="313"/>
                </a:cubicBezTo>
                <a:cubicBezTo>
                  <a:pt x="97" y="268"/>
                  <a:pt x="97" y="268"/>
                  <a:pt x="97" y="268"/>
                </a:cubicBezTo>
                <a:cubicBezTo>
                  <a:pt x="98" y="267"/>
                  <a:pt x="98" y="267"/>
                  <a:pt x="98" y="26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05" name="Group 304"/>
          <p:cNvGrpSpPr/>
          <p:nvPr userDrawn="1"/>
        </p:nvGrpSpPr>
        <p:grpSpPr>
          <a:xfrm>
            <a:off x="3175557" y="2618681"/>
            <a:ext cx="314086" cy="314084"/>
            <a:chOff x="14203363" y="1760538"/>
            <a:chExt cx="612775" cy="612775"/>
          </a:xfrm>
          <a:solidFill>
            <a:schemeClr val="tx1"/>
          </a:solidFill>
        </p:grpSpPr>
        <p:sp>
          <p:nvSpPr>
            <p:cNvPr id="306" name="Freeform 61"/>
            <p:cNvSpPr>
              <a:spLocks noEditPoints="1"/>
            </p:cNvSpPr>
            <p:nvPr/>
          </p:nvSpPr>
          <p:spPr bwMode="auto">
            <a:xfrm>
              <a:off x="14203363" y="1760538"/>
              <a:ext cx="612775" cy="612775"/>
            </a:xfrm>
            <a:custGeom>
              <a:avLst/>
              <a:gdLst>
                <a:gd name="T0" fmla="*/ 207 w 211"/>
                <a:gd name="T1" fmla="*/ 57 h 211"/>
                <a:gd name="T2" fmla="*/ 153 w 211"/>
                <a:gd name="T3" fmla="*/ 4 h 211"/>
                <a:gd name="T4" fmla="*/ 143 w 211"/>
                <a:gd name="T5" fmla="*/ 0 h 211"/>
                <a:gd name="T6" fmla="*/ 67 w 211"/>
                <a:gd name="T7" fmla="*/ 0 h 211"/>
                <a:gd name="T8" fmla="*/ 57 w 211"/>
                <a:gd name="T9" fmla="*/ 4 h 211"/>
                <a:gd name="T10" fmla="*/ 4 w 211"/>
                <a:gd name="T11" fmla="*/ 57 h 211"/>
                <a:gd name="T12" fmla="*/ 0 w 211"/>
                <a:gd name="T13" fmla="*/ 67 h 211"/>
                <a:gd name="T14" fmla="*/ 0 w 211"/>
                <a:gd name="T15" fmla="*/ 143 h 211"/>
                <a:gd name="T16" fmla="*/ 4 w 211"/>
                <a:gd name="T17" fmla="*/ 153 h 211"/>
                <a:gd name="T18" fmla="*/ 57 w 211"/>
                <a:gd name="T19" fmla="*/ 207 h 211"/>
                <a:gd name="T20" fmla="*/ 67 w 211"/>
                <a:gd name="T21" fmla="*/ 211 h 211"/>
                <a:gd name="T22" fmla="*/ 143 w 211"/>
                <a:gd name="T23" fmla="*/ 211 h 211"/>
                <a:gd name="T24" fmla="*/ 153 w 211"/>
                <a:gd name="T25" fmla="*/ 207 h 211"/>
                <a:gd name="T26" fmla="*/ 207 w 211"/>
                <a:gd name="T27" fmla="*/ 153 h 211"/>
                <a:gd name="T28" fmla="*/ 211 w 211"/>
                <a:gd name="T29" fmla="*/ 143 h 211"/>
                <a:gd name="T30" fmla="*/ 211 w 211"/>
                <a:gd name="T31" fmla="*/ 67 h 211"/>
                <a:gd name="T32" fmla="*/ 207 w 211"/>
                <a:gd name="T33" fmla="*/ 57 h 211"/>
                <a:gd name="T34" fmla="*/ 193 w 211"/>
                <a:gd name="T35" fmla="*/ 136 h 211"/>
                <a:gd name="T36" fmla="*/ 189 w 211"/>
                <a:gd name="T37" fmla="*/ 146 h 211"/>
                <a:gd name="T38" fmla="*/ 146 w 211"/>
                <a:gd name="T39" fmla="*/ 189 h 211"/>
                <a:gd name="T40" fmla="*/ 136 w 211"/>
                <a:gd name="T41" fmla="*/ 193 h 211"/>
                <a:gd name="T42" fmla="*/ 75 w 211"/>
                <a:gd name="T43" fmla="*/ 193 h 211"/>
                <a:gd name="T44" fmla="*/ 65 w 211"/>
                <a:gd name="T45" fmla="*/ 189 h 211"/>
                <a:gd name="T46" fmla="*/ 21 w 211"/>
                <a:gd name="T47" fmla="*/ 146 h 211"/>
                <a:gd name="T48" fmla="*/ 17 w 211"/>
                <a:gd name="T49" fmla="*/ 136 h 211"/>
                <a:gd name="T50" fmla="*/ 17 w 211"/>
                <a:gd name="T51" fmla="*/ 75 h 211"/>
                <a:gd name="T52" fmla="*/ 21 w 211"/>
                <a:gd name="T53" fmla="*/ 65 h 211"/>
                <a:gd name="T54" fmla="*/ 65 w 211"/>
                <a:gd name="T55" fmla="*/ 22 h 211"/>
                <a:gd name="T56" fmla="*/ 75 w 211"/>
                <a:gd name="T57" fmla="*/ 17 h 211"/>
                <a:gd name="T58" fmla="*/ 136 w 211"/>
                <a:gd name="T59" fmla="*/ 17 h 211"/>
                <a:gd name="T60" fmla="*/ 146 w 211"/>
                <a:gd name="T61" fmla="*/ 22 h 211"/>
                <a:gd name="T62" fmla="*/ 189 w 211"/>
                <a:gd name="T63" fmla="*/ 65 h 211"/>
                <a:gd name="T64" fmla="*/ 193 w 211"/>
                <a:gd name="T65" fmla="*/ 75 h 211"/>
                <a:gd name="T66" fmla="*/ 193 w 211"/>
                <a:gd name="T67" fmla="*/ 13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211">
                  <a:moveTo>
                    <a:pt x="207" y="57"/>
                  </a:moveTo>
                  <a:cubicBezTo>
                    <a:pt x="153" y="4"/>
                    <a:pt x="153" y="4"/>
                    <a:pt x="153" y="4"/>
                  </a:cubicBezTo>
                  <a:cubicBezTo>
                    <a:pt x="151" y="2"/>
                    <a:pt x="146" y="0"/>
                    <a:pt x="143" y="0"/>
                  </a:cubicBezTo>
                  <a:cubicBezTo>
                    <a:pt x="67" y="0"/>
                    <a:pt x="67" y="0"/>
                    <a:pt x="67" y="0"/>
                  </a:cubicBezTo>
                  <a:cubicBezTo>
                    <a:pt x="64" y="0"/>
                    <a:pt x="60" y="2"/>
                    <a:pt x="57" y="4"/>
                  </a:cubicBezTo>
                  <a:cubicBezTo>
                    <a:pt x="4" y="57"/>
                    <a:pt x="4" y="57"/>
                    <a:pt x="4" y="57"/>
                  </a:cubicBezTo>
                  <a:cubicBezTo>
                    <a:pt x="2" y="60"/>
                    <a:pt x="0" y="64"/>
                    <a:pt x="0" y="67"/>
                  </a:cubicBezTo>
                  <a:cubicBezTo>
                    <a:pt x="0" y="143"/>
                    <a:pt x="0" y="143"/>
                    <a:pt x="0" y="143"/>
                  </a:cubicBezTo>
                  <a:cubicBezTo>
                    <a:pt x="0" y="146"/>
                    <a:pt x="2" y="151"/>
                    <a:pt x="4" y="153"/>
                  </a:cubicBezTo>
                  <a:cubicBezTo>
                    <a:pt x="57" y="207"/>
                    <a:pt x="57" y="207"/>
                    <a:pt x="57" y="207"/>
                  </a:cubicBezTo>
                  <a:cubicBezTo>
                    <a:pt x="60" y="209"/>
                    <a:pt x="64" y="211"/>
                    <a:pt x="67" y="211"/>
                  </a:cubicBezTo>
                  <a:cubicBezTo>
                    <a:pt x="143" y="211"/>
                    <a:pt x="143" y="211"/>
                    <a:pt x="143" y="211"/>
                  </a:cubicBezTo>
                  <a:cubicBezTo>
                    <a:pt x="146" y="211"/>
                    <a:pt x="151" y="209"/>
                    <a:pt x="153" y="207"/>
                  </a:cubicBezTo>
                  <a:cubicBezTo>
                    <a:pt x="207" y="153"/>
                    <a:pt x="207" y="153"/>
                    <a:pt x="207" y="153"/>
                  </a:cubicBezTo>
                  <a:cubicBezTo>
                    <a:pt x="209" y="151"/>
                    <a:pt x="211" y="146"/>
                    <a:pt x="211" y="143"/>
                  </a:cubicBezTo>
                  <a:cubicBezTo>
                    <a:pt x="211" y="67"/>
                    <a:pt x="211" y="67"/>
                    <a:pt x="211" y="67"/>
                  </a:cubicBezTo>
                  <a:cubicBezTo>
                    <a:pt x="211" y="64"/>
                    <a:pt x="209" y="60"/>
                    <a:pt x="207" y="57"/>
                  </a:cubicBezTo>
                  <a:close/>
                  <a:moveTo>
                    <a:pt x="193" y="136"/>
                  </a:moveTo>
                  <a:cubicBezTo>
                    <a:pt x="193" y="139"/>
                    <a:pt x="191" y="144"/>
                    <a:pt x="189" y="146"/>
                  </a:cubicBezTo>
                  <a:cubicBezTo>
                    <a:pt x="146" y="189"/>
                    <a:pt x="146" y="189"/>
                    <a:pt x="146" y="189"/>
                  </a:cubicBezTo>
                  <a:cubicBezTo>
                    <a:pt x="144" y="191"/>
                    <a:pt x="139" y="193"/>
                    <a:pt x="136" y="193"/>
                  </a:cubicBezTo>
                  <a:cubicBezTo>
                    <a:pt x="75" y="193"/>
                    <a:pt x="75" y="193"/>
                    <a:pt x="75" y="193"/>
                  </a:cubicBezTo>
                  <a:cubicBezTo>
                    <a:pt x="71" y="193"/>
                    <a:pt x="67" y="191"/>
                    <a:pt x="65" y="189"/>
                  </a:cubicBezTo>
                  <a:cubicBezTo>
                    <a:pt x="21" y="146"/>
                    <a:pt x="21" y="146"/>
                    <a:pt x="21" y="146"/>
                  </a:cubicBezTo>
                  <a:cubicBezTo>
                    <a:pt x="19" y="144"/>
                    <a:pt x="17" y="139"/>
                    <a:pt x="17" y="136"/>
                  </a:cubicBezTo>
                  <a:cubicBezTo>
                    <a:pt x="17" y="75"/>
                    <a:pt x="17" y="75"/>
                    <a:pt x="17" y="75"/>
                  </a:cubicBezTo>
                  <a:cubicBezTo>
                    <a:pt x="17" y="72"/>
                    <a:pt x="19" y="67"/>
                    <a:pt x="21" y="65"/>
                  </a:cubicBezTo>
                  <a:cubicBezTo>
                    <a:pt x="65" y="22"/>
                    <a:pt x="65" y="22"/>
                    <a:pt x="65" y="22"/>
                  </a:cubicBezTo>
                  <a:cubicBezTo>
                    <a:pt x="67" y="19"/>
                    <a:pt x="71" y="17"/>
                    <a:pt x="75" y="17"/>
                  </a:cubicBezTo>
                  <a:cubicBezTo>
                    <a:pt x="136" y="17"/>
                    <a:pt x="136" y="17"/>
                    <a:pt x="136" y="17"/>
                  </a:cubicBezTo>
                  <a:cubicBezTo>
                    <a:pt x="139" y="17"/>
                    <a:pt x="144" y="19"/>
                    <a:pt x="146" y="22"/>
                  </a:cubicBezTo>
                  <a:cubicBezTo>
                    <a:pt x="189" y="65"/>
                    <a:pt x="189" y="65"/>
                    <a:pt x="189" y="65"/>
                  </a:cubicBezTo>
                  <a:cubicBezTo>
                    <a:pt x="191" y="67"/>
                    <a:pt x="193" y="72"/>
                    <a:pt x="193" y="75"/>
                  </a:cubicBezTo>
                  <a:lnTo>
                    <a:pt x="193" y="1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2"/>
            <p:cNvSpPr>
              <a:spLocks/>
            </p:cNvSpPr>
            <p:nvPr/>
          </p:nvSpPr>
          <p:spPr bwMode="auto">
            <a:xfrm>
              <a:off x="14377988" y="1879600"/>
              <a:ext cx="307975" cy="357188"/>
            </a:xfrm>
            <a:custGeom>
              <a:avLst/>
              <a:gdLst>
                <a:gd name="T0" fmla="*/ 106 w 106"/>
                <a:gd name="T1" fmla="*/ 77 h 123"/>
                <a:gd name="T2" fmla="*/ 100 w 106"/>
                <a:gd name="T3" fmla="*/ 86 h 123"/>
                <a:gd name="T4" fmla="*/ 71 w 106"/>
                <a:gd name="T5" fmla="*/ 116 h 123"/>
                <a:gd name="T6" fmla="*/ 56 w 106"/>
                <a:gd name="T7" fmla="*/ 123 h 123"/>
                <a:gd name="T8" fmla="*/ 19 w 106"/>
                <a:gd name="T9" fmla="*/ 123 h 123"/>
                <a:gd name="T10" fmla="*/ 0 w 106"/>
                <a:gd name="T11" fmla="*/ 104 h 123"/>
                <a:gd name="T12" fmla="*/ 0 w 106"/>
                <a:gd name="T13" fmla="*/ 36 h 123"/>
                <a:gd name="T14" fmla="*/ 7 w 106"/>
                <a:gd name="T15" fmla="*/ 30 h 123"/>
                <a:gd name="T16" fmla="*/ 7 w 106"/>
                <a:gd name="T17" fmla="*/ 30 h 123"/>
                <a:gd name="T18" fmla="*/ 13 w 106"/>
                <a:gd name="T19" fmla="*/ 36 h 123"/>
                <a:gd name="T20" fmla="*/ 13 w 106"/>
                <a:gd name="T21" fmla="*/ 56 h 123"/>
                <a:gd name="T22" fmla="*/ 19 w 106"/>
                <a:gd name="T23" fmla="*/ 56 h 123"/>
                <a:gd name="T24" fmla="*/ 19 w 106"/>
                <a:gd name="T25" fmla="*/ 17 h 123"/>
                <a:gd name="T26" fmla="*/ 26 w 106"/>
                <a:gd name="T27" fmla="*/ 11 h 123"/>
                <a:gd name="T28" fmla="*/ 28 w 106"/>
                <a:gd name="T29" fmla="*/ 11 h 123"/>
                <a:gd name="T30" fmla="*/ 34 w 106"/>
                <a:gd name="T31" fmla="*/ 17 h 123"/>
                <a:gd name="T32" fmla="*/ 34 w 106"/>
                <a:gd name="T33" fmla="*/ 49 h 123"/>
                <a:gd name="T34" fmla="*/ 40 w 106"/>
                <a:gd name="T35" fmla="*/ 49 h 123"/>
                <a:gd name="T36" fmla="*/ 40 w 106"/>
                <a:gd name="T37" fmla="*/ 7 h 123"/>
                <a:gd name="T38" fmla="*/ 46 w 106"/>
                <a:gd name="T39" fmla="*/ 0 h 123"/>
                <a:gd name="T40" fmla="*/ 48 w 106"/>
                <a:gd name="T41" fmla="*/ 0 h 123"/>
                <a:gd name="T42" fmla="*/ 54 w 106"/>
                <a:gd name="T43" fmla="*/ 7 h 123"/>
                <a:gd name="T44" fmla="*/ 54 w 106"/>
                <a:gd name="T45" fmla="*/ 49 h 123"/>
                <a:gd name="T46" fmla="*/ 60 w 106"/>
                <a:gd name="T47" fmla="*/ 49 h 123"/>
                <a:gd name="T48" fmla="*/ 60 w 106"/>
                <a:gd name="T49" fmla="*/ 16 h 123"/>
                <a:gd name="T50" fmla="*/ 66 w 106"/>
                <a:gd name="T51" fmla="*/ 10 h 123"/>
                <a:gd name="T52" fmla="*/ 68 w 106"/>
                <a:gd name="T53" fmla="*/ 10 h 123"/>
                <a:gd name="T54" fmla="*/ 75 w 106"/>
                <a:gd name="T55" fmla="*/ 16 h 123"/>
                <a:gd name="T56" fmla="*/ 75 w 106"/>
                <a:gd name="T57" fmla="*/ 80 h 123"/>
                <a:gd name="T58" fmla="*/ 79 w 106"/>
                <a:gd name="T59" fmla="*/ 81 h 123"/>
                <a:gd name="T60" fmla="*/ 87 w 106"/>
                <a:gd name="T61" fmla="*/ 73 h 123"/>
                <a:gd name="T62" fmla="*/ 98 w 106"/>
                <a:gd name="T63" fmla="*/ 70 h 123"/>
                <a:gd name="T64" fmla="*/ 101 w 106"/>
                <a:gd name="T65" fmla="*/ 71 h 123"/>
                <a:gd name="T66" fmla="*/ 106 w 106"/>
                <a:gd name="T67" fmla="*/ 7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123">
                  <a:moveTo>
                    <a:pt x="106" y="77"/>
                  </a:moveTo>
                  <a:cubicBezTo>
                    <a:pt x="105" y="80"/>
                    <a:pt x="103" y="84"/>
                    <a:pt x="100" y="86"/>
                  </a:cubicBezTo>
                  <a:cubicBezTo>
                    <a:pt x="100" y="86"/>
                    <a:pt x="71" y="116"/>
                    <a:pt x="71" y="116"/>
                  </a:cubicBezTo>
                  <a:cubicBezTo>
                    <a:pt x="67" y="120"/>
                    <a:pt x="62" y="123"/>
                    <a:pt x="56" y="123"/>
                  </a:cubicBezTo>
                  <a:cubicBezTo>
                    <a:pt x="19" y="123"/>
                    <a:pt x="19" y="123"/>
                    <a:pt x="19" y="123"/>
                  </a:cubicBezTo>
                  <a:cubicBezTo>
                    <a:pt x="9" y="123"/>
                    <a:pt x="0" y="115"/>
                    <a:pt x="0" y="104"/>
                  </a:cubicBezTo>
                  <a:cubicBezTo>
                    <a:pt x="0" y="36"/>
                    <a:pt x="0" y="36"/>
                    <a:pt x="0" y="36"/>
                  </a:cubicBezTo>
                  <a:cubicBezTo>
                    <a:pt x="0" y="32"/>
                    <a:pt x="3" y="30"/>
                    <a:pt x="7" y="30"/>
                  </a:cubicBezTo>
                  <a:cubicBezTo>
                    <a:pt x="7" y="30"/>
                    <a:pt x="7" y="30"/>
                    <a:pt x="7" y="30"/>
                  </a:cubicBezTo>
                  <a:cubicBezTo>
                    <a:pt x="11" y="30"/>
                    <a:pt x="13" y="32"/>
                    <a:pt x="13" y="36"/>
                  </a:cubicBezTo>
                  <a:cubicBezTo>
                    <a:pt x="13" y="56"/>
                    <a:pt x="13" y="56"/>
                    <a:pt x="13" y="56"/>
                  </a:cubicBezTo>
                  <a:cubicBezTo>
                    <a:pt x="13" y="60"/>
                    <a:pt x="19" y="60"/>
                    <a:pt x="19" y="56"/>
                  </a:cubicBezTo>
                  <a:cubicBezTo>
                    <a:pt x="19" y="17"/>
                    <a:pt x="19" y="17"/>
                    <a:pt x="19" y="17"/>
                  </a:cubicBezTo>
                  <a:cubicBezTo>
                    <a:pt x="19" y="13"/>
                    <a:pt x="22" y="11"/>
                    <a:pt x="26" y="11"/>
                  </a:cubicBezTo>
                  <a:cubicBezTo>
                    <a:pt x="28" y="11"/>
                    <a:pt x="28" y="11"/>
                    <a:pt x="28" y="11"/>
                  </a:cubicBezTo>
                  <a:cubicBezTo>
                    <a:pt x="31" y="11"/>
                    <a:pt x="34" y="13"/>
                    <a:pt x="34" y="17"/>
                  </a:cubicBezTo>
                  <a:cubicBezTo>
                    <a:pt x="34" y="49"/>
                    <a:pt x="34" y="49"/>
                    <a:pt x="34" y="49"/>
                  </a:cubicBezTo>
                  <a:cubicBezTo>
                    <a:pt x="34" y="52"/>
                    <a:pt x="40" y="52"/>
                    <a:pt x="40" y="49"/>
                  </a:cubicBezTo>
                  <a:cubicBezTo>
                    <a:pt x="40" y="7"/>
                    <a:pt x="40" y="7"/>
                    <a:pt x="40" y="7"/>
                  </a:cubicBezTo>
                  <a:cubicBezTo>
                    <a:pt x="40" y="3"/>
                    <a:pt x="43" y="0"/>
                    <a:pt x="46" y="0"/>
                  </a:cubicBezTo>
                  <a:cubicBezTo>
                    <a:pt x="48" y="0"/>
                    <a:pt x="48" y="0"/>
                    <a:pt x="48" y="0"/>
                  </a:cubicBezTo>
                  <a:cubicBezTo>
                    <a:pt x="51" y="0"/>
                    <a:pt x="54" y="3"/>
                    <a:pt x="54" y="7"/>
                  </a:cubicBezTo>
                  <a:cubicBezTo>
                    <a:pt x="54" y="49"/>
                    <a:pt x="54" y="49"/>
                    <a:pt x="54" y="49"/>
                  </a:cubicBezTo>
                  <a:cubicBezTo>
                    <a:pt x="54" y="52"/>
                    <a:pt x="60" y="52"/>
                    <a:pt x="60" y="49"/>
                  </a:cubicBezTo>
                  <a:cubicBezTo>
                    <a:pt x="60" y="16"/>
                    <a:pt x="60" y="16"/>
                    <a:pt x="60" y="16"/>
                  </a:cubicBezTo>
                  <a:cubicBezTo>
                    <a:pt x="60" y="12"/>
                    <a:pt x="63" y="10"/>
                    <a:pt x="66" y="10"/>
                  </a:cubicBezTo>
                  <a:cubicBezTo>
                    <a:pt x="68" y="10"/>
                    <a:pt x="68" y="10"/>
                    <a:pt x="68" y="10"/>
                  </a:cubicBezTo>
                  <a:cubicBezTo>
                    <a:pt x="72" y="10"/>
                    <a:pt x="75" y="12"/>
                    <a:pt x="75" y="16"/>
                  </a:cubicBezTo>
                  <a:cubicBezTo>
                    <a:pt x="75" y="16"/>
                    <a:pt x="75" y="77"/>
                    <a:pt x="75" y="80"/>
                  </a:cubicBezTo>
                  <a:cubicBezTo>
                    <a:pt x="75" y="83"/>
                    <a:pt x="77" y="84"/>
                    <a:pt x="79" y="81"/>
                  </a:cubicBezTo>
                  <a:cubicBezTo>
                    <a:pt x="87" y="73"/>
                    <a:pt x="87" y="73"/>
                    <a:pt x="87" y="73"/>
                  </a:cubicBezTo>
                  <a:cubicBezTo>
                    <a:pt x="90" y="71"/>
                    <a:pt x="94" y="70"/>
                    <a:pt x="98" y="70"/>
                  </a:cubicBezTo>
                  <a:cubicBezTo>
                    <a:pt x="101" y="71"/>
                    <a:pt x="101" y="71"/>
                    <a:pt x="101" y="71"/>
                  </a:cubicBezTo>
                  <a:cubicBezTo>
                    <a:pt x="104" y="72"/>
                    <a:pt x="106" y="75"/>
                    <a:pt x="106"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22" name="Group 321"/>
          <p:cNvGrpSpPr/>
          <p:nvPr userDrawn="1"/>
        </p:nvGrpSpPr>
        <p:grpSpPr>
          <a:xfrm>
            <a:off x="3175557" y="2095833"/>
            <a:ext cx="386255" cy="275637"/>
            <a:chOff x="11179175" y="4841875"/>
            <a:chExt cx="747713" cy="465138"/>
          </a:xfrm>
          <a:solidFill>
            <a:schemeClr val="tx1"/>
          </a:solidFill>
        </p:grpSpPr>
        <p:sp>
          <p:nvSpPr>
            <p:cNvPr id="323" name="Freeform 80"/>
            <p:cNvSpPr>
              <a:spLocks noEditPoints="1"/>
            </p:cNvSpPr>
            <p:nvPr/>
          </p:nvSpPr>
          <p:spPr bwMode="auto">
            <a:xfrm>
              <a:off x="11179175" y="4841875"/>
              <a:ext cx="465138" cy="296863"/>
            </a:xfrm>
            <a:custGeom>
              <a:avLst/>
              <a:gdLst>
                <a:gd name="T0" fmla="*/ 15 w 160"/>
                <a:gd name="T1" fmla="*/ 102 h 102"/>
                <a:gd name="T2" fmla="*/ 15 w 160"/>
                <a:gd name="T3" fmla="*/ 102 h 102"/>
                <a:gd name="T4" fmla="*/ 155 w 160"/>
                <a:gd name="T5" fmla="*/ 102 h 102"/>
                <a:gd name="T6" fmla="*/ 160 w 160"/>
                <a:gd name="T7" fmla="*/ 97 h 102"/>
                <a:gd name="T8" fmla="*/ 154 w 160"/>
                <a:gd name="T9" fmla="*/ 49 h 102"/>
                <a:gd name="T10" fmla="*/ 148 w 160"/>
                <a:gd name="T11" fmla="*/ 43 h 102"/>
                <a:gd name="T12" fmla="*/ 97 w 160"/>
                <a:gd name="T13" fmla="*/ 43 h 102"/>
                <a:gd name="T14" fmla="*/ 97 w 160"/>
                <a:gd name="T15" fmla="*/ 5 h 102"/>
                <a:gd name="T16" fmla="*/ 91 w 160"/>
                <a:gd name="T17" fmla="*/ 0 h 102"/>
                <a:gd name="T18" fmla="*/ 33 w 160"/>
                <a:gd name="T19" fmla="*/ 0 h 102"/>
                <a:gd name="T20" fmla="*/ 28 w 160"/>
                <a:gd name="T21" fmla="*/ 5 h 102"/>
                <a:gd name="T22" fmla="*/ 28 w 160"/>
                <a:gd name="T23" fmla="*/ 29 h 102"/>
                <a:gd name="T24" fmla="*/ 15 w 160"/>
                <a:gd name="T25" fmla="*/ 29 h 102"/>
                <a:gd name="T26" fmla="*/ 0 w 160"/>
                <a:gd name="T27" fmla="*/ 73 h 102"/>
                <a:gd name="T28" fmla="*/ 15 w 160"/>
                <a:gd name="T29" fmla="*/ 102 h 102"/>
                <a:gd name="T30" fmla="*/ 43 w 160"/>
                <a:gd name="T31" fmla="*/ 20 h 102"/>
                <a:gd name="T32" fmla="*/ 48 w 160"/>
                <a:gd name="T33" fmla="*/ 16 h 102"/>
                <a:gd name="T34" fmla="*/ 77 w 160"/>
                <a:gd name="T35" fmla="*/ 16 h 102"/>
                <a:gd name="T36" fmla="*/ 81 w 160"/>
                <a:gd name="T37" fmla="*/ 20 h 102"/>
                <a:gd name="T38" fmla="*/ 81 w 160"/>
                <a:gd name="T39" fmla="*/ 52 h 102"/>
                <a:gd name="T40" fmla="*/ 77 w 160"/>
                <a:gd name="T41" fmla="*/ 56 h 102"/>
                <a:gd name="T42" fmla="*/ 71 w 160"/>
                <a:gd name="T43" fmla="*/ 56 h 102"/>
                <a:gd name="T44" fmla="*/ 64 w 160"/>
                <a:gd name="T45" fmla="*/ 53 h 102"/>
                <a:gd name="T46" fmla="*/ 47 w 160"/>
                <a:gd name="T47" fmla="*/ 41 h 102"/>
                <a:gd name="T48" fmla="*/ 43 w 160"/>
                <a:gd name="T49" fmla="*/ 34 h 102"/>
                <a:gd name="T50" fmla="*/ 43 w 160"/>
                <a:gd name="T51" fmla="*/ 2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0" h="102">
                  <a:moveTo>
                    <a:pt x="15" y="102"/>
                  </a:moveTo>
                  <a:cubicBezTo>
                    <a:pt x="15" y="102"/>
                    <a:pt x="15" y="102"/>
                    <a:pt x="15" y="102"/>
                  </a:cubicBezTo>
                  <a:cubicBezTo>
                    <a:pt x="155" y="102"/>
                    <a:pt x="155" y="102"/>
                    <a:pt x="155" y="102"/>
                  </a:cubicBezTo>
                  <a:cubicBezTo>
                    <a:pt x="158" y="102"/>
                    <a:pt x="160" y="100"/>
                    <a:pt x="160" y="97"/>
                  </a:cubicBezTo>
                  <a:cubicBezTo>
                    <a:pt x="154" y="49"/>
                    <a:pt x="154" y="49"/>
                    <a:pt x="154" y="49"/>
                  </a:cubicBezTo>
                  <a:cubicBezTo>
                    <a:pt x="153" y="46"/>
                    <a:pt x="151" y="43"/>
                    <a:pt x="148" y="43"/>
                  </a:cubicBezTo>
                  <a:cubicBezTo>
                    <a:pt x="97" y="43"/>
                    <a:pt x="97" y="43"/>
                    <a:pt x="97" y="43"/>
                  </a:cubicBezTo>
                  <a:cubicBezTo>
                    <a:pt x="97" y="5"/>
                    <a:pt x="97" y="5"/>
                    <a:pt x="97" y="5"/>
                  </a:cubicBezTo>
                  <a:cubicBezTo>
                    <a:pt x="97" y="2"/>
                    <a:pt x="94" y="0"/>
                    <a:pt x="91" y="0"/>
                  </a:cubicBezTo>
                  <a:cubicBezTo>
                    <a:pt x="33" y="0"/>
                    <a:pt x="33" y="0"/>
                    <a:pt x="33" y="0"/>
                  </a:cubicBezTo>
                  <a:cubicBezTo>
                    <a:pt x="30" y="0"/>
                    <a:pt x="28" y="2"/>
                    <a:pt x="28" y="5"/>
                  </a:cubicBezTo>
                  <a:cubicBezTo>
                    <a:pt x="28" y="29"/>
                    <a:pt x="28" y="29"/>
                    <a:pt x="28" y="29"/>
                  </a:cubicBezTo>
                  <a:cubicBezTo>
                    <a:pt x="15" y="29"/>
                    <a:pt x="15" y="29"/>
                    <a:pt x="15" y="29"/>
                  </a:cubicBezTo>
                  <a:cubicBezTo>
                    <a:pt x="7" y="29"/>
                    <a:pt x="0" y="56"/>
                    <a:pt x="0" y="73"/>
                  </a:cubicBezTo>
                  <a:cubicBezTo>
                    <a:pt x="0" y="89"/>
                    <a:pt x="7" y="102"/>
                    <a:pt x="15" y="102"/>
                  </a:cubicBezTo>
                  <a:close/>
                  <a:moveTo>
                    <a:pt x="43" y="20"/>
                  </a:moveTo>
                  <a:cubicBezTo>
                    <a:pt x="43" y="18"/>
                    <a:pt x="45" y="16"/>
                    <a:pt x="48" y="16"/>
                  </a:cubicBezTo>
                  <a:cubicBezTo>
                    <a:pt x="77" y="16"/>
                    <a:pt x="77" y="16"/>
                    <a:pt x="77" y="16"/>
                  </a:cubicBezTo>
                  <a:cubicBezTo>
                    <a:pt x="79" y="16"/>
                    <a:pt x="81" y="18"/>
                    <a:pt x="81" y="20"/>
                  </a:cubicBezTo>
                  <a:cubicBezTo>
                    <a:pt x="81" y="52"/>
                    <a:pt x="81" y="52"/>
                    <a:pt x="81" y="52"/>
                  </a:cubicBezTo>
                  <a:cubicBezTo>
                    <a:pt x="81" y="54"/>
                    <a:pt x="79" y="56"/>
                    <a:pt x="77" y="56"/>
                  </a:cubicBezTo>
                  <a:cubicBezTo>
                    <a:pt x="71" y="56"/>
                    <a:pt x="71" y="56"/>
                    <a:pt x="71" y="56"/>
                  </a:cubicBezTo>
                  <a:cubicBezTo>
                    <a:pt x="69" y="56"/>
                    <a:pt x="66" y="55"/>
                    <a:pt x="64" y="53"/>
                  </a:cubicBezTo>
                  <a:cubicBezTo>
                    <a:pt x="47" y="41"/>
                    <a:pt x="47" y="41"/>
                    <a:pt x="47" y="41"/>
                  </a:cubicBezTo>
                  <a:cubicBezTo>
                    <a:pt x="45" y="39"/>
                    <a:pt x="43" y="36"/>
                    <a:pt x="43" y="34"/>
                  </a:cubicBezTo>
                  <a:lnTo>
                    <a:pt x="4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1"/>
            <p:cNvSpPr>
              <a:spLocks/>
            </p:cNvSpPr>
            <p:nvPr/>
          </p:nvSpPr>
          <p:spPr bwMode="auto">
            <a:xfrm>
              <a:off x="11690350" y="5045075"/>
              <a:ext cx="236538" cy="261938"/>
            </a:xfrm>
            <a:custGeom>
              <a:avLst/>
              <a:gdLst>
                <a:gd name="T0" fmla="*/ 68 w 81"/>
                <a:gd name="T1" fmla="*/ 80 h 90"/>
                <a:gd name="T2" fmla="*/ 48 w 81"/>
                <a:gd name="T3" fmla="*/ 53 h 90"/>
                <a:gd name="T4" fmla="*/ 46 w 81"/>
                <a:gd name="T5" fmla="*/ 16 h 90"/>
                <a:gd name="T6" fmla="*/ 29 w 81"/>
                <a:gd name="T7" fmla="*/ 4 h 90"/>
                <a:gd name="T8" fmla="*/ 15 w 81"/>
                <a:gd name="T9" fmla="*/ 28 h 90"/>
                <a:gd name="T10" fmla="*/ 3 w 81"/>
                <a:gd name="T11" fmla="*/ 65 h 90"/>
                <a:gd name="T12" fmla="*/ 36 w 81"/>
                <a:gd name="T13" fmla="*/ 90 h 90"/>
                <a:gd name="T14" fmla="*/ 81 w 81"/>
                <a:gd name="T15" fmla="*/ 90 h 90"/>
                <a:gd name="T16" fmla="*/ 68 w 81"/>
                <a:gd name="T17" fmla="*/ 8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90">
                  <a:moveTo>
                    <a:pt x="68" y="80"/>
                  </a:moveTo>
                  <a:cubicBezTo>
                    <a:pt x="62" y="78"/>
                    <a:pt x="52" y="63"/>
                    <a:pt x="48" y="53"/>
                  </a:cubicBezTo>
                  <a:cubicBezTo>
                    <a:pt x="45" y="44"/>
                    <a:pt x="46" y="16"/>
                    <a:pt x="46" y="16"/>
                  </a:cubicBezTo>
                  <a:cubicBezTo>
                    <a:pt x="46" y="16"/>
                    <a:pt x="36" y="0"/>
                    <a:pt x="29" y="4"/>
                  </a:cubicBezTo>
                  <a:cubicBezTo>
                    <a:pt x="23" y="7"/>
                    <a:pt x="23" y="25"/>
                    <a:pt x="15" y="28"/>
                  </a:cubicBezTo>
                  <a:cubicBezTo>
                    <a:pt x="7" y="32"/>
                    <a:pt x="0" y="47"/>
                    <a:pt x="3" y="65"/>
                  </a:cubicBezTo>
                  <a:cubicBezTo>
                    <a:pt x="7" y="83"/>
                    <a:pt x="19" y="90"/>
                    <a:pt x="36" y="90"/>
                  </a:cubicBezTo>
                  <a:cubicBezTo>
                    <a:pt x="53" y="90"/>
                    <a:pt x="81" y="90"/>
                    <a:pt x="81" y="90"/>
                  </a:cubicBezTo>
                  <a:cubicBezTo>
                    <a:pt x="81" y="90"/>
                    <a:pt x="73" y="83"/>
                    <a:pt x="68"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2"/>
            <p:cNvSpPr>
              <a:spLocks noEditPoints="1"/>
            </p:cNvSpPr>
            <p:nvPr/>
          </p:nvSpPr>
          <p:spPr bwMode="auto">
            <a:xfrm>
              <a:off x="11187113" y="5184775"/>
              <a:ext cx="477838" cy="122238"/>
            </a:xfrm>
            <a:custGeom>
              <a:avLst/>
              <a:gdLst>
                <a:gd name="T0" fmla="*/ 142 w 164"/>
                <a:gd name="T1" fmla="*/ 0 h 42"/>
                <a:gd name="T2" fmla="*/ 21 w 164"/>
                <a:gd name="T3" fmla="*/ 0 h 42"/>
                <a:gd name="T4" fmla="*/ 0 w 164"/>
                <a:gd name="T5" fmla="*/ 21 h 42"/>
                <a:gd name="T6" fmla="*/ 21 w 164"/>
                <a:gd name="T7" fmla="*/ 42 h 42"/>
                <a:gd name="T8" fmla="*/ 21 w 164"/>
                <a:gd name="T9" fmla="*/ 42 h 42"/>
                <a:gd name="T10" fmla="*/ 142 w 164"/>
                <a:gd name="T11" fmla="*/ 42 h 42"/>
                <a:gd name="T12" fmla="*/ 142 w 164"/>
                <a:gd name="T13" fmla="*/ 42 h 42"/>
                <a:gd name="T14" fmla="*/ 164 w 164"/>
                <a:gd name="T15" fmla="*/ 21 h 42"/>
                <a:gd name="T16" fmla="*/ 142 w 164"/>
                <a:gd name="T17" fmla="*/ 0 h 42"/>
                <a:gd name="T18" fmla="*/ 66 w 164"/>
                <a:gd name="T19" fmla="*/ 26 h 42"/>
                <a:gd name="T20" fmla="*/ 33 w 164"/>
                <a:gd name="T21" fmla="*/ 26 h 42"/>
                <a:gd name="T22" fmla="*/ 34 w 164"/>
                <a:gd name="T23" fmla="*/ 21 h 42"/>
                <a:gd name="T24" fmla="*/ 32 w 164"/>
                <a:gd name="T25" fmla="*/ 15 h 42"/>
                <a:gd name="T26" fmla="*/ 66 w 164"/>
                <a:gd name="T27" fmla="*/ 15 h 42"/>
                <a:gd name="T28" fmla="*/ 65 w 164"/>
                <a:gd name="T29" fmla="*/ 21 h 42"/>
                <a:gd name="T30" fmla="*/ 66 w 164"/>
                <a:gd name="T31" fmla="*/ 26 h 42"/>
                <a:gd name="T32" fmla="*/ 133 w 164"/>
                <a:gd name="T33" fmla="*/ 26 h 42"/>
                <a:gd name="T34" fmla="*/ 98 w 164"/>
                <a:gd name="T35" fmla="*/ 26 h 42"/>
                <a:gd name="T36" fmla="*/ 99 w 164"/>
                <a:gd name="T37" fmla="*/ 21 h 42"/>
                <a:gd name="T38" fmla="*/ 98 w 164"/>
                <a:gd name="T39" fmla="*/ 15 h 42"/>
                <a:gd name="T40" fmla="*/ 133 w 164"/>
                <a:gd name="T41" fmla="*/ 15 h 42"/>
                <a:gd name="T42" fmla="*/ 131 w 164"/>
                <a:gd name="T43" fmla="*/ 21 h 42"/>
                <a:gd name="T44" fmla="*/ 133 w 164"/>
                <a:gd name="T45" fmla="*/ 2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4" h="42">
                  <a:moveTo>
                    <a:pt x="142" y="0"/>
                  </a:moveTo>
                  <a:cubicBezTo>
                    <a:pt x="21" y="0"/>
                    <a:pt x="21" y="0"/>
                    <a:pt x="21" y="0"/>
                  </a:cubicBezTo>
                  <a:cubicBezTo>
                    <a:pt x="9" y="0"/>
                    <a:pt x="0" y="9"/>
                    <a:pt x="0" y="21"/>
                  </a:cubicBezTo>
                  <a:cubicBezTo>
                    <a:pt x="0" y="33"/>
                    <a:pt x="9" y="42"/>
                    <a:pt x="21" y="42"/>
                  </a:cubicBezTo>
                  <a:cubicBezTo>
                    <a:pt x="21" y="42"/>
                    <a:pt x="21" y="42"/>
                    <a:pt x="21" y="42"/>
                  </a:cubicBezTo>
                  <a:cubicBezTo>
                    <a:pt x="142" y="42"/>
                    <a:pt x="142" y="42"/>
                    <a:pt x="142" y="42"/>
                  </a:cubicBezTo>
                  <a:cubicBezTo>
                    <a:pt x="142" y="42"/>
                    <a:pt x="142" y="42"/>
                    <a:pt x="142" y="42"/>
                  </a:cubicBezTo>
                  <a:cubicBezTo>
                    <a:pt x="154" y="42"/>
                    <a:pt x="164" y="33"/>
                    <a:pt x="164" y="21"/>
                  </a:cubicBezTo>
                  <a:cubicBezTo>
                    <a:pt x="164" y="9"/>
                    <a:pt x="154" y="0"/>
                    <a:pt x="142" y="0"/>
                  </a:cubicBezTo>
                  <a:close/>
                  <a:moveTo>
                    <a:pt x="66" y="26"/>
                  </a:moveTo>
                  <a:cubicBezTo>
                    <a:pt x="33" y="26"/>
                    <a:pt x="33" y="26"/>
                    <a:pt x="33" y="26"/>
                  </a:cubicBezTo>
                  <a:cubicBezTo>
                    <a:pt x="33" y="25"/>
                    <a:pt x="34" y="23"/>
                    <a:pt x="34" y="21"/>
                  </a:cubicBezTo>
                  <a:cubicBezTo>
                    <a:pt x="34" y="19"/>
                    <a:pt x="33" y="17"/>
                    <a:pt x="32" y="15"/>
                  </a:cubicBezTo>
                  <a:cubicBezTo>
                    <a:pt x="66" y="15"/>
                    <a:pt x="66" y="15"/>
                    <a:pt x="66" y="15"/>
                  </a:cubicBezTo>
                  <a:cubicBezTo>
                    <a:pt x="65" y="17"/>
                    <a:pt x="65" y="19"/>
                    <a:pt x="65" y="21"/>
                  </a:cubicBezTo>
                  <a:cubicBezTo>
                    <a:pt x="65" y="23"/>
                    <a:pt x="65" y="25"/>
                    <a:pt x="66" y="26"/>
                  </a:cubicBezTo>
                  <a:close/>
                  <a:moveTo>
                    <a:pt x="133" y="26"/>
                  </a:moveTo>
                  <a:cubicBezTo>
                    <a:pt x="98" y="26"/>
                    <a:pt x="98" y="26"/>
                    <a:pt x="98" y="26"/>
                  </a:cubicBezTo>
                  <a:cubicBezTo>
                    <a:pt x="98" y="25"/>
                    <a:pt x="99" y="23"/>
                    <a:pt x="99" y="21"/>
                  </a:cubicBezTo>
                  <a:cubicBezTo>
                    <a:pt x="99" y="19"/>
                    <a:pt x="98" y="17"/>
                    <a:pt x="98" y="15"/>
                  </a:cubicBezTo>
                  <a:cubicBezTo>
                    <a:pt x="133" y="15"/>
                    <a:pt x="133" y="15"/>
                    <a:pt x="133" y="15"/>
                  </a:cubicBezTo>
                  <a:cubicBezTo>
                    <a:pt x="132" y="17"/>
                    <a:pt x="131" y="19"/>
                    <a:pt x="131" y="21"/>
                  </a:cubicBezTo>
                  <a:cubicBezTo>
                    <a:pt x="131" y="23"/>
                    <a:pt x="132" y="25"/>
                    <a:pt x="13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79" name="Freeform 35"/>
          <p:cNvSpPr>
            <a:spLocks noEditPoints="1"/>
          </p:cNvSpPr>
          <p:nvPr userDrawn="1"/>
        </p:nvSpPr>
        <p:spPr bwMode="auto">
          <a:xfrm>
            <a:off x="3191503" y="6195806"/>
            <a:ext cx="314086" cy="314084"/>
          </a:xfrm>
          <a:custGeom>
            <a:avLst/>
            <a:gdLst>
              <a:gd name="T0" fmla="*/ 209 w 418"/>
              <a:gd name="T1" fmla="*/ 105 h 419"/>
              <a:gd name="T2" fmla="*/ 104 w 418"/>
              <a:gd name="T3" fmla="*/ 210 h 419"/>
              <a:gd name="T4" fmla="*/ 209 w 418"/>
              <a:gd name="T5" fmla="*/ 314 h 419"/>
              <a:gd name="T6" fmla="*/ 313 w 418"/>
              <a:gd name="T7" fmla="*/ 210 h 419"/>
              <a:gd name="T8" fmla="*/ 209 w 418"/>
              <a:gd name="T9" fmla="*/ 105 h 419"/>
              <a:gd name="T10" fmla="*/ 356 w 418"/>
              <a:gd name="T11" fmla="*/ 61 h 419"/>
              <a:gd name="T12" fmla="*/ 356 w 418"/>
              <a:gd name="T13" fmla="*/ 90 h 419"/>
              <a:gd name="T14" fmla="*/ 329 w 418"/>
              <a:gd name="T15" fmla="*/ 117 h 419"/>
              <a:gd name="T16" fmla="*/ 300 w 418"/>
              <a:gd name="T17" fmla="*/ 117 h 419"/>
              <a:gd name="T18" fmla="*/ 300 w 418"/>
              <a:gd name="T19" fmla="*/ 88 h 419"/>
              <a:gd name="T20" fmla="*/ 327 w 418"/>
              <a:gd name="T21" fmla="*/ 61 h 419"/>
              <a:gd name="T22" fmla="*/ 356 w 418"/>
              <a:gd name="T23" fmla="*/ 61 h 419"/>
              <a:gd name="T24" fmla="*/ 418 w 418"/>
              <a:gd name="T25" fmla="*/ 209 h 419"/>
              <a:gd name="T26" fmla="*/ 397 w 418"/>
              <a:gd name="T27" fmla="*/ 229 h 419"/>
              <a:gd name="T28" fmla="*/ 360 w 418"/>
              <a:gd name="T29" fmla="*/ 229 h 419"/>
              <a:gd name="T30" fmla="*/ 339 w 418"/>
              <a:gd name="T31" fmla="*/ 209 h 419"/>
              <a:gd name="T32" fmla="*/ 360 w 418"/>
              <a:gd name="T33" fmla="*/ 188 h 419"/>
              <a:gd name="T34" fmla="*/ 397 w 418"/>
              <a:gd name="T35" fmla="*/ 188 h 419"/>
              <a:gd name="T36" fmla="*/ 418 w 418"/>
              <a:gd name="T37" fmla="*/ 209 h 419"/>
              <a:gd name="T38" fmla="*/ 357 w 418"/>
              <a:gd name="T39" fmla="*/ 357 h 419"/>
              <a:gd name="T40" fmla="*/ 328 w 418"/>
              <a:gd name="T41" fmla="*/ 357 h 419"/>
              <a:gd name="T42" fmla="*/ 302 w 418"/>
              <a:gd name="T43" fmla="*/ 330 h 419"/>
              <a:gd name="T44" fmla="*/ 302 w 418"/>
              <a:gd name="T45" fmla="*/ 301 h 419"/>
              <a:gd name="T46" fmla="*/ 331 w 418"/>
              <a:gd name="T47" fmla="*/ 301 h 419"/>
              <a:gd name="T48" fmla="*/ 357 w 418"/>
              <a:gd name="T49" fmla="*/ 328 h 419"/>
              <a:gd name="T50" fmla="*/ 357 w 418"/>
              <a:gd name="T51" fmla="*/ 357 h 419"/>
              <a:gd name="T52" fmla="*/ 210 w 418"/>
              <a:gd name="T53" fmla="*/ 419 h 419"/>
              <a:gd name="T54" fmla="*/ 189 w 418"/>
              <a:gd name="T55" fmla="*/ 398 h 419"/>
              <a:gd name="T56" fmla="*/ 189 w 418"/>
              <a:gd name="T57" fmla="*/ 361 h 419"/>
              <a:gd name="T58" fmla="*/ 210 w 418"/>
              <a:gd name="T59" fmla="*/ 340 h 419"/>
              <a:gd name="T60" fmla="*/ 230 w 418"/>
              <a:gd name="T61" fmla="*/ 361 h 419"/>
              <a:gd name="T62" fmla="*/ 230 w 418"/>
              <a:gd name="T63" fmla="*/ 398 h 419"/>
              <a:gd name="T64" fmla="*/ 210 w 418"/>
              <a:gd name="T65" fmla="*/ 419 h 419"/>
              <a:gd name="T66" fmla="*/ 61 w 418"/>
              <a:gd name="T67" fmla="*/ 358 h 419"/>
              <a:gd name="T68" fmla="*/ 61 w 418"/>
              <a:gd name="T69" fmla="*/ 329 h 419"/>
              <a:gd name="T70" fmla="*/ 88 w 418"/>
              <a:gd name="T71" fmla="*/ 303 h 419"/>
              <a:gd name="T72" fmla="*/ 117 w 418"/>
              <a:gd name="T73" fmla="*/ 303 h 419"/>
              <a:gd name="T74" fmla="*/ 117 w 418"/>
              <a:gd name="T75" fmla="*/ 332 h 419"/>
              <a:gd name="T76" fmla="*/ 90 w 418"/>
              <a:gd name="T77" fmla="*/ 358 h 419"/>
              <a:gd name="T78" fmla="*/ 61 w 418"/>
              <a:gd name="T79" fmla="*/ 358 h 419"/>
              <a:gd name="T80" fmla="*/ 0 w 418"/>
              <a:gd name="T81" fmla="*/ 210 h 419"/>
              <a:gd name="T82" fmla="*/ 20 w 418"/>
              <a:gd name="T83" fmla="*/ 190 h 419"/>
              <a:gd name="T84" fmla="*/ 58 w 418"/>
              <a:gd name="T85" fmla="*/ 190 h 419"/>
              <a:gd name="T86" fmla="*/ 78 w 418"/>
              <a:gd name="T87" fmla="*/ 210 h 419"/>
              <a:gd name="T88" fmla="*/ 58 w 418"/>
              <a:gd name="T89" fmla="*/ 231 h 419"/>
              <a:gd name="T90" fmla="*/ 20 w 418"/>
              <a:gd name="T91" fmla="*/ 231 h 419"/>
              <a:gd name="T92" fmla="*/ 0 w 418"/>
              <a:gd name="T93" fmla="*/ 210 h 419"/>
              <a:gd name="T94" fmla="*/ 60 w 418"/>
              <a:gd name="T95" fmla="*/ 62 h 419"/>
              <a:gd name="T96" fmla="*/ 89 w 418"/>
              <a:gd name="T97" fmla="*/ 62 h 419"/>
              <a:gd name="T98" fmla="*/ 116 w 418"/>
              <a:gd name="T99" fmla="*/ 89 h 419"/>
              <a:gd name="T100" fmla="*/ 116 w 418"/>
              <a:gd name="T101" fmla="*/ 118 h 419"/>
              <a:gd name="T102" fmla="*/ 87 w 418"/>
              <a:gd name="T103" fmla="*/ 118 h 419"/>
              <a:gd name="T104" fmla="*/ 60 w 418"/>
              <a:gd name="T105" fmla="*/ 91 h 419"/>
              <a:gd name="T106" fmla="*/ 60 w 418"/>
              <a:gd name="T107" fmla="*/ 62 h 419"/>
              <a:gd name="T108" fmla="*/ 208 w 418"/>
              <a:gd name="T109" fmla="*/ 0 h 419"/>
              <a:gd name="T110" fmla="*/ 228 w 418"/>
              <a:gd name="T111" fmla="*/ 21 h 419"/>
              <a:gd name="T112" fmla="*/ 228 w 418"/>
              <a:gd name="T113" fmla="*/ 58 h 419"/>
              <a:gd name="T114" fmla="*/ 208 w 418"/>
              <a:gd name="T115" fmla="*/ 79 h 419"/>
              <a:gd name="T116" fmla="*/ 187 w 418"/>
              <a:gd name="T117" fmla="*/ 58 h 419"/>
              <a:gd name="T118" fmla="*/ 187 w 418"/>
              <a:gd name="T119" fmla="*/ 21 h 419"/>
              <a:gd name="T120" fmla="*/ 208 w 418"/>
              <a:gd name="T121" fmla="*/ 0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8" h="419">
                <a:moveTo>
                  <a:pt x="209" y="105"/>
                </a:moveTo>
                <a:cubicBezTo>
                  <a:pt x="151" y="105"/>
                  <a:pt x="104" y="152"/>
                  <a:pt x="104" y="210"/>
                </a:cubicBezTo>
                <a:cubicBezTo>
                  <a:pt x="104" y="267"/>
                  <a:pt x="151" y="314"/>
                  <a:pt x="209" y="314"/>
                </a:cubicBezTo>
                <a:cubicBezTo>
                  <a:pt x="266" y="314"/>
                  <a:pt x="313" y="267"/>
                  <a:pt x="313" y="210"/>
                </a:cubicBezTo>
                <a:cubicBezTo>
                  <a:pt x="313" y="152"/>
                  <a:pt x="266" y="105"/>
                  <a:pt x="209" y="105"/>
                </a:cubicBezTo>
                <a:close/>
                <a:moveTo>
                  <a:pt x="356" y="61"/>
                </a:moveTo>
                <a:cubicBezTo>
                  <a:pt x="364" y="69"/>
                  <a:pt x="364" y="82"/>
                  <a:pt x="356" y="90"/>
                </a:cubicBezTo>
                <a:cubicBezTo>
                  <a:pt x="329" y="117"/>
                  <a:pt x="329" y="117"/>
                  <a:pt x="329" y="117"/>
                </a:cubicBezTo>
                <a:cubicBezTo>
                  <a:pt x="321" y="124"/>
                  <a:pt x="308" y="124"/>
                  <a:pt x="300" y="117"/>
                </a:cubicBezTo>
                <a:cubicBezTo>
                  <a:pt x="293" y="109"/>
                  <a:pt x="293" y="96"/>
                  <a:pt x="300" y="88"/>
                </a:cubicBezTo>
                <a:cubicBezTo>
                  <a:pt x="327" y="61"/>
                  <a:pt x="327" y="61"/>
                  <a:pt x="327" y="61"/>
                </a:cubicBezTo>
                <a:cubicBezTo>
                  <a:pt x="335" y="53"/>
                  <a:pt x="348" y="53"/>
                  <a:pt x="356" y="61"/>
                </a:cubicBezTo>
                <a:close/>
                <a:moveTo>
                  <a:pt x="418" y="209"/>
                </a:moveTo>
                <a:cubicBezTo>
                  <a:pt x="418" y="220"/>
                  <a:pt x="409" y="229"/>
                  <a:pt x="397" y="229"/>
                </a:cubicBezTo>
                <a:cubicBezTo>
                  <a:pt x="360" y="229"/>
                  <a:pt x="360" y="229"/>
                  <a:pt x="360" y="229"/>
                </a:cubicBezTo>
                <a:cubicBezTo>
                  <a:pt x="349" y="229"/>
                  <a:pt x="339" y="220"/>
                  <a:pt x="339" y="209"/>
                </a:cubicBezTo>
                <a:cubicBezTo>
                  <a:pt x="339" y="198"/>
                  <a:pt x="349" y="188"/>
                  <a:pt x="360" y="188"/>
                </a:cubicBezTo>
                <a:cubicBezTo>
                  <a:pt x="397" y="188"/>
                  <a:pt x="397" y="188"/>
                  <a:pt x="397" y="188"/>
                </a:cubicBezTo>
                <a:cubicBezTo>
                  <a:pt x="409" y="188"/>
                  <a:pt x="418" y="197"/>
                  <a:pt x="418" y="209"/>
                </a:cubicBezTo>
                <a:close/>
                <a:moveTo>
                  <a:pt x="357" y="357"/>
                </a:moveTo>
                <a:cubicBezTo>
                  <a:pt x="349" y="365"/>
                  <a:pt x="336" y="365"/>
                  <a:pt x="328" y="357"/>
                </a:cubicBezTo>
                <a:cubicBezTo>
                  <a:pt x="302" y="330"/>
                  <a:pt x="302" y="330"/>
                  <a:pt x="302" y="330"/>
                </a:cubicBezTo>
                <a:cubicBezTo>
                  <a:pt x="294" y="322"/>
                  <a:pt x="294" y="309"/>
                  <a:pt x="302" y="301"/>
                </a:cubicBezTo>
                <a:cubicBezTo>
                  <a:pt x="310" y="293"/>
                  <a:pt x="323" y="293"/>
                  <a:pt x="331" y="301"/>
                </a:cubicBezTo>
                <a:cubicBezTo>
                  <a:pt x="357" y="328"/>
                  <a:pt x="357" y="328"/>
                  <a:pt x="357" y="328"/>
                </a:cubicBezTo>
                <a:cubicBezTo>
                  <a:pt x="365" y="336"/>
                  <a:pt x="365" y="349"/>
                  <a:pt x="357" y="357"/>
                </a:cubicBezTo>
                <a:close/>
                <a:moveTo>
                  <a:pt x="210" y="419"/>
                </a:moveTo>
                <a:cubicBezTo>
                  <a:pt x="198" y="419"/>
                  <a:pt x="189" y="409"/>
                  <a:pt x="189" y="398"/>
                </a:cubicBezTo>
                <a:cubicBezTo>
                  <a:pt x="189" y="361"/>
                  <a:pt x="189" y="361"/>
                  <a:pt x="189" y="361"/>
                </a:cubicBezTo>
                <a:cubicBezTo>
                  <a:pt x="189" y="350"/>
                  <a:pt x="198" y="340"/>
                  <a:pt x="210" y="340"/>
                </a:cubicBezTo>
                <a:cubicBezTo>
                  <a:pt x="221" y="340"/>
                  <a:pt x="230" y="350"/>
                  <a:pt x="230" y="361"/>
                </a:cubicBezTo>
                <a:cubicBezTo>
                  <a:pt x="230" y="398"/>
                  <a:pt x="230" y="398"/>
                  <a:pt x="230" y="398"/>
                </a:cubicBezTo>
                <a:cubicBezTo>
                  <a:pt x="230" y="410"/>
                  <a:pt x="221" y="419"/>
                  <a:pt x="210" y="419"/>
                </a:cubicBezTo>
                <a:close/>
                <a:moveTo>
                  <a:pt x="61" y="358"/>
                </a:moveTo>
                <a:cubicBezTo>
                  <a:pt x="53" y="350"/>
                  <a:pt x="53" y="337"/>
                  <a:pt x="61" y="329"/>
                </a:cubicBezTo>
                <a:cubicBezTo>
                  <a:pt x="88" y="303"/>
                  <a:pt x="88" y="303"/>
                  <a:pt x="88" y="303"/>
                </a:cubicBezTo>
                <a:cubicBezTo>
                  <a:pt x="96" y="295"/>
                  <a:pt x="109" y="295"/>
                  <a:pt x="117" y="303"/>
                </a:cubicBezTo>
                <a:cubicBezTo>
                  <a:pt x="125" y="311"/>
                  <a:pt x="125" y="324"/>
                  <a:pt x="117" y="332"/>
                </a:cubicBezTo>
                <a:cubicBezTo>
                  <a:pt x="90" y="358"/>
                  <a:pt x="90" y="358"/>
                  <a:pt x="90" y="358"/>
                </a:cubicBezTo>
                <a:cubicBezTo>
                  <a:pt x="82" y="366"/>
                  <a:pt x="69" y="366"/>
                  <a:pt x="61" y="358"/>
                </a:cubicBezTo>
                <a:close/>
                <a:moveTo>
                  <a:pt x="0" y="210"/>
                </a:moveTo>
                <a:cubicBezTo>
                  <a:pt x="0" y="199"/>
                  <a:pt x="9" y="190"/>
                  <a:pt x="20" y="190"/>
                </a:cubicBezTo>
                <a:cubicBezTo>
                  <a:pt x="58" y="190"/>
                  <a:pt x="58" y="190"/>
                  <a:pt x="58" y="190"/>
                </a:cubicBezTo>
                <a:cubicBezTo>
                  <a:pt x="69" y="190"/>
                  <a:pt x="78" y="199"/>
                  <a:pt x="78" y="210"/>
                </a:cubicBezTo>
                <a:cubicBezTo>
                  <a:pt x="78" y="222"/>
                  <a:pt x="69" y="231"/>
                  <a:pt x="58" y="231"/>
                </a:cubicBezTo>
                <a:cubicBezTo>
                  <a:pt x="20" y="231"/>
                  <a:pt x="20" y="231"/>
                  <a:pt x="20" y="231"/>
                </a:cubicBezTo>
                <a:cubicBezTo>
                  <a:pt x="9" y="231"/>
                  <a:pt x="0" y="222"/>
                  <a:pt x="0" y="210"/>
                </a:cubicBezTo>
                <a:close/>
                <a:moveTo>
                  <a:pt x="60" y="62"/>
                </a:moveTo>
                <a:cubicBezTo>
                  <a:pt x="68" y="54"/>
                  <a:pt x="81" y="54"/>
                  <a:pt x="89" y="62"/>
                </a:cubicBezTo>
                <a:cubicBezTo>
                  <a:pt x="116" y="89"/>
                  <a:pt x="116" y="89"/>
                  <a:pt x="116" y="89"/>
                </a:cubicBezTo>
                <a:cubicBezTo>
                  <a:pt x="124" y="97"/>
                  <a:pt x="124" y="110"/>
                  <a:pt x="116" y="118"/>
                </a:cubicBezTo>
                <a:cubicBezTo>
                  <a:pt x="108" y="126"/>
                  <a:pt x="95" y="126"/>
                  <a:pt x="87" y="118"/>
                </a:cubicBezTo>
                <a:cubicBezTo>
                  <a:pt x="60" y="91"/>
                  <a:pt x="60" y="91"/>
                  <a:pt x="60" y="91"/>
                </a:cubicBezTo>
                <a:cubicBezTo>
                  <a:pt x="52" y="83"/>
                  <a:pt x="52" y="70"/>
                  <a:pt x="60" y="62"/>
                </a:cubicBezTo>
                <a:close/>
                <a:moveTo>
                  <a:pt x="208" y="0"/>
                </a:moveTo>
                <a:cubicBezTo>
                  <a:pt x="219" y="0"/>
                  <a:pt x="228" y="10"/>
                  <a:pt x="228" y="21"/>
                </a:cubicBezTo>
                <a:cubicBezTo>
                  <a:pt x="228" y="58"/>
                  <a:pt x="228" y="58"/>
                  <a:pt x="228" y="58"/>
                </a:cubicBezTo>
                <a:cubicBezTo>
                  <a:pt x="228" y="70"/>
                  <a:pt x="219" y="79"/>
                  <a:pt x="208" y="79"/>
                </a:cubicBezTo>
                <a:cubicBezTo>
                  <a:pt x="197" y="79"/>
                  <a:pt x="187" y="70"/>
                  <a:pt x="187" y="58"/>
                </a:cubicBezTo>
                <a:cubicBezTo>
                  <a:pt x="187" y="21"/>
                  <a:pt x="187" y="21"/>
                  <a:pt x="187" y="21"/>
                </a:cubicBezTo>
                <a:cubicBezTo>
                  <a:pt x="187" y="10"/>
                  <a:pt x="197" y="0"/>
                  <a:pt x="20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02" name="Group 401"/>
          <p:cNvGrpSpPr/>
          <p:nvPr userDrawn="1"/>
        </p:nvGrpSpPr>
        <p:grpSpPr>
          <a:xfrm>
            <a:off x="3191503" y="4928477"/>
            <a:ext cx="314086" cy="314084"/>
            <a:chOff x="-3122613" y="1201738"/>
            <a:chExt cx="3213101" cy="2951162"/>
          </a:xfrm>
          <a:solidFill>
            <a:schemeClr val="tx1"/>
          </a:solidFill>
        </p:grpSpPr>
        <p:sp>
          <p:nvSpPr>
            <p:cNvPr id="403" name="Oval 42"/>
            <p:cNvSpPr>
              <a:spLocks noChangeArrowheads="1"/>
            </p:cNvSpPr>
            <p:nvPr/>
          </p:nvSpPr>
          <p:spPr bwMode="auto">
            <a:xfrm>
              <a:off x="-1755775" y="2438400"/>
              <a:ext cx="479425" cy="4857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43"/>
            <p:cNvSpPr>
              <a:spLocks/>
            </p:cNvSpPr>
            <p:nvPr/>
          </p:nvSpPr>
          <p:spPr bwMode="auto">
            <a:xfrm>
              <a:off x="-2609850" y="1208088"/>
              <a:ext cx="2187576" cy="2944812"/>
            </a:xfrm>
            <a:custGeom>
              <a:avLst/>
              <a:gdLst>
                <a:gd name="T0" fmla="*/ 278 w 320"/>
                <a:gd name="T1" fmla="*/ 286 h 431"/>
                <a:gd name="T2" fmla="*/ 285 w 320"/>
                <a:gd name="T3" fmla="*/ 337 h 431"/>
                <a:gd name="T4" fmla="*/ 268 w 320"/>
                <a:gd name="T5" fmla="*/ 384 h 431"/>
                <a:gd name="T6" fmla="*/ 195 w 320"/>
                <a:gd name="T7" fmla="*/ 367 h 431"/>
                <a:gd name="T8" fmla="*/ 94 w 320"/>
                <a:gd name="T9" fmla="*/ 258 h 431"/>
                <a:gd name="T10" fmla="*/ 35 w 320"/>
                <a:gd name="T11" fmla="*/ 94 h 431"/>
                <a:gd name="T12" fmla="*/ 52 w 320"/>
                <a:gd name="T13" fmla="*/ 47 h 431"/>
                <a:gd name="T14" fmla="*/ 112 w 320"/>
                <a:gd name="T15" fmla="*/ 56 h 431"/>
                <a:gd name="T16" fmla="*/ 140 w 320"/>
                <a:gd name="T17" fmla="*/ 32 h 431"/>
                <a:gd name="T18" fmla="*/ 33 w 320"/>
                <a:gd name="T19" fmla="*/ 17 h 431"/>
                <a:gd name="T20" fmla="*/ 0 w 320"/>
                <a:gd name="T21" fmla="*/ 94 h 431"/>
                <a:gd name="T22" fmla="*/ 64 w 320"/>
                <a:gd name="T23" fmla="*/ 277 h 431"/>
                <a:gd name="T24" fmla="*/ 176 w 320"/>
                <a:gd name="T25" fmla="*/ 396 h 431"/>
                <a:gd name="T26" fmla="*/ 287 w 320"/>
                <a:gd name="T27" fmla="*/ 413 h 431"/>
                <a:gd name="T28" fmla="*/ 320 w 320"/>
                <a:gd name="T29" fmla="*/ 337 h 431"/>
                <a:gd name="T30" fmla="*/ 301 w 320"/>
                <a:gd name="T31" fmla="*/ 244 h 431"/>
                <a:gd name="T32" fmla="*/ 278 w 320"/>
                <a:gd name="T33" fmla="*/ 286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0" h="431">
                  <a:moveTo>
                    <a:pt x="278" y="286"/>
                  </a:moveTo>
                  <a:cubicBezTo>
                    <a:pt x="282" y="304"/>
                    <a:pt x="285" y="322"/>
                    <a:pt x="285" y="337"/>
                  </a:cubicBezTo>
                  <a:cubicBezTo>
                    <a:pt x="285" y="350"/>
                    <a:pt x="283" y="374"/>
                    <a:pt x="268" y="384"/>
                  </a:cubicBezTo>
                  <a:cubicBezTo>
                    <a:pt x="253" y="393"/>
                    <a:pt x="226" y="387"/>
                    <a:pt x="195" y="367"/>
                  </a:cubicBezTo>
                  <a:cubicBezTo>
                    <a:pt x="160" y="343"/>
                    <a:pt x="124" y="304"/>
                    <a:pt x="94" y="258"/>
                  </a:cubicBezTo>
                  <a:cubicBezTo>
                    <a:pt x="57" y="200"/>
                    <a:pt x="35" y="139"/>
                    <a:pt x="35" y="94"/>
                  </a:cubicBezTo>
                  <a:cubicBezTo>
                    <a:pt x="35" y="80"/>
                    <a:pt x="37" y="56"/>
                    <a:pt x="52" y="47"/>
                  </a:cubicBezTo>
                  <a:cubicBezTo>
                    <a:pt x="65" y="39"/>
                    <a:pt x="87" y="42"/>
                    <a:pt x="112" y="56"/>
                  </a:cubicBezTo>
                  <a:cubicBezTo>
                    <a:pt x="122" y="48"/>
                    <a:pt x="131" y="39"/>
                    <a:pt x="140" y="32"/>
                  </a:cubicBezTo>
                  <a:cubicBezTo>
                    <a:pt x="98" y="5"/>
                    <a:pt x="60" y="0"/>
                    <a:pt x="33" y="17"/>
                  </a:cubicBezTo>
                  <a:cubicBezTo>
                    <a:pt x="18" y="27"/>
                    <a:pt x="0" y="48"/>
                    <a:pt x="0" y="94"/>
                  </a:cubicBezTo>
                  <a:cubicBezTo>
                    <a:pt x="0" y="145"/>
                    <a:pt x="24" y="214"/>
                    <a:pt x="64" y="277"/>
                  </a:cubicBezTo>
                  <a:cubicBezTo>
                    <a:pt x="97" y="328"/>
                    <a:pt x="137" y="370"/>
                    <a:pt x="176" y="396"/>
                  </a:cubicBezTo>
                  <a:cubicBezTo>
                    <a:pt x="220" y="425"/>
                    <a:pt x="259" y="431"/>
                    <a:pt x="287" y="413"/>
                  </a:cubicBezTo>
                  <a:cubicBezTo>
                    <a:pt x="302" y="404"/>
                    <a:pt x="320" y="382"/>
                    <a:pt x="320" y="337"/>
                  </a:cubicBezTo>
                  <a:cubicBezTo>
                    <a:pt x="320" y="310"/>
                    <a:pt x="313" y="278"/>
                    <a:pt x="301" y="244"/>
                  </a:cubicBezTo>
                  <a:cubicBezTo>
                    <a:pt x="294" y="259"/>
                    <a:pt x="286" y="272"/>
                    <a:pt x="278" y="2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44"/>
            <p:cNvSpPr>
              <a:spLocks/>
            </p:cNvSpPr>
            <p:nvPr/>
          </p:nvSpPr>
          <p:spPr bwMode="auto">
            <a:xfrm>
              <a:off x="-1400175" y="1795463"/>
              <a:ext cx="512763" cy="711200"/>
            </a:xfrm>
            <a:custGeom>
              <a:avLst/>
              <a:gdLst>
                <a:gd name="T0" fmla="*/ 27 w 75"/>
                <a:gd name="T1" fmla="*/ 0 h 104"/>
                <a:gd name="T2" fmla="*/ 0 w 75"/>
                <a:gd name="T3" fmla="*/ 23 h 104"/>
                <a:gd name="T4" fmla="*/ 49 w 75"/>
                <a:gd name="T5" fmla="*/ 87 h 104"/>
                <a:gd name="T6" fmla="*/ 59 w 75"/>
                <a:gd name="T7" fmla="*/ 104 h 104"/>
                <a:gd name="T8" fmla="*/ 75 w 75"/>
                <a:gd name="T9" fmla="*/ 62 h 104"/>
                <a:gd name="T10" fmla="*/ 27 w 75"/>
                <a:gd name="T11" fmla="*/ 0 h 104"/>
              </a:gdLst>
              <a:ahLst/>
              <a:cxnLst>
                <a:cxn ang="0">
                  <a:pos x="T0" y="T1"/>
                </a:cxn>
                <a:cxn ang="0">
                  <a:pos x="T2" y="T3"/>
                </a:cxn>
                <a:cxn ang="0">
                  <a:pos x="T4" y="T5"/>
                </a:cxn>
                <a:cxn ang="0">
                  <a:pos x="T6" y="T7"/>
                </a:cxn>
                <a:cxn ang="0">
                  <a:pos x="T8" y="T9"/>
                </a:cxn>
                <a:cxn ang="0">
                  <a:pos x="T10" y="T11"/>
                </a:cxn>
              </a:cxnLst>
              <a:rect l="0" t="0" r="r" b="b"/>
              <a:pathLst>
                <a:path w="75" h="104">
                  <a:moveTo>
                    <a:pt x="27" y="0"/>
                  </a:moveTo>
                  <a:cubicBezTo>
                    <a:pt x="18" y="7"/>
                    <a:pt x="9" y="14"/>
                    <a:pt x="0" y="23"/>
                  </a:cubicBezTo>
                  <a:cubicBezTo>
                    <a:pt x="17" y="41"/>
                    <a:pt x="34" y="63"/>
                    <a:pt x="49" y="87"/>
                  </a:cubicBezTo>
                  <a:cubicBezTo>
                    <a:pt x="53" y="93"/>
                    <a:pt x="56" y="98"/>
                    <a:pt x="59" y="104"/>
                  </a:cubicBezTo>
                  <a:cubicBezTo>
                    <a:pt x="66" y="90"/>
                    <a:pt x="71" y="76"/>
                    <a:pt x="75" y="62"/>
                  </a:cubicBezTo>
                  <a:cubicBezTo>
                    <a:pt x="60" y="40"/>
                    <a:pt x="44" y="19"/>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45"/>
            <p:cNvSpPr>
              <a:spLocks/>
            </p:cNvSpPr>
            <p:nvPr/>
          </p:nvSpPr>
          <p:spPr bwMode="auto">
            <a:xfrm>
              <a:off x="-2144713" y="1201738"/>
              <a:ext cx="1722438" cy="2357437"/>
            </a:xfrm>
            <a:custGeom>
              <a:avLst/>
              <a:gdLst>
                <a:gd name="T0" fmla="*/ 108 w 252"/>
                <a:gd name="T1" fmla="*/ 35 h 345"/>
                <a:gd name="T2" fmla="*/ 0 w 252"/>
                <a:gd name="T3" fmla="*/ 149 h 345"/>
                <a:gd name="T4" fmla="*/ 16 w 252"/>
                <a:gd name="T5" fmla="*/ 191 h 345"/>
                <a:gd name="T6" fmla="*/ 26 w 252"/>
                <a:gd name="T7" fmla="*/ 174 h 345"/>
                <a:gd name="T8" fmla="*/ 127 w 252"/>
                <a:gd name="T9" fmla="*/ 65 h 345"/>
                <a:gd name="T10" fmla="*/ 200 w 252"/>
                <a:gd name="T11" fmla="*/ 48 h 345"/>
                <a:gd name="T12" fmla="*/ 217 w 252"/>
                <a:gd name="T13" fmla="*/ 95 h 345"/>
                <a:gd name="T14" fmla="*/ 217 w 252"/>
                <a:gd name="T15" fmla="*/ 95 h 345"/>
                <a:gd name="T16" fmla="*/ 158 w 252"/>
                <a:gd name="T17" fmla="*/ 259 h 345"/>
                <a:gd name="T18" fmla="*/ 109 w 252"/>
                <a:gd name="T19" fmla="*/ 323 h 345"/>
                <a:gd name="T20" fmla="*/ 136 w 252"/>
                <a:gd name="T21" fmla="*/ 345 h 345"/>
                <a:gd name="T22" fmla="*/ 188 w 252"/>
                <a:gd name="T23" fmla="*/ 278 h 345"/>
                <a:gd name="T24" fmla="*/ 252 w 252"/>
                <a:gd name="T25" fmla="*/ 95 h 345"/>
                <a:gd name="T26" fmla="*/ 252 w 252"/>
                <a:gd name="T27" fmla="*/ 95 h 345"/>
                <a:gd name="T28" fmla="*/ 219 w 252"/>
                <a:gd name="T29" fmla="*/ 18 h 345"/>
                <a:gd name="T30" fmla="*/ 108 w 252"/>
                <a:gd name="T31" fmla="*/ 35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2" h="345">
                  <a:moveTo>
                    <a:pt x="108" y="35"/>
                  </a:moveTo>
                  <a:cubicBezTo>
                    <a:pt x="70" y="61"/>
                    <a:pt x="32" y="101"/>
                    <a:pt x="0" y="149"/>
                  </a:cubicBezTo>
                  <a:cubicBezTo>
                    <a:pt x="4" y="163"/>
                    <a:pt x="9" y="177"/>
                    <a:pt x="16" y="191"/>
                  </a:cubicBezTo>
                  <a:cubicBezTo>
                    <a:pt x="19" y="185"/>
                    <a:pt x="22" y="180"/>
                    <a:pt x="26" y="174"/>
                  </a:cubicBezTo>
                  <a:cubicBezTo>
                    <a:pt x="56" y="127"/>
                    <a:pt x="92" y="88"/>
                    <a:pt x="127" y="65"/>
                  </a:cubicBezTo>
                  <a:cubicBezTo>
                    <a:pt x="158" y="45"/>
                    <a:pt x="185" y="38"/>
                    <a:pt x="200" y="48"/>
                  </a:cubicBezTo>
                  <a:cubicBezTo>
                    <a:pt x="215" y="57"/>
                    <a:pt x="217" y="81"/>
                    <a:pt x="217" y="95"/>
                  </a:cubicBezTo>
                  <a:cubicBezTo>
                    <a:pt x="217" y="95"/>
                    <a:pt x="217" y="95"/>
                    <a:pt x="217" y="95"/>
                  </a:cubicBezTo>
                  <a:cubicBezTo>
                    <a:pt x="217" y="140"/>
                    <a:pt x="195" y="201"/>
                    <a:pt x="158" y="259"/>
                  </a:cubicBezTo>
                  <a:cubicBezTo>
                    <a:pt x="143" y="282"/>
                    <a:pt x="126" y="304"/>
                    <a:pt x="109" y="323"/>
                  </a:cubicBezTo>
                  <a:cubicBezTo>
                    <a:pt x="118" y="331"/>
                    <a:pt x="127" y="339"/>
                    <a:pt x="136" y="345"/>
                  </a:cubicBezTo>
                  <a:cubicBezTo>
                    <a:pt x="154" y="325"/>
                    <a:pt x="172" y="302"/>
                    <a:pt x="188" y="278"/>
                  </a:cubicBezTo>
                  <a:cubicBezTo>
                    <a:pt x="228" y="215"/>
                    <a:pt x="252" y="146"/>
                    <a:pt x="252" y="95"/>
                  </a:cubicBezTo>
                  <a:cubicBezTo>
                    <a:pt x="252" y="95"/>
                    <a:pt x="252" y="95"/>
                    <a:pt x="252" y="95"/>
                  </a:cubicBezTo>
                  <a:cubicBezTo>
                    <a:pt x="252" y="49"/>
                    <a:pt x="234" y="28"/>
                    <a:pt x="219" y="18"/>
                  </a:cubicBezTo>
                  <a:cubicBezTo>
                    <a:pt x="191" y="0"/>
                    <a:pt x="152" y="7"/>
                    <a:pt x="108"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46"/>
            <p:cNvSpPr>
              <a:spLocks/>
            </p:cNvSpPr>
            <p:nvPr/>
          </p:nvSpPr>
          <p:spPr bwMode="auto">
            <a:xfrm>
              <a:off x="-360362" y="2165350"/>
              <a:ext cx="450850" cy="1031875"/>
            </a:xfrm>
            <a:custGeom>
              <a:avLst/>
              <a:gdLst>
                <a:gd name="T0" fmla="*/ 31 w 66"/>
                <a:gd name="T1" fmla="*/ 75 h 151"/>
                <a:gd name="T2" fmla="*/ 0 w 66"/>
                <a:gd name="T3" fmla="*/ 115 h 151"/>
                <a:gd name="T4" fmla="*/ 10 w 66"/>
                <a:gd name="T5" fmla="*/ 151 h 151"/>
                <a:gd name="T6" fmla="*/ 66 w 66"/>
                <a:gd name="T7" fmla="*/ 75 h 151"/>
                <a:gd name="T8" fmla="*/ 10 w 66"/>
                <a:gd name="T9" fmla="*/ 0 h 151"/>
                <a:gd name="T10" fmla="*/ 0 w 66"/>
                <a:gd name="T11" fmla="*/ 36 h 151"/>
                <a:gd name="T12" fmla="*/ 31 w 66"/>
                <a:gd name="T13" fmla="*/ 75 h 151"/>
              </a:gdLst>
              <a:ahLst/>
              <a:cxnLst>
                <a:cxn ang="0">
                  <a:pos x="T0" y="T1"/>
                </a:cxn>
                <a:cxn ang="0">
                  <a:pos x="T2" y="T3"/>
                </a:cxn>
                <a:cxn ang="0">
                  <a:pos x="T4" y="T5"/>
                </a:cxn>
                <a:cxn ang="0">
                  <a:pos x="T6" y="T7"/>
                </a:cxn>
                <a:cxn ang="0">
                  <a:pos x="T8" y="T9"/>
                </a:cxn>
                <a:cxn ang="0">
                  <a:pos x="T10" y="T11"/>
                </a:cxn>
                <a:cxn ang="0">
                  <a:pos x="T12" y="T13"/>
                </a:cxn>
              </a:cxnLst>
              <a:rect l="0" t="0" r="r" b="b"/>
              <a:pathLst>
                <a:path w="66" h="151">
                  <a:moveTo>
                    <a:pt x="31" y="75"/>
                  </a:moveTo>
                  <a:cubicBezTo>
                    <a:pt x="31" y="88"/>
                    <a:pt x="20" y="103"/>
                    <a:pt x="0" y="115"/>
                  </a:cubicBezTo>
                  <a:cubicBezTo>
                    <a:pt x="4" y="127"/>
                    <a:pt x="7" y="139"/>
                    <a:pt x="10" y="151"/>
                  </a:cubicBezTo>
                  <a:cubicBezTo>
                    <a:pt x="46" y="130"/>
                    <a:pt x="66" y="104"/>
                    <a:pt x="66" y="75"/>
                  </a:cubicBezTo>
                  <a:cubicBezTo>
                    <a:pt x="66" y="47"/>
                    <a:pt x="46" y="20"/>
                    <a:pt x="10" y="0"/>
                  </a:cubicBezTo>
                  <a:cubicBezTo>
                    <a:pt x="7" y="12"/>
                    <a:pt x="4" y="23"/>
                    <a:pt x="0" y="36"/>
                  </a:cubicBezTo>
                  <a:cubicBezTo>
                    <a:pt x="20" y="48"/>
                    <a:pt x="31" y="62"/>
                    <a:pt x="31"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8" name="Freeform 47"/>
            <p:cNvSpPr>
              <a:spLocks/>
            </p:cNvSpPr>
            <p:nvPr/>
          </p:nvSpPr>
          <p:spPr bwMode="auto">
            <a:xfrm>
              <a:off x="-3122613" y="2165350"/>
              <a:ext cx="450850" cy="1031875"/>
            </a:xfrm>
            <a:custGeom>
              <a:avLst/>
              <a:gdLst>
                <a:gd name="T0" fmla="*/ 35 w 66"/>
                <a:gd name="T1" fmla="*/ 75 h 151"/>
                <a:gd name="T2" fmla="*/ 66 w 66"/>
                <a:gd name="T3" fmla="*/ 36 h 151"/>
                <a:gd name="T4" fmla="*/ 56 w 66"/>
                <a:gd name="T5" fmla="*/ 0 h 151"/>
                <a:gd name="T6" fmla="*/ 0 w 66"/>
                <a:gd name="T7" fmla="*/ 75 h 151"/>
                <a:gd name="T8" fmla="*/ 56 w 66"/>
                <a:gd name="T9" fmla="*/ 151 h 151"/>
                <a:gd name="T10" fmla="*/ 65 w 66"/>
                <a:gd name="T11" fmla="*/ 115 h 151"/>
                <a:gd name="T12" fmla="*/ 35 w 66"/>
                <a:gd name="T13" fmla="*/ 75 h 151"/>
              </a:gdLst>
              <a:ahLst/>
              <a:cxnLst>
                <a:cxn ang="0">
                  <a:pos x="T0" y="T1"/>
                </a:cxn>
                <a:cxn ang="0">
                  <a:pos x="T2" y="T3"/>
                </a:cxn>
                <a:cxn ang="0">
                  <a:pos x="T4" y="T5"/>
                </a:cxn>
                <a:cxn ang="0">
                  <a:pos x="T6" y="T7"/>
                </a:cxn>
                <a:cxn ang="0">
                  <a:pos x="T8" y="T9"/>
                </a:cxn>
                <a:cxn ang="0">
                  <a:pos x="T10" y="T11"/>
                </a:cxn>
                <a:cxn ang="0">
                  <a:pos x="T12" y="T13"/>
                </a:cxn>
              </a:cxnLst>
              <a:rect l="0" t="0" r="r" b="b"/>
              <a:pathLst>
                <a:path w="66" h="151">
                  <a:moveTo>
                    <a:pt x="35" y="75"/>
                  </a:moveTo>
                  <a:cubicBezTo>
                    <a:pt x="35" y="62"/>
                    <a:pt x="46" y="48"/>
                    <a:pt x="66" y="36"/>
                  </a:cubicBezTo>
                  <a:cubicBezTo>
                    <a:pt x="62" y="23"/>
                    <a:pt x="59" y="12"/>
                    <a:pt x="56" y="0"/>
                  </a:cubicBezTo>
                  <a:cubicBezTo>
                    <a:pt x="20" y="20"/>
                    <a:pt x="0" y="47"/>
                    <a:pt x="0" y="75"/>
                  </a:cubicBezTo>
                  <a:cubicBezTo>
                    <a:pt x="0" y="104"/>
                    <a:pt x="20" y="130"/>
                    <a:pt x="56" y="151"/>
                  </a:cubicBezTo>
                  <a:cubicBezTo>
                    <a:pt x="59" y="139"/>
                    <a:pt x="62" y="127"/>
                    <a:pt x="65" y="115"/>
                  </a:cubicBezTo>
                  <a:cubicBezTo>
                    <a:pt x="46" y="103"/>
                    <a:pt x="35" y="88"/>
                    <a:pt x="35"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48"/>
            <p:cNvSpPr>
              <a:spLocks/>
            </p:cNvSpPr>
            <p:nvPr/>
          </p:nvSpPr>
          <p:spPr bwMode="auto">
            <a:xfrm>
              <a:off x="-2609850" y="2882900"/>
              <a:ext cx="957263" cy="1270000"/>
            </a:xfrm>
            <a:custGeom>
              <a:avLst/>
              <a:gdLst>
                <a:gd name="T0" fmla="*/ 112 w 140"/>
                <a:gd name="T1" fmla="*/ 129 h 186"/>
                <a:gd name="T2" fmla="*/ 52 w 140"/>
                <a:gd name="T3" fmla="*/ 139 h 186"/>
                <a:gd name="T4" fmla="*/ 35 w 140"/>
                <a:gd name="T5" fmla="*/ 92 h 186"/>
                <a:gd name="T6" fmla="*/ 42 w 140"/>
                <a:gd name="T7" fmla="*/ 41 h 186"/>
                <a:gd name="T8" fmla="*/ 19 w 140"/>
                <a:gd name="T9" fmla="*/ 0 h 186"/>
                <a:gd name="T10" fmla="*/ 0 w 140"/>
                <a:gd name="T11" fmla="*/ 92 h 186"/>
                <a:gd name="T12" fmla="*/ 33 w 140"/>
                <a:gd name="T13" fmla="*/ 168 h 186"/>
                <a:gd name="T14" fmla="*/ 140 w 140"/>
                <a:gd name="T15" fmla="*/ 154 h 186"/>
                <a:gd name="T16" fmla="*/ 112 w 140"/>
                <a:gd name="T17" fmla="*/ 12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 h="186">
                  <a:moveTo>
                    <a:pt x="112" y="129"/>
                  </a:moveTo>
                  <a:cubicBezTo>
                    <a:pt x="87" y="143"/>
                    <a:pt x="65" y="147"/>
                    <a:pt x="52" y="139"/>
                  </a:cubicBezTo>
                  <a:cubicBezTo>
                    <a:pt x="37" y="129"/>
                    <a:pt x="35" y="105"/>
                    <a:pt x="35" y="92"/>
                  </a:cubicBezTo>
                  <a:cubicBezTo>
                    <a:pt x="35" y="77"/>
                    <a:pt x="38" y="59"/>
                    <a:pt x="42" y="41"/>
                  </a:cubicBezTo>
                  <a:cubicBezTo>
                    <a:pt x="34" y="27"/>
                    <a:pt x="26" y="14"/>
                    <a:pt x="19" y="0"/>
                  </a:cubicBezTo>
                  <a:cubicBezTo>
                    <a:pt x="7" y="33"/>
                    <a:pt x="0" y="65"/>
                    <a:pt x="0" y="92"/>
                  </a:cubicBezTo>
                  <a:cubicBezTo>
                    <a:pt x="0" y="137"/>
                    <a:pt x="18" y="159"/>
                    <a:pt x="33" y="168"/>
                  </a:cubicBezTo>
                  <a:cubicBezTo>
                    <a:pt x="60" y="186"/>
                    <a:pt x="98" y="180"/>
                    <a:pt x="140" y="154"/>
                  </a:cubicBezTo>
                  <a:cubicBezTo>
                    <a:pt x="131" y="146"/>
                    <a:pt x="122" y="138"/>
                    <a:pt x="112" y="1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16" name="Freeform 92"/>
          <p:cNvSpPr>
            <a:spLocks noEditPoints="1"/>
          </p:cNvSpPr>
          <p:nvPr userDrawn="1"/>
        </p:nvSpPr>
        <p:spPr bwMode="auto">
          <a:xfrm>
            <a:off x="3191503" y="5563417"/>
            <a:ext cx="314086" cy="314084"/>
          </a:xfrm>
          <a:custGeom>
            <a:avLst/>
            <a:gdLst>
              <a:gd name="T0" fmla="*/ 118 w 274"/>
              <a:gd name="T1" fmla="*/ 36 h 225"/>
              <a:gd name="T2" fmla="*/ 25 w 274"/>
              <a:gd name="T3" fmla="*/ 0 h 225"/>
              <a:gd name="T4" fmla="*/ 71 w 274"/>
              <a:gd name="T5" fmla="*/ 159 h 225"/>
              <a:gd name="T6" fmla="*/ 75 w 274"/>
              <a:gd name="T7" fmla="*/ 88 h 225"/>
              <a:gd name="T8" fmla="*/ 118 w 274"/>
              <a:gd name="T9" fmla="*/ 36 h 225"/>
              <a:gd name="T10" fmla="*/ 232 w 274"/>
              <a:gd name="T11" fmla="*/ 12 h 225"/>
              <a:gd name="T12" fmla="*/ 90 w 274"/>
              <a:gd name="T13" fmla="*/ 159 h 225"/>
              <a:gd name="T14" fmla="*/ 182 w 274"/>
              <a:gd name="T15" fmla="*/ 69 h 225"/>
              <a:gd name="T16" fmla="*/ 104 w 274"/>
              <a:gd name="T17" fmla="*/ 190 h 225"/>
              <a:gd name="T18" fmla="*/ 93 w 274"/>
              <a:gd name="T19" fmla="*/ 225 h 225"/>
              <a:gd name="T20" fmla="*/ 118 w 274"/>
              <a:gd name="T21" fmla="*/ 225 h 225"/>
              <a:gd name="T22" fmla="*/ 129 w 274"/>
              <a:gd name="T23" fmla="*/ 205 h 225"/>
              <a:gd name="T24" fmla="*/ 232 w 274"/>
              <a:gd name="T25" fmla="*/ 1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225">
                <a:moveTo>
                  <a:pt x="118" y="36"/>
                </a:moveTo>
                <a:cubicBezTo>
                  <a:pt x="98" y="21"/>
                  <a:pt x="69" y="8"/>
                  <a:pt x="25" y="0"/>
                </a:cubicBezTo>
                <a:cubicBezTo>
                  <a:pt x="0" y="106"/>
                  <a:pt x="35" y="145"/>
                  <a:pt x="71" y="159"/>
                </a:cubicBezTo>
                <a:cubicBezTo>
                  <a:pt x="66" y="138"/>
                  <a:pt x="65" y="113"/>
                  <a:pt x="75" y="88"/>
                </a:cubicBezTo>
                <a:cubicBezTo>
                  <a:pt x="83" y="68"/>
                  <a:pt x="98" y="50"/>
                  <a:pt x="118" y="36"/>
                </a:cubicBezTo>
                <a:close/>
                <a:moveTo>
                  <a:pt x="232" y="12"/>
                </a:moveTo>
                <a:cubicBezTo>
                  <a:pt x="85" y="40"/>
                  <a:pt x="77" y="112"/>
                  <a:pt x="90" y="159"/>
                </a:cubicBezTo>
                <a:cubicBezTo>
                  <a:pt x="125" y="69"/>
                  <a:pt x="182" y="69"/>
                  <a:pt x="182" y="69"/>
                </a:cubicBezTo>
                <a:cubicBezTo>
                  <a:pt x="136" y="112"/>
                  <a:pt x="117" y="156"/>
                  <a:pt x="104" y="190"/>
                </a:cubicBezTo>
                <a:cubicBezTo>
                  <a:pt x="101" y="198"/>
                  <a:pt x="97" y="210"/>
                  <a:pt x="93" y="225"/>
                </a:cubicBezTo>
                <a:cubicBezTo>
                  <a:pt x="118" y="225"/>
                  <a:pt x="118" y="225"/>
                  <a:pt x="118" y="225"/>
                </a:cubicBezTo>
                <a:cubicBezTo>
                  <a:pt x="118" y="225"/>
                  <a:pt x="126" y="216"/>
                  <a:pt x="129" y="205"/>
                </a:cubicBezTo>
                <a:cubicBezTo>
                  <a:pt x="174" y="205"/>
                  <a:pt x="274" y="186"/>
                  <a:pt x="232"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00" name="Group 499"/>
          <p:cNvGrpSpPr/>
          <p:nvPr userDrawn="1"/>
        </p:nvGrpSpPr>
        <p:grpSpPr>
          <a:xfrm>
            <a:off x="3191503" y="6759506"/>
            <a:ext cx="314086" cy="314084"/>
            <a:chOff x="11245377" y="-3667124"/>
            <a:chExt cx="3375025" cy="3275012"/>
          </a:xfrm>
          <a:solidFill>
            <a:schemeClr val="tx1"/>
          </a:solidFill>
        </p:grpSpPr>
        <p:sp>
          <p:nvSpPr>
            <p:cNvPr id="501" name="Freeform 12"/>
            <p:cNvSpPr>
              <a:spLocks/>
            </p:cNvSpPr>
            <p:nvPr/>
          </p:nvSpPr>
          <p:spPr bwMode="auto">
            <a:xfrm>
              <a:off x="12485215" y="-1423987"/>
              <a:ext cx="962025" cy="1031875"/>
            </a:xfrm>
            <a:custGeom>
              <a:avLst/>
              <a:gdLst>
                <a:gd name="T0" fmla="*/ 70 w 101"/>
                <a:gd name="T1" fmla="*/ 99 h 108"/>
                <a:gd name="T2" fmla="*/ 69 w 101"/>
                <a:gd name="T3" fmla="*/ 68 h 108"/>
                <a:gd name="T4" fmla="*/ 101 w 101"/>
                <a:gd name="T5" fmla="*/ 26 h 108"/>
                <a:gd name="T6" fmla="*/ 86 w 101"/>
                <a:gd name="T7" fmla="*/ 18 h 108"/>
                <a:gd name="T8" fmla="*/ 68 w 101"/>
                <a:gd name="T9" fmla="*/ 37 h 108"/>
                <a:gd name="T10" fmla="*/ 67 w 101"/>
                <a:gd name="T11" fmla="*/ 0 h 108"/>
                <a:gd name="T12" fmla="*/ 44 w 101"/>
                <a:gd name="T13" fmla="*/ 3 h 108"/>
                <a:gd name="T14" fmla="*/ 26 w 101"/>
                <a:gd name="T15" fmla="*/ 1 h 108"/>
                <a:gd name="T16" fmla="*/ 26 w 101"/>
                <a:gd name="T17" fmla="*/ 19 h 108"/>
                <a:gd name="T18" fmla="*/ 16 w 101"/>
                <a:gd name="T19" fmla="*/ 9 h 108"/>
                <a:gd name="T20" fmla="*/ 12 w 101"/>
                <a:gd name="T21" fmla="*/ 12 h 108"/>
                <a:gd name="T22" fmla="*/ 0 w 101"/>
                <a:gd name="T23" fmla="*/ 18 h 108"/>
                <a:gd name="T24" fmla="*/ 25 w 101"/>
                <a:gd name="T25" fmla="*/ 45 h 108"/>
                <a:gd name="T26" fmla="*/ 25 w 101"/>
                <a:gd name="T27" fmla="*/ 100 h 108"/>
                <a:gd name="T28" fmla="*/ 12 w 101"/>
                <a:gd name="T29" fmla="*/ 108 h 108"/>
                <a:gd name="T30" fmla="*/ 80 w 101"/>
                <a:gd name="T31" fmla="*/ 108 h 108"/>
                <a:gd name="T32" fmla="*/ 70 w 101"/>
                <a:gd name="T33" fmla="*/ 9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1" h="108">
                  <a:moveTo>
                    <a:pt x="70" y="99"/>
                  </a:moveTo>
                  <a:cubicBezTo>
                    <a:pt x="69" y="68"/>
                    <a:pt x="69" y="68"/>
                    <a:pt x="69" y="68"/>
                  </a:cubicBezTo>
                  <a:cubicBezTo>
                    <a:pt x="101" y="26"/>
                    <a:pt x="101" y="26"/>
                    <a:pt x="101" y="26"/>
                  </a:cubicBezTo>
                  <a:cubicBezTo>
                    <a:pt x="95" y="24"/>
                    <a:pt x="90" y="21"/>
                    <a:pt x="86" y="18"/>
                  </a:cubicBezTo>
                  <a:cubicBezTo>
                    <a:pt x="68" y="37"/>
                    <a:pt x="68" y="37"/>
                    <a:pt x="68" y="37"/>
                  </a:cubicBezTo>
                  <a:cubicBezTo>
                    <a:pt x="67" y="0"/>
                    <a:pt x="67" y="0"/>
                    <a:pt x="67" y="0"/>
                  </a:cubicBezTo>
                  <a:cubicBezTo>
                    <a:pt x="59" y="2"/>
                    <a:pt x="52" y="3"/>
                    <a:pt x="44" y="3"/>
                  </a:cubicBezTo>
                  <a:cubicBezTo>
                    <a:pt x="38" y="3"/>
                    <a:pt x="32" y="2"/>
                    <a:pt x="26" y="1"/>
                  </a:cubicBezTo>
                  <a:cubicBezTo>
                    <a:pt x="26" y="19"/>
                    <a:pt x="26" y="19"/>
                    <a:pt x="26" y="19"/>
                  </a:cubicBezTo>
                  <a:cubicBezTo>
                    <a:pt x="16" y="9"/>
                    <a:pt x="16" y="9"/>
                    <a:pt x="16" y="9"/>
                  </a:cubicBezTo>
                  <a:cubicBezTo>
                    <a:pt x="15" y="10"/>
                    <a:pt x="13" y="11"/>
                    <a:pt x="12" y="12"/>
                  </a:cubicBezTo>
                  <a:cubicBezTo>
                    <a:pt x="8" y="14"/>
                    <a:pt x="4" y="16"/>
                    <a:pt x="0" y="18"/>
                  </a:cubicBezTo>
                  <a:cubicBezTo>
                    <a:pt x="25" y="45"/>
                    <a:pt x="25" y="45"/>
                    <a:pt x="25" y="45"/>
                  </a:cubicBezTo>
                  <a:cubicBezTo>
                    <a:pt x="25" y="100"/>
                    <a:pt x="25" y="100"/>
                    <a:pt x="25" y="100"/>
                  </a:cubicBezTo>
                  <a:cubicBezTo>
                    <a:pt x="17" y="102"/>
                    <a:pt x="12" y="108"/>
                    <a:pt x="12" y="108"/>
                  </a:cubicBezTo>
                  <a:cubicBezTo>
                    <a:pt x="80" y="108"/>
                    <a:pt x="80" y="108"/>
                    <a:pt x="80" y="108"/>
                  </a:cubicBezTo>
                  <a:cubicBezTo>
                    <a:pt x="80" y="108"/>
                    <a:pt x="76" y="102"/>
                    <a:pt x="70"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2" name="Freeform 13"/>
            <p:cNvSpPr>
              <a:spLocks/>
            </p:cNvSpPr>
            <p:nvPr/>
          </p:nvSpPr>
          <p:spPr bwMode="auto">
            <a:xfrm>
              <a:off x="11245377" y="-2941637"/>
              <a:ext cx="3375025" cy="1738313"/>
            </a:xfrm>
            <a:custGeom>
              <a:avLst/>
              <a:gdLst>
                <a:gd name="T0" fmla="*/ 293 w 354"/>
                <a:gd name="T1" fmla="*/ 49 h 182"/>
                <a:gd name="T2" fmla="*/ 265 w 354"/>
                <a:gd name="T3" fmla="*/ 66 h 182"/>
                <a:gd name="T4" fmla="*/ 265 w 354"/>
                <a:gd name="T5" fmla="*/ 49 h 182"/>
                <a:gd name="T6" fmla="*/ 291 w 354"/>
                <a:gd name="T7" fmla="*/ 40 h 182"/>
                <a:gd name="T8" fmla="*/ 232 w 354"/>
                <a:gd name="T9" fmla="*/ 23 h 182"/>
                <a:gd name="T10" fmla="*/ 155 w 354"/>
                <a:gd name="T11" fmla="*/ 33 h 182"/>
                <a:gd name="T12" fmla="*/ 171 w 354"/>
                <a:gd name="T13" fmla="*/ 48 h 182"/>
                <a:gd name="T14" fmla="*/ 166 w 354"/>
                <a:gd name="T15" fmla="*/ 64 h 182"/>
                <a:gd name="T16" fmla="*/ 109 w 354"/>
                <a:gd name="T17" fmla="*/ 49 h 182"/>
                <a:gd name="T18" fmla="*/ 34 w 354"/>
                <a:gd name="T19" fmla="*/ 67 h 182"/>
                <a:gd name="T20" fmla="*/ 28 w 354"/>
                <a:gd name="T21" fmla="*/ 131 h 182"/>
                <a:gd name="T22" fmla="*/ 85 w 354"/>
                <a:gd name="T23" fmla="*/ 155 h 182"/>
                <a:gd name="T24" fmla="*/ 146 w 354"/>
                <a:gd name="T25" fmla="*/ 135 h 182"/>
                <a:gd name="T26" fmla="*/ 210 w 354"/>
                <a:gd name="T27" fmla="*/ 129 h 182"/>
                <a:gd name="T28" fmla="*/ 290 w 354"/>
                <a:gd name="T29" fmla="*/ 161 h 182"/>
                <a:gd name="T30" fmla="*/ 333 w 354"/>
                <a:gd name="T31" fmla="*/ 112 h 182"/>
                <a:gd name="T32" fmla="*/ 293 w 354"/>
                <a:gd name="T33" fmla="*/ 49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4" h="182">
                  <a:moveTo>
                    <a:pt x="293" y="49"/>
                  </a:moveTo>
                  <a:cubicBezTo>
                    <a:pt x="280" y="49"/>
                    <a:pt x="268" y="53"/>
                    <a:pt x="265" y="66"/>
                  </a:cubicBezTo>
                  <a:cubicBezTo>
                    <a:pt x="259" y="63"/>
                    <a:pt x="257" y="56"/>
                    <a:pt x="265" y="49"/>
                  </a:cubicBezTo>
                  <a:cubicBezTo>
                    <a:pt x="272" y="42"/>
                    <a:pt x="284" y="40"/>
                    <a:pt x="291" y="40"/>
                  </a:cubicBezTo>
                  <a:cubicBezTo>
                    <a:pt x="284" y="18"/>
                    <a:pt x="254" y="8"/>
                    <a:pt x="232" y="23"/>
                  </a:cubicBezTo>
                  <a:cubicBezTo>
                    <a:pt x="208" y="0"/>
                    <a:pt x="169" y="13"/>
                    <a:pt x="155" y="33"/>
                  </a:cubicBezTo>
                  <a:cubicBezTo>
                    <a:pt x="161" y="36"/>
                    <a:pt x="168" y="41"/>
                    <a:pt x="171" y="48"/>
                  </a:cubicBezTo>
                  <a:cubicBezTo>
                    <a:pt x="177" y="57"/>
                    <a:pt x="172" y="63"/>
                    <a:pt x="166" y="64"/>
                  </a:cubicBezTo>
                  <a:cubicBezTo>
                    <a:pt x="169" y="34"/>
                    <a:pt x="117" y="30"/>
                    <a:pt x="109" y="49"/>
                  </a:cubicBezTo>
                  <a:cubicBezTo>
                    <a:pt x="83" y="22"/>
                    <a:pt x="39" y="30"/>
                    <a:pt x="34" y="67"/>
                  </a:cubicBezTo>
                  <a:cubicBezTo>
                    <a:pt x="2" y="77"/>
                    <a:pt x="0" y="118"/>
                    <a:pt x="28" y="131"/>
                  </a:cubicBezTo>
                  <a:cubicBezTo>
                    <a:pt x="24" y="162"/>
                    <a:pt x="67" y="178"/>
                    <a:pt x="85" y="155"/>
                  </a:cubicBezTo>
                  <a:cubicBezTo>
                    <a:pt x="104" y="172"/>
                    <a:pt x="140" y="157"/>
                    <a:pt x="146" y="135"/>
                  </a:cubicBezTo>
                  <a:cubicBezTo>
                    <a:pt x="161" y="145"/>
                    <a:pt x="199" y="144"/>
                    <a:pt x="210" y="129"/>
                  </a:cubicBezTo>
                  <a:cubicBezTo>
                    <a:pt x="210" y="163"/>
                    <a:pt x="252" y="182"/>
                    <a:pt x="290" y="161"/>
                  </a:cubicBezTo>
                  <a:cubicBezTo>
                    <a:pt x="323" y="171"/>
                    <a:pt x="349" y="137"/>
                    <a:pt x="333" y="112"/>
                  </a:cubicBezTo>
                  <a:cubicBezTo>
                    <a:pt x="354" y="83"/>
                    <a:pt x="326" y="49"/>
                    <a:pt x="293"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3" name="Freeform 14"/>
            <p:cNvSpPr>
              <a:spLocks/>
            </p:cNvSpPr>
            <p:nvPr/>
          </p:nvSpPr>
          <p:spPr bwMode="auto">
            <a:xfrm>
              <a:off x="11721627" y="-3667124"/>
              <a:ext cx="2365375" cy="944563"/>
            </a:xfrm>
            <a:custGeom>
              <a:avLst/>
              <a:gdLst>
                <a:gd name="T0" fmla="*/ 230 w 248"/>
                <a:gd name="T1" fmla="*/ 55 h 99"/>
                <a:gd name="T2" fmla="*/ 185 w 248"/>
                <a:gd name="T3" fmla="*/ 21 h 99"/>
                <a:gd name="T4" fmla="*/ 162 w 248"/>
                <a:gd name="T5" fmla="*/ 46 h 99"/>
                <a:gd name="T6" fmla="*/ 163 w 248"/>
                <a:gd name="T7" fmla="*/ 51 h 99"/>
                <a:gd name="T8" fmla="*/ 164 w 248"/>
                <a:gd name="T9" fmla="*/ 54 h 99"/>
                <a:gd name="T10" fmla="*/ 161 w 248"/>
                <a:gd name="T11" fmla="*/ 54 h 99"/>
                <a:gd name="T12" fmla="*/ 153 w 248"/>
                <a:gd name="T13" fmla="*/ 51 h 99"/>
                <a:gd name="T14" fmla="*/ 150 w 248"/>
                <a:gd name="T15" fmla="*/ 43 h 99"/>
                <a:gd name="T16" fmla="*/ 151 w 248"/>
                <a:gd name="T17" fmla="*/ 36 h 99"/>
                <a:gd name="T18" fmla="*/ 167 w 248"/>
                <a:gd name="T19" fmla="*/ 15 h 99"/>
                <a:gd name="T20" fmla="*/ 100 w 248"/>
                <a:gd name="T21" fmla="*/ 32 h 99"/>
                <a:gd name="T22" fmla="*/ 37 w 248"/>
                <a:gd name="T23" fmla="*/ 48 h 99"/>
                <a:gd name="T24" fmla="*/ 0 w 248"/>
                <a:gd name="T25" fmla="*/ 94 h 99"/>
                <a:gd name="T26" fmla="*/ 23 w 248"/>
                <a:gd name="T27" fmla="*/ 89 h 99"/>
                <a:gd name="T28" fmla="*/ 58 w 248"/>
                <a:gd name="T29" fmla="*/ 99 h 99"/>
                <a:gd name="T30" fmla="*/ 60 w 248"/>
                <a:gd name="T31" fmla="*/ 98 h 99"/>
                <a:gd name="T32" fmla="*/ 83 w 248"/>
                <a:gd name="T33" fmla="*/ 94 h 99"/>
                <a:gd name="T34" fmla="*/ 92 w 248"/>
                <a:gd name="T35" fmla="*/ 94 h 99"/>
                <a:gd name="T36" fmla="*/ 115 w 248"/>
                <a:gd name="T37" fmla="*/ 76 h 99"/>
                <a:gd name="T38" fmla="*/ 151 w 248"/>
                <a:gd name="T39" fmla="*/ 67 h 99"/>
                <a:gd name="T40" fmla="*/ 184 w 248"/>
                <a:gd name="T41" fmla="*/ 75 h 99"/>
                <a:gd name="T42" fmla="*/ 205 w 248"/>
                <a:gd name="T43" fmla="*/ 72 h 99"/>
                <a:gd name="T44" fmla="*/ 238 w 248"/>
                <a:gd name="T45" fmla="*/ 82 h 99"/>
                <a:gd name="T46" fmla="*/ 246 w 248"/>
                <a:gd name="T47" fmla="*/ 88 h 99"/>
                <a:gd name="T48" fmla="*/ 230 w 248"/>
                <a:gd name="T49" fmla="*/ 55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8" h="99">
                  <a:moveTo>
                    <a:pt x="230" y="55"/>
                  </a:moveTo>
                  <a:cubicBezTo>
                    <a:pt x="230" y="36"/>
                    <a:pt x="207" y="19"/>
                    <a:pt x="185" y="21"/>
                  </a:cubicBezTo>
                  <a:cubicBezTo>
                    <a:pt x="169" y="26"/>
                    <a:pt x="162" y="37"/>
                    <a:pt x="162" y="46"/>
                  </a:cubicBezTo>
                  <a:cubicBezTo>
                    <a:pt x="162" y="47"/>
                    <a:pt x="162" y="49"/>
                    <a:pt x="163" y="51"/>
                  </a:cubicBezTo>
                  <a:cubicBezTo>
                    <a:pt x="164" y="54"/>
                    <a:pt x="164" y="54"/>
                    <a:pt x="164" y="54"/>
                  </a:cubicBezTo>
                  <a:cubicBezTo>
                    <a:pt x="161" y="54"/>
                    <a:pt x="161" y="54"/>
                    <a:pt x="161" y="54"/>
                  </a:cubicBezTo>
                  <a:cubicBezTo>
                    <a:pt x="158" y="54"/>
                    <a:pt x="155" y="53"/>
                    <a:pt x="153" y="51"/>
                  </a:cubicBezTo>
                  <a:cubicBezTo>
                    <a:pt x="151" y="49"/>
                    <a:pt x="150" y="46"/>
                    <a:pt x="150" y="43"/>
                  </a:cubicBezTo>
                  <a:cubicBezTo>
                    <a:pt x="150" y="41"/>
                    <a:pt x="150" y="38"/>
                    <a:pt x="151" y="36"/>
                  </a:cubicBezTo>
                  <a:cubicBezTo>
                    <a:pt x="153" y="28"/>
                    <a:pt x="161" y="20"/>
                    <a:pt x="167" y="15"/>
                  </a:cubicBezTo>
                  <a:cubicBezTo>
                    <a:pt x="143" y="0"/>
                    <a:pt x="108" y="13"/>
                    <a:pt x="100" y="32"/>
                  </a:cubicBezTo>
                  <a:cubicBezTo>
                    <a:pt x="86" y="16"/>
                    <a:pt x="43" y="25"/>
                    <a:pt x="37" y="48"/>
                  </a:cubicBezTo>
                  <a:cubicBezTo>
                    <a:pt x="17" y="48"/>
                    <a:pt x="0" y="71"/>
                    <a:pt x="0" y="94"/>
                  </a:cubicBezTo>
                  <a:cubicBezTo>
                    <a:pt x="7" y="91"/>
                    <a:pt x="15" y="89"/>
                    <a:pt x="23" y="89"/>
                  </a:cubicBezTo>
                  <a:cubicBezTo>
                    <a:pt x="35" y="89"/>
                    <a:pt x="47" y="92"/>
                    <a:pt x="58" y="99"/>
                  </a:cubicBezTo>
                  <a:cubicBezTo>
                    <a:pt x="59" y="99"/>
                    <a:pt x="59" y="98"/>
                    <a:pt x="60" y="98"/>
                  </a:cubicBezTo>
                  <a:cubicBezTo>
                    <a:pt x="67" y="95"/>
                    <a:pt x="75" y="94"/>
                    <a:pt x="83" y="94"/>
                  </a:cubicBezTo>
                  <a:cubicBezTo>
                    <a:pt x="86" y="94"/>
                    <a:pt x="89" y="94"/>
                    <a:pt x="92" y="94"/>
                  </a:cubicBezTo>
                  <a:cubicBezTo>
                    <a:pt x="98" y="86"/>
                    <a:pt x="106" y="80"/>
                    <a:pt x="115" y="76"/>
                  </a:cubicBezTo>
                  <a:cubicBezTo>
                    <a:pt x="126" y="70"/>
                    <a:pt x="138" y="67"/>
                    <a:pt x="151" y="67"/>
                  </a:cubicBezTo>
                  <a:cubicBezTo>
                    <a:pt x="162" y="67"/>
                    <a:pt x="173" y="70"/>
                    <a:pt x="184" y="75"/>
                  </a:cubicBezTo>
                  <a:cubicBezTo>
                    <a:pt x="191" y="73"/>
                    <a:pt x="198" y="72"/>
                    <a:pt x="205" y="72"/>
                  </a:cubicBezTo>
                  <a:cubicBezTo>
                    <a:pt x="217" y="72"/>
                    <a:pt x="228" y="75"/>
                    <a:pt x="238" y="82"/>
                  </a:cubicBezTo>
                  <a:cubicBezTo>
                    <a:pt x="241" y="83"/>
                    <a:pt x="243" y="85"/>
                    <a:pt x="246" y="88"/>
                  </a:cubicBezTo>
                  <a:cubicBezTo>
                    <a:pt x="248" y="74"/>
                    <a:pt x="241" y="60"/>
                    <a:pt x="23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05" name="Rectangle 504"/>
          <p:cNvSpPr/>
          <p:nvPr userDrawn="1"/>
        </p:nvSpPr>
        <p:spPr>
          <a:xfrm>
            <a:off x="6158617" y="4474853"/>
            <a:ext cx="620683"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Food</a:t>
            </a:r>
          </a:p>
        </p:txBody>
      </p:sp>
      <p:sp>
        <p:nvSpPr>
          <p:cNvPr id="508" name="Rectangle 507"/>
          <p:cNvSpPr/>
          <p:nvPr userDrawn="1"/>
        </p:nvSpPr>
        <p:spPr>
          <a:xfrm>
            <a:off x="8747857" y="4474853"/>
            <a:ext cx="1023037"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Buildings</a:t>
            </a:r>
          </a:p>
        </p:txBody>
      </p:sp>
      <p:sp>
        <p:nvSpPr>
          <p:cNvPr id="359" name="Rectangle 358"/>
          <p:cNvSpPr/>
          <p:nvPr userDrawn="1"/>
        </p:nvSpPr>
        <p:spPr>
          <a:xfrm>
            <a:off x="506947" y="1658372"/>
            <a:ext cx="4743606"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Transportation/Construction/Industrial/Manufacturing</a:t>
            </a:r>
          </a:p>
        </p:txBody>
      </p:sp>
      <p:sp>
        <p:nvSpPr>
          <p:cNvPr id="360" name="Rectangle 359"/>
          <p:cNvSpPr/>
          <p:nvPr userDrawn="1"/>
        </p:nvSpPr>
        <p:spPr>
          <a:xfrm>
            <a:off x="6913306" y="1658372"/>
            <a:ext cx="840295" cy="307777"/>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Medical</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cxnSp>
        <p:nvCxnSpPr>
          <p:cNvPr id="495" name="Straight Connector 494"/>
          <p:cNvCxnSpPr/>
          <p:nvPr userDrawn="1"/>
        </p:nvCxnSpPr>
        <p:spPr bwMode="auto">
          <a:xfrm>
            <a:off x="466843" y="4817777"/>
            <a:ext cx="5054386"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61" name="Straight Connector 360"/>
          <p:cNvCxnSpPr>
            <a:cxnSpLocks/>
          </p:cNvCxnSpPr>
          <p:nvPr userDrawn="1"/>
        </p:nvCxnSpPr>
        <p:spPr bwMode="auto">
          <a:xfrm>
            <a:off x="466843" y="1973434"/>
            <a:ext cx="5691774"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422" name="Group 10">
            <a:extLst>
              <a:ext uri="{FF2B5EF4-FFF2-40B4-BE49-F238E27FC236}">
                <a16:creationId xmlns:a16="http://schemas.microsoft.com/office/drawing/2014/main" id="{EEE3E68F-3AB6-4EAB-A484-E17848D41C21}"/>
              </a:ext>
            </a:extLst>
          </p:cNvPr>
          <p:cNvGrpSpPr>
            <a:grpSpLocks noChangeAspect="1"/>
          </p:cNvGrpSpPr>
          <p:nvPr userDrawn="1"/>
        </p:nvGrpSpPr>
        <p:grpSpPr bwMode="auto">
          <a:xfrm>
            <a:off x="7038987" y="3223332"/>
            <a:ext cx="277298" cy="256918"/>
            <a:chOff x="2654" y="1702"/>
            <a:chExt cx="1905" cy="1765"/>
          </a:xfrm>
          <a:solidFill>
            <a:schemeClr val="tx1"/>
          </a:solidFill>
        </p:grpSpPr>
        <p:sp>
          <p:nvSpPr>
            <p:cNvPr id="423" name="Freeform 11">
              <a:extLst>
                <a:ext uri="{FF2B5EF4-FFF2-40B4-BE49-F238E27FC236}">
                  <a16:creationId xmlns:a16="http://schemas.microsoft.com/office/drawing/2014/main" id="{FFAC9AB4-3FCF-45DF-8459-9DE5AF384B3D}"/>
                </a:ext>
              </a:extLst>
            </p:cNvPr>
            <p:cNvSpPr>
              <a:spLocks/>
            </p:cNvSpPr>
            <p:nvPr userDrawn="1"/>
          </p:nvSpPr>
          <p:spPr bwMode="auto">
            <a:xfrm>
              <a:off x="3579" y="2399"/>
              <a:ext cx="901" cy="593"/>
            </a:xfrm>
            <a:custGeom>
              <a:avLst/>
              <a:gdLst>
                <a:gd name="T0" fmla="*/ 432 w 433"/>
                <a:gd name="T1" fmla="*/ 156 h 284"/>
                <a:gd name="T2" fmla="*/ 432 w 433"/>
                <a:gd name="T3" fmla="*/ 151 h 284"/>
                <a:gd name="T4" fmla="*/ 162 w 433"/>
                <a:gd name="T5" fmla="*/ 32 h 284"/>
                <a:gd name="T6" fmla="*/ 39 w 433"/>
                <a:gd name="T7" fmla="*/ 130 h 284"/>
                <a:gd name="T8" fmla="*/ 9 w 433"/>
                <a:gd name="T9" fmla="*/ 279 h 284"/>
                <a:gd name="T10" fmla="*/ 12 w 433"/>
                <a:gd name="T11" fmla="*/ 283 h 284"/>
                <a:gd name="T12" fmla="*/ 15 w 433"/>
                <a:gd name="T13" fmla="*/ 284 h 284"/>
                <a:gd name="T14" fmla="*/ 17 w 433"/>
                <a:gd name="T15" fmla="*/ 284 h 284"/>
                <a:gd name="T16" fmla="*/ 428 w 433"/>
                <a:gd name="T17" fmla="*/ 159 h 284"/>
                <a:gd name="T18" fmla="*/ 432 w 433"/>
                <a:gd name="T19" fmla="*/ 15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3" h="284">
                  <a:moveTo>
                    <a:pt x="432" y="156"/>
                  </a:moveTo>
                  <a:cubicBezTo>
                    <a:pt x="433" y="154"/>
                    <a:pt x="433" y="153"/>
                    <a:pt x="432" y="151"/>
                  </a:cubicBezTo>
                  <a:cubicBezTo>
                    <a:pt x="386" y="51"/>
                    <a:pt x="270" y="0"/>
                    <a:pt x="162" y="32"/>
                  </a:cubicBezTo>
                  <a:cubicBezTo>
                    <a:pt x="111" y="50"/>
                    <a:pt x="67" y="84"/>
                    <a:pt x="39" y="130"/>
                  </a:cubicBezTo>
                  <a:cubicBezTo>
                    <a:pt x="11" y="175"/>
                    <a:pt x="0" y="228"/>
                    <a:pt x="9" y="279"/>
                  </a:cubicBezTo>
                  <a:cubicBezTo>
                    <a:pt x="9" y="281"/>
                    <a:pt x="10" y="282"/>
                    <a:pt x="12" y="283"/>
                  </a:cubicBezTo>
                  <a:cubicBezTo>
                    <a:pt x="13" y="284"/>
                    <a:pt x="14" y="284"/>
                    <a:pt x="15" y="284"/>
                  </a:cubicBezTo>
                  <a:cubicBezTo>
                    <a:pt x="16" y="284"/>
                    <a:pt x="16" y="284"/>
                    <a:pt x="17" y="284"/>
                  </a:cubicBezTo>
                  <a:cubicBezTo>
                    <a:pt x="428" y="159"/>
                    <a:pt x="428" y="159"/>
                    <a:pt x="428" y="159"/>
                  </a:cubicBezTo>
                  <a:cubicBezTo>
                    <a:pt x="430" y="159"/>
                    <a:pt x="431" y="158"/>
                    <a:pt x="432"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4" name="Freeform 12">
              <a:extLst>
                <a:ext uri="{FF2B5EF4-FFF2-40B4-BE49-F238E27FC236}">
                  <a16:creationId xmlns:a16="http://schemas.microsoft.com/office/drawing/2014/main" id="{E4BC35B7-74B8-4C6A-946B-0FE7190A124C}"/>
                </a:ext>
              </a:extLst>
            </p:cNvPr>
            <p:cNvSpPr>
              <a:spLocks/>
            </p:cNvSpPr>
            <p:nvPr userDrawn="1"/>
          </p:nvSpPr>
          <p:spPr bwMode="auto">
            <a:xfrm>
              <a:off x="3637" y="2823"/>
              <a:ext cx="922" cy="540"/>
            </a:xfrm>
            <a:custGeom>
              <a:avLst/>
              <a:gdLst>
                <a:gd name="T0" fmla="*/ 424 w 443"/>
                <a:gd name="T1" fmla="*/ 5 h 259"/>
                <a:gd name="T2" fmla="*/ 421 w 443"/>
                <a:gd name="T3" fmla="*/ 1 h 259"/>
                <a:gd name="T4" fmla="*/ 416 w 443"/>
                <a:gd name="T5" fmla="*/ 1 h 259"/>
                <a:gd name="T6" fmla="*/ 5 w 443"/>
                <a:gd name="T7" fmla="*/ 124 h 259"/>
                <a:gd name="T8" fmla="*/ 1 w 443"/>
                <a:gd name="T9" fmla="*/ 127 h 259"/>
                <a:gd name="T10" fmla="*/ 1 w 443"/>
                <a:gd name="T11" fmla="*/ 132 h 259"/>
                <a:gd name="T12" fmla="*/ 111 w 443"/>
                <a:gd name="T13" fmla="*/ 240 h 259"/>
                <a:gd name="T14" fmla="*/ 203 w 443"/>
                <a:gd name="T15" fmla="*/ 259 h 259"/>
                <a:gd name="T16" fmla="*/ 270 w 443"/>
                <a:gd name="T17" fmla="*/ 250 h 259"/>
                <a:gd name="T18" fmla="*/ 424 w 443"/>
                <a:gd name="T19" fmla="*/ 5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3" h="259">
                  <a:moveTo>
                    <a:pt x="424" y="5"/>
                  </a:moveTo>
                  <a:cubicBezTo>
                    <a:pt x="423" y="4"/>
                    <a:pt x="422" y="2"/>
                    <a:pt x="421" y="1"/>
                  </a:cubicBezTo>
                  <a:cubicBezTo>
                    <a:pt x="419" y="0"/>
                    <a:pt x="418" y="0"/>
                    <a:pt x="416" y="1"/>
                  </a:cubicBezTo>
                  <a:cubicBezTo>
                    <a:pt x="5" y="124"/>
                    <a:pt x="5" y="124"/>
                    <a:pt x="5" y="124"/>
                  </a:cubicBezTo>
                  <a:cubicBezTo>
                    <a:pt x="3" y="124"/>
                    <a:pt x="2" y="125"/>
                    <a:pt x="1" y="127"/>
                  </a:cubicBezTo>
                  <a:cubicBezTo>
                    <a:pt x="0" y="129"/>
                    <a:pt x="0" y="130"/>
                    <a:pt x="1" y="132"/>
                  </a:cubicBezTo>
                  <a:cubicBezTo>
                    <a:pt x="23" y="180"/>
                    <a:pt x="63" y="219"/>
                    <a:pt x="111" y="240"/>
                  </a:cubicBezTo>
                  <a:cubicBezTo>
                    <a:pt x="140" y="253"/>
                    <a:pt x="171" y="259"/>
                    <a:pt x="203" y="259"/>
                  </a:cubicBezTo>
                  <a:cubicBezTo>
                    <a:pt x="226" y="259"/>
                    <a:pt x="248" y="256"/>
                    <a:pt x="270" y="250"/>
                  </a:cubicBezTo>
                  <a:cubicBezTo>
                    <a:pt x="375" y="218"/>
                    <a:pt x="443" y="111"/>
                    <a:pt x="42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5" name="Freeform 13">
              <a:extLst>
                <a:ext uri="{FF2B5EF4-FFF2-40B4-BE49-F238E27FC236}">
                  <a16:creationId xmlns:a16="http://schemas.microsoft.com/office/drawing/2014/main" id="{B243E069-EDA2-4B3E-9C48-610897D62C52}"/>
                </a:ext>
              </a:extLst>
            </p:cNvPr>
            <p:cNvSpPr>
              <a:spLocks/>
            </p:cNvSpPr>
            <p:nvPr userDrawn="1"/>
          </p:nvSpPr>
          <p:spPr bwMode="auto">
            <a:xfrm>
              <a:off x="2654" y="1702"/>
              <a:ext cx="1566" cy="1765"/>
            </a:xfrm>
            <a:custGeom>
              <a:avLst/>
              <a:gdLst>
                <a:gd name="T0" fmla="*/ 418 w 752"/>
                <a:gd name="T1" fmla="*/ 565 h 846"/>
                <a:gd name="T2" fmla="*/ 433 w 752"/>
                <a:gd name="T3" fmla="*/ 493 h 846"/>
                <a:gd name="T4" fmla="*/ 435 w 752"/>
                <a:gd name="T5" fmla="*/ 489 h 846"/>
                <a:gd name="T6" fmla="*/ 291 w 752"/>
                <a:gd name="T7" fmla="*/ 391 h 846"/>
                <a:gd name="T8" fmla="*/ 226 w 752"/>
                <a:gd name="T9" fmla="*/ 347 h 846"/>
                <a:gd name="T10" fmla="*/ 379 w 752"/>
                <a:gd name="T11" fmla="*/ 132 h 846"/>
                <a:gd name="T12" fmla="*/ 616 w 752"/>
                <a:gd name="T13" fmla="*/ 93 h 846"/>
                <a:gd name="T14" fmla="*/ 660 w 752"/>
                <a:gd name="T15" fmla="*/ 315 h 846"/>
                <a:gd name="T16" fmla="*/ 654 w 752"/>
                <a:gd name="T17" fmla="*/ 325 h 846"/>
                <a:gd name="T18" fmla="*/ 665 w 752"/>
                <a:gd name="T19" fmla="*/ 325 h 846"/>
                <a:gd name="T20" fmla="*/ 713 w 752"/>
                <a:gd name="T21" fmla="*/ 329 h 846"/>
                <a:gd name="T22" fmla="*/ 718 w 752"/>
                <a:gd name="T23" fmla="*/ 330 h 846"/>
                <a:gd name="T24" fmla="*/ 720 w 752"/>
                <a:gd name="T25" fmla="*/ 326 h 846"/>
                <a:gd name="T26" fmla="*/ 739 w 752"/>
                <a:gd name="T27" fmla="*/ 175 h 846"/>
                <a:gd name="T28" fmla="*/ 650 w 752"/>
                <a:gd name="T29" fmla="*/ 48 h 846"/>
                <a:gd name="T30" fmla="*/ 480 w 752"/>
                <a:gd name="T31" fmla="*/ 10 h 846"/>
                <a:gd name="T32" fmla="*/ 333 w 752"/>
                <a:gd name="T33" fmla="*/ 103 h 846"/>
                <a:gd name="T34" fmla="*/ 47 w 752"/>
                <a:gd name="T35" fmla="*/ 501 h 846"/>
                <a:gd name="T36" fmla="*/ 10 w 752"/>
                <a:gd name="T37" fmla="*/ 664 h 846"/>
                <a:gd name="T38" fmla="*/ 103 w 752"/>
                <a:gd name="T39" fmla="*/ 806 h 846"/>
                <a:gd name="T40" fmla="*/ 232 w 752"/>
                <a:gd name="T41" fmla="*/ 846 h 846"/>
                <a:gd name="T42" fmla="*/ 420 w 752"/>
                <a:gd name="T43" fmla="*/ 752 h 846"/>
                <a:gd name="T44" fmla="*/ 454 w 752"/>
                <a:gd name="T45" fmla="*/ 704 h 846"/>
                <a:gd name="T46" fmla="*/ 452 w 752"/>
                <a:gd name="T47" fmla="*/ 701 h 846"/>
                <a:gd name="T48" fmla="*/ 418 w 752"/>
                <a:gd name="T49" fmla="*/ 565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52" h="846">
                  <a:moveTo>
                    <a:pt x="418" y="565"/>
                  </a:moveTo>
                  <a:cubicBezTo>
                    <a:pt x="419" y="540"/>
                    <a:pt x="424" y="516"/>
                    <a:pt x="433" y="493"/>
                  </a:cubicBezTo>
                  <a:cubicBezTo>
                    <a:pt x="435" y="489"/>
                    <a:pt x="435" y="489"/>
                    <a:pt x="435" y="489"/>
                  </a:cubicBezTo>
                  <a:cubicBezTo>
                    <a:pt x="291" y="391"/>
                    <a:pt x="291" y="391"/>
                    <a:pt x="291" y="391"/>
                  </a:cubicBezTo>
                  <a:cubicBezTo>
                    <a:pt x="226" y="347"/>
                    <a:pt x="226" y="347"/>
                    <a:pt x="226" y="347"/>
                  </a:cubicBezTo>
                  <a:cubicBezTo>
                    <a:pt x="379" y="132"/>
                    <a:pt x="379" y="132"/>
                    <a:pt x="379" y="132"/>
                  </a:cubicBezTo>
                  <a:cubicBezTo>
                    <a:pt x="435" y="60"/>
                    <a:pt x="542" y="42"/>
                    <a:pt x="616" y="93"/>
                  </a:cubicBezTo>
                  <a:cubicBezTo>
                    <a:pt x="689" y="144"/>
                    <a:pt x="709" y="241"/>
                    <a:pt x="660" y="315"/>
                  </a:cubicBezTo>
                  <a:cubicBezTo>
                    <a:pt x="654" y="325"/>
                    <a:pt x="654" y="325"/>
                    <a:pt x="654" y="325"/>
                  </a:cubicBezTo>
                  <a:cubicBezTo>
                    <a:pt x="665" y="325"/>
                    <a:pt x="665" y="325"/>
                    <a:pt x="665" y="325"/>
                  </a:cubicBezTo>
                  <a:cubicBezTo>
                    <a:pt x="682" y="325"/>
                    <a:pt x="700" y="325"/>
                    <a:pt x="713" y="329"/>
                  </a:cubicBezTo>
                  <a:cubicBezTo>
                    <a:pt x="718" y="330"/>
                    <a:pt x="718" y="330"/>
                    <a:pt x="718" y="330"/>
                  </a:cubicBezTo>
                  <a:cubicBezTo>
                    <a:pt x="720" y="326"/>
                    <a:pt x="720" y="326"/>
                    <a:pt x="720" y="326"/>
                  </a:cubicBezTo>
                  <a:cubicBezTo>
                    <a:pt x="745" y="279"/>
                    <a:pt x="752" y="226"/>
                    <a:pt x="739" y="175"/>
                  </a:cubicBezTo>
                  <a:cubicBezTo>
                    <a:pt x="727" y="124"/>
                    <a:pt x="695" y="79"/>
                    <a:pt x="650" y="48"/>
                  </a:cubicBezTo>
                  <a:cubicBezTo>
                    <a:pt x="601" y="13"/>
                    <a:pt x="541" y="0"/>
                    <a:pt x="480" y="10"/>
                  </a:cubicBezTo>
                  <a:cubicBezTo>
                    <a:pt x="420" y="21"/>
                    <a:pt x="367" y="54"/>
                    <a:pt x="333" y="103"/>
                  </a:cubicBezTo>
                  <a:cubicBezTo>
                    <a:pt x="47" y="501"/>
                    <a:pt x="47" y="501"/>
                    <a:pt x="47" y="501"/>
                  </a:cubicBezTo>
                  <a:cubicBezTo>
                    <a:pt x="13" y="547"/>
                    <a:pt x="0" y="606"/>
                    <a:pt x="10" y="664"/>
                  </a:cubicBezTo>
                  <a:cubicBezTo>
                    <a:pt x="20" y="723"/>
                    <a:pt x="53" y="773"/>
                    <a:pt x="103" y="806"/>
                  </a:cubicBezTo>
                  <a:cubicBezTo>
                    <a:pt x="143" y="833"/>
                    <a:pt x="188" y="846"/>
                    <a:pt x="232" y="846"/>
                  </a:cubicBezTo>
                  <a:cubicBezTo>
                    <a:pt x="304" y="846"/>
                    <a:pt x="374" y="813"/>
                    <a:pt x="420" y="752"/>
                  </a:cubicBezTo>
                  <a:cubicBezTo>
                    <a:pt x="454" y="704"/>
                    <a:pt x="454" y="704"/>
                    <a:pt x="454" y="704"/>
                  </a:cubicBezTo>
                  <a:cubicBezTo>
                    <a:pt x="452" y="701"/>
                    <a:pt x="452" y="701"/>
                    <a:pt x="452" y="701"/>
                  </a:cubicBezTo>
                  <a:cubicBezTo>
                    <a:pt x="427" y="659"/>
                    <a:pt x="415" y="612"/>
                    <a:pt x="418" y="5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Freeform 5">
            <a:extLst>
              <a:ext uri="{FF2B5EF4-FFF2-40B4-BE49-F238E27FC236}">
                <a16:creationId xmlns:a16="http://schemas.microsoft.com/office/drawing/2014/main" id="{74E0103D-A46D-4C61-8D02-141140942E35}"/>
              </a:ext>
            </a:extLst>
          </p:cNvPr>
          <p:cNvSpPr>
            <a:spLocks noEditPoints="1"/>
          </p:cNvSpPr>
          <p:nvPr userDrawn="1"/>
        </p:nvSpPr>
        <p:spPr bwMode="auto">
          <a:xfrm>
            <a:off x="10124546" y="3765129"/>
            <a:ext cx="330864" cy="327890"/>
          </a:xfrm>
          <a:custGeom>
            <a:avLst/>
            <a:gdLst>
              <a:gd name="T0" fmla="*/ 721 w 854"/>
              <a:gd name="T1" fmla="*/ 383 h 846"/>
              <a:gd name="T2" fmla="*/ 690 w 854"/>
              <a:gd name="T3" fmla="*/ 385 h 846"/>
              <a:gd name="T4" fmla="*/ 664 w 854"/>
              <a:gd name="T5" fmla="*/ 247 h 846"/>
              <a:gd name="T6" fmla="*/ 739 w 854"/>
              <a:gd name="T7" fmla="*/ 201 h 846"/>
              <a:gd name="T8" fmla="*/ 607 w 854"/>
              <a:gd name="T9" fmla="*/ 175 h 846"/>
              <a:gd name="T10" fmla="*/ 587 w 854"/>
              <a:gd name="T11" fmla="*/ 208 h 846"/>
              <a:gd name="T12" fmla="*/ 466 w 854"/>
              <a:gd name="T13" fmla="*/ 133 h 846"/>
              <a:gd name="T14" fmla="*/ 486 w 854"/>
              <a:gd name="T15" fmla="*/ 104 h 846"/>
              <a:gd name="T16" fmla="*/ 366 w 854"/>
              <a:gd name="T17" fmla="*/ 103 h 846"/>
              <a:gd name="T18" fmla="*/ 386 w 854"/>
              <a:gd name="T19" fmla="*/ 133 h 846"/>
              <a:gd name="T20" fmla="*/ 265 w 854"/>
              <a:gd name="T21" fmla="*/ 208 h 846"/>
              <a:gd name="T22" fmla="*/ 241 w 854"/>
              <a:gd name="T23" fmla="*/ 157 h 846"/>
              <a:gd name="T24" fmla="*/ 158 w 854"/>
              <a:gd name="T25" fmla="*/ 241 h 846"/>
              <a:gd name="T26" fmla="*/ 191 w 854"/>
              <a:gd name="T27" fmla="*/ 247 h 846"/>
              <a:gd name="T28" fmla="*/ 162 w 854"/>
              <a:gd name="T29" fmla="*/ 385 h 846"/>
              <a:gd name="T30" fmla="*/ 131 w 854"/>
              <a:gd name="T31" fmla="*/ 383 h 846"/>
              <a:gd name="T32" fmla="*/ 21 w 854"/>
              <a:gd name="T33" fmla="*/ 469 h 846"/>
              <a:gd name="T34" fmla="*/ 133 w 854"/>
              <a:gd name="T35" fmla="*/ 466 h 846"/>
              <a:gd name="T36" fmla="*/ 211 w 854"/>
              <a:gd name="T37" fmla="*/ 583 h 846"/>
              <a:gd name="T38" fmla="*/ 186 w 854"/>
              <a:gd name="T39" fmla="*/ 604 h 846"/>
              <a:gd name="T40" fmla="*/ 122 w 854"/>
              <a:gd name="T41" fmla="*/ 715 h 846"/>
              <a:gd name="T42" fmla="*/ 247 w 854"/>
              <a:gd name="T43" fmla="*/ 664 h 846"/>
              <a:gd name="T44" fmla="*/ 267 w 854"/>
              <a:gd name="T45" fmla="*/ 641 h 846"/>
              <a:gd name="T46" fmla="*/ 386 w 854"/>
              <a:gd name="T47" fmla="*/ 690 h 846"/>
              <a:gd name="T48" fmla="*/ 384 w 854"/>
              <a:gd name="T49" fmla="*/ 720 h 846"/>
              <a:gd name="T50" fmla="*/ 426 w 854"/>
              <a:gd name="T51" fmla="*/ 846 h 846"/>
              <a:gd name="T52" fmla="*/ 468 w 854"/>
              <a:gd name="T53" fmla="*/ 720 h 846"/>
              <a:gd name="T54" fmla="*/ 466 w 854"/>
              <a:gd name="T55" fmla="*/ 689 h 846"/>
              <a:gd name="T56" fmla="*/ 605 w 854"/>
              <a:gd name="T57" fmla="*/ 664 h 846"/>
              <a:gd name="T58" fmla="*/ 723 w 854"/>
              <a:gd name="T59" fmla="*/ 723 h 846"/>
              <a:gd name="T60" fmla="*/ 665 w 854"/>
              <a:gd name="T61" fmla="*/ 604 h 846"/>
              <a:gd name="T62" fmla="*/ 641 w 854"/>
              <a:gd name="T63" fmla="*/ 583 h 846"/>
              <a:gd name="T64" fmla="*/ 723 w 854"/>
              <a:gd name="T65" fmla="*/ 468 h 846"/>
              <a:gd name="T66" fmla="*/ 658 w 854"/>
              <a:gd name="T67" fmla="*/ 161 h 846"/>
              <a:gd name="T68" fmla="*/ 692 w 854"/>
              <a:gd name="T69" fmla="*/ 192 h 846"/>
              <a:gd name="T70" fmla="*/ 190 w 854"/>
              <a:gd name="T71" fmla="*/ 175 h 846"/>
              <a:gd name="T72" fmla="*/ 178 w 854"/>
              <a:gd name="T73" fmla="*/ 155 h 846"/>
              <a:gd name="T74" fmla="*/ 72 w 854"/>
              <a:gd name="T75" fmla="*/ 447 h 846"/>
              <a:gd name="T76" fmla="*/ 60 w 854"/>
              <a:gd name="T77" fmla="*/ 408 h 846"/>
              <a:gd name="T78" fmla="*/ 195 w 854"/>
              <a:gd name="T79" fmla="*/ 690 h 846"/>
              <a:gd name="T80" fmla="*/ 177 w 854"/>
              <a:gd name="T81" fmla="*/ 659 h 846"/>
              <a:gd name="T82" fmla="*/ 427 w 854"/>
              <a:gd name="T83" fmla="*/ 54 h 846"/>
              <a:gd name="T84" fmla="*/ 417 w 854"/>
              <a:gd name="T85" fmla="*/ 79 h 846"/>
              <a:gd name="T86" fmla="*/ 345 w 854"/>
              <a:gd name="T87" fmla="*/ 445 h 846"/>
              <a:gd name="T88" fmla="*/ 296 w 854"/>
              <a:gd name="T89" fmla="*/ 531 h 846"/>
              <a:gd name="T90" fmla="*/ 364 w 854"/>
              <a:gd name="T91" fmla="*/ 415 h 846"/>
              <a:gd name="T92" fmla="*/ 365 w 854"/>
              <a:gd name="T93" fmla="*/ 321 h 846"/>
              <a:gd name="T94" fmla="*/ 422 w 854"/>
              <a:gd name="T95" fmla="*/ 236 h 846"/>
              <a:gd name="T96" fmla="*/ 486 w 854"/>
              <a:gd name="T97" fmla="*/ 318 h 846"/>
              <a:gd name="T98" fmla="*/ 444 w 854"/>
              <a:gd name="T99" fmla="*/ 280 h 846"/>
              <a:gd name="T100" fmla="*/ 427 w 854"/>
              <a:gd name="T101" fmla="*/ 794 h 846"/>
              <a:gd name="T102" fmla="*/ 439 w 854"/>
              <a:gd name="T103" fmla="*/ 769 h 846"/>
              <a:gd name="T104" fmla="*/ 500 w 854"/>
              <a:gd name="T105" fmla="*/ 556 h 846"/>
              <a:gd name="T106" fmla="*/ 440 w 854"/>
              <a:gd name="T107" fmla="*/ 517 h 846"/>
              <a:gd name="T108" fmla="*/ 530 w 854"/>
              <a:gd name="T109" fmla="*/ 479 h 846"/>
              <a:gd name="T110" fmla="*/ 559 w 854"/>
              <a:gd name="T111" fmla="*/ 519 h 846"/>
              <a:gd name="T112" fmla="*/ 697 w 854"/>
              <a:gd name="T113" fmla="*/ 671 h 846"/>
              <a:gd name="T114" fmla="*/ 658 w 854"/>
              <a:gd name="T115" fmla="*/ 689 h 846"/>
              <a:gd name="T116" fmla="*/ 769 w 854"/>
              <a:gd name="T117" fmla="*/ 434 h 846"/>
              <a:gd name="T118" fmla="*/ 794 w 854"/>
              <a:gd name="T119" fmla="*/ 414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54" h="846">
                <a:moveTo>
                  <a:pt x="834" y="386"/>
                </a:moveTo>
                <a:cubicBezTo>
                  <a:pt x="817" y="361"/>
                  <a:pt x="781" y="345"/>
                  <a:pt x="747" y="366"/>
                </a:cubicBezTo>
                <a:cubicBezTo>
                  <a:pt x="741" y="369"/>
                  <a:pt x="735" y="373"/>
                  <a:pt x="729" y="377"/>
                </a:cubicBezTo>
                <a:cubicBezTo>
                  <a:pt x="726" y="379"/>
                  <a:pt x="724" y="381"/>
                  <a:pt x="721" y="383"/>
                </a:cubicBezTo>
                <a:cubicBezTo>
                  <a:pt x="720" y="383"/>
                  <a:pt x="720" y="384"/>
                  <a:pt x="719" y="384"/>
                </a:cubicBezTo>
                <a:cubicBezTo>
                  <a:pt x="719" y="384"/>
                  <a:pt x="718" y="385"/>
                  <a:pt x="718" y="385"/>
                </a:cubicBezTo>
                <a:cubicBezTo>
                  <a:pt x="710" y="385"/>
                  <a:pt x="702" y="385"/>
                  <a:pt x="693" y="385"/>
                </a:cubicBezTo>
                <a:cubicBezTo>
                  <a:pt x="690" y="385"/>
                  <a:pt x="690" y="385"/>
                  <a:pt x="690" y="385"/>
                </a:cubicBezTo>
                <a:cubicBezTo>
                  <a:pt x="683" y="341"/>
                  <a:pt x="667" y="303"/>
                  <a:pt x="641" y="267"/>
                </a:cubicBezTo>
                <a:cubicBezTo>
                  <a:pt x="644" y="265"/>
                  <a:pt x="644" y="265"/>
                  <a:pt x="644" y="265"/>
                </a:cubicBezTo>
                <a:cubicBezTo>
                  <a:pt x="650" y="259"/>
                  <a:pt x="655" y="253"/>
                  <a:pt x="661" y="247"/>
                </a:cubicBezTo>
                <a:cubicBezTo>
                  <a:pt x="662" y="247"/>
                  <a:pt x="663" y="247"/>
                  <a:pt x="664" y="247"/>
                </a:cubicBezTo>
                <a:cubicBezTo>
                  <a:pt x="665" y="246"/>
                  <a:pt x="665" y="246"/>
                  <a:pt x="665" y="246"/>
                </a:cubicBezTo>
                <a:cubicBezTo>
                  <a:pt x="669" y="246"/>
                  <a:pt x="672" y="245"/>
                  <a:pt x="676" y="244"/>
                </a:cubicBezTo>
                <a:cubicBezTo>
                  <a:pt x="682" y="243"/>
                  <a:pt x="688" y="242"/>
                  <a:pt x="694" y="241"/>
                </a:cubicBezTo>
                <a:cubicBezTo>
                  <a:pt x="716" y="235"/>
                  <a:pt x="732" y="221"/>
                  <a:pt x="739" y="201"/>
                </a:cubicBezTo>
                <a:cubicBezTo>
                  <a:pt x="747" y="179"/>
                  <a:pt x="744" y="154"/>
                  <a:pt x="731" y="137"/>
                </a:cubicBezTo>
                <a:cubicBezTo>
                  <a:pt x="714" y="114"/>
                  <a:pt x="690" y="104"/>
                  <a:pt x="663" y="109"/>
                </a:cubicBezTo>
                <a:cubicBezTo>
                  <a:pt x="635" y="113"/>
                  <a:pt x="617" y="130"/>
                  <a:pt x="610" y="157"/>
                </a:cubicBezTo>
                <a:cubicBezTo>
                  <a:pt x="609" y="163"/>
                  <a:pt x="608" y="169"/>
                  <a:pt x="607" y="175"/>
                </a:cubicBezTo>
                <a:cubicBezTo>
                  <a:pt x="606" y="179"/>
                  <a:pt x="605" y="182"/>
                  <a:pt x="605" y="186"/>
                </a:cubicBezTo>
                <a:cubicBezTo>
                  <a:pt x="605" y="187"/>
                  <a:pt x="605" y="187"/>
                  <a:pt x="605" y="187"/>
                </a:cubicBezTo>
                <a:cubicBezTo>
                  <a:pt x="604" y="188"/>
                  <a:pt x="604" y="190"/>
                  <a:pt x="604" y="190"/>
                </a:cubicBezTo>
                <a:cubicBezTo>
                  <a:pt x="598" y="196"/>
                  <a:pt x="593" y="202"/>
                  <a:pt x="587" y="208"/>
                </a:cubicBezTo>
                <a:cubicBezTo>
                  <a:pt x="584" y="210"/>
                  <a:pt x="584" y="210"/>
                  <a:pt x="584" y="210"/>
                </a:cubicBezTo>
                <a:cubicBezTo>
                  <a:pt x="549" y="185"/>
                  <a:pt x="510" y="168"/>
                  <a:pt x="466" y="161"/>
                </a:cubicBezTo>
                <a:cubicBezTo>
                  <a:pt x="466" y="158"/>
                  <a:pt x="466" y="158"/>
                  <a:pt x="466" y="158"/>
                </a:cubicBezTo>
                <a:cubicBezTo>
                  <a:pt x="466" y="149"/>
                  <a:pt x="466" y="141"/>
                  <a:pt x="466" y="133"/>
                </a:cubicBezTo>
                <a:cubicBezTo>
                  <a:pt x="466" y="133"/>
                  <a:pt x="467" y="132"/>
                  <a:pt x="467" y="132"/>
                </a:cubicBezTo>
                <a:cubicBezTo>
                  <a:pt x="468" y="131"/>
                  <a:pt x="468" y="131"/>
                  <a:pt x="468" y="130"/>
                </a:cubicBezTo>
                <a:cubicBezTo>
                  <a:pt x="470" y="127"/>
                  <a:pt x="472" y="124"/>
                  <a:pt x="474" y="121"/>
                </a:cubicBezTo>
                <a:cubicBezTo>
                  <a:pt x="478" y="116"/>
                  <a:pt x="482" y="110"/>
                  <a:pt x="486" y="104"/>
                </a:cubicBezTo>
                <a:cubicBezTo>
                  <a:pt x="496" y="86"/>
                  <a:pt x="497" y="65"/>
                  <a:pt x="489" y="47"/>
                </a:cubicBezTo>
                <a:cubicBezTo>
                  <a:pt x="481" y="27"/>
                  <a:pt x="464" y="12"/>
                  <a:pt x="443" y="7"/>
                </a:cubicBezTo>
                <a:cubicBezTo>
                  <a:pt x="415" y="0"/>
                  <a:pt x="390" y="8"/>
                  <a:pt x="372" y="30"/>
                </a:cubicBezTo>
                <a:cubicBezTo>
                  <a:pt x="354" y="53"/>
                  <a:pt x="352" y="78"/>
                  <a:pt x="366" y="103"/>
                </a:cubicBezTo>
                <a:cubicBezTo>
                  <a:pt x="370" y="110"/>
                  <a:pt x="374" y="116"/>
                  <a:pt x="378" y="122"/>
                </a:cubicBezTo>
                <a:cubicBezTo>
                  <a:pt x="380" y="125"/>
                  <a:pt x="382" y="128"/>
                  <a:pt x="384" y="130"/>
                </a:cubicBezTo>
                <a:cubicBezTo>
                  <a:pt x="384" y="131"/>
                  <a:pt x="384" y="131"/>
                  <a:pt x="385" y="132"/>
                </a:cubicBezTo>
                <a:cubicBezTo>
                  <a:pt x="385" y="132"/>
                  <a:pt x="386" y="133"/>
                  <a:pt x="386" y="133"/>
                </a:cubicBezTo>
                <a:cubicBezTo>
                  <a:pt x="386" y="141"/>
                  <a:pt x="386" y="149"/>
                  <a:pt x="386" y="158"/>
                </a:cubicBezTo>
                <a:cubicBezTo>
                  <a:pt x="386" y="161"/>
                  <a:pt x="386" y="161"/>
                  <a:pt x="386" y="161"/>
                </a:cubicBezTo>
                <a:cubicBezTo>
                  <a:pt x="342" y="168"/>
                  <a:pt x="303" y="184"/>
                  <a:pt x="268" y="210"/>
                </a:cubicBezTo>
                <a:cubicBezTo>
                  <a:pt x="267" y="209"/>
                  <a:pt x="266" y="208"/>
                  <a:pt x="265" y="208"/>
                </a:cubicBezTo>
                <a:cubicBezTo>
                  <a:pt x="260" y="202"/>
                  <a:pt x="255" y="197"/>
                  <a:pt x="250" y="192"/>
                </a:cubicBezTo>
                <a:cubicBezTo>
                  <a:pt x="249" y="191"/>
                  <a:pt x="248" y="188"/>
                  <a:pt x="247" y="185"/>
                </a:cubicBezTo>
                <a:cubicBezTo>
                  <a:pt x="246" y="181"/>
                  <a:pt x="245" y="176"/>
                  <a:pt x="244" y="172"/>
                </a:cubicBezTo>
                <a:cubicBezTo>
                  <a:pt x="244" y="167"/>
                  <a:pt x="243" y="162"/>
                  <a:pt x="241" y="157"/>
                </a:cubicBezTo>
                <a:cubicBezTo>
                  <a:pt x="236" y="134"/>
                  <a:pt x="220" y="117"/>
                  <a:pt x="196" y="110"/>
                </a:cubicBezTo>
                <a:cubicBezTo>
                  <a:pt x="172" y="104"/>
                  <a:pt x="146" y="110"/>
                  <a:pt x="128" y="128"/>
                </a:cubicBezTo>
                <a:cubicBezTo>
                  <a:pt x="111" y="146"/>
                  <a:pt x="104" y="172"/>
                  <a:pt x="111" y="196"/>
                </a:cubicBezTo>
                <a:cubicBezTo>
                  <a:pt x="118" y="219"/>
                  <a:pt x="135" y="235"/>
                  <a:pt x="158" y="241"/>
                </a:cubicBezTo>
                <a:cubicBezTo>
                  <a:pt x="164" y="242"/>
                  <a:pt x="170" y="243"/>
                  <a:pt x="176" y="244"/>
                </a:cubicBezTo>
                <a:cubicBezTo>
                  <a:pt x="179" y="245"/>
                  <a:pt x="183" y="246"/>
                  <a:pt x="187" y="246"/>
                </a:cubicBezTo>
                <a:cubicBezTo>
                  <a:pt x="188" y="247"/>
                  <a:pt x="188" y="247"/>
                  <a:pt x="188" y="247"/>
                </a:cubicBezTo>
                <a:cubicBezTo>
                  <a:pt x="189" y="247"/>
                  <a:pt x="191" y="247"/>
                  <a:pt x="191" y="247"/>
                </a:cubicBezTo>
                <a:cubicBezTo>
                  <a:pt x="197" y="253"/>
                  <a:pt x="203" y="259"/>
                  <a:pt x="208" y="264"/>
                </a:cubicBezTo>
                <a:cubicBezTo>
                  <a:pt x="211" y="267"/>
                  <a:pt x="211" y="267"/>
                  <a:pt x="211" y="267"/>
                </a:cubicBezTo>
                <a:cubicBezTo>
                  <a:pt x="208" y="272"/>
                  <a:pt x="205" y="276"/>
                  <a:pt x="203" y="280"/>
                </a:cubicBezTo>
                <a:cubicBezTo>
                  <a:pt x="182" y="313"/>
                  <a:pt x="178" y="318"/>
                  <a:pt x="162" y="385"/>
                </a:cubicBezTo>
                <a:cubicBezTo>
                  <a:pt x="158" y="385"/>
                  <a:pt x="158" y="385"/>
                  <a:pt x="158" y="385"/>
                </a:cubicBezTo>
                <a:cubicBezTo>
                  <a:pt x="150" y="385"/>
                  <a:pt x="142" y="385"/>
                  <a:pt x="134" y="385"/>
                </a:cubicBezTo>
                <a:cubicBezTo>
                  <a:pt x="134" y="385"/>
                  <a:pt x="133" y="384"/>
                  <a:pt x="132" y="384"/>
                </a:cubicBezTo>
                <a:cubicBezTo>
                  <a:pt x="132" y="383"/>
                  <a:pt x="131" y="383"/>
                  <a:pt x="131" y="383"/>
                </a:cubicBezTo>
                <a:cubicBezTo>
                  <a:pt x="128" y="381"/>
                  <a:pt x="125" y="379"/>
                  <a:pt x="122" y="377"/>
                </a:cubicBezTo>
                <a:cubicBezTo>
                  <a:pt x="116" y="373"/>
                  <a:pt x="110" y="368"/>
                  <a:pt x="103" y="365"/>
                </a:cubicBezTo>
                <a:cubicBezTo>
                  <a:pt x="72" y="347"/>
                  <a:pt x="38" y="360"/>
                  <a:pt x="21" y="382"/>
                </a:cubicBezTo>
                <a:cubicBezTo>
                  <a:pt x="0" y="408"/>
                  <a:pt x="1" y="444"/>
                  <a:pt x="21" y="469"/>
                </a:cubicBezTo>
                <a:cubicBezTo>
                  <a:pt x="39" y="490"/>
                  <a:pt x="72" y="504"/>
                  <a:pt x="105" y="485"/>
                </a:cubicBezTo>
                <a:cubicBezTo>
                  <a:pt x="111" y="481"/>
                  <a:pt x="117" y="477"/>
                  <a:pt x="123" y="473"/>
                </a:cubicBezTo>
                <a:cubicBezTo>
                  <a:pt x="125" y="471"/>
                  <a:pt x="128" y="469"/>
                  <a:pt x="131" y="467"/>
                </a:cubicBezTo>
                <a:cubicBezTo>
                  <a:pt x="132" y="467"/>
                  <a:pt x="132" y="467"/>
                  <a:pt x="133" y="466"/>
                </a:cubicBezTo>
                <a:cubicBezTo>
                  <a:pt x="133" y="466"/>
                  <a:pt x="134" y="466"/>
                  <a:pt x="134" y="465"/>
                </a:cubicBezTo>
                <a:cubicBezTo>
                  <a:pt x="142" y="465"/>
                  <a:pt x="150" y="465"/>
                  <a:pt x="159" y="465"/>
                </a:cubicBezTo>
                <a:cubicBezTo>
                  <a:pt x="162" y="465"/>
                  <a:pt x="162" y="465"/>
                  <a:pt x="162" y="465"/>
                </a:cubicBezTo>
                <a:cubicBezTo>
                  <a:pt x="169" y="509"/>
                  <a:pt x="185" y="548"/>
                  <a:pt x="211" y="583"/>
                </a:cubicBezTo>
                <a:cubicBezTo>
                  <a:pt x="208" y="586"/>
                  <a:pt x="208" y="586"/>
                  <a:pt x="208" y="586"/>
                </a:cubicBezTo>
                <a:cubicBezTo>
                  <a:pt x="202" y="592"/>
                  <a:pt x="196" y="598"/>
                  <a:pt x="191" y="603"/>
                </a:cubicBezTo>
                <a:cubicBezTo>
                  <a:pt x="190" y="603"/>
                  <a:pt x="189" y="604"/>
                  <a:pt x="188" y="604"/>
                </a:cubicBezTo>
                <a:cubicBezTo>
                  <a:pt x="187" y="604"/>
                  <a:pt x="187" y="604"/>
                  <a:pt x="186" y="604"/>
                </a:cubicBezTo>
                <a:cubicBezTo>
                  <a:pt x="183" y="605"/>
                  <a:pt x="179" y="605"/>
                  <a:pt x="176" y="606"/>
                </a:cubicBezTo>
                <a:cubicBezTo>
                  <a:pt x="170" y="607"/>
                  <a:pt x="164" y="608"/>
                  <a:pt x="157" y="610"/>
                </a:cubicBezTo>
                <a:cubicBezTo>
                  <a:pt x="136" y="615"/>
                  <a:pt x="120" y="630"/>
                  <a:pt x="112" y="650"/>
                </a:cubicBezTo>
                <a:cubicBezTo>
                  <a:pt x="105" y="672"/>
                  <a:pt x="109" y="697"/>
                  <a:pt x="122" y="715"/>
                </a:cubicBezTo>
                <a:cubicBezTo>
                  <a:pt x="139" y="737"/>
                  <a:pt x="162" y="746"/>
                  <a:pt x="189" y="742"/>
                </a:cubicBezTo>
                <a:cubicBezTo>
                  <a:pt x="216" y="737"/>
                  <a:pt x="234" y="720"/>
                  <a:pt x="241" y="694"/>
                </a:cubicBezTo>
                <a:cubicBezTo>
                  <a:pt x="243" y="688"/>
                  <a:pt x="244" y="681"/>
                  <a:pt x="245" y="675"/>
                </a:cubicBezTo>
                <a:cubicBezTo>
                  <a:pt x="246" y="671"/>
                  <a:pt x="246" y="668"/>
                  <a:pt x="247" y="664"/>
                </a:cubicBezTo>
                <a:cubicBezTo>
                  <a:pt x="247" y="663"/>
                  <a:pt x="247" y="663"/>
                  <a:pt x="247" y="663"/>
                </a:cubicBezTo>
                <a:cubicBezTo>
                  <a:pt x="248" y="662"/>
                  <a:pt x="248" y="660"/>
                  <a:pt x="248" y="660"/>
                </a:cubicBezTo>
                <a:cubicBezTo>
                  <a:pt x="254" y="654"/>
                  <a:pt x="259" y="648"/>
                  <a:pt x="265" y="643"/>
                </a:cubicBezTo>
                <a:cubicBezTo>
                  <a:pt x="267" y="641"/>
                  <a:pt x="267" y="641"/>
                  <a:pt x="267" y="641"/>
                </a:cubicBezTo>
                <a:cubicBezTo>
                  <a:pt x="272" y="644"/>
                  <a:pt x="277" y="647"/>
                  <a:pt x="281" y="649"/>
                </a:cubicBezTo>
                <a:cubicBezTo>
                  <a:pt x="296" y="657"/>
                  <a:pt x="309" y="665"/>
                  <a:pt x="324" y="671"/>
                </a:cubicBezTo>
                <a:cubicBezTo>
                  <a:pt x="338" y="677"/>
                  <a:pt x="354" y="681"/>
                  <a:pt x="369" y="686"/>
                </a:cubicBezTo>
                <a:cubicBezTo>
                  <a:pt x="375" y="687"/>
                  <a:pt x="380" y="689"/>
                  <a:pt x="386" y="690"/>
                </a:cubicBezTo>
                <a:cubicBezTo>
                  <a:pt x="386" y="693"/>
                  <a:pt x="386" y="693"/>
                  <a:pt x="386" y="693"/>
                </a:cubicBezTo>
                <a:cubicBezTo>
                  <a:pt x="386" y="700"/>
                  <a:pt x="386" y="709"/>
                  <a:pt x="386" y="717"/>
                </a:cubicBezTo>
                <a:cubicBezTo>
                  <a:pt x="386" y="717"/>
                  <a:pt x="385" y="718"/>
                  <a:pt x="385" y="719"/>
                </a:cubicBezTo>
                <a:cubicBezTo>
                  <a:pt x="384" y="719"/>
                  <a:pt x="384" y="720"/>
                  <a:pt x="384" y="720"/>
                </a:cubicBezTo>
                <a:cubicBezTo>
                  <a:pt x="382" y="723"/>
                  <a:pt x="379" y="726"/>
                  <a:pt x="377" y="729"/>
                </a:cubicBezTo>
                <a:cubicBezTo>
                  <a:pt x="373" y="735"/>
                  <a:pt x="369" y="742"/>
                  <a:pt x="365" y="748"/>
                </a:cubicBezTo>
                <a:cubicBezTo>
                  <a:pt x="348" y="780"/>
                  <a:pt x="362" y="815"/>
                  <a:pt x="384" y="832"/>
                </a:cubicBezTo>
                <a:cubicBezTo>
                  <a:pt x="396" y="841"/>
                  <a:pt x="411" y="846"/>
                  <a:pt x="426" y="846"/>
                </a:cubicBezTo>
                <a:cubicBezTo>
                  <a:pt x="442" y="846"/>
                  <a:pt x="458" y="840"/>
                  <a:pt x="470" y="829"/>
                </a:cubicBezTo>
                <a:cubicBezTo>
                  <a:pt x="491" y="812"/>
                  <a:pt x="505" y="778"/>
                  <a:pt x="485" y="745"/>
                </a:cubicBezTo>
                <a:cubicBezTo>
                  <a:pt x="482" y="740"/>
                  <a:pt x="478" y="734"/>
                  <a:pt x="474" y="729"/>
                </a:cubicBezTo>
                <a:cubicBezTo>
                  <a:pt x="472" y="726"/>
                  <a:pt x="470" y="723"/>
                  <a:pt x="468" y="720"/>
                </a:cubicBezTo>
                <a:cubicBezTo>
                  <a:pt x="468" y="719"/>
                  <a:pt x="468" y="719"/>
                  <a:pt x="468" y="719"/>
                </a:cubicBezTo>
                <a:cubicBezTo>
                  <a:pt x="467" y="718"/>
                  <a:pt x="466" y="717"/>
                  <a:pt x="466" y="717"/>
                </a:cubicBezTo>
                <a:cubicBezTo>
                  <a:pt x="466" y="709"/>
                  <a:pt x="466" y="701"/>
                  <a:pt x="466" y="693"/>
                </a:cubicBezTo>
                <a:cubicBezTo>
                  <a:pt x="466" y="689"/>
                  <a:pt x="466" y="689"/>
                  <a:pt x="466" y="689"/>
                </a:cubicBezTo>
                <a:cubicBezTo>
                  <a:pt x="510" y="682"/>
                  <a:pt x="548" y="666"/>
                  <a:pt x="584" y="640"/>
                </a:cubicBezTo>
                <a:cubicBezTo>
                  <a:pt x="585" y="641"/>
                  <a:pt x="586" y="642"/>
                  <a:pt x="587" y="643"/>
                </a:cubicBezTo>
                <a:cubicBezTo>
                  <a:pt x="593" y="649"/>
                  <a:pt x="598" y="654"/>
                  <a:pt x="603" y="660"/>
                </a:cubicBezTo>
                <a:cubicBezTo>
                  <a:pt x="603" y="660"/>
                  <a:pt x="604" y="661"/>
                  <a:pt x="605" y="664"/>
                </a:cubicBezTo>
                <a:cubicBezTo>
                  <a:pt x="606" y="668"/>
                  <a:pt x="606" y="672"/>
                  <a:pt x="607" y="677"/>
                </a:cubicBezTo>
                <a:cubicBezTo>
                  <a:pt x="608" y="682"/>
                  <a:pt x="609" y="688"/>
                  <a:pt x="611" y="694"/>
                </a:cubicBezTo>
                <a:cubicBezTo>
                  <a:pt x="616" y="716"/>
                  <a:pt x="632" y="733"/>
                  <a:pt x="655" y="740"/>
                </a:cubicBezTo>
                <a:cubicBezTo>
                  <a:pt x="679" y="747"/>
                  <a:pt x="705" y="740"/>
                  <a:pt x="723" y="723"/>
                </a:cubicBezTo>
                <a:cubicBezTo>
                  <a:pt x="740" y="706"/>
                  <a:pt x="747" y="679"/>
                  <a:pt x="741" y="655"/>
                </a:cubicBezTo>
                <a:cubicBezTo>
                  <a:pt x="734" y="632"/>
                  <a:pt x="718" y="615"/>
                  <a:pt x="695" y="610"/>
                </a:cubicBezTo>
                <a:cubicBezTo>
                  <a:pt x="688" y="608"/>
                  <a:pt x="682" y="607"/>
                  <a:pt x="676" y="606"/>
                </a:cubicBezTo>
                <a:cubicBezTo>
                  <a:pt x="672" y="605"/>
                  <a:pt x="669" y="605"/>
                  <a:pt x="665" y="604"/>
                </a:cubicBezTo>
                <a:cubicBezTo>
                  <a:pt x="664" y="604"/>
                  <a:pt x="664" y="604"/>
                  <a:pt x="664" y="604"/>
                </a:cubicBezTo>
                <a:cubicBezTo>
                  <a:pt x="663" y="604"/>
                  <a:pt x="661" y="603"/>
                  <a:pt x="661" y="603"/>
                </a:cubicBezTo>
                <a:cubicBezTo>
                  <a:pt x="655" y="598"/>
                  <a:pt x="649" y="592"/>
                  <a:pt x="643" y="586"/>
                </a:cubicBezTo>
                <a:cubicBezTo>
                  <a:pt x="643" y="585"/>
                  <a:pt x="642" y="584"/>
                  <a:pt x="641" y="583"/>
                </a:cubicBezTo>
                <a:cubicBezTo>
                  <a:pt x="667" y="548"/>
                  <a:pt x="683" y="509"/>
                  <a:pt x="690" y="465"/>
                </a:cubicBezTo>
                <a:cubicBezTo>
                  <a:pt x="691" y="465"/>
                  <a:pt x="692" y="465"/>
                  <a:pt x="693" y="465"/>
                </a:cubicBezTo>
                <a:cubicBezTo>
                  <a:pt x="699" y="465"/>
                  <a:pt x="706" y="465"/>
                  <a:pt x="712" y="465"/>
                </a:cubicBezTo>
                <a:cubicBezTo>
                  <a:pt x="716" y="465"/>
                  <a:pt x="719" y="466"/>
                  <a:pt x="723" y="468"/>
                </a:cubicBezTo>
                <a:cubicBezTo>
                  <a:pt x="732" y="476"/>
                  <a:pt x="740" y="481"/>
                  <a:pt x="748" y="485"/>
                </a:cubicBezTo>
                <a:cubicBezTo>
                  <a:pt x="773" y="499"/>
                  <a:pt x="801" y="496"/>
                  <a:pt x="823" y="477"/>
                </a:cubicBezTo>
                <a:cubicBezTo>
                  <a:pt x="849" y="454"/>
                  <a:pt x="854" y="415"/>
                  <a:pt x="834" y="386"/>
                </a:cubicBezTo>
                <a:close/>
                <a:moveTo>
                  <a:pt x="658" y="161"/>
                </a:moveTo>
                <a:cubicBezTo>
                  <a:pt x="660" y="157"/>
                  <a:pt x="664" y="154"/>
                  <a:pt x="667" y="152"/>
                </a:cubicBezTo>
                <a:cubicBezTo>
                  <a:pt x="671" y="153"/>
                  <a:pt x="674" y="154"/>
                  <a:pt x="675" y="155"/>
                </a:cubicBezTo>
                <a:cubicBezTo>
                  <a:pt x="682" y="161"/>
                  <a:pt x="689" y="168"/>
                  <a:pt x="695" y="175"/>
                </a:cubicBezTo>
                <a:cubicBezTo>
                  <a:pt x="700" y="181"/>
                  <a:pt x="698" y="188"/>
                  <a:pt x="692" y="192"/>
                </a:cubicBezTo>
                <a:cubicBezTo>
                  <a:pt x="687" y="195"/>
                  <a:pt x="681" y="194"/>
                  <a:pt x="676" y="188"/>
                </a:cubicBezTo>
                <a:cubicBezTo>
                  <a:pt x="671" y="183"/>
                  <a:pt x="667" y="178"/>
                  <a:pt x="662" y="174"/>
                </a:cubicBezTo>
                <a:cubicBezTo>
                  <a:pt x="658" y="170"/>
                  <a:pt x="656" y="165"/>
                  <a:pt x="658" y="161"/>
                </a:cubicBezTo>
                <a:close/>
                <a:moveTo>
                  <a:pt x="190" y="175"/>
                </a:moveTo>
                <a:cubicBezTo>
                  <a:pt x="186" y="180"/>
                  <a:pt x="181" y="184"/>
                  <a:pt x="177" y="188"/>
                </a:cubicBezTo>
                <a:cubicBezTo>
                  <a:pt x="172" y="194"/>
                  <a:pt x="165" y="195"/>
                  <a:pt x="160" y="192"/>
                </a:cubicBezTo>
                <a:cubicBezTo>
                  <a:pt x="154" y="188"/>
                  <a:pt x="153" y="181"/>
                  <a:pt x="157" y="175"/>
                </a:cubicBezTo>
                <a:cubicBezTo>
                  <a:pt x="163" y="168"/>
                  <a:pt x="170" y="161"/>
                  <a:pt x="178" y="155"/>
                </a:cubicBezTo>
                <a:cubicBezTo>
                  <a:pt x="186" y="150"/>
                  <a:pt x="196" y="156"/>
                  <a:pt x="196" y="167"/>
                </a:cubicBezTo>
                <a:cubicBezTo>
                  <a:pt x="195" y="169"/>
                  <a:pt x="193" y="172"/>
                  <a:pt x="190" y="175"/>
                </a:cubicBezTo>
                <a:close/>
                <a:moveTo>
                  <a:pt x="82" y="435"/>
                </a:moveTo>
                <a:cubicBezTo>
                  <a:pt x="82" y="442"/>
                  <a:pt x="79" y="446"/>
                  <a:pt x="72" y="447"/>
                </a:cubicBezTo>
                <a:cubicBezTo>
                  <a:pt x="66" y="448"/>
                  <a:pt x="61" y="445"/>
                  <a:pt x="59" y="438"/>
                </a:cubicBezTo>
                <a:cubicBezTo>
                  <a:pt x="59" y="436"/>
                  <a:pt x="59" y="435"/>
                  <a:pt x="58" y="433"/>
                </a:cubicBezTo>
                <a:cubicBezTo>
                  <a:pt x="58" y="430"/>
                  <a:pt x="58" y="427"/>
                  <a:pt x="58" y="422"/>
                </a:cubicBezTo>
                <a:cubicBezTo>
                  <a:pt x="58" y="419"/>
                  <a:pt x="59" y="413"/>
                  <a:pt x="60" y="408"/>
                </a:cubicBezTo>
                <a:cubicBezTo>
                  <a:pt x="61" y="402"/>
                  <a:pt x="67" y="399"/>
                  <a:pt x="73" y="400"/>
                </a:cubicBezTo>
                <a:cubicBezTo>
                  <a:pt x="79" y="401"/>
                  <a:pt x="83" y="406"/>
                  <a:pt x="83" y="412"/>
                </a:cubicBezTo>
                <a:cubicBezTo>
                  <a:pt x="82" y="420"/>
                  <a:pt x="82" y="427"/>
                  <a:pt x="82" y="435"/>
                </a:cubicBezTo>
                <a:close/>
                <a:moveTo>
                  <a:pt x="195" y="690"/>
                </a:moveTo>
                <a:cubicBezTo>
                  <a:pt x="191" y="695"/>
                  <a:pt x="184" y="697"/>
                  <a:pt x="179" y="693"/>
                </a:cubicBezTo>
                <a:cubicBezTo>
                  <a:pt x="171" y="686"/>
                  <a:pt x="164" y="679"/>
                  <a:pt x="158" y="671"/>
                </a:cubicBezTo>
                <a:cubicBezTo>
                  <a:pt x="153" y="664"/>
                  <a:pt x="159" y="654"/>
                  <a:pt x="170" y="654"/>
                </a:cubicBezTo>
                <a:cubicBezTo>
                  <a:pt x="172" y="655"/>
                  <a:pt x="175" y="656"/>
                  <a:pt x="177" y="659"/>
                </a:cubicBezTo>
                <a:cubicBezTo>
                  <a:pt x="182" y="664"/>
                  <a:pt x="187" y="669"/>
                  <a:pt x="192" y="673"/>
                </a:cubicBezTo>
                <a:cubicBezTo>
                  <a:pt x="197" y="678"/>
                  <a:pt x="198" y="684"/>
                  <a:pt x="195" y="690"/>
                </a:cubicBezTo>
                <a:close/>
                <a:moveTo>
                  <a:pt x="413" y="56"/>
                </a:moveTo>
                <a:cubicBezTo>
                  <a:pt x="418" y="55"/>
                  <a:pt x="422" y="55"/>
                  <a:pt x="427" y="54"/>
                </a:cubicBezTo>
                <a:cubicBezTo>
                  <a:pt x="432" y="55"/>
                  <a:pt x="437" y="55"/>
                  <a:pt x="441" y="56"/>
                </a:cubicBezTo>
                <a:cubicBezTo>
                  <a:pt x="448" y="58"/>
                  <a:pt x="452" y="63"/>
                  <a:pt x="450" y="70"/>
                </a:cubicBezTo>
                <a:cubicBezTo>
                  <a:pt x="449" y="76"/>
                  <a:pt x="444" y="80"/>
                  <a:pt x="437" y="79"/>
                </a:cubicBezTo>
                <a:cubicBezTo>
                  <a:pt x="430" y="79"/>
                  <a:pt x="423" y="79"/>
                  <a:pt x="417" y="79"/>
                </a:cubicBezTo>
                <a:cubicBezTo>
                  <a:pt x="409" y="79"/>
                  <a:pt x="404" y="76"/>
                  <a:pt x="403" y="70"/>
                </a:cubicBezTo>
                <a:cubicBezTo>
                  <a:pt x="402" y="63"/>
                  <a:pt x="406" y="58"/>
                  <a:pt x="413" y="56"/>
                </a:cubicBezTo>
                <a:close/>
                <a:moveTo>
                  <a:pt x="371" y="440"/>
                </a:moveTo>
                <a:cubicBezTo>
                  <a:pt x="365" y="449"/>
                  <a:pt x="355" y="451"/>
                  <a:pt x="345" y="445"/>
                </a:cubicBezTo>
                <a:cubicBezTo>
                  <a:pt x="328" y="435"/>
                  <a:pt x="309" y="438"/>
                  <a:pt x="299" y="453"/>
                </a:cubicBezTo>
                <a:cubicBezTo>
                  <a:pt x="288" y="468"/>
                  <a:pt x="291" y="486"/>
                  <a:pt x="306" y="499"/>
                </a:cubicBezTo>
                <a:cubicBezTo>
                  <a:pt x="314" y="506"/>
                  <a:pt x="315" y="517"/>
                  <a:pt x="309" y="525"/>
                </a:cubicBezTo>
                <a:cubicBezTo>
                  <a:pt x="306" y="529"/>
                  <a:pt x="301" y="531"/>
                  <a:pt x="296" y="531"/>
                </a:cubicBezTo>
                <a:cubicBezTo>
                  <a:pt x="292" y="531"/>
                  <a:pt x="287" y="530"/>
                  <a:pt x="283" y="527"/>
                </a:cubicBezTo>
                <a:cubicBezTo>
                  <a:pt x="261" y="509"/>
                  <a:pt x="251" y="478"/>
                  <a:pt x="260" y="450"/>
                </a:cubicBezTo>
                <a:cubicBezTo>
                  <a:pt x="270" y="422"/>
                  <a:pt x="296" y="404"/>
                  <a:pt x="325" y="404"/>
                </a:cubicBezTo>
                <a:cubicBezTo>
                  <a:pt x="339" y="403"/>
                  <a:pt x="352" y="407"/>
                  <a:pt x="364" y="415"/>
                </a:cubicBezTo>
                <a:cubicBezTo>
                  <a:pt x="374" y="422"/>
                  <a:pt x="376" y="432"/>
                  <a:pt x="371" y="440"/>
                </a:cubicBezTo>
                <a:close/>
                <a:moveTo>
                  <a:pt x="389" y="303"/>
                </a:moveTo>
                <a:cubicBezTo>
                  <a:pt x="389" y="308"/>
                  <a:pt x="387" y="315"/>
                  <a:pt x="383" y="318"/>
                </a:cubicBezTo>
                <a:cubicBezTo>
                  <a:pt x="378" y="321"/>
                  <a:pt x="371" y="323"/>
                  <a:pt x="365" y="321"/>
                </a:cubicBezTo>
                <a:cubicBezTo>
                  <a:pt x="362" y="320"/>
                  <a:pt x="353" y="317"/>
                  <a:pt x="354" y="303"/>
                </a:cubicBezTo>
                <a:cubicBezTo>
                  <a:pt x="354" y="271"/>
                  <a:pt x="378" y="243"/>
                  <a:pt x="409" y="238"/>
                </a:cubicBezTo>
                <a:cubicBezTo>
                  <a:pt x="412" y="237"/>
                  <a:pt x="415" y="237"/>
                  <a:pt x="418" y="236"/>
                </a:cubicBezTo>
                <a:cubicBezTo>
                  <a:pt x="419" y="236"/>
                  <a:pt x="421" y="236"/>
                  <a:pt x="422" y="236"/>
                </a:cubicBezTo>
                <a:cubicBezTo>
                  <a:pt x="422" y="236"/>
                  <a:pt x="422" y="236"/>
                  <a:pt x="422" y="236"/>
                </a:cubicBezTo>
                <a:cubicBezTo>
                  <a:pt x="423" y="236"/>
                  <a:pt x="423" y="236"/>
                  <a:pt x="423" y="236"/>
                </a:cubicBezTo>
                <a:cubicBezTo>
                  <a:pt x="460" y="236"/>
                  <a:pt x="490" y="266"/>
                  <a:pt x="491" y="302"/>
                </a:cubicBezTo>
                <a:cubicBezTo>
                  <a:pt x="492" y="309"/>
                  <a:pt x="490" y="314"/>
                  <a:pt x="486" y="318"/>
                </a:cubicBezTo>
                <a:cubicBezTo>
                  <a:pt x="483" y="321"/>
                  <a:pt x="479" y="323"/>
                  <a:pt x="474" y="323"/>
                </a:cubicBezTo>
                <a:cubicBezTo>
                  <a:pt x="474" y="323"/>
                  <a:pt x="474" y="323"/>
                  <a:pt x="473" y="323"/>
                </a:cubicBezTo>
                <a:cubicBezTo>
                  <a:pt x="469" y="323"/>
                  <a:pt x="457" y="321"/>
                  <a:pt x="456" y="304"/>
                </a:cubicBezTo>
                <a:cubicBezTo>
                  <a:pt x="455" y="294"/>
                  <a:pt x="451" y="286"/>
                  <a:pt x="444" y="280"/>
                </a:cubicBezTo>
                <a:cubicBezTo>
                  <a:pt x="438" y="274"/>
                  <a:pt x="429" y="271"/>
                  <a:pt x="419" y="272"/>
                </a:cubicBezTo>
                <a:cubicBezTo>
                  <a:pt x="403" y="273"/>
                  <a:pt x="390" y="286"/>
                  <a:pt x="389" y="303"/>
                </a:cubicBezTo>
                <a:close/>
                <a:moveTo>
                  <a:pt x="442" y="792"/>
                </a:moveTo>
                <a:cubicBezTo>
                  <a:pt x="437" y="793"/>
                  <a:pt x="432" y="793"/>
                  <a:pt x="427" y="794"/>
                </a:cubicBezTo>
                <a:cubicBezTo>
                  <a:pt x="422" y="793"/>
                  <a:pt x="416" y="793"/>
                  <a:pt x="411" y="791"/>
                </a:cubicBezTo>
                <a:cubicBezTo>
                  <a:pt x="405" y="790"/>
                  <a:pt x="402" y="784"/>
                  <a:pt x="403" y="778"/>
                </a:cubicBezTo>
                <a:cubicBezTo>
                  <a:pt x="404" y="772"/>
                  <a:pt x="409" y="769"/>
                  <a:pt x="415" y="769"/>
                </a:cubicBezTo>
                <a:cubicBezTo>
                  <a:pt x="423" y="769"/>
                  <a:pt x="431" y="769"/>
                  <a:pt x="439" y="769"/>
                </a:cubicBezTo>
                <a:cubicBezTo>
                  <a:pt x="445" y="769"/>
                  <a:pt x="449" y="772"/>
                  <a:pt x="450" y="778"/>
                </a:cubicBezTo>
                <a:cubicBezTo>
                  <a:pt x="452" y="785"/>
                  <a:pt x="448" y="790"/>
                  <a:pt x="442" y="792"/>
                </a:cubicBezTo>
                <a:close/>
                <a:moveTo>
                  <a:pt x="559" y="519"/>
                </a:moveTo>
                <a:cubicBezTo>
                  <a:pt x="547" y="542"/>
                  <a:pt x="526" y="555"/>
                  <a:pt x="500" y="556"/>
                </a:cubicBezTo>
                <a:cubicBezTo>
                  <a:pt x="499" y="556"/>
                  <a:pt x="499" y="556"/>
                  <a:pt x="499" y="556"/>
                </a:cubicBezTo>
                <a:cubicBezTo>
                  <a:pt x="499" y="556"/>
                  <a:pt x="499" y="556"/>
                  <a:pt x="499" y="556"/>
                </a:cubicBezTo>
                <a:cubicBezTo>
                  <a:pt x="476" y="556"/>
                  <a:pt x="459" y="548"/>
                  <a:pt x="445" y="532"/>
                </a:cubicBezTo>
                <a:cubicBezTo>
                  <a:pt x="441" y="527"/>
                  <a:pt x="439" y="522"/>
                  <a:pt x="440" y="517"/>
                </a:cubicBezTo>
                <a:cubicBezTo>
                  <a:pt x="440" y="512"/>
                  <a:pt x="442" y="508"/>
                  <a:pt x="445" y="505"/>
                </a:cubicBezTo>
                <a:cubicBezTo>
                  <a:pt x="453" y="499"/>
                  <a:pt x="464" y="500"/>
                  <a:pt x="472" y="509"/>
                </a:cubicBezTo>
                <a:cubicBezTo>
                  <a:pt x="483" y="521"/>
                  <a:pt x="499" y="524"/>
                  <a:pt x="513" y="517"/>
                </a:cubicBezTo>
                <a:cubicBezTo>
                  <a:pt x="527" y="509"/>
                  <a:pt x="534" y="493"/>
                  <a:pt x="530" y="479"/>
                </a:cubicBezTo>
                <a:cubicBezTo>
                  <a:pt x="529" y="475"/>
                  <a:pt x="526" y="470"/>
                  <a:pt x="524" y="467"/>
                </a:cubicBezTo>
                <a:cubicBezTo>
                  <a:pt x="518" y="457"/>
                  <a:pt x="520" y="447"/>
                  <a:pt x="528" y="441"/>
                </a:cubicBezTo>
                <a:cubicBezTo>
                  <a:pt x="537" y="436"/>
                  <a:pt x="547" y="438"/>
                  <a:pt x="553" y="447"/>
                </a:cubicBezTo>
                <a:cubicBezTo>
                  <a:pt x="569" y="470"/>
                  <a:pt x="571" y="495"/>
                  <a:pt x="559" y="519"/>
                </a:cubicBezTo>
                <a:close/>
                <a:moveTo>
                  <a:pt x="661" y="675"/>
                </a:moveTo>
                <a:cubicBezTo>
                  <a:pt x="667" y="670"/>
                  <a:pt x="672" y="665"/>
                  <a:pt x="677" y="660"/>
                </a:cubicBezTo>
                <a:cubicBezTo>
                  <a:pt x="682" y="655"/>
                  <a:pt x="687" y="654"/>
                  <a:pt x="692" y="657"/>
                </a:cubicBezTo>
                <a:cubicBezTo>
                  <a:pt x="697" y="660"/>
                  <a:pt x="699" y="666"/>
                  <a:pt x="697" y="671"/>
                </a:cubicBezTo>
                <a:cubicBezTo>
                  <a:pt x="692" y="682"/>
                  <a:pt x="683" y="691"/>
                  <a:pt x="671" y="696"/>
                </a:cubicBezTo>
                <a:cubicBezTo>
                  <a:pt x="671" y="696"/>
                  <a:pt x="670" y="696"/>
                  <a:pt x="669" y="696"/>
                </a:cubicBezTo>
                <a:cubicBezTo>
                  <a:pt x="669" y="697"/>
                  <a:pt x="668" y="697"/>
                  <a:pt x="668" y="698"/>
                </a:cubicBezTo>
                <a:cubicBezTo>
                  <a:pt x="665" y="695"/>
                  <a:pt x="660" y="692"/>
                  <a:pt x="658" y="689"/>
                </a:cubicBezTo>
                <a:cubicBezTo>
                  <a:pt x="656" y="684"/>
                  <a:pt x="657" y="679"/>
                  <a:pt x="661" y="675"/>
                </a:cubicBezTo>
                <a:close/>
                <a:moveTo>
                  <a:pt x="792" y="438"/>
                </a:moveTo>
                <a:cubicBezTo>
                  <a:pt x="791" y="445"/>
                  <a:pt x="785" y="448"/>
                  <a:pt x="779" y="447"/>
                </a:cubicBezTo>
                <a:cubicBezTo>
                  <a:pt x="773" y="446"/>
                  <a:pt x="769" y="441"/>
                  <a:pt x="769" y="434"/>
                </a:cubicBezTo>
                <a:cubicBezTo>
                  <a:pt x="770" y="427"/>
                  <a:pt x="770" y="420"/>
                  <a:pt x="770" y="413"/>
                </a:cubicBezTo>
                <a:cubicBezTo>
                  <a:pt x="770" y="406"/>
                  <a:pt x="773" y="401"/>
                  <a:pt x="779" y="400"/>
                </a:cubicBezTo>
                <a:cubicBezTo>
                  <a:pt x="786" y="399"/>
                  <a:pt x="791" y="402"/>
                  <a:pt x="793" y="409"/>
                </a:cubicBezTo>
                <a:cubicBezTo>
                  <a:pt x="793" y="411"/>
                  <a:pt x="793" y="412"/>
                  <a:pt x="794" y="414"/>
                </a:cubicBezTo>
                <a:cubicBezTo>
                  <a:pt x="794" y="417"/>
                  <a:pt x="794" y="420"/>
                  <a:pt x="794" y="425"/>
                </a:cubicBezTo>
                <a:cubicBezTo>
                  <a:pt x="794" y="428"/>
                  <a:pt x="793" y="433"/>
                  <a:pt x="792" y="43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75" name="Freeform 35"/>
          <p:cNvSpPr>
            <a:spLocks noEditPoints="1"/>
          </p:cNvSpPr>
          <p:nvPr userDrawn="1"/>
        </p:nvSpPr>
        <p:spPr bwMode="auto">
          <a:xfrm>
            <a:off x="3907488" y="3194750"/>
            <a:ext cx="235130" cy="314082"/>
          </a:xfrm>
          <a:custGeom>
            <a:avLst/>
            <a:gdLst>
              <a:gd name="T0" fmla="*/ 167 w 334"/>
              <a:gd name="T1" fmla="*/ 446 h 446"/>
              <a:gd name="T2" fmla="*/ 156 w 334"/>
              <a:gd name="T3" fmla="*/ 440 h 446"/>
              <a:gd name="T4" fmla="*/ 46 w 334"/>
              <a:gd name="T5" fmla="*/ 286 h 446"/>
              <a:gd name="T6" fmla="*/ 41 w 334"/>
              <a:gd name="T7" fmla="*/ 279 h 446"/>
              <a:gd name="T8" fmla="*/ 13 w 334"/>
              <a:gd name="T9" fmla="*/ 232 h 446"/>
              <a:gd name="T10" fmla="*/ 3 w 334"/>
              <a:gd name="T11" fmla="*/ 200 h 446"/>
              <a:gd name="T12" fmla="*/ 0 w 334"/>
              <a:gd name="T13" fmla="*/ 167 h 446"/>
              <a:gd name="T14" fmla="*/ 49 w 334"/>
              <a:gd name="T15" fmla="*/ 49 h 446"/>
              <a:gd name="T16" fmla="*/ 103 w 334"/>
              <a:gd name="T17" fmla="*/ 13 h 446"/>
              <a:gd name="T18" fmla="*/ 167 w 334"/>
              <a:gd name="T19" fmla="*/ 0 h 446"/>
              <a:gd name="T20" fmla="*/ 231 w 334"/>
              <a:gd name="T21" fmla="*/ 13 h 446"/>
              <a:gd name="T22" fmla="*/ 285 w 334"/>
              <a:gd name="T23" fmla="*/ 49 h 446"/>
              <a:gd name="T24" fmla="*/ 334 w 334"/>
              <a:gd name="T25" fmla="*/ 167 h 446"/>
              <a:gd name="T26" fmla="*/ 331 w 334"/>
              <a:gd name="T27" fmla="*/ 200 h 446"/>
              <a:gd name="T28" fmla="*/ 321 w 334"/>
              <a:gd name="T29" fmla="*/ 232 h 446"/>
              <a:gd name="T30" fmla="*/ 292 w 334"/>
              <a:gd name="T31" fmla="*/ 279 h 446"/>
              <a:gd name="T32" fmla="*/ 287 w 334"/>
              <a:gd name="T33" fmla="*/ 286 h 446"/>
              <a:gd name="T34" fmla="*/ 178 w 334"/>
              <a:gd name="T35" fmla="*/ 440 h 446"/>
              <a:gd name="T36" fmla="*/ 167 w 334"/>
              <a:gd name="T37" fmla="*/ 446 h 446"/>
              <a:gd name="T38" fmla="*/ 167 w 334"/>
              <a:gd name="T39" fmla="*/ 69 h 446"/>
              <a:gd name="T40" fmla="*/ 69 w 334"/>
              <a:gd name="T41" fmla="*/ 167 h 446"/>
              <a:gd name="T42" fmla="*/ 167 w 334"/>
              <a:gd name="T43" fmla="*/ 265 h 446"/>
              <a:gd name="T44" fmla="*/ 264 w 334"/>
              <a:gd name="T45" fmla="*/ 167 h 446"/>
              <a:gd name="T46" fmla="*/ 167 w 334"/>
              <a:gd name="T47" fmla="*/ 69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34" h="446">
                <a:moveTo>
                  <a:pt x="167" y="446"/>
                </a:moveTo>
                <a:cubicBezTo>
                  <a:pt x="163" y="446"/>
                  <a:pt x="158" y="444"/>
                  <a:pt x="156" y="440"/>
                </a:cubicBezTo>
                <a:cubicBezTo>
                  <a:pt x="46" y="286"/>
                  <a:pt x="46" y="286"/>
                  <a:pt x="46" y="286"/>
                </a:cubicBezTo>
                <a:cubicBezTo>
                  <a:pt x="44" y="282"/>
                  <a:pt x="43" y="281"/>
                  <a:pt x="41" y="279"/>
                </a:cubicBezTo>
                <a:cubicBezTo>
                  <a:pt x="31" y="264"/>
                  <a:pt x="20" y="250"/>
                  <a:pt x="13" y="232"/>
                </a:cubicBezTo>
                <a:cubicBezTo>
                  <a:pt x="9" y="222"/>
                  <a:pt x="5" y="211"/>
                  <a:pt x="3" y="200"/>
                </a:cubicBezTo>
                <a:cubicBezTo>
                  <a:pt x="1" y="189"/>
                  <a:pt x="0" y="178"/>
                  <a:pt x="0" y="167"/>
                </a:cubicBezTo>
                <a:cubicBezTo>
                  <a:pt x="0" y="121"/>
                  <a:pt x="18" y="79"/>
                  <a:pt x="49" y="49"/>
                </a:cubicBezTo>
                <a:cubicBezTo>
                  <a:pt x="64" y="33"/>
                  <a:pt x="82" y="21"/>
                  <a:pt x="103" y="13"/>
                </a:cubicBezTo>
                <a:cubicBezTo>
                  <a:pt x="123" y="4"/>
                  <a:pt x="144" y="0"/>
                  <a:pt x="167" y="0"/>
                </a:cubicBezTo>
                <a:cubicBezTo>
                  <a:pt x="189" y="0"/>
                  <a:pt x="211" y="4"/>
                  <a:pt x="231" y="13"/>
                </a:cubicBezTo>
                <a:cubicBezTo>
                  <a:pt x="251" y="21"/>
                  <a:pt x="270" y="33"/>
                  <a:pt x="285" y="49"/>
                </a:cubicBezTo>
                <a:cubicBezTo>
                  <a:pt x="315" y="79"/>
                  <a:pt x="334" y="121"/>
                  <a:pt x="334" y="167"/>
                </a:cubicBezTo>
                <a:cubicBezTo>
                  <a:pt x="334" y="178"/>
                  <a:pt x="333" y="189"/>
                  <a:pt x="331" y="200"/>
                </a:cubicBezTo>
                <a:cubicBezTo>
                  <a:pt x="328" y="211"/>
                  <a:pt x="325" y="222"/>
                  <a:pt x="321" y="232"/>
                </a:cubicBezTo>
                <a:cubicBezTo>
                  <a:pt x="313" y="250"/>
                  <a:pt x="303" y="264"/>
                  <a:pt x="292" y="279"/>
                </a:cubicBezTo>
                <a:cubicBezTo>
                  <a:pt x="291" y="281"/>
                  <a:pt x="290" y="282"/>
                  <a:pt x="287" y="286"/>
                </a:cubicBezTo>
                <a:cubicBezTo>
                  <a:pt x="178" y="440"/>
                  <a:pt x="178" y="440"/>
                  <a:pt x="178" y="440"/>
                </a:cubicBezTo>
                <a:cubicBezTo>
                  <a:pt x="175" y="444"/>
                  <a:pt x="171" y="446"/>
                  <a:pt x="167" y="446"/>
                </a:cubicBezTo>
                <a:close/>
                <a:moveTo>
                  <a:pt x="167" y="69"/>
                </a:moveTo>
                <a:cubicBezTo>
                  <a:pt x="113" y="69"/>
                  <a:pt x="69" y="113"/>
                  <a:pt x="69" y="167"/>
                </a:cubicBezTo>
                <a:cubicBezTo>
                  <a:pt x="69" y="221"/>
                  <a:pt x="113" y="265"/>
                  <a:pt x="167" y="265"/>
                </a:cubicBezTo>
                <a:cubicBezTo>
                  <a:pt x="221" y="265"/>
                  <a:pt x="264" y="221"/>
                  <a:pt x="264" y="167"/>
                </a:cubicBezTo>
                <a:cubicBezTo>
                  <a:pt x="264" y="113"/>
                  <a:pt x="221" y="69"/>
                  <a:pt x="167" y="6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26" name="Group 325"/>
          <p:cNvGrpSpPr/>
          <p:nvPr userDrawn="1"/>
        </p:nvGrpSpPr>
        <p:grpSpPr>
          <a:xfrm>
            <a:off x="3873712" y="2634524"/>
            <a:ext cx="302680" cy="282398"/>
            <a:chOff x="14200188" y="3206750"/>
            <a:chExt cx="615950" cy="574675"/>
          </a:xfrm>
          <a:solidFill>
            <a:schemeClr val="tx1"/>
          </a:solidFill>
        </p:grpSpPr>
        <p:sp>
          <p:nvSpPr>
            <p:cNvPr id="327" name="Freeform 83"/>
            <p:cNvSpPr>
              <a:spLocks/>
            </p:cNvSpPr>
            <p:nvPr/>
          </p:nvSpPr>
          <p:spPr bwMode="auto">
            <a:xfrm>
              <a:off x="14287500" y="3317875"/>
              <a:ext cx="73025" cy="60325"/>
            </a:xfrm>
            <a:custGeom>
              <a:avLst/>
              <a:gdLst>
                <a:gd name="T0" fmla="*/ 0 w 25"/>
                <a:gd name="T1" fmla="*/ 13 h 21"/>
                <a:gd name="T2" fmla="*/ 0 w 25"/>
                <a:gd name="T3" fmla="*/ 21 h 21"/>
                <a:gd name="T4" fmla="*/ 25 w 25"/>
                <a:gd name="T5" fmla="*/ 21 h 21"/>
                <a:gd name="T6" fmla="*/ 25 w 25"/>
                <a:gd name="T7" fmla="*/ 13 h 21"/>
                <a:gd name="T8" fmla="*/ 13 w 25"/>
                <a:gd name="T9" fmla="*/ 0 h 21"/>
                <a:gd name="T10" fmla="*/ 0 w 25"/>
                <a:gd name="T11" fmla="*/ 13 h 21"/>
              </a:gdLst>
              <a:ahLst/>
              <a:cxnLst>
                <a:cxn ang="0">
                  <a:pos x="T0" y="T1"/>
                </a:cxn>
                <a:cxn ang="0">
                  <a:pos x="T2" y="T3"/>
                </a:cxn>
                <a:cxn ang="0">
                  <a:pos x="T4" y="T5"/>
                </a:cxn>
                <a:cxn ang="0">
                  <a:pos x="T6" y="T7"/>
                </a:cxn>
                <a:cxn ang="0">
                  <a:pos x="T8" y="T9"/>
                </a:cxn>
                <a:cxn ang="0">
                  <a:pos x="T10" y="T11"/>
                </a:cxn>
              </a:cxnLst>
              <a:rect l="0" t="0" r="r" b="b"/>
              <a:pathLst>
                <a:path w="25" h="21">
                  <a:moveTo>
                    <a:pt x="0" y="13"/>
                  </a:moveTo>
                  <a:cubicBezTo>
                    <a:pt x="0" y="21"/>
                    <a:pt x="0" y="21"/>
                    <a:pt x="0" y="21"/>
                  </a:cubicBezTo>
                  <a:cubicBezTo>
                    <a:pt x="25" y="21"/>
                    <a:pt x="25" y="21"/>
                    <a:pt x="25" y="21"/>
                  </a:cubicBezTo>
                  <a:cubicBezTo>
                    <a:pt x="25" y="13"/>
                    <a:pt x="25" y="13"/>
                    <a:pt x="25" y="13"/>
                  </a:cubicBezTo>
                  <a:cubicBezTo>
                    <a:pt x="25" y="6"/>
                    <a:pt x="20" y="0"/>
                    <a:pt x="13" y="0"/>
                  </a:cubicBezTo>
                  <a:cubicBezTo>
                    <a:pt x="6" y="0"/>
                    <a:pt x="0" y="6"/>
                    <a:pt x="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8" name="Freeform 84"/>
            <p:cNvSpPr>
              <a:spLocks/>
            </p:cNvSpPr>
            <p:nvPr/>
          </p:nvSpPr>
          <p:spPr bwMode="auto">
            <a:xfrm>
              <a:off x="14658975" y="3317875"/>
              <a:ext cx="73025" cy="60325"/>
            </a:xfrm>
            <a:custGeom>
              <a:avLst/>
              <a:gdLst>
                <a:gd name="T0" fmla="*/ 12 w 25"/>
                <a:gd name="T1" fmla="*/ 0 h 21"/>
                <a:gd name="T2" fmla="*/ 0 w 25"/>
                <a:gd name="T3" fmla="*/ 13 h 21"/>
                <a:gd name="T4" fmla="*/ 0 w 25"/>
                <a:gd name="T5" fmla="*/ 21 h 21"/>
                <a:gd name="T6" fmla="*/ 25 w 25"/>
                <a:gd name="T7" fmla="*/ 21 h 21"/>
                <a:gd name="T8" fmla="*/ 25 w 25"/>
                <a:gd name="T9" fmla="*/ 13 h 21"/>
                <a:gd name="T10" fmla="*/ 12 w 25"/>
                <a:gd name="T11" fmla="*/ 0 h 21"/>
              </a:gdLst>
              <a:ahLst/>
              <a:cxnLst>
                <a:cxn ang="0">
                  <a:pos x="T0" y="T1"/>
                </a:cxn>
                <a:cxn ang="0">
                  <a:pos x="T2" y="T3"/>
                </a:cxn>
                <a:cxn ang="0">
                  <a:pos x="T4" y="T5"/>
                </a:cxn>
                <a:cxn ang="0">
                  <a:pos x="T6" y="T7"/>
                </a:cxn>
                <a:cxn ang="0">
                  <a:pos x="T8" y="T9"/>
                </a:cxn>
                <a:cxn ang="0">
                  <a:pos x="T10" y="T11"/>
                </a:cxn>
              </a:cxnLst>
              <a:rect l="0" t="0" r="r" b="b"/>
              <a:pathLst>
                <a:path w="25" h="21">
                  <a:moveTo>
                    <a:pt x="12" y="0"/>
                  </a:moveTo>
                  <a:cubicBezTo>
                    <a:pt x="5" y="0"/>
                    <a:pt x="0" y="6"/>
                    <a:pt x="0" y="13"/>
                  </a:cubicBezTo>
                  <a:cubicBezTo>
                    <a:pt x="0" y="21"/>
                    <a:pt x="0" y="21"/>
                    <a:pt x="0" y="21"/>
                  </a:cubicBezTo>
                  <a:cubicBezTo>
                    <a:pt x="25" y="21"/>
                    <a:pt x="25" y="21"/>
                    <a:pt x="25" y="21"/>
                  </a:cubicBezTo>
                  <a:cubicBezTo>
                    <a:pt x="25" y="13"/>
                    <a:pt x="25" y="13"/>
                    <a:pt x="25" y="13"/>
                  </a:cubicBezTo>
                  <a:cubicBezTo>
                    <a:pt x="25" y="6"/>
                    <a:pt x="1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9" name="Freeform 85"/>
            <p:cNvSpPr>
              <a:spLocks noEditPoints="1"/>
            </p:cNvSpPr>
            <p:nvPr/>
          </p:nvSpPr>
          <p:spPr bwMode="auto">
            <a:xfrm>
              <a:off x="14220825" y="3413125"/>
              <a:ext cx="574675" cy="368300"/>
            </a:xfrm>
            <a:custGeom>
              <a:avLst/>
              <a:gdLst>
                <a:gd name="T0" fmla="*/ 177 w 198"/>
                <a:gd name="T1" fmla="*/ 59 h 127"/>
                <a:gd name="T2" fmla="*/ 187 w 198"/>
                <a:gd name="T3" fmla="*/ 59 h 127"/>
                <a:gd name="T4" fmla="*/ 198 w 198"/>
                <a:gd name="T5" fmla="*/ 48 h 127"/>
                <a:gd name="T6" fmla="*/ 198 w 198"/>
                <a:gd name="T7" fmla="*/ 11 h 127"/>
                <a:gd name="T8" fmla="*/ 187 w 198"/>
                <a:gd name="T9" fmla="*/ 0 h 127"/>
                <a:gd name="T10" fmla="*/ 187 w 198"/>
                <a:gd name="T11" fmla="*/ 0 h 127"/>
                <a:gd name="T12" fmla="*/ 187 w 198"/>
                <a:gd name="T13" fmla="*/ 0 h 127"/>
                <a:gd name="T14" fmla="*/ 18 w 198"/>
                <a:gd name="T15" fmla="*/ 0 h 127"/>
                <a:gd name="T16" fmla="*/ 11 w 198"/>
                <a:gd name="T17" fmla="*/ 0 h 127"/>
                <a:gd name="T18" fmla="*/ 0 w 198"/>
                <a:gd name="T19" fmla="*/ 11 h 127"/>
                <a:gd name="T20" fmla="*/ 0 w 198"/>
                <a:gd name="T21" fmla="*/ 48 h 127"/>
                <a:gd name="T22" fmla="*/ 11 w 198"/>
                <a:gd name="T23" fmla="*/ 59 h 127"/>
                <a:gd name="T24" fmla="*/ 26 w 198"/>
                <a:gd name="T25" fmla="*/ 59 h 127"/>
                <a:gd name="T26" fmla="*/ 26 w 198"/>
                <a:gd name="T27" fmla="*/ 112 h 127"/>
                <a:gd name="T28" fmla="*/ 14 w 198"/>
                <a:gd name="T29" fmla="*/ 118 h 127"/>
                <a:gd name="T30" fmla="*/ 4 w 198"/>
                <a:gd name="T31" fmla="*/ 127 h 127"/>
                <a:gd name="T32" fmla="*/ 37 w 198"/>
                <a:gd name="T33" fmla="*/ 127 h 127"/>
                <a:gd name="T34" fmla="*/ 71 w 198"/>
                <a:gd name="T35" fmla="*/ 127 h 127"/>
                <a:gd name="T36" fmla="*/ 61 w 198"/>
                <a:gd name="T37" fmla="*/ 118 h 127"/>
                <a:gd name="T38" fmla="*/ 48 w 198"/>
                <a:gd name="T39" fmla="*/ 112 h 127"/>
                <a:gd name="T40" fmla="*/ 48 w 198"/>
                <a:gd name="T41" fmla="*/ 59 h 127"/>
                <a:gd name="T42" fmla="*/ 151 w 198"/>
                <a:gd name="T43" fmla="*/ 59 h 127"/>
                <a:gd name="T44" fmla="*/ 151 w 198"/>
                <a:gd name="T45" fmla="*/ 112 h 127"/>
                <a:gd name="T46" fmla="*/ 139 w 198"/>
                <a:gd name="T47" fmla="*/ 118 h 127"/>
                <a:gd name="T48" fmla="*/ 128 w 198"/>
                <a:gd name="T49" fmla="*/ 127 h 127"/>
                <a:gd name="T50" fmla="*/ 162 w 198"/>
                <a:gd name="T51" fmla="*/ 127 h 127"/>
                <a:gd name="T52" fmla="*/ 195 w 198"/>
                <a:gd name="T53" fmla="*/ 127 h 127"/>
                <a:gd name="T54" fmla="*/ 185 w 198"/>
                <a:gd name="T55" fmla="*/ 118 h 127"/>
                <a:gd name="T56" fmla="*/ 173 w 198"/>
                <a:gd name="T57" fmla="*/ 112 h 127"/>
                <a:gd name="T58" fmla="*/ 173 w 198"/>
                <a:gd name="T59" fmla="*/ 59 h 127"/>
                <a:gd name="T60" fmla="*/ 177 w 198"/>
                <a:gd name="T61" fmla="*/ 59 h 127"/>
                <a:gd name="T62" fmla="*/ 47 w 198"/>
                <a:gd name="T63" fmla="*/ 43 h 127"/>
                <a:gd name="T64" fmla="*/ 17 w 198"/>
                <a:gd name="T65" fmla="*/ 43 h 127"/>
                <a:gd name="T66" fmla="*/ 33 w 198"/>
                <a:gd name="T67" fmla="*/ 15 h 127"/>
                <a:gd name="T68" fmla="*/ 64 w 198"/>
                <a:gd name="T69" fmla="*/ 15 h 127"/>
                <a:gd name="T70" fmla="*/ 47 w 198"/>
                <a:gd name="T71" fmla="*/ 43 h 127"/>
                <a:gd name="T72" fmla="*/ 107 w 198"/>
                <a:gd name="T73" fmla="*/ 43 h 127"/>
                <a:gd name="T74" fmla="*/ 77 w 198"/>
                <a:gd name="T75" fmla="*/ 43 h 127"/>
                <a:gd name="T76" fmla="*/ 93 w 198"/>
                <a:gd name="T77" fmla="*/ 15 h 127"/>
                <a:gd name="T78" fmla="*/ 123 w 198"/>
                <a:gd name="T79" fmla="*/ 15 h 127"/>
                <a:gd name="T80" fmla="*/ 107 w 198"/>
                <a:gd name="T81" fmla="*/ 43 h 127"/>
                <a:gd name="T82" fmla="*/ 166 w 198"/>
                <a:gd name="T83" fmla="*/ 43 h 127"/>
                <a:gd name="T84" fmla="*/ 136 w 198"/>
                <a:gd name="T85" fmla="*/ 43 h 127"/>
                <a:gd name="T86" fmla="*/ 152 w 198"/>
                <a:gd name="T87" fmla="*/ 15 h 127"/>
                <a:gd name="T88" fmla="*/ 183 w 198"/>
                <a:gd name="T89" fmla="*/ 15 h 127"/>
                <a:gd name="T90" fmla="*/ 166 w 198"/>
                <a:gd name="T91" fmla="*/ 4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8" h="127">
                  <a:moveTo>
                    <a:pt x="177" y="59"/>
                  </a:moveTo>
                  <a:cubicBezTo>
                    <a:pt x="187" y="59"/>
                    <a:pt x="187" y="59"/>
                    <a:pt x="187" y="59"/>
                  </a:cubicBezTo>
                  <a:cubicBezTo>
                    <a:pt x="193" y="59"/>
                    <a:pt x="198" y="54"/>
                    <a:pt x="198" y="48"/>
                  </a:cubicBezTo>
                  <a:cubicBezTo>
                    <a:pt x="198" y="11"/>
                    <a:pt x="198" y="11"/>
                    <a:pt x="198" y="11"/>
                  </a:cubicBezTo>
                  <a:cubicBezTo>
                    <a:pt x="198" y="5"/>
                    <a:pt x="193" y="0"/>
                    <a:pt x="187" y="0"/>
                  </a:cubicBezTo>
                  <a:cubicBezTo>
                    <a:pt x="187" y="0"/>
                    <a:pt x="187" y="0"/>
                    <a:pt x="187" y="0"/>
                  </a:cubicBezTo>
                  <a:cubicBezTo>
                    <a:pt x="187" y="0"/>
                    <a:pt x="187" y="0"/>
                    <a:pt x="187" y="0"/>
                  </a:cubicBezTo>
                  <a:cubicBezTo>
                    <a:pt x="18" y="0"/>
                    <a:pt x="18" y="0"/>
                    <a:pt x="18" y="0"/>
                  </a:cubicBezTo>
                  <a:cubicBezTo>
                    <a:pt x="11" y="0"/>
                    <a:pt x="11" y="0"/>
                    <a:pt x="11" y="0"/>
                  </a:cubicBezTo>
                  <a:cubicBezTo>
                    <a:pt x="5" y="0"/>
                    <a:pt x="0" y="5"/>
                    <a:pt x="0" y="11"/>
                  </a:cubicBezTo>
                  <a:cubicBezTo>
                    <a:pt x="0" y="48"/>
                    <a:pt x="0" y="48"/>
                    <a:pt x="0" y="48"/>
                  </a:cubicBezTo>
                  <a:cubicBezTo>
                    <a:pt x="0" y="54"/>
                    <a:pt x="5" y="59"/>
                    <a:pt x="11" y="59"/>
                  </a:cubicBezTo>
                  <a:cubicBezTo>
                    <a:pt x="26" y="59"/>
                    <a:pt x="26" y="59"/>
                    <a:pt x="26" y="59"/>
                  </a:cubicBezTo>
                  <a:cubicBezTo>
                    <a:pt x="26" y="112"/>
                    <a:pt x="26" y="112"/>
                    <a:pt x="26" y="112"/>
                  </a:cubicBezTo>
                  <a:cubicBezTo>
                    <a:pt x="25" y="115"/>
                    <a:pt x="21" y="118"/>
                    <a:pt x="14" y="118"/>
                  </a:cubicBezTo>
                  <a:cubicBezTo>
                    <a:pt x="8" y="118"/>
                    <a:pt x="4" y="123"/>
                    <a:pt x="4" y="127"/>
                  </a:cubicBezTo>
                  <a:cubicBezTo>
                    <a:pt x="37" y="127"/>
                    <a:pt x="37" y="127"/>
                    <a:pt x="37" y="127"/>
                  </a:cubicBezTo>
                  <a:cubicBezTo>
                    <a:pt x="71" y="127"/>
                    <a:pt x="71" y="127"/>
                    <a:pt x="71" y="127"/>
                  </a:cubicBezTo>
                  <a:cubicBezTo>
                    <a:pt x="71" y="123"/>
                    <a:pt x="67" y="118"/>
                    <a:pt x="61" y="118"/>
                  </a:cubicBezTo>
                  <a:cubicBezTo>
                    <a:pt x="54" y="118"/>
                    <a:pt x="50" y="115"/>
                    <a:pt x="48" y="112"/>
                  </a:cubicBezTo>
                  <a:cubicBezTo>
                    <a:pt x="48" y="59"/>
                    <a:pt x="48" y="59"/>
                    <a:pt x="48" y="59"/>
                  </a:cubicBezTo>
                  <a:cubicBezTo>
                    <a:pt x="151" y="59"/>
                    <a:pt x="151" y="59"/>
                    <a:pt x="151" y="59"/>
                  </a:cubicBezTo>
                  <a:cubicBezTo>
                    <a:pt x="151" y="112"/>
                    <a:pt x="151" y="112"/>
                    <a:pt x="151" y="112"/>
                  </a:cubicBezTo>
                  <a:cubicBezTo>
                    <a:pt x="149" y="115"/>
                    <a:pt x="145" y="118"/>
                    <a:pt x="139" y="118"/>
                  </a:cubicBezTo>
                  <a:cubicBezTo>
                    <a:pt x="132" y="118"/>
                    <a:pt x="128" y="123"/>
                    <a:pt x="128" y="127"/>
                  </a:cubicBezTo>
                  <a:cubicBezTo>
                    <a:pt x="162" y="127"/>
                    <a:pt x="162" y="127"/>
                    <a:pt x="162" y="127"/>
                  </a:cubicBezTo>
                  <a:cubicBezTo>
                    <a:pt x="195" y="127"/>
                    <a:pt x="195" y="127"/>
                    <a:pt x="195" y="127"/>
                  </a:cubicBezTo>
                  <a:cubicBezTo>
                    <a:pt x="195" y="123"/>
                    <a:pt x="191" y="118"/>
                    <a:pt x="185" y="118"/>
                  </a:cubicBezTo>
                  <a:cubicBezTo>
                    <a:pt x="178" y="118"/>
                    <a:pt x="174" y="115"/>
                    <a:pt x="173" y="112"/>
                  </a:cubicBezTo>
                  <a:cubicBezTo>
                    <a:pt x="173" y="59"/>
                    <a:pt x="173" y="59"/>
                    <a:pt x="173" y="59"/>
                  </a:cubicBezTo>
                  <a:lnTo>
                    <a:pt x="177" y="59"/>
                  </a:lnTo>
                  <a:close/>
                  <a:moveTo>
                    <a:pt x="47" y="43"/>
                  </a:moveTo>
                  <a:cubicBezTo>
                    <a:pt x="17" y="43"/>
                    <a:pt x="17" y="43"/>
                    <a:pt x="17" y="43"/>
                  </a:cubicBezTo>
                  <a:cubicBezTo>
                    <a:pt x="33" y="15"/>
                    <a:pt x="33" y="15"/>
                    <a:pt x="33" y="15"/>
                  </a:cubicBezTo>
                  <a:cubicBezTo>
                    <a:pt x="64" y="15"/>
                    <a:pt x="64" y="15"/>
                    <a:pt x="64" y="15"/>
                  </a:cubicBezTo>
                  <a:lnTo>
                    <a:pt x="47" y="43"/>
                  </a:lnTo>
                  <a:close/>
                  <a:moveTo>
                    <a:pt x="107" y="43"/>
                  </a:moveTo>
                  <a:cubicBezTo>
                    <a:pt x="77" y="43"/>
                    <a:pt x="77" y="43"/>
                    <a:pt x="77" y="43"/>
                  </a:cubicBezTo>
                  <a:cubicBezTo>
                    <a:pt x="93" y="15"/>
                    <a:pt x="93" y="15"/>
                    <a:pt x="93" y="15"/>
                  </a:cubicBezTo>
                  <a:cubicBezTo>
                    <a:pt x="123" y="15"/>
                    <a:pt x="123" y="15"/>
                    <a:pt x="123" y="15"/>
                  </a:cubicBezTo>
                  <a:lnTo>
                    <a:pt x="107" y="43"/>
                  </a:lnTo>
                  <a:close/>
                  <a:moveTo>
                    <a:pt x="166" y="43"/>
                  </a:moveTo>
                  <a:cubicBezTo>
                    <a:pt x="136" y="43"/>
                    <a:pt x="136" y="43"/>
                    <a:pt x="136" y="43"/>
                  </a:cubicBezTo>
                  <a:cubicBezTo>
                    <a:pt x="152" y="15"/>
                    <a:pt x="152" y="15"/>
                    <a:pt x="152" y="15"/>
                  </a:cubicBezTo>
                  <a:cubicBezTo>
                    <a:pt x="183" y="15"/>
                    <a:pt x="183" y="15"/>
                    <a:pt x="183" y="15"/>
                  </a:cubicBezTo>
                  <a:lnTo>
                    <a:pt x="166"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0" name="Freeform 86"/>
            <p:cNvSpPr>
              <a:spLocks/>
            </p:cNvSpPr>
            <p:nvPr/>
          </p:nvSpPr>
          <p:spPr bwMode="auto">
            <a:xfrm>
              <a:off x="14200188" y="3206750"/>
              <a:ext cx="246063" cy="128588"/>
            </a:xfrm>
            <a:custGeom>
              <a:avLst/>
              <a:gdLst>
                <a:gd name="T0" fmla="*/ 84 w 85"/>
                <a:gd name="T1" fmla="*/ 34 h 44"/>
                <a:gd name="T2" fmla="*/ 69 w 85"/>
                <a:gd name="T3" fmla="*/ 31 h 44"/>
                <a:gd name="T4" fmla="*/ 67 w 85"/>
                <a:gd name="T5" fmla="*/ 28 h 44"/>
                <a:gd name="T6" fmla="*/ 71 w 85"/>
                <a:gd name="T7" fmla="*/ 13 h 44"/>
                <a:gd name="T8" fmla="*/ 69 w 85"/>
                <a:gd name="T9" fmla="*/ 12 h 44"/>
                <a:gd name="T10" fmla="*/ 56 w 85"/>
                <a:gd name="T11" fmla="*/ 15 h 44"/>
                <a:gd name="T12" fmla="*/ 52 w 85"/>
                <a:gd name="T13" fmla="*/ 13 h 44"/>
                <a:gd name="T14" fmla="*/ 44 w 85"/>
                <a:gd name="T15" fmla="*/ 1 h 44"/>
                <a:gd name="T16" fmla="*/ 43 w 85"/>
                <a:gd name="T17" fmla="*/ 0 h 44"/>
                <a:gd name="T18" fmla="*/ 41 w 85"/>
                <a:gd name="T19" fmla="*/ 1 h 44"/>
                <a:gd name="T20" fmla="*/ 33 w 85"/>
                <a:gd name="T21" fmla="*/ 13 h 44"/>
                <a:gd name="T22" fmla="*/ 29 w 85"/>
                <a:gd name="T23" fmla="*/ 15 h 44"/>
                <a:gd name="T24" fmla="*/ 17 w 85"/>
                <a:gd name="T25" fmla="*/ 12 h 44"/>
                <a:gd name="T26" fmla="*/ 15 w 85"/>
                <a:gd name="T27" fmla="*/ 13 h 44"/>
                <a:gd name="T28" fmla="*/ 18 w 85"/>
                <a:gd name="T29" fmla="*/ 28 h 44"/>
                <a:gd name="T30" fmla="*/ 16 w 85"/>
                <a:gd name="T31" fmla="*/ 31 h 44"/>
                <a:gd name="T32" fmla="*/ 2 w 85"/>
                <a:gd name="T33" fmla="*/ 34 h 44"/>
                <a:gd name="T34" fmla="*/ 1 w 85"/>
                <a:gd name="T35" fmla="*/ 36 h 44"/>
                <a:gd name="T36" fmla="*/ 9 w 85"/>
                <a:gd name="T37" fmla="*/ 43 h 44"/>
                <a:gd name="T38" fmla="*/ 18 w 85"/>
                <a:gd name="T39" fmla="*/ 41 h 44"/>
                <a:gd name="T40" fmla="*/ 25 w 85"/>
                <a:gd name="T41" fmla="*/ 39 h 44"/>
                <a:gd name="T42" fmla="*/ 29 w 85"/>
                <a:gd name="T43" fmla="*/ 30 h 44"/>
                <a:gd name="T44" fmla="*/ 29 w 85"/>
                <a:gd name="T45" fmla="*/ 30 h 44"/>
                <a:gd name="T46" fmla="*/ 29 w 85"/>
                <a:gd name="T47" fmla="*/ 28 h 44"/>
                <a:gd name="T48" fmla="*/ 29 w 85"/>
                <a:gd name="T49" fmla="*/ 28 h 44"/>
                <a:gd name="T50" fmla="*/ 29 w 85"/>
                <a:gd name="T51" fmla="*/ 26 h 44"/>
                <a:gd name="T52" fmla="*/ 30 w 85"/>
                <a:gd name="T53" fmla="*/ 26 h 44"/>
                <a:gd name="T54" fmla="*/ 42 w 85"/>
                <a:gd name="T55" fmla="*/ 19 h 44"/>
                <a:gd name="T56" fmla="*/ 43 w 85"/>
                <a:gd name="T57" fmla="*/ 19 h 44"/>
                <a:gd name="T58" fmla="*/ 43 w 85"/>
                <a:gd name="T59" fmla="*/ 19 h 44"/>
                <a:gd name="T60" fmla="*/ 55 w 85"/>
                <a:gd name="T61" fmla="*/ 26 h 44"/>
                <a:gd name="T62" fmla="*/ 57 w 85"/>
                <a:gd name="T63" fmla="*/ 26 h 44"/>
                <a:gd name="T64" fmla="*/ 56 w 85"/>
                <a:gd name="T65" fmla="*/ 28 h 44"/>
                <a:gd name="T66" fmla="*/ 56 w 85"/>
                <a:gd name="T67" fmla="*/ 28 h 44"/>
                <a:gd name="T68" fmla="*/ 56 w 85"/>
                <a:gd name="T69" fmla="*/ 30 h 44"/>
                <a:gd name="T70" fmla="*/ 56 w 85"/>
                <a:gd name="T71" fmla="*/ 30 h 44"/>
                <a:gd name="T72" fmla="*/ 61 w 85"/>
                <a:gd name="T73" fmla="*/ 39 h 44"/>
                <a:gd name="T74" fmla="*/ 68 w 85"/>
                <a:gd name="T75" fmla="*/ 41 h 44"/>
                <a:gd name="T76" fmla="*/ 76 w 85"/>
                <a:gd name="T77" fmla="*/ 43 h 44"/>
                <a:gd name="T78" fmla="*/ 84 w 85"/>
                <a:gd name="T79" fmla="*/ 36 h 44"/>
                <a:gd name="T80" fmla="*/ 84 w 85"/>
                <a:gd name="T81" fmla="*/ 3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44">
                  <a:moveTo>
                    <a:pt x="84" y="34"/>
                  </a:moveTo>
                  <a:cubicBezTo>
                    <a:pt x="69" y="31"/>
                    <a:pt x="69" y="31"/>
                    <a:pt x="69" y="31"/>
                  </a:cubicBezTo>
                  <a:cubicBezTo>
                    <a:pt x="68" y="30"/>
                    <a:pt x="67" y="29"/>
                    <a:pt x="67" y="28"/>
                  </a:cubicBezTo>
                  <a:cubicBezTo>
                    <a:pt x="71" y="13"/>
                    <a:pt x="71" y="13"/>
                    <a:pt x="71" y="13"/>
                  </a:cubicBezTo>
                  <a:cubicBezTo>
                    <a:pt x="71" y="12"/>
                    <a:pt x="70" y="11"/>
                    <a:pt x="69" y="12"/>
                  </a:cubicBezTo>
                  <a:cubicBezTo>
                    <a:pt x="56" y="15"/>
                    <a:pt x="56" y="15"/>
                    <a:pt x="56" y="15"/>
                  </a:cubicBezTo>
                  <a:cubicBezTo>
                    <a:pt x="55" y="15"/>
                    <a:pt x="53" y="14"/>
                    <a:pt x="52" y="13"/>
                  </a:cubicBezTo>
                  <a:cubicBezTo>
                    <a:pt x="44" y="1"/>
                    <a:pt x="44" y="1"/>
                    <a:pt x="44" y="1"/>
                  </a:cubicBezTo>
                  <a:cubicBezTo>
                    <a:pt x="44" y="1"/>
                    <a:pt x="43" y="0"/>
                    <a:pt x="43" y="0"/>
                  </a:cubicBezTo>
                  <a:cubicBezTo>
                    <a:pt x="42" y="0"/>
                    <a:pt x="42" y="1"/>
                    <a:pt x="41" y="1"/>
                  </a:cubicBezTo>
                  <a:cubicBezTo>
                    <a:pt x="33" y="13"/>
                    <a:pt x="33" y="13"/>
                    <a:pt x="33" y="13"/>
                  </a:cubicBezTo>
                  <a:cubicBezTo>
                    <a:pt x="32" y="14"/>
                    <a:pt x="31" y="15"/>
                    <a:pt x="29" y="15"/>
                  </a:cubicBezTo>
                  <a:cubicBezTo>
                    <a:pt x="17" y="12"/>
                    <a:pt x="17" y="12"/>
                    <a:pt x="17" y="12"/>
                  </a:cubicBezTo>
                  <a:cubicBezTo>
                    <a:pt x="15" y="11"/>
                    <a:pt x="15" y="12"/>
                    <a:pt x="15" y="13"/>
                  </a:cubicBezTo>
                  <a:cubicBezTo>
                    <a:pt x="18" y="28"/>
                    <a:pt x="18" y="28"/>
                    <a:pt x="18" y="28"/>
                  </a:cubicBezTo>
                  <a:cubicBezTo>
                    <a:pt x="19" y="29"/>
                    <a:pt x="18" y="30"/>
                    <a:pt x="16" y="31"/>
                  </a:cubicBezTo>
                  <a:cubicBezTo>
                    <a:pt x="2" y="34"/>
                    <a:pt x="2" y="34"/>
                    <a:pt x="2" y="34"/>
                  </a:cubicBezTo>
                  <a:cubicBezTo>
                    <a:pt x="1" y="34"/>
                    <a:pt x="0" y="35"/>
                    <a:pt x="1" y="36"/>
                  </a:cubicBezTo>
                  <a:cubicBezTo>
                    <a:pt x="1" y="36"/>
                    <a:pt x="9" y="42"/>
                    <a:pt x="9" y="43"/>
                  </a:cubicBezTo>
                  <a:cubicBezTo>
                    <a:pt x="10" y="44"/>
                    <a:pt x="18" y="41"/>
                    <a:pt x="18" y="41"/>
                  </a:cubicBezTo>
                  <a:cubicBezTo>
                    <a:pt x="21" y="40"/>
                    <a:pt x="23" y="39"/>
                    <a:pt x="25" y="39"/>
                  </a:cubicBezTo>
                  <a:cubicBezTo>
                    <a:pt x="27" y="37"/>
                    <a:pt x="29" y="34"/>
                    <a:pt x="29" y="30"/>
                  </a:cubicBezTo>
                  <a:cubicBezTo>
                    <a:pt x="29" y="30"/>
                    <a:pt x="29" y="30"/>
                    <a:pt x="29" y="30"/>
                  </a:cubicBezTo>
                  <a:cubicBezTo>
                    <a:pt x="29" y="30"/>
                    <a:pt x="29" y="29"/>
                    <a:pt x="29" y="28"/>
                  </a:cubicBezTo>
                  <a:cubicBezTo>
                    <a:pt x="29" y="28"/>
                    <a:pt x="29" y="28"/>
                    <a:pt x="29" y="28"/>
                  </a:cubicBezTo>
                  <a:cubicBezTo>
                    <a:pt x="29" y="27"/>
                    <a:pt x="29" y="26"/>
                    <a:pt x="29" y="26"/>
                  </a:cubicBezTo>
                  <a:cubicBezTo>
                    <a:pt x="29" y="26"/>
                    <a:pt x="30" y="26"/>
                    <a:pt x="30" y="26"/>
                  </a:cubicBezTo>
                  <a:cubicBezTo>
                    <a:pt x="35" y="26"/>
                    <a:pt x="40" y="23"/>
                    <a:pt x="42" y="19"/>
                  </a:cubicBezTo>
                  <a:cubicBezTo>
                    <a:pt x="43" y="19"/>
                    <a:pt x="43" y="19"/>
                    <a:pt x="43" y="19"/>
                  </a:cubicBezTo>
                  <a:cubicBezTo>
                    <a:pt x="43" y="19"/>
                    <a:pt x="43" y="19"/>
                    <a:pt x="43" y="19"/>
                  </a:cubicBezTo>
                  <a:cubicBezTo>
                    <a:pt x="46" y="23"/>
                    <a:pt x="51" y="26"/>
                    <a:pt x="55" y="26"/>
                  </a:cubicBezTo>
                  <a:cubicBezTo>
                    <a:pt x="56" y="26"/>
                    <a:pt x="56" y="26"/>
                    <a:pt x="57" y="26"/>
                  </a:cubicBezTo>
                  <a:cubicBezTo>
                    <a:pt x="56" y="26"/>
                    <a:pt x="56" y="27"/>
                    <a:pt x="56" y="28"/>
                  </a:cubicBezTo>
                  <a:cubicBezTo>
                    <a:pt x="56" y="28"/>
                    <a:pt x="56" y="28"/>
                    <a:pt x="56" y="28"/>
                  </a:cubicBezTo>
                  <a:cubicBezTo>
                    <a:pt x="56" y="29"/>
                    <a:pt x="56" y="30"/>
                    <a:pt x="56" y="30"/>
                  </a:cubicBezTo>
                  <a:cubicBezTo>
                    <a:pt x="56" y="30"/>
                    <a:pt x="56" y="30"/>
                    <a:pt x="56" y="30"/>
                  </a:cubicBezTo>
                  <a:cubicBezTo>
                    <a:pt x="57" y="34"/>
                    <a:pt x="58" y="37"/>
                    <a:pt x="61" y="39"/>
                  </a:cubicBezTo>
                  <a:cubicBezTo>
                    <a:pt x="62" y="39"/>
                    <a:pt x="65" y="40"/>
                    <a:pt x="68" y="41"/>
                  </a:cubicBezTo>
                  <a:cubicBezTo>
                    <a:pt x="68" y="41"/>
                    <a:pt x="75" y="44"/>
                    <a:pt x="76" y="43"/>
                  </a:cubicBezTo>
                  <a:cubicBezTo>
                    <a:pt x="77" y="42"/>
                    <a:pt x="84" y="36"/>
                    <a:pt x="84" y="36"/>
                  </a:cubicBezTo>
                  <a:cubicBezTo>
                    <a:pt x="85" y="35"/>
                    <a:pt x="85" y="34"/>
                    <a:pt x="8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87"/>
            <p:cNvSpPr>
              <a:spLocks/>
            </p:cNvSpPr>
            <p:nvPr/>
          </p:nvSpPr>
          <p:spPr bwMode="auto">
            <a:xfrm>
              <a:off x="14568488" y="3206750"/>
              <a:ext cx="247650" cy="128588"/>
            </a:xfrm>
            <a:custGeom>
              <a:avLst/>
              <a:gdLst>
                <a:gd name="T0" fmla="*/ 2 w 85"/>
                <a:gd name="T1" fmla="*/ 34 h 44"/>
                <a:gd name="T2" fmla="*/ 16 w 85"/>
                <a:gd name="T3" fmla="*/ 31 h 44"/>
                <a:gd name="T4" fmla="*/ 18 w 85"/>
                <a:gd name="T5" fmla="*/ 28 h 44"/>
                <a:gd name="T6" fmla="*/ 15 w 85"/>
                <a:gd name="T7" fmla="*/ 13 h 44"/>
                <a:gd name="T8" fmla="*/ 17 w 85"/>
                <a:gd name="T9" fmla="*/ 12 h 44"/>
                <a:gd name="T10" fmla="*/ 29 w 85"/>
                <a:gd name="T11" fmla="*/ 15 h 44"/>
                <a:gd name="T12" fmla="*/ 33 w 85"/>
                <a:gd name="T13" fmla="*/ 13 h 44"/>
                <a:gd name="T14" fmla="*/ 41 w 85"/>
                <a:gd name="T15" fmla="*/ 1 h 44"/>
                <a:gd name="T16" fmla="*/ 43 w 85"/>
                <a:gd name="T17" fmla="*/ 0 h 44"/>
                <a:gd name="T18" fmla="*/ 44 w 85"/>
                <a:gd name="T19" fmla="*/ 1 h 44"/>
                <a:gd name="T20" fmla="*/ 52 w 85"/>
                <a:gd name="T21" fmla="*/ 13 h 44"/>
                <a:gd name="T22" fmla="*/ 56 w 85"/>
                <a:gd name="T23" fmla="*/ 15 h 44"/>
                <a:gd name="T24" fmla="*/ 69 w 85"/>
                <a:gd name="T25" fmla="*/ 12 h 44"/>
                <a:gd name="T26" fmla="*/ 71 w 85"/>
                <a:gd name="T27" fmla="*/ 13 h 44"/>
                <a:gd name="T28" fmla="*/ 67 w 85"/>
                <a:gd name="T29" fmla="*/ 28 h 44"/>
                <a:gd name="T30" fmla="*/ 69 w 85"/>
                <a:gd name="T31" fmla="*/ 31 h 44"/>
                <a:gd name="T32" fmla="*/ 83 w 85"/>
                <a:gd name="T33" fmla="*/ 34 h 44"/>
                <a:gd name="T34" fmla="*/ 84 w 85"/>
                <a:gd name="T35" fmla="*/ 36 h 44"/>
                <a:gd name="T36" fmla="*/ 76 w 85"/>
                <a:gd name="T37" fmla="*/ 43 h 44"/>
                <a:gd name="T38" fmla="*/ 68 w 85"/>
                <a:gd name="T39" fmla="*/ 41 h 44"/>
                <a:gd name="T40" fmla="*/ 61 w 85"/>
                <a:gd name="T41" fmla="*/ 39 h 44"/>
                <a:gd name="T42" fmla="*/ 56 w 85"/>
                <a:gd name="T43" fmla="*/ 30 h 44"/>
                <a:gd name="T44" fmla="*/ 56 w 85"/>
                <a:gd name="T45" fmla="*/ 30 h 44"/>
                <a:gd name="T46" fmla="*/ 56 w 85"/>
                <a:gd name="T47" fmla="*/ 28 h 44"/>
                <a:gd name="T48" fmla="*/ 56 w 85"/>
                <a:gd name="T49" fmla="*/ 28 h 44"/>
                <a:gd name="T50" fmla="*/ 56 w 85"/>
                <a:gd name="T51" fmla="*/ 26 h 44"/>
                <a:gd name="T52" fmla="*/ 55 w 85"/>
                <a:gd name="T53" fmla="*/ 26 h 44"/>
                <a:gd name="T54" fmla="*/ 43 w 85"/>
                <a:gd name="T55" fmla="*/ 19 h 44"/>
                <a:gd name="T56" fmla="*/ 43 w 85"/>
                <a:gd name="T57" fmla="*/ 19 h 44"/>
                <a:gd name="T58" fmla="*/ 42 w 85"/>
                <a:gd name="T59" fmla="*/ 19 h 44"/>
                <a:gd name="T60" fmla="*/ 30 w 85"/>
                <a:gd name="T61" fmla="*/ 26 h 44"/>
                <a:gd name="T62" fmla="*/ 29 w 85"/>
                <a:gd name="T63" fmla="*/ 26 h 44"/>
                <a:gd name="T64" fmla="*/ 29 w 85"/>
                <a:gd name="T65" fmla="*/ 28 h 44"/>
                <a:gd name="T66" fmla="*/ 29 w 85"/>
                <a:gd name="T67" fmla="*/ 28 h 44"/>
                <a:gd name="T68" fmla="*/ 29 w 85"/>
                <a:gd name="T69" fmla="*/ 30 h 44"/>
                <a:gd name="T70" fmla="*/ 29 w 85"/>
                <a:gd name="T71" fmla="*/ 30 h 44"/>
                <a:gd name="T72" fmla="*/ 25 w 85"/>
                <a:gd name="T73" fmla="*/ 39 h 44"/>
                <a:gd name="T74" fmla="*/ 18 w 85"/>
                <a:gd name="T75" fmla="*/ 41 h 44"/>
                <a:gd name="T76" fmla="*/ 9 w 85"/>
                <a:gd name="T77" fmla="*/ 43 h 44"/>
                <a:gd name="T78" fmla="*/ 1 w 85"/>
                <a:gd name="T79" fmla="*/ 36 h 44"/>
                <a:gd name="T80" fmla="*/ 2 w 85"/>
                <a:gd name="T81" fmla="*/ 3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44">
                  <a:moveTo>
                    <a:pt x="2" y="34"/>
                  </a:moveTo>
                  <a:cubicBezTo>
                    <a:pt x="16" y="31"/>
                    <a:pt x="16" y="31"/>
                    <a:pt x="16" y="31"/>
                  </a:cubicBezTo>
                  <a:cubicBezTo>
                    <a:pt x="18" y="30"/>
                    <a:pt x="18" y="29"/>
                    <a:pt x="18" y="28"/>
                  </a:cubicBezTo>
                  <a:cubicBezTo>
                    <a:pt x="15" y="13"/>
                    <a:pt x="15" y="13"/>
                    <a:pt x="15" y="13"/>
                  </a:cubicBezTo>
                  <a:cubicBezTo>
                    <a:pt x="15" y="12"/>
                    <a:pt x="15" y="11"/>
                    <a:pt x="17" y="12"/>
                  </a:cubicBezTo>
                  <a:cubicBezTo>
                    <a:pt x="29" y="15"/>
                    <a:pt x="29" y="15"/>
                    <a:pt x="29" y="15"/>
                  </a:cubicBezTo>
                  <a:cubicBezTo>
                    <a:pt x="31" y="15"/>
                    <a:pt x="32" y="14"/>
                    <a:pt x="33" y="13"/>
                  </a:cubicBezTo>
                  <a:cubicBezTo>
                    <a:pt x="41" y="1"/>
                    <a:pt x="41" y="1"/>
                    <a:pt x="41" y="1"/>
                  </a:cubicBezTo>
                  <a:cubicBezTo>
                    <a:pt x="42" y="1"/>
                    <a:pt x="42" y="0"/>
                    <a:pt x="43" y="0"/>
                  </a:cubicBezTo>
                  <a:cubicBezTo>
                    <a:pt x="43" y="0"/>
                    <a:pt x="44" y="1"/>
                    <a:pt x="44" y="1"/>
                  </a:cubicBezTo>
                  <a:cubicBezTo>
                    <a:pt x="52" y="13"/>
                    <a:pt x="52" y="13"/>
                    <a:pt x="52" y="13"/>
                  </a:cubicBezTo>
                  <a:cubicBezTo>
                    <a:pt x="53" y="14"/>
                    <a:pt x="55" y="15"/>
                    <a:pt x="56" y="15"/>
                  </a:cubicBezTo>
                  <a:cubicBezTo>
                    <a:pt x="69" y="12"/>
                    <a:pt x="69" y="12"/>
                    <a:pt x="69" y="12"/>
                  </a:cubicBezTo>
                  <a:cubicBezTo>
                    <a:pt x="70" y="11"/>
                    <a:pt x="71" y="12"/>
                    <a:pt x="71" y="13"/>
                  </a:cubicBezTo>
                  <a:cubicBezTo>
                    <a:pt x="67" y="28"/>
                    <a:pt x="67" y="28"/>
                    <a:pt x="67" y="28"/>
                  </a:cubicBezTo>
                  <a:cubicBezTo>
                    <a:pt x="67" y="29"/>
                    <a:pt x="68" y="30"/>
                    <a:pt x="69" y="31"/>
                  </a:cubicBezTo>
                  <a:cubicBezTo>
                    <a:pt x="83" y="34"/>
                    <a:pt x="83" y="34"/>
                    <a:pt x="83" y="34"/>
                  </a:cubicBezTo>
                  <a:cubicBezTo>
                    <a:pt x="85" y="34"/>
                    <a:pt x="85" y="35"/>
                    <a:pt x="84" y="36"/>
                  </a:cubicBezTo>
                  <a:cubicBezTo>
                    <a:pt x="84" y="36"/>
                    <a:pt x="77" y="42"/>
                    <a:pt x="76" y="43"/>
                  </a:cubicBezTo>
                  <a:cubicBezTo>
                    <a:pt x="75" y="44"/>
                    <a:pt x="68" y="41"/>
                    <a:pt x="68" y="41"/>
                  </a:cubicBezTo>
                  <a:cubicBezTo>
                    <a:pt x="65" y="40"/>
                    <a:pt x="62" y="39"/>
                    <a:pt x="61" y="39"/>
                  </a:cubicBezTo>
                  <a:cubicBezTo>
                    <a:pt x="58" y="37"/>
                    <a:pt x="57" y="34"/>
                    <a:pt x="56" y="30"/>
                  </a:cubicBezTo>
                  <a:cubicBezTo>
                    <a:pt x="56" y="30"/>
                    <a:pt x="56" y="30"/>
                    <a:pt x="56" y="30"/>
                  </a:cubicBezTo>
                  <a:cubicBezTo>
                    <a:pt x="56" y="30"/>
                    <a:pt x="56" y="29"/>
                    <a:pt x="56" y="28"/>
                  </a:cubicBezTo>
                  <a:cubicBezTo>
                    <a:pt x="56" y="28"/>
                    <a:pt x="56" y="28"/>
                    <a:pt x="56" y="28"/>
                  </a:cubicBezTo>
                  <a:cubicBezTo>
                    <a:pt x="56" y="27"/>
                    <a:pt x="56" y="26"/>
                    <a:pt x="56" y="26"/>
                  </a:cubicBezTo>
                  <a:cubicBezTo>
                    <a:pt x="56" y="26"/>
                    <a:pt x="56" y="26"/>
                    <a:pt x="55" y="26"/>
                  </a:cubicBezTo>
                  <a:cubicBezTo>
                    <a:pt x="50" y="26"/>
                    <a:pt x="46" y="23"/>
                    <a:pt x="43" y="19"/>
                  </a:cubicBezTo>
                  <a:cubicBezTo>
                    <a:pt x="43" y="19"/>
                    <a:pt x="43" y="19"/>
                    <a:pt x="43" y="19"/>
                  </a:cubicBezTo>
                  <a:cubicBezTo>
                    <a:pt x="42" y="19"/>
                    <a:pt x="42" y="19"/>
                    <a:pt x="42" y="19"/>
                  </a:cubicBezTo>
                  <a:cubicBezTo>
                    <a:pt x="40" y="23"/>
                    <a:pt x="35" y="26"/>
                    <a:pt x="30" y="26"/>
                  </a:cubicBezTo>
                  <a:cubicBezTo>
                    <a:pt x="30" y="26"/>
                    <a:pt x="29" y="26"/>
                    <a:pt x="29" y="26"/>
                  </a:cubicBezTo>
                  <a:cubicBezTo>
                    <a:pt x="29" y="26"/>
                    <a:pt x="29" y="27"/>
                    <a:pt x="29" y="28"/>
                  </a:cubicBezTo>
                  <a:cubicBezTo>
                    <a:pt x="29" y="28"/>
                    <a:pt x="29" y="28"/>
                    <a:pt x="29" y="28"/>
                  </a:cubicBezTo>
                  <a:cubicBezTo>
                    <a:pt x="29" y="29"/>
                    <a:pt x="29" y="30"/>
                    <a:pt x="29" y="30"/>
                  </a:cubicBezTo>
                  <a:cubicBezTo>
                    <a:pt x="29" y="30"/>
                    <a:pt x="29" y="30"/>
                    <a:pt x="29" y="30"/>
                  </a:cubicBezTo>
                  <a:cubicBezTo>
                    <a:pt x="29" y="34"/>
                    <a:pt x="27" y="37"/>
                    <a:pt x="25" y="39"/>
                  </a:cubicBezTo>
                  <a:cubicBezTo>
                    <a:pt x="23" y="39"/>
                    <a:pt x="21" y="40"/>
                    <a:pt x="18" y="41"/>
                  </a:cubicBezTo>
                  <a:cubicBezTo>
                    <a:pt x="18" y="41"/>
                    <a:pt x="10" y="44"/>
                    <a:pt x="9" y="43"/>
                  </a:cubicBezTo>
                  <a:cubicBezTo>
                    <a:pt x="8" y="42"/>
                    <a:pt x="1" y="36"/>
                    <a:pt x="1" y="36"/>
                  </a:cubicBezTo>
                  <a:cubicBezTo>
                    <a:pt x="0" y="35"/>
                    <a:pt x="1" y="34"/>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47" name="Group 346"/>
          <p:cNvGrpSpPr/>
          <p:nvPr userDrawn="1"/>
        </p:nvGrpSpPr>
        <p:grpSpPr>
          <a:xfrm>
            <a:off x="3856347" y="2097186"/>
            <a:ext cx="337412" cy="272930"/>
            <a:chOff x="14150975" y="4705350"/>
            <a:chExt cx="714375" cy="577851"/>
          </a:xfrm>
          <a:solidFill>
            <a:schemeClr val="tx1"/>
          </a:solidFill>
        </p:grpSpPr>
        <p:sp>
          <p:nvSpPr>
            <p:cNvPr id="348" name="Freeform 92"/>
            <p:cNvSpPr>
              <a:spLocks/>
            </p:cNvSpPr>
            <p:nvPr/>
          </p:nvSpPr>
          <p:spPr bwMode="auto">
            <a:xfrm>
              <a:off x="14368463" y="4784725"/>
              <a:ext cx="233363" cy="277813"/>
            </a:xfrm>
            <a:custGeom>
              <a:avLst/>
              <a:gdLst>
                <a:gd name="T0" fmla="*/ 4 w 80"/>
                <a:gd name="T1" fmla="*/ 96 h 96"/>
                <a:gd name="T2" fmla="*/ 42 w 80"/>
                <a:gd name="T3" fmla="*/ 96 h 96"/>
                <a:gd name="T4" fmla="*/ 58 w 80"/>
                <a:gd name="T5" fmla="*/ 87 h 96"/>
                <a:gd name="T6" fmla="*/ 77 w 80"/>
                <a:gd name="T7" fmla="*/ 54 h 96"/>
                <a:gd name="T8" fmla="*/ 77 w 80"/>
                <a:gd name="T9" fmla="*/ 36 h 96"/>
                <a:gd name="T10" fmla="*/ 58 w 80"/>
                <a:gd name="T11" fmla="*/ 3 h 96"/>
                <a:gd name="T12" fmla="*/ 55 w 80"/>
                <a:gd name="T13" fmla="*/ 0 h 96"/>
                <a:gd name="T14" fmla="*/ 0 w 80"/>
                <a:gd name="T15" fmla="*/ 96 h 96"/>
                <a:gd name="T16" fmla="*/ 4 w 80"/>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96">
                  <a:moveTo>
                    <a:pt x="4" y="96"/>
                  </a:moveTo>
                  <a:cubicBezTo>
                    <a:pt x="42" y="96"/>
                    <a:pt x="42" y="96"/>
                    <a:pt x="42" y="96"/>
                  </a:cubicBezTo>
                  <a:cubicBezTo>
                    <a:pt x="48" y="96"/>
                    <a:pt x="55" y="92"/>
                    <a:pt x="58" y="87"/>
                  </a:cubicBezTo>
                  <a:cubicBezTo>
                    <a:pt x="77" y="54"/>
                    <a:pt x="77" y="54"/>
                    <a:pt x="77" y="54"/>
                  </a:cubicBezTo>
                  <a:cubicBezTo>
                    <a:pt x="80" y="49"/>
                    <a:pt x="80" y="41"/>
                    <a:pt x="77" y="36"/>
                  </a:cubicBezTo>
                  <a:cubicBezTo>
                    <a:pt x="58" y="3"/>
                    <a:pt x="58" y="3"/>
                    <a:pt x="58" y="3"/>
                  </a:cubicBezTo>
                  <a:cubicBezTo>
                    <a:pt x="57" y="2"/>
                    <a:pt x="56" y="1"/>
                    <a:pt x="55" y="0"/>
                  </a:cubicBezTo>
                  <a:cubicBezTo>
                    <a:pt x="0" y="96"/>
                    <a:pt x="0" y="96"/>
                    <a:pt x="0" y="96"/>
                  </a:cubicBezTo>
                  <a:cubicBezTo>
                    <a:pt x="2" y="96"/>
                    <a:pt x="3" y="96"/>
                    <a:pt x="4"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9" name="Freeform 93"/>
            <p:cNvSpPr>
              <a:spLocks/>
            </p:cNvSpPr>
            <p:nvPr/>
          </p:nvSpPr>
          <p:spPr bwMode="auto">
            <a:xfrm>
              <a:off x="14162088" y="4705350"/>
              <a:ext cx="331788" cy="334963"/>
            </a:xfrm>
            <a:custGeom>
              <a:avLst/>
              <a:gdLst>
                <a:gd name="T0" fmla="*/ 114 w 114"/>
                <a:gd name="T1" fmla="*/ 19 h 115"/>
                <a:gd name="T2" fmla="*/ 113 w 114"/>
                <a:gd name="T3" fmla="*/ 19 h 115"/>
                <a:gd name="T4" fmla="*/ 37 w 114"/>
                <a:gd name="T5" fmla="*/ 1 h 115"/>
                <a:gd name="T6" fmla="*/ 22 w 114"/>
                <a:gd name="T7" fmla="*/ 8 h 115"/>
                <a:gd name="T8" fmla="*/ 3 w 114"/>
                <a:gd name="T9" fmla="*/ 41 h 115"/>
                <a:gd name="T10" fmla="*/ 5 w 114"/>
                <a:gd name="T11" fmla="*/ 58 h 115"/>
                <a:gd name="T12" fmla="*/ 57 w 114"/>
                <a:gd name="T13" fmla="*/ 115 h 115"/>
                <a:gd name="T14" fmla="*/ 58 w 114"/>
                <a:gd name="T15" fmla="*/ 115 h 115"/>
                <a:gd name="T16" fmla="*/ 114 w 114"/>
                <a:gd name="T17" fmla="*/ 1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115">
                  <a:moveTo>
                    <a:pt x="114" y="19"/>
                  </a:moveTo>
                  <a:cubicBezTo>
                    <a:pt x="113" y="19"/>
                    <a:pt x="113" y="19"/>
                    <a:pt x="113" y="19"/>
                  </a:cubicBezTo>
                  <a:cubicBezTo>
                    <a:pt x="37" y="1"/>
                    <a:pt x="37" y="1"/>
                    <a:pt x="37" y="1"/>
                  </a:cubicBezTo>
                  <a:cubicBezTo>
                    <a:pt x="32" y="0"/>
                    <a:pt x="24" y="3"/>
                    <a:pt x="22" y="8"/>
                  </a:cubicBezTo>
                  <a:cubicBezTo>
                    <a:pt x="3" y="41"/>
                    <a:pt x="3" y="41"/>
                    <a:pt x="3" y="41"/>
                  </a:cubicBezTo>
                  <a:cubicBezTo>
                    <a:pt x="0" y="46"/>
                    <a:pt x="1" y="54"/>
                    <a:pt x="5" y="58"/>
                  </a:cubicBezTo>
                  <a:cubicBezTo>
                    <a:pt x="57" y="115"/>
                    <a:pt x="57" y="115"/>
                    <a:pt x="57" y="115"/>
                  </a:cubicBezTo>
                  <a:cubicBezTo>
                    <a:pt x="57" y="115"/>
                    <a:pt x="58" y="115"/>
                    <a:pt x="58" y="115"/>
                  </a:cubicBezTo>
                  <a:lnTo>
                    <a:pt x="114"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0" name="Freeform 94"/>
            <p:cNvSpPr>
              <a:spLocks noEditPoints="1"/>
            </p:cNvSpPr>
            <p:nvPr/>
          </p:nvSpPr>
          <p:spPr bwMode="auto">
            <a:xfrm>
              <a:off x="14150975" y="4935538"/>
              <a:ext cx="714375" cy="347663"/>
            </a:xfrm>
            <a:custGeom>
              <a:avLst/>
              <a:gdLst>
                <a:gd name="T0" fmla="*/ 242 w 246"/>
                <a:gd name="T1" fmla="*/ 75 h 120"/>
                <a:gd name="T2" fmla="*/ 242 w 246"/>
                <a:gd name="T3" fmla="*/ 68 h 120"/>
                <a:gd name="T4" fmla="*/ 242 w 246"/>
                <a:gd name="T5" fmla="*/ 68 h 120"/>
                <a:gd name="T6" fmla="*/ 242 w 246"/>
                <a:gd name="T7" fmla="*/ 50 h 120"/>
                <a:gd name="T8" fmla="*/ 239 w 246"/>
                <a:gd name="T9" fmla="*/ 38 h 120"/>
                <a:gd name="T10" fmla="*/ 224 w 246"/>
                <a:gd name="T11" fmla="*/ 6 h 120"/>
                <a:gd name="T12" fmla="*/ 215 w 246"/>
                <a:gd name="T13" fmla="*/ 0 h 120"/>
                <a:gd name="T14" fmla="*/ 169 w 246"/>
                <a:gd name="T15" fmla="*/ 0 h 120"/>
                <a:gd name="T16" fmla="*/ 162 w 246"/>
                <a:gd name="T17" fmla="*/ 6 h 120"/>
                <a:gd name="T18" fmla="*/ 162 w 246"/>
                <a:gd name="T19" fmla="*/ 54 h 120"/>
                <a:gd name="T20" fmla="*/ 159 w 246"/>
                <a:gd name="T21" fmla="*/ 57 h 120"/>
                <a:gd name="T22" fmla="*/ 56 w 246"/>
                <a:gd name="T23" fmla="*/ 57 h 120"/>
                <a:gd name="T24" fmla="*/ 17 w 246"/>
                <a:gd name="T25" fmla="*/ 15 h 120"/>
                <a:gd name="T26" fmla="*/ 5 w 246"/>
                <a:gd name="T27" fmla="*/ 24 h 120"/>
                <a:gd name="T28" fmla="*/ 5 w 246"/>
                <a:gd name="T29" fmla="*/ 75 h 120"/>
                <a:gd name="T30" fmla="*/ 0 w 246"/>
                <a:gd name="T31" fmla="*/ 81 h 120"/>
                <a:gd name="T32" fmla="*/ 0 w 246"/>
                <a:gd name="T33" fmla="*/ 91 h 120"/>
                <a:gd name="T34" fmla="*/ 6 w 246"/>
                <a:gd name="T35" fmla="*/ 97 h 120"/>
                <a:gd name="T36" fmla="*/ 26 w 246"/>
                <a:gd name="T37" fmla="*/ 97 h 120"/>
                <a:gd name="T38" fmla="*/ 26 w 246"/>
                <a:gd name="T39" fmla="*/ 98 h 120"/>
                <a:gd name="T40" fmla="*/ 48 w 246"/>
                <a:gd name="T41" fmla="*/ 120 h 120"/>
                <a:gd name="T42" fmla="*/ 70 w 246"/>
                <a:gd name="T43" fmla="*/ 98 h 120"/>
                <a:gd name="T44" fmla="*/ 70 w 246"/>
                <a:gd name="T45" fmla="*/ 97 h 120"/>
                <a:gd name="T46" fmla="*/ 79 w 246"/>
                <a:gd name="T47" fmla="*/ 97 h 120"/>
                <a:gd name="T48" fmla="*/ 101 w 246"/>
                <a:gd name="T49" fmla="*/ 120 h 120"/>
                <a:gd name="T50" fmla="*/ 123 w 246"/>
                <a:gd name="T51" fmla="*/ 98 h 120"/>
                <a:gd name="T52" fmla="*/ 123 w 246"/>
                <a:gd name="T53" fmla="*/ 97 h 120"/>
                <a:gd name="T54" fmla="*/ 167 w 246"/>
                <a:gd name="T55" fmla="*/ 97 h 120"/>
                <a:gd name="T56" fmla="*/ 167 w 246"/>
                <a:gd name="T57" fmla="*/ 98 h 120"/>
                <a:gd name="T58" fmla="*/ 189 w 246"/>
                <a:gd name="T59" fmla="*/ 120 h 120"/>
                <a:gd name="T60" fmla="*/ 211 w 246"/>
                <a:gd name="T61" fmla="*/ 98 h 120"/>
                <a:gd name="T62" fmla="*/ 211 w 246"/>
                <a:gd name="T63" fmla="*/ 98 h 120"/>
                <a:gd name="T64" fmla="*/ 240 w 246"/>
                <a:gd name="T65" fmla="*/ 97 h 120"/>
                <a:gd name="T66" fmla="*/ 246 w 246"/>
                <a:gd name="T67" fmla="*/ 91 h 120"/>
                <a:gd name="T68" fmla="*/ 246 w 246"/>
                <a:gd name="T69" fmla="*/ 81 h 120"/>
                <a:gd name="T70" fmla="*/ 242 w 246"/>
                <a:gd name="T71" fmla="*/ 75 h 120"/>
                <a:gd name="T72" fmla="*/ 48 w 246"/>
                <a:gd name="T73" fmla="*/ 107 h 120"/>
                <a:gd name="T74" fmla="*/ 38 w 246"/>
                <a:gd name="T75" fmla="*/ 97 h 120"/>
                <a:gd name="T76" fmla="*/ 48 w 246"/>
                <a:gd name="T77" fmla="*/ 88 h 120"/>
                <a:gd name="T78" fmla="*/ 57 w 246"/>
                <a:gd name="T79" fmla="*/ 98 h 120"/>
                <a:gd name="T80" fmla="*/ 48 w 246"/>
                <a:gd name="T81" fmla="*/ 107 h 120"/>
                <a:gd name="T82" fmla="*/ 101 w 246"/>
                <a:gd name="T83" fmla="*/ 107 h 120"/>
                <a:gd name="T84" fmla="*/ 91 w 246"/>
                <a:gd name="T85" fmla="*/ 98 h 120"/>
                <a:gd name="T86" fmla="*/ 101 w 246"/>
                <a:gd name="T87" fmla="*/ 88 h 120"/>
                <a:gd name="T88" fmla="*/ 110 w 246"/>
                <a:gd name="T89" fmla="*/ 98 h 120"/>
                <a:gd name="T90" fmla="*/ 101 w 246"/>
                <a:gd name="T91" fmla="*/ 107 h 120"/>
                <a:gd name="T92" fmla="*/ 189 w 246"/>
                <a:gd name="T93" fmla="*/ 107 h 120"/>
                <a:gd name="T94" fmla="*/ 180 w 246"/>
                <a:gd name="T95" fmla="*/ 97 h 120"/>
                <a:gd name="T96" fmla="*/ 189 w 246"/>
                <a:gd name="T97" fmla="*/ 88 h 120"/>
                <a:gd name="T98" fmla="*/ 199 w 246"/>
                <a:gd name="T99" fmla="*/ 98 h 120"/>
                <a:gd name="T100" fmla="*/ 189 w 246"/>
                <a:gd name="T101" fmla="*/ 107 h 120"/>
                <a:gd name="T102" fmla="*/ 219 w 246"/>
                <a:gd name="T103" fmla="*/ 43 h 120"/>
                <a:gd name="T104" fmla="*/ 183 w 246"/>
                <a:gd name="T105" fmla="*/ 43 h 120"/>
                <a:gd name="T106" fmla="*/ 177 w 246"/>
                <a:gd name="T107" fmla="*/ 37 h 120"/>
                <a:gd name="T108" fmla="*/ 177 w 246"/>
                <a:gd name="T109" fmla="*/ 21 h 120"/>
                <a:gd name="T110" fmla="*/ 183 w 246"/>
                <a:gd name="T111" fmla="*/ 15 h 120"/>
                <a:gd name="T112" fmla="*/ 206 w 246"/>
                <a:gd name="T113" fmla="*/ 15 h 120"/>
                <a:gd name="T114" fmla="*/ 214 w 246"/>
                <a:gd name="T115" fmla="*/ 20 h 120"/>
                <a:gd name="T116" fmla="*/ 222 w 246"/>
                <a:gd name="T117" fmla="*/ 38 h 120"/>
                <a:gd name="T118" fmla="*/ 219 w 246"/>
                <a:gd name="T119" fmla="*/ 4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6" h="120">
                  <a:moveTo>
                    <a:pt x="242" y="75"/>
                  </a:moveTo>
                  <a:cubicBezTo>
                    <a:pt x="242" y="68"/>
                    <a:pt x="242" y="68"/>
                    <a:pt x="242" y="68"/>
                  </a:cubicBezTo>
                  <a:cubicBezTo>
                    <a:pt x="242" y="68"/>
                    <a:pt x="242" y="68"/>
                    <a:pt x="242" y="68"/>
                  </a:cubicBezTo>
                  <a:cubicBezTo>
                    <a:pt x="242" y="50"/>
                    <a:pt x="242" y="50"/>
                    <a:pt x="242" y="50"/>
                  </a:cubicBezTo>
                  <a:cubicBezTo>
                    <a:pt x="242" y="47"/>
                    <a:pt x="240" y="41"/>
                    <a:pt x="239" y="38"/>
                  </a:cubicBezTo>
                  <a:cubicBezTo>
                    <a:pt x="224" y="6"/>
                    <a:pt x="224" y="6"/>
                    <a:pt x="224" y="6"/>
                  </a:cubicBezTo>
                  <a:cubicBezTo>
                    <a:pt x="223" y="3"/>
                    <a:pt x="219" y="0"/>
                    <a:pt x="215" y="0"/>
                  </a:cubicBezTo>
                  <a:cubicBezTo>
                    <a:pt x="169" y="0"/>
                    <a:pt x="169" y="0"/>
                    <a:pt x="169" y="0"/>
                  </a:cubicBezTo>
                  <a:cubicBezTo>
                    <a:pt x="165" y="0"/>
                    <a:pt x="162" y="3"/>
                    <a:pt x="162" y="6"/>
                  </a:cubicBezTo>
                  <a:cubicBezTo>
                    <a:pt x="162" y="54"/>
                    <a:pt x="162" y="54"/>
                    <a:pt x="162" y="54"/>
                  </a:cubicBezTo>
                  <a:cubicBezTo>
                    <a:pt x="162" y="56"/>
                    <a:pt x="161" y="57"/>
                    <a:pt x="159" y="57"/>
                  </a:cubicBezTo>
                  <a:cubicBezTo>
                    <a:pt x="56" y="57"/>
                    <a:pt x="56" y="57"/>
                    <a:pt x="56" y="57"/>
                  </a:cubicBezTo>
                  <a:cubicBezTo>
                    <a:pt x="17" y="15"/>
                    <a:pt x="17" y="15"/>
                    <a:pt x="17" y="15"/>
                  </a:cubicBezTo>
                  <a:cubicBezTo>
                    <a:pt x="5" y="24"/>
                    <a:pt x="5" y="24"/>
                    <a:pt x="5" y="24"/>
                  </a:cubicBezTo>
                  <a:cubicBezTo>
                    <a:pt x="5" y="75"/>
                    <a:pt x="5" y="75"/>
                    <a:pt x="5" y="75"/>
                  </a:cubicBezTo>
                  <a:cubicBezTo>
                    <a:pt x="2" y="76"/>
                    <a:pt x="0" y="78"/>
                    <a:pt x="0" y="81"/>
                  </a:cubicBezTo>
                  <a:cubicBezTo>
                    <a:pt x="0" y="91"/>
                    <a:pt x="0" y="91"/>
                    <a:pt x="0" y="91"/>
                  </a:cubicBezTo>
                  <a:cubicBezTo>
                    <a:pt x="0" y="95"/>
                    <a:pt x="3" y="97"/>
                    <a:pt x="6" y="97"/>
                  </a:cubicBezTo>
                  <a:cubicBezTo>
                    <a:pt x="26" y="97"/>
                    <a:pt x="26" y="97"/>
                    <a:pt x="26" y="97"/>
                  </a:cubicBezTo>
                  <a:cubicBezTo>
                    <a:pt x="26" y="98"/>
                    <a:pt x="26" y="98"/>
                    <a:pt x="26" y="98"/>
                  </a:cubicBezTo>
                  <a:cubicBezTo>
                    <a:pt x="26" y="110"/>
                    <a:pt x="36" y="120"/>
                    <a:pt x="48" y="120"/>
                  </a:cubicBezTo>
                  <a:cubicBezTo>
                    <a:pt x="60" y="120"/>
                    <a:pt x="70" y="110"/>
                    <a:pt x="70" y="98"/>
                  </a:cubicBezTo>
                  <a:cubicBezTo>
                    <a:pt x="70" y="97"/>
                    <a:pt x="70" y="97"/>
                    <a:pt x="70" y="97"/>
                  </a:cubicBezTo>
                  <a:cubicBezTo>
                    <a:pt x="79" y="97"/>
                    <a:pt x="79" y="97"/>
                    <a:pt x="79" y="97"/>
                  </a:cubicBezTo>
                  <a:cubicBezTo>
                    <a:pt x="79" y="110"/>
                    <a:pt x="89" y="120"/>
                    <a:pt x="101" y="120"/>
                  </a:cubicBezTo>
                  <a:cubicBezTo>
                    <a:pt x="113" y="120"/>
                    <a:pt x="123" y="110"/>
                    <a:pt x="123" y="98"/>
                  </a:cubicBezTo>
                  <a:cubicBezTo>
                    <a:pt x="123" y="97"/>
                    <a:pt x="123" y="97"/>
                    <a:pt x="123" y="97"/>
                  </a:cubicBezTo>
                  <a:cubicBezTo>
                    <a:pt x="167" y="97"/>
                    <a:pt x="167" y="97"/>
                    <a:pt x="167" y="97"/>
                  </a:cubicBezTo>
                  <a:cubicBezTo>
                    <a:pt x="167" y="98"/>
                    <a:pt x="167" y="98"/>
                    <a:pt x="167" y="98"/>
                  </a:cubicBezTo>
                  <a:cubicBezTo>
                    <a:pt x="167" y="110"/>
                    <a:pt x="177" y="120"/>
                    <a:pt x="189" y="120"/>
                  </a:cubicBezTo>
                  <a:cubicBezTo>
                    <a:pt x="202" y="120"/>
                    <a:pt x="211" y="110"/>
                    <a:pt x="211" y="98"/>
                  </a:cubicBezTo>
                  <a:cubicBezTo>
                    <a:pt x="211" y="98"/>
                    <a:pt x="211" y="98"/>
                    <a:pt x="211" y="98"/>
                  </a:cubicBezTo>
                  <a:cubicBezTo>
                    <a:pt x="240" y="97"/>
                    <a:pt x="240" y="97"/>
                    <a:pt x="240" y="97"/>
                  </a:cubicBezTo>
                  <a:cubicBezTo>
                    <a:pt x="244" y="97"/>
                    <a:pt x="246" y="95"/>
                    <a:pt x="246" y="91"/>
                  </a:cubicBezTo>
                  <a:cubicBezTo>
                    <a:pt x="246" y="81"/>
                    <a:pt x="246" y="81"/>
                    <a:pt x="246" y="81"/>
                  </a:cubicBezTo>
                  <a:cubicBezTo>
                    <a:pt x="246" y="78"/>
                    <a:pt x="244" y="76"/>
                    <a:pt x="242" y="75"/>
                  </a:cubicBezTo>
                  <a:close/>
                  <a:moveTo>
                    <a:pt x="48" y="107"/>
                  </a:moveTo>
                  <a:cubicBezTo>
                    <a:pt x="43" y="107"/>
                    <a:pt x="38" y="103"/>
                    <a:pt x="38" y="97"/>
                  </a:cubicBezTo>
                  <a:cubicBezTo>
                    <a:pt x="38" y="92"/>
                    <a:pt x="43" y="88"/>
                    <a:pt x="48" y="88"/>
                  </a:cubicBezTo>
                  <a:cubicBezTo>
                    <a:pt x="53" y="88"/>
                    <a:pt x="57" y="92"/>
                    <a:pt x="57" y="98"/>
                  </a:cubicBezTo>
                  <a:cubicBezTo>
                    <a:pt x="57" y="103"/>
                    <a:pt x="53" y="107"/>
                    <a:pt x="48" y="107"/>
                  </a:cubicBezTo>
                  <a:close/>
                  <a:moveTo>
                    <a:pt x="101" y="107"/>
                  </a:moveTo>
                  <a:cubicBezTo>
                    <a:pt x="96" y="107"/>
                    <a:pt x="91" y="103"/>
                    <a:pt x="91" y="98"/>
                  </a:cubicBezTo>
                  <a:cubicBezTo>
                    <a:pt x="91" y="92"/>
                    <a:pt x="96" y="88"/>
                    <a:pt x="101" y="88"/>
                  </a:cubicBezTo>
                  <a:cubicBezTo>
                    <a:pt x="106" y="88"/>
                    <a:pt x="110" y="92"/>
                    <a:pt x="110" y="98"/>
                  </a:cubicBezTo>
                  <a:cubicBezTo>
                    <a:pt x="110" y="103"/>
                    <a:pt x="106" y="107"/>
                    <a:pt x="101" y="107"/>
                  </a:cubicBezTo>
                  <a:close/>
                  <a:moveTo>
                    <a:pt x="189" y="107"/>
                  </a:moveTo>
                  <a:cubicBezTo>
                    <a:pt x="184" y="107"/>
                    <a:pt x="180" y="103"/>
                    <a:pt x="180" y="97"/>
                  </a:cubicBezTo>
                  <a:cubicBezTo>
                    <a:pt x="180" y="92"/>
                    <a:pt x="184" y="88"/>
                    <a:pt x="189" y="88"/>
                  </a:cubicBezTo>
                  <a:cubicBezTo>
                    <a:pt x="195" y="88"/>
                    <a:pt x="199" y="92"/>
                    <a:pt x="199" y="98"/>
                  </a:cubicBezTo>
                  <a:cubicBezTo>
                    <a:pt x="199" y="103"/>
                    <a:pt x="195" y="107"/>
                    <a:pt x="189" y="107"/>
                  </a:cubicBezTo>
                  <a:close/>
                  <a:moveTo>
                    <a:pt x="219" y="43"/>
                  </a:moveTo>
                  <a:cubicBezTo>
                    <a:pt x="183" y="43"/>
                    <a:pt x="183" y="43"/>
                    <a:pt x="183" y="43"/>
                  </a:cubicBezTo>
                  <a:cubicBezTo>
                    <a:pt x="180" y="43"/>
                    <a:pt x="177" y="40"/>
                    <a:pt x="177" y="37"/>
                  </a:cubicBezTo>
                  <a:cubicBezTo>
                    <a:pt x="177" y="21"/>
                    <a:pt x="177" y="21"/>
                    <a:pt x="177" y="21"/>
                  </a:cubicBezTo>
                  <a:cubicBezTo>
                    <a:pt x="177" y="18"/>
                    <a:pt x="180" y="15"/>
                    <a:pt x="183" y="15"/>
                  </a:cubicBezTo>
                  <a:cubicBezTo>
                    <a:pt x="206" y="15"/>
                    <a:pt x="206" y="15"/>
                    <a:pt x="206" y="15"/>
                  </a:cubicBezTo>
                  <a:cubicBezTo>
                    <a:pt x="209" y="15"/>
                    <a:pt x="213" y="17"/>
                    <a:pt x="214" y="20"/>
                  </a:cubicBezTo>
                  <a:cubicBezTo>
                    <a:pt x="222" y="38"/>
                    <a:pt x="222" y="38"/>
                    <a:pt x="222" y="38"/>
                  </a:cubicBezTo>
                  <a:cubicBezTo>
                    <a:pt x="223" y="41"/>
                    <a:pt x="222" y="43"/>
                    <a:pt x="2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 name="Freeform 9">
            <a:extLst>
              <a:ext uri="{FF2B5EF4-FFF2-40B4-BE49-F238E27FC236}">
                <a16:creationId xmlns:a16="http://schemas.microsoft.com/office/drawing/2014/main" id="{C7707D6D-FCE3-47C7-AFA7-3B096078685B}"/>
              </a:ext>
            </a:extLst>
          </p:cNvPr>
          <p:cNvSpPr>
            <a:spLocks noEditPoints="1"/>
          </p:cNvSpPr>
          <p:nvPr userDrawn="1"/>
        </p:nvSpPr>
        <p:spPr bwMode="auto">
          <a:xfrm>
            <a:off x="3853901" y="4918466"/>
            <a:ext cx="299554" cy="334106"/>
          </a:xfrm>
          <a:custGeom>
            <a:avLst/>
            <a:gdLst>
              <a:gd name="T0" fmla="*/ 1952 w 1994"/>
              <a:gd name="T1" fmla="*/ 1359 h 2224"/>
              <a:gd name="T2" fmla="*/ 1465 w 1994"/>
              <a:gd name="T3" fmla="*/ 1301 h 2224"/>
              <a:gd name="T4" fmla="*/ 1744 w 1994"/>
              <a:gd name="T5" fmla="*/ 1046 h 2224"/>
              <a:gd name="T6" fmla="*/ 1688 w 1994"/>
              <a:gd name="T7" fmla="*/ 794 h 2224"/>
              <a:gd name="T8" fmla="*/ 1990 w 1994"/>
              <a:gd name="T9" fmla="*/ 726 h 2224"/>
              <a:gd name="T10" fmla="*/ 1994 w 1994"/>
              <a:gd name="T11" fmla="*/ 617 h 2224"/>
              <a:gd name="T12" fmla="*/ 1792 w 1994"/>
              <a:gd name="T13" fmla="*/ 567 h 2224"/>
              <a:gd name="T14" fmla="*/ 1688 w 1994"/>
              <a:gd name="T15" fmla="*/ 405 h 2224"/>
              <a:gd name="T16" fmla="*/ 1395 w 1994"/>
              <a:gd name="T17" fmla="*/ 798 h 2224"/>
              <a:gd name="T18" fmla="*/ 1313 w 1994"/>
              <a:gd name="T19" fmla="*/ 432 h 2224"/>
              <a:gd name="T20" fmla="*/ 1068 w 1994"/>
              <a:gd name="T21" fmla="*/ 352 h 2224"/>
              <a:gd name="T22" fmla="*/ 1159 w 1994"/>
              <a:gd name="T23" fmla="*/ 56 h 2224"/>
              <a:gd name="T24" fmla="*/ 1068 w 1994"/>
              <a:gd name="T25" fmla="*/ 0 h 2224"/>
              <a:gd name="T26" fmla="*/ 924 w 1994"/>
              <a:gd name="T27" fmla="*/ 148 h 2224"/>
              <a:gd name="T28" fmla="*/ 731 w 1994"/>
              <a:gd name="T29" fmla="*/ 159 h 2224"/>
              <a:gd name="T30" fmla="*/ 924 w 1994"/>
              <a:gd name="T31" fmla="*/ 611 h 2224"/>
              <a:gd name="T32" fmla="*/ 566 w 1994"/>
              <a:gd name="T33" fmla="*/ 496 h 2224"/>
              <a:gd name="T34" fmla="*/ 377 w 1994"/>
              <a:gd name="T35" fmla="*/ 669 h 2224"/>
              <a:gd name="T36" fmla="*/ 167 w 1994"/>
              <a:gd name="T37" fmla="*/ 442 h 2224"/>
              <a:gd name="T38" fmla="*/ 73 w 1994"/>
              <a:gd name="T39" fmla="*/ 492 h 2224"/>
              <a:gd name="T40" fmla="*/ 129 w 1994"/>
              <a:gd name="T41" fmla="*/ 692 h 2224"/>
              <a:gd name="T42" fmla="*/ 40 w 1994"/>
              <a:gd name="T43" fmla="*/ 865 h 2224"/>
              <a:gd name="T44" fmla="*/ 529 w 1994"/>
              <a:gd name="T45" fmla="*/ 924 h 2224"/>
              <a:gd name="T46" fmla="*/ 250 w 1994"/>
              <a:gd name="T47" fmla="*/ 1178 h 2224"/>
              <a:gd name="T48" fmla="*/ 304 w 1994"/>
              <a:gd name="T49" fmla="*/ 1430 h 2224"/>
              <a:gd name="T50" fmla="*/ 4 w 1994"/>
              <a:gd name="T51" fmla="*/ 1499 h 2224"/>
              <a:gd name="T52" fmla="*/ 0 w 1994"/>
              <a:gd name="T53" fmla="*/ 1607 h 2224"/>
              <a:gd name="T54" fmla="*/ 200 w 1994"/>
              <a:gd name="T55" fmla="*/ 1655 h 2224"/>
              <a:gd name="T56" fmla="*/ 306 w 1994"/>
              <a:gd name="T57" fmla="*/ 1820 h 2224"/>
              <a:gd name="T58" fmla="*/ 600 w 1994"/>
              <a:gd name="T59" fmla="*/ 1426 h 2224"/>
              <a:gd name="T60" fmla="*/ 681 w 1994"/>
              <a:gd name="T61" fmla="*/ 1793 h 2224"/>
              <a:gd name="T62" fmla="*/ 924 w 1994"/>
              <a:gd name="T63" fmla="*/ 1872 h 2224"/>
              <a:gd name="T64" fmla="*/ 833 w 1994"/>
              <a:gd name="T65" fmla="*/ 2166 h 2224"/>
              <a:gd name="T66" fmla="*/ 924 w 1994"/>
              <a:gd name="T67" fmla="*/ 2224 h 2224"/>
              <a:gd name="T68" fmla="*/ 1068 w 1994"/>
              <a:gd name="T69" fmla="*/ 2074 h 2224"/>
              <a:gd name="T70" fmla="*/ 1261 w 1994"/>
              <a:gd name="T71" fmla="*/ 2064 h 2224"/>
              <a:gd name="T72" fmla="*/ 1068 w 1994"/>
              <a:gd name="T73" fmla="*/ 1613 h 2224"/>
              <a:gd name="T74" fmla="*/ 1426 w 1994"/>
              <a:gd name="T75" fmla="*/ 1726 h 2224"/>
              <a:gd name="T76" fmla="*/ 1617 w 1994"/>
              <a:gd name="T77" fmla="*/ 1555 h 2224"/>
              <a:gd name="T78" fmla="*/ 1825 w 1994"/>
              <a:gd name="T79" fmla="*/ 1782 h 2224"/>
              <a:gd name="T80" fmla="*/ 1921 w 1994"/>
              <a:gd name="T81" fmla="*/ 1730 h 2224"/>
              <a:gd name="T82" fmla="*/ 1865 w 1994"/>
              <a:gd name="T83" fmla="*/ 1532 h 2224"/>
              <a:gd name="T84" fmla="*/ 456 w 1994"/>
              <a:gd name="T85" fmla="*/ 1111 h 2224"/>
              <a:gd name="T86" fmla="*/ 853 w 1994"/>
              <a:gd name="T87" fmla="*/ 1111 h 2224"/>
              <a:gd name="T88" fmla="*/ 456 w 1994"/>
              <a:gd name="T89" fmla="*/ 1111 h 2224"/>
              <a:gd name="T90" fmla="*/ 726 w 1994"/>
              <a:gd name="T91" fmla="*/ 1580 h 2224"/>
              <a:gd name="T92" fmla="*/ 924 w 1994"/>
              <a:gd name="T93" fmla="*/ 1236 h 2224"/>
              <a:gd name="T94" fmla="*/ 924 w 1994"/>
              <a:gd name="T95" fmla="*/ 988 h 2224"/>
              <a:gd name="T96" fmla="*/ 726 w 1994"/>
              <a:gd name="T97" fmla="*/ 644 h 2224"/>
              <a:gd name="T98" fmla="*/ 924 w 1994"/>
              <a:gd name="T99" fmla="*/ 988 h 2224"/>
              <a:gd name="T100" fmla="*/ 1266 w 1994"/>
              <a:gd name="T101" fmla="*/ 644 h 2224"/>
              <a:gd name="T102" fmla="*/ 1068 w 1994"/>
              <a:gd name="T103" fmla="*/ 988 h 2224"/>
              <a:gd name="T104" fmla="*/ 1068 w 1994"/>
              <a:gd name="T105" fmla="*/ 1434 h 2224"/>
              <a:gd name="T106" fmla="*/ 1241 w 1994"/>
              <a:gd name="T107" fmla="*/ 1336 h 2224"/>
              <a:gd name="T108" fmla="*/ 1068 w 1994"/>
              <a:gd name="T109" fmla="*/ 1434 h 2224"/>
              <a:gd name="T110" fmla="*/ 1141 w 1994"/>
              <a:gd name="T111" fmla="*/ 1111 h 2224"/>
              <a:gd name="T112" fmla="*/ 1536 w 1994"/>
              <a:gd name="T113" fmla="*/ 1111 h 2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94" h="2224">
                <a:moveTo>
                  <a:pt x="1990" y="1499"/>
                </a:moveTo>
                <a:lnTo>
                  <a:pt x="1952" y="1359"/>
                </a:lnTo>
                <a:lnTo>
                  <a:pt x="1688" y="1430"/>
                </a:lnTo>
                <a:lnTo>
                  <a:pt x="1465" y="1301"/>
                </a:lnTo>
                <a:lnTo>
                  <a:pt x="1744" y="1178"/>
                </a:lnTo>
                <a:lnTo>
                  <a:pt x="1744" y="1046"/>
                </a:lnTo>
                <a:lnTo>
                  <a:pt x="1465" y="924"/>
                </a:lnTo>
                <a:lnTo>
                  <a:pt x="1688" y="794"/>
                </a:lnTo>
                <a:lnTo>
                  <a:pt x="1952" y="865"/>
                </a:lnTo>
                <a:lnTo>
                  <a:pt x="1990" y="726"/>
                </a:lnTo>
                <a:lnTo>
                  <a:pt x="1865" y="692"/>
                </a:lnTo>
                <a:lnTo>
                  <a:pt x="1994" y="617"/>
                </a:lnTo>
                <a:lnTo>
                  <a:pt x="1921" y="492"/>
                </a:lnTo>
                <a:lnTo>
                  <a:pt x="1792" y="567"/>
                </a:lnTo>
                <a:lnTo>
                  <a:pt x="1825" y="442"/>
                </a:lnTo>
                <a:lnTo>
                  <a:pt x="1688" y="405"/>
                </a:lnTo>
                <a:lnTo>
                  <a:pt x="1617" y="669"/>
                </a:lnTo>
                <a:lnTo>
                  <a:pt x="1395" y="798"/>
                </a:lnTo>
                <a:lnTo>
                  <a:pt x="1426" y="496"/>
                </a:lnTo>
                <a:lnTo>
                  <a:pt x="1313" y="432"/>
                </a:lnTo>
                <a:lnTo>
                  <a:pt x="1068" y="611"/>
                </a:lnTo>
                <a:lnTo>
                  <a:pt x="1068" y="352"/>
                </a:lnTo>
                <a:lnTo>
                  <a:pt x="1261" y="159"/>
                </a:lnTo>
                <a:lnTo>
                  <a:pt x="1159" y="56"/>
                </a:lnTo>
                <a:lnTo>
                  <a:pt x="1068" y="148"/>
                </a:lnTo>
                <a:lnTo>
                  <a:pt x="1068" y="0"/>
                </a:lnTo>
                <a:lnTo>
                  <a:pt x="924" y="0"/>
                </a:lnTo>
                <a:lnTo>
                  <a:pt x="924" y="148"/>
                </a:lnTo>
                <a:lnTo>
                  <a:pt x="833" y="56"/>
                </a:lnTo>
                <a:lnTo>
                  <a:pt x="731" y="159"/>
                </a:lnTo>
                <a:lnTo>
                  <a:pt x="924" y="352"/>
                </a:lnTo>
                <a:lnTo>
                  <a:pt x="924" y="611"/>
                </a:lnTo>
                <a:lnTo>
                  <a:pt x="681" y="432"/>
                </a:lnTo>
                <a:lnTo>
                  <a:pt x="566" y="496"/>
                </a:lnTo>
                <a:lnTo>
                  <a:pt x="600" y="798"/>
                </a:lnTo>
                <a:lnTo>
                  <a:pt x="377" y="669"/>
                </a:lnTo>
                <a:lnTo>
                  <a:pt x="306" y="405"/>
                </a:lnTo>
                <a:lnTo>
                  <a:pt x="167" y="442"/>
                </a:lnTo>
                <a:lnTo>
                  <a:pt x="200" y="567"/>
                </a:lnTo>
                <a:lnTo>
                  <a:pt x="73" y="492"/>
                </a:lnTo>
                <a:lnTo>
                  <a:pt x="0" y="617"/>
                </a:lnTo>
                <a:lnTo>
                  <a:pt x="129" y="692"/>
                </a:lnTo>
                <a:lnTo>
                  <a:pt x="2" y="726"/>
                </a:lnTo>
                <a:lnTo>
                  <a:pt x="40" y="865"/>
                </a:lnTo>
                <a:lnTo>
                  <a:pt x="304" y="794"/>
                </a:lnTo>
                <a:lnTo>
                  <a:pt x="529" y="924"/>
                </a:lnTo>
                <a:lnTo>
                  <a:pt x="250" y="1046"/>
                </a:lnTo>
                <a:lnTo>
                  <a:pt x="250" y="1178"/>
                </a:lnTo>
                <a:lnTo>
                  <a:pt x="529" y="1301"/>
                </a:lnTo>
                <a:lnTo>
                  <a:pt x="304" y="1430"/>
                </a:lnTo>
                <a:lnTo>
                  <a:pt x="40" y="1359"/>
                </a:lnTo>
                <a:lnTo>
                  <a:pt x="4" y="1499"/>
                </a:lnTo>
                <a:lnTo>
                  <a:pt x="129" y="1532"/>
                </a:lnTo>
                <a:lnTo>
                  <a:pt x="0" y="1607"/>
                </a:lnTo>
                <a:lnTo>
                  <a:pt x="73" y="1730"/>
                </a:lnTo>
                <a:lnTo>
                  <a:pt x="200" y="1655"/>
                </a:lnTo>
                <a:lnTo>
                  <a:pt x="167" y="1782"/>
                </a:lnTo>
                <a:lnTo>
                  <a:pt x="306" y="1820"/>
                </a:lnTo>
                <a:lnTo>
                  <a:pt x="377" y="1555"/>
                </a:lnTo>
                <a:lnTo>
                  <a:pt x="600" y="1426"/>
                </a:lnTo>
                <a:lnTo>
                  <a:pt x="566" y="1726"/>
                </a:lnTo>
                <a:lnTo>
                  <a:pt x="681" y="1793"/>
                </a:lnTo>
                <a:lnTo>
                  <a:pt x="924" y="1613"/>
                </a:lnTo>
                <a:lnTo>
                  <a:pt x="924" y="1872"/>
                </a:lnTo>
                <a:lnTo>
                  <a:pt x="731" y="2064"/>
                </a:lnTo>
                <a:lnTo>
                  <a:pt x="833" y="2166"/>
                </a:lnTo>
                <a:lnTo>
                  <a:pt x="924" y="2074"/>
                </a:lnTo>
                <a:lnTo>
                  <a:pt x="924" y="2224"/>
                </a:lnTo>
                <a:lnTo>
                  <a:pt x="1068" y="2224"/>
                </a:lnTo>
                <a:lnTo>
                  <a:pt x="1068" y="2074"/>
                </a:lnTo>
                <a:lnTo>
                  <a:pt x="1159" y="2166"/>
                </a:lnTo>
                <a:lnTo>
                  <a:pt x="1261" y="2064"/>
                </a:lnTo>
                <a:lnTo>
                  <a:pt x="1068" y="1872"/>
                </a:lnTo>
                <a:lnTo>
                  <a:pt x="1068" y="1613"/>
                </a:lnTo>
                <a:lnTo>
                  <a:pt x="1313" y="1793"/>
                </a:lnTo>
                <a:lnTo>
                  <a:pt x="1426" y="1726"/>
                </a:lnTo>
                <a:lnTo>
                  <a:pt x="1395" y="1426"/>
                </a:lnTo>
                <a:lnTo>
                  <a:pt x="1617" y="1555"/>
                </a:lnTo>
                <a:lnTo>
                  <a:pt x="1688" y="1820"/>
                </a:lnTo>
                <a:lnTo>
                  <a:pt x="1825" y="1782"/>
                </a:lnTo>
                <a:lnTo>
                  <a:pt x="1792" y="1655"/>
                </a:lnTo>
                <a:lnTo>
                  <a:pt x="1921" y="1730"/>
                </a:lnTo>
                <a:lnTo>
                  <a:pt x="1994" y="1607"/>
                </a:lnTo>
                <a:lnTo>
                  <a:pt x="1865" y="1532"/>
                </a:lnTo>
                <a:lnTo>
                  <a:pt x="1990" y="1499"/>
                </a:lnTo>
                <a:close/>
                <a:moveTo>
                  <a:pt x="456" y="1111"/>
                </a:moveTo>
                <a:lnTo>
                  <a:pt x="683" y="1013"/>
                </a:lnTo>
                <a:lnTo>
                  <a:pt x="853" y="1111"/>
                </a:lnTo>
                <a:lnTo>
                  <a:pt x="683" y="1211"/>
                </a:lnTo>
                <a:lnTo>
                  <a:pt x="456" y="1111"/>
                </a:lnTo>
                <a:close/>
                <a:moveTo>
                  <a:pt x="924" y="1434"/>
                </a:moveTo>
                <a:lnTo>
                  <a:pt x="726" y="1580"/>
                </a:lnTo>
                <a:lnTo>
                  <a:pt x="754" y="1336"/>
                </a:lnTo>
                <a:lnTo>
                  <a:pt x="924" y="1236"/>
                </a:lnTo>
                <a:lnTo>
                  <a:pt x="924" y="1434"/>
                </a:lnTo>
                <a:close/>
                <a:moveTo>
                  <a:pt x="924" y="988"/>
                </a:moveTo>
                <a:lnTo>
                  <a:pt x="754" y="888"/>
                </a:lnTo>
                <a:lnTo>
                  <a:pt x="726" y="644"/>
                </a:lnTo>
                <a:lnTo>
                  <a:pt x="924" y="788"/>
                </a:lnTo>
                <a:lnTo>
                  <a:pt x="924" y="988"/>
                </a:lnTo>
                <a:close/>
                <a:moveTo>
                  <a:pt x="1068" y="788"/>
                </a:moveTo>
                <a:lnTo>
                  <a:pt x="1266" y="644"/>
                </a:lnTo>
                <a:lnTo>
                  <a:pt x="1241" y="888"/>
                </a:lnTo>
                <a:lnTo>
                  <a:pt x="1068" y="988"/>
                </a:lnTo>
                <a:lnTo>
                  <a:pt x="1068" y="788"/>
                </a:lnTo>
                <a:close/>
                <a:moveTo>
                  <a:pt x="1068" y="1434"/>
                </a:moveTo>
                <a:lnTo>
                  <a:pt x="1068" y="1236"/>
                </a:lnTo>
                <a:lnTo>
                  <a:pt x="1241" y="1336"/>
                </a:lnTo>
                <a:lnTo>
                  <a:pt x="1266" y="1580"/>
                </a:lnTo>
                <a:lnTo>
                  <a:pt x="1068" y="1434"/>
                </a:lnTo>
                <a:close/>
                <a:moveTo>
                  <a:pt x="1311" y="1211"/>
                </a:moveTo>
                <a:lnTo>
                  <a:pt x="1141" y="1111"/>
                </a:lnTo>
                <a:lnTo>
                  <a:pt x="1311" y="1013"/>
                </a:lnTo>
                <a:lnTo>
                  <a:pt x="1536" y="1111"/>
                </a:lnTo>
                <a:lnTo>
                  <a:pt x="1311" y="121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5" name="Group 12">
            <a:extLst>
              <a:ext uri="{FF2B5EF4-FFF2-40B4-BE49-F238E27FC236}">
                <a16:creationId xmlns:a16="http://schemas.microsoft.com/office/drawing/2014/main" id="{5E98320D-3A79-4B65-8983-59089C989035}"/>
              </a:ext>
            </a:extLst>
          </p:cNvPr>
          <p:cNvGrpSpPr>
            <a:grpSpLocks noChangeAspect="1"/>
          </p:cNvGrpSpPr>
          <p:nvPr userDrawn="1"/>
        </p:nvGrpSpPr>
        <p:grpSpPr bwMode="auto">
          <a:xfrm>
            <a:off x="3850555" y="5577016"/>
            <a:ext cx="306244" cy="286886"/>
            <a:chOff x="2852" y="948"/>
            <a:chExt cx="3512" cy="3290"/>
          </a:xfrm>
          <a:solidFill>
            <a:schemeClr val="tx1"/>
          </a:solidFill>
        </p:grpSpPr>
        <p:sp>
          <p:nvSpPr>
            <p:cNvPr id="17" name="Freeform 13">
              <a:extLst>
                <a:ext uri="{FF2B5EF4-FFF2-40B4-BE49-F238E27FC236}">
                  <a16:creationId xmlns:a16="http://schemas.microsoft.com/office/drawing/2014/main" id="{56445501-D791-400A-9AC9-029A06387AE9}"/>
                </a:ext>
              </a:extLst>
            </p:cNvPr>
            <p:cNvSpPr>
              <a:spLocks/>
            </p:cNvSpPr>
            <p:nvPr userDrawn="1"/>
          </p:nvSpPr>
          <p:spPr bwMode="auto">
            <a:xfrm>
              <a:off x="4762" y="3276"/>
              <a:ext cx="436" cy="612"/>
            </a:xfrm>
            <a:custGeom>
              <a:avLst/>
              <a:gdLst>
                <a:gd name="T0" fmla="*/ 176 w 210"/>
                <a:gd name="T1" fmla="*/ 12 h 294"/>
                <a:gd name="T2" fmla="*/ 112 w 210"/>
                <a:gd name="T3" fmla="*/ 33 h 294"/>
                <a:gd name="T4" fmla="*/ 16 w 210"/>
                <a:gd name="T5" fmla="*/ 225 h 294"/>
                <a:gd name="T6" fmla="*/ 59 w 210"/>
                <a:gd name="T7" fmla="*/ 294 h 294"/>
                <a:gd name="T8" fmla="*/ 102 w 210"/>
                <a:gd name="T9" fmla="*/ 268 h 294"/>
                <a:gd name="T10" fmla="*/ 198 w 210"/>
                <a:gd name="T11" fmla="*/ 76 h 294"/>
                <a:gd name="T12" fmla="*/ 176 w 210"/>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10" h="294">
                  <a:moveTo>
                    <a:pt x="176" y="12"/>
                  </a:moveTo>
                  <a:cubicBezTo>
                    <a:pt x="153" y="0"/>
                    <a:pt x="124" y="10"/>
                    <a:pt x="112" y="33"/>
                  </a:cubicBezTo>
                  <a:cubicBezTo>
                    <a:pt x="16" y="225"/>
                    <a:pt x="16" y="225"/>
                    <a:pt x="16" y="225"/>
                  </a:cubicBezTo>
                  <a:cubicBezTo>
                    <a:pt x="0" y="257"/>
                    <a:pt x="24" y="294"/>
                    <a:pt x="59" y="294"/>
                  </a:cubicBezTo>
                  <a:cubicBezTo>
                    <a:pt x="77" y="294"/>
                    <a:pt x="94" y="285"/>
                    <a:pt x="102" y="268"/>
                  </a:cubicBezTo>
                  <a:cubicBezTo>
                    <a:pt x="198" y="76"/>
                    <a:pt x="198" y="76"/>
                    <a:pt x="198" y="76"/>
                  </a:cubicBezTo>
                  <a:cubicBezTo>
                    <a:pt x="210" y="53"/>
                    <a:pt x="200" y="24"/>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a:extLst>
                <a:ext uri="{FF2B5EF4-FFF2-40B4-BE49-F238E27FC236}">
                  <a16:creationId xmlns:a16="http://schemas.microsoft.com/office/drawing/2014/main" id="{EE42AA87-D4DA-4520-8483-36EA2F5477A8}"/>
                </a:ext>
              </a:extLst>
            </p:cNvPr>
            <p:cNvSpPr>
              <a:spLocks/>
            </p:cNvSpPr>
            <p:nvPr userDrawn="1"/>
          </p:nvSpPr>
          <p:spPr bwMode="auto">
            <a:xfrm>
              <a:off x="5657" y="3276"/>
              <a:ext cx="437" cy="612"/>
            </a:xfrm>
            <a:custGeom>
              <a:avLst/>
              <a:gdLst>
                <a:gd name="T0" fmla="*/ 177 w 210"/>
                <a:gd name="T1" fmla="*/ 12 h 294"/>
                <a:gd name="T2" fmla="*/ 112 w 210"/>
                <a:gd name="T3" fmla="*/ 33 h 294"/>
                <a:gd name="T4" fmla="*/ 16 w 210"/>
                <a:gd name="T5" fmla="*/ 225 h 294"/>
                <a:gd name="T6" fmla="*/ 59 w 210"/>
                <a:gd name="T7" fmla="*/ 294 h 294"/>
                <a:gd name="T8" fmla="*/ 102 w 210"/>
                <a:gd name="T9" fmla="*/ 268 h 294"/>
                <a:gd name="T10" fmla="*/ 198 w 210"/>
                <a:gd name="T11" fmla="*/ 76 h 294"/>
                <a:gd name="T12" fmla="*/ 177 w 210"/>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10" h="294">
                  <a:moveTo>
                    <a:pt x="177" y="12"/>
                  </a:moveTo>
                  <a:cubicBezTo>
                    <a:pt x="153" y="0"/>
                    <a:pt x="124" y="10"/>
                    <a:pt x="112" y="33"/>
                  </a:cubicBezTo>
                  <a:cubicBezTo>
                    <a:pt x="16" y="225"/>
                    <a:pt x="16" y="225"/>
                    <a:pt x="16" y="225"/>
                  </a:cubicBezTo>
                  <a:cubicBezTo>
                    <a:pt x="0" y="257"/>
                    <a:pt x="24" y="294"/>
                    <a:pt x="59" y="294"/>
                  </a:cubicBezTo>
                  <a:cubicBezTo>
                    <a:pt x="77" y="294"/>
                    <a:pt x="94" y="285"/>
                    <a:pt x="102" y="268"/>
                  </a:cubicBezTo>
                  <a:cubicBezTo>
                    <a:pt x="198" y="76"/>
                    <a:pt x="198" y="76"/>
                    <a:pt x="198" y="76"/>
                  </a:cubicBezTo>
                  <a:cubicBezTo>
                    <a:pt x="210" y="53"/>
                    <a:pt x="200" y="24"/>
                    <a:pt x="17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a:extLst>
                <a:ext uri="{FF2B5EF4-FFF2-40B4-BE49-F238E27FC236}">
                  <a16:creationId xmlns:a16="http://schemas.microsoft.com/office/drawing/2014/main" id="{3D24D179-18D8-4519-94FE-8C9B3D33C507}"/>
                </a:ext>
              </a:extLst>
            </p:cNvPr>
            <p:cNvSpPr>
              <a:spLocks/>
            </p:cNvSpPr>
            <p:nvPr userDrawn="1"/>
          </p:nvSpPr>
          <p:spPr bwMode="auto">
            <a:xfrm>
              <a:off x="3866" y="3276"/>
              <a:ext cx="437" cy="612"/>
            </a:xfrm>
            <a:custGeom>
              <a:avLst/>
              <a:gdLst>
                <a:gd name="T0" fmla="*/ 176 w 210"/>
                <a:gd name="T1" fmla="*/ 12 h 294"/>
                <a:gd name="T2" fmla="*/ 112 w 210"/>
                <a:gd name="T3" fmla="*/ 33 h 294"/>
                <a:gd name="T4" fmla="*/ 16 w 210"/>
                <a:gd name="T5" fmla="*/ 225 h 294"/>
                <a:gd name="T6" fmla="*/ 59 w 210"/>
                <a:gd name="T7" fmla="*/ 294 h 294"/>
                <a:gd name="T8" fmla="*/ 102 w 210"/>
                <a:gd name="T9" fmla="*/ 268 h 294"/>
                <a:gd name="T10" fmla="*/ 198 w 210"/>
                <a:gd name="T11" fmla="*/ 76 h 294"/>
                <a:gd name="T12" fmla="*/ 176 w 210"/>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10" h="294">
                  <a:moveTo>
                    <a:pt x="176" y="12"/>
                  </a:moveTo>
                  <a:cubicBezTo>
                    <a:pt x="153" y="0"/>
                    <a:pt x="124" y="10"/>
                    <a:pt x="112" y="33"/>
                  </a:cubicBezTo>
                  <a:cubicBezTo>
                    <a:pt x="16" y="225"/>
                    <a:pt x="16" y="225"/>
                    <a:pt x="16" y="225"/>
                  </a:cubicBezTo>
                  <a:cubicBezTo>
                    <a:pt x="0" y="257"/>
                    <a:pt x="24" y="294"/>
                    <a:pt x="59" y="294"/>
                  </a:cubicBezTo>
                  <a:cubicBezTo>
                    <a:pt x="77" y="294"/>
                    <a:pt x="93" y="285"/>
                    <a:pt x="102" y="268"/>
                  </a:cubicBezTo>
                  <a:cubicBezTo>
                    <a:pt x="198" y="76"/>
                    <a:pt x="198" y="76"/>
                    <a:pt x="198" y="76"/>
                  </a:cubicBezTo>
                  <a:cubicBezTo>
                    <a:pt x="210" y="53"/>
                    <a:pt x="200" y="24"/>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72CF0FCE-E33F-4D4B-B154-EDAD797CE1AB}"/>
                </a:ext>
              </a:extLst>
            </p:cNvPr>
            <p:cNvSpPr>
              <a:spLocks/>
            </p:cNvSpPr>
            <p:nvPr userDrawn="1"/>
          </p:nvSpPr>
          <p:spPr bwMode="auto">
            <a:xfrm>
              <a:off x="2971" y="3276"/>
              <a:ext cx="434" cy="612"/>
            </a:xfrm>
            <a:custGeom>
              <a:avLst/>
              <a:gdLst>
                <a:gd name="T0" fmla="*/ 176 w 209"/>
                <a:gd name="T1" fmla="*/ 12 h 294"/>
                <a:gd name="T2" fmla="*/ 112 w 209"/>
                <a:gd name="T3" fmla="*/ 33 h 294"/>
                <a:gd name="T4" fmla="*/ 16 w 209"/>
                <a:gd name="T5" fmla="*/ 225 h 294"/>
                <a:gd name="T6" fmla="*/ 59 w 209"/>
                <a:gd name="T7" fmla="*/ 294 h 294"/>
                <a:gd name="T8" fmla="*/ 102 w 209"/>
                <a:gd name="T9" fmla="*/ 268 h 294"/>
                <a:gd name="T10" fmla="*/ 198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4" y="10"/>
                    <a:pt x="112" y="33"/>
                  </a:cubicBezTo>
                  <a:cubicBezTo>
                    <a:pt x="16" y="225"/>
                    <a:pt x="16" y="225"/>
                    <a:pt x="16" y="225"/>
                  </a:cubicBezTo>
                  <a:cubicBezTo>
                    <a:pt x="0" y="257"/>
                    <a:pt x="24" y="294"/>
                    <a:pt x="59" y="294"/>
                  </a:cubicBezTo>
                  <a:cubicBezTo>
                    <a:pt x="76" y="294"/>
                    <a:pt x="93" y="285"/>
                    <a:pt x="102" y="268"/>
                  </a:cubicBezTo>
                  <a:cubicBezTo>
                    <a:pt x="198" y="76"/>
                    <a:pt x="198" y="76"/>
                    <a:pt x="198" y="76"/>
                  </a:cubicBezTo>
                  <a:cubicBezTo>
                    <a:pt x="209" y="53"/>
                    <a:pt x="200" y="24"/>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a:extLst>
                <a:ext uri="{FF2B5EF4-FFF2-40B4-BE49-F238E27FC236}">
                  <a16:creationId xmlns:a16="http://schemas.microsoft.com/office/drawing/2014/main" id="{EC7123B0-05C7-4978-864E-B51C91F0C1C8}"/>
                </a:ext>
              </a:extLst>
            </p:cNvPr>
            <p:cNvSpPr>
              <a:spLocks/>
            </p:cNvSpPr>
            <p:nvPr userDrawn="1"/>
          </p:nvSpPr>
          <p:spPr bwMode="auto">
            <a:xfrm>
              <a:off x="4165" y="3626"/>
              <a:ext cx="435" cy="612"/>
            </a:xfrm>
            <a:custGeom>
              <a:avLst/>
              <a:gdLst>
                <a:gd name="T0" fmla="*/ 176 w 209"/>
                <a:gd name="T1" fmla="*/ 12 h 294"/>
                <a:gd name="T2" fmla="*/ 112 w 209"/>
                <a:gd name="T3" fmla="*/ 33 h 294"/>
                <a:gd name="T4" fmla="*/ 16 w 209"/>
                <a:gd name="T5" fmla="*/ 225 h 294"/>
                <a:gd name="T6" fmla="*/ 59 w 209"/>
                <a:gd name="T7" fmla="*/ 294 h 294"/>
                <a:gd name="T8" fmla="*/ 102 w 209"/>
                <a:gd name="T9" fmla="*/ 267 h 294"/>
                <a:gd name="T10" fmla="*/ 197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4" y="9"/>
                    <a:pt x="112" y="33"/>
                  </a:cubicBezTo>
                  <a:cubicBezTo>
                    <a:pt x="16" y="225"/>
                    <a:pt x="16" y="225"/>
                    <a:pt x="16" y="225"/>
                  </a:cubicBezTo>
                  <a:cubicBezTo>
                    <a:pt x="0" y="257"/>
                    <a:pt x="24" y="294"/>
                    <a:pt x="59" y="294"/>
                  </a:cubicBezTo>
                  <a:cubicBezTo>
                    <a:pt x="76" y="294"/>
                    <a:pt x="93" y="284"/>
                    <a:pt x="102" y="267"/>
                  </a:cubicBezTo>
                  <a:cubicBezTo>
                    <a:pt x="197" y="76"/>
                    <a:pt x="197" y="76"/>
                    <a:pt x="197" y="76"/>
                  </a:cubicBezTo>
                  <a:cubicBezTo>
                    <a:pt x="209" y="52"/>
                    <a:pt x="200" y="23"/>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a:extLst>
                <a:ext uri="{FF2B5EF4-FFF2-40B4-BE49-F238E27FC236}">
                  <a16:creationId xmlns:a16="http://schemas.microsoft.com/office/drawing/2014/main" id="{43403024-C9C1-4692-831B-9DF1860044EC}"/>
                </a:ext>
              </a:extLst>
            </p:cNvPr>
            <p:cNvSpPr>
              <a:spLocks/>
            </p:cNvSpPr>
            <p:nvPr userDrawn="1"/>
          </p:nvSpPr>
          <p:spPr bwMode="auto">
            <a:xfrm>
              <a:off x="5061" y="3626"/>
              <a:ext cx="434" cy="612"/>
            </a:xfrm>
            <a:custGeom>
              <a:avLst/>
              <a:gdLst>
                <a:gd name="T0" fmla="*/ 176 w 209"/>
                <a:gd name="T1" fmla="*/ 12 h 294"/>
                <a:gd name="T2" fmla="*/ 112 w 209"/>
                <a:gd name="T3" fmla="*/ 33 h 294"/>
                <a:gd name="T4" fmla="*/ 16 w 209"/>
                <a:gd name="T5" fmla="*/ 225 h 294"/>
                <a:gd name="T6" fmla="*/ 59 w 209"/>
                <a:gd name="T7" fmla="*/ 294 h 294"/>
                <a:gd name="T8" fmla="*/ 102 w 209"/>
                <a:gd name="T9" fmla="*/ 267 h 294"/>
                <a:gd name="T10" fmla="*/ 198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4" y="9"/>
                    <a:pt x="112" y="33"/>
                  </a:cubicBezTo>
                  <a:cubicBezTo>
                    <a:pt x="16" y="225"/>
                    <a:pt x="16" y="225"/>
                    <a:pt x="16" y="225"/>
                  </a:cubicBezTo>
                  <a:cubicBezTo>
                    <a:pt x="0" y="257"/>
                    <a:pt x="24" y="294"/>
                    <a:pt x="59" y="294"/>
                  </a:cubicBezTo>
                  <a:cubicBezTo>
                    <a:pt x="76" y="294"/>
                    <a:pt x="93" y="284"/>
                    <a:pt x="102" y="267"/>
                  </a:cubicBezTo>
                  <a:cubicBezTo>
                    <a:pt x="198" y="76"/>
                    <a:pt x="198" y="76"/>
                    <a:pt x="198" y="76"/>
                  </a:cubicBezTo>
                  <a:cubicBezTo>
                    <a:pt x="209" y="52"/>
                    <a:pt x="200" y="23"/>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9">
              <a:extLst>
                <a:ext uri="{FF2B5EF4-FFF2-40B4-BE49-F238E27FC236}">
                  <a16:creationId xmlns:a16="http://schemas.microsoft.com/office/drawing/2014/main" id="{8D7CB8D6-3603-41C4-809F-4BAD143C97A0}"/>
                </a:ext>
              </a:extLst>
            </p:cNvPr>
            <p:cNvSpPr>
              <a:spLocks/>
            </p:cNvSpPr>
            <p:nvPr userDrawn="1"/>
          </p:nvSpPr>
          <p:spPr bwMode="auto">
            <a:xfrm>
              <a:off x="3270" y="3626"/>
              <a:ext cx="434" cy="612"/>
            </a:xfrm>
            <a:custGeom>
              <a:avLst/>
              <a:gdLst>
                <a:gd name="T0" fmla="*/ 176 w 209"/>
                <a:gd name="T1" fmla="*/ 12 h 294"/>
                <a:gd name="T2" fmla="*/ 112 w 209"/>
                <a:gd name="T3" fmla="*/ 33 h 294"/>
                <a:gd name="T4" fmla="*/ 16 w 209"/>
                <a:gd name="T5" fmla="*/ 225 h 294"/>
                <a:gd name="T6" fmla="*/ 59 w 209"/>
                <a:gd name="T7" fmla="*/ 294 h 294"/>
                <a:gd name="T8" fmla="*/ 101 w 209"/>
                <a:gd name="T9" fmla="*/ 267 h 294"/>
                <a:gd name="T10" fmla="*/ 197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3" y="9"/>
                    <a:pt x="112" y="33"/>
                  </a:cubicBezTo>
                  <a:cubicBezTo>
                    <a:pt x="16" y="225"/>
                    <a:pt x="16" y="225"/>
                    <a:pt x="16" y="225"/>
                  </a:cubicBezTo>
                  <a:cubicBezTo>
                    <a:pt x="0" y="257"/>
                    <a:pt x="23" y="294"/>
                    <a:pt x="59" y="294"/>
                  </a:cubicBezTo>
                  <a:cubicBezTo>
                    <a:pt x="76" y="294"/>
                    <a:pt x="93" y="284"/>
                    <a:pt x="101" y="267"/>
                  </a:cubicBezTo>
                  <a:cubicBezTo>
                    <a:pt x="197" y="76"/>
                    <a:pt x="197" y="76"/>
                    <a:pt x="197" y="76"/>
                  </a:cubicBezTo>
                  <a:cubicBezTo>
                    <a:pt x="209" y="52"/>
                    <a:pt x="199" y="23"/>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0">
              <a:extLst>
                <a:ext uri="{FF2B5EF4-FFF2-40B4-BE49-F238E27FC236}">
                  <a16:creationId xmlns:a16="http://schemas.microsoft.com/office/drawing/2014/main" id="{EA412308-3589-4537-BEAE-16BF7C81E592}"/>
                </a:ext>
              </a:extLst>
            </p:cNvPr>
            <p:cNvSpPr>
              <a:spLocks/>
            </p:cNvSpPr>
            <p:nvPr userDrawn="1"/>
          </p:nvSpPr>
          <p:spPr bwMode="auto">
            <a:xfrm>
              <a:off x="2852" y="948"/>
              <a:ext cx="3512" cy="2201"/>
            </a:xfrm>
            <a:custGeom>
              <a:avLst/>
              <a:gdLst>
                <a:gd name="T0" fmla="*/ 1361 w 1690"/>
                <a:gd name="T1" fmla="*/ 321 h 1057"/>
                <a:gd name="T2" fmla="*/ 952 w 1690"/>
                <a:gd name="T3" fmla="*/ 0 h 1057"/>
                <a:gd name="T4" fmla="*/ 573 w 1690"/>
                <a:gd name="T5" fmla="*/ 234 h 1057"/>
                <a:gd name="T6" fmla="*/ 478 w 1690"/>
                <a:gd name="T7" fmla="*/ 214 h 1057"/>
                <a:gd name="T8" fmla="*/ 264 w 1690"/>
                <a:gd name="T9" fmla="*/ 424 h 1057"/>
                <a:gd name="T10" fmla="*/ 264 w 1690"/>
                <a:gd name="T11" fmla="*/ 428 h 1057"/>
                <a:gd name="T12" fmla="*/ 0 w 1690"/>
                <a:gd name="T13" fmla="*/ 740 h 1057"/>
                <a:gd name="T14" fmla="*/ 318 w 1690"/>
                <a:gd name="T15" fmla="*/ 1057 h 1057"/>
                <a:gd name="T16" fmla="*/ 1323 w 1690"/>
                <a:gd name="T17" fmla="*/ 1057 h 1057"/>
                <a:gd name="T18" fmla="*/ 1690 w 1690"/>
                <a:gd name="T19" fmla="*/ 687 h 1057"/>
                <a:gd name="T20" fmla="*/ 1361 w 1690"/>
                <a:gd name="T21" fmla="*/ 32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0" h="1057">
                  <a:moveTo>
                    <a:pt x="1361" y="321"/>
                  </a:moveTo>
                  <a:cubicBezTo>
                    <a:pt x="1315" y="136"/>
                    <a:pt x="1150" y="0"/>
                    <a:pt x="952" y="0"/>
                  </a:cubicBezTo>
                  <a:cubicBezTo>
                    <a:pt x="787" y="0"/>
                    <a:pt x="643" y="99"/>
                    <a:pt x="573" y="234"/>
                  </a:cubicBezTo>
                  <a:cubicBezTo>
                    <a:pt x="544" y="222"/>
                    <a:pt x="511" y="214"/>
                    <a:pt x="478" y="214"/>
                  </a:cubicBezTo>
                  <a:cubicBezTo>
                    <a:pt x="359" y="214"/>
                    <a:pt x="264" y="308"/>
                    <a:pt x="264" y="424"/>
                  </a:cubicBezTo>
                  <a:cubicBezTo>
                    <a:pt x="264" y="428"/>
                    <a:pt x="264" y="428"/>
                    <a:pt x="264" y="428"/>
                  </a:cubicBezTo>
                  <a:cubicBezTo>
                    <a:pt x="116" y="452"/>
                    <a:pt x="0" y="584"/>
                    <a:pt x="0" y="740"/>
                  </a:cubicBezTo>
                  <a:cubicBezTo>
                    <a:pt x="0" y="913"/>
                    <a:pt x="144" y="1057"/>
                    <a:pt x="318" y="1057"/>
                  </a:cubicBezTo>
                  <a:cubicBezTo>
                    <a:pt x="1323" y="1057"/>
                    <a:pt x="1323" y="1057"/>
                    <a:pt x="1323" y="1057"/>
                  </a:cubicBezTo>
                  <a:cubicBezTo>
                    <a:pt x="1525" y="1057"/>
                    <a:pt x="1690" y="892"/>
                    <a:pt x="1690" y="687"/>
                  </a:cubicBezTo>
                  <a:cubicBezTo>
                    <a:pt x="1690" y="498"/>
                    <a:pt x="1546" y="341"/>
                    <a:pt x="1361" y="3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6" name="Group 23">
            <a:extLst>
              <a:ext uri="{FF2B5EF4-FFF2-40B4-BE49-F238E27FC236}">
                <a16:creationId xmlns:a16="http://schemas.microsoft.com/office/drawing/2014/main" id="{3DF4E777-A92C-4700-BA2E-C27CB3BB36B5}"/>
              </a:ext>
            </a:extLst>
          </p:cNvPr>
          <p:cNvGrpSpPr>
            <a:grpSpLocks noChangeAspect="1"/>
          </p:cNvGrpSpPr>
          <p:nvPr userDrawn="1"/>
        </p:nvGrpSpPr>
        <p:grpSpPr bwMode="auto">
          <a:xfrm>
            <a:off x="3845981" y="6192152"/>
            <a:ext cx="315394" cy="321392"/>
            <a:chOff x="3136" y="1092"/>
            <a:chExt cx="2944" cy="3000"/>
          </a:xfrm>
          <a:solidFill>
            <a:schemeClr val="tx1"/>
          </a:solidFill>
        </p:grpSpPr>
        <p:sp>
          <p:nvSpPr>
            <p:cNvPr id="28" name="Freeform 24">
              <a:extLst>
                <a:ext uri="{FF2B5EF4-FFF2-40B4-BE49-F238E27FC236}">
                  <a16:creationId xmlns:a16="http://schemas.microsoft.com/office/drawing/2014/main" id="{78B3AE60-0A79-48C6-97C3-30E0324C25D0}"/>
                </a:ext>
              </a:extLst>
            </p:cNvPr>
            <p:cNvSpPr>
              <a:spLocks/>
            </p:cNvSpPr>
            <p:nvPr userDrawn="1"/>
          </p:nvSpPr>
          <p:spPr bwMode="auto">
            <a:xfrm>
              <a:off x="3932" y="1092"/>
              <a:ext cx="1663" cy="1275"/>
            </a:xfrm>
            <a:custGeom>
              <a:avLst/>
              <a:gdLst>
                <a:gd name="T0" fmla="*/ 356 w 800"/>
                <a:gd name="T1" fmla="*/ 162 h 612"/>
                <a:gd name="T2" fmla="*/ 509 w 800"/>
                <a:gd name="T3" fmla="*/ 426 h 612"/>
                <a:gd name="T4" fmla="*/ 428 w 800"/>
                <a:gd name="T5" fmla="*/ 405 h 612"/>
                <a:gd name="T6" fmla="*/ 373 w 800"/>
                <a:gd name="T7" fmla="*/ 411 h 612"/>
                <a:gd name="T8" fmla="*/ 339 w 800"/>
                <a:gd name="T9" fmla="*/ 455 h 612"/>
                <a:gd name="T10" fmla="*/ 346 w 800"/>
                <a:gd name="T11" fmla="*/ 510 h 612"/>
                <a:gd name="T12" fmla="*/ 391 w 800"/>
                <a:gd name="T13" fmla="*/ 544 h 612"/>
                <a:gd name="T14" fmla="*/ 636 w 800"/>
                <a:gd name="T15" fmla="*/ 610 h 612"/>
                <a:gd name="T16" fmla="*/ 655 w 800"/>
                <a:gd name="T17" fmla="*/ 612 h 612"/>
                <a:gd name="T18" fmla="*/ 725 w 800"/>
                <a:gd name="T19" fmla="*/ 559 h 612"/>
                <a:gd name="T20" fmla="*/ 791 w 800"/>
                <a:gd name="T21" fmla="*/ 313 h 612"/>
                <a:gd name="T22" fmla="*/ 739 w 800"/>
                <a:gd name="T23" fmla="*/ 226 h 612"/>
                <a:gd name="T24" fmla="*/ 651 w 800"/>
                <a:gd name="T25" fmla="*/ 275 h 612"/>
                <a:gd name="T26" fmla="*/ 631 w 800"/>
                <a:gd name="T27" fmla="*/ 351 h 612"/>
                <a:gd name="T28" fmla="*/ 481 w 800"/>
                <a:gd name="T29" fmla="*/ 90 h 612"/>
                <a:gd name="T30" fmla="*/ 325 w 800"/>
                <a:gd name="T31" fmla="*/ 0 h 612"/>
                <a:gd name="T32" fmla="*/ 169 w 800"/>
                <a:gd name="T33" fmla="*/ 90 h 612"/>
                <a:gd name="T34" fmla="*/ 20 w 800"/>
                <a:gd name="T35" fmla="*/ 348 h 612"/>
                <a:gd name="T36" fmla="*/ 47 w 800"/>
                <a:gd name="T37" fmla="*/ 446 h 612"/>
                <a:gd name="T38" fmla="*/ 145 w 800"/>
                <a:gd name="T39" fmla="*/ 420 h 612"/>
                <a:gd name="T40" fmla="*/ 294 w 800"/>
                <a:gd name="T41" fmla="*/ 162 h 612"/>
                <a:gd name="T42" fmla="*/ 325 w 800"/>
                <a:gd name="T43" fmla="*/ 144 h 612"/>
                <a:gd name="T44" fmla="*/ 356 w 800"/>
                <a:gd name="T45" fmla="*/ 162 h 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0" h="612">
                  <a:moveTo>
                    <a:pt x="356" y="162"/>
                  </a:moveTo>
                  <a:cubicBezTo>
                    <a:pt x="509" y="426"/>
                    <a:pt x="509" y="426"/>
                    <a:pt x="509" y="426"/>
                  </a:cubicBezTo>
                  <a:cubicBezTo>
                    <a:pt x="428" y="405"/>
                    <a:pt x="428" y="405"/>
                    <a:pt x="428" y="405"/>
                  </a:cubicBezTo>
                  <a:cubicBezTo>
                    <a:pt x="409" y="399"/>
                    <a:pt x="389" y="402"/>
                    <a:pt x="373" y="411"/>
                  </a:cubicBezTo>
                  <a:cubicBezTo>
                    <a:pt x="356" y="421"/>
                    <a:pt x="344" y="437"/>
                    <a:pt x="339" y="455"/>
                  </a:cubicBezTo>
                  <a:cubicBezTo>
                    <a:pt x="334" y="474"/>
                    <a:pt x="336" y="494"/>
                    <a:pt x="346" y="510"/>
                  </a:cubicBezTo>
                  <a:cubicBezTo>
                    <a:pt x="356" y="527"/>
                    <a:pt x="372" y="539"/>
                    <a:pt x="391" y="544"/>
                  </a:cubicBezTo>
                  <a:cubicBezTo>
                    <a:pt x="636" y="610"/>
                    <a:pt x="636" y="610"/>
                    <a:pt x="636" y="610"/>
                  </a:cubicBezTo>
                  <a:cubicBezTo>
                    <a:pt x="643" y="611"/>
                    <a:pt x="649" y="612"/>
                    <a:pt x="655" y="612"/>
                  </a:cubicBezTo>
                  <a:cubicBezTo>
                    <a:pt x="688" y="612"/>
                    <a:pt x="716" y="590"/>
                    <a:pt x="725" y="559"/>
                  </a:cubicBezTo>
                  <a:cubicBezTo>
                    <a:pt x="791" y="313"/>
                    <a:pt x="791" y="313"/>
                    <a:pt x="791" y="313"/>
                  </a:cubicBezTo>
                  <a:cubicBezTo>
                    <a:pt x="800" y="275"/>
                    <a:pt x="777" y="236"/>
                    <a:pt x="739" y="226"/>
                  </a:cubicBezTo>
                  <a:cubicBezTo>
                    <a:pt x="701" y="215"/>
                    <a:pt x="662" y="238"/>
                    <a:pt x="651" y="275"/>
                  </a:cubicBezTo>
                  <a:cubicBezTo>
                    <a:pt x="631" y="351"/>
                    <a:pt x="631" y="351"/>
                    <a:pt x="631" y="351"/>
                  </a:cubicBezTo>
                  <a:cubicBezTo>
                    <a:pt x="481" y="90"/>
                    <a:pt x="481" y="90"/>
                    <a:pt x="481" y="90"/>
                  </a:cubicBezTo>
                  <a:cubicBezTo>
                    <a:pt x="449" y="34"/>
                    <a:pt x="389" y="0"/>
                    <a:pt x="325" y="0"/>
                  </a:cubicBezTo>
                  <a:cubicBezTo>
                    <a:pt x="261" y="0"/>
                    <a:pt x="201" y="34"/>
                    <a:pt x="169" y="90"/>
                  </a:cubicBezTo>
                  <a:cubicBezTo>
                    <a:pt x="20" y="348"/>
                    <a:pt x="20" y="348"/>
                    <a:pt x="20" y="348"/>
                  </a:cubicBezTo>
                  <a:cubicBezTo>
                    <a:pt x="0" y="382"/>
                    <a:pt x="12" y="426"/>
                    <a:pt x="47" y="446"/>
                  </a:cubicBezTo>
                  <a:cubicBezTo>
                    <a:pt x="81" y="466"/>
                    <a:pt x="125" y="454"/>
                    <a:pt x="145" y="420"/>
                  </a:cubicBezTo>
                  <a:cubicBezTo>
                    <a:pt x="294" y="162"/>
                    <a:pt x="294" y="162"/>
                    <a:pt x="294" y="162"/>
                  </a:cubicBezTo>
                  <a:cubicBezTo>
                    <a:pt x="300" y="151"/>
                    <a:pt x="312" y="144"/>
                    <a:pt x="325" y="144"/>
                  </a:cubicBezTo>
                  <a:cubicBezTo>
                    <a:pt x="338" y="144"/>
                    <a:pt x="350" y="151"/>
                    <a:pt x="356" y="1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5">
              <a:extLst>
                <a:ext uri="{FF2B5EF4-FFF2-40B4-BE49-F238E27FC236}">
                  <a16:creationId xmlns:a16="http://schemas.microsoft.com/office/drawing/2014/main" id="{03C54DB3-1193-49DC-85CC-AE776763C1E0}"/>
                </a:ext>
              </a:extLst>
            </p:cNvPr>
            <p:cNvSpPr>
              <a:spLocks/>
            </p:cNvSpPr>
            <p:nvPr userDrawn="1"/>
          </p:nvSpPr>
          <p:spPr bwMode="auto">
            <a:xfrm>
              <a:off x="4550" y="2534"/>
              <a:ext cx="1530" cy="1558"/>
            </a:xfrm>
            <a:custGeom>
              <a:avLst/>
              <a:gdLst>
                <a:gd name="T0" fmla="*/ 704 w 736"/>
                <a:gd name="T1" fmla="*/ 298 h 748"/>
                <a:gd name="T2" fmla="*/ 555 w 736"/>
                <a:gd name="T3" fmla="*/ 40 h 748"/>
                <a:gd name="T4" fmla="*/ 511 w 736"/>
                <a:gd name="T5" fmla="*/ 5 h 748"/>
                <a:gd name="T6" fmla="*/ 456 w 736"/>
                <a:gd name="T7" fmla="*/ 13 h 748"/>
                <a:gd name="T8" fmla="*/ 422 w 736"/>
                <a:gd name="T9" fmla="*/ 57 h 748"/>
                <a:gd name="T10" fmla="*/ 430 w 736"/>
                <a:gd name="T11" fmla="*/ 112 h 748"/>
                <a:gd name="T12" fmla="*/ 579 w 736"/>
                <a:gd name="T13" fmla="*/ 370 h 748"/>
                <a:gd name="T14" fmla="*/ 579 w 736"/>
                <a:gd name="T15" fmla="*/ 406 h 748"/>
                <a:gd name="T16" fmla="*/ 548 w 736"/>
                <a:gd name="T17" fmla="*/ 424 h 748"/>
                <a:gd name="T18" fmla="*/ 253 w 736"/>
                <a:gd name="T19" fmla="*/ 424 h 748"/>
                <a:gd name="T20" fmla="*/ 310 w 736"/>
                <a:gd name="T21" fmla="*/ 367 h 748"/>
                <a:gd name="T22" fmla="*/ 310 w 736"/>
                <a:gd name="T23" fmla="*/ 265 h 748"/>
                <a:gd name="T24" fmla="*/ 208 w 736"/>
                <a:gd name="T25" fmla="*/ 265 h 748"/>
                <a:gd name="T26" fmla="*/ 28 w 736"/>
                <a:gd name="T27" fmla="*/ 445 h 748"/>
                <a:gd name="T28" fmla="*/ 28 w 736"/>
                <a:gd name="T29" fmla="*/ 547 h 748"/>
                <a:gd name="T30" fmla="*/ 208 w 736"/>
                <a:gd name="T31" fmla="*/ 727 h 748"/>
                <a:gd name="T32" fmla="*/ 259 w 736"/>
                <a:gd name="T33" fmla="*/ 748 h 748"/>
                <a:gd name="T34" fmla="*/ 310 w 736"/>
                <a:gd name="T35" fmla="*/ 727 h 748"/>
                <a:gd name="T36" fmla="*/ 331 w 736"/>
                <a:gd name="T37" fmla="*/ 676 h 748"/>
                <a:gd name="T38" fmla="*/ 310 w 736"/>
                <a:gd name="T39" fmla="*/ 625 h 748"/>
                <a:gd name="T40" fmla="*/ 253 w 736"/>
                <a:gd name="T41" fmla="*/ 568 h 748"/>
                <a:gd name="T42" fmla="*/ 548 w 736"/>
                <a:gd name="T43" fmla="*/ 568 h 748"/>
                <a:gd name="T44" fmla="*/ 704 w 736"/>
                <a:gd name="T45" fmla="*/ 478 h 748"/>
                <a:gd name="T46" fmla="*/ 704 w 736"/>
                <a:gd name="T47" fmla="*/ 298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36" h="748">
                  <a:moveTo>
                    <a:pt x="704" y="298"/>
                  </a:moveTo>
                  <a:cubicBezTo>
                    <a:pt x="555" y="40"/>
                    <a:pt x="555" y="40"/>
                    <a:pt x="555" y="40"/>
                  </a:cubicBezTo>
                  <a:cubicBezTo>
                    <a:pt x="545" y="23"/>
                    <a:pt x="529" y="11"/>
                    <a:pt x="511" y="5"/>
                  </a:cubicBezTo>
                  <a:cubicBezTo>
                    <a:pt x="492" y="0"/>
                    <a:pt x="472" y="3"/>
                    <a:pt x="456" y="13"/>
                  </a:cubicBezTo>
                  <a:cubicBezTo>
                    <a:pt x="439" y="22"/>
                    <a:pt x="427" y="38"/>
                    <a:pt x="422" y="57"/>
                  </a:cubicBezTo>
                  <a:cubicBezTo>
                    <a:pt x="417" y="76"/>
                    <a:pt x="420" y="95"/>
                    <a:pt x="430" y="112"/>
                  </a:cubicBezTo>
                  <a:cubicBezTo>
                    <a:pt x="579" y="370"/>
                    <a:pt x="579" y="370"/>
                    <a:pt x="579" y="370"/>
                  </a:cubicBezTo>
                  <a:cubicBezTo>
                    <a:pt x="585" y="381"/>
                    <a:pt x="585" y="395"/>
                    <a:pt x="579" y="406"/>
                  </a:cubicBezTo>
                  <a:cubicBezTo>
                    <a:pt x="572" y="417"/>
                    <a:pt x="560" y="424"/>
                    <a:pt x="548" y="424"/>
                  </a:cubicBezTo>
                  <a:cubicBezTo>
                    <a:pt x="253" y="424"/>
                    <a:pt x="253" y="424"/>
                    <a:pt x="253" y="424"/>
                  </a:cubicBezTo>
                  <a:cubicBezTo>
                    <a:pt x="310" y="367"/>
                    <a:pt x="310" y="367"/>
                    <a:pt x="310" y="367"/>
                  </a:cubicBezTo>
                  <a:cubicBezTo>
                    <a:pt x="338" y="339"/>
                    <a:pt x="337" y="293"/>
                    <a:pt x="310" y="265"/>
                  </a:cubicBezTo>
                  <a:cubicBezTo>
                    <a:pt x="282" y="238"/>
                    <a:pt x="236" y="237"/>
                    <a:pt x="208" y="265"/>
                  </a:cubicBezTo>
                  <a:cubicBezTo>
                    <a:pt x="28" y="445"/>
                    <a:pt x="28" y="445"/>
                    <a:pt x="28" y="445"/>
                  </a:cubicBezTo>
                  <a:cubicBezTo>
                    <a:pt x="0" y="473"/>
                    <a:pt x="0" y="519"/>
                    <a:pt x="28" y="547"/>
                  </a:cubicBezTo>
                  <a:cubicBezTo>
                    <a:pt x="208" y="727"/>
                    <a:pt x="208" y="727"/>
                    <a:pt x="208" y="727"/>
                  </a:cubicBezTo>
                  <a:cubicBezTo>
                    <a:pt x="222" y="741"/>
                    <a:pt x="240" y="748"/>
                    <a:pt x="259" y="748"/>
                  </a:cubicBezTo>
                  <a:cubicBezTo>
                    <a:pt x="278" y="748"/>
                    <a:pt x="297" y="741"/>
                    <a:pt x="310" y="727"/>
                  </a:cubicBezTo>
                  <a:cubicBezTo>
                    <a:pt x="324" y="714"/>
                    <a:pt x="331" y="695"/>
                    <a:pt x="331" y="676"/>
                  </a:cubicBezTo>
                  <a:cubicBezTo>
                    <a:pt x="331" y="657"/>
                    <a:pt x="324" y="639"/>
                    <a:pt x="310" y="625"/>
                  </a:cubicBezTo>
                  <a:cubicBezTo>
                    <a:pt x="253" y="568"/>
                    <a:pt x="253" y="568"/>
                    <a:pt x="253" y="568"/>
                  </a:cubicBezTo>
                  <a:cubicBezTo>
                    <a:pt x="548" y="568"/>
                    <a:pt x="548" y="568"/>
                    <a:pt x="548" y="568"/>
                  </a:cubicBezTo>
                  <a:cubicBezTo>
                    <a:pt x="612" y="568"/>
                    <a:pt x="672" y="534"/>
                    <a:pt x="704" y="478"/>
                  </a:cubicBezTo>
                  <a:cubicBezTo>
                    <a:pt x="736" y="422"/>
                    <a:pt x="736" y="354"/>
                    <a:pt x="704" y="2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6">
              <a:extLst>
                <a:ext uri="{FF2B5EF4-FFF2-40B4-BE49-F238E27FC236}">
                  <a16:creationId xmlns:a16="http://schemas.microsoft.com/office/drawing/2014/main" id="{39971863-26EF-4C17-A50E-A0AFA1156BE5}"/>
                </a:ext>
              </a:extLst>
            </p:cNvPr>
            <p:cNvSpPr>
              <a:spLocks/>
            </p:cNvSpPr>
            <p:nvPr userDrawn="1"/>
          </p:nvSpPr>
          <p:spPr bwMode="auto">
            <a:xfrm>
              <a:off x="3136" y="2211"/>
              <a:ext cx="1173" cy="1506"/>
            </a:xfrm>
            <a:custGeom>
              <a:avLst/>
              <a:gdLst>
                <a:gd name="T0" fmla="*/ 492 w 564"/>
                <a:gd name="T1" fmla="*/ 579 h 723"/>
                <a:gd name="T2" fmla="*/ 188 w 564"/>
                <a:gd name="T3" fmla="*/ 579 h 723"/>
                <a:gd name="T4" fmla="*/ 157 w 564"/>
                <a:gd name="T5" fmla="*/ 561 h 723"/>
                <a:gd name="T6" fmla="*/ 157 w 564"/>
                <a:gd name="T7" fmla="*/ 525 h 723"/>
                <a:gd name="T8" fmla="*/ 315 w 564"/>
                <a:gd name="T9" fmla="*/ 252 h 723"/>
                <a:gd name="T10" fmla="*/ 338 w 564"/>
                <a:gd name="T11" fmla="*/ 340 h 723"/>
                <a:gd name="T12" fmla="*/ 372 w 564"/>
                <a:gd name="T13" fmla="*/ 383 h 723"/>
                <a:gd name="T14" fmla="*/ 426 w 564"/>
                <a:gd name="T15" fmla="*/ 390 h 723"/>
                <a:gd name="T16" fmla="*/ 470 w 564"/>
                <a:gd name="T17" fmla="*/ 357 h 723"/>
                <a:gd name="T18" fmla="*/ 477 w 564"/>
                <a:gd name="T19" fmla="*/ 302 h 723"/>
                <a:gd name="T20" fmla="*/ 411 w 564"/>
                <a:gd name="T21" fmla="*/ 56 h 723"/>
                <a:gd name="T22" fmla="*/ 378 w 564"/>
                <a:gd name="T23" fmla="*/ 13 h 723"/>
                <a:gd name="T24" fmla="*/ 323 w 564"/>
                <a:gd name="T25" fmla="*/ 5 h 723"/>
                <a:gd name="T26" fmla="*/ 77 w 564"/>
                <a:gd name="T27" fmla="*/ 71 h 723"/>
                <a:gd name="T28" fmla="*/ 27 w 564"/>
                <a:gd name="T29" fmla="*/ 159 h 723"/>
                <a:gd name="T30" fmla="*/ 115 w 564"/>
                <a:gd name="T31" fmla="*/ 210 h 723"/>
                <a:gd name="T32" fmla="*/ 183 w 564"/>
                <a:gd name="T33" fmla="*/ 192 h 723"/>
                <a:gd name="T34" fmla="*/ 32 w 564"/>
                <a:gd name="T35" fmla="*/ 453 h 723"/>
                <a:gd name="T36" fmla="*/ 32 w 564"/>
                <a:gd name="T37" fmla="*/ 633 h 723"/>
                <a:gd name="T38" fmla="*/ 188 w 564"/>
                <a:gd name="T39" fmla="*/ 723 h 723"/>
                <a:gd name="T40" fmla="*/ 492 w 564"/>
                <a:gd name="T41" fmla="*/ 723 h 723"/>
                <a:gd name="T42" fmla="*/ 564 w 564"/>
                <a:gd name="T43" fmla="*/ 651 h 723"/>
                <a:gd name="T44" fmla="*/ 492 w 564"/>
                <a:gd name="T45" fmla="*/ 579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4" h="723">
                  <a:moveTo>
                    <a:pt x="492" y="579"/>
                  </a:moveTo>
                  <a:cubicBezTo>
                    <a:pt x="188" y="579"/>
                    <a:pt x="188" y="579"/>
                    <a:pt x="188" y="579"/>
                  </a:cubicBezTo>
                  <a:cubicBezTo>
                    <a:pt x="176" y="579"/>
                    <a:pt x="164" y="572"/>
                    <a:pt x="157" y="561"/>
                  </a:cubicBezTo>
                  <a:cubicBezTo>
                    <a:pt x="151" y="550"/>
                    <a:pt x="151" y="536"/>
                    <a:pt x="157" y="525"/>
                  </a:cubicBezTo>
                  <a:cubicBezTo>
                    <a:pt x="315" y="252"/>
                    <a:pt x="315" y="252"/>
                    <a:pt x="315" y="252"/>
                  </a:cubicBezTo>
                  <a:cubicBezTo>
                    <a:pt x="338" y="340"/>
                    <a:pt x="338" y="340"/>
                    <a:pt x="338" y="340"/>
                  </a:cubicBezTo>
                  <a:cubicBezTo>
                    <a:pt x="343" y="358"/>
                    <a:pt x="355" y="374"/>
                    <a:pt x="372" y="383"/>
                  </a:cubicBezTo>
                  <a:cubicBezTo>
                    <a:pt x="388" y="393"/>
                    <a:pt x="408" y="395"/>
                    <a:pt x="426" y="390"/>
                  </a:cubicBezTo>
                  <a:cubicBezTo>
                    <a:pt x="445" y="385"/>
                    <a:pt x="461" y="373"/>
                    <a:pt x="470" y="357"/>
                  </a:cubicBezTo>
                  <a:cubicBezTo>
                    <a:pt x="480" y="340"/>
                    <a:pt x="482" y="321"/>
                    <a:pt x="477" y="302"/>
                  </a:cubicBezTo>
                  <a:cubicBezTo>
                    <a:pt x="411" y="56"/>
                    <a:pt x="411" y="56"/>
                    <a:pt x="411" y="56"/>
                  </a:cubicBezTo>
                  <a:cubicBezTo>
                    <a:pt x="406" y="38"/>
                    <a:pt x="394" y="22"/>
                    <a:pt x="378" y="13"/>
                  </a:cubicBezTo>
                  <a:cubicBezTo>
                    <a:pt x="361" y="3"/>
                    <a:pt x="342" y="0"/>
                    <a:pt x="323" y="5"/>
                  </a:cubicBezTo>
                  <a:cubicBezTo>
                    <a:pt x="77" y="71"/>
                    <a:pt x="77" y="71"/>
                    <a:pt x="77" y="71"/>
                  </a:cubicBezTo>
                  <a:cubicBezTo>
                    <a:pt x="40" y="82"/>
                    <a:pt x="17" y="121"/>
                    <a:pt x="27" y="159"/>
                  </a:cubicBezTo>
                  <a:cubicBezTo>
                    <a:pt x="38" y="197"/>
                    <a:pt x="76" y="220"/>
                    <a:pt x="115" y="210"/>
                  </a:cubicBezTo>
                  <a:cubicBezTo>
                    <a:pt x="183" y="192"/>
                    <a:pt x="183" y="192"/>
                    <a:pt x="183" y="192"/>
                  </a:cubicBezTo>
                  <a:cubicBezTo>
                    <a:pt x="32" y="453"/>
                    <a:pt x="32" y="453"/>
                    <a:pt x="32" y="453"/>
                  </a:cubicBezTo>
                  <a:cubicBezTo>
                    <a:pt x="0" y="509"/>
                    <a:pt x="0" y="577"/>
                    <a:pt x="32" y="633"/>
                  </a:cubicBezTo>
                  <a:cubicBezTo>
                    <a:pt x="65" y="689"/>
                    <a:pt x="124" y="723"/>
                    <a:pt x="188" y="723"/>
                  </a:cubicBezTo>
                  <a:cubicBezTo>
                    <a:pt x="492" y="723"/>
                    <a:pt x="492" y="723"/>
                    <a:pt x="492" y="723"/>
                  </a:cubicBezTo>
                  <a:cubicBezTo>
                    <a:pt x="532" y="723"/>
                    <a:pt x="564" y="691"/>
                    <a:pt x="564" y="651"/>
                  </a:cubicBezTo>
                  <a:cubicBezTo>
                    <a:pt x="564" y="611"/>
                    <a:pt x="532" y="579"/>
                    <a:pt x="492" y="5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0" name="Freeform 30">
            <a:extLst>
              <a:ext uri="{FF2B5EF4-FFF2-40B4-BE49-F238E27FC236}">
                <a16:creationId xmlns:a16="http://schemas.microsoft.com/office/drawing/2014/main" id="{7D6FD9ED-D5E7-45A9-B478-4D48E5BC7144}"/>
              </a:ext>
            </a:extLst>
          </p:cNvPr>
          <p:cNvSpPr>
            <a:spLocks noEditPoints="1"/>
          </p:cNvSpPr>
          <p:nvPr userDrawn="1"/>
        </p:nvSpPr>
        <p:spPr bwMode="auto">
          <a:xfrm>
            <a:off x="3940150" y="6761203"/>
            <a:ext cx="127054" cy="310690"/>
          </a:xfrm>
          <a:custGeom>
            <a:avLst/>
            <a:gdLst>
              <a:gd name="T0" fmla="*/ 296 w 407"/>
              <a:gd name="T1" fmla="*/ 614 h 998"/>
              <a:gd name="T2" fmla="*/ 296 w 407"/>
              <a:gd name="T3" fmla="*/ 514 h 998"/>
              <a:gd name="T4" fmla="*/ 339 w 407"/>
              <a:gd name="T5" fmla="*/ 514 h 998"/>
              <a:gd name="T6" fmla="*/ 345 w 407"/>
              <a:gd name="T7" fmla="*/ 508 h 998"/>
              <a:gd name="T8" fmla="*/ 339 w 407"/>
              <a:gd name="T9" fmla="*/ 502 h 998"/>
              <a:gd name="T10" fmla="*/ 296 w 407"/>
              <a:gd name="T11" fmla="*/ 502 h 998"/>
              <a:gd name="T12" fmla="*/ 296 w 407"/>
              <a:gd name="T13" fmla="*/ 436 h 998"/>
              <a:gd name="T14" fmla="*/ 339 w 407"/>
              <a:gd name="T15" fmla="*/ 436 h 998"/>
              <a:gd name="T16" fmla="*/ 345 w 407"/>
              <a:gd name="T17" fmla="*/ 430 h 998"/>
              <a:gd name="T18" fmla="*/ 339 w 407"/>
              <a:gd name="T19" fmla="*/ 424 h 998"/>
              <a:gd name="T20" fmla="*/ 296 w 407"/>
              <a:gd name="T21" fmla="*/ 424 h 998"/>
              <a:gd name="T22" fmla="*/ 296 w 407"/>
              <a:gd name="T23" fmla="*/ 358 h 998"/>
              <a:gd name="T24" fmla="*/ 339 w 407"/>
              <a:gd name="T25" fmla="*/ 358 h 998"/>
              <a:gd name="T26" fmla="*/ 345 w 407"/>
              <a:gd name="T27" fmla="*/ 352 h 998"/>
              <a:gd name="T28" fmla="*/ 339 w 407"/>
              <a:gd name="T29" fmla="*/ 346 h 998"/>
              <a:gd name="T30" fmla="*/ 296 w 407"/>
              <a:gd name="T31" fmla="*/ 346 h 998"/>
              <a:gd name="T32" fmla="*/ 296 w 407"/>
              <a:gd name="T33" fmla="*/ 281 h 998"/>
              <a:gd name="T34" fmla="*/ 339 w 407"/>
              <a:gd name="T35" fmla="*/ 281 h 998"/>
              <a:gd name="T36" fmla="*/ 345 w 407"/>
              <a:gd name="T37" fmla="*/ 275 h 998"/>
              <a:gd name="T38" fmla="*/ 339 w 407"/>
              <a:gd name="T39" fmla="*/ 269 h 998"/>
              <a:gd name="T40" fmla="*/ 296 w 407"/>
              <a:gd name="T41" fmla="*/ 269 h 998"/>
              <a:gd name="T42" fmla="*/ 296 w 407"/>
              <a:gd name="T43" fmla="*/ 203 h 998"/>
              <a:gd name="T44" fmla="*/ 339 w 407"/>
              <a:gd name="T45" fmla="*/ 203 h 998"/>
              <a:gd name="T46" fmla="*/ 345 w 407"/>
              <a:gd name="T47" fmla="*/ 197 h 998"/>
              <a:gd name="T48" fmla="*/ 339 w 407"/>
              <a:gd name="T49" fmla="*/ 191 h 998"/>
              <a:gd name="T50" fmla="*/ 296 w 407"/>
              <a:gd name="T51" fmla="*/ 191 h 998"/>
              <a:gd name="T52" fmla="*/ 296 w 407"/>
              <a:gd name="T53" fmla="*/ 125 h 998"/>
              <a:gd name="T54" fmla="*/ 339 w 407"/>
              <a:gd name="T55" fmla="*/ 125 h 998"/>
              <a:gd name="T56" fmla="*/ 345 w 407"/>
              <a:gd name="T57" fmla="*/ 119 h 998"/>
              <a:gd name="T58" fmla="*/ 339 w 407"/>
              <a:gd name="T59" fmla="*/ 113 h 998"/>
              <a:gd name="T60" fmla="*/ 296 w 407"/>
              <a:gd name="T61" fmla="*/ 113 h 998"/>
              <a:gd name="T62" fmla="*/ 296 w 407"/>
              <a:gd name="T63" fmla="*/ 92 h 998"/>
              <a:gd name="T64" fmla="*/ 204 w 407"/>
              <a:gd name="T65" fmla="*/ 0 h 998"/>
              <a:gd name="T66" fmla="*/ 112 w 407"/>
              <a:gd name="T67" fmla="*/ 92 h 998"/>
              <a:gd name="T68" fmla="*/ 112 w 407"/>
              <a:gd name="T69" fmla="*/ 614 h 998"/>
              <a:gd name="T70" fmla="*/ 0 w 407"/>
              <a:gd name="T71" fmla="*/ 795 h 998"/>
              <a:gd name="T72" fmla="*/ 204 w 407"/>
              <a:gd name="T73" fmla="*/ 998 h 998"/>
              <a:gd name="T74" fmla="*/ 407 w 407"/>
              <a:gd name="T75" fmla="*/ 795 h 998"/>
              <a:gd name="T76" fmla="*/ 296 w 407"/>
              <a:gd name="T77" fmla="*/ 614 h 998"/>
              <a:gd name="T78" fmla="*/ 220 w 407"/>
              <a:gd name="T79" fmla="*/ 407 h 998"/>
              <a:gd name="T80" fmla="*/ 204 w 407"/>
              <a:gd name="T81" fmla="*/ 423 h 998"/>
              <a:gd name="T82" fmla="*/ 188 w 407"/>
              <a:gd name="T83" fmla="*/ 407 h 998"/>
              <a:gd name="T84" fmla="*/ 188 w 407"/>
              <a:gd name="T85" fmla="*/ 87 h 998"/>
              <a:gd name="T86" fmla="*/ 204 w 407"/>
              <a:gd name="T87" fmla="*/ 71 h 998"/>
              <a:gd name="T88" fmla="*/ 220 w 407"/>
              <a:gd name="T89" fmla="*/ 87 h 998"/>
              <a:gd name="T90" fmla="*/ 220 w 407"/>
              <a:gd name="T91" fmla="*/ 40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7" h="998">
                <a:moveTo>
                  <a:pt x="296" y="614"/>
                </a:moveTo>
                <a:cubicBezTo>
                  <a:pt x="296" y="514"/>
                  <a:pt x="296" y="514"/>
                  <a:pt x="296" y="514"/>
                </a:cubicBezTo>
                <a:cubicBezTo>
                  <a:pt x="339" y="514"/>
                  <a:pt x="339" y="514"/>
                  <a:pt x="339" y="514"/>
                </a:cubicBezTo>
                <a:cubicBezTo>
                  <a:pt x="342" y="514"/>
                  <a:pt x="345" y="512"/>
                  <a:pt x="345" y="508"/>
                </a:cubicBezTo>
                <a:cubicBezTo>
                  <a:pt x="345" y="505"/>
                  <a:pt x="342" y="502"/>
                  <a:pt x="339" y="502"/>
                </a:cubicBezTo>
                <a:cubicBezTo>
                  <a:pt x="296" y="502"/>
                  <a:pt x="296" y="502"/>
                  <a:pt x="296" y="502"/>
                </a:cubicBezTo>
                <a:cubicBezTo>
                  <a:pt x="296" y="436"/>
                  <a:pt x="296" y="436"/>
                  <a:pt x="296" y="436"/>
                </a:cubicBezTo>
                <a:cubicBezTo>
                  <a:pt x="339" y="436"/>
                  <a:pt x="339" y="436"/>
                  <a:pt x="339" y="436"/>
                </a:cubicBezTo>
                <a:cubicBezTo>
                  <a:pt x="342" y="436"/>
                  <a:pt x="345" y="434"/>
                  <a:pt x="345" y="430"/>
                </a:cubicBezTo>
                <a:cubicBezTo>
                  <a:pt x="345" y="427"/>
                  <a:pt x="342" y="424"/>
                  <a:pt x="339" y="424"/>
                </a:cubicBezTo>
                <a:cubicBezTo>
                  <a:pt x="296" y="424"/>
                  <a:pt x="296" y="424"/>
                  <a:pt x="296" y="424"/>
                </a:cubicBezTo>
                <a:cubicBezTo>
                  <a:pt x="296" y="358"/>
                  <a:pt x="296" y="358"/>
                  <a:pt x="296" y="358"/>
                </a:cubicBezTo>
                <a:cubicBezTo>
                  <a:pt x="339" y="358"/>
                  <a:pt x="339" y="358"/>
                  <a:pt x="339" y="358"/>
                </a:cubicBezTo>
                <a:cubicBezTo>
                  <a:pt x="342" y="358"/>
                  <a:pt x="345" y="356"/>
                  <a:pt x="345" y="352"/>
                </a:cubicBezTo>
                <a:cubicBezTo>
                  <a:pt x="345" y="349"/>
                  <a:pt x="342" y="346"/>
                  <a:pt x="339" y="346"/>
                </a:cubicBezTo>
                <a:cubicBezTo>
                  <a:pt x="296" y="346"/>
                  <a:pt x="296" y="346"/>
                  <a:pt x="296" y="346"/>
                </a:cubicBezTo>
                <a:cubicBezTo>
                  <a:pt x="296" y="281"/>
                  <a:pt x="296" y="281"/>
                  <a:pt x="296" y="281"/>
                </a:cubicBezTo>
                <a:cubicBezTo>
                  <a:pt x="339" y="281"/>
                  <a:pt x="339" y="281"/>
                  <a:pt x="339" y="281"/>
                </a:cubicBezTo>
                <a:cubicBezTo>
                  <a:pt x="342" y="281"/>
                  <a:pt x="345" y="278"/>
                  <a:pt x="345" y="275"/>
                </a:cubicBezTo>
                <a:cubicBezTo>
                  <a:pt x="345" y="271"/>
                  <a:pt x="342" y="269"/>
                  <a:pt x="339" y="269"/>
                </a:cubicBezTo>
                <a:cubicBezTo>
                  <a:pt x="296" y="269"/>
                  <a:pt x="296" y="269"/>
                  <a:pt x="296" y="269"/>
                </a:cubicBezTo>
                <a:cubicBezTo>
                  <a:pt x="296" y="203"/>
                  <a:pt x="296" y="203"/>
                  <a:pt x="296" y="203"/>
                </a:cubicBezTo>
                <a:cubicBezTo>
                  <a:pt x="339" y="203"/>
                  <a:pt x="339" y="203"/>
                  <a:pt x="339" y="203"/>
                </a:cubicBezTo>
                <a:cubicBezTo>
                  <a:pt x="342" y="203"/>
                  <a:pt x="345" y="200"/>
                  <a:pt x="345" y="197"/>
                </a:cubicBezTo>
                <a:cubicBezTo>
                  <a:pt x="345" y="193"/>
                  <a:pt x="342" y="191"/>
                  <a:pt x="339" y="191"/>
                </a:cubicBezTo>
                <a:cubicBezTo>
                  <a:pt x="296" y="191"/>
                  <a:pt x="296" y="191"/>
                  <a:pt x="296" y="191"/>
                </a:cubicBezTo>
                <a:cubicBezTo>
                  <a:pt x="296" y="125"/>
                  <a:pt x="296" y="125"/>
                  <a:pt x="296" y="125"/>
                </a:cubicBezTo>
                <a:cubicBezTo>
                  <a:pt x="339" y="125"/>
                  <a:pt x="339" y="125"/>
                  <a:pt x="339" y="125"/>
                </a:cubicBezTo>
                <a:cubicBezTo>
                  <a:pt x="342" y="125"/>
                  <a:pt x="345" y="122"/>
                  <a:pt x="345" y="119"/>
                </a:cubicBezTo>
                <a:cubicBezTo>
                  <a:pt x="345" y="115"/>
                  <a:pt x="342" y="113"/>
                  <a:pt x="339" y="113"/>
                </a:cubicBezTo>
                <a:cubicBezTo>
                  <a:pt x="296" y="113"/>
                  <a:pt x="296" y="113"/>
                  <a:pt x="296" y="113"/>
                </a:cubicBezTo>
                <a:cubicBezTo>
                  <a:pt x="296" y="92"/>
                  <a:pt x="296" y="92"/>
                  <a:pt x="296" y="92"/>
                </a:cubicBezTo>
                <a:cubicBezTo>
                  <a:pt x="296" y="41"/>
                  <a:pt x="254" y="0"/>
                  <a:pt x="204" y="0"/>
                </a:cubicBezTo>
                <a:cubicBezTo>
                  <a:pt x="153" y="0"/>
                  <a:pt x="112" y="41"/>
                  <a:pt x="112" y="92"/>
                </a:cubicBezTo>
                <a:cubicBezTo>
                  <a:pt x="112" y="614"/>
                  <a:pt x="112" y="614"/>
                  <a:pt x="112" y="614"/>
                </a:cubicBezTo>
                <a:cubicBezTo>
                  <a:pt x="43" y="648"/>
                  <a:pt x="0" y="718"/>
                  <a:pt x="0" y="795"/>
                </a:cubicBezTo>
                <a:cubicBezTo>
                  <a:pt x="0" y="907"/>
                  <a:pt x="92" y="998"/>
                  <a:pt x="204" y="998"/>
                </a:cubicBezTo>
                <a:cubicBezTo>
                  <a:pt x="316" y="998"/>
                  <a:pt x="407" y="907"/>
                  <a:pt x="407" y="795"/>
                </a:cubicBezTo>
                <a:cubicBezTo>
                  <a:pt x="407" y="718"/>
                  <a:pt x="364" y="648"/>
                  <a:pt x="296" y="614"/>
                </a:cubicBezTo>
                <a:close/>
                <a:moveTo>
                  <a:pt x="220" y="407"/>
                </a:moveTo>
                <a:cubicBezTo>
                  <a:pt x="220" y="415"/>
                  <a:pt x="212" y="423"/>
                  <a:pt x="204" y="423"/>
                </a:cubicBezTo>
                <a:cubicBezTo>
                  <a:pt x="195" y="423"/>
                  <a:pt x="188" y="415"/>
                  <a:pt x="188" y="407"/>
                </a:cubicBezTo>
                <a:cubicBezTo>
                  <a:pt x="188" y="87"/>
                  <a:pt x="188" y="87"/>
                  <a:pt x="188" y="87"/>
                </a:cubicBezTo>
                <a:cubicBezTo>
                  <a:pt x="188" y="78"/>
                  <a:pt x="195" y="71"/>
                  <a:pt x="204" y="71"/>
                </a:cubicBezTo>
                <a:cubicBezTo>
                  <a:pt x="212" y="71"/>
                  <a:pt x="220" y="78"/>
                  <a:pt x="220" y="87"/>
                </a:cubicBezTo>
                <a:lnTo>
                  <a:pt x="220" y="40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20">
            <a:extLst>
              <a:ext uri="{FF2B5EF4-FFF2-40B4-BE49-F238E27FC236}">
                <a16:creationId xmlns:a16="http://schemas.microsoft.com/office/drawing/2014/main" id="{58A4F93F-0C52-4A59-BE6B-DEEE89AC71E2}"/>
              </a:ext>
            </a:extLst>
          </p:cNvPr>
          <p:cNvSpPr>
            <a:spLocks noEditPoints="1"/>
          </p:cNvSpPr>
          <p:nvPr userDrawn="1"/>
        </p:nvSpPr>
        <p:spPr bwMode="auto">
          <a:xfrm>
            <a:off x="5014592" y="2088442"/>
            <a:ext cx="381256" cy="290418"/>
          </a:xfrm>
          <a:custGeom>
            <a:avLst/>
            <a:gdLst>
              <a:gd name="T0" fmla="*/ 562 w 1124"/>
              <a:gd name="T1" fmla="*/ 0 h 855"/>
              <a:gd name="T2" fmla="*/ 562 w 1124"/>
              <a:gd name="T3" fmla="*/ 855 h 855"/>
              <a:gd name="T4" fmla="*/ 562 w 1124"/>
              <a:gd name="T5" fmla="*/ 0 h 855"/>
              <a:gd name="T6" fmla="*/ 839 w 1124"/>
              <a:gd name="T7" fmla="*/ 517 h 855"/>
              <a:gd name="T8" fmla="*/ 656 w 1124"/>
              <a:gd name="T9" fmla="*/ 448 h 855"/>
              <a:gd name="T10" fmla="*/ 640 w 1124"/>
              <a:gd name="T11" fmla="*/ 484 h 855"/>
              <a:gd name="T12" fmla="*/ 854 w 1124"/>
              <a:gd name="T13" fmla="*/ 645 h 855"/>
              <a:gd name="T14" fmla="*/ 692 w 1124"/>
              <a:gd name="T15" fmla="*/ 681 h 855"/>
              <a:gd name="T16" fmla="*/ 614 w 1124"/>
              <a:gd name="T17" fmla="*/ 508 h 855"/>
              <a:gd name="T18" fmla="*/ 576 w 1124"/>
              <a:gd name="T19" fmla="*/ 522 h 855"/>
              <a:gd name="T20" fmla="*/ 612 w 1124"/>
              <a:gd name="T21" fmla="*/ 781 h 855"/>
              <a:gd name="T22" fmla="*/ 472 w 1124"/>
              <a:gd name="T23" fmla="*/ 693 h 855"/>
              <a:gd name="T24" fmla="*/ 537 w 1124"/>
              <a:gd name="T25" fmla="*/ 520 h 855"/>
              <a:gd name="T26" fmla="*/ 500 w 1124"/>
              <a:gd name="T27" fmla="*/ 501 h 855"/>
              <a:gd name="T28" fmla="*/ 345 w 1124"/>
              <a:gd name="T29" fmla="*/ 707 h 855"/>
              <a:gd name="T30" fmla="*/ 309 w 1124"/>
              <a:gd name="T31" fmla="*/ 546 h 855"/>
              <a:gd name="T32" fmla="*/ 476 w 1124"/>
              <a:gd name="T33" fmla="*/ 470 h 855"/>
              <a:gd name="T34" fmla="*/ 466 w 1124"/>
              <a:gd name="T35" fmla="*/ 430 h 855"/>
              <a:gd name="T36" fmla="*/ 209 w 1124"/>
              <a:gd name="T37" fmla="*/ 466 h 855"/>
              <a:gd name="T38" fmla="*/ 297 w 1124"/>
              <a:gd name="T39" fmla="*/ 326 h 855"/>
              <a:gd name="T40" fmla="*/ 473 w 1124"/>
              <a:gd name="T41" fmla="*/ 392 h 855"/>
              <a:gd name="T42" fmla="*/ 495 w 1124"/>
              <a:gd name="T43" fmla="*/ 359 h 855"/>
              <a:gd name="T44" fmla="*/ 282 w 1124"/>
              <a:gd name="T45" fmla="*/ 199 h 855"/>
              <a:gd name="T46" fmla="*/ 444 w 1124"/>
              <a:gd name="T47" fmla="*/ 162 h 855"/>
              <a:gd name="T48" fmla="*/ 524 w 1124"/>
              <a:gd name="T49" fmla="*/ 339 h 855"/>
              <a:gd name="T50" fmla="*/ 562 w 1124"/>
              <a:gd name="T51" fmla="*/ 331 h 855"/>
              <a:gd name="T52" fmla="*/ 524 w 1124"/>
              <a:gd name="T53" fmla="*/ 62 h 855"/>
              <a:gd name="T54" fmla="*/ 664 w 1124"/>
              <a:gd name="T55" fmla="*/ 150 h 855"/>
              <a:gd name="T56" fmla="*/ 594 w 1124"/>
              <a:gd name="T57" fmla="*/ 337 h 855"/>
              <a:gd name="T58" fmla="*/ 626 w 1124"/>
              <a:gd name="T59" fmla="*/ 356 h 855"/>
              <a:gd name="T60" fmla="*/ 791 w 1124"/>
              <a:gd name="T61" fmla="*/ 136 h 855"/>
              <a:gd name="T62" fmla="*/ 828 w 1124"/>
              <a:gd name="T63" fmla="*/ 297 h 855"/>
              <a:gd name="T64" fmla="*/ 646 w 1124"/>
              <a:gd name="T65" fmla="*/ 380 h 855"/>
              <a:gd name="T66" fmla="*/ 657 w 1124"/>
              <a:gd name="T67" fmla="*/ 416 h 855"/>
              <a:gd name="T68" fmla="*/ 927 w 1124"/>
              <a:gd name="T69" fmla="*/ 377 h 855"/>
              <a:gd name="T70" fmla="*/ 839 w 1124"/>
              <a:gd name="T71" fmla="*/ 517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24" h="855">
                <a:moveTo>
                  <a:pt x="562" y="0"/>
                </a:moveTo>
                <a:cubicBezTo>
                  <a:pt x="0" y="10"/>
                  <a:pt x="0" y="845"/>
                  <a:pt x="562" y="855"/>
                </a:cubicBezTo>
                <a:cubicBezTo>
                  <a:pt x="1124" y="845"/>
                  <a:pt x="1124" y="10"/>
                  <a:pt x="562" y="0"/>
                </a:cubicBezTo>
                <a:close/>
                <a:moveTo>
                  <a:pt x="839" y="517"/>
                </a:moveTo>
                <a:cubicBezTo>
                  <a:pt x="656" y="448"/>
                  <a:pt x="656" y="448"/>
                  <a:pt x="656" y="448"/>
                </a:cubicBezTo>
                <a:cubicBezTo>
                  <a:pt x="653" y="461"/>
                  <a:pt x="647" y="473"/>
                  <a:pt x="640" y="484"/>
                </a:cubicBezTo>
                <a:cubicBezTo>
                  <a:pt x="854" y="645"/>
                  <a:pt x="854" y="645"/>
                  <a:pt x="854" y="645"/>
                </a:cubicBezTo>
                <a:cubicBezTo>
                  <a:pt x="818" y="695"/>
                  <a:pt x="757" y="704"/>
                  <a:pt x="692" y="681"/>
                </a:cubicBezTo>
                <a:cubicBezTo>
                  <a:pt x="614" y="508"/>
                  <a:pt x="614" y="508"/>
                  <a:pt x="614" y="508"/>
                </a:cubicBezTo>
                <a:cubicBezTo>
                  <a:pt x="602" y="515"/>
                  <a:pt x="589" y="520"/>
                  <a:pt x="576" y="522"/>
                </a:cubicBezTo>
                <a:cubicBezTo>
                  <a:pt x="612" y="781"/>
                  <a:pt x="612" y="781"/>
                  <a:pt x="612" y="781"/>
                </a:cubicBezTo>
                <a:cubicBezTo>
                  <a:pt x="552" y="792"/>
                  <a:pt x="502" y="755"/>
                  <a:pt x="472" y="693"/>
                </a:cubicBezTo>
                <a:cubicBezTo>
                  <a:pt x="537" y="520"/>
                  <a:pt x="537" y="520"/>
                  <a:pt x="537" y="520"/>
                </a:cubicBezTo>
                <a:cubicBezTo>
                  <a:pt x="524" y="516"/>
                  <a:pt x="511" y="510"/>
                  <a:pt x="500" y="501"/>
                </a:cubicBezTo>
                <a:cubicBezTo>
                  <a:pt x="345" y="707"/>
                  <a:pt x="345" y="707"/>
                  <a:pt x="345" y="707"/>
                </a:cubicBezTo>
                <a:cubicBezTo>
                  <a:pt x="294" y="672"/>
                  <a:pt x="286" y="610"/>
                  <a:pt x="309" y="546"/>
                </a:cubicBezTo>
                <a:cubicBezTo>
                  <a:pt x="476" y="470"/>
                  <a:pt x="476" y="470"/>
                  <a:pt x="476" y="470"/>
                </a:cubicBezTo>
                <a:cubicBezTo>
                  <a:pt x="470" y="457"/>
                  <a:pt x="467" y="444"/>
                  <a:pt x="466" y="430"/>
                </a:cubicBezTo>
                <a:cubicBezTo>
                  <a:pt x="209" y="466"/>
                  <a:pt x="209" y="466"/>
                  <a:pt x="209" y="466"/>
                </a:cubicBezTo>
                <a:cubicBezTo>
                  <a:pt x="198" y="405"/>
                  <a:pt x="235" y="355"/>
                  <a:pt x="297" y="326"/>
                </a:cubicBezTo>
                <a:cubicBezTo>
                  <a:pt x="473" y="392"/>
                  <a:pt x="473" y="392"/>
                  <a:pt x="473" y="392"/>
                </a:cubicBezTo>
                <a:cubicBezTo>
                  <a:pt x="478" y="380"/>
                  <a:pt x="485" y="368"/>
                  <a:pt x="495" y="359"/>
                </a:cubicBezTo>
                <a:cubicBezTo>
                  <a:pt x="282" y="199"/>
                  <a:pt x="282" y="199"/>
                  <a:pt x="282" y="199"/>
                </a:cubicBezTo>
                <a:cubicBezTo>
                  <a:pt x="318" y="148"/>
                  <a:pt x="379" y="139"/>
                  <a:pt x="444" y="162"/>
                </a:cubicBezTo>
                <a:cubicBezTo>
                  <a:pt x="524" y="339"/>
                  <a:pt x="524" y="339"/>
                  <a:pt x="524" y="339"/>
                </a:cubicBezTo>
                <a:cubicBezTo>
                  <a:pt x="536" y="334"/>
                  <a:pt x="549" y="332"/>
                  <a:pt x="562" y="331"/>
                </a:cubicBezTo>
                <a:cubicBezTo>
                  <a:pt x="524" y="62"/>
                  <a:pt x="524" y="62"/>
                  <a:pt x="524" y="62"/>
                </a:cubicBezTo>
                <a:cubicBezTo>
                  <a:pt x="585" y="51"/>
                  <a:pt x="634" y="89"/>
                  <a:pt x="664" y="150"/>
                </a:cubicBezTo>
                <a:cubicBezTo>
                  <a:pt x="594" y="337"/>
                  <a:pt x="594" y="337"/>
                  <a:pt x="594" y="337"/>
                </a:cubicBezTo>
                <a:cubicBezTo>
                  <a:pt x="605" y="341"/>
                  <a:pt x="616" y="347"/>
                  <a:pt x="626" y="356"/>
                </a:cubicBezTo>
                <a:cubicBezTo>
                  <a:pt x="791" y="136"/>
                  <a:pt x="791" y="136"/>
                  <a:pt x="791" y="136"/>
                </a:cubicBezTo>
                <a:cubicBezTo>
                  <a:pt x="842" y="172"/>
                  <a:pt x="850" y="233"/>
                  <a:pt x="828" y="297"/>
                </a:cubicBezTo>
                <a:cubicBezTo>
                  <a:pt x="646" y="380"/>
                  <a:pt x="646" y="380"/>
                  <a:pt x="646" y="380"/>
                </a:cubicBezTo>
                <a:cubicBezTo>
                  <a:pt x="652" y="391"/>
                  <a:pt x="656" y="403"/>
                  <a:pt x="657" y="416"/>
                </a:cubicBezTo>
                <a:cubicBezTo>
                  <a:pt x="927" y="377"/>
                  <a:pt x="927" y="377"/>
                  <a:pt x="927" y="377"/>
                </a:cubicBezTo>
                <a:cubicBezTo>
                  <a:pt x="938" y="438"/>
                  <a:pt x="901" y="488"/>
                  <a:pt x="839" y="51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27" name="Group 60">
            <a:extLst>
              <a:ext uri="{FF2B5EF4-FFF2-40B4-BE49-F238E27FC236}">
                <a16:creationId xmlns:a16="http://schemas.microsoft.com/office/drawing/2014/main" id="{4BAA306E-3A33-43D4-9A2B-6E98A60F5446}"/>
              </a:ext>
            </a:extLst>
          </p:cNvPr>
          <p:cNvGrpSpPr>
            <a:grpSpLocks noChangeAspect="1"/>
          </p:cNvGrpSpPr>
          <p:nvPr userDrawn="1"/>
        </p:nvGrpSpPr>
        <p:grpSpPr bwMode="auto">
          <a:xfrm>
            <a:off x="5705383" y="2083142"/>
            <a:ext cx="278808" cy="318042"/>
            <a:chOff x="4004" y="1905"/>
            <a:chExt cx="1208" cy="1378"/>
          </a:xfrm>
          <a:solidFill>
            <a:schemeClr val="tx1"/>
          </a:solidFill>
        </p:grpSpPr>
        <p:sp>
          <p:nvSpPr>
            <p:cNvPr id="428" name="Freeform 61">
              <a:extLst>
                <a:ext uri="{FF2B5EF4-FFF2-40B4-BE49-F238E27FC236}">
                  <a16:creationId xmlns:a16="http://schemas.microsoft.com/office/drawing/2014/main" id="{1AE5079C-9FC1-4BDE-8CF4-4FFB8319A984}"/>
                </a:ext>
              </a:extLst>
            </p:cNvPr>
            <p:cNvSpPr>
              <a:spLocks/>
            </p:cNvSpPr>
            <p:nvPr userDrawn="1"/>
          </p:nvSpPr>
          <p:spPr bwMode="auto">
            <a:xfrm>
              <a:off x="4004" y="2339"/>
              <a:ext cx="574" cy="502"/>
            </a:xfrm>
            <a:custGeom>
              <a:avLst/>
              <a:gdLst>
                <a:gd name="T0" fmla="*/ 56 w 275"/>
                <a:gd name="T1" fmla="*/ 1 h 240"/>
                <a:gd name="T2" fmla="*/ 20 w 275"/>
                <a:gd name="T3" fmla="*/ 16 h 240"/>
                <a:gd name="T4" fmla="*/ 19 w 275"/>
                <a:gd name="T5" fmla="*/ 17 h 240"/>
                <a:gd name="T6" fmla="*/ 19 w 275"/>
                <a:gd name="T7" fmla="*/ 17 h 240"/>
                <a:gd name="T8" fmla="*/ 15 w 275"/>
                <a:gd name="T9" fmla="*/ 21 h 240"/>
                <a:gd name="T10" fmla="*/ 1 w 275"/>
                <a:gd name="T11" fmla="*/ 63 h 240"/>
                <a:gd name="T12" fmla="*/ 21 w 275"/>
                <a:gd name="T13" fmla="*/ 103 h 240"/>
                <a:gd name="T14" fmla="*/ 175 w 275"/>
                <a:gd name="T15" fmla="*/ 240 h 240"/>
                <a:gd name="T16" fmla="*/ 275 w 275"/>
                <a:gd name="T17" fmla="*/ 172 h 240"/>
                <a:gd name="T18" fmla="*/ 98 w 275"/>
                <a:gd name="T19" fmla="*/ 16 h 240"/>
                <a:gd name="T20" fmla="*/ 56 w 275"/>
                <a:gd name="T21" fmla="*/ 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5" h="240">
                  <a:moveTo>
                    <a:pt x="56" y="1"/>
                  </a:moveTo>
                  <a:cubicBezTo>
                    <a:pt x="42" y="2"/>
                    <a:pt x="30" y="7"/>
                    <a:pt x="20" y="16"/>
                  </a:cubicBezTo>
                  <a:cubicBezTo>
                    <a:pt x="19" y="17"/>
                    <a:pt x="19" y="17"/>
                    <a:pt x="19" y="17"/>
                  </a:cubicBezTo>
                  <a:cubicBezTo>
                    <a:pt x="19" y="17"/>
                    <a:pt x="19" y="17"/>
                    <a:pt x="19" y="17"/>
                  </a:cubicBezTo>
                  <a:cubicBezTo>
                    <a:pt x="18" y="18"/>
                    <a:pt x="16" y="19"/>
                    <a:pt x="15" y="21"/>
                  </a:cubicBezTo>
                  <a:cubicBezTo>
                    <a:pt x="5" y="32"/>
                    <a:pt x="0" y="47"/>
                    <a:pt x="1" y="63"/>
                  </a:cubicBezTo>
                  <a:cubicBezTo>
                    <a:pt x="2" y="79"/>
                    <a:pt x="9" y="93"/>
                    <a:pt x="21" y="103"/>
                  </a:cubicBezTo>
                  <a:cubicBezTo>
                    <a:pt x="175" y="240"/>
                    <a:pt x="175" y="240"/>
                    <a:pt x="175" y="240"/>
                  </a:cubicBezTo>
                  <a:cubicBezTo>
                    <a:pt x="191" y="199"/>
                    <a:pt x="231" y="172"/>
                    <a:pt x="275" y="172"/>
                  </a:cubicBezTo>
                  <a:cubicBezTo>
                    <a:pt x="98" y="16"/>
                    <a:pt x="98" y="16"/>
                    <a:pt x="98" y="16"/>
                  </a:cubicBezTo>
                  <a:cubicBezTo>
                    <a:pt x="86" y="5"/>
                    <a:pt x="71" y="0"/>
                    <a:pt x="5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9" name="Freeform 62">
              <a:extLst>
                <a:ext uri="{FF2B5EF4-FFF2-40B4-BE49-F238E27FC236}">
                  <a16:creationId xmlns:a16="http://schemas.microsoft.com/office/drawing/2014/main" id="{5C0AE3F8-CBD5-4947-B466-9B374213CB20}"/>
                </a:ext>
              </a:extLst>
            </p:cNvPr>
            <p:cNvSpPr>
              <a:spLocks/>
            </p:cNvSpPr>
            <p:nvPr userDrawn="1"/>
          </p:nvSpPr>
          <p:spPr bwMode="auto">
            <a:xfrm>
              <a:off x="4129" y="3068"/>
              <a:ext cx="901" cy="215"/>
            </a:xfrm>
            <a:custGeom>
              <a:avLst/>
              <a:gdLst>
                <a:gd name="T0" fmla="*/ 0 w 432"/>
                <a:gd name="T1" fmla="*/ 103 h 103"/>
                <a:gd name="T2" fmla="*/ 432 w 432"/>
                <a:gd name="T3" fmla="*/ 103 h 103"/>
                <a:gd name="T4" fmla="*/ 328 w 432"/>
                <a:gd name="T5" fmla="*/ 0 h 103"/>
                <a:gd name="T6" fmla="*/ 104 w 432"/>
                <a:gd name="T7" fmla="*/ 0 h 103"/>
                <a:gd name="T8" fmla="*/ 0 w 432"/>
                <a:gd name="T9" fmla="*/ 103 h 103"/>
              </a:gdLst>
              <a:ahLst/>
              <a:cxnLst>
                <a:cxn ang="0">
                  <a:pos x="T0" y="T1"/>
                </a:cxn>
                <a:cxn ang="0">
                  <a:pos x="T2" y="T3"/>
                </a:cxn>
                <a:cxn ang="0">
                  <a:pos x="T4" y="T5"/>
                </a:cxn>
                <a:cxn ang="0">
                  <a:pos x="T6" y="T7"/>
                </a:cxn>
                <a:cxn ang="0">
                  <a:pos x="T8" y="T9"/>
                </a:cxn>
              </a:cxnLst>
              <a:rect l="0" t="0" r="r" b="b"/>
              <a:pathLst>
                <a:path w="432" h="103">
                  <a:moveTo>
                    <a:pt x="0" y="103"/>
                  </a:moveTo>
                  <a:cubicBezTo>
                    <a:pt x="432" y="103"/>
                    <a:pt x="432" y="103"/>
                    <a:pt x="432" y="103"/>
                  </a:cubicBezTo>
                  <a:cubicBezTo>
                    <a:pt x="432" y="46"/>
                    <a:pt x="385" y="0"/>
                    <a:pt x="328" y="0"/>
                  </a:cubicBezTo>
                  <a:cubicBezTo>
                    <a:pt x="104" y="0"/>
                    <a:pt x="104" y="0"/>
                    <a:pt x="104" y="0"/>
                  </a:cubicBezTo>
                  <a:cubicBezTo>
                    <a:pt x="47" y="0"/>
                    <a:pt x="0" y="46"/>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0" name="Freeform 63">
              <a:extLst>
                <a:ext uri="{FF2B5EF4-FFF2-40B4-BE49-F238E27FC236}">
                  <a16:creationId xmlns:a16="http://schemas.microsoft.com/office/drawing/2014/main" id="{251ACE96-A820-412D-82FE-F78D84BF7276}"/>
                </a:ext>
              </a:extLst>
            </p:cNvPr>
            <p:cNvSpPr>
              <a:spLocks/>
            </p:cNvSpPr>
            <p:nvPr userDrawn="1"/>
          </p:nvSpPr>
          <p:spPr bwMode="auto">
            <a:xfrm>
              <a:off x="4102" y="2101"/>
              <a:ext cx="359" cy="328"/>
            </a:xfrm>
            <a:custGeom>
              <a:avLst/>
              <a:gdLst>
                <a:gd name="T0" fmla="*/ 110 w 172"/>
                <a:gd name="T1" fmla="*/ 59 h 157"/>
                <a:gd name="T2" fmla="*/ 88 w 172"/>
                <a:gd name="T3" fmla="*/ 6 h 157"/>
                <a:gd name="T4" fmla="*/ 88 w 172"/>
                <a:gd name="T5" fmla="*/ 0 h 157"/>
                <a:gd name="T6" fmla="*/ 0 w 172"/>
                <a:gd name="T7" fmla="*/ 100 h 157"/>
                <a:gd name="T8" fmla="*/ 8 w 172"/>
                <a:gd name="T9" fmla="*/ 99 h 157"/>
                <a:gd name="T10" fmla="*/ 12 w 172"/>
                <a:gd name="T11" fmla="*/ 99 h 157"/>
                <a:gd name="T12" fmla="*/ 62 w 172"/>
                <a:gd name="T13" fmla="*/ 118 h 157"/>
                <a:gd name="T14" fmla="*/ 106 w 172"/>
                <a:gd name="T15" fmla="*/ 157 h 157"/>
                <a:gd name="T16" fmla="*/ 172 w 172"/>
                <a:gd name="T17" fmla="*/ 81 h 157"/>
                <a:gd name="T18" fmla="*/ 163 w 172"/>
                <a:gd name="T19" fmla="*/ 81 h 157"/>
                <a:gd name="T20" fmla="*/ 110 w 172"/>
                <a:gd name="T21" fmla="*/ 5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2" h="157">
                  <a:moveTo>
                    <a:pt x="110" y="59"/>
                  </a:moveTo>
                  <a:cubicBezTo>
                    <a:pt x="96" y="45"/>
                    <a:pt x="88" y="26"/>
                    <a:pt x="88" y="6"/>
                  </a:cubicBezTo>
                  <a:cubicBezTo>
                    <a:pt x="88" y="4"/>
                    <a:pt x="88" y="2"/>
                    <a:pt x="88" y="0"/>
                  </a:cubicBezTo>
                  <a:cubicBezTo>
                    <a:pt x="0" y="100"/>
                    <a:pt x="0" y="100"/>
                    <a:pt x="0" y="100"/>
                  </a:cubicBezTo>
                  <a:cubicBezTo>
                    <a:pt x="2" y="100"/>
                    <a:pt x="5" y="99"/>
                    <a:pt x="8" y="99"/>
                  </a:cubicBezTo>
                  <a:cubicBezTo>
                    <a:pt x="9" y="99"/>
                    <a:pt x="11" y="99"/>
                    <a:pt x="12" y="99"/>
                  </a:cubicBezTo>
                  <a:cubicBezTo>
                    <a:pt x="31" y="99"/>
                    <a:pt x="48" y="105"/>
                    <a:pt x="62" y="118"/>
                  </a:cubicBezTo>
                  <a:cubicBezTo>
                    <a:pt x="106" y="157"/>
                    <a:pt x="106" y="157"/>
                    <a:pt x="106" y="157"/>
                  </a:cubicBezTo>
                  <a:cubicBezTo>
                    <a:pt x="172" y="81"/>
                    <a:pt x="172" y="81"/>
                    <a:pt x="172" y="81"/>
                  </a:cubicBezTo>
                  <a:cubicBezTo>
                    <a:pt x="163" y="81"/>
                    <a:pt x="163" y="81"/>
                    <a:pt x="163" y="81"/>
                  </a:cubicBezTo>
                  <a:cubicBezTo>
                    <a:pt x="143" y="81"/>
                    <a:pt x="124" y="73"/>
                    <a:pt x="110"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1" name="Freeform 64">
              <a:extLst>
                <a:ext uri="{FF2B5EF4-FFF2-40B4-BE49-F238E27FC236}">
                  <a16:creationId xmlns:a16="http://schemas.microsoft.com/office/drawing/2014/main" id="{F786CD67-47E7-406C-96AC-61208DB31A30}"/>
                </a:ext>
              </a:extLst>
            </p:cNvPr>
            <p:cNvSpPr>
              <a:spLocks/>
            </p:cNvSpPr>
            <p:nvPr userDrawn="1"/>
          </p:nvSpPr>
          <p:spPr bwMode="auto">
            <a:xfrm>
              <a:off x="4534" y="1905"/>
              <a:ext cx="678" cy="407"/>
            </a:xfrm>
            <a:custGeom>
              <a:avLst/>
              <a:gdLst>
                <a:gd name="T0" fmla="*/ 198 w 325"/>
                <a:gd name="T1" fmla="*/ 50 h 195"/>
                <a:gd name="T2" fmla="*/ 189 w 325"/>
                <a:gd name="T3" fmla="*/ 50 h 195"/>
                <a:gd name="T4" fmla="*/ 156 w 325"/>
                <a:gd name="T5" fmla="*/ 41 h 195"/>
                <a:gd name="T6" fmla="*/ 0 w 325"/>
                <a:gd name="T7" fmla="*/ 40 h 195"/>
                <a:gd name="T8" fmla="*/ 4 w 325"/>
                <a:gd name="T9" fmla="*/ 44 h 195"/>
                <a:gd name="T10" fmla="*/ 10 w 325"/>
                <a:gd name="T11" fmla="*/ 149 h 195"/>
                <a:gd name="T12" fmla="*/ 1 w 325"/>
                <a:gd name="T13" fmla="*/ 159 h 195"/>
                <a:gd name="T14" fmla="*/ 156 w 325"/>
                <a:gd name="T15" fmla="*/ 159 h 195"/>
                <a:gd name="T16" fmla="*/ 191 w 325"/>
                <a:gd name="T17" fmla="*/ 148 h 195"/>
                <a:gd name="T18" fmla="*/ 201 w 325"/>
                <a:gd name="T19" fmla="*/ 148 h 195"/>
                <a:gd name="T20" fmla="*/ 262 w 325"/>
                <a:gd name="T21" fmla="*/ 195 h 195"/>
                <a:gd name="T22" fmla="*/ 325 w 325"/>
                <a:gd name="T23" fmla="*/ 195 h 195"/>
                <a:gd name="T24" fmla="*/ 325 w 325"/>
                <a:gd name="T25" fmla="*/ 167 h 195"/>
                <a:gd name="T26" fmla="*/ 274 w 325"/>
                <a:gd name="T27" fmla="*/ 167 h 195"/>
                <a:gd name="T28" fmla="*/ 269 w 325"/>
                <a:gd name="T29" fmla="*/ 165 h 195"/>
                <a:gd name="T30" fmla="*/ 216 w 325"/>
                <a:gd name="T31" fmla="*/ 124 h 195"/>
                <a:gd name="T32" fmla="*/ 214 w 325"/>
                <a:gd name="T33" fmla="*/ 115 h 195"/>
                <a:gd name="T34" fmla="*/ 216 w 325"/>
                <a:gd name="T35" fmla="*/ 100 h 195"/>
                <a:gd name="T36" fmla="*/ 213 w 325"/>
                <a:gd name="T37" fmla="*/ 81 h 195"/>
                <a:gd name="T38" fmla="*/ 215 w 325"/>
                <a:gd name="T39" fmla="*/ 72 h 195"/>
                <a:gd name="T40" fmla="*/ 269 w 325"/>
                <a:gd name="T41" fmla="*/ 30 h 195"/>
                <a:gd name="T42" fmla="*/ 274 w 325"/>
                <a:gd name="T43" fmla="*/ 29 h 195"/>
                <a:gd name="T44" fmla="*/ 325 w 325"/>
                <a:gd name="T45" fmla="*/ 29 h 195"/>
                <a:gd name="T46" fmla="*/ 325 w 325"/>
                <a:gd name="T47" fmla="*/ 0 h 195"/>
                <a:gd name="T48" fmla="*/ 262 w 325"/>
                <a:gd name="T49" fmla="*/ 0 h 195"/>
                <a:gd name="T50" fmla="*/ 198 w 325"/>
                <a:gd name="T51" fmla="*/ 5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5" h="195">
                  <a:moveTo>
                    <a:pt x="198" y="50"/>
                  </a:moveTo>
                  <a:cubicBezTo>
                    <a:pt x="195" y="52"/>
                    <a:pt x="191" y="52"/>
                    <a:pt x="189" y="50"/>
                  </a:cubicBezTo>
                  <a:cubicBezTo>
                    <a:pt x="179" y="44"/>
                    <a:pt x="168" y="41"/>
                    <a:pt x="156" y="41"/>
                  </a:cubicBezTo>
                  <a:cubicBezTo>
                    <a:pt x="0" y="40"/>
                    <a:pt x="0" y="40"/>
                    <a:pt x="0" y="40"/>
                  </a:cubicBezTo>
                  <a:cubicBezTo>
                    <a:pt x="1" y="42"/>
                    <a:pt x="2" y="43"/>
                    <a:pt x="4" y="44"/>
                  </a:cubicBezTo>
                  <a:cubicBezTo>
                    <a:pt x="34" y="71"/>
                    <a:pt x="37" y="118"/>
                    <a:pt x="10" y="149"/>
                  </a:cubicBezTo>
                  <a:cubicBezTo>
                    <a:pt x="1" y="159"/>
                    <a:pt x="1" y="159"/>
                    <a:pt x="1" y="159"/>
                  </a:cubicBezTo>
                  <a:cubicBezTo>
                    <a:pt x="156" y="159"/>
                    <a:pt x="156" y="159"/>
                    <a:pt x="156" y="159"/>
                  </a:cubicBezTo>
                  <a:cubicBezTo>
                    <a:pt x="169" y="159"/>
                    <a:pt x="181" y="155"/>
                    <a:pt x="191" y="148"/>
                  </a:cubicBezTo>
                  <a:cubicBezTo>
                    <a:pt x="194" y="146"/>
                    <a:pt x="198" y="146"/>
                    <a:pt x="201" y="148"/>
                  </a:cubicBezTo>
                  <a:cubicBezTo>
                    <a:pt x="262" y="195"/>
                    <a:pt x="262" y="195"/>
                    <a:pt x="262" y="195"/>
                  </a:cubicBezTo>
                  <a:cubicBezTo>
                    <a:pt x="325" y="195"/>
                    <a:pt x="325" y="195"/>
                    <a:pt x="325" y="195"/>
                  </a:cubicBezTo>
                  <a:cubicBezTo>
                    <a:pt x="325" y="167"/>
                    <a:pt x="325" y="167"/>
                    <a:pt x="325" y="167"/>
                  </a:cubicBezTo>
                  <a:cubicBezTo>
                    <a:pt x="274" y="167"/>
                    <a:pt x="274" y="167"/>
                    <a:pt x="274" y="167"/>
                  </a:cubicBezTo>
                  <a:cubicBezTo>
                    <a:pt x="273" y="167"/>
                    <a:pt x="271" y="166"/>
                    <a:pt x="269" y="165"/>
                  </a:cubicBezTo>
                  <a:cubicBezTo>
                    <a:pt x="216" y="124"/>
                    <a:pt x="216" y="124"/>
                    <a:pt x="216" y="124"/>
                  </a:cubicBezTo>
                  <a:cubicBezTo>
                    <a:pt x="214" y="122"/>
                    <a:pt x="213" y="119"/>
                    <a:pt x="214" y="115"/>
                  </a:cubicBezTo>
                  <a:cubicBezTo>
                    <a:pt x="215" y="110"/>
                    <a:pt x="216" y="105"/>
                    <a:pt x="216" y="100"/>
                  </a:cubicBezTo>
                  <a:cubicBezTo>
                    <a:pt x="216" y="94"/>
                    <a:pt x="215" y="87"/>
                    <a:pt x="213" y="81"/>
                  </a:cubicBezTo>
                  <a:cubicBezTo>
                    <a:pt x="212" y="78"/>
                    <a:pt x="213" y="75"/>
                    <a:pt x="215" y="72"/>
                  </a:cubicBezTo>
                  <a:cubicBezTo>
                    <a:pt x="269" y="30"/>
                    <a:pt x="269" y="30"/>
                    <a:pt x="269" y="30"/>
                  </a:cubicBezTo>
                  <a:cubicBezTo>
                    <a:pt x="271" y="29"/>
                    <a:pt x="273" y="29"/>
                    <a:pt x="274" y="29"/>
                  </a:cubicBezTo>
                  <a:cubicBezTo>
                    <a:pt x="325" y="29"/>
                    <a:pt x="325" y="29"/>
                    <a:pt x="325" y="29"/>
                  </a:cubicBezTo>
                  <a:cubicBezTo>
                    <a:pt x="325" y="0"/>
                    <a:pt x="325" y="0"/>
                    <a:pt x="325" y="0"/>
                  </a:cubicBezTo>
                  <a:cubicBezTo>
                    <a:pt x="262" y="0"/>
                    <a:pt x="262" y="0"/>
                    <a:pt x="262" y="0"/>
                  </a:cubicBezTo>
                  <a:lnTo>
                    <a:pt x="198"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2" name="Freeform 65">
              <a:extLst>
                <a:ext uri="{FF2B5EF4-FFF2-40B4-BE49-F238E27FC236}">
                  <a16:creationId xmlns:a16="http://schemas.microsoft.com/office/drawing/2014/main" id="{59929586-DF8F-46BD-B4FB-70D7153D04B5}"/>
                </a:ext>
              </a:extLst>
            </p:cNvPr>
            <p:cNvSpPr>
              <a:spLocks noEditPoints="1"/>
            </p:cNvSpPr>
            <p:nvPr userDrawn="1"/>
          </p:nvSpPr>
          <p:spPr bwMode="auto">
            <a:xfrm>
              <a:off x="4386" y="2732"/>
              <a:ext cx="388" cy="303"/>
            </a:xfrm>
            <a:custGeom>
              <a:avLst/>
              <a:gdLst>
                <a:gd name="T0" fmla="*/ 93 w 186"/>
                <a:gd name="T1" fmla="*/ 0 h 145"/>
                <a:gd name="T2" fmla="*/ 0 w 186"/>
                <a:gd name="T3" fmla="*/ 93 h 145"/>
                <a:gd name="T4" fmla="*/ 0 w 186"/>
                <a:gd name="T5" fmla="*/ 145 h 145"/>
                <a:gd name="T6" fmla="*/ 186 w 186"/>
                <a:gd name="T7" fmla="*/ 145 h 145"/>
                <a:gd name="T8" fmla="*/ 186 w 186"/>
                <a:gd name="T9" fmla="*/ 93 h 145"/>
                <a:gd name="T10" fmla="*/ 93 w 186"/>
                <a:gd name="T11" fmla="*/ 0 h 145"/>
                <a:gd name="T12" fmla="*/ 93 w 186"/>
                <a:gd name="T13" fmla="*/ 80 h 145"/>
                <a:gd name="T14" fmla="*/ 72 w 186"/>
                <a:gd name="T15" fmla="*/ 60 h 145"/>
                <a:gd name="T16" fmla="*/ 93 w 186"/>
                <a:gd name="T17" fmla="*/ 39 h 145"/>
                <a:gd name="T18" fmla="*/ 114 w 186"/>
                <a:gd name="T19" fmla="*/ 60 h 145"/>
                <a:gd name="T20" fmla="*/ 93 w 186"/>
                <a:gd name="T21" fmla="*/ 8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6" h="145">
                  <a:moveTo>
                    <a:pt x="93" y="0"/>
                  </a:moveTo>
                  <a:cubicBezTo>
                    <a:pt x="42" y="0"/>
                    <a:pt x="0" y="41"/>
                    <a:pt x="0" y="93"/>
                  </a:cubicBezTo>
                  <a:cubicBezTo>
                    <a:pt x="0" y="145"/>
                    <a:pt x="0" y="145"/>
                    <a:pt x="0" y="145"/>
                  </a:cubicBezTo>
                  <a:cubicBezTo>
                    <a:pt x="186" y="145"/>
                    <a:pt x="186" y="145"/>
                    <a:pt x="186" y="145"/>
                  </a:cubicBezTo>
                  <a:cubicBezTo>
                    <a:pt x="186" y="93"/>
                    <a:pt x="186" y="93"/>
                    <a:pt x="186" y="93"/>
                  </a:cubicBezTo>
                  <a:cubicBezTo>
                    <a:pt x="186" y="41"/>
                    <a:pt x="144" y="0"/>
                    <a:pt x="93" y="0"/>
                  </a:cubicBezTo>
                  <a:close/>
                  <a:moveTo>
                    <a:pt x="93" y="80"/>
                  </a:moveTo>
                  <a:cubicBezTo>
                    <a:pt x="82" y="80"/>
                    <a:pt x="72" y="71"/>
                    <a:pt x="72" y="60"/>
                  </a:cubicBezTo>
                  <a:cubicBezTo>
                    <a:pt x="72" y="48"/>
                    <a:pt x="82" y="39"/>
                    <a:pt x="93" y="39"/>
                  </a:cubicBezTo>
                  <a:cubicBezTo>
                    <a:pt x="104" y="39"/>
                    <a:pt x="114" y="48"/>
                    <a:pt x="114" y="60"/>
                  </a:cubicBezTo>
                  <a:cubicBezTo>
                    <a:pt x="114" y="71"/>
                    <a:pt x="104" y="80"/>
                    <a:pt x="93"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66">
              <a:extLst>
                <a:ext uri="{FF2B5EF4-FFF2-40B4-BE49-F238E27FC236}">
                  <a16:creationId xmlns:a16="http://schemas.microsoft.com/office/drawing/2014/main" id="{368F0A7D-2B72-411C-9D83-0B5517B2BCCA}"/>
                </a:ext>
              </a:extLst>
            </p:cNvPr>
            <p:cNvSpPr>
              <a:spLocks noEditPoints="1"/>
            </p:cNvSpPr>
            <p:nvPr userDrawn="1"/>
          </p:nvSpPr>
          <p:spPr bwMode="auto">
            <a:xfrm>
              <a:off x="4319" y="1984"/>
              <a:ext cx="255" cy="253"/>
            </a:xfrm>
            <a:custGeom>
              <a:avLst/>
              <a:gdLst>
                <a:gd name="T0" fmla="*/ 96 w 122"/>
                <a:gd name="T1" fmla="*/ 18 h 121"/>
                <a:gd name="T2" fmla="*/ 39 w 122"/>
                <a:gd name="T3" fmla="*/ 6 h 121"/>
                <a:gd name="T4" fmla="*/ 0 w 122"/>
                <a:gd name="T5" fmla="*/ 62 h 121"/>
                <a:gd name="T6" fmla="*/ 17 w 122"/>
                <a:gd name="T7" fmla="*/ 104 h 121"/>
                <a:gd name="T8" fmla="*/ 59 w 122"/>
                <a:gd name="T9" fmla="*/ 121 h 121"/>
                <a:gd name="T10" fmla="*/ 83 w 122"/>
                <a:gd name="T11" fmla="*/ 121 h 121"/>
                <a:gd name="T12" fmla="*/ 101 w 122"/>
                <a:gd name="T13" fmla="*/ 100 h 121"/>
                <a:gd name="T14" fmla="*/ 96 w 122"/>
                <a:gd name="T15" fmla="*/ 18 h 121"/>
                <a:gd name="T16" fmla="*/ 57 w 122"/>
                <a:gd name="T17" fmla="*/ 82 h 121"/>
                <a:gd name="T18" fmla="*/ 36 w 122"/>
                <a:gd name="T19" fmla="*/ 61 h 121"/>
                <a:gd name="T20" fmla="*/ 57 w 122"/>
                <a:gd name="T21" fmla="*/ 40 h 121"/>
                <a:gd name="T22" fmla="*/ 77 w 122"/>
                <a:gd name="T23" fmla="*/ 61 h 121"/>
                <a:gd name="T24" fmla="*/ 57 w 122"/>
                <a:gd name="T25" fmla="*/ 8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21">
                  <a:moveTo>
                    <a:pt x="96" y="18"/>
                  </a:moveTo>
                  <a:cubicBezTo>
                    <a:pt x="81" y="4"/>
                    <a:pt x="59" y="0"/>
                    <a:pt x="39" y="6"/>
                  </a:cubicBezTo>
                  <a:cubicBezTo>
                    <a:pt x="16" y="15"/>
                    <a:pt x="0" y="37"/>
                    <a:pt x="0" y="62"/>
                  </a:cubicBezTo>
                  <a:cubicBezTo>
                    <a:pt x="0" y="78"/>
                    <a:pt x="6" y="93"/>
                    <a:pt x="17" y="104"/>
                  </a:cubicBezTo>
                  <a:cubicBezTo>
                    <a:pt x="29" y="115"/>
                    <a:pt x="44" y="121"/>
                    <a:pt x="59" y="121"/>
                  </a:cubicBezTo>
                  <a:cubicBezTo>
                    <a:pt x="83" y="121"/>
                    <a:pt x="83" y="121"/>
                    <a:pt x="83" y="121"/>
                  </a:cubicBezTo>
                  <a:cubicBezTo>
                    <a:pt x="101" y="100"/>
                    <a:pt x="101" y="100"/>
                    <a:pt x="101" y="100"/>
                  </a:cubicBezTo>
                  <a:cubicBezTo>
                    <a:pt x="122" y="76"/>
                    <a:pt x="120" y="39"/>
                    <a:pt x="96" y="18"/>
                  </a:cubicBezTo>
                  <a:close/>
                  <a:moveTo>
                    <a:pt x="57" y="82"/>
                  </a:moveTo>
                  <a:cubicBezTo>
                    <a:pt x="45" y="82"/>
                    <a:pt x="36" y="73"/>
                    <a:pt x="36" y="61"/>
                  </a:cubicBezTo>
                  <a:cubicBezTo>
                    <a:pt x="36" y="50"/>
                    <a:pt x="45" y="40"/>
                    <a:pt x="57" y="40"/>
                  </a:cubicBezTo>
                  <a:cubicBezTo>
                    <a:pt x="68" y="40"/>
                    <a:pt x="77" y="50"/>
                    <a:pt x="77" y="61"/>
                  </a:cubicBezTo>
                  <a:cubicBezTo>
                    <a:pt x="77" y="73"/>
                    <a:pt x="68" y="82"/>
                    <a:pt x="57"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3" name="Group 33">
            <a:extLst>
              <a:ext uri="{FF2B5EF4-FFF2-40B4-BE49-F238E27FC236}">
                <a16:creationId xmlns:a16="http://schemas.microsoft.com/office/drawing/2014/main" id="{F8E964F7-610D-4066-A6CC-6108B93BFC3C}"/>
              </a:ext>
            </a:extLst>
          </p:cNvPr>
          <p:cNvGrpSpPr>
            <a:grpSpLocks noChangeAspect="1"/>
          </p:cNvGrpSpPr>
          <p:nvPr userDrawn="1"/>
        </p:nvGrpSpPr>
        <p:grpSpPr bwMode="auto">
          <a:xfrm>
            <a:off x="5045135" y="3225435"/>
            <a:ext cx="320170" cy="252712"/>
            <a:chOff x="3953" y="2074"/>
            <a:chExt cx="1310" cy="1034"/>
          </a:xfrm>
          <a:solidFill>
            <a:schemeClr val="tx1"/>
          </a:solidFill>
        </p:grpSpPr>
        <p:sp>
          <p:nvSpPr>
            <p:cNvPr id="135" name="Rectangle 34">
              <a:extLst>
                <a:ext uri="{FF2B5EF4-FFF2-40B4-BE49-F238E27FC236}">
                  <a16:creationId xmlns:a16="http://schemas.microsoft.com/office/drawing/2014/main" id="{BA4FA0EC-B725-4771-A27E-37F418E1B9B8}"/>
                </a:ext>
              </a:extLst>
            </p:cNvPr>
            <p:cNvSpPr>
              <a:spLocks noChangeArrowheads="1"/>
            </p:cNvSpPr>
            <p:nvPr userDrawn="1"/>
          </p:nvSpPr>
          <p:spPr bwMode="auto">
            <a:xfrm>
              <a:off x="3953" y="2714"/>
              <a:ext cx="7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5">
              <a:extLst>
                <a:ext uri="{FF2B5EF4-FFF2-40B4-BE49-F238E27FC236}">
                  <a16:creationId xmlns:a16="http://schemas.microsoft.com/office/drawing/2014/main" id="{BC1DB2FF-6F61-42A3-BC05-9C0F5C330CA9}"/>
                </a:ext>
              </a:extLst>
            </p:cNvPr>
            <p:cNvSpPr>
              <a:spLocks/>
            </p:cNvSpPr>
            <p:nvPr userDrawn="1"/>
          </p:nvSpPr>
          <p:spPr bwMode="auto">
            <a:xfrm>
              <a:off x="4128" y="2133"/>
              <a:ext cx="392" cy="368"/>
            </a:xfrm>
            <a:custGeom>
              <a:avLst/>
              <a:gdLst>
                <a:gd name="T0" fmla="*/ 322 w 392"/>
                <a:gd name="T1" fmla="*/ 0 h 368"/>
                <a:gd name="T2" fmla="*/ 0 w 392"/>
                <a:gd name="T3" fmla="*/ 288 h 368"/>
                <a:gd name="T4" fmla="*/ 73 w 392"/>
                <a:gd name="T5" fmla="*/ 368 h 368"/>
                <a:gd name="T6" fmla="*/ 392 w 392"/>
                <a:gd name="T7" fmla="*/ 79 h 368"/>
                <a:gd name="T8" fmla="*/ 322 w 392"/>
                <a:gd name="T9" fmla="*/ 0 h 368"/>
              </a:gdLst>
              <a:ahLst/>
              <a:cxnLst>
                <a:cxn ang="0">
                  <a:pos x="T0" y="T1"/>
                </a:cxn>
                <a:cxn ang="0">
                  <a:pos x="T2" y="T3"/>
                </a:cxn>
                <a:cxn ang="0">
                  <a:pos x="T4" y="T5"/>
                </a:cxn>
                <a:cxn ang="0">
                  <a:pos x="T6" y="T7"/>
                </a:cxn>
                <a:cxn ang="0">
                  <a:pos x="T8" y="T9"/>
                </a:cxn>
              </a:cxnLst>
              <a:rect l="0" t="0" r="r" b="b"/>
              <a:pathLst>
                <a:path w="392" h="368">
                  <a:moveTo>
                    <a:pt x="322" y="0"/>
                  </a:moveTo>
                  <a:lnTo>
                    <a:pt x="0" y="288"/>
                  </a:lnTo>
                  <a:lnTo>
                    <a:pt x="73" y="368"/>
                  </a:lnTo>
                  <a:lnTo>
                    <a:pt x="392" y="79"/>
                  </a:lnTo>
                  <a:lnTo>
                    <a:pt x="3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6">
              <a:extLst>
                <a:ext uri="{FF2B5EF4-FFF2-40B4-BE49-F238E27FC236}">
                  <a16:creationId xmlns:a16="http://schemas.microsoft.com/office/drawing/2014/main" id="{2CF9BB3A-D494-4836-8792-19B3FF7B6950}"/>
                </a:ext>
              </a:extLst>
            </p:cNvPr>
            <p:cNvSpPr>
              <a:spLocks/>
            </p:cNvSpPr>
            <p:nvPr userDrawn="1"/>
          </p:nvSpPr>
          <p:spPr bwMode="auto">
            <a:xfrm>
              <a:off x="4091" y="2074"/>
              <a:ext cx="317" cy="297"/>
            </a:xfrm>
            <a:custGeom>
              <a:avLst/>
              <a:gdLst>
                <a:gd name="T0" fmla="*/ 317 w 317"/>
                <a:gd name="T1" fmla="*/ 61 h 297"/>
                <a:gd name="T2" fmla="*/ 265 w 317"/>
                <a:gd name="T3" fmla="*/ 0 h 297"/>
                <a:gd name="T4" fmla="*/ 0 w 317"/>
                <a:gd name="T5" fmla="*/ 232 h 297"/>
                <a:gd name="T6" fmla="*/ 56 w 317"/>
                <a:gd name="T7" fmla="*/ 297 h 297"/>
                <a:gd name="T8" fmla="*/ 317 w 317"/>
                <a:gd name="T9" fmla="*/ 61 h 297"/>
              </a:gdLst>
              <a:ahLst/>
              <a:cxnLst>
                <a:cxn ang="0">
                  <a:pos x="T0" y="T1"/>
                </a:cxn>
                <a:cxn ang="0">
                  <a:pos x="T2" y="T3"/>
                </a:cxn>
                <a:cxn ang="0">
                  <a:pos x="T4" y="T5"/>
                </a:cxn>
                <a:cxn ang="0">
                  <a:pos x="T6" y="T7"/>
                </a:cxn>
                <a:cxn ang="0">
                  <a:pos x="T8" y="T9"/>
                </a:cxn>
              </a:cxnLst>
              <a:rect l="0" t="0" r="r" b="b"/>
              <a:pathLst>
                <a:path w="317" h="297">
                  <a:moveTo>
                    <a:pt x="317" y="61"/>
                  </a:moveTo>
                  <a:lnTo>
                    <a:pt x="265" y="0"/>
                  </a:lnTo>
                  <a:lnTo>
                    <a:pt x="0" y="232"/>
                  </a:lnTo>
                  <a:lnTo>
                    <a:pt x="56" y="297"/>
                  </a:lnTo>
                  <a:lnTo>
                    <a:pt x="317"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Rectangle 37">
              <a:extLst>
                <a:ext uri="{FF2B5EF4-FFF2-40B4-BE49-F238E27FC236}">
                  <a16:creationId xmlns:a16="http://schemas.microsoft.com/office/drawing/2014/main" id="{FDDEDB4A-0A58-4096-9CD5-880AE2B596D1}"/>
                </a:ext>
              </a:extLst>
            </p:cNvPr>
            <p:cNvSpPr>
              <a:spLocks noChangeArrowheads="1"/>
            </p:cNvSpPr>
            <p:nvPr userDrawn="1"/>
          </p:nvSpPr>
          <p:spPr bwMode="auto">
            <a:xfrm>
              <a:off x="4057" y="2675"/>
              <a:ext cx="109" cy="4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38">
              <a:extLst>
                <a:ext uri="{FF2B5EF4-FFF2-40B4-BE49-F238E27FC236}">
                  <a16:creationId xmlns:a16="http://schemas.microsoft.com/office/drawing/2014/main" id="{A54AA8AF-8062-47D0-8DB0-066D0079F975}"/>
                </a:ext>
              </a:extLst>
            </p:cNvPr>
            <p:cNvSpPr>
              <a:spLocks/>
            </p:cNvSpPr>
            <p:nvPr userDrawn="1"/>
          </p:nvSpPr>
          <p:spPr bwMode="auto">
            <a:xfrm>
              <a:off x="4191" y="2252"/>
              <a:ext cx="836" cy="814"/>
            </a:xfrm>
            <a:custGeom>
              <a:avLst/>
              <a:gdLst>
                <a:gd name="T0" fmla="*/ 722 w 836"/>
                <a:gd name="T1" fmla="*/ 458 h 814"/>
                <a:gd name="T2" fmla="*/ 325 w 836"/>
                <a:gd name="T3" fmla="*/ 0 h 814"/>
                <a:gd name="T4" fmla="*/ 65 w 836"/>
                <a:gd name="T5" fmla="*/ 234 h 814"/>
                <a:gd name="T6" fmla="*/ 254 w 836"/>
                <a:gd name="T7" fmla="*/ 462 h 814"/>
                <a:gd name="T8" fmla="*/ 0 w 836"/>
                <a:gd name="T9" fmla="*/ 462 h 814"/>
                <a:gd name="T10" fmla="*/ 0 w 836"/>
                <a:gd name="T11" fmla="*/ 814 h 814"/>
                <a:gd name="T12" fmla="*/ 836 w 836"/>
                <a:gd name="T13" fmla="*/ 814 h 814"/>
                <a:gd name="T14" fmla="*/ 836 w 836"/>
                <a:gd name="T15" fmla="*/ 462 h 814"/>
                <a:gd name="T16" fmla="*/ 726 w 836"/>
                <a:gd name="T17" fmla="*/ 462 h 814"/>
                <a:gd name="T18" fmla="*/ 722 w 836"/>
                <a:gd name="T19" fmla="*/ 458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6" h="814">
                  <a:moveTo>
                    <a:pt x="722" y="458"/>
                  </a:moveTo>
                  <a:lnTo>
                    <a:pt x="325" y="0"/>
                  </a:lnTo>
                  <a:lnTo>
                    <a:pt x="65" y="234"/>
                  </a:lnTo>
                  <a:lnTo>
                    <a:pt x="254" y="462"/>
                  </a:lnTo>
                  <a:lnTo>
                    <a:pt x="0" y="462"/>
                  </a:lnTo>
                  <a:lnTo>
                    <a:pt x="0" y="814"/>
                  </a:lnTo>
                  <a:lnTo>
                    <a:pt x="836" y="814"/>
                  </a:lnTo>
                  <a:lnTo>
                    <a:pt x="836" y="462"/>
                  </a:lnTo>
                  <a:lnTo>
                    <a:pt x="726" y="462"/>
                  </a:lnTo>
                  <a:lnTo>
                    <a:pt x="722" y="4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Rectangle 39">
              <a:extLst>
                <a:ext uri="{FF2B5EF4-FFF2-40B4-BE49-F238E27FC236}">
                  <a16:creationId xmlns:a16="http://schemas.microsoft.com/office/drawing/2014/main" id="{714C1067-0DFF-4177-BCA2-DE0BB628968E}"/>
                </a:ext>
              </a:extLst>
            </p:cNvPr>
            <p:cNvSpPr>
              <a:spLocks noChangeArrowheads="1"/>
            </p:cNvSpPr>
            <p:nvPr userDrawn="1"/>
          </p:nvSpPr>
          <p:spPr bwMode="auto">
            <a:xfrm>
              <a:off x="5052" y="2675"/>
              <a:ext cx="109" cy="4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Rectangle 40">
              <a:extLst>
                <a:ext uri="{FF2B5EF4-FFF2-40B4-BE49-F238E27FC236}">
                  <a16:creationId xmlns:a16="http://schemas.microsoft.com/office/drawing/2014/main" id="{8D552996-F296-445B-809D-7522C427C7F0}"/>
                </a:ext>
              </a:extLst>
            </p:cNvPr>
            <p:cNvSpPr>
              <a:spLocks noChangeArrowheads="1"/>
            </p:cNvSpPr>
            <p:nvPr userDrawn="1"/>
          </p:nvSpPr>
          <p:spPr bwMode="auto">
            <a:xfrm>
              <a:off x="5186" y="2714"/>
              <a:ext cx="77"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18" name="Group 317"/>
          <p:cNvGrpSpPr/>
          <p:nvPr userDrawn="1"/>
        </p:nvGrpSpPr>
        <p:grpSpPr>
          <a:xfrm>
            <a:off x="624534" y="3798017"/>
            <a:ext cx="266796" cy="262114"/>
            <a:chOff x="12752388" y="3300413"/>
            <a:chExt cx="542925" cy="533400"/>
          </a:xfrm>
          <a:solidFill>
            <a:schemeClr val="tx1"/>
          </a:solidFill>
        </p:grpSpPr>
        <p:sp>
          <p:nvSpPr>
            <p:cNvPr id="319" name="Freeform 77"/>
            <p:cNvSpPr>
              <a:spLocks/>
            </p:cNvSpPr>
            <p:nvPr/>
          </p:nvSpPr>
          <p:spPr bwMode="auto">
            <a:xfrm>
              <a:off x="12882563" y="3406775"/>
              <a:ext cx="282575" cy="233363"/>
            </a:xfrm>
            <a:custGeom>
              <a:avLst/>
              <a:gdLst>
                <a:gd name="T0" fmla="*/ 152 w 178"/>
                <a:gd name="T1" fmla="*/ 0 h 147"/>
                <a:gd name="T2" fmla="*/ 35 w 178"/>
                <a:gd name="T3" fmla="*/ 0 h 147"/>
                <a:gd name="T4" fmla="*/ 35 w 178"/>
                <a:gd name="T5" fmla="*/ 41 h 147"/>
                <a:gd name="T6" fmla="*/ 0 w 178"/>
                <a:gd name="T7" fmla="*/ 41 h 147"/>
                <a:gd name="T8" fmla="*/ 0 w 178"/>
                <a:gd name="T9" fmla="*/ 72 h 147"/>
                <a:gd name="T10" fmla="*/ 15 w 178"/>
                <a:gd name="T11" fmla="*/ 72 h 147"/>
                <a:gd name="T12" fmla="*/ 15 w 178"/>
                <a:gd name="T13" fmla="*/ 128 h 147"/>
                <a:gd name="T14" fmla="*/ 83 w 178"/>
                <a:gd name="T15" fmla="*/ 128 h 147"/>
                <a:gd name="T16" fmla="*/ 83 w 178"/>
                <a:gd name="T17" fmla="*/ 147 h 147"/>
                <a:gd name="T18" fmla="*/ 112 w 178"/>
                <a:gd name="T19" fmla="*/ 147 h 147"/>
                <a:gd name="T20" fmla="*/ 112 w 178"/>
                <a:gd name="T21" fmla="*/ 114 h 147"/>
                <a:gd name="T22" fmla="*/ 178 w 178"/>
                <a:gd name="T23" fmla="*/ 114 h 147"/>
                <a:gd name="T24" fmla="*/ 178 w 178"/>
                <a:gd name="T25" fmla="*/ 86 h 147"/>
                <a:gd name="T26" fmla="*/ 152 w 178"/>
                <a:gd name="T27" fmla="*/ 86 h 147"/>
                <a:gd name="T28" fmla="*/ 152 w 178"/>
                <a:gd name="T2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8" h="147">
                  <a:moveTo>
                    <a:pt x="152" y="0"/>
                  </a:moveTo>
                  <a:lnTo>
                    <a:pt x="35" y="0"/>
                  </a:lnTo>
                  <a:lnTo>
                    <a:pt x="35" y="41"/>
                  </a:lnTo>
                  <a:lnTo>
                    <a:pt x="0" y="41"/>
                  </a:lnTo>
                  <a:lnTo>
                    <a:pt x="0" y="72"/>
                  </a:lnTo>
                  <a:lnTo>
                    <a:pt x="15" y="72"/>
                  </a:lnTo>
                  <a:lnTo>
                    <a:pt x="15" y="128"/>
                  </a:lnTo>
                  <a:lnTo>
                    <a:pt x="83" y="128"/>
                  </a:lnTo>
                  <a:lnTo>
                    <a:pt x="83" y="147"/>
                  </a:lnTo>
                  <a:lnTo>
                    <a:pt x="112" y="147"/>
                  </a:lnTo>
                  <a:lnTo>
                    <a:pt x="112" y="114"/>
                  </a:lnTo>
                  <a:lnTo>
                    <a:pt x="178" y="114"/>
                  </a:lnTo>
                  <a:lnTo>
                    <a:pt x="178" y="86"/>
                  </a:lnTo>
                  <a:lnTo>
                    <a:pt x="152" y="86"/>
                  </a:lnTo>
                  <a:lnTo>
                    <a:pt x="15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8"/>
            <p:cNvSpPr>
              <a:spLocks noEditPoints="1"/>
            </p:cNvSpPr>
            <p:nvPr/>
          </p:nvSpPr>
          <p:spPr bwMode="auto">
            <a:xfrm>
              <a:off x="12752388" y="3300413"/>
              <a:ext cx="542925" cy="533400"/>
            </a:xfrm>
            <a:custGeom>
              <a:avLst/>
              <a:gdLst>
                <a:gd name="T0" fmla="*/ 181 w 187"/>
                <a:gd name="T1" fmla="*/ 0 h 184"/>
                <a:gd name="T2" fmla="*/ 5 w 187"/>
                <a:gd name="T3" fmla="*/ 0 h 184"/>
                <a:gd name="T4" fmla="*/ 0 w 187"/>
                <a:gd name="T5" fmla="*/ 6 h 184"/>
                <a:gd name="T6" fmla="*/ 0 w 187"/>
                <a:gd name="T7" fmla="*/ 178 h 184"/>
                <a:gd name="T8" fmla="*/ 5 w 187"/>
                <a:gd name="T9" fmla="*/ 184 h 184"/>
                <a:gd name="T10" fmla="*/ 181 w 187"/>
                <a:gd name="T11" fmla="*/ 184 h 184"/>
                <a:gd name="T12" fmla="*/ 187 w 187"/>
                <a:gd name="T13" fmla="*/ 178 h 184"/>
                <a:gd name="T14" fmla="*/ 187 w 187"/>
                <a:gd name="T15" fmla="*/ 6 h 184"/>
                <a:gd name="T16" fmla="*/ 181 w 187"/>
                <a:gd name="T17" fmla="*/ 0 h 184"/>
                <a:gd name="T18" fmla="*/ 29 w 187"/>
                <a:gd name="T19" fmla="*/ 43 h 184"/>
                <a:gd name="T20" fmla="*/ 48 w 187"/>
                <a:gd name="T21" fmla="*/ 43 h 184"/>
                <a:gd name="T22" fmla="*/ 48 w 187"/>
                <a:gd name="T23" fmla="*/ 22 h 184"/>
                <a:gd name="T24" fmla="*/ 144 w 187"/>
                <a:gd name="T25" fmla="*/ 22 h 184"/>
                <a:gd name="T26" fmla="*/ 144 w 187"/>
                <a:gd name="T27" fmla="*/ 68 h 184"/>
                <a:gd name="T28" fmla="*/ 157 w 187"/>
                <a:gd name="T29" fmla="*/ 68 h 184"/>
                <a:gd name="T30" fmla="*/ 157 w 187"/>
                <a:gd name="T31" fmla="*/ 115 h 184"/>
                <a:gd name="T32" fmla="*/ 122 w 187"/>
                <a:gd name="T33" fmla="*/ 115 h 184"/>
                <a:gd name="T34" fmla="*/ 122 w 187"/>
                <a:gd name="T35" fmla="*/ 133 h 184"/>
                <a:gd name="T36" fmla="*/ 75 w 187"/>
                <a:gd name="T37" fmla="*/ 133 h 184"/>
                <a:gd name="T38" fmla="*/ 75 w 187"/>
                <a:gd name="T39" fmla="*/ 123 h 184"/>
                <a:gd name="T40" fmla="*/ 37 w 187"/>
                <a:gd name="T41" fmla="*/ 123 h 184"/>
                <a:gd name="T42" fmla="*/ 37 w 187"/>
                <a:gd name="T43" fmla="*/ 91 h 184"/>
                <a:gd name="T44" fmla="*/ 29 w 187"/>
                <a:gd name="T45" fmla="*/ 91 h 184"/>
                <a:gd name="T46" fmla="*/ 29 w 187"/>
                <a:gd name="T47" fmla="*/ 43 h 184"/>
                <a:gd name="T48" fmla="*/ 158 w 187"/>
                <a:gd name="T49" fmla="*/ 156 h 184"/>
                <a:gd name="T50" fmla="*/ 138 w 187"/>
                <a:gd name="T51" fmla="*/ 171 h 184"/>
                <a:gd name="T52" fmla="*/ 136 w 187"/>
                <a:gd name="T53" fmla="*/ 170 h 184"/>
                <a:gd name="T54" fmla="*/ 136 w 187"/>
                <a:gd name="T55" fmla="*/ 160 h 184"/>
                <a:gd name="T56" fmla="*/ 93 w 187"/>
                <a:gd name="T57" fmla="*/ 160 h 184"/>
                <a:gd name="T58" fmla="*/ 51 w 187"/>
                <a:gd name="T59" fmla="*/ 160 h 184"/>
                <a:gd name="T60" fmla="*/ 51 w 187"/>
                <a:gd name="T61" fmla="*/ 170 h 184"/>
                <a:gd name="T62" fmla="*/ 49 w 187"/>
                <a:gd name="T63" fmla="*/ 171 h 184"/>
                <a:gd name="T64" fmla="*/ 29 w 187"/>
                <a:gd name="T65" fmla="*/ 156 h 184"/>
                <a:gd name="T66" fmla="*/ 29 w 187"/>
                <a:gd name="T67" fmla="*/ 152 h 184"/>
                <a:gd name="T68" fmla="*/ 49 w 187"/>
                <a:gd name="T69" fmla="*/ 136 h 184"/>
                <a:gd name="T70" fmla="*/ 51 w 187"/>
                <a:gd name="T71" fmla="*/ 138 h 184"/>
                <a:gd name="T72" fmla="*/ 51 w 187"/>
                <a:gd name="T73" fmla="*/ 147 h 184"/>
                <a:gd name="T74" fmla="*/ 93 w 187"/>
                <a:gd name="T75" fmla="*/ 147 h 184"/>
                <a:gd name="T76" fmla="*/ 136 w 187"/>
                <a:gd name="T77" fmla="*/ 147 h 184"/>
                <a:gd name="T78" fmla="*/ 136 w 187"/>
                <a:gd name="T79" fmla="*/ 138 h 184"/>
                <a:gd name="T80" fmla="*/ 138 w 187"/>
                <a:gd name="T81" fmla="*/ 136 h 184"/>
                <a:gd name="T82" fmla="*/ 158 w 187"/>
                <a:gd name="T83" fmla="*/ 152 h 184"/>
                <a:gd name="T84" fmla="*/ 158 w 187"/>
                <a:gd name="T85" fmla="*/ 15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7" h="184">
                  <a:moveTo>
                    <a:pt x="181" y="0"/>
                  </a:moveTo>
                  <a:cubicBezTo>
                    <a:pt x="5" y="0"/>
                    <a:pt x="5" y="0"/>
                    <a:pt x="5" y="0"/>
                  </a:cubicBezTo>
                  <a:cubicBezTo>
                    <a:pt x="2" y="0"/>
                    <a:pt x="0" y="2"/>
                    <a:pt x="0" y="6"/>
                  </a:cubicBezTo>
                  <a:cubicBezTo>
                    <a:pt x="0" y="178"/>
                    <a:pt x="0" y="178"/>
                    <a:pt x="0" y="178"/>
                  </a:cubicBezTo>
                  <a:cubicBezTo>
                    <a:pt x="0" y="181"/>
                    <a:pt x="2" y="184"/>
                    <a:pt x="5" y="184"/>
                  </a:cubicBezTo>
                  <a:cubicBezTo>
                    <a:pt x="181" y="184"/>
                    <a:pt x="181" y="184"/>
                    <a:pt x="181" y="184"/>
                  </a:cubicBezTo>
                  <a:cubicBezTo>
                    <a:pt x="184" y="184"/>
                    <a:pt x="187" y="181"/>
                    <a:pt x="187" y="178"/>
                  </a:cubicBezTo>
                  <a:cubicBezTo>
                    <a:pt x="187" y="6"/>
                    <a:pt x="187" y="6"/>
                    <a:pt x="187" y="6"/>
                  </a:cubicBezTo>
                  <a:cubicBezTo>
                    <a:pt x="187" y="2"/>
                    <a:pt x="184" y="0"/>
                    <a:pt x="181" y="0"/>
                  </a:cubicBezTo>
                  <a:close/>
                  <a:moveTo>
                    <a:pt x="29" y="43"/>
                  </a:moveTo>
                  <a:cubicBezTo>
                    <a:pt x="48" y="43"/>
                    <a:pt x="48" y="43"/>
                    <a:pt x="48" y="43"/>
                  </a:cubicBezTo>
                  <a:cubicBezTo>
                    <a:pt x="48" y="22"/>
                    <a:pt x="48" y="22"/>
                    <a:pt x="48" y="22"/>
                  </a:cubicBezTo>
                  <a:cubicBezTo>
                    <a:pt x="144" y="22"/>
                    <a:pt x="144" y="22"/>
                    <a:pt x="144" y="22"/>
                  </a:cubicBezTo>
                  <a:cubicBezTo>
                    <a:pt x="144" y="68"/>
                    <a:pt x="144" y="68"/>
                    <a:pt x="144" y="68"/>
                  </a:cubicBezTo>
                  <a:cubicBezTo>
                    <a:pt x="157" y="68"/>
                    <a:pt x="157" y="68"/>
                    <a:pt x="157" y="68"/>
                  </a:cubicBezTo>
                  <a:cubicBezTo>
                    <a:pt x="157" y="115"/>
                    <a:pt x="157" y="115"/>
                    <a:pt x="157" y="115"/>
                  </a:cubicBezTo>
                  <a:cubicBezTo>
                    <a:pt x="122" y="115"/>
                    <a:pt x="122" y="115"/>
                    <a:pt x="122" y="115"/>
                  </a:cubicBezTo>
                  <a:cubicBezTo>
                    <a:pt x="122" y="133"/>
                    <a:pt x="122" y="133"/>
                    <a:pt x="122" y="133"/>
                  </a:cubicBezTo>
                  <a:cubicBezTo>
                    <a:pt x="75" y="133"/>
                    <a:pt x="75" y="133"/>
                    <a:pt x="75" y="133"/>
                  </a:cubicBezTo>
                  <a:cubicBezTo>
                    <a:pt x="75" y="123"/>
                    <a:pt x="75" y="123"/>
                    <a:pt x="75" y="123"/>
                  </a:cubicBezTo>
                  <a:cubicBezTo>
                    <a:pt x="37" y="123"/>
                    <a:pt x="37" y="123"/>
                    <a:pt x="37" y="123"/>
                  </a:cubicBezTo>
                  <a:cubicBezTo>
                    <a:pt x="37" y="91"/>
                    <a:pt x="37" y="91"/>
                    <a:pt x="37" y="91"/>
                  </a:cubicBezTo>
                  <a:cubicBezTo>
                    <a:pt x="29" y="91"/>
                    <a:pt x="29" y="91"/>
                    <a:pt x="29" y="91"/>
                  </a:cubicBezTo>
                  <a:lnTo>
                    <a:pt x="29" y="43"/>
                  </a:lnTo>
                  <a:close/>
                  <a:moveTo>
                    <a:pt x="158" y="156"/>
                  </a:moveTo>
                  <a:cubicBezTo>
                    <a:pt x="138" y="171"/>
                    <a:pt x="138" y="171"/>
                    <a:pt x="138" y="171"/>
                  </a:cubicBezTo>
                  <a:cubicBezTo>
                    <a:pt x="137" y="172"/>
                    <a:pt x="136" y="172"/>
                    <a:pt x="136" y="170"/>
                  </a:cubicBezTo>
                  <a:cubicBezTo>
                    <a:pt x="136" y="160"/>
                    <a:pt x="136" y="160"/>
                    <a:pt x="136" y="160"/>
                  </a:cubicBezTo>
                  <a:cubicBezTo>
                    <a:pt x="93" y="160"/>
                    <a:pt x="93" y="160"/>
                    <a:pt x="93" y="160"/>
                  </a:cubicBezTo>
                  <a:cubicBezTo>
                    <a:pt x="51" y="160"/>
                    <a:pt x="51" y="160"/>
                    <a:pt x="51" y="160"/>
                  </a:cubicBezTo>
                  <a:cubicBezTo>
                    <a:pt x="51" y="170"/>
                    <a:pt x="51" y="170"/>
                    <a:pt x="51" y="170"/>
                  </a:cubicBezTo>
                  <a:cubicBezTo>
                    <a:pt x="51" y="172"/>
                    <a:pt x="50" y="172"/>
                    <a:pt x="49" y="171"/>
                  </a:cubicBezTo>
                  <a:cubicBezTo>
                    <a:pt x="29" y="156"/>
                    <a:pt x="29" y="156"/>
                    <a:pt x="29" y="156"/>
                  </a:cubicBezTo>
                  <a:cubicBezTo>
                    <a:pt x="27" y="155"/>
                    <a:pt x="27" y="153"/>
                    <a:pt x="29" y="152"/>
                  </a:cubicBezTo>
                  <a:cubicBezTo>
                    <a:pt x="49" y="136"/>
                    <a:pt x="49" y="136"/>
                    <a:pt x="49" y="136"/>
                  </a:cubicBezTo>
                  <a:cubicBezTo>
                    <a:pt x="50" y="135"/>
                    <a:pt x="51" y="136"/>
                    <a:pt x="51" y="138"/>
                  </a:cubicBezTo>
                  <a:cubicBezTo>
                    <a:pt x="51" y="147"/>
                    <a:pt x="51" y="147"/>
                    <a:pt x="51" y="147"/>
                  </a:cubicBezTo>
                  <a:cubicBezTo>
                    <a:pt x="93" y="147"/>
                    <a:pt x="93" y="147"/>
                    <a:pt x="93" y="147"/>
                  </a:cubicBezTo>
                  <a:cubicBezTo>
                    <a:pt x="136" y="147"/>
                    <a:pt x="136" y="147"/>
                    <a:pt x="136" y="147"/>
                  </a:cubicBezTo>
                  <a:cubicBezTo>
                    <a:pt x="136" y="138"/>
                    <a:pt x="136" y="138"/>
                    <a:pt x="136" y="138"/>
                  </a:cubicBezTo>
                  <a:cubicBezTo>
                    <a:pt x="136" y="136"/>
                    <a:pt x="137" y="135"/>
                    <a:pt x="138" y="136"/>
                  </a:cubicBezTo>
                  <a:cubicBezTo>
                    <a:pt x="158" y="152"/>
                    <a:pt x="158" y="152"/>
                    <a:pt x="158" y="152"/>
                  </a:cubicBezTo>
                  <a:cubicBezTo>
                    <a:pt x="159" y="153"/>
                    <a:pt x="159" y="155"/>
                    <a:pt x="158"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0" name="Group 299"/>
          <p:cNvGrpSpPr/>
          <p:nvPr userDrawn="1"/>
        </p:nvGrpSpPr>
        <p:grpSpPr>
          <a:xfrm>
            <a:off x="2511590" y="3776563"/>
            <a:ext cx="354170" cy="305022"/>
            <a:chOff x="9696450" y="6248400"/>
            <a:chExt cx="720726" cy="620713"/>
          </a:xfrm>
          <a:solidFill>
            <a:schemeClr val="tx1"/>
          </a:solidFill>
        </p:grpSpPr>
        <p:sp>
          <p:nvSpPr>
            <p:cNvPr id="301" name="Freeform 55"/>
            <p:cNvSpPr>
              <a:spLocks noEditPoints="1"/>
            </p:cNvSpPr>
            <p:nvPr/>
          </p:nvSpPr>
          <p:spPr bwMode="auto">
            <a:xfrm>
              <a:off x="10186988" y="6640513"/>
              <a:ext cx="230188" cy="228600"/>
            </a:xfrm>
            <a:custGeom>
              <a:avLst/>
              <a:gdLst>
                <a:gd name="T0" fmla="*/ 74 w 79"/>
                <a:gd name="T1" fmla="*/ 31 h 79"/>
                <a:gd name="T2" fmla="*/ 30 w 79"/>
                <a:gd name="T3" fmla="*/ 5 h 79"/>
                <a:gd name="T4" fmla="*/ 5 w 79"/>
                <a:gd name="T5" fmla="*/ 49 h 79"/>
                <a:gd name="T6" fmla="*/ 49 w 79"/>
                <a:gd name="T7" fmla="*/ 74 h 79"/>
                <a:gd name="T8" fmla="*/ 74 w 79"/>
                <a:gd name="T9" fmla="*/ 31 h 79"/>
                <a:gd name="T10" fmla="*/ 43 w 79"/>
                <a:gd name="T11" fmla="*/ 55 h 79"/>
                <a:gd name="T12" fmla="*/ 25 w 79"/>
                <a:gd name="T13" fmla="*/ 44 h 79"/>
                <a:gd name="T14" fmla="*/ 36 w 79"/>
                <a:gd name="T15" fmla="*/ 25 h 79"/>
                <a:gd name="T16" fmla="*/ 54 w 79"/>
                <a:gd name="T17" fmla="*/ 36 h 79"/>
                <a:gd name="T18" fmla="*/ 43 w 79"/>
                <a:gd name="T19" fmla="*/ 55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79">
                  <a:moveTo>
                    <a:pt x="74" y="31"/>
                  </a:moveTo>
                  <a:cubicBezTo>
                    <a:pt x="69" y="11"/>
                    <a:pt x="49" y="0"/>
                    <a:pt x="30" y="5"/>
                  </a:cubicBezTo>
                  <a:cubicBezTo>
                    <a:pt x="11" y="10"/>
                    <a:pt x="0" y="30"/>
                    <a:pt x="5" y="49"/>
                  </a:cubicBezTo>
                  <a:cubicBezTo>
                    <a:pt x="10" y="68"/>
                    <a:pt x="30" y="79"/>
                    <a:pt x="49" y="74"/>
                  </a:cubicBezTo>
                  <a:cubicBezTo>
                    <a:pt x="68" y="69"/>
                    <a:pt x="79" y="50"/>
                    <a:pt x="74" y="31"/>
                  </a:cubicBezTo>
                  <a:close/>
                  <a:moveTo>
                    <a:pt x="43" y="55"/>
                  </a:moveTo>
                  <a:cubicBezTo>
                    <a:pt x="35" y="57"/>
                    <a:pt x="27" y="52"/>
                    <a:pt x="25" y="44"/>
                  </a:cubicBezTo>
                  <a:cubicBezTo>
                    <a:pt x="23" y="36"/>
                    <a:pt x="27" y="27"/>
                    <a:pt x="36" y="25"/>
                  </a:cubicBezTo>
                  <a:cubicBezTo>
                    <a:pt x="44" y="23"/>
                    <a:pt x="52" y="28"/>
                    <a:pt x="54" y="36"/>
                  </a:cubicBezTo>
                  <a:cubicBezTo>
                    <a:pt x="56" y="44"/>
                    <a:pt x="52" y="52"/>
                    <a:pt x="4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56"/>
            <p:cNvSpPr>
              <a:spLocks noEditPoints="1"/>
            </p:cNvSpPr>
            <p:nvPr/>
          </p:nvSpPr>
          <p:spPr bwMode="auto">
            <a:xfrm>
              <a:off x="9696450" y="6483350"/>
              <a:ext cx="558800" cy="342900"/>
            </a:xfrm>
            <a:custGeom>
              <a:avLst/>
              <a:gdLst>
                <a:gd name="T0" fmla="*/ 186 w 192"/>
                <a:gd name="T1" fmla="*/ 79 h 118"/>
                <a:gd name="T2" fmla="*/ 186 w 192"/>
                <a:gd name="T3" fmla="*/ 79 h 118"/>
                <a:gd name="T4" fmla="*/ 52 w 192"/>
                <a:gd name="T5" fmla="*/ 1 h 118"/>
                <a:gd name="T6" fmla="*/ 46 w 192"/>
                <a:gd name="T7" fmla="*/ 0 h 118"/>
                <a:gd name="T8" fmla="*/ 15 w 192"/>
                <a:gd name="T9" fmla="*/ 0 h 118"/>
                <a:gd name="T10" fmla="*/ 0 w 192"/>
                <a:gd name="T11" fmla="*/ 15 h 118"/>
                <a:gd name="T12" fmla="*/ 15 w 192"/>
                <a:gd name="T13" fmla="*/ 29 h 118"/>
                <a:gd name="T14" fmla="*/ 27 w 192"/>
                <a:gd name="T15" fmla="*/ 23 h 118"/>
                <a:gd name="T16" fmla="*/ 43 w 192"/>
                <a:gd name="T17" fmla="*/ 22 h 118"/>
                <a:gd name="T18" fmla="*/ 80 w 192"/>
                <a:gd name="T19" fmla="*/ 44 h 118"/>
                <a:gd name="T20" fmla="*/ 85 w 192"/>
                <a:gd name="T21" fmla="*/ 96 h 118"/>
                <a:gd name="T22" fmla="*/ 109 w 192"/>
                <a:gd name="T23" fmla="*/ 118 h 118"/>
                <a:gd name="T24" fmla="*/ 111 w 192"/>
                <a:gd name="T25" fmla="*/ 118 h 118"/>
                <a:gd name="T26" fmla="*/ 139 w 192"/>
                <a:gd name="T27" fmla="*/ 96 h 118"/>
                <a:gd name="T28" fmla="*/ 143 w 192"/>
                <a:gd name="T29" fmla="*/ 80 h 118"/>
                <a:gd name="T30" fmla="*/ 174 w 192"/>
                <a:gd name="T31" fmla="*/ 98 h 118"/>
                <a:gd name="T32" fmla="*/ 189 w 192"/>
                <a:gd name="T33" fmla="*/ 94 h 118"/>
                <a:gd name="T34" fmla="*/ 186 w 192"/>
                <a:gd name="T35" fmla="*/ 79 h 118"/>
                <a:gd name="T36" fmla="*/ 123 w 192"/>
                <a:gd name="T37" fmla="*/ 93 h 118"/>
                <a:gd name="T38" fmla="*/ 111 w 192"/>
                <a:gd name="T39" fmla="*/ 102 h 118"/>
                <a:gd name="T40" fmla="*/ 109 w 192"/>
                <a:gd name="T41" fmla="*/ 102 h 118"/>
                <a:gd name="T42" fmla="*/ 105 w 192"/>
                <a:gd name="T43" fmla="*/ 101 h 118"/>
                <a:gd name="T44" fmla="*/ 105 w 192"/>
                <a:gd name="T45" fmla="*/ 101 h 118"/>
                <a:gd name="T46" fmla="*/ 101 w 192"/>
                <a:gd name="T47" fmla="*/ 95 h 118"/>
                <a:gd name="T48" fmla="*/ 97 w 192"/>
                <a:gd name="T49" fmla="*/ 53 h 118"/>
                <a:gd name="T50" fmla="*/ 128 w 192"/>
                <a:gd name="T51" fmla="*/ 71 h 118"/>
                <a:gd name="T52" fmla="*/ 123 w 192"/>
                <a:gd name="T53" fmla="*/ 9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18">
                  <a:moveTo>
                    <a:pt x="186" y="79"/>
                  </a:moveTo>
                  <a:cubicBezTo>
                    <a:pt x="186" y="79"/>
                    <a:pt x="186" y="79"/>
                    <a:pt x="186" y="79"/>
                  </a:cubicBezTo>
                  <a:cubicBezTo>
                    <a:pt x="52" y="1"/>
                    <a:pt x="52" y="1"/>
                    <a:pt x="52" y="1"/>
                  </a:cubicBezTo>
                  <a:cubicBezTo>
                    <a:pt x="51" y="1"/>
                    <a:pt x="49" y="0"/>
                    <a:pt x="46" y="0"/>
                  </a:cubicBezTo>
                  <a:cubicBezTo>
                    <a:pt x="15" y="0"/>
                    <a:pt x="15" y="0"/>
                    <a:pt x="15" y="0"/>
                  </a:cubicBezTo>
                  <a:cubicBezTo>
                    <a:pt x="7" y="0"/>
                    <a:pt x="0" y="7"/>
                    <a:pt x="0" y="15"/>
                  </a:cubicBezTo>
                  <a:cubicBezTo>
                    <a:pt x="0" y="23"/>
                    <a:pt x="7" y="29"/>
                    <a:pt x="15" y="29"/>
                  </a:cubicBezTo>
                  <a:cubicBezTo>
                    <a:pt x="20" y="29"/>
                    <a:pt x="24" y="27"/>
                    <a:pt x="27" y="23"/>
                  </a:cubicBezTo>
                  <a:cubicBezTo>
                    <a:pt x="43" y="22"/>
                    <a:pt x="43" y="22"/>
                    <a:pt x="43" y="22"/>
                  </a:cubicBezTo>
                  <a:cubicBezTo>
                    <a:pt x="80" y="44"/>
                    <a:pt x="80" y="44"/>
                    <a:pt x="80" y="44"/>
                  </a:cubicBezTo>
                  <a:cubicBezTo>
                    <a:pt x="85" y="96"/>
                    <a:pt x="85" y="96"/>
                    <a:pt x="85" y="96"/>
                  </a:cubicBezTo>
                  <a:cubicBezTo>
                    <a:pt x="86" y="108"/>
                    <a:pt x="97" y="118"/>
                    <a:pt x="109" y="118"/>
                  </a:cubicBezTo>
                  <a:cubicBezTo>
                    <a:pt x="111" y="118"/>
                    <a:pt x="111" y="118"/>
                    <a:pt x="111" y="118"/>
                  </a:cubicBezTo>
                  <a:cubicBezTo>
                    <a:pt x="124" y="118"/>
                    <a:pt x="136" y="108"/>
                    <a:pt x="139" y="96"/>
                  </a:cubicBezTo>
                  <a:cubicBezTo>
                    <a:pt x="143" y="80"/>
                    <a:pt x="143" y="80"/>
                    <a:pt x="143" y="80"/>
                  </a:cubicBezTo>
                  <a:cubicBezTo>
                    <a:pt x="174" y="98"/>
                    <a:pt x="174" y="98"/>
                    <a:pt x="174" y="98"/>
                  </a:cubicBezTo>
                  <a:cubicBezTo>
                    <a:pt x="179" y="101"/>
                    <a:pt x="186" y="99"/>
                    <a:pt x="189" y="94"/>
                  </a:cubicBezTo>
                  <a:cubicBezTo>
                    <a:pt x="192" y="88"/>
                    <a:pt x="191" y="82"/>
                    <a:pt x="186" y="79"/>
                  </a:cubicBezTo>
                  <a:close/>
                  <a:moveTo>
                    <a:pt x="123" y="93"/>
                  </a:moveTo>
                  <a:cubicBezTo>
                    <a:pt x="122" y="98"/>
                    <a:pt x="116" y="102"/>
                    <a:pt x="111" y="102"/>
                  </a:cubicBezTo>
                  <a:cubicBezTo>
                    <a:pt x="109" y="102"/>
                    <a:pt x="109" y="102"/>
                    <a:pt x="109" y="102"/>
                  </a:cubicBezTo>
                  <a:cubicBezTo>
                    <a:pt x="107" y="102"/>
                    <a:pt x="106" y="102"/>
                    <a:pt x="105" y="101"/>
                  </a:cubicBezTo>
                  <a:cubicBezTo>
                    <a:pt x="105" y="101"/>
                    <a:pt x="105" y="101"/>
                    <a:pt x="105" y="101"/>
                  </a:cubicBezTo>
                  <a:cubicBezTo>
                    <a:pt x="103" y="100"/>
                    <a:pt x="101" y="97"/>
                    <a:pt x="101" y="95"/>
                  </a:cubicBezTo>
                  <a:cubicBezTo>
                    <a:pt x="97" y="53"/>
                    <a:pt x="97" y="53"/>
                    <a:pt x="97" y="53"/>
                  </a:cubicBezTo>
                  <a:cubicBezTo>
                    <a:pt x="128" y="71"/>
                    <a:pt x="128" y="71"/>
                    <a:pt x="128" y="71"/>
                  </a:cubicBezTo>
                  <a:lnTo>
                    <a:pt x="123" y="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57"/>
            <p:cNvSpPr>
              <a:spLocks/>
            </p:cNvSpPr>
            <p:nvPr/>
          </p:nvSpPr>
          <p:spPr bwMode="auto">
            <a:xfrm>
              <a:off x="9909175" y="6413500"/>
              <a:ext cx="490538" cy="231775"/>
            </a:xfrm>
            <a:custGeom>
              <a:avLst/>
              <a:gdLst>
                <a:gd name="T0" fmla="*/ 161 w 169"/>
                <a:gd name="T1" fmla="*/ 0 h 80"/>
                <a:gd name="T2" fmla="*/ 8 w 169"/>
                <a:gd name="T3" fmla="*/ 0 h 80"/>
                <a:gd name="T4" fmla="*/ 0 w 169"/>
                <a:gd name="T5" fmla="*/ 8 h 80"/>
                <a:gd name="T6" fmla="*/ 8 w 169"/>
                <a:gd name="T7" fmla="*/ 16 h 80"/>
                <a:gd name="T8" fmla="*/ 8 w 169"/>
                <a:gd name="T9" fmla="*/ 24 h 80"/>
                <a:gd name="T10" fmla="*/ 105 w 169"/>
                <a:gd name="T11" fmla="*/ 80 h 80"/>
                <a:gd name="T12" fmla="*/ 161 w 169"/>
                <a:gd name="T13" fmla="*/ 16 h 80"/>
                <a:gd name="T14" fmla="*/ 169 w 169"/>
                <a:gd name="T15" fmla="*/ 8 h 80"/>
                <a:gd name="T16" fmla="*/ 161 w 169"/>
                <a:gd name="T17"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80">
                  <a:moveTo>
                    <a:pt x="161" y="0"/>
                  </a:moveTo>
                  <a:cubicBezTo>
                    <a:pt x="8" y="0"/>
                    <a:pt x="8" y="0"/>
                    <a:pt x="8" y="0"/>
                  </a:cubicBezTo>
                  <a:cubicBezTo>
                    <a:pt x="3" y="0"/>
                    <a:pt x="0" y="4"/>
                    <a:pt x="0" y="8"/>
                  </a:cubicBezTo>
                  <a:cubicBezTo>
                    <a:pt x="0" y="12"/>
                    <a:pt x="3" y="16"/>
                    <a:pt x="8" y="16"/>
                  </a:cubicBezTo>
                  <a:cubicBezTo>
                    <a:pt x="8" y="24"/>
                    <a:pt x="8" y="24"/>
                    <a:pt x="8" y="24"/>
                  </a:cubicBezTo>
                  <a:cubicBezTo>
                    <a:pt x="105" y="80"/>
                    <a:pt x="105" y="80"/>
                    <a:pt x="105" y="80"/>
                  </a:cubicBezTo>
                  <a:cubicBezTo>
                    <a:pt x="161" y="16"/>
                    <a:pt x="161" y="16"/>
                    <a:pt x="161" y="16"/>
                  </a:cubicBezTo>
                  <a:cubicBezTo>
                    <a:pt x="165" y="16"/>
                    <a:pt x="169" y="12"/>
                    <a:pt x="169" y="8"/>
                  </a:cubicBezTo>
                  <a:cubicBezTo>
                    <a:pt x="169" y="4"/>
                    <a:pt x="165" y="0"/>
                    <a:pt x="16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58"/>
            <p:cNvSpPr>
              <a:spLocks/>
            </p:cNvSpPr>
            <p:nvPr/>
          </p:nvSpPr>
          <p:spPr bwMode="auto">
            <a:xfrm>
              <a:off x="10015538" y="6248400"/>
              <a:ext cx="311150" cy="119063"/>
            </a:xfrm>
            <a:custGeom>
              <a:avLst/>
              <a:gdLst>
                <a:gd name="T0" fmla="*/ 99 w 107"/>
                <a:gd name="T1" fmla="*/ 41 h 41"/>
                <a:gd name="T2" fmla="*/ 73 w 107"/>
                <a:gd name="T3" fmla="*/ 12 h 41"/>
                <a:gd name="T4" fmla="*/ 23 w 107"/>
                <a:gd name="T5" fmla="*/ 21 h 41"/>
                <a:gd name="T6" fmla="*/ 0 w 107"/>
                <a:gd name="T7" fmla="*/ 41 h 41"/>
                <a:gd name="T8" fmla="*/ 99 w 107"/>
                <a:gd name="T9" fmla="*/ 41 h 41"/>
              </a:gdLst>
              <a:ahLst/>
              <a:cxnLst>
                <a:cxn ang="0">
                  <a:pos x="T0" y="T1"/>
                </a:cxn>
                <a:cxn ang="0">
                  <a:pos x="T2" y="T3"/>
                </a:cxn>
                <a:cxn ang="0">
                  <a:pos x="T4" y="T5"/>
                </a:cxn>
                <a:cxn ang="0">
                  <a:pos x="T6" y="T7"/>
                </a:cxn>
                <a:cxn ang="0">
                  <a:pos x="T8" y="T9"/>
                </a:cxn>
              </a:cxnLst>
              <a:rect l="0" t="0" r="r" b="b"/>
              <a:pathLst>
                <a:path w="107" h="41">
                  <a:moveTo>
                    <a:pt x="99" y="41"/>
                  </a:moveTo>
                  <a:cubicBezTo>
                    <a:pt x="107" y="27"/>
                    <a:pt x="80" y="22"/>
                    <a:pt x="73" y="12"/>
                  </a:cubicBezTo>
                  <a:cubicBezTo>
                    <a:pt x="64" y="0"/>
                    <a:pt x="54" y="32"/>
                    <a:pt x="23" y="21"/>
                  </a:cubicBezTo>
                  <a:cubicBezTo>
                    <a:pt x="5" y="14"/>
                    <a:pt x="1" y="33"/>
                    <a:pt x="0" y="41"/>
                  </a:cubicBezTo>
                  <a:lnTo>
                    <a:pt x="99"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08" name="Freeform 63"/>
          <p:cNvSpPr>
            <a:spLocks noEditPoints="1"/>
          </p:cNvSpPr>
          <p:nvPr userDrawn="1"/>
        </p:nvSpPr>
        <p:spPr bwMode="auto">
          <a:xfrm>
            <a:off x="1262152" y="3800357"/>
            <a:ext cx="248852" cy="257434"/>
          </a:xfrm>
          <a:custGeom>
            <a:avLst/>
            <a:gdLst>
              <a:gd name="T0" fmla="*/ 174 w 174"/>
              <a:gd name="T1" fmla="*/ 163 h 180"/>
              <a:gd name="T2" fmla="*/ 174 w 174"/>
              <a:gd name="T3" fmla="*/ 175 h 180"/>
              <a:gd name="T4" fmla="*/ 169 w 174"/>
              <a:gd name="T5" fmla="*/ 180 h 180"/>
              <a:gd name="T6" fmla="*/ 6 w 174"/>
              <a:gd name="T7" fmla="*/ 180 h 180"/>
              <a:gd name="T8" fmla="*/ 0 w 174"/>
              <a:gd name="T9" fmla="*/ 175 h 180"/>
              <a:gd name="T10" fmla="*/ 0 w 174"/>
              <a:gd name="T11" fmla="*/ 163 h 180"/>
              <a:gd name="T12" fmla="*/ 6 w 174"/>
              <a:gd name="T13" fmla="*/ 158 h 180"/>
              <a:gd name="T14" fmla="*/ 17 w 174"/>
              <a:gd name="T15" fmla="*/ 158 h 180"/>
              <a:gd name="T16" fmla="*/ 24 w 174"/>
              <a:gd name="T17" fmla="*/ 153 h 180"/>
              <a:gd name="T18" fmla="*/ 29 w 174"/>
              <a:gd name="T19" fmla="*/ 134 h 180"/>
              <a:gd name="T20" fmla="*/ 146 w 174"/>
              <a:gd name="T21" fmla="*/ 134 h 180"/>
              <a:gd name="T22" fmla="*/ 151 w 174"/>
              <a:gd name="T23" fmla="*/ 153 h 180"/>
              <a:gd name="T24" fmla="*/ 157 w 174"/>
              <a:gd name="T25" fmla="*/ 158 h 180"/>
              <a:gd name="T26" fmla="*/ 169 w 174"/>
              <a:gd name="T27" fmla="*/ 158 h 180"/>
              <a:gd name="T28" fmla="*/ 174 w 174"/>
              <a:gd name="T29" fmla="*/ 163 h 180"/>
              <a:gd name="T30" fmla="*/ 38 w 174"/>
              <a:gd name="T31" fmla="*/ 101 h 180"/>
              <a:gd name="T32" fmla="*/ 137 w 174"/>
              <a:gd name="T33" fmla="*/ 101 h 180"/>
              <a:gd name="T34" fmla="*/ 128 w 174"/>
              <a:gd name="T35" fmla="*/ 68 h 180"/>
              <a:gd name="T36" fmla="*/ 46 w 174"/>
              <a:gd name="T37" fmla="*/ 68 h 180"/>
              <a:gd name="T38" fmla="*/ 38 w 174"/>
              <a:gd name="T39" fmla="*/ 101 h 180"/>
              <a:gd name="T40" fmla="*/ 119 w 174"/>
              <a:gd name="T41" fmla="*/ 35 h 180"/>
              <a:gd name="T42" fmla="*/ 112 w 174"/>
              <a:gd name="T43" fmla="*/ 5 h 180"/>
              <a:gd name="T44" fmla="*/ 105 w 174"/>
              <a:gd name="T45" fmla="*/ 0 h 180"/>
              <a:gd name="T46" fmla="*/ 70 w 174"/>
              <a:gd name="T47" fmla="*/ 0 h 180"/>
              <a:gd name="T48" fmla="*/ 63 w 174"/>
              <a:gd name="T49" fmla="*/ 5 h 180"/>
              <a:gd name="T50" fmla="*/ 55 w 174"/>
              <a:gd name="T51" fmla="*/ 35 h 180"/>
              <a:gd name="T52" fmla="*/ 119 w 174"/>
              <a:gd name="T53" fmla="*/ 35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4" h="180">
                <a:moveTo>
                  <a:pt x="174" y="163"/>
                </a:moveTo>
                <a:cubicBezTo>
                  <a:pt x="174" y="175"/>
                  <a:pt x="174" y="175"/>
                  <a:pt x="174" y="175"/>
                </a:cubicBezTo>
                <a:cubicBezTo>
                  <a:pt x="174" y="178"/>
                  <a:pt x="172" y="180"/>
                  <a:pt x="169" y="180"/>
                </a:cubicBezTo>
                <a:cubicBezTo>
                  <a:pt x="6" y="180"/>
                  <a:pt x="6" y="180"/>
                  <a:pt x="6" y="180"/>
                </a:cubicBezTo>
                <a:cubicBezTo>
                  <a:pt x="3" y="180"/>
                  <a:pt x="0" y="178"/>
                  <a:pt x="0" y="175"/>
                </a:cubicBezTo>
                <a:cubicBezTo>
                  <a:pt x="0" y="163"/>
                  <a:pt x="0" y="163"/>
                  <a:pt x="0" y="163"/>
                </a:cubicBezTo>
                <a:cubicBezTo>
                  <a:pt x="0" y="160"/>
                  <a:pt x="3" y="158"/>
                  <a:pt x="6" y="158"/>
                </a:cubicBezTo>
                <a:cubicBezTo>
                  <a:pt x="17" y="158"/>
                  <a:pt x="17" y="158"/>
                  <a:pt x="17" y="158"/>
                </a:cubicBezTo>
                <a:cubicBezTo>
                  <a:pt x="20" y="158"/>
                  <a:pt x="23" y="156"/>
                  <a:pt x="24" y="153"/>
                </a:cubicBezTo>
                <a:cubicBezTo>
                  <a:pt x="29" y="134"/>
                  <a:pt x="29" y="134"/>
                  <a:pt x="29" y="134"/>
                </a:cubicBezTo>
                <a:cubicBezTo>
                  <a:pt x="146" y="134"/>
                  <a:pt x="146" y="134"/>
                  <a:pt x="146" y="134"/>
                </a:cubicBezTo>
                <a:cubicBezTo>
                  <a:pt x="151" y="153"/>
                  <a:pt x="151" y="153"/>
                  <a:pt x="151" y="153"/>
                </a:cubicBezTo>
                <a:cubicBezTo>
                  <a:pt x="151" y="156"/>
                  <a:pt x="154" y="158"/>
                  <a:pt x="157" y="158"/>
                </a:cubicBezTo>
                <a:cubicBezTo>
                  <a:pt x="169" y="158"/>
                  <a:pt x="169" y="158"/>
                  <a:pt x="169" y="158"/>
                </a:cubicBezTo>
                <a:cubicBezTo>
                  <a:pt x="172" y="158"/>
                  <a:pt x="174" y="160"/>
                  <a:pt x="174" y="163"/>
                </a:cubicBezTo>
                <a:close/>
                <a:moveTo>
                  <a:pt x="38" y="101"/>
                </a:moveTo>
                <a:cubicBezTo>
                  <a:pt x="137" y="101"/>
                  <a:pt x="137" y="101"/>
                  <a:pt x="137" y="101"/>
                </a:cubicBezTo>
                <a:cubicBezTo>
                  <a:pt x="128" y="68"/>
                  <a:pt x="128" y="68"/>
                  <a:pt x="128" y="68"/>
                </a:cubicBezTo>
                <a:cubicBezTo>
                  <a:pt x="46" y="68"/>
                  <a:pt x="46" y="68"/>
                  <a:pt x="46" y="68"/>
                </a:cubicBezTo>
                <a:lnTo>
                  <a:pt x="38" y="101"/>
                </a:lnTo>
                <a:close/>
                <a:moveTo>
                  <a:pt x="119" y="35"/>
                </a:moveTo>
                <a:cubicBezTo>
                  <a:pt x="112" y="5"/>
                  <a:pt x="112" y="5"/>
                  <a:pt x="112" y="5"/>
                </a:cubicBezTo>
                <a:cubicBezTo>
                  <a:pt x="111" y="2"/>
                  <a:pt x="108" y="0"/>
                  <a:pt x="105" y="0"/>
                </a:cubicBezTo>
                <a:cubicBezTo>
                  <a:pt x="70" y="0"/>
                  <a:pt x="70" y="0"/>
                  <a:pt x="70" y="0"/>
                </a:cubicBezTo>
                <a:cubicBezTo>
                  <a:pt x="67" y="0"/>
                  <a:pt x="64" y="2"/>
                  <a:pt x="63" y="5"/>
                </a:cubicBezTo>
                <a:cubicBezTo>
                  <a:pt x="55" y="35"/>
                  <a:pt x="55" y="35"/>
                  <a:pt x="55" y="35"/>
                </a:cubicBezTo>
                <a:lnTo>
                  <a:pt x="119" y="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79"/>
          <p:cNvSpPr>
            <a:spLocks noEditPoints="1"/>
          </p:cNvSpPr>
          <p:nvPr userDrawn="1"/>
        </p:nvSpPr>
        <p:spPr bwMode="auto">
          <a:xfrm>
            <a:off x="1877736" y="3767592"/>
            <a:ext cx="283178" cy="322964"/>
          </a:xfrm>
          <a:custGeom>
            <a:avLst/>
            <a:gdLst>
              <a:gd name="T0" fmla="*/ 67 w 198"/>
              <a:gd name="T1" fmla="*/ 1 h 226"/>
              <a:gd name="T2" fmla="*/ 62 w 198"/>
              <a:gd name="T3" fmla="*/ 1 h 226"/>
              <a:gd name="T4" fmla="*/ 61 w 198"/>
              <a:gd name="T5" fmla="*/ 2 h 226"/>
              <a:gd name="T6" fmla="*/ 9 w 198"/>
              <a:gd name="T7" fmla="*/ 46 h 226"/>
              <a:gd name="T8" fmla="*/ 0 w 198"/>
              <a:gd name="T9" fmla="*/ 51 h 226"/>
              <a:gd name="T10" fmla="*/ 5 w 198"/>
              <a:gd name="T11" fmla="*/ 80 h 226"/>
              <a:gd name="T12" fmla="*/ 41 w 198"/>
              <a:gd name="T13" fmla="*/ 75 h 226"/>
              <a:gd name="T14" fmla="*/ 59 w 198"/>
              <a:gd name="T15" fmla="*/ 74 h 226"/>
              <a:gd name="T16" fmla="*/ 59 w 198"/>
              <a:gd name="T17" fmla="*/ 190 h 226"/>
              <a:gd name="T18" fmla="*/ 21 w 198"/>
              <a:gd name="T19" fmla="*/ 196 h 226"/>
              <a:gd name="T20" fmla="*/ 21 w 198"/>
              <a:gd name="T21" fmla="*/ 206 h 226"/>
              <a:gd name="T22" fmla="*/ 9 w 198"/>
              <a:gd name="T23" fmla="*/ 211 h 226"/>
              <a:gd name="T24" fmla="*/ 15 w 198"/>
              <a:gd name="T25" fmla="*/ 226 h 226"/>
              <a:gd name="T26" fmla="*/ 153 w 198"/>
              <a:gd name="T27" fmla="*/ 221 h 226"/>
              <a:gd name="T28" fmla="*/ 148 w 198"/>
              <a:gd name="T29" fmla="*/ 206 h 226"/>
              <a:gd name="T30" fmla="*/ 142 w 198"/>
              <a:gd name="T31" fmla="*/ 205 h 226"/>
              <a:gd name="T32" fmla="*/ 136 w 198"/>
              <a:gd name="T33" fmla="*/ 190 h 226"/>
              <a:gd name="T34" fmla="*/ 109 w 198"/>
              <a:gd name="T35" fmla="*/ 75 h 226"/>
              <a:gd name="T36" fmla="*/ 109 w 198"/>
              <a:gd name="T37" fmla="*/ 74 h 226"/>
              <a:gd name="T38" fmla="*/ 129 w 198"/>
              <a:gd name="T39" fmla="*/ 75 h 226"/>
              <a:gd name="T40" fmla="*/ 133 w 198"/>
              <a:gd name="T41" fmla="*/ 119 h 226"/>
              <a:gd name="T42" fmla="*/ 143 w 198"/>
              <a:gd name="T43" fmla="*/ 143 h 226"/>
              <a:gd name="T44" fmla="*/ 143 w 198"/>
              <a:gd name="T45" fmla="*/ 143 h 226"/>
              <a:gd name="T46" fmla="*/ 153 w 198"/>
              <a:gd name="T47" fmla="*/ 155 h 226"/>
              <a:gd name="T48" fmla="*/ 140 w 198"/>
              <a:gd name="T49" fmla="*/ 156 h 226"/>
              <a:gd name="T50" fmla="*/ 148 w 198"/>
              <a:gd name="T51" fmla="*/ 166 h 226"/>
              <a:gd name="T52" fmla="*/ 154 w 198"/>
              <a:gd name="T53" fmla="*/ 143 h 226"/>
              <a:gd name="T54" fmla="*/ 155 w 198"/>
              <a:gd name="T55" fmla="*/ 143 h 226"/>
              <a:gd name="T56" fmla="*/ 164 w 198"/>
              <a:gd name="T57" fmla="*/ 119 h 226"/>
              <a:gd name="T58" fmla="*/ 168 w 198"/>
              <a:gd name="T59" fmla="*/ 74 h 226"/>
              <a:gd name="T60" fmla="*/ 198 w 198"/>
              <a:gd name="T61" fmla="*/ 70 h 226"/>
              <a:gd name="T62" fmla="*/ 75 w 198"/>
              <a:gd name="T63" fmla="*/ 31 h 226"/>
              <a:gd name="T64" fmla="*/ 75 w 198"/>
              <a:gd name="T65" fmla="*/ 51 h 226"/>
              <a:gd name="T66" fmla="*/ 41 w 198"/>
              <a:gd name="T67" fmla="*/ 51 h 226"/>
              <a:gd name="T68" fmla="*/ 27 w 198"/>
              <a:gd name="T69" fmla="*/ 46 h 226"/>
              <a:gd name="T70" fmla="*/ 59 w 198"/>
              <a:gd name="T71" fmla="*/ 51 h 226"/>
              <a:gd name="T72" fmla="*/ 75 w 198"/>
              <a:gd name="T73" fmla="*/ 131 h 226"/>
              <a:gd name="T74" fmla="*/ 92 w 198"/>
              <a:gd name="T75" fmla="*/ 113 h 226"/>
              <a:gd name="T76" fmla="*/ 93 w 198"/>
              <a:gd name="T77" fmla="*/ 134 h 226"/>
              <a:gd name="T78" fmla="*/ 76 w 198"/>
              <a:gd name="T79" fmla="*/ 152 h 226"/>
              <a:gd name="T80" fmla="*/ 75 w 198"/>
              <a:gd name="T81" fmla="*/ 190 h 226"/>
              <a:gd name="T82" fmla="*/ 92 w 198"/>
              <a:gd name="T83" fmla="*/ 190 h 226"/>
              <a:gd name="T84" fmla="*/ 93 w 198"/>
              <a:gd name="T85" fmla="*/ 92 h 226"/>
              <a:gd name="T86" fmla="*/ 93 w 198"/>
              <a:gd name="T87" fmla="*/ 75 h 226"/>
              <a:gd name="T88" fmla="*/ 110 w 198"/>
              <a:gd name="T89" fmla="*/ 51 h 226"/>
              <a:gd name="T90" fmla="*/ 143 w 198"/>
              <a:gd name="T91" fmla="*/ 51 h 226"/>
              <a:gd name="T92" fmla="*/ 154 w 198"/>
              <a:gd name="T93" fmla="*/ 114 h 226"/>
              <a:gd name="T94" fmla="*/ 137 w 198"/>
              <a:gd name="T95" fmla="*/ 75 h 226"/>
              <a:gd name="T96" fmla="*/ 160 w 198"/>
              <a:gd name="T97" fmla="*/ 7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226">
                <a:moveTo>
                  <a:pt x="195" y="64"/>
                </a:moveTo>
                <a:cubicBezTo>
                  <a:pt x="67" y="1"/>
                  <a:pt x="67" y="1"/>
                  <a:pt x="67" y="1"/>
                </a:cubicBezTo>
                <a:cubicBezTo>
                  <a:pt x="66" y="0"/>
                  <a:pt x="65" y="0"/>
                  <a:pt x="64" y="0"/>
                </a:cubicBezTo>
                <a:cubicBezTo>
                  <a:pt x="63" y="0"/>
                  <a:pt x="63" y="0"/>
                  <a:pt x="62" y="1"/>
                </a:cubicBezTo>
                <a:cubicBezTo>
                  <a:pt x="61" y="1"/>
                  <a:pt x="61" y="1"/>
                  <a:pt x="61" y="1"/>
                </a:cubicBezTo>
                <a:cubicBezTo>
                  <a:pt x="61" y="1"/>
                  <a:pt x="61" y="2"/>
                  <a:pt x="61" y="2"/>
                </a:cubicBezTo>
                <a:cubicBezTo>
                  <a:pt x="54" y="8"/>
                  <a:pt x="54" y="8"/>
                  <a:pt x="54" y="8"/>
                </a:cubicBezTo>
                <a:cubicBezTo>
                  <a:pt x="9" y="46"/>
                  <a:pt x="9" y="46"/>
                  <a:pt x="9" y="46"/>
                </a:cubicBezTo>
                <a:cubicBezTo>
                  <a:pt x="5" y="46"/>
                  <a:pt x="5" y="46"/>
                  <a:pt x="5" y="46"/>
                </a:cubicBezTo>
                <a:cubicBezTo>
                  <a:pt x="2" y="46"/>
                  <a:pt x="0" y="48"/>
                  <a:pt x="0" y="51"/>
                </a:cubicBezTo>
                <a:cubicBezTo>
                  <a:pt x="0" y="75"/>
                  <a:pt x="0" y="75"/>
                  <a:pt x="0" y="75"/>
                </a:cubicBezTo>
                <a:cubicBezTo>
                  <a:pt x="0" y="78"/>
                  <a:pt x="2" y="80"/>
                  <a:pt x="5" y="80"/>
                </a:cubicBezTo>
                <a:cubicBezTo>
                  <a:pt x="35" y="80"/>
                  <a:pt x="35" y="80"/>
                  <a:pt x="35" y="80"/>
                </a:cubicBezTo>
                <a:cubicBezTo>
                  <a:pt x="38" y="80"/>
                  <a:pt x="41" y="78"/>
                  <a:pt x="41" y="75"/>
                </a:cubicBezTo>
                <a:cubicBezTo>
                  <a:pt x="41" y="74"/>
                  <a:pt x="41" y="74"/>
                  <a:pt x="41" y="74"/>
                </a:cubicBezTo>
                <a:cubicBezTo>
                  <a:pt x="59" y="74"/>
                  <a:pt x="59" y="74"/>
                  <a:pt x="59" y="74"/>
                </a:cubicBezTo>
                <a:cubicBezTo>
                  <a:pt x="59" y="75"/>
                  <a:pt x="59" y="75"/>
                  <a:pt x="59" y="75"/>
                </a:cubicBezTo>
                <a:cubicBezTo>
                  <a:pt x="59" y="190"/>
                  <a:pt x="59" y="190"/>
                  <a:pt x="59" y="190"/>
                </a:cubicBezTo>
                <a:cubicBezTo>
                  <a:pt x="26" y="190"/>
                  <a:pt x="26" y="190"/>
                  <a:pt x="26" y="190"/>
                </a:cubicBezTo>
                <a:cubicBezTo>
                  <a:pt x="23" y="190"/>
                  <a:pt x="21" y="193"/>
                  <a:pt x="21" y="196"/>
                </a:cubicBezTo>
                <a:cubicBezTo>
                  <a:pt x="21" y="205"/>
                  <a:pt x="21" y="205"/>
                  <a:pt x="21" y="205"/>
                </a:cubicBezTo>
                <a:cubicBezTo>
                  <a:pt x="21" y="205"/>
                  <a:pt x="21" y="206"/>
                  <a:pt x="21" y="206"/>
                </a:cubicBezTo>
                <a:cubicBezTo>
                  <a:pt x="15" y="206"/>
                  <a:pt x="15" y="206"/>
                  <a:pt x="15" y="206"/>
                </a:cubicBezTo>
                <a:cubicBezTo>
                  <a:pt x="12" y="206"/>
                  <a:pt x="9" y="208"/>
                  <a:pt x="9" y="211"/>
                </a:cubicBezTo>
                <a:cubicBezTo>
                  <a:pt x="9" y="221"/>
                  <a:pt x="9" y="221"/>
                  <a:pt x="9" y="221"/>
                </a:cubicBezTo>
                <a:cubicBezTo>
                  <a:pt x="9" y="224"/>
                  <a:pt x="12" y="226"/>
                  <a:pt x="15" y="226"/>
                </a:cubicBezTo>
                <a:cubicBezTo>
                  <a:pt x="148" y="226"/>
                  <a:pt x="148" y="226"/>
                  <a:pt x="148" y="226"/>
                </a:cubicBezTo>
                <a:cubicBezTo>
                  <a:pt x="151" y="226"/>
                  <a:pt x="153" y="224"/>
                  <a:pt x="153" y="221"/>
                </a:cubicBezTo>
                <a:cubicBezTo>
                  <a:pt x="153" y="211"/>
                  <a:pt x="153" y="211"/>
                  <a:pt x="153" y="211"/>
                </a:cubicBezTo>
                <a:cubicBezTo>
                  <a:pt x="153" y="208"/>
                  <a:pt x="151" y="206"/>
                  <a:pt x="148" y="206"/>
                </a:cubicBezTo>
                <a:cubicBezTo>
                  <a:pt x="142" y="206"/>
                  <a:pt x="142" y="206"/>
                  <a:pt x="142" y="206"/>
                </a:cubicBezTo>
                <a:cubicBezTo>
                  <a:pt x="142" y="206"/>
                  <a:pt x="142" y="205"/>
                  <a:pt x="142" y="205"/>
                </a:cubicBezTo>
                <a:cubicBezTo>
                  <a:pt x="142" y="196"/>
                  <a:pt x="142" y="196"/>
                  <a:pt x="142" y="196"/>
                </a:cubicBezTo>
                <a:cubicBezTo>
                  <a:pt x="142" y="193"/>
                  <a:pt x="139" y="190"/>
                  <a:pt x="136" y="190"/>
                </a:cubicBezTo>
                <a:cubicBezTo>
                  <a:pt x="109" y="190"/>
                  <a:pt x="109" y="190"/>
                  <a:pt x="109" y="190"/>
                </a:cubicBezTo>
                <a:cubicBezTo>
                  <a:pt x="109" y="75"/>
                  <a:pt x="109" y="75"/>
                  <a:pt x="109" y="75"/>
                </a:cubicBezTo>
                <a:cubicBezTo>
                  <a:pt x="109" y="75"/>
                  <a:pt x="109" y="75"/>
                  <a:pt x="109" y="75"/>
                </a:cubicBezTo>
                <a:cubicBezTo>
                  <a:pt x="109" y="74"/>
                  <a:pt x="109" y="74"/>
                  <a:pt x="109" y="74"/>
                </a:cubicBezTo>
                <a:cubicBezTo>
                  <a:pt x="129" y="74"/>
                  <a:pt x="129" y="74"/>
                  <a:pt x="129" y="74"/>
                </a:cubicBezTo>
                <a:cubicBezTo>
                  <a:pt x="129" y="75"/>
                  <a:pt x="129" y="75"/>
                  <a:pt x="129" y="75"/>
                </a:cubicBezTo>
                <a:cubicBezTo>
                  <a:pt x="135" y="114"/>
                  <a:pt x="135" y="114"/>
                  <a:pt x="135" y="114"/>
                </a:cubicBezTo>
                <a:cubicBezTo>
                  <a:pt x="133" y="115"/>
                  <a:pt x="133" y="117"/>
                  <a:pt x="133" y="119"/>
                </a:cubicBezTo>
                <a:cubicBezTo>
                  <a:pt x="136" y="138"/>
                  <a:pt x="136" y="138"/>
                  <a:pt x="136" y="138"/>
                </a:cubicBezTo>
                <a:cubicBezTo>
                  <a:pt x="137" y="141"/>
                  <a:pt x="140" y="143"/>
                  <a:pt x="143" y="143"/>
                </a:cubicBezTo>
                <a:cubicBezTo>
                  <a:pt x="143" y="143"/>
                  <a:pt x="143" y="143"/>
                  <a:pt x="143" y="143"/>
                </a:cubicBezTo>
                <a:cubicBezTo>
                  <a:pt x="143" y="143"/>
                  <a:pt x="143" y="143"/>
                  <a:pt x="143" y="143"/>
                </a:cubicBezTo>
                <a:cubicBezTo>
                  <a:pt x="144" y="144"/>
                  <a:pt x="145" y="145"/>
                  <a:pt x="146" y="146"/>
                </a:cubicBezTo>
                <a:cubicBezTo>
                  <a:pt x="148" y="149"/>
                  <a:pt x="153" y="151"/>
                  <a:pt x="153" y="155"/>
                </a:cubicBezTo>
                <a:cubicBezTo>
                  <a:pt x="153" y="157"/>
                  <a:pt x="151" y="160"/>
                  <a:pt x="148" y="160"/>
                </a:cubicBezTo>
                <a:cubicBezTo>
                  <a:pt x="144" y="160"/>
                  <a:pt x="143" y="159"/>
                  <a:pt x="140" y="156"/>
                </a:cubicBezTo>
                <a:cubicBezTo>
                  <a:pt x="139" y="154"/>
                  <a:pt x="136" y="157"/>
                  <a:pt x="138" y="160"/>
                </a:cubicBezTo>
                <a:cubicBezTo>
                  <a:pt x="141" y="166"/>
                  <a:pt x="148" y="166"/>
                  <a:pt x="148" y="166"/>
                </a:cubicBezTo>
                <a:cubicBezTo>
                  <a:pt x="156" y="166"/>
                  <a:pt x="160" y="161"/>
                  <a:pt x="160" y="155"/>
                </a:cubicBezTo>
                <a:cubicBezTo>
                  <a:pt x="160" y="149"/>
                  <a:pt x="157" y="146"/>
                  <a:pt x="154" y="143"/>
                </a:cubicBezTo>
                <a:cubicBezTo>
                  <a:pt x="154" y="143"/>
                  <a:pt x="154" y="143"/>
                  <a:pt x="154" y="143"/>
                </a:cubicBezTo>
                <a:cubicBezTo>
                  <a:pt x="155" y="143"/>
                  <a:pt x="155" y="143"/>
                  <a:pt x="155" y="143"/>
                </a:cubicBezTo>
                <a:cubicBezTo>
                  <a:pt x="158" y="143"/>
                  <a:pt x="161" y="141"/>
                  <a:pt x="161" y="138"/>
                </a:cubicBezTo>
                <a:cubicBezTo>
                  <a:pt x="164" y="119"/>
                  <a:pt x="164" y="119"/>
                  <a:pt x="164" y="119"/>
                </a:cubicBezTo>
                <a:cubicBezTo>
                  <a:pt x="165" y="117"/>
                  <a:pt x="164" y="115"/>
                  <a:pt x="162" y="114"/>
                </a:cubicBezTo>
                <a:cubicBezTo>
                  <a:pt x="168" y="74"/>
                  <a:pt x="168" y="74"/>
                  <a:pt x="168" y="74"/>
                </a:cubicBezTo>
                <a:cubicBezTo>
                  <a:pt x="192" y="74"/>
                  <a:pt x="192" y="74"/>
                  <a:pt x="192" y="74"/>
                </a:cubicBezTo>
                <a:cubicBezTo>
                  <a:pt x="195" y="74"/>
                  <a:pt x="197" y="73"/>
                  <a:pt x="198" y="70"/>
                </a:cubicBezTo>
                <a:cubicBezTo>
                  <a:pt x="198" y="68"/>
                  <a:pt x="197" y="65"/>
                  <a:pt x="195" y="64"/>
                </a:cubicBezTo>
                <a:close/>
                <a:moveTo>
                  <a:pt x="75" y="31"/>
                </a:moveTo>
                <a:cubicBezTo>
                  <a:pt x="94" y="51"/>
                  <a:pt x="94" y="51"/>
                  <a:pt x="94" y="51"/>
                </a:cubicBezTo>
                <a:cubicBezTo>
                  <a:pt x="75" y="51"/>
                  <a:pt x="75" y="51"/>
                  <a:pt x="75" y="51"/>
                </a:cubicBezTo>
                <a:lnTo>
                  <a:pt x="75" y="31"/>
                </a:lnTo>
                <a:close/>
                <a:moveTo>
                  <a:pt x="41" y="51"/>
                </a:moveTo>
                <a:cubicBezTo>
                  <a:pt x="41" y="48"/>
                  <a:pt x="38" y="46"/>
                  <a:pt x="35" y="46"/>
                </a:cubicBezTo>
                <a:cubicBezTo>
                  <a:pt x="27" y="46"/>
                  <a:pt x="27" y="46"/>
                  <a:pt x="27" y="46"/>
                </a:cubicBezTo>
                <a:cubicBezTo>
                  <a:pt x="59" y="18"/>
                  <a:pt x="59" y="18"/>
                  <a:pt x="59" y="18"/>
                </a:cubicBezTo>
                <a:cubicBezTo>
                  <a:pt x="59" y="51"/>
                  <a:pt x="59" y="51"/>
                  <a:pt x="59" y="51"/>
                </a:cubicBezTo>
                <a:lnTo>
                  <a:pt x="41" y="51"/>
                </a:lnTo>
                <a:close/>
                <a:moveTo>
                  <a:pt x="75" y="131"/>
                </a:moveTo>
                <a:cubicBezTo>
                  <a:pt x="75" y="96"/>
                  <a:pt x="75" y="96"/>
                  <a:pt x="75" y="96"/>
                </a:cubicBezTo>
                <a:cubicBezTo>
                  <a:pt x="92" y="113"/>
                  <a:pt x="92" y="113"/>
                  <a:pt x="92" y="113"/>
                </a:cubicBezTo>
                <a:lnTo>
                  <a:pt x="75" y="131"/>
                </a:lnTo>
                <a:close/>
                <a:moveTo>
                  <a:pt x="93" y="134"/>
                </a:moveTo>
                <a:cubicBezTo>
                  <a:pt x="93" y="169"/>
                  <a:pt x="93" y="169"/>
                  <a:pt x="93" y="169"/>
                </a:cubicBezTo>
                <a:cubicBezTo>
                  <a:pt x="76" y="152"/>
                  <a:pt x="76" y="152"/>
                  <a:pt x="76" y="152"/>
                </a:cubicBezTo>
                <a:lnTo>
                  <a:pt x="93" y="134"/>
                </a:lnTo>
                <a:close/>
                <a:moveTo>
                  <a:pt x="75" y="190"/>
                </a:moveTo>
                <a:cubicBezTo>
                  <a:pt x="75" y="173"/>
                  <a:pt x="75" y="173"/>
                  <a:pt x="75" y="173"/>
                </a:cubicBezTo>
                <a:cubicBezTo>
                  <a:pt x="92" y="190"/>
                  <a:pt x="92" y="190"/>
                  <a:pt x="92" y="190"/>
                </a:cubicBezTo>
                <a:lnTo>
                  <a:pt x="75" y="190"/>
                </a:lnTo>
                <a:close/>
                <a:moveTo>
                  <a:pt x="93" y="92"/>
                </a:moveTo>
                <a:cubicBezTo>
                  <a:pt x="76" y="75"/>
                  <a:pt x="76" y="75"/>
                  <a:pt x="76" y="75"/>
                </a:cubicBezTo>
                <a:cubicBezTo>
                  <a:pt x="93" y="75"/>
                  <a:pt x="93" y="75"/>
                  <a:pt x="93" y="75"/>
                </a:cubicBezTo>
                <a:lnTo>
                  <a:pt x="93" y="92"/>
                </a:lnTo>
                <a:close/>
                <a:moveTo>
                  <a:pt x="110" y="51"/>
                </a:moveTo>
                <a:cubicBezTo>
                  <a:pt x="79" y="19"/>
                  <a:pt x="79" y="19"/>
                  <a:pt x="79" y="19"/>
                </a:cubicBezTo>
                <a:cubicBezTo>
                  <a:pt x="143" y="51"/>
                  <a:pt x="143" y="51"/>
                  <a:pt x="143" y="51"/>
                </a:cubicBezTo>
                <a:lnTo>
                  <a:pt x="110" y="51"/>
                </a:lnTo>
                <a:close/>
                <a:moveTo>
                  <a:pt x="154" y="114"/>
                </a:moveTo>
                <a:cubicBezTo>
                  <a:pt x="143" y="114"/>
                  <a:pt x="143" y="114"/>
                  <a:pt x="143" y="114"/>
                </a:cubicBezTo>
                <a:cubicBezTo>
                  <a:pt x="137" y="75"/>
                  <a:pt x="137" y="75"/>
                  <a:pt x="137" y="75"/>
                </a:cubicBezTo>
                <a:cubicBezTo>
                  <a:pt x="137" y="74"/>
                  <a:pt x="137" y="74"/>
                  <a:pt x="137" y="74"/>
                </a:cubicBezTo>
                <a:cubicBezTo>
                  <a:pt x="160" y="74"/>
                  <a:pt x="160" y="74"/>
                  <a:pt x="160" y="74"/>
                </a:cubicBezTo>
                <a:lnTo>
                  <a:pt x="154" y="11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2"/>
          <p:cNvSpPr>
            <a:spLocks noEditPoints="1"/>
          </p:cNvSpPr>
          <p:nvPr userDrawn="1"/>
        </p:nvSpPr>
        <p:spPr bwMode="auto">
          <a:xfrm>
            <a:off x="4486169" y="3775394"/>
            <a:ext cx="268356" cy="307360"/>
          </a:xfrm>
          <a:custGeom>
            <a:avLst/>
            <a:gdLst>
              <a:gd name="T0" fmla="*/ 180 w 188"/>
              <a:gd name="T1" fmla="*/ 146 h 215"/>
              <a:gd name="T2" fmla="*/ 153 w 188"/>
              <a:gd name="T3" fmla="*/ 146 h 215"/>
              <a:gd name="T4" fmla="*/ 125 w 188"/>
              <a:gd name="T5" fmla="*/ 80 h 215"/>
              <a:gd name="T6" fmla="*/ 125 w 188"/>
              <a:gd name="T7" fmla="*/ 80 h 215"/>
              <a:gd name="T8" fmla="*/ 130 w 188"/>
              <a:gd name="T9" fmla="*/ 61 h 215"/>
              <a:gd name="T10" fmla="*/ 110 w 188"/>
              <a:gd name="T11" fmla="*/ 29 h 215"/>
              <a:gd name="T12" fmla="*/ 106 w 188"/>
              <a:gd name="T13" fmla="*/ 27 h 215"/>
              <a:gd name="T14" fmla="*/ 106 w 188"/>
              <a:gd name="T15" fmla="*/ 5 h 215"/>
              <a:gd name="T16" fmla="*/ 100 w 188"/>
              <a:gd name="T17" fmla="*/ 0 h 215"/>
              <a:gd name="T18" fmla="*/ 94 w 188"/>
              <a:gd name="T19" fmla="*/ 0 h 215"/>
              <a:gd name="T20" fmla="*/ 88 w 188"/>
              <a:gd name="T21" fmla="*/ 0 h 215"/>
              <a:gd name="T22" fmla="*/ 82 w 188"/>
              <a:gd name="T23" fmla="*/ 5 h 215"/>
              <a:gd name="T24" fmla="*/ 82 w 188"/>
              <a:gd name="T25" fmla="*/ 27 h 215"/>
              <a:gd name="T26" fmla="*/ 79 w 188"/>
              <a:gd name="T27" fmla="*/ 29 h 215"/>
              <a:gd name="T28" fmla="*/ 58 w 188"/>
              <a:gd name="T29" fmla="*/ 61 h 215"/>
              <a:gd name="T30" fmla="*/ 63 w 188"/>
              <a:gd name="T31" fmla="*/ 80 h 215"/>
              <a:gd name="T32" fmla="*/ 64 w 188"/>
              <a:gd name="T33" fmla="*/ 80 h 215"/>
              <a:gd name="T34" fmla="*/ 36 w 188"/>
              <a:gd name="T35" fmla="*/ 146 h 215"/>
              <a:gd name="T36" fmla="*/ 8 w 188"/>
              <a:gd name="T37" fmla="*/ 146 h 215"/>
              <a:gd name="T38" fmla="*/ 0 w 188"/>
              <a:gd name="T39" fmla="*/ 154 h 215"/>
              <a:gd name="T40" fmla="*/ 8 w 188"/>
              <a:gd name="T41" fmla="*/ 161 h 215"/>
              <a:gd name="T42" fmla="*/ 29 w 188"/>
              <a:gd name="T43" fmla="*/ 161 h 215"/>
              <a:gd name="T44" fmla="*/ 21 w 188"/>
              <a:gd name="T45" fmla="*/ 181 h 215"/>
              <a:gd name="T46" fmla="*/ 24 w 188"/>
              <a:gd name="T47" fmla="*/ 197 h 215"/>
              <a:gd name="T48" fmla="*/ 22 w 188"/>
              <a:gd name="T49" fmla="*/ 203 h 215"/>
              <a:gd name="T50" fmla="*/ 24 w 188"/>
              <a:gd name="T51" fmla="*/ 215 h 215"/>
              <a:gd name="T52" fmla="*/ 33 w 188"/>
              <a:gd name="T53" fmla="*/ 207 h 215"/>
              <a:gd name="T54" fmla="*/ 36 w 188"/>
              <a:gd name="T55" fmla="*/ 201 h 215"/>
              <a:gd name="T56" fmla="*/ 49 w 188"/>
              <a:gd name="T57" fmla="*/ 191 h 215"/>
              <a:gd name="T58" fmla="*/ 61 w 188"/>
              <a:gd name="T59" fmla="*/ 161 h 215"/>
              <a:gd name="T60" fmla="*/ 86 w 188"/>
              <a:gd name="T61" fmla="*/ 161 h 215"/>
              <a:gd name="T62" fmla="*/ 86 w 188"/>
              <a:gd name="T63" fmla="*/ 163 h 215"/>
              <a:gd name="T64" fmla="*/ 94 w 188"/>
              <a:gd name="T65" fmla="*/ 170 h 215"/>
              <a:gd name="T66" fmla="*/ 102 w 188"/>
              <a:gd name="T67" fmla="*/ 163 h 215"/>
              <a:gd name="T68" fmla="*/ 102 w 188"/>
              <a:gd name="T69" fmla="*/ 161 h 215"/>
              <a:gd name="T70" fmla="*/ 127 w 188"/>
              <a:gd name="T71" fmla="*/ 161 h 215"/>
              <a:gd name="T72" fmla="*/ 140 w 188"/>
              <a:gd name="T73" fmla="*/ 191 h 215"/>
              <a:gd name="T74" fmla="*/ 153 w 188"/>
              <a:gd name="T75" fmla="*/ 201 h 215"/>
              <a:gd name="T76" fmla="*/ 156 w 188"/>
              <a:gd name="T77" fmla="*/ 207 h 215"/>
              <a:gd name="T78" fmla="*/ 165 w 188"/>
              <a:gd name="T79" fmla="*/ 215 h 215"/>
              <a:gd name="T80" fmla="*/ 167 w 188"/>
              <a:gd name="T81" fmla="*/ 203 h 215"/>
              <a:gd name="T82" fmla="*/ 164 w 188"/>
              <a:gd name="T83" fmla="*/ 197 h 215"/>
              <a:gd name="T84" fmla="*/ 168 w 188"/>
              <a:gd name="T85" fmla="*/ 181 h 215"/>
              <a:gd name="T86" fmla="*/ 160 w 188"/>
              <a:gd name="T87" fmla="*/ 161 h 215"/>
              <a:gd name="T88" fmla="*/ 180 w 188"/>
              <a:gd name="T89" fmla="*/ 161 h 215"/>
              <a:gd name="T90" fmla="*/ 188 w 188"/>
              <a:gd name="T91" fmla="*/ 154 h 215"/>
              <a:gd name="T92" fmla="*/ 180 w 188"/>
              <a:gd name="T93" fmla="*/ 146 h 215"/>
              <a:gd name="T94" fmla="*/ 94 w 188"/>
              <a:gd name="T95" fmla="*/ 41 h 215"/>
              <a:gd name="T96" fmla="*/ 115 w 188"/>
              <a:gd name="T97" fmla="*/ 61 h 215"/>
              <a:gd name="T98" fmla="*/ 94 w 188"/>
              <a:gd name="T99" fmla="*/ 82 h 215"/>
              <a:gd name="T100" fmla="*/ 74 w 188"/>
              <a:gd name="T101" fmla="*/ 61 h 215"/>
              <a:gd name="T102" fmla="*/ 94 w 188"/>
              <a:gd name="T103" fmla="*/ 41 h 215"/>
              <a:gd name="T104" fmla="*/ 102 w 188"/>
              <a:gd name="T105" fmla="*/ 146 h 215"/>
              <a:gd name="T106" fmla="*/ 102 w 188"/>
              <a:gd name="T107" fmla="*/ 142 h 215"/>
              <a:gd name="T108" fmla="*/ 94 w 188"/>
              <a:gd name="T109" fmla="*/ 135 h 215"/>
              <a:gd name="T110" fmla="*/ 86 w 188"/>
              <a:gd name="T111" fmla="*/ 142 h 215"/>
              <a:gd name="T112" fmla="*/ 86 w 188"/>
              <a:gd name="T113" fmla="*/ 146 h 215"/>
              <a:gd name="T114" fmla="*/ 68 w 188"/>
              <a:gd name="T115" fmla="*/ 146 h 215"/>
              <a:gd name="T116" fmla="*/ 90 w 188"/>
              <a:gd name="T117" fmla="*/ 97 h 215"/>
              <a:gd name="T118" fmla="*/ 94 w 188"/>
              <a:gd name="T119" fmla="*/ 97 h 215"/>
              <a:gd name="T120" fmla="*/ 98 w 188"/>
              <a:gd name="T121" fmla="*/ 97 h 215"/>
              <a:gd name="T122" fmla="*/ 120 w 188"/>
              <a:gd name="T123" fmla="*/ 146 h 215"/>
              <a:gd name="T124" fmla="*/ 102 w 188"/>
              <a:gd name="T125" fmla="*/ 146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8" h="215">
                <a:moveTo>
                  <a:pt x="180" y="146"/>
                </a:moveTo>
                <a:cubicBezTo>
                  <a:pt x="153" y="146"/>
                  <a:pt x="153" y="146"/>
                  <a:pt x="153" y="146"/>
                </a:cubicBezTo>
                <a:cubicBezTo>
                  <a:pt x="125" y="80"/>
                  <a:pt x="125" y="80"/>
                  <a:pt x="125" y="80"/>
                </a:cubicBezTo>
                <a:cubicBezTo>
                  <a:pt x="125" y="80"/>
                  <a:pt x="125" y="80"/>
                  <a:pt x="125" y="80"/>
                </a:cubicBezTo>
                <a:cubicBezTo>
                  <a:pt x="128" y="74"/>
                  <a:pt x="130" y="68"/>
                  <a:pt x="130" y="61"/>
                </a:cubicBezTo>
                <a:cubicBezTo>
                  <a:pt x="130" y="47"/>
                  <a:pt x="122" y="35"/>
                  <a:pt x="110" y="29"/>
                </a:cubicBezTo>
                <a:cubicBezTo>
                  <a:pt x="109" y="28"/>
                  <a:pt x="107" y="28"/>
                  <a:pt x="106" y="27"/>
                </a:cubicBezTo>
                <a:cubicBezTo>
                  <a:pt x="106" y="5"/>
                  <a:pt x="106" y="5"/>
                  <a:pt x="106" y="5"/>
                </a:cubicBezTo>
                <a:cubicBezTo>
                  <a:pt x="106" y="2"/>
                  <a:pt x="104" y="0"/>
                  <a:pt x="100" y="0"/>
                </a:cubicBezTo>
                <a:cubicBezTo>
                  <a:pt x="94" y="0"/>
                  <a:pt x="94" y="0"/>
                  <a:pt x="94" y="0"/>
                </a:cubicBezTo>
                <a:cubicBezTo>
                  <a:pt x="88" y="0"/>
                  <a:pt x="88" y="0"/>
                  <a:pt x="88" y="0"/>
                </a:cubicBezTo>
                <a:cubicBezTo>
                  <a:pt x="85" y="0"/>
                  <a:pt x="82" y="2"/>
                  <a:pt x="82" y="5"/>
                </a:cubicBezTo>
                <a:cubicBezTo>
                  <a:pt x="82" y="27"/>
                  <a:pt x="82" y="27"/>
                  <a:pt x="82" y="27"/>
                </a:cubicBezTo>
                <a:cubicBezTo>
                  <a:pt x="81" y="28"/>
                  <a:pt x="80" y="28"/>
                  <a:pt x="79" y="29"/>
                </a:cubicBezTo>
                <a:cubicBezTo>
                  <a:pt x="67" y="35"/>
                  <a:pt x="58" y="47"/>
                  <a:pt x="58" y="61"/>
                </a:cubicBezTo>
                <a:cubicBezTo>
                  <a:pt x="58" y="68"/>
                  <a:pt x="60" y="74"/>
                  <a:pt x="63" y="80"/>
                </a:cubicBezTo>
                <a:cubicBezTo>
                  <a:pt x="63" y="80"/>
                  <a:pt x="63" y="80"/>
                  <a:pt x="64" y="80"/>
                </a:cubicBezTo>
                <a:cubicBezTo>
                  <a:pt x="36" y="146"/>
                  <a:pt x="36" y="146"/>
                  <a:pt x="36" y="146"/>
                </a:cubicBezTo>
                <a:cubicBezTo>
                  <a:pt x="8" y="146"/>
                  <a:pt x="8" y="146"/>
                  <a:pt x="8" y="146"/>
                </a:cubicBezTo>
                <a:cubicBezTo>
                  <a:pt x="4" y="146"/>
                  <a:pt x="0" y="149"/>
                  <a:pt x="0" y="154"/>
                </a:cubicBezTo>
                <a:cubicBezTo>
                  <a:pt x="0" y="158"/>
                  <a:pt x="4" y="161"/>
                  <a:pt x="8" y="161"/>
                </a:cubicBezTo>
                <a:cubicBezTo>
                  <a:pt x="29" y="161"/>
                  <a:pt x="29" y="161"/>
                  <a:pt x="29" y="161"/>
                </a:cubicBezTo>
                <a:cubicBezTo>
                  <a:pt x="21" y="181"/>
                  <a:pt x="21" y="181"/>
                  <a:pt x="21" y="181"/>
                </a:cubicBezTo>
                <a:cubicBezTo>
                  <a:pt x="18" y="187"/>
                  <a:pt x="20" y="193"/>
                  <a:pt x="24" y="197"/>
                </a:cubicBezTo>
                <a:cubicBezTo>
                  <a:pt x="22" y="203"/>
                  <a:pt x="22" y="203"/>
                  <a:pt x="22" y="203"/>
                </a:cubicBezTo>
                <a:cubicBezTo>
                  <a:pt x="24" y="215"/>
                  <a:pt x="24" y="215"/>
                  <a:pt x="24" y="215"/>
                </a:cubicBezTo>
                <a:cubicBezTo>
                  <a:pt x="33" y="207"/>
                  <a:pt x="33" y="207"/>
                  <a:pt x="33" y="207"/>
                </a:cubicBezTo>
                <a:cubicBezTo>
                  <a:pt x="36" y="201"/>
                  <a:pt x="36" y="201"/>
                  <a:pt x="36" y="201"/>
                </a:cubicBezTo>
                <a:cubicBezTo>
                  <a:pt x="41" y="201"/>
                  <a:pt x="47" y="197"/>
                  <a:pt x="49" y="191"/>
                </a:cubicBezTo>
                <a:cubicBezTo>
                  <a:pt x="61" y="161"/>
                  <a:pt x="61" y="161"/>
                  <a:pt x="61" y="161"/>
                </a:cubicBezTo>
                <a:cubicBezTo>
                  <a:pt x="86" y="161"/>
                  <a:pt x="86" y="161"/>
                  <a:pt x="86" y="161"/>
                </a:cubicBezTo>
                <a:cubicBezTo>
                  <a:pt x="86" y="163"/>
                  <a:pt x="86" y="163"/>
                  <a:pt x="86" y="163"/>
                </a:cubicBezTo>
                <a:cubicBezTo>
                  <a:pt x="86" y="168"/>
                  <a:pt x="90" y="170"/>
                  <a:pt x="94" y="170"/>
                </a:cubicBezTo>
                <a:cubicBezTo>
                  <a:pt x="99" y="170"/>
                  <a:pt x="102" y="168"/>
                  <a:pt x="102" y="163"/>
                </a:cubicBezTo>
                <a:cubicBezTo>
                  <a:pt x="102" y="161"/>
                  <a:pt x="102" y="161"/>
                  <a:pt x="102" y="161"/>
                </a:cubicBezTo>
                <a:cubicBezTo>
                  <a:pt x="127" y="161"/>
                  <a:pt x="127" y="161"/>
                  <a:pt x="127" y="161"/>
                </a:cubicBezTo>
                <a:cubicBezTo>
                  <a:pt x="140" y="191"/>
                  <a:pt x="140" y="191"/>
                  <a:pt x="140" y="191"/>
                </a:cubicBezTo>
                <a:cubicBezTo>
                  <a:pt x="142" y="197"/>
                  <a:pt x="147" y="201"/>
                  <a:pt x="153" y="201"/>
                </a:cubicBezTo>
                <a:cubicBezTo>
                  <a:pt x="156" y="207"/>
                  <a:pt x="156" y="207"/>
                  <a:pt x="156" y="207"/>
                </a:cubicBezTo>
                <a:cubicBezTo>
                  <a:pt x="165" y="215"/>
                  <a:pt x="165" y="215"/>
                  <a:pt x="165" y="215"/>
                </a:cubicBezTo>
                <a:cubicBezTo>
                  <a:pt x="167" y="203"/>
                  <a:pt x="167" y="203"/>
                  <a:pt x="167" y="203"/>
                </a:cubicBezTo>
                <a:cubicBezTo>
                  <a:pt x="164" y="197"/>
                  <a:pt x="164" y="197"/>
                  <a:pt x="164" y="197"/>
                </a:cubicBezTo>
                <a:cubicBezTo>
                  <a:pt x="168" y="193"/>
                  <a:pt x="170" y="187"/>
                  <a:pt x="168" y="181"/>
                </a:cubicBezTo>
                <a:cubicBezTo>
                  <a:pt x="160" y="161"/>
                  <a:pt x="160" y="161"/>
                  <a:pt x="160" y="161"/>
                </a:cubicBezTo>
                <a:cubicBezTo>
                  <a:pt x="180" y="161"/>
                  <a:pt x="180" y="161"/>
                  <a:pt x="180" y="161"/>
                </a:cubicBezTo>
                <a:cubicBezTo>
                  <a:pt x="185" y="161"/>
                  <a:pt x="188" y="158"/>
                  <a:pt x="188" y="154"/>
                </a:cubicBezTo>
                <a:cubicBezTo>
                  <a:pt x="188" y="149"/>
                  <a:pt x="185" y="146"/>
                  <a:pt x="180" y="146"/>
                </a:cubicBezTo>
                <a:close/>
                <a:moveTo>
                  <a:pt x="94" y="41"/>
                </a:moveTo>
                <a:cubicBezTo>
                  <a:pt x="105" y="41"/>
                  <a:pt x="115" y="50"/>
                  <a:pt x="115" y="61"/>
                </a:cubicBezTo>
                <a:cubicBezTo>
                  <a:pt x="115" y="72"/>
                  <a:pt x="105" y="82"/>
                  <a:pt x="94" y="82"/>
                </a:cubicBezTo>
                <a:cubicBezTo>
                  <a:pt x="83" y="82"/>
                  <a:pt x="74" y="72"/>
                  <a:pt x="74" y="61"/>
                </a:cubicBezTo>
                <a:cubicBezTo>
                  <a:pt x="74" y="50"/>
                  <a:pt x="83" y="41"/>
                  <a:pt x="94" y="41"/>
                </a:cubicBezTo>
                <a:close/>
                <a:moveTo>
                  <a:pt x="102" y="146"/>
                </a:moveTo>
                <a:cubicBezTo>
                  <a:pt x="102" y="142"/>
                  <a:pt x="102" y="142"/>
                  <a:pt x="102" y="142"/>
                </a:cubicBezTo>
                <a:cubicBezTo>
                  <a:pt x="102" y="137"/>
                  <a:pt x="99" y="135"/>
                  <a:pt x="94" y="135"/>
                </a:cubicBezTo>
                <a:cubicBezTo>
                  <a:pt x="90" y="135"/>
                  <a:pt x="86" y="137"/>
                  <a:pt x="86" y="142"/>
                </a:cubicBezTo>
                <a:cubicBezTo>
                  <a:pt x="86" y="146"/>
                  <a:pt x="86" y="146"/>
                  <a:pt x="86" y="146"/>
                </a:cubicBezTo>
                <a:cubicBezTo>
                  <a:pt x="68" y="146"/>
                  <a:pt x="68" y="146"/>
                  <a:pt x="68" y="146"/>
                </a:cubicBezTo>
                <a:cubicBezTo>
                  <a:pt x="90" y="97"/>
                  <a:pt x="90" y="97"/>
                  <a:pt x="90" y="97"/>
                </a:cubicBezTo>
                <a:cubicBezTo>
                  <a:pt x="92" y="97"/>
                  <a:pt x="93" y="97"/>
                  <a:pt x="94" y="97"/>
                </a:cubicBezTo>
                <a:cubicBezTo>
                  <a:pt x="96" y="97"/>
                  <a:pt x="97" y="97"/>
                  <a:pt x="98" y="97"/>
                </a:cubicBezTo>
                <a:cubicBezTo>
                  <a:pt x="120" y="146"/>
                  <a:pt x="120" y="146"/>
                  <a:pt x="120" y="146"/>
                </a:cubicBezTo>
                <a:lnTo>
                  <a:pt x="102" y="14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51" name="Group 350"/>
          <p:cNvGrpSpPr/>
          <p:nvPr userDrawn="1"/>
        </p:nvGrpSpPr>
        <p:grpSpPr>
          <a:xfrm>
            <a:off x="3175557" y="3772032"/>
            <a:ext cx="314086" cy="314084"/>
            <a:chOff x="2344738" y="1804988"/>
            <a:chExt cx="534988" cy="546100"/>
          </a:xfrm>
          <a:solidFill>
            <a:schemeClr val="tx1"/>
          </a:solidFill>
        </p:grpSpPr>
        <p:sp>
          <p:nvSpPr>
            <p:cNvPr id="352" name="Freeform 99"/>
            <p:cNvSpPr>
              <a:spLocks noEditPoints="1"/>
            </p:cNvSpPr>
            <p:nvPr/>
          </p:nvSpPr>
          <p:spPr bwMode="auto">
            <a:xfrm>
              <a:off x="2344738" y="2071688"/>
              <a:ext cx="244475" cy="268288"/>
            </a:xfrm>
            <a:custGeom>
              <a:avLst/>
              <a:gdLst>
                <a:gd name="T0" fmla="*/ 78 w 117"/>
                <a:gd name="T1" fmla="*/ 0 h 127"/>
                <a:gd name="T2" fmla="*/ 11 w 117"/>
                <a:gd name="T3" fmla="*/ 67 h 127"/>
                <a:gd name="T4" fmla="*/ 11 w 117"/>
                <a:gd name="T5" fmla="*/ 106 h 127"/>
                <a:gd name="T6" fmla="*/ 22 w 117"/>
                <a:gd name="T7" fmla="*/ 117 h 127"/>
                <a:gd name="T8" fmla="*/ 60 w 117"/>
                <a:gd name="T9" fmla="*/ 117 h 127"/>
                <a:gd name="T10" fmla="*/ 114 w 117"/>
                <a:gd name="T11" fmla="*/ 63 h 127"/>
                <a:gd name="T12" fmla="*/ 113 w 117"/>
                <a:gd name="T13" fmla="*/ 55 h 127"/>
                <a:gd name="T14" fmla="*/ 117 w 117"/>
                <a:gd name="T15" fmla="*/ 39 h 127"/>
                <a:gd name="T16" fmla="*/ 78 w 117"/>
                <a:gd name="T17" fmla="*/ 0 h 127"/>
                <a:gd name="T18" fmla="*/ 46 w 117"/>
                <a:gd name="T19" fmla="*/ 97 h 127"/>
                <a:gd name="T20" fmla="*/ 31 w 117"/>
                <a:gd name="T21" fmla="*/ 97 h 127"/>
                <a:gd name="T22" fmla="*/ 31 w 117"/>
                <a:gd name="T23" fmla="*/ 81 h 127"/>
                <a:gd name="T24" fmla="*/ 46 w 117"/>
                <a:gd name="T25" fmla="*/ 81 h 127"/>
                <a:gd name="T26" fmla="*/ 46 w 117"/>
                <a:gd name="T27" fmla="*/ 9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27">
                  <a:moveTo>
                    <a:pt x="78" y="0"/>
                  </a:moveTo>
                  <a:cubicBezTo>
                    <a:pt x="11" y="67"/>
                    <a:pt x="11" y="67"/>
                    <a:pt x="11" y="67"/>
                  </a:cubicBezTo>
                  <a:cubicBezTo>
                    <a:pt x="0" y="78"/>
                    <a:pt x="0" y="95"/>
                    <a:pt x="11" y="106"/>
                  </a:cubicBezTo>
                  <a:cubicBezTo>
                    <a:pt x="22" y="117"/>
                    <a:pt x="22" y="117"/>
                    <a:pt x="22" y="117"/>
                  </a:cubicBezTo>
                  <a:cubicBezTo>
                    <a:pt x="32" y="127"/>
                    <a:pt x="50" y="127"/>
                    <a:pt x="60" y="117"/>
                  </a:cubicBezTo>
                  <a:cubicBezTo>
                    <a:pt x="114" y="63"/>
                    <a:pt x="114" y="63"/>
                    <a:pt x="114" y="63"/>
                  </a:cubicBezTo>
                  <a:cubicBezTo>
                    <a:pt x="113" y="60"/>
                    <a:pt x="113" y="58"/>
                    <a:pt x="113" y="55"/>
                  </a:cubicBezTo>
                  <a:cubicBezTo>
                    <a:pt x="113" y="49"/>
                    <a:pt x="115" y="44"/>
                    <a:pt x="117" y="39"/>
                  </a:cubicBezTo>
                  <a:lnTo>
                    <a:pt x="78" y="0"/>
                  </a:lnTo>
                  <a:close/>
                  <a:moveTo>
                    <a:pt x="46" y="97"/>
                  </a:moveTo>
                  <a:cubicBezTo>
                    <a:pt x="42" y="101"/>
                    <a:pt x="35" y="101"/>
                    <a:pt x="31" y="97"/>
                  </a:cubicBezTo>
                  <a:cubicBezTo>
                    <a:pt x="27" y="92"/>
                    <a:pt x="27" y="85"/>
                    <a:pt x="31" y="81"/>
                  </a:cubicBezTo>
                  <a:cubicBezTo>
                    <a:pt x="35" y="77"/>
                    <a:pt x="42" y="77"/>
                    <a:pt x="46" y="81"/>
                  </a:cubicBezTo>
                  <a:cubicBezTo>
                    <a:pt x="51" y="85"/>
                    <a:pt x="51" y="92"/>
                    <a:pt x="46"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3" name="Freeform 100"/>
            <p:cNvSpPr>
              <a:spLocks/>
            </p:cNvSpPr>
            <p:nvPr/>
          </p:nvSpPr>
          <p:spPr bwMode="auto">
            <a:xfrm>
              <a:off x="2579688" y="1804988"/>
              <a:ext cx="300038" cy="277813"/>
            </a:xfrm>
            <a:custGeom>
              <a:avLst/>
              <a:gdLst>
                <a:gd name="T0" fmla="*/ 39 w 143"/>
                <a:gd name="T1" fmla="*/ 132 h 132"/>
                <a:gd name="T2" fmla="*/ 55 w 143"/>
                <a:gd name="T3" fmla="*/ 128 h 132"/>
                <a:gd name="T4" fmla="*/ 63 w 143"/>
                <a:gd name="T5" fmla="*/ 129 h 132"/>
                <a:gd name="T6" fmla="*/ 66 w 143"/>
                <a:gd name="T7" fmla="*/ 126 h 132"/>
                <a:gd name="T8" fmla="*/ 121 w 143"/>
                <a:gd name="T9" fmla="*/ 109 h 132"/>
                <a:gd name="T10" fmla="*/ 136 w 143"/>
                <a:gd name="T11" fmla="*/ 47 h 132"/>
                <a:gd name="T12" fmla="*/ 101 w 143"/>
                <a:gd name="T13" fmla="*/ 82 h 132"/>
                <a:gd name="T14" fmla="*/ 69 w 143"/>
                <a:gd name="T15" fmla="*/ 74 h 132"/>
                <a:gd name="T16" fmla="*/ 60 w 143"/>
                <a:gd name="T17" fmla="*/ 42 h 132"/>
                <a:gd name="T18" fmla="*/ 96 w 143"/>
                <a:gd name="T19" fmla="*/ 6 h 132"/>
                <a:gd name="T20" fmla="*/ 34 w 143"/>
                <a:gd name="T21" fmla="*/ 22 h 132"/>
                <a:gd name="T22" fmla="*/ 17 w 143"/>
                <a:gd name="T23" fmla="*/ 76 h 132"/>
                <a:gd name="T24" fmla="*/ 0 w 143"/>
                <a:gd name="T25" fmla="*/ 93 h 132"/>
                <a:gd name="T26" fmla="*/ 39 w 143"/>
                <a:gd name="T2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 h="132">
                  <a:moveTo>
                    <a:pt x="39" y="132"/>
                  </a:moveTo>
                  <a:cubicBezTo>
                    <a:pt x="44" y="129"/>
                    <a:pt x="50" y="128"/>
                    <a:pt x="55" y="128"/>
                  </a:cubicBezTo>
                  <a:cubicBezTo>
                    <a:pt x="58" y="128"/>
                    <a:pt x="61" y="128"/>
                    <a:pt x="63" y="129"/>
                  </a:cubicBezTo>
                  <a:cubicBezTo>
                    <a:pt x="66" y="126"/>
                    <a:pt x="66" y="126"/>
                    <a:pt x="66" y="126"/>
                  </a:cubicBezTo>
                  <a:cubicBezTo>
                    <a:pt x="85" y="129"/>
                    <a:pt x="106" y="124"/>
                    <a:pt x="121" y="109"/>
                  </a:cubicBezTo>
                  <a:cubicBezTo>
                    <a:pt x="138" y="92"/>
                    <a:pt x="143" y="68"/>
                    <a:pt x="136" y="47"/>
                  </a:cubicBezTo>
                  <a:cubicBezTo>
                    <a:pt x="101" y="82"/>
                    <a:pt x="101" y="82"/>
                    <a:pt x="101" y="82"/>
                  </a:cubicBezTo>
                  <a:cubicBezTo>
                    <a:pt x="101" y="82"/>
                    <a:pt x="85" y="90"/>
                    <a:pt x="69" y="74"/>
                  </a:cubicBezTo>
                  <a:cubicBezTo>
                    <a:pt x="53" y="58"/>
                    <a:pt x="60" y="42"/>
                    <a:pt x="60" y="42"/>
                  </a:cubicBezTo>
                  <a:cubicBezTo>
                    <a:pt x="96" y="6"/>
                    <a:pt x="96" y="6"/>
                    <a:pt x="96" y="6"/>
                  </a:cubicBezTo>
                  <a:cubicBezTo>
                    <a:pt x="74" y="0"/>
                    <a:pt x="50" y="5"/>
                    <a:pt x="34" y="22"/>
                  </a:cubicBezTo>
                  <a:cubicBezTo>
                    <a:pt x="19" y="36"/>
                    <a:pt x="13" y="57"/>
                    <a:pt x="17" y="76"/>
                  </a:cubicBezTo>
                  <a:cubicBezTo>
                    <a:pt x="0" y="93"/>
                    <a:pt x="0" y="93"/>
                    <a:pt x="0" y="93"/>
                  </a:cubicBezTo>
                  <a:lnTo>
                    <a:pt x="39"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4" name="Freeform 101"/>
            <p:cNvSpPr>
              <a:spLocks noEditPoints="1"/>
            </p:cNvSpPr>
            <p:nvPr/>
          </p:nvSpPr>
          <p:spPr bwMode="auto">
            <a:xfrm>
              <a:off x="2363788" y="1855788"/>
              <a:ext cx="495300" cy="495300"/>
            </a:xfrm>
            <a:custGeom>
              <a:avLst/>
              <a:gdLst>
                <a:gd name="T0" fmla="*/ 171 w 236"/>
                <a:gd name="T1" fmla="*/ 122 h 236"/>
                <a:gd name="T2" fmla="*/ 145 w 236"/>
                <a:gd name="T3" fmla="*/ 122 h 236"/>
                <a:gd name="T4" fmla="*/ 142 w 236"/>
                <a:gd name="T5" fmla="*/ 125 h 236"/>
                <a:gd name="T6" fmla="*/ 47 w 236"/>
                <a:gd name="T7" fmla="*/ 31 h 236"/>
                <a:gd name="T8" fmla="*/ 37 w 236"/>
                <a:gd name="T9" fmla="*/ 20 h 236"/>
                <a:gd name="T10" fmla="*/ 2 w 236"/>
                <a:gd name="T11" fmla="*/ 1 h 236"/>
                <a:gd name="T12" fmla="*/ 1 w 236"/>
                <a:gd name="T13" fmla="*/ 1 h 236"/>
                <a:gd name="T14" fmla="*/ 1 w 236"/>
                <a:gd name="T15" fmla="*/ 2 h 236"/>
                <a:gd name="T16" fmla="*/ 21 w 236"/>
                <a:gd name="T17" fmla="*/ 37 h 236"/>
                <a:gd name="T18" fmla="*/ 31 w 236"/>
                <a:gd name="T19" fmla="*/ 47 h 236"/>
                <a:gd name="T20" fmla="*/ 125 w 236"/>
                <a:gd name="T21" fmla="*/ 142 h 236"/>
                <a:gd name="T22" fmla="*/ 122 w 236"/>
                <a:gd name="T23" fmla="*/ 145 h 236"/>
                <a:gd name="T24" fmla="*/ 122 w 236"/>
                <a:gd name="T25" fmla="*/ 171 h 236"/>
                <a:gd name="T26" fmla="*/ 179 w 236"/>
                <a:gd name="T27" fmla="*/ 229 h 236"/>
                <a:gd name="T28" fmla="*/ 205 w 236"/>
                <a:gd name="T29" fmla="*/ 229 h 236"/>
                <a:gd name="T30" fmla="*/ 229 w 236"/>
                <a:gd name="T31" fmla="*/ 205 h 236"/>
                <a:gd name="T32" fmla="*/ 229 w 236"/>
                <a:gd name="T33" fmla="*/ 179 h 236"/>
                <a:gd name="T34" fmla="*/ 171 w 236"/>
                <a:gd name="T35" fmla="*/ 122 h 236"/>
                <a:gd name="T36" fmla="*/ 192 w 236"/>
                <a:gd name="T37" fmla="*/ 208 h 236"/>
                <a:gd name="T38" fmla="*/ 189 w 236"/>
                <a:gd name="T39" fmla="*/ 209 h 236"/>
                <a:gd name="T40" fmla="*/ 186 w 236"/>
                <a:gd name="T41" fmla="*/ 208 h 236"/>
                <a:gd name="T42" fmla="*/ 140 w 236"/>
                <a:gd name="T43" fmla="*/ 162 h 236"/>
                <a:gd name="T44" fmla="*/ 140 w 236"/>
                <a:gd name="T45" fmla="*/ 156 h 236"/>
                <a:gd name="T46" fmla="*/ 146 w 236"/>
                <a:gd name="T47" fmla="*/ 156 h 236"/>
                <a:gd name="T48" fmla="*/ 192 w 236"/>
                <a:gd name="T49" fmla="*/ 202 h 236"/>
                <a:gd name="T50" fmla="*/ 192 w 236"/>
                <a:gd name="T51" fmla="*/ 208 h 236"/>
                <a:gd name="T52" fmla="*/ 208 w 236"/>
                <a:gd name="T53" fmla="*/ 191 h 236"/>
                <a:gd name="T54" fmla="*/ 205 w 236"/>
                <a:gd name="T55" fmla="*/ 193 h 236"/>
                <a:gd name="T56" fmla="*/ 202 w 236"/>
                <a:gd name="T57" fmla="*/ 191 h 236"/>
                <a:gd name="T58" fmla="*/ 156 w 236"/>
                <a:gd name="T59" fmla="*/ 146 h 236"/>
                <a:gd name="T60" fmla="*/ 156 w 236"/>
                <a:gd name="T61" fmla="*/ 140 h 236"/>
                <a:gd name="T62" fmla="*/ 162 w 236"/>
                <a:gd name="T63" fmla="*/ 140 h 236"/>
                <a:gd name="T64" fmla="*/ 208 w 236"/>
                <a:gd name="T65" fmla="*/ 185 h 236"/>
                <a:gd name="T66" fmla="*/ 208 w 236"/>
                <a:gd name="T67" fmla="*/ 191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171" y="122"/>
                  </a:moveTo>
                  <a:cubicBezTo>
                    <a:pt x="164" y="115"/>
                    <a:pt x="153" y="115"/>
                    <a:pt x="145" y="122"/>
                  </a:cubicBezTo>
                  <a:cubicBezTo>
                    <a:pt x="142" y="125"/>
                    <a:pt x="142" y="125"/>
                    <a:pt x="142" y="125"/>
                  </a:cubicBezTo>
                  <a:cubicBezTo>
                    <a:pt x="47" y="31"/>
                    <a:pt x="47" y="31"/>
                    <a:pt x="47" y="31"/>
                  </a:cubicBezTo>
                  <a:cubicBezTo>
                    <a:pt x="37" y="20"/>
                    <a:pt x="37" y="20"/>
                    <a:pt x="37" y="20"/>
                  </a:cubicBezTo>
                  <a:cubicBezTo>
                    <a:pt x="2" y="1"/>
                    <a:pt x="2" y="1"/>
                    <a:pt x="2" y="1"/>
                  </a:cubicBezTo>
                  <a:cubicBezTo>
                    <a:pt x="2" y="1"/>
                    <a:pt x="1" y="0"/>
                    <a:pt x="1" y="1"/>
                  </a:cubicBezTo>
                  <a:cubicBezTo>
                    <a:pt x="0" y="1"/>
                    <a:pt x="1" y="2"/>
                    <a:pt x="1" y="2"/>
                  </a:cubicBezTo>
                  <a:cubicBezTo>
                    <a:pt x="21" y="37"/>
                    <a:pt x="21" y="37"/>
                    <a:pt x="21" y="37"/>
                  </a:cubicBezTo>
                  <a:cubicBezTo>
                    <a:pt x="31" y="47"/>
                    <a:pt x="31" y="47"/>
                    <a:pt x="31" y="47"/>
                  </a:cubicBezTo>
                  <a:cubicBezTo>
                    <a:pt x="125" y="142"/>
                    <a:pt x="125" y="142"/>
                    <a:pt x="125" y="142"/>
                  </a:cubicBezTo>
                  <a:cubicBezTo>
                    <a:pt x="122" y="145"/>
                    <a:pt x="122" y="145"/>
                    <a:pt x="122" y="145"/>
                  </a:cubicBezTo>
                  <a:cubicBezTo>
                    <a:pt x="115" y="152"/>
                    <a:pt x="115" y="164"/>
                    <a:pt x="122" y="171"/>
                  </a:cubicBezTo>
                  <a:cubicBezTo>
                    <a:pt x="179" y="229"/>
                    <a:pt x="179" y="229"/>
                    <a:pt x="179" y="229"/>
                  </a:cubicBezTo>
                  <a:cubicBezTo>
                    <a:pt x="186" y="236"/>
                    <a:pt x="198" y="236"/>
                    <a:pt x="205" y="229"/>
                  </a:cubicBezTo>
                  <a:cubicBezTo>
                    <a:pt x="229" y="205"/>
                    <a:pt x="229" y="205"/>
                    <a:pt x="229" y="205"/>
                  </a:cubicBezTo>
                  <a:cubicBezTo>
                    <a:pt x="236" y="198"/>
                    <a:pt x="236" y="186"/>
                    <a:pt x="229" y="179"/>
                  </a:cubicBezTo>
                  <a:lnTo>
                    <a:pt x="171" y="122"/>
                  </a:lnTo>
                  <a:close/>
                  <a:moveTo>
                    <a:pt x="192" y="208"/>
                  </a:moveTo>
                  <a:cubicBezTo>
                    <a:pt x="191" y="209"/>
                    <a:pt x="190" y="209"/>
                    <a:pt x="189" y="209"/>
                  </a:cubicBezTo>
                  <a:cubicBezTo>
                    <a:pt x="188" y="209"/>
                    <a:pt x="187" y="209"/>
                    <a:pt x="186" y="208"/>
                  </a:cubicBezTo>
                  <a:cubicBezTo>
                    <a:pt x="140" y="162"/>
                    <a:pt x="140" y="162"/>
                    <a:pt x="140" y="162"/>
                  </a:cubicBezTo>
                  <a:cubicBezTo>
                    <a:pt x="138" y="160"/>
                    <a:pt x="138" y="158"/>
                    <a:pt x="140" y="156"/>
                  </a:cubicBezTo>
                  <a:cubicBezTo>
                    <a:pt x="142" y="154"/>
                    <a:pt x="144" y="154"/>
                    <a:pt x="146" y="156"/>
                  </a:cubicBezTo>
                  <a:cubicBezTo>
                    <a:pt x="192" y="202"/>
                    <a:pt x="192" y="202"/>
                    <a:pt x="192" y="202"/>
                  </a:cubicBezTo>
                  <a:cubicBezTo>
                    <a:pt x="193" y="203"/>
                    <a:pt x="193" y="206"/>
                    <a:pt x="192" y="208"/>
                  </a:cubicBezTo>
                  <a:close/>
                  <a:moveTo>
                    <a:pt x="208" y="191"/>
                  </a:moveTo>
                  <a:cubicBezTo>
                    <a:pt x="207" y="192"/>
                    <a:pt x="206" y="193"/>
                    <a:pt x="205" y="193"/>
                  </a:cubicBezTo>
                  <a:cubicBezTo>
                    <a:pt x="204" y="193"/>
                    <a:pt x="203" y="192"/>
                    <a:pt x="202" y="191"/>
                  </a:cubicBezTo>
                  <a:cubicBezTo>
                    <a:pt x="156" y="146"/>
                    <a:pt x="156" y="146"/>
                    <a:pt x="156" y="146"/>
                  </a:cubicBezTo>
                  <a:cubicBezTo>
                    <a:pt x="155" y="144"/>
                    <a:pt x="155" y="141"/>
                    <a:pt x="156" y="140"/>
                  </a:cubicBezTo>
                  <a:cubicBezTo>
                    <a:pt x="158" y="138"/>
                    <a:pt x="161" y="138"/>
                    <a:pt x="162" y="140"/>
                  </a:cubicBezTo>
                  <a:cubicBezTo>
                    <a:pt x="208" y="185"/>
                    <a:pt x="208" y="185"/>
                    <a:pt x="208" y="185"/>
                  </a:cubicBezTo>
                  <a:cubicBezTo>
                    <a:pt x="210" y="187"/>
                    <a:pt x="210" y="190"/>
                    <a:pt x="208"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74" name="Freeform 28"/>
          <p:cNvSpPr>
            <a:spLocks noEditPoints="1"/>
          </p:cNvSpPr>
          <p:nvPr userDrawn="1"/>
        </p:nvSpPr>
        <p:spPr bwMode="auto">
          <a:xfrm>
            <a:off x="3876913" y="3780935"/>
            <a:ext cx="296278" cy="296278"/>
          </a:xfrm>
          <a:custGeom>
            <a:avLst/>
            <a:gdLst>
              <a:gd name="T0" fmla="*/ 109 w 429"/>
              <a:gd name="T1" fmla="*/ 405 h 429"/>
              <a:gd name="T2" fmla="*/ 282 w 429"/>
              <a:gd name="T3" fmla="*/ 207 h 429"/>
              <a:gd name="T4" fmla="*/ 322 w 429"/>
              <a:gd name="T5" fmla="*/ 214 h 429"/>
              <a:gd name="T6" fmla="*/ 397 w 429"/>
              <a:gd name="T7" fmla="*/ 183 h 429"/>
              <a:gd name="T8" fmla="*/ 429 w 429"/>
              <a:gd name="T9" fmla="*/ 107 h 429"/>
              <a:gd name="T10" fmla="*/ 426 w 429"/>
              <a:gd name="T11" fmla="*/ 85 h 429"/>
              <a:gd name="T12" fmla="*/ 411 w 429"/>
              <a:gd name="T13" fmla="*/ 75 h 429"/>
              <a:gd name="T14" fmla="*/ 404 w 429"/>
              <a:gd name="T15" fmla="*/ 79 h 429"/>
              <a:gd name="T16" fmla="*/ 362 w 429"/>
              <a:gd name="T17" fmla="*/ 121 h 429"/>
              <a:gd name="T18" fmla="*/ 308 w 429"/>
              <a:gd name="T19" fmla="*/ 67 h 429"/>
              <a:gd name="T20" fmla="*/ 350 w 429"/>
              <a:gd name="T21" fmla="*/ 25 h 429"/>
              <a:gd name="T22" fmla="*/ 350 w 429"/>
              <a:gd name="T23" fmla="*/ 6 h 429"/>
              <a:gd name="T24" fmla="*/ 322 w 429"/>
              <a:gd name="T25" fmla="*/ 0 h 429"/>
              <a:gd name="T26" fmla="*/ 302 w 429"/>
              <a:gd name="T27" fmla="*/ 2 h 429"/>
              <a:gd name="T28" fmla="*/ 246 w 429"/>
              <a:gd name="T29" fmla="*/ 32 h 429"/>
              <a:gd name="T30" fmla="*/ 215 w 429"/>
              <a:gd name="T31" fmla="*/ 107 h 429"/>
              <a:gd name="T32" fmla="*/ 222 w 429"/>
              <a:gd name="T33" fmla="*/ 147 h 429"/>
              <a:gd name="T34" fmla="*/ 24 w 429"/>
              <a:gd name="T35" fmla="*/ 321 h 429"/>
              <a:gd name="T36" fmla="*/ 18 w 429"/>
              <a:gd name="T37" fmla="*/ 326 h 429"/>
              <a:gd name="T38" fmla="*/ 0 w 429"/>
              <a:gd name="T39" fmla="*/ 368 h 429"/>
              <a:gd name="T40" fmla="*/ 18 w 429"/>
              <a:gd name="T41" fmla="*/ 411 h 429"/>
              <a:gd name="T42" fmla="*/ 61 w 429"/>
              <a:gd name="T43" fmla="*/ 429 h 429"/>
              <a:gd name="T44" fmla="*/ 103 w 429"/>
              <a:gd name="T45" fmla="*/ 411 h 429"/>
              <a:gd name="T46" fmla="*/ 109 w 429"/>
              <a:gd name="T47" fmla="*/ 405 h 429"/>
              <a:gd name="T48" fmla="*/ 61 w 429"/>
              <a:gd name="T49" fmla="*/ 348 h 429"/>
              <a:gd name="T50" fmla="*/ 75 w 429"/>
              <a:gd name="T51" fmla="*/ 354 h 429"/>
              <a:gd name="T52" fmla="*/ 81 w 429"/>
              <a:gd name="T53" fmla="*/ 368 h 429"/>
              <a:gd name="T54" fmla="*/ 75 w 429"/>
              <a:gd name="T55" fmla="*/ 383 h 429"/>
              <a:gd name="T56" fmla="*/ 61 w 429"/>
              <a:gd name="T57" fmla="*/ 388 h 429"/>
              <a:gd name="T58" fmla="*/ 46 w 429"/>
              <a:gd name="T59" fmla="*/ 383 h 429"/>
              <a:gd name="T60" fmla="*/ 41 w 429"/>
              <a:gd name="T61" fmla="*/ 368 h 429"/>
              <a:gd name="T62" fmla="*/ 46 w 429"/>
              <a:gd name="T63" fmla="*/ 354 h 429"/>
              <a:gd name="T64" fmla="*/ 61 w 429"/>
              <a:gd name="T65" fmla="*/ 348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29" h="429">
                <a:moveTo>
                  <a:pt x="109" y="405"/>
                </a:moveTo>
                <a:cubicBezTo>
                  <a:pt x="282" y="207"/>
                  <a:pt x="282" y="207"/>
                  <a:pt x="282" y="207"/>
                </a:cubicBezTo>
                <a:cubicBezTo>
                  <a:pt x="294" y="212"/>
                  <a:pt x="308" y="214"/>
                  <a:pt x="322" y="214"/>
                </a:cubicBezTo>
                <a:cubicBezTo>
                  <a:pt x="351" y="214"/>
                  <a:pt x="378" y="202"/>
                  <a:pt x="397" y="183"/>
                </a:cubicBezTo>
                <a:cubicBezTo>
                  <a:pt x="417" y="164"/>
                  <a:pt x="429" y="137"/>
                  <a:pt x="429" y="107"/>
                </a:cubicBezTo>
                <a:cubicBezTo>
                  <a:pt x="429" y="100"/>
                  <a:pt x="428" y="93"/>
                  <a:pt x="426" y="85"/>
                </a:cubicBezTo>
                <a:cubicBezTo>
                  <a:pt x="425" y="78"/>
                  <a:pt x="418" y="74"/>
                  <a:pt x="411" y="75"/>
                </a:cubicBezTo>
                <a:cubicBezTo>
                  <a:pt x="408" y="76"/>
                  <a:pt x="406" y="77"/>
                  <a:pt x="404" y="79"/>
                </a:cubicBezTo>
                <a:cubicBezTo>
                  <a:pt x="362" y="121"/>
                  <a:pt x="362" y="121"/>
                  <a:pt x="362" y="121"/>
                </a:cubicBezTo>
                <a:cubicBezTo>
                  <a:pt x="308" y="67"/>
                  <a:pt x="308" y="67"/>
                  <a:pt x="308" y="67"/>
                </a:cubicBezTo>
                <a:cubicBezTo>
                  <a:pt x="350" y="25"/>
                  <a:pt x="350" y="25"/>
                  <a:pt x="350" y="25"/>
                </a:cubicBezTo>
                <a:cubicBezTo>
                  <a:pt x="356" y="20"/>
                  <a:pt x="356" y="11"/>
                  <a:pt x="350" y="6"/>
                </a:cubicBezTo>
                <a:cubicBezTo>
                  <a:pt x="345" y="0"/>
                  <a:pt x="330" y="0"/>
                  <a:pt x="322" y="0"/>
                </a:cubicBezTo>
                <a:cubicBezTo>
                  <a:pt x="317" y="0"/>
                  <a:pt x="308" y="1"/>
                  <a:pt x="302" y="2"/>
                </a:cubicBezTo>
                <a:cubicBezTo>
                  <a:pt x="280" y="6"/>
                  <a:pt x="261" y="17"/>
                  <a:pt x="246" y="32"/>
                </a:cubicBezTo>
                <a:cubicBezTo>
                  <a:pt x="227" y="51"/>
                  <a:pt x="215" y="78"/>
                  <a:pt x="215" y="107"/>
                </a:cubicBezTo>
                <a:cubicBezTo>
                  <a:pt x="215" y="121"/>
                  <a:pt x="217" y="135"/>
                  <a:pt x="222" y="147"/>
                </a:cubicBezTo>
                <a:cubicBezTo>
                  <a:pt x="24" y="321"/>
                  <a:pt x="24" y="321"/>
                  <a:pt x="24" y="321"/>
                </a:cubicBezTo>
                <a:cubicBezTo>
                  <a:pt x="22" y="322"/>
                  <a:pt x="20" y="324"/>
                  <a:pt x="18" y="326"/>
                </a:cubicBezTo>
                <a:cubicBezTo>
                  <a:pt x="7" y="337"/>
                  <a:pt x="0" y="352"/>
                  <a:pt x="0" y="368"/>
                </a:cubicBezTo>
                <a:cubicBezTo>
                  <a:pt x="0" y="385"/>
                  <a:pt x="7" y="400"/>
                  <a:pt x="18" y="411"/>
                </a:cubicBezTo>
                <a:cubicBezTo>
                  <a:pt x="29" y="422"/>
                  <a:pt x="44" y="429"/>
                  <a:pt x="61" y="429"/>
                </a:cubicBezTo>
                <a:cubicBezTo>
                  <a:pt x="77" y="429"/>
                  <a:pt x="92" y="422"/>
                  <a:pt x="103" y="411"/>
                </a:cubicBezTo>
                <a:cubicBezTo>
                  <a:pt x="105" y="409"/>
                  <a:pt x="107" y="407"/>
                  <a:pt x="109" y="405"/>
                </a:cubicBezTo>
                <a:close/>
                <a:moveTo>
                  <a:pt x="61" y="348"/>
                </a:moveTo>
                <a:cubicBezTo>
                  <a:pt x="66" y="348"/>
                  <a:pt x="71" y="351"/>
                  <a:pt x="75" y="354"/>
                </a:cubicBezTo>
                <a:cubicBezTo>
                  <a:pt x="78" y="358"/>
                  <a:pt x="81" y="363"/>
                  <a:pt x="81" y="368"/>
                </a:cubicBezTo>
                <a:cubicBezTo>
                  <a:pt x="81" y="374"/>
                  <a:pt x="78" y="379"/>
                  <a:pt x="75" y="383"/>
                </a:cubicBezTo>
                <a:cubicBezTo>
                  <a:pt x="71" y="386"/>
                  <a:pt x="66" y="388"/>
                  <a:pt x="61" y="388"/>
                </a:cubicBezTo>
                <a:cubicBezTo>
                  <a:pt x="55" y="388"/>
                  <a:pt x="50" y="386"/>
                  <a:pt x="46" y="383"/>
                </a:cubicBezTo>
                <a:cubicBezTo>
                  <a:pt x="43" y="379"/>
                  <a:pt x="41" y="374"/>
                  <a:pt x="41" y="368"/>
                </a:cubicBezTo>
                <a:cubicBezTo>
                  <a:pt x="41" y="363"/>
                  <a:pt x="43" y="358"/>
                  <a:pt x="46" y="354"/>
                </a:cubicBezTo>
                <a:cubicBezTo>
                  <a:pt x="50" y="351"/>
                  <a:pt x="55" y="348"/>
                  <a:pt x="61" y="34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36" name="Group 82">
            <a:extLst>
              <a:ext uri="{FF2B5EF4-FFF2-40B4-BE49-F238E27FC236}">
                <a16:creationId xmlns:a16="http://schemas.microsoft.com/office/drawing/2014/main" id="{2E6CA3DC-4CA7-49F7-BC6D-5C56257340EE}"/>
              </a:ext>
            </a:extLst>
          </p:cNvPr>
          <p:cNvGrpSpPr>
            <a:grpSpLocks noChangeAspect="1"/>
          </p:cNvGrpSpPr>
          <p:nvPr userDrawn="1"/>
        </p:nvGrpSpPr>
        <p:grpSpPr bwMode="auto">
          <a:xfrm>
            <a:off x="5031246" y="3874037"/>
            <a:ext cx="347948" cy="110074"/>
            <a:chOff x="8133" y="2398"/>
            <a:chExt cx="1394" cy="441"/>
          </a:xfrm>
          <a:solidFill>
            <a:schemeClr val="tx1"/>
          </a:solidFill>
        </p:grpSpPr>
        <p:sp>
          <p:nvSpPr>
            <p:cNvPr id="437" name="Freeform 83">
              <a:extLst>
                <a:ext uri="{FF2B5EF4-FFF2-40B4-BE49-F238E27FC236}">
                  <a16:creationId xmlns:a16="http://schemas.microsoft.com/office/drawing/2014/main" id="{7E95C35E-8F01-42AD-B1E1-111FBAC65C5B}"/>
                </a:ext>
              </a:extLst>
            </p:cNvPr>
            <p:cNvSpPr>
              <a:spLocks/>
            </p:cNvSpPr>
            <p:nvPr userDrawn="1"/>
          </p:nvSpPr>
          <p:spPr bwMode="auto">
            <a:xfrm>
              <a:off x="8258" y="2438"/>
              <a:ext cx="1142" cy="361"/>
            </a:xfrm>
            <a:custGeom>
              <a:avLst/>
              <a:gdLst>
                <a:gd name="T0" fmla="*/ 138 w 548"/>
                <a:gd name="T1" fmla="*/ 23 h 171"/>
                <a:gd name="T2" fmla="*/ 129 w 548"/>
                <a:gd name="T3" fmla="*/ 84 h 171"/>
                <a:gd name="T4" fmla="*/ 187 w 548"/>
                <a:gd name="T5" fmla="*/ 123 h 171"/>
                <a:gd name="T6" fmla="*/ 188 w 548"/>
                <a:gd name="T7" fmla="*/ 132 h 171"/>
                <a:gd name="T8" fmla="*/ 183 w 548"/>
                <a:gd name="T9" fmla="*/ 134 h 171"/>
                <a:gd name="T10" fmla="*/ 180 w 548"/>
                <a:gd name="T11" fmla="*/ 133 h 171"/>
                <a:gd name="T12" fmla="*/ 116 w 548"/>
                <a:gd name="T13" fmla="*/ 89 h 171"/>
                <a:gd name="T14" fmla="*/ 125 w 548"/>
                <a:gd name="T15" fmla="*/ 29 h 171"/>
                <a:gd name="T16" fmla="*/ 84 w 548"/>
                <a:gd name="T17" fmla="*/ 2 h 171"/>
                <a:gd name="T18" fmla="*/ 82 w 548"/>
                <a:gd name="T19" fmla="*/ 0 h 171"/>
                <a:gd name="T20" fmla="*/ 0 w 548"/>
                <a:gd name="T21" fmla="*/ 0 h 171"/>
                <a:gd name="T22" fmla="*/ 0 w 548"/>
                <a:gd name="T23" fmla="*/ 171 h 171"/>
                <a:gd name="T24" fmla="*/ 372 w 548"/>
                <a:gd name="T25" fmla="*/ 171 h 171"/>
                <a:gd name="T26" fmla="*/ 372 w 548"/>
                <a:gd name="T27" fmla="*/ 170 h 171"/>
                <a:gd name="T28" fmla="*/ 383 w 548"/>
                <a:gd name="T29" fmla="*/ 140 h 171"/>
                <a:gd name="T30" fmla="*/ 363 w 548"/>
                <a:gd name="T31" fmla="*/ 92 h 171"/>
                <a:gd name="T32" fmla="*/ 366 w 548"/>
                <a:gd name="T33" fmla="*/ 84 h 171"/>
                <a:gd name="T34" fmla="*/ 374 w 548"/>
                <a:gd name="T35" fmla="*/ 87 h 171"/>
                <a:gd name="T36" fmla="*/ 390 w 548"/>
                <a:gd name="T37" fmla="*/ 124 h 171"/>
                <a:gd name="T38" fmla="*/ 400 w 548"/>
                <a:gd name="T39" fmla="*/ 98 h 171"/>
                <a:gd name="T40" fmla="*/ 460 w 548"/>
                <a:gd name="T41" fmla="*/ 92 h 171"/>
                <a:gd name="T42" fmla="*/ 477 w 548"/>
                <a:gd name="T43" fmla="*/ 46 h 171"/>
                <a:gd name="T44" fmla="*/ 485 w 548"/>
                <a:gd name="T45" fmla="*/ 42 h 171"/>
                <a:gd name="T46" fmla="*/ 488 w 548"/>
                <a:gd name="T47" fmla="*/ 50 h 171"/>
                <a:gd name="T48" fmla="*/ 469 w 548"/>
                <a:gd name="T49" fmla="*/ 103 h 171"/>
                <a:gd name="T50" fmla="*/ 408 w 548"/>
                <a:gd name="T51" fmla="*/ 109 h 171"/>
                <a:gd name="T52" fmla="*/ 384 w 548"/>
                <a:gd name="T53" fmla="*/ 171 h 171"/>
                <a:gd name="T54" fmla="*/ 548 w 548"/>
                <a:gd name="T55" fmla="*/ 171 h 171"/>
                <a:gd name="T56" fmla="*/ 548 w 548"/>
                <a:gd name="T57" fmla="*/ 0 h 171"/>
                <a:gd name="T58" fmla="*/ 103 w 548"/>
                <a:gd name="T59" fmla="*/ 0 h 171"/>
                <a:gd name="T60" fmla="*/ 138 w 548"/>
                <a:gd name="T61" fmla="*/ 2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8" h="171">
                  <a:moveTo>
                    <a:pt x="138" y="23"/>
                  </a:moveTo>
                  <a:cubicBezTo>
                    <a:pt x="129" y="84"/>
                    <a:pt x="129" y="84"/>
                    <a:pt x="129" y="84"/>
                  </a:cubicBezTo>
                  <a:cubicBezTo>
                    <a:pt x="187" y="123"/>
                    <a:pt x="187" y="123"/>
                    <a:pt x="187" y="123"/>
                  </a:cubicBezTo>
                  <a:cubicBezTo>
                    <a:pt x="189" y="125"/>
                    <a:pt x="190" y="129"/>
                    <a:pt x="188" y="132"/>
                  </a:cubicBezTo>
                  <a:cubicBezTo>
                    <a:pt x="187" y="133"/>
                    <a:pt x="185" y="134"/>
                    <a:pt x="183" y="134"/>
                  </a:cubicBezTo>
                  <a:cubicBezTo>
                    <a:pt x="182" y="134"/>
                    <a:pt x="181" y="134"/>
                    <a:pt x="180" y="133"/>
                  </a:cubicBezTo>
                  <a:cubicBezTo>
                    <a:pt x="116" y="89"/>
                    <a:pt x="116" y="89"/>
                    <a:pt x="116" y="89"/>
                  </a:cubicBezTo>
                  <a:cubicBezTo>
                    <a:pt x="125" y="29"/>
                    <a:pt x="125" y="29"/>
                    <a:pt x="125" y="29"/>
                  </a:cubicBezTo>
                  <a:cubicBezTo>
                    <a:pt x="84" y="2"/>
                    <a:pt x="84" y="2"/>
                    <a:pt x="84" y="2"/>
                  </a:cubicBezTo>
                  <a:cubicBezTo>
                    <a:pt x="83" y="2"/>
                    <a:pt x="83" y="1"/>
                    <a:pt x="82" y="0"/>
                  </a:cubicBezTo>
                  <a:cubicBezTo>
                    <a:pt x="0" y="0"/>
                    <a:pt x="0" y="0"/>
                    <a:pt x="0" y="0"/>
                  </a:cubicBezTo>
                  <a:cubicBezTo>
                    <a:pt x="0" y="171"/>
                    <a:pt x="0" y="171"/>
                    <a:pt x="0" y="171"/>
                  </a:cubicBezTo>
                  <a:cubicBezTo>
                    <a:pt x="372" y="171"/>
                    <a:pt x="372" y="171"/>
                    <a:pt x="372" y="171"/>
                  </a:cubicBezTo>
                  <a:cubicBezTo>
                    <a:pt x="372" y="171"/>
                    <a:pt x="372" y="170"/>
                    <a:pt x="372" y="170"/>
                  </a:cubicBezTo>
                  <a:cubicBezTo>
                    <a:pt x="383" y="140"/>
                    <a:pt x="383" y="140"/>
                    <a:pt x="383" y="140"/>
                  </a:cubicBezTo>
                  <a:cubicBezTo>
                    <a:pt x="363" y="92"/>
                    <a:pt x="363" y="92"/>
                    <a:pt x="363" y="92"/>
                  </a:cubicBezTo>
                  <a:cubicBezTo>
                    <a:pt x="362" y="89"/>
                    <a:pt x="363" y="85"/>
                    <a:pt x="366" y="84"/>
                  </a:cubicBezTo>
                  <a:cubicBezTo>
                    <a:pt x="369" y="83"/>
                    <a:pt x="373" y="84"/>
                    <a:pt x="374" y="87"/>
                  </a:cubicBezTo>
                  <a:cubicBezTo>
                    <a:pt x="390" y="124"/>
                    <a:pt x="390" y="124"/>
                    <a:pt x="390" y="124"/>
                  </a:cubicBezTo>
                  <a:cubicBezTo>
                    <a:pt x="400" y="98"/>
                    <a:pt x="400" y="98"/>
                    <a:pt x="400" y="98"/>
                  </a:cubicBezTo>
                  <a:cubicBezTo>
                    <a:pt x="460" y="92"/>
                    <a:pt x="460" y="92"/>
                    <a:pt x="460" y="92"/>
                  </a:cubicBezTo>
                  <a:cubicBezTo>
                    <a:pt x="477" y="46"/>
                    <a:pt x="477" y="46"/>
                    <a:pt x="477" y="46"/>
                  </a:cubicBezTo>
                  <a:cubicBezTo>
                    <a:pt x="478" y="43"/>
                    <a:pt x="482" y="41"/>
                    <a:pt x="485" y="42"/>
                  </a:cubicBezTo>
                  <a:cubicBezTo>
                    <a:pt x="488" y="44"/>
                    <a:pt x="489" y="47"/>
                    <a:pt x="488" y="50"/>
                  </a:cubicBezTo>
                  <a:cubicBezTo>
                    <a:pt x="469" y="103"/>
                    <a:pt x="469" y="103"/>
                    <a:pt x="469" y="103"/>
                  </a:cubicBezTo>
                  <a:cubicBezTo>
                    <a:pt x="408" y="109"/>
                    <a:pt x="408" y="109"/>
                    <a:pt x="408" y="109"/>
                  </a:cubicBezTo>
                  <a:cubicBezTo>
                    <a:pt x="384" y="171"/>
                    <a:pt x="384" y="171"/>
                    <a:pt x="384" y="171"/>
                  </a:cubicBezTo>
                  <a:cubicBezTo>
                    <a:pt x="548" y="171"/>
                    <a:pt x="548" y="171"/>
                    <a:pt x="548" y="171"/>
                  </a:cubicBezTo>
                  <a:cubicBezTo>
                    <a:pt x="548" y="0"/>
                    <a:pt x="548" y="0"/>
                    <a:pt x="548" y="0"/>
                  </a:cubicBezTo>
                  <a:cubicBezTo>
                    <a:pt x="103" y="0"/>
                    <a:pt x="103" y="0"/>
                    <a:pt x="103" y="0"/>
                  </a:cubicBezTo>
                  <a:lnTo>
                    <a:pt x="13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Rectangle 84">
              <a:extLst>
                <a:ext uri="{FF2B5EF4-FFF2-40B4-BE49-F238E27FC236}">
                  <a16:creationId xmlns:a16="http://schemas.microsoft.com/office/drawing/2014/main" id="{813571AC-B5C7-46AB-B261-E9DAFE35B43F}"/>
                </a:ext>
              </a:extLst>
            </p:cNvPr>
            <p:cNvSpPr>
              <a:spLocks noChangeArrowheads="1"/>
            </p:cNvSpPr>
            <p:nvPr userDrawn="1"/>
          </p:nvSpPr>
          <p:spPr bwMode="auto">
            <a:xfrm>
              <a:off x="8133" y="2398"/>
              <a:ext cx="100" cy="44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Rectangle 85">
              <a:extLst>
                <a:ext uri="{FF2B5EF4-FFF2-40B4-BE49-F238E27FC236}">
                  <a16:creationId xmlns:a16="http://schemas.microsoft.com/office/drawing/2014/main" id="{E8342DB6-E720-457A-9417-321D051A4C27}"/>
                </a:ext>
              </a:extLst>
            </p:cNvPr>
            <p:cNvSpPr>
              <a:spLocks noChangeArrowheads="1"/>
            </p:cNvSpPr>
            <p:nvPr userDrawn="1"/>
          </p:nvSpPr>
          <p:spPr bwMode="auto">
            <a:xfrm>
              <a:off x="9425" y="2398"/>
              <a:ext cx="102" cy="44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2" name="Freeform 44">
            <a:extLst>
              <a:ext uri="{FF2B5EF4-FFF2-40B4-BE49-F238E27FC236}">
                <a16:creationId xmlns:a16="http://schemas.microsoft.com/office/drawing/2014/main" id="{5858CF77-B10F-4DA7-A16F-87CEE81E34BC}"/>
              </a:ext>
            </a:extLst>
          </p:cNvPr>
          <p:cNvSpPr>
            <a:spLocks noEditPoints="1"/>
          </p:cNvSpPr>
          <p:nvPr userDrawn="1"/>
        </p:nvSpPr>
        <p:spPr bwMode="auto">
          <a:xfrm>
            <a:off x="4479052" y="6220459"/>
            <a:ext cx="327696" cy="264778"/>
          </a:xfrm>
          <a:custGeom>
            <a:avLst/>
            <a:gdLst>
              <a:gd name="T0" fmla="*/ 336 w 720"/>
              <a:gd name="T1" fmla="*/ 304 h 580"/>
              <a:gd name="T2" fmla="*/ 333 w 720"/>
              <a:gd name="T3" fmla="*/ 283 h 580"/>
              <a:gd name="T4" fmla="*/ 261 w 720"/>
              <a:gd name="T5" fmla="*/ 212 h 580"/>
              <a:gd name="T6" fmla="*/ 556 w 720"/>
              <a:gd name="T7" fmla="*/ 104 h 580"/>
              <a:gd name="T8" fmla="*/ 570 w 720"/>
              <a:gd name="T9" fmla="*/ 106 h 580"/>
              <a:gd name="T10" fmla="*/ 582 w 720"/>
              <a:gd name="T11" fmla="*/ 106 h 580"/>
              <a:gd name="T12" fmla="*/ 578 w 720"/>
              <a:gd name="T13" fmla="*/ 95 h 580"/>
              <a:gd name="T14" fmla="*/ 358 w 720"/>
              <a:gd name="T15" fmla="*/ 2 h 580"/>
              <a:gd name="T16" fmla="*/ 145 w 720"/>
              <a:gd name="T17" fmla="*/ 95 h 580"/>
              <a:gd name="T18" fmla="*/ 73 w 720"/>
              <a:gd name="T19" fmla="*/ 24 h 580"/>
              <a:gd name="T20" fmla="*/ 50 w 720"/>
              <a:gd name="T21" fmla="*/ 21 h 580"/>
              <a:gd name="T22" fmla="*/ 37 w 720"/>
              <a:gd name="T23" fmla="*/ 35 h 580"/>
              <a:gd name="T24" fmla="*/ 0 w 720"/>
              <a:gd name="T25" fmla="*/ 332 h 580"/>
              <a:gd name="T26" fmla="*/ 0 w 720"/>
              <a:gd name="T27" fmla="*/ 333 h 580"/>
              <a:gd name="T28" fmla="*/ 6 w 720"/>
              <a:gd name="T29" fmla="*/ 350 h 580"/>
              <a:gd name="T30" fmla="*/ 23 w 720"/>
              <a:gd name="T31" fmla="*/ 356 h 580"/>
              <a:gd name="T32" fmla="*/ 23 w 720"/>
              <a:gd name="T33" fmla="*/ 356 h 580"/>
              <a:gd name="T34" fmla="*/ 320 w 720"/>
              <a:gd name="T35" fmla="*/ 319 h 580"/>
              <a:gd name="T36" fmla="*/ 336 w 720"/>
              <a:gd name="T37" fmla="*/ 304 h 580"/>
              <a:gd name="T38" fmla="*/ 714 w 720"/>
              <a:gd name="T39" fmla="*/ 232 h 580"/>
              <a:gd name="T40" fmla="*/ 697 w 720"/>
              <a:gd name="T41" fmla="*/ 225 h 580"/>
              <a:gd name="T42" fmla="*/ 400 w 720"/>
              <a:gd name="T43" fmla="*/ 262 h 580"/>
              <a:gd name="T44" fmla="*/ 384 w 720"/>
              <a:gd name="T45" fmla="*/ 277 h 580"/>
              <a:gd name="T46" fmla="*/ 387 w 720"/>
              <a:gd name="T47" fmla="*/ 299 h 580"/>
              <a:gd name="T48" fmla="*/ 459 w 720"/>
              <a:gd name="T49" fmla="*/ 370 h 580"/>
              <a:gd name="T50" fmla="*/ 163 w 720"/>
              <a:gd name="T51" fmla="*/ 477 h 580"/>
              <a:gd name="T52" fmla="*/ 150 w 720"/>
              <a:gd name="T53" fmla="*/ 474 h 580"/>
              <a:gd name="T54" fmla="*/ 138 w 720"/>
              <a:gd name="T55" fmla="*/ 476 h 580"/>
              <a:gd name="T56" fmla="*/ 143 w 720"/>
              <a:gd name="T57" fmla="*/ 486 h 580"/>
              <a:gd name="T58" fmla="*/ 356 w 720"/>
              <a:gd name="T59" fmla="*/ 580 h 580"/>
              <a:gd name="T60" fmla="*/ 362 w 720"/>
              <a:gd name="T61" fmla="*/ 580 h 580"/>
              <a:gd name="T62" fmla="*/ 575 w 720"/>
              <a:gd name="T63" fmla="*/ 486 h 580"/>
              <a:gd name="T64" fmla="*/ 647 w 720"/>
              <a:gd name="T65" fmla="*/ 558 h 580"/>
              <a:gd name="T66" fmla="*/ 672 w 720"/>
              <a:gd name="T67" fmla="*/ 560 h 580"/>
              <a:gd name="T68" fmla="*/ 683 w 720"/>
              <a:gd name="T69" fmla="*/ 546 h 580"/>
              <a:gd name="T70" fmla="*/ 720 w 720"/>
              <a:gd name="T71" fmla="*/ 249 h 580"/>
              <a:gd name="T72" fmla="*/ 720 w 720"/>
              <a:gd name="T73" fmla="*/ 248 h 580"/>
              <a:gd name="T74" fmla="*/ 714 w 720"/>
              <a:gd name="T75" fmla="*/ 23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0" h="580">
                <a:moveTo>
                  <a:pt x="336" y="304"/>
                </a:moveTo>
                <a:cubicBezTo>
                  <a:pt x="338" y="297"/>
                  <a:pt x="337" y="287"/>
                  <a:pt x="333" y="283"/>
                </a:cubicBezTo>
                <a:cubicBezTo>
                  <a:pt x="261" y="212"/>
                  <a:pt x="261" y="212"/>
                  <a:pt x="261" y="212"/>
                </a:cubicBezTo>
                <a:cubicBezTo>
                  <a:pt x="403" y="74"/>
                  <a:pt x="510" y="95"/>
                  <a:pt x="556" y="104"/>
                </a:cubicBezTo>
                <a:cubicBezTo>
                  <a:pt x="562" y="105"/>
                  <a:pt x="566" y="106"/>
                  <a:pt x="570" y="106"/>
                </a:cubicBezTo>
                <a:cubicBezTo>
                  <a:pt x="575" y="109"/>
                  <a:pt x="579" y="110"/>
                  <a:pt x="582" y="106"/>
                </a:cubicBezTo>
                <a:cubicBezTo>
                  <a:pt x="585" y="101"/>
                  <a:pt x="581" y="98"/>
                  <a:pt x="578" y="95"/>
                </a:cubicBezTo>
                <a:cubicBezTo>
                  <a:pt x="514" y="32"/>
                  <a:pt x="438" y="0"/>
                  <a:pt x="358" y="2"/>
                </a:cubicBezTo>
                <a:cubicBezTo>
                  <a:pt x="282" y="4"/>
                  <a:pt x="207" y="37"/>
                  <a:pt x="145" y="95"/>
                </a:cubicBezTo>
                <a:cubicBezTo>
                  <a:pt x="73" y="24"/>
                  <a:pt x="73" y="24"/>
                  <a:pt x="73" y="24"/>
                </a:cubicBezTo>
                <a:cubicBezTo>
                  <a:pt x="69" y="19"/>
                  <a:pt x="62" y="16"/>
                  <a:pt x="50" y="21"/>
                </a:cubicBezTo>
                <a:cubicBezTo>
                  <a:pt x="43" y="24"/>
                  <a:pt x="39" y="29"/>
                  <a:pt x="37" y="35"/>
                </a:cubicBezTo>
                <a:cubicBezTo>
                  <a:pt x="0" y="332"/>
                  <a:pt x="0" y="332"/>
                  <a:pt x="0" y="332"/>
                </a:cubicBezTo>
                <a:cubicBezTo>
                  <a:pt x="0" y="333"/>
                  <a:pt x="0" y="333"/>
                  <a:pt x="0" y="333"/>
                </a:cubicBezTo>
                <a:cubicBezTo>
                  <a:pt x="0" y="338"/>
                  <a:pt x="0" y="344"/>
                  <a:pt x="6" y="350"/>
                </a:cubicBezTo>
                <a:cubicBezTo>
                  <a:pt x="13" y="356"/>
                  <a:pt x="18" y="356"/>
                  <a:pt x="23" y="356"/>
                </a:cubicBezTo>
                <a:cubicBezTo>
                  <a:pt x="23" y="356"/>
                  <a:pt x="23" y="356"/>
                  <a:pt x="23" y="356"/>
                </a:cubicBezTo>
                <a:cubicBezTo>
                  <a:pt x="320" y="319"/>
                  <a:pt x="320" y="319"/>
                  <a:pt x="320" y="319"/>
                </a:cubicBezTo>
                <a:cubicBezTo>
                  <a:pt x="327" y="319"/>
                  <a:pt x="334" y="313"/>
                  <a:pt x="336" y="304"/>
                </a:cubicBezTo>
                <a:close/>
                <a:moveTo>
                  <a:pt x="714" y="232"/>
                </a:moveTo>
                <a:cubicBezTo>
                  <a:pt x="708" y="225"/>
                  <a:pt x="702" y="225"/>
                  <a:pt x="697" y="225"/>
                </a:cubicBezTo>
                <a:cubicBezTo>
                  <a:pt x="400" y="262"/>
                  <a:pt x="400" y="262"/>
                  <a:pt x="400" y="262"/>
                </a:cubicBezTo>
                <a:cubicBezTo>
                  <a:pt x="393" y="263"/>
                  <a:pt x="387" y="269"/>
                  <a:pt x="384" y="277"/>
                </a:cubicBezTo>
                <a:cubicBezTo>
                  <a:pt x="382" y="285"/>
                  <a:pt x="384" y="295"/>
                  <a:pt x="387" y="299"/>
                </a:cubicBezTo>
                <a:cubicBezTo>
                  <a:pt x="459" y="370"/>
                  <a:pt x="459" y="370"/>
                  <a:pt x="459" y="370"/>
                </a:cubicBezTo>
                <a:cubicBezTo>
                  <a:pt x="315" y="508"/>
                  <a:pt x="209" y="486"/>
                  <a:pt x="163" y="477"/>
                </a:cubicBezTo>
                <a:cubicBezTo>
                  <a:pt x="158" y="476"/>
                  <a:pt x="153" y="475"/>
                  <a:pt x="150" y="474"/>
                </a:cubicBezTo>
                <a:cubicBezTo>
                  <a:pt x="144" y="473"/>
                  <a:pt x="140" y="472"/>
                  <a:pt x="138" y="476"/>
                </a:cubicBezTo>
                <a:cubicBezTo>
                  <a:pt x="136" y="481"/>
                  <a:pt x="139" y="484"/>
                  <a:pt x="143" y="486"/>
                </a:cubicBezTo>
                <a:cubicBezTo>
                  <a:pt x="204" y="548"/>
                  <a:pt x="278" y="580"/>
                  <a:pt x="356" y="580"/>
                </a:cubicBezTo>
                <a:cubicBezTo>
                  <a:pt x="358" y="580"/>
                  <a:pt x="360" y="580"/>
                  <a:pt x="362" y="580"/>
                </a:cubicBezTo>
                <a:cubicBezTo>
                  <a:pt x="438" y="578"/>
                  <a:pt x="513" y="545"/>
                  <a:pt x="575" y="486"/>
                </a:cubicBezTo>
                <a:cubicBezTo>
                  <a:pt x="647" y="558"/>
                  <a:pt x="647" y="558"/>
                  <a:pt x="647" y="558"/>
                </a:cubicBezTo>
                <a:cubicBezTo>
                  <a:pt x="653" y="565"/>
                  <a:pt x="665" y="564"/>
                  <a:pt x="672" y="560"/>
                </a:cubicBezTo>
                <a:cubicBezTo>
                  <a:pt x="679" y="555"/>
                  <a:pt x="682" y="551"/>
                  <a:pt x="683" y="546"/>
                </a:cubicBezTo>
                <a:cubicBezTo>
                  <a:pt x="720" y="249"/>
                  <a:pt x="720" y="249"/>
                  <a:pt x="720" y="249"/>
                </a:cubicBezTo>
                <a:cubicBezTo>
                  <a:pt x="720" y="248"/>
                  <a:pt x="720" y="248"/>
                  <a:pt x="720" y="248"/>
                </a:cubicBezTo>
                <a:cubicBezTo>
                  <a:pt x="720" y="244"/>
                  <a:pt x="720" y="238"/>
                  <a:pt x="714" y="23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89" name="Group 51">
            <a:extLst>
              <a:ext uri="{FF2B5EF4-FFF2-40B4-BE49-F238E27FC236}">
                <a16:creationId xmlns:a16="http://schemas.microsoft.com/office/drawing/2014/main" id="{EFB7C8E6-616B-476A-AE06-332B6E5DA715}"/>
              </a:ext>
            </a:extLst>
          </p:cNvPr>
          <p:cNvGrpSpPr>
            <a:grpSpLocks noChangeAspect="1"/>
          </p:cNvGrpSpPr>
          <p:nvPr userDrawn="1"/>
        </p:nvGrpSpPr>
        <p:grpSpPr bwMode="auto">
          <a:xfrm>
            <a:off x="4486095" y="4916992"/>
            <a:ext cx="313611" cy="337055"/>
            <a:chOff x="3903" y="1829"/>
            <a:chExt cx="1418" cy="1524"/>
          </a:xfrm>
          <a:solidFill>
            <a:schemeClr val="tx1"/>
          </a:solidFill>
        </p:grpSpPr>
        <p:sp>
          <p:nvSpPr>
            <p:cNvPr id="491" name="Freeform 52">
              <a:extLst>
                <a:ext uri="{FF2B5EF4-FFF2-40B4-BE49-F238E27FC236}">
                  <a16:creationId xmlns:a16="http://schemas.microsoft.com/office/drawing/2014/main" id="{648B826F-1487-42AA-835C-3953E621D070}"/>
                </a:ext>
              </a:extLst>
            </p:cNvPr>
            <p:cNvSpPr>
              <a:spLocks/>
            </p:cNvSpPr>
            <p:nvPr userDrawn="1"/>
          </p:nvSpPr>
          <p:spPr bwMode="auto">
            <a:xfrm>
              <a:off x="4205" y="1829"/>
              <a:ext cx="637" cy="1428"/>
            </a:xfrm>
            <a:custGeom>
              <a:avLst/>
              <a:gdLst>
                <a:gd name="T0" fmla="*/ 251 w 306"/>
                <a:gd name="T1" fmla="*/ 404 h 684"/>
                <a:gd name="T2" fmla="*/ 303 w 306"/>
                <a:gd name="T3" fmla="*/ 318 h 684"/>
                <a:gd name="T4" fmla="*/ 303 w 306"/>
                <a:gd name="T5" fmla="*/ 304 h 684"/>
                <a:gd name="T6" fmla="*/ 291 w 306"/>
                <a:gd name="T7" fmla="*/ 297 h 684"/>
                <a:gd name="T8" fmla="*/ 180 w 306"/>
                <a:gd name="T9" fmla="*/ 297 h 684"/>
                <a:gd name="T10" fmla="*/ 247 w 306"/>
                <a:gd name="T11" fmla="*/ 19 h 684"/>
                <a:gd name="T12" fmla="*/ 239 w 306"/>
                <a:gd name="T13" fmla="*/ 3 h 684"/>
                <a:gd name="T14" fmla="*/ 221 w 306"/>
                <a:gd name="T15" fmla="*/ 9 h 684"/>
                <a:gd name="T16" fmla="*/ 3 w 306"/>
                <a:gd name="T17" fmla="*/ 376 h 684"/>
                <a:gd name="T18" fmla="*/ 3 w 306"/>
                <a:gd name="T19" fmla="*/ 390 h 684"/>
                <a:gd name="T20" fmla="*/ 15 w 306"/>
                <a:gd name="T21" fmla="*/ 397 h 684"/>
                <a:gd name="T22" fmla="*/ 126 w 306"/>
                <a:gd name="T23" fmla="*/ 397 h 684"/>
                <a:gd name="T24" fmla="*/ 59 w 306"/>
                <a:gd name="T25" fmla="*/ 667 h 684"/>
                <a:gd name="T26" fmla="*/ 67 w 306"/>
                <a:gd name="T27" fmla="*/ 683 h 684"/>
                <a:gd name="T28" fmla="*/ 73 w 306"/>
                <a:gd name="T29" fmla="*/ 684 h 684"/>
                <a:gd name="T30" fmla="*/ 85 w 306"/>
                <a:gd name="T31" fmla="*/ 678 h 684"/>
                <a:gd name="T32" fmla="*/ 251 w 306"/>
                <a:gd name="T33" fmla="*/ 403 h 684"/>
                <a:gd name="T34" fmla="*/ 251 w 306"/>
                <a:gd name="T35" fmla="*/ 404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 h="684">
                  <a:moveTo>
                    <a:pt x="251" y="404"/>
                  </a:moveTo>
                  <a:cubicBezTo>
                    <a:pt x="303" y="318"/>
                    <a:pt x="303" y="318"/>
                    <a:pt x="303" y="318"/>
                  </a:cubicBezTo>
                  <a:cubicBezTo>
                    <a:pt x="306" y="314"/>
                    <a:pt x="306" y="309"/>
                    <a:pt x="303" y="304"/>
                  </a:cubicBezTo>
                  <a:cubicBezTo>
                    <a:pt x="301" y="300"/>
                    <a:pt x="296" y="297"/>
                    <a:pt x="291" y="297"/>
                  </a:cubicBezTo>
                  <a:cubicBezTo>
                    <a:pt x="180" y="297"/>
                    <a:pt x="180" y="297"/>
                    <a:pt x="180" y="297"/>
                  </a:cubicBezTo>
                  <a:cubicBezTo>
                    <a:pt x="247" y="19"/>
                    <a:pt x="247" y="19"/>
                    <a:pt x="247" y="19"/>
                  </a:cubicBezTo>
                  <a:cubicBezTo>
                    <a:pt x="249" y="12"/>
                    <a:pt x="245" y="6"/>
                    <a:pt x="239" y="3"/>
                  </a:cubicBezTo>
                  <a:cubicBezTo>
                    <a:pt x="232" y="0"/>
                    <a:pt x="225" y="3"/>
                    <a:pt x="221" y="9"/>
                  </a:cubicBezTo>
                  <a:cubicBezTo>
                    <a:pt x="3" y="376"/>
                    <a:pt x="3" y="376"/>
                    <a:pt x="3" y="376"/>
                  </a:cubicBezTo>
                  <a:cubicBezTo>
                    <a:pt x="0" y="380"/>
                    <a:pt x="0" y="385"/>
                    <a:pt x="3" y="390"/>
                  </a:cubicBezTo>
                  <a:cubicBezTo>
                    <a:pt x="5" y="394"/>
                    <a:pt x="10" y="397"/>
                    <a:pt x="15" y="397"/>
                  </a:cubicBezTo>
                  <a:cubicBezTo>
                    <a:pt x="126" y="397"/>
                    <a:pt x="126" y="397"/>
                    <a:pt x="126" y="397"/>
                  </a:cubicBezTo>
                  <a:cubicBezTo>
                    <a:pt x="59" y="667"/>
                    <a:pt x="59" y="667"/>
                    <a:pt x="59" y="667"/>
                  </a:cubicBezTo>
                  <a:cubicBezTo>
                    <a:pt x="57" y="674"/>
                    <a:pt x="61" y="681"/>
                    <a:pt x="67" y="683"/>
                  </a:cubicBezTo>
                  <a:cubicBezTo>
                    <a:pt x="69" y="684"/>
                    <a:pt x="71" y="684"/>
                    <a:pt x="73" y="684"/>
                  </a:cubicBezTo>
                  <a:cubicBezTo>
                    <a:pt x="77" y="684"/>
                    <a:pt x="82" y="682"/>
                    <a:pt x="85" y="678"/>
                  </a:cubicBezTo>
                  <a:cubicBezTo>
                    <a:pt x="251" y="403"/>
                    <a:pt x="251" y="403"/>
                    <a:pt x="251" y="403"/>
                  </a:cubicBezTo>
                  <a:lnTo>
                    <a:pt x="251" y="4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2" name="Freeform 53">
              <a:extLst>
                <a:ext uri="{FF2B5EF4-FFF2-40B4-BE49-F238E27FC236}">
                  <a16:creationId xmlns:a16="http://schemas.microsoft.com/office/drawing/2014/main" id="{FE777C71-39FB-4EE8-930C-D599010BD42B}"/>
                </a:ext>
              </a:extLst>
            </p:cNvPr>
            <p:cNvSpPr>
              <a:spLocks/>
            </p:cNvSpPr>
            <p:nvPr userDrawn="1"/>
          </p:nvSpPr>
          <p:spPr bwMode="auto">
            <a:xfrm>
              <a:off x="4586" y="1975"/>
              <a:ext cx="735" cy="1378"/>
            </a:xfrm>
            <a:custGeom>
              <a:avLst/>
              <a:gdLst>
                <a:gd name="T0" fmla="*/ 339 w 353"/>
                <a:gd name="T1" fmla="*/ 597 h 660"/>
                <a:gd name="T2" fmla="*/ 190 w 353"/>
                <a:gd name="T3" fmla="*/ 450 h 660"/>
                <a:gd name="T4" fmla="*/ 260 w 353"/>
                <a:gd name="T5" fmla="*/ 260 h 660"/>
                <a:gd name="T6" fmla="*/ 111 w 353"/>
                <a:gd name="T7" fmla="*/ 4 h 660"/>
                <a:gd name="T8" fmla="*/ 92 w 353"/>
                <a:gd name="T9" fmla="*/ 9 h 660"/>
                <a:gd name="T10" fmla="*/ 91 w 353"/>
                <a:gd name="T11" fmla="*/ 20 h 660"/>
                <a:gd name="T12" fmla="*/ 98 w 353"/>
                <a:gd name="T13" fmla="*/ 28 h 660"/>
                <a:gd name="T14" fmla="*/ 232 w 353"/>
                <a:gd name="T15" fmla="*/ 260 h 660"/>
                <a:gd name="T16" fmla="*/ 162 w 353"/>
                <a:gd name="T17" fmla="*/ 440 h 660"/>
                <a:gd name="T18" fmla="*/ 161 w 353"/>
                <a:gd name="T19" fmla="*/ 441 h 660"/>
                <a:gd name="T20" fmla="*/ 160 w 353"/>
                <a:gd name="T21" fmla="*/ 442 h 660"/>
                <a:gd name="T22" fmla="*/ 12 w 353"/>
                <a:gd name="T23" fmla="*/ 522 h 660"/>
                <a:gd name="T24" fmla="*/ 3 w 353"/>
                <a:gd name="T25" fmla="*/ 527 h 660"/>
                <a:gd name="T26" fmla="*/ 1 w 353"/>
                <a:gd name="T27" fmla="*/ 538 h 660"/>
                <a:gd name="T28" fmla="*/ 14 w 353"/>
                <a:gd name="T29" fmla="*/ 549 h 660"/>
                <a:gd name="T30" fmla="*/ 17 w 353"/>
                <a:gd name="T31" fmla="*/ 549 h 660"/>
                <a:gd name="T32" fmla="*/ 134 w 353"/>
                <a:gd name="T33" fmla="*/ 501 h 660"/>
                <a:gd name="T34" fmla="*/ 285 w 353"/>
                <a:gd name="T35" fmla="*/ 651 h 660"/>
                <a:gd name="T36" fmla="*/ 308 w 353"/>
                <a:gd name="T37" fmla="*/ 660 h 660"/>
                <a:gd name="T38" fmla="*/ 338 w 353"/>
                <a:gd name="T39" fmla="*/ 646 h 660"/>
                <a:gd name="T40" fmla="*/ 339 w 353"/>
                <a:gd name="T41" fmla="*/ 597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3" h="660">
                  <a:moveTo>
                    <a:pt x="339" y="597"/>
                  </a:moveTo>
                  <a:cubicBezTo>
                    <a:pt x="338" y="596"/>
                    <a:pt x="311" y="570"/>
                    <a:pt x="190" y="450"/>
                  </a:cubicBezTo>
                  <a:cubicBezTo>
                    <a:pt x="235" y="397"/>
                    <a:pt x="260" y="329"/>
                    <a:pt x="260" y="260"/>
                  </a:cubicBezTo>
                  <a:cubicBezTo>
                    <a:pt x="260" y="154"/>
                    <a:pt x="203" y="56"/>
                    <a:pt x="111" y="4"/>
                  </a:cubicBezTo>
                  <a:cubicBezTo>
                    <a:pt x="105" y="0"/>
                    <a:pt x="96" y="3"/>
                    <a:pt x="92" y="9"/>
                  </a:cubicBezTo>
                  <a:cubicBezTo>
                    <a:pt x="91" y="12"/>
                    <a:pt x="90" y="16"/>
                    <a:pt x="91" y="20"/>
                  </a:cubicBezTo>
                  <a:cubicBezTo>
                    <a:pt x="92" y="23"/>
                    <a:pt x="94" y="26"/>
                    <a:pt x="98" y="28"/>
                  </a:cubicBezTo>
                  <a:cubicBezTo>
                    <a:pt x="181" y="75"/>
                    <a:pt x="232" y="164"/>
                    <a:pt x="232" y="260"/>
                  </a:cubicBezTo>
                  <a:cubicBezTo>
                    <a:pt x="232" y="327"/>
                    <a:pt x="207" y="390"/>
                    <a:pt x="162" y="440"/>
                  </a:cubicBezTo>
                  <a:cubicBezTo>
                    <a:pt x="161" y="441"/>
                    <a:pt x="161" y="441"/>
                    <a:pt x="161" y="441"/>
                  </a:cubicBezTo>
                  <a:cubicBezTo>
                    <a:pt x="161" y="441"/>
                    <a:pt x="160" y="441"/>
                    <a:pt x="160" y="442"/>
                  </a:cubicBezTo>
                  <a:cubicBezTo>
                    <a:pt x="121" y="484"/>
                    <a:pt x="69" y="512"/>
                    <a:pt x="12" y="522"/>
                  </a:cubicBezTo>
                  <a:cubicBezTo>
                    <a:pt x="8" y="522"/>
                    <a:pt x="5" y="524"/>
                    <a:pt x="3" y="527"/>
                  </a:cubicBezTo>
                  <a:cubicBezTo>
                    <a:pt x="1" y="530"/>
                    <a:pt x="0" y="534"/>
                    <a:pt x="1" y="538"/>
                  </a:cubicBezTo>
                  <a:cubicBezTo>
                    <a:pt x="2" y="544"/>
                    <a:pt x="8" y="549"/>
                    <a:pt x="14" y="549"/>
                  </a:cubicBezTo>
                  <a:cubicBezTo>
                    <a:pt x="15" y="549"/>
                    <a:pt x="16" y="549"/>
                    <a:pt x="17" y="549"/>
                  </a:cubicBezTo>
                  <a:cubicBezTo>
                    <a:pt x="59" y="542"/>
                    <a:pt x="99" y="526"/>
                    <a:pt x="134" y="501"/>
                  </a:cubicBezTo>
                  <a:cubicBezTo>
                    <a:pt x="284" y="650"/>
                    <a:pt x="284" y="651"/>
                    <a:pt x="285" y="651"/>
                  </a:cubicBezTo>
                  <a:cubicBezTo>
                    <a:pt x="291" y="657"/>
                    <a:pt x="299" y="660"/>
                    <a:pt x="308" y="660"/>
                  </a:cubicBezTo>
                  <a:cubicBezTo>
                    <a:pt x="319" y="660"/>
                    <a:pt x="330" y="655"/>
                    <a:pt x="338" y="646"/>
                  </a:cubicBezTo>
                  <a:cubicBezTo>
                    <a:pt x="352" y="631"/>
                    <a:pt x="353" y="610"/>
                    <a:pt x="339" y="5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4" name="Freeform 54">
              <a:extLst>
                <a:ext uri="{FF2B5EF4-FFF2-40B4-BE49-F238E27FC236}">
                  <a16:creationId xmlns:a16="http://schemas.microsoft.com/office/drawing/2014/main" id="{BABD913A-A051-46DB-9AFD-11BDC92B7B12}"/>
                </a:ext>
              </a:extLst>
            </p:cNvPr>
            <p:cNvSpPr>
              <a:spLocks/>
            </p:cNvSpPr>
            <p:nvPr userDrawn="1"/>
          </p:nvSpPr>
          <p:spPr bwMode="auto">
            <a:xfrm>
              <a:off x="3903" y="1904"/>
              <a:ext cx="614" cy="1157"/>
            </a:xfrm>
            <a:custGeom>
              <a:avLst/>
              <a:gdLst>
                <a:gd name="T0" fmla="*/ 167 w 295"/>
                <a:gd name="T1" fmla="*/ 528 h 554"/>
                <a:gd name="T2" fmla="*/ 28 w 295"/>
                <a:gd name="T3" fmla="*/ 294 h 554"/>
                <a:gd name="T4" fmla="*/ 282 w 295"/>
                <a:gd name="T5" fmla="*/ 28 h 554"/>
                <a:gd name="T6" fmla="*/ 295 w 295"/>
                <a:gd name="T7" fmla="*/ 13 h 554"/>
                <a:gd name="T8" fmla="*/ 280 w 295"/>
                <a:gd name="T9" fmla="*/ 0 h 554"/>
                <a:gd name="T10" fmla="*/ 0 w 295"/>
                <a:gd name="T11" fmla="*/ 294 h 554"/>
                <a:gd name="T12" fmla="*/ 154 w 295"/>
                <a:gd name="T13" fmla="*/ 552 h 554"/>
                <a:gd name="T14" fmla="*/ 161 w 295"/>
                <a:gd name="T15" fmla="*/ 554 h 554"/>
                <a:gd name="T16" fmla="*/ 173 w 295"/>
                <a:gd name="T17" fmla="*/ 546 h 554"/>
                <a:gd name="T18" fmla="*/ 174 w 295"/>
                <a:gd name="T19" fmla="*/ 536 h 554"/>
                <a:gd name="T20" fmla="*/ 167 w 295"/>
                <a:gd name="T21" fmla="*/ 52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5" h="554">
                  <a:moveTo>
                    <a:pt x="167" y="528"/>
                  </a:moveTo>
                  <a:cubicBezTo>
                    <a:pt x="81" y="481"/>
                    <a:pt x="28" y="391"/>
                    <a:pt x="28" y="294"/>
                  </a:cubicBezTo>
                  <a:cubicBezTo>
                    <a:pt x="28" y="151"/>
                    <a:pt x="139" y="34"/>
                    <a:pt x="282" y="28"/>
                  </a:cubicBezTo>
                  <a:cubicBezTo>
                    <a:pt x="289" y="27"/>
                    <a:pt x="295" y="21"/>
                    <a:pt x="295" y="13"/>
                  </a:cubicBezTo>
                  <a:cubicBezTo>
                    <a:pt x="295" y="5"/>
                    <a:pt x="288" y="0"/>
                    <a:pt x="280" y="0"/>
                  </a:cubicBezTo>
                  <a:cubicBezTo>
                    <a:pt x="123" y="7"/>
                    <a:pt x="0" y="136"/>
                    <a:pt x="0" y="294"/>
                  </a:cubicBezTo>
                  <a:cubicBezTo>
                    <a:pt x="0" y="401"/>
                    <a:pt x="59" y="500"/>
                    <a:pt x="154" y="552"/>
                  </a:cubicBezTo>
                  <a:cubicBezTo>
                    <a:pt x="156" y="553"/>
                    <a:pt x="158" y="554"/>
                    <a:pt x="161" y="554"/>
                  </a:cubicBezTo>
                  <a:cubicBezTo>
                    <a:pt x="166" y="554"/>
                    <a:pt x="170" y="551"/>
                    <a:pt x="173" y="546"/>
                  </a:cubicBezTo>
                  <a:cubicBezTo>
                    <a:pt x="175" y="543"/>
                    <a:pt x="175" y="539"/>
                    <a:pt x="174" y="536"/>
                  </a:cubicBezTo>
                  <a:cubicBezTo>
                    <a:pt x="173" y="532"/>
                    <a:pt x="170" y="529"/>
                    <a:pt x="16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97" name="Group 57">
            <a:extLst>
              <a:ext uri="{FF2B5EF4-FFF2-40B4-BE49-F238E27FC236}">
                <a16:creationId xmlns:a16="http://schemas.microsoft.com/office/drawing/2014/main" id="{8DBAAA7B-0DCA-4AC6-B0D7-0046AC0A962F}"/>
              </a:ext>
            </a:extLst>
          </p:cNvPr>
          <p:cNvGrpSpPr>
            <a:grpSpLocks noChangeAspect="1"/>
          </p:cNvGrpSpPr>
          <p:nvPr userDrawn="1"/>
        </p:nvGrpSpPr>
        <p:grpSpPr bwMode="auto">
          <a:xfrm>
            <a:off x="4519075" y="5579942"/>
            <a:ext cx="247650" cy="281035"/>
            <a:chOff x="4110" y="2026"/>
            <a:chExt cx="994" cy="1128"/>
          </a:xfrm>
          <a:solidFill>
            <a:schemeClr val="tx1"/>
          </a:solidFill>
        </p:grpSpPr>
        <p:sp>
          <p:nvSpPr>
            <p:cNvPr id="499" name="Freeform 58">
              <a:extLst>
                <a:ext uri="{FF2B5EF4-FFF2-40B4-BE49-F238E27FC236}">
                  <a16:creationId xmlns:a16="http://schemas.microsoft.com/office/drawing/2014/main" id="{8AC49233-507F-4A77-B79F-A6506D9EA091}"/>
                </a:ext>
              </a:extLst>
            </p:cNvPr>
            <p:cNvSpPr>
              <a:spLocks/>
            </p:cNvSpPr>
            <p:nvPr userDrawn="1"/>
          </p:nvSpPr>
          <p:spPr bwMode="auto">
            <a:xfrm>
              <a:off x="4488" y="2026"/>
              <a:ext cx="238" cy="33"/>
            </a:xfrm>
            <a:custGeom>
              <a:avLst/>
              <a:gdLst>
                <a:gd name="T0" fmla="*/ 114 w 114"/>
                <a:gd name="T1" fmla="*/ 7 h 16"/>
                <a:gd name="T2" fmla="*/ 107 w 114"/>
                <a:gd name="T3" fmla="*/ 0 h 16"/>
                <a:gd name="T4" fmla="*/ 7 w 114"/>
                <a:gd name="T5" fmla="*/ 0 h 16"/>
                <a:gd name="T6" fmla="*/ 0 w 114"/>
                <a:gd name="T7" fmla="*/ 7 h 16"/>
                <a:gd name="T8" fmla="*/ 0 w 114"/>
                <a:gd name="T9" fmla="*/ 16 h 16"/>
                <a:gd name="T10" fmla="*/ 114 w 114"/>
                <a:gd name="T11" fmla="*/ 16 h 16"/>
                <a:gd name="T12" fmla="*/ 114 w 114"/>
                <a:gd name="T13" fmla="*/ 7 h 16"/>
              </a:gdLst>
              <a:ahLst/>
              <a:cxnLst>
                <a:cxn ang="0">
                  <a:pos x="T0" y="T1"/>
                </a:cxn>
                <a:cxn ang="0">
                  <a:pos x="T2" y="T3"/>
                </a:cxn>
                <a:cxn ang="0">
                  <a:pos x="T4" y="T5"/>
                </a:cxn>
                <a:cxn ang="0">
                  <a:pos x="T6" y="T7"/>
                </a:cxn>
                <a:cxn ang="0">
                  <a:pos x="T8" y="T9"/>
                </a:cxn>
                <a:cxn ang="0">
                  <a:pos x="T10" y="T11"/>
                </a:cxn>
                <a:cxn ang="0">
                  <a:pos x="T12" y="T13"/>
                </a:cxn>
              </a:cxnLst>
              <a:rect l="0" t="0" r="r" b="b"/>
              <a:pathLst>
                <a:path w="114" h="16">
                  <a:moveTo>
                    <a:pt x="114" y="7"/>
                  </a:moveTo>
                  <a:cubicBezTo>
                    <a:pt x="114" y="3"/>
                    <a:pt x="111" y="0"/>
                    <a:pt x="107" y="0"/>
                  </a:cubicBezTo>
                  <a:cubicBezTo>
                    <a:pt x="7" y="0"/>
                    <a:pt x="7" y="0"/>
                    <a:pt x="7" y="0"/>
                  </a:cubicBezTo>
                  <a:cubicBezTo>
                    <a:pt x="3" y="0"/>
                    <a:pt x="0" y="3"/>
                    <a:pt x="0" y="7"/>
                  </a:cubicBezTo>
                  <a:cubicBezTo>
                    <a:pt x="0" y="16"/>
                    <a:pt x="0" y="16"/>
                    <a:pt x="0" y="16"/>
                  </a:cubicBezTo>
                  <a:cubicBezTo>
                    <a:pt x="114" y="16"/>
                    <a:pt x="114" y="16"/>
                    <a:pt x="114" y="16"/>
                  </a:cubicBezTo>
                  <a:lnTo>
                    <a:pt x="114"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4" name="Freeform 59">
              <a:extLst>
                <a:ext uri="{FF2B5EF4-FFF2-40B4-BE49-F238E27FC236}">
                  <a16:creationId xmlns:a16="http://schemas.microsoft.com/office/drawing/2014/main" id="{3469216F-F9DA-483F-B816-DCAED80BB06A}"/>
                </a:ext>
              </a:extLst>
            </p:cNvPr>
            <p:cNvSpPr>
              <a:spLocks/>
            </p:cNvSpPr>
            <p:nvPr userDrawn="1"/>
          </p:nvSpPr>
          <p:spPr bwMode="auto">
            <a:xfrm>
              <a:off x="4110" y="2084"/>
              <a:ext cx="994" cy="130"/>
            </a:xfrm>
            <a:custGeom>
              <a:avLst/>
              <a:gdLst>
                <a:gd name="T0" fmla="*/ 472 w 476"/>
                <a:gd name="T1" fmla="*/ 0 h 62"/>
                <a:gd name="T2" fmla="*/ 4 w 476"/>
                <a:gd name="T3" fmla="*/ 0 h 62"/>
                <a:gd name="T4" fmla="*/ 0 w 476"/>
                <a:gd name="T5" fmla="*/ 4 h 62"/>
                <a:gd name="T6" fmla="*/ 0 w 476"/>
                <a:gd name="T7" fmla="*/ 58 h 62"/>
                <a:gd name="T8" fmla="*/ 4 w 476"/>
                <a:gd name="T9" fmla="*/ 62 h 62"/>
                <a:gd name="T10" fmla="*/ 472 w 476"/>
                <a:gd name="T11" fmla="*/ 62 h 62"/>
                <a:gd name="T12" fmla="*/ 476 w 476"/>
                <a:gd name="T13" fmla="*/ 58 h 62"/>
                <a:gd name="T14" fmla="*/ 476 w 476"/>
                <a:gd name="T15" fmla="*/ 4 h 62"/>
                <a:gd name="T16" fmla="*/ 472 w 476"/>
                <a:gd name="T1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62">
                  <a:moveTo>
                    <a:pt x="472" y="0"/>
                  </a:moveTo>
                  <a:cubicBezTo>
                    <a:pt x="4" y="0"/>
                    <a:pt x="4" y="0"/>
                    <a:pt x="4" y="0"/>
                  </a:cubicBezTo>
                  <a:cubicBezTo>
                    <a:pt x="2" y="0"/>
                    <a:pt x="0" y="2"/>
                    <a:pt x="0" y="4"/>
                  </a:cubicBezTo>
                  <a:cubicBezTo>
                    <a:pt x="0" y="58"/>
                    <a:pt x="0" y="58"/>
                    <a:pt x="0" y="58"/>
                  </a:cubicBezTo>
                  <a:cubicBezTo>
                    <a:pt x="0" y="60"/>
                    <a:pt x="2" y="62"/>
                    <a:pt x="4" y="62"/>
                  </a:cubicBezTo>
                  <a:cubicBezTo>
                    <a:pt x="472" y="62"/>
                    <a:pt x="472" y="62"/>
                    <a:pt x="472" y="62"/>
                  </a:cubicBezTo>
                  <a:cubicBezTo>
                    <a:pt x="474" y="62"/>
                    <a:pt x="476" y="60"/>
                    <a:pt x="476" y="58"/>
                  </a:cubicBezTo>
                  <a:cubicBezTo>
                    <a:pt x="476" y="4"/>
                    <a:pt x="476" y="4"/>
                    <a:pt x="476" y="4"/>
                  </a:cubicBezTo>
                  <a:cubicBezTo>
                    <a:pt x="476" y="2"/>
                    <a:pt x="474" y="0"/>
                    <a:pt x="4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7" name="Freeform 60">
              <a:extLst>
                <a:ext uri="{FF2B5EF4-FFF2-40B4-BE49-F238E27FC236}">
                  <a16:creationId xmlns:a16="http://schemas.microsoft.com/office/drawing/2014/main" id="{81D7F256-73C0-4330-B2CD-792E39230D50}"/>
                </a:ext>
              </a:extLst>
            </p:cNvPr>
            <p:cNvSpPr>
              <a:spLocks noEditPoints="1"/>
            </p:cNvSpPr>
            <p:nvPr userDrawn="1"/>
          </p:nvSpPr>
          <p:spPr bwMode="auto">
            <a:xfrm>
              <a:off x="4173" y="2239"/>
              <a:ext cx="868" cy="915"/>
            </a:xfrm>
            <a:custGeom>
              <a:avLst/>
              <a:gdLst>
                <a:gd name="T0" fmla="*/ 31 w 416"/>
                <a:gd name="T1" fmla="*/ 424 h 438"/>
                <a:gd name="T2" fmla="*/ 45 w 416"/>
                <a:gd name="T3" fmla="*/ 438 h 438"/>
                <a:gd name="T4" fmla="*/ 370 w 416"/>
                <a:gd name="T5" fmla="*/ 438 h 438"/>
                <a:gd name="T6" fmla="*/ 384 w 416"/>
                <a:gd name="T7" fmla="*/ 424 h 438"/>
                <a:gd name="T8" fmla="*/ 384 w 416"/>
                <a:gd name="T9" fmla="*/ 423 h 438"/>
                <a:gd name="T10" fmla="*/ 416 w 416"/>
                <a:gd name="T11" fmla="*/ 0 h 438"/>
                <a:gd name="T12" fmla="*/ 0 w 416"/>
                <a:gd name="T13" fmla="*/ 0 h 438"/>
                <a:gd name="T14" fmla="*/ 31 w 416"/>
                <a:gd name="T15" fmla="*/ 424 h 438"/>
                <a:gd name="T16" fmla="*/ 267 w 416"/>
                <a:gd name="T17" fmla="*/ 368 h 438"/>
                <a:gd name="T18" fmla="*/ 315 w 416"/>
                <a:gd name="T19" fmla="*/ 83 h 438"/>
                <a:gd name="T20" fmla="*/ 322 w 416"/>
                <a:gd name="T21" fmla="*/ 78 h 438"/>
                <a:gd name="T22" fmla="*/ 326 w 416"/>
                <a:gd name="T23" fmla="*/ 85 h 438"/>
                <a:gd name="T24" fmla="*/ 279 w 416"/>
                <a:gd name="T25" fmla="*/ 370 h 438"/>
                <a:gd name="T26" fmla="*/ 273 w 416"/>
                <a:gd name="T27" fmla="*/ 375 h 438"/>
                <a:gd name="T28" fmla="*/ 272 w 416"/>
                <a:gd name="T29" fmla="*/ 375 h 438"/>
                <a:gd name="T30" fmla="*/ 267 w 416"/>
                <a:gd name="T31" fmla="*/ 368 h 438"/>
                <a:gd name="T32" fmla="*/ 202 w 416"/>
                <a:gd name="T33" fmla="*/ 54 h 438"/>
                <a:gd name="T34" fmla="*/ 208 w 416"/>
                <a:gd name="T35" fmla="*/ 48 h 438"/>
                <a:gd name="T36" fmla="*/ 214 w 416"/>
                <a:gd name="T37" fmla="*/ 54 h 438"/>
                <a:gd name="T38" fmla="*/ 214 w 416"/>
                <a:gd name="T39" fmla="*/ 371 h 438"/>
                <a:gd name="T40" fmla="*/ 208 w 416"/>
                <a:gd name="T41" fmla="*/ 377 h 438"/>
                <a:gd name="T42" fmla="*/ 202 w 416"/>
                <a:gd name="T43" fmla="*/ 371 h 438"/>
                <a:gd name="T44" fmla="*/ 202 w 416"/>
                <a:gd name="T45" fmla="*/ 54 h 438"/>
                <a:gd name="T46" fmla="*/ 94 w 416"/>
                <a:gd name="T47" fmla="*/ 78 h 438"/>
                <a:gd name="T48" fmla="*/ 101 w 416"/>
                <a:gd name="T49" fmla="*/ 83 h 438"/>
                <a:gd name="T50" fmla="*/ 148 w 416"/>
                <a:gd name="T51" fmla="*/ 368 h 438"/>
                <a:gd name="T52" fmla="*/ 143 w 416"/>
                <a:gd name="T53" fmla="*/ 375 h 438"/>
                <a:gd name="T54" fmla="*/ 142 w 416"/>
                <a:gd name="T55" fmla="*/ 375 h 438"/>
                <a:gd name="T56" fmla="*/ 137 w 416"/>
                <a:gd name="T57" fmla="*/ 370 h 438"/>
                <a:gd name="T58" fmla="*/ 89 w 416"/>
                <a:gd name="T59" fmla="*/ 85 h 438"/>
                <a:gd name="T60" fmla="*/ 94 w 416"/>
                <a:gd name="T61" fmla="*/ 7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6" h="438">
                  <a:moveTo>
                    <a:pt x="31" y="424"/>
                  </a:moveTo>
                  <a:cubicBezTo>
                    <a:pt x="31" y="431"/>
                    <a:pt x="37" y="438"/>
                    <a:pt x="45" y="438"/>
                  </a:cubicBezTo>
                  <a:cubicBezTo>
                    <a:pt x="370" y="438"/>
                    <a:pt x="370" y="438"/>
                    <a:pt x="370" y="438"/>
                  </a:cubicBezTo>
                  <a:cubicBezTo>
                    <a:pt x="378" y="438"/>
                    <a:pt x="384" y="431"/>
                    <a:pt x="384" y="424"/>
                  </a:cubicBezTo>
                  <a:cubicBezTo>
                    <a:pt x="384" y="423"/>
                    <a:pt x="384" y="423"/>
                    <a:pt x="384" y="423"/>
                  </a:cubicBezTo>
                  <a:cubicBezTo>
                    <a:pt x="416" y="0"/>
                    <a:pt x="416" y="0"/>
                    <a:pt x="416" y="0"/>
                  </a:cubicBezTo>
                  <a:cubicBezTo>
                    <a:pt x="0" y="0"/>
                    <a:pt x="0" y="0"/>
                    <a:pt x="0" y="0"/>
                  </a:cubicBezTo>
                  <a:lnTo>
                    <a:pt x="31" y="424"/>
                  </a:lnTo>
                  <a:close/>
                  <a:moveTo>
                    <a:pt x="267" y="368"/>
                  </a:moveTo>
                  <a:cubicBezTo>
                    <a:pt x="315" y="83"/>
                    <a:pt x="315" y="83"/>
                    <a:pt x="315" y="83"/>
                  </a:cubicBezTo>
                  <a:cubicBezTo>
                    <a:pt x="315" y="80"/>
                    <a:pt x="318" y="78"/>
                    <a:pt x="322" y="78"/>
                  </a:cubicBezTo>
                  <a:cubicBezTo>
                    <a:pt x="325" y="79"/>
                    <a:pt x="327" y="82"/>
                    <a:pt x="326" y="85"/>
                  </a:cubicBezTo>
                  <a:cubicBezTo>
                    <a:pt x="279" y="370"/>
                    <a:pt x="279" y="370"/>
                    <a:pt x="279" y="370"/>
                  </a:cubicBezTo>
                  <a:cubicBezTo>
                    <a:pt x="279" y="373"/>
                    <a:pt x="276" y="375"/>
                    <a:pt x="273" y="375"/>
                  </a:cubicBezTo>
                  <a:cubicBezTo>
                    <a:pt x="273" y="375"/>
                    <a:pt x="273" y="375"/>
                    <a:pt x="272" y="375"/>
                  </a:cubicBezTo>
                  <a:cubicBezTo>
                    <a:pt x="269" y="374"/>
                    <a:pt x="267" y="371"/>
                    <a:pt x="267" y="368"/>
                  </a:cubicBezTo>
                  <a:close/>
                  <a:moveTo>
                    <a:pt x="202" y="54"/>
                  </a:moveTo>
                  <a:cubicBezTo>
                    <a:pt x="202" y="50"/>
                    <a:pt x="205" y="48"/>
                    <a:pt x="208" y="48"/>
                  </a:cubicBezTo>
                  <a:cubicBezTo>
                    <a:pt x="211" y="48"/>
                    <a:pt x="214" y="50"/>
                    <a:pt x="214" y="54"/>
                  </a:cubicBezTo>
                  <a:cubicBezTo>
                    <a:pt x="214" y="371"/>
                    <a:pt x="214" y="371"/>
                    <a:pt x="214" y="371"/>
                  </a:cubicBezTo>
                  <a:cubicBezTo>
                    <a:pt x="214" y="374"/>
                    <a:pt x="211" y="377"/>
                    <a:pt x="208" y="377"/>
                  </a:cubicBezTo>
                  <a:cubicBezTo>
                    <a:pt x="205" y="377"/>
                    <a:pt x="202" y="374"/>
                    <a:pt x="202" y="371"/>
                  </a:cubicBezTo>
                  <a:lnTo>
                    <a:pt x="202" y="54"/>
                  </a:lnTo>
                  <a:close/>
                  <a:moveTo>
                    <a:pt x="94" y="78"/>
                  </a:moveTo>
                  <a:cubicBezTo>
                    <a:pt x="98" y="78"/>
                    <a:pt x="101" y="80"/>
                    <a:pt x="101" y="83"/>
                  </a:cubicBezTo>
                  <a:cubicBezTo>
                    <a:pt x="148" y="368"/>
                    <a:pt x="148" y="368"/>
                    <a:pt x="148" y="368"/>
                  </a:cubicBezTo>
                  <a:cubicBezTo>
                    <a:pt x="149" y="371"/>
                    <a:pt x="147" y="374"/>
                    <a:pt x="143" y="375"/>
                  </a:cubicBezTo>
                  <a:cubicBezTo>
                    <a:pt x="143" y="375"/>
                    <a:pt x="143" y="375"/>
                    <a:pt x="142" y="375"/>
                  </a:cubicBezTo>
                  <a:cubicBezTo>
                    <a:pt x="140" y="375"/>
                    <a:pt x="137" y="373"/>
                    <a:pt x="137" y="370"/>
                  </a:cubicBezTo>
                  <a:cubicBezTo>
                    <a:pt x="89" y="85"/>
                    <a:pt x="89" y="85"/>
                    <a:pt x="89" y="85"/>
                  </a:cubicBezTo>
                  <a:cubicBezTo>
                    <a:pt x="89" y="82"/>
                    <a:pt x="91" y="79"/>
                    <a:pt x="94"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20" name="Straight Connector 419">
            <a:extLst>
              <a:ext uri="{FF2B5EF4-FFF2-40B4-BE49-F238E27FC236}">
                <a16:creationId xmlns:a16="http://schemas.microsoft.com/office/drawing/2014/main" id="{6FAD9DBC-7AC0-4EE3-BB38-E080C2DE2647}"/>
              </a:ext>
            </a:extLst>
          </p:cNvPr>
          <p:cNvCxnSpPr>
            <a:cxnSpLocks/>
          </p:cNvCxnSpPr>
          <p:nvPr userDrawn="1"/>
        </p:nvCxnSpPr>
        <p:spPr bwMode="auto">
          <a:xfrm>
            <a:off x="6232829" y="4817777"/>
            <a:ext cx="1968196"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21" name="Straight Connector 420">
            <a:extLst>
              <a:ext uri="{FF2B5EF4-FFF2-40B4-BE49-F238E27FC236}">
                <a16:creationId xmlns:a16="http://schemas.microsoft.com/office/drawing/2014/main" id="{579BBA9B-1501-4ED1-A5D6-E66A257C67E4}"/>
              </a:ext>
            </a:extLst>
          </p:cNvPr>
          <p:cNvCxnSpPr>
            <a:cxnSpLocks/>
          </p:cNvCxnSpPr>
          <p:nvPr userDrawn="1"/>
        </p:nvCxnSpPr>
        <p:spPr bwMode="auto">
          <a:xfrm>
            <a:off x="6987518" y="1973434"/>
            <a:ext cx="3958921"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34" name="Straight Connector 433">
            <a:extLst>
              <a:ext uri="{FF2B5EF4-FFF2-40B4-BE49-F238E27FC236}">
                <a16:creationId xmlns:a16="http://schemas.microsoft.com/office/drawing/2014/main" id="{11D2DDD4-AF11-4F70-9357-DED052B70E4B}"/>
              </a:ext>
            </a:extLst>
          </p:cNvPr>
          <p:cNvCxnSpPr>
            <a:cxnSpLocks/>
          </p:cNvCxnSpPr>
          <p:nvPr userDrawn="1"/>
        </p:nvCxnSpPr>
        <p:spPr bwMode="auto">
          <a:xfrm>
            <a:off x="8788030" y="4817777"/>
            <a:ext cx="280453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10" name="Group 4">
            <a:extLst>
              <a:ext uri="{FF2B5EF4-FFF2-40B4-BE49-F238E27FC236}">
                <a16:creationId xmlns:a16="http://schemas.microsoft.com/office/drawing/2014/main" id="{9F90685D-BF2F-426B-8BCC-0C02F3265A96}"/>
              </a:ext>
            </a:extLst>
          </p:cNvPr>
          <p:cNvGrpSpPr>
            <a:grpSpLocks noChangeAspect="1"/>
          </p:cNvGrpSpPr>
          <p:nvPr userDrawn="1"/>
        </p:nvGrpSpPr>
        <p:grpSpPr bwMode="auto">
          <a:xfrm>
            <a:off x="5014592" y="2622627"/>
            <a:ext cx="381256" cy="323799"/>
            <a:chOff x="3243" y="2040"/>
            <a:chExt cx="1347" cy="1144"/>
          </a:xfrm>
          <a:solidFill>
            <a:schemeClr val="tx1"/>
          </a:solidFill>
        </p:grpSpPr>
        <p:sp>
          <p:nvSpPr>
            <p:cNvPr id="12" name="Rectangle 5">
              <a:extLst>
                <a:ext uri="{FF2B5EF4-FFF2-40B4-BE49-F238E27FC236}">
                  <a16:creationId xmlns:a16="http://schemas.microsoft.com/office/drawing/2014/main" id="{9EB6D180-614D-43C4-8F01-A430754BCA72}"/>
                </a:ext>
              </a:extLst>
            </p:cNvPr>
            <p:cNvSpPr>
              <a:spLocks noChangeArrowheads="1"/>
            </p:cNvSpPr>
            <p:nvPr userDrawn="1"/>
          </p:nvSpPr>
          <p:spPr bwMode="auto">
            <a:xfrm>
              <a:off x="3843" y="2040"/>
              <a:ext cx="144" cy="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6">
              <a:extLst>
                <a:ext uri="{FF2B5EF4-FFF2-40B4-BE49-F238E27FC236}">
                  <a16:creationId xmlns:a16="http://schemas.microsoft.com/office/drawing/2014/main" id="{A8206F88-A4A2-47BC-B367-7E3F5AD26E29}"/>
                </a:ext>
              </a:extLst>
            </p:cNvPr>
            <p:cNvSpPr>
              <a:spLocks noChangeArrowheads="1"/>
            </p:cNvSpPr>
            <p:nvPr userDrawn="1"/>
          </p:nvSpPr>
          <p:spPr bwMode="auto">
            <a:xfrm>
              <a:off x="3572" y="2143"/>
              <a:ext cx="686" cy="5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7">
              <a:extLst>
                <a:ext uri="{FF2B5EF4-FFF2-40B4-BE49-F238E27FC236}">
                  <a16:creationId xmlns:a16="http://schemas.microsoft.com/office/drawing/2014/main" id="{A4A71A57-1EF7-461B-9600-5251F1A55E53}"/>
                </a:ext>
              </a:extLst>
            </p:cNvPr>
            <p:cNvSpPr>
              <a:spLocks noChangeArrowheads="1"/>
            </p:cNvSpPr>
            <p:nvPr userDrawn="1"/>
          </p:nvSpPr>
          <p:spPr bwMode="auto">
            <a:xfrm>
              <a:off x="3843" y="2224"/>
              <a:ext cx="144"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8">
              <a:extLst>
                <a:ext uri="{FF2B5EF4-FFF2-40B4-BE49-F238E27FC236}">
                  <a16:creationId xmlns:a16="http://schemas.microsoft.com/office/drawing/2014/main" id="{118E36DB-824A-4BB1-A81C-368FA4714DC6}"/>
                </a:ext>
              </a:extLst>
            </p:cNvPr>
            <p:cNvSpPr>
              <a:spLocks noChangeArrowheads="1"/>
            </p:cNvSpPr>
            <p:nvPr userDrawn="1"/>
          </p:nvSpPr>
          <p:spPr bwMode="auto">
            <a:xfrm>
              <a:off x="3243" y="2762"/>
              <a:ext cx="65" cy="35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9">
              <a:extLst>
                <a:ext uri="{FF2B5EF4-FFF2-40B4-BE49-F238E27FC236}">
                  <a16:creationId xmlns:a16="http://schemas.microsoft.com/office/drawing/2014/main" id="{76AAD8C1-33C5-45F1-BE25-31EC81E8CB4B}"/>
                </a:ext>
              </a:extLst>
            </p:cNvPr>
            <p:cNvSpPr>
              <a:spLocks noChangeArrowheads="1"/>
            </p:cNvSpPr>
            <p:nvPr userDrawn="1"/>
          </p:nvSpPr>
          <p:spPr bwMode="auto">
            <a:xfrm>
              <a:off x="3333" y="2701"/>
              <a:ext cx="121" cy="48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10">
              <a:extLst>
                <a:ext uri="{FF2B5EF4-FFF2-40B4-BE49-F238E27FC236}">
                  <a16:creationId xmlns:a16="http://schemas.microsoft.com/office/drawing/2014/main" id="{58DEFBB6-D503-4D73-A63E-97223AF75D22}"/>
                </a:ext>
              </a:extLst>
            </p:cNvPr>
            <p:cNvSpPr>
              <a:spLocks noChangeArrowheads="1"/>
            </p:cNvSpPr>
            <p:nvPr userDrawn="1"/>
          </p:nvSpPr>
          <p:spPr bwMode="auto">
            <a:xfrm>
              <a:off x="4525" y="2768"/>
              <a:ext cx="65" cy="35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Rectangle 11">
              <a:extLst>
                <a:ext uri="{FF2B5EF4-FFF2-40B4-BE49-F238E27FC236}">
                  <a16:creationId xmlns:a16="http://schemas.microsoft.com/office/drawing/2014/main" id="{E585F8DF-049A-4B5F-AF03-ABE2EE7FF245}"/>
                </a:ext>
              </a:extLst>
            </p:cNvPr>
            <p:cNvSpPr>
              <a:spLocks noChangeArrowheads="1"/>
            </p:cNvSpPr>
            <p:nvPr userDrawn="1"/>
          </p:nvSpPr>
          <p:spPr bwMode="auto">
            <a:xfrm>
              <a:off x="3650" y="2601"/>
              <a:ext cx="533" cy="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Rectangle 12">
              <a:extLst>
                <a:ext uri="{FF2B5EF4-FFF2-40B4-BE49-F238E27FC236}">
                  <a16:creationId xmlns:a16="http://schemas.microsoft.com/office/drawing/2014/main" id="{050B026E-162C-4721-BF59-99FF39A58E39}"/>
                </a:ext>
              </a:extLst>
            </p:cNvPr>
            <p:cNvSpPr>
              <a:spLocks noChangeArrowheads="1"/>
            </p:cNvSpPr>
            <p:nvPr userDrawn="1"/>
          </p:nvSpPr>
          <p:spPr bwMode="auto">
            <a:xfrm>
              <a:off x="4377" y="2701"/>
              <a:ext cx="123" cy="48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Rectangle 13">
              <a:extLst>
                <a:ext uri="{FF2B5EF4-FFF2-40B4-BE49-F238E27FC236}">
                  <a16:creationId xmlns:a16="http://schemas.microsoft.com/office/drawing/2014/main" id="{C96E3B9D-5E16-4ED8-8772-C92F07913304}"/>
                </a:ext>
              </a:extLst>
            </p:cNvPr>
            <p:cNvSpPr>
              <a:spLocks noChangeArrowheads="1"/>
            </p:cNvSpPr>
            <p:nvPr userDrawn="1"/>
          </p:nvSpPr>
          <p:spPr bwMode="auto">
            <a:xfrm>
              <a:off x="3479" y="2770"/>
              <a:ext cx="873" cy="3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35" name="Group 334">
            <a:extLst>
              <a:ext uri="{FF2B5EF4-FFF2-40B4-BE49-F238E27FC236}">
                <a16:creationId xmlns:a16="http://schemas.microsoft.com/office/drawing/2014/main" id="{9D347F67-7746-4051-BF7E-58A52FA6F2D3}"/>
              </a:ext>
            </a:extLst>
          </p:cNvPr>
          <p:cNvGrpSpPr/>
          <p:nvPr userDrawn="1"/>
        </p:nvGrpSpPr>
        <p:grpSpPr>
          <a:xfrm>
            <a:off x="5658186" y="2617043"/>
            <a:ext cx="373203" cy="369498"/>
            <a:chOff x="5624143" y="2511305"/>
            <a:chExt cx="373203" cy="369498"/>
          </a:xfrm>
          <a:solidFill>
            <a:schemeClr val="tx1"/>
          </a:solidFill>
        </p:grpSpPr>
        <p:sp>
          <p:nvSpPr>
            <p:cNvPr id="205" name="Freeform 17">
              <a:extLst>
                <a:ext uri="{FF2B5EF4-FFF2-40B4-BE49-F238E27FC236}">
                  <a16:creationId xmlns:a16="http://schemas.microsoft.com/office/drawing/2014/main" id="{68AB4489-391D-4D0C-8495-020A1B03ED0D}"/>
                </a:ext>
              </a:extLst>
            </p:cNvPr>
            <p:cNvSpPr>
              <a:spLocks/>
            </p:cNvSpPr>
            <p:nvPr userDrawn="1"/>
          </p:nvSpPr>
          <p:spPr bwMode="auto">
            <a:xfrm>
              <a:off x="5784012" y="2675938"/>
              <a:ext cx="51348" cy="26998"/>
            </a:xfrm>
            <a:custGeom>
              <a:avLst/>
              <a:gdLst>
                <a:gd name="T0" fmla="*/ 0 w 93"/>
                <a:gd name="T1" fmla="*/ 0 h 49"/>
                <a:gd name="T2" fmla="*/ 0 w 93"/>
                <a:gd name="T3" fmla="*/ 49 h 49"/>
                <a:gd name="T4" fmla="*/ 93 w 93"/>
                <a:gd name="T5" fmla="*/ 49 h 49"/>
                <a:gd name="T6" fmla="*/ 93 w 93"/>
                <a:gd name="T7" fmla="*/ 1 h 49"/>
                <a:gd name="T8" fmla="*/ 47 w 93"/>
                <a:gd name="T9" fmla="*/ 8 h 49"/>
                <a:gd name="T10" fmla="*/ 0 w 93"/>
                <a:gd name="T11" fmla="*/ 0 h 49"/>
              </a:gdLst>
              <a:ahLst/>
              <a:cxnLst>
                <a:cxn ang="0">
                  <a:pos x="T0" y="T1"/>
                </a:cxn>
                <a:cxn ang="0">
                  <a:pos x="T2" y="T3"/>
                </a:cxn>
                <a:cxn ang="0">
                  <a:pos x="T4" y="T5"/>
                </a:cxn>
                <a:cxn ang="0">
                  <a:pos x="T6" y="T7"/>
                </a:cxn>
                <a:cxn ang="0">
                  <a:pos x="T8" y="T9"/>
                </a:cxn>
                <a:cxn ang="0">
                  <a:pos x="T10" y="T11"/>
                </a:cxn>
              </a:cxnLst>
              <a:rect l="0" t="0" r="r" b="b"/>
              <a:pathLst>
                <a:path w="93" h="49">
                  <a:moveTo>
                    <a:pt x="0" y="0"/>
                  </a:moveTo>
                  <a:cubicBezTo>
                    <a:pt x="0" y="49"/>
                    <a:pt x="0" y="49"/>
                    <a:pt x="0" y="49"/>
                  </a:cubicBezTo>
                  <a:cubicBezTo>
                    <a:pt x="93" y="49"/>
                    <a:pt x="93" y="49"/>
                    <a:pt x="93" y="49"/>
                  </a:cubicBezTo>
                  <a:cubicBezTo>
                    <a:pt x="93" y="1"/>
                    <a:pt x="93" y="1"/>
                    <a:pt x="93" y="1"/>
                  </a:cubicBezTo>
                  <a:cubicBezTo>
                    <a:pt x="79" y="5"/>
                    <a:pt x="63" y="8"/>
                    <a:pt x="47" y="8"/>
                  </a:cubicBezTo>
                  <a:cubicBezTo>
                    <a:pt x="31" y="8"/>
                    <a:pt x="15" y="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8">
              <a:extLst>
                <a:ext uri="{FF2B5EF4-FFF2-40B4-BE49-F238E27FC236}">
                  <a16:creationId xmlns:a16="http://schemas.microsoft.com/office/drawing/2014/main" id="{F9D85627-1FFE-4EDA-B70A-EA45ACBD59F6}"/>
                </a:ext>
              </a:extLst>
            </p:cNvPr>
            <p:cNvSpPr>
              <a:spLocks/>
            </p:cNvSpPr>
            <p:nvPr userDrawn="1"/>
          </p:nvSpPr>
          <p:spPr bwMode="auto">
            <a:xfrm>
              <a:off x="5766807" y="2835542"/>
              <a:ext cx="86022" cy="45261"/>
            </a:xfrm>
            <a:custGeom>
              <a:avLst/>
              <a:gdLst>
                <a:gd name="T0" fmla="*/ 259 w 325"/>
                <a:gd name="T1" fmla="*/ 0 h 171"/>
                <a:gd name="T2" fmla="*/ 65 w 325"/>
                <a:gd name="T3" fmla="*/ 0 h 171"/>
                <a:gd name="T4" fmla="*/ 65 w 325"/>
                <a:gd name="T5" fmla="*/ 115 h 171"/>
                <a:gd name="T6" fmla="*/ 0 w 325"/>
                <a:gd name="T7" fmla="*/ 115 h 171"/>
                <a:gd name="T8" fmla="*/ 0 w 325"/>
                <a:gd name="T9" fmla="*/ 171 h 171"/>
                <a:gd name="T10" fmla="*/ 325 w 325"/>
                <a:gd name="T11" fmla="*/ 171 h 171"/>
                <a:gd name="T12" fmla="*/ 325 w 325"/>
                <a:gd name="T13" fmla="*/ 115 h 171"/>
                <a:gd name="T14" fmla="*/ 259 w 325"/>
                <a:gd name="T15" fmla="*/ 115 h 171"/>
                <a:gd name="T16" fmla="*/ 259 w 325"/>
                <a:gd name="T17" fmla="*/ 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1">
                  <a:moveTo>
                    <a:pt x="259" y="0"/>
                  </a:moveTo>
                  <a:lnTo>
                    <a:pt x="65" y="0"/>
                  </a:lnTo>
                  <a:lnTo>
                    <a:pt x="65" y="115"/>
                  </a:lnTo>
                  <a:lnTo>
                    <a:pt x="0" y="115"/>
                  </a:lnTo>
                  <a:lnTo>
                    <a:pt x="0" y="171"/>
                  </a:lnTo>
                  <a:lnTo>
                    <a:pt x="325" y="171"/>
                  </a:lnTo>
                  <a:lnTo>
                    <a:pt x="325" y="115"/>
                  </a:lnTo>
                  <a:lnTo>
                    <a:pt x="259" y="115"/>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19">
              <a:extLst>
                <a:ext uri="{FF2B5EF4-FFF2-40B4-BE49-F238E27FC236}">
                  <a16:creationId xmlns:a16="http://schemas.microsoft.com/office/drawing/2014/main" id="{3B925076-6FB6-4671-BC69-76BAD1C59987}"/>
                </a:ext>
              </a:extLst>
            </p:cNvPr>
            <p:cNvSpPr>
              <a:spLocks noEditPoints="1"/>
            </p:cNvSpPr>
            <p:nvPr userDrawn="1"/>
          </p:nvSpPr>
          <p:spPr bwMode="auto">
            <a:xfrm>
              <a:off x="5773424" y="2732845"/>
              <a:ext cx="72258" cy="72259"/>
            </a:xfrm>
            <a:custGeom>
              <a:avLst/>
              <a:gdLst>
                <a:gd name="T0" fmla="*/ 66 w 131"/>
                <a:gd name="T1" fmla="*/ 0 h 131"/>
                <a:gd name="T2" fmla="*/ 0 w 131"/>
                <a:gd name="T3" fmla="*/ 65 h 131"/>
                <a:gd name="T4" fmla="*/ 66 w 131"/>
                <a:gd name="T5" fmla="*/ 131 h 131"/>
                <a:gd name="T6" fmla="*/ 131 w 131"/>
                <a:gd name="T7" fmla="*/ 65 h 131"/>
                <a:gd name="T8" fmla="*/ 66 w 131"/>
                <a:gd name="T9" fmla="*/ 0 h 131"/>
                <a:gd name="T10" fmla="*/ 66 w 131"/>
                <a:gd name="T11" fmla="*/ 86 h 131"/>
                <a:gd name="T12" fmla="*/ 45 w 131"/>
                <a:gd name="T13" fmla="*/ 65 h 131"/>
                <a:gd name="T14" fmla="*/ 66 w 131"/>
                <a:gd name="T15" fmla="*/ 45 h 131"/>
                <a:gd name="T16" fmla="*/ 86 w 131"/>
                <a:gd name="T17" fmla="*/ 65 h 131"/>
                <a:gd name="T18" fmla="*/ 66 w 131"/>
                <a:gd name="T19" fmla="*/ 86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31">
                  <a:moveTo>
                    <a:pt x="66" y="0"/>
                  </a:moveTo>
                  <a:cubicBezTo>
                    <a:pt x="29" y="0"/>
                    <a:pt x="0" y="29"/>
                    <a:pt x="0" y="65"/>
                  </a:cubicBezTo>
                  <a:cubicBezTo>
                    <a:pt x="0" y="102"/>
                    <a:pt x="29" y="131"/>
                    <a:pt x="66" y="131"/>
                  </a:cubicBezTo>
                  <a:cubicBezTo>
                    <a:pt x="102" y="131"/>
                    <a:pt x="131" y="102"/>
                    <a:pt x="131" y="65"/>
                  </a:cubicBezTo>
                  <a:cubicBezTo>
                    <a:pt x="131" y="29"/>
                    <a:pt x="102" y="0"/>
                    <a:pt x="66" y="0"/>
                  </a:cubicBezTo>
                  <a:close/>
                  <a:moveTo>
                    <a:pt x="66" y="86"/>
                  </a:moveTo>
                  <a:cubicBezTo>
                    <a:pt x="54" y="86"/>
                    <a:pt x="45" y="77"/>
                    <a:pt x="45" y="65"/>
                  </a:cubicBezTo>
                  <a:cubicBezTo>
                    <a:pt x="45" y="54"/>
                    <a:pt x="54" y="45"/>
                    <a:pt x="66" y="45"/>
                  </a:cubicBezTo>
                  <a:cubicBezTo>
                    <a:pt x="77" y="45"/>
                    <a:pt x="86" y="54"/>
                    <a:pt x="86" y="65"/>
                  </a:cubicBezTo>
                  <a:cubicBezTo>
                    <a:pt x="86" y="77"/>
                    <a:pt x="77" y="86"/>
                    <a:pt x="66"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0">
              <a:extLst>
                <a:ext uri="{FF2B5EF4-FFF2-40B4-BE49-F238E27FC236}">
                  <a16:creationId xmlns:a16="http://schemas.microsoft.com/office/drawing/2014/main" id="{4FBEEED4-4DB4-46D9-BB95-65D69929DDA2}"/>
                </a:ext>
              </a:extLst>
            </p:cNvPr>
            <p:cNvSpPr>
              <a:spLocks noEditPoints="1"/>
            </p:cNvSpPr>
            <p:nvPr userDrawn="1"/>
          </p:nvSpPr>
          <p:spPr bwMode="auto">
            <a:xfrm>
              <a:off x="5729487" y="2511305"/>
              <a:ext cx="161457" cy="162516"/>
            </a:xfrm>
            <a:custGeom>
              <a:avLst/>
              <a:gdLst>
                <a:gd name="T0" fmla="*/ 146 w 293"/>
                <a:gd name="T1" fmla="*/ 294 h 294"/>
                <a:gd name="T2" fmla="*/ 293 w 293"/>
                <a:gd name="T3" fmla="*/ 147 h 294"/>
                <a:gd name="T4" fmla="*/ 146 w 293"/>
                <a:gd name="T5" fmla="*/ 0 h 294"/>
                <a:gd name="T6" fmla="*/ 0 w 293"/>
                <a:gd name="T7" fmla="*/ 147 h 294"/>
                <a:gd name="T8" fmla="*/ 146 w 293"/>
                <a:gd name="T9" fmla="*/ 294 h 294"/>
                <a:gd name="T10" fmla="*/ 146 w 293"/>
                <a:gd name="T11" fmla="*/ 114 h 294"/>
                <a:gd name="T12" fmla="*/ 165 w 293"/>
                <a:gd name="T13" fmla="*/ 120 h 294"/>
                <a:gd name="T14" fmla="*/ 225 w 293"/>
                <a:gd name="T15" fmla="*/ 60 h 294"/>
                <a:gd name="T16" fmla="*/ 233 w 293"/>
                <a:gd name="T17" fmla="*/ 60 h 294"/>
                <a:gd name="T18" fmla="*/ 233 w 293"/>
                <a:gd name="T19" fmla="*/ 68 h 294"/>
                <a:gd name="T20" fmla="*/ 173 w 293"/>
                <a:gd name="T21" fmla="*/ 128 h 294"/>
                <a:gd name="T22" fmla="*/ 179 w 293"/>
                <a:gd name="T23" fmla="*/ 147 h 294"/>
                <a:gd name="T24" fmla="*/ 146 w 293"/>
                <a:gd name="T25" fmla="*/ 180 h 294"/>
                <a:gd name="T26" fmla="*/ 114 w 293"/>
                <a:gd name="T27" fmla="*/ 147 h 294"/>
                <a:gd name="T28" fmla="*/ 146 w 293"/>
                <a:gd name="T29" fmla="*/ 11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4">
                  <a:moveTo>
                    <a:pt x="146" y="294"/>
                  </a:moveTo>
                  <a:cubicBezTo>
                    <a:pt x="227" y="294"/>
                    <a:pt x="293" y="228"/>
                    <a:pt x="293" y="147"/>
                  </a:cubicBezTo>
                  <a:cubicBezTo>
                    <a:pt x="293" y="66"/>
                    <a:pt x="227" y="0"/>
                    <a:pt x="146" y="0"/>
                  </a:cubicBezTo>
                  <a:cubicBezTo>
                    <a:pt x="66" y="0"/>
                    <a:pt x="0" y="66"/>
                    <a:pt x="0" y="147"/>
                  </a:cubicBezTo>
                  <a:cubicBezTo>
                    <a:pt x="0" y="228"/>
                    <a:pt x="66" y="294"/>
                    <a:pt x="146" y="294"/>
                  </a:cubicBezTo>
                  <a:close/>
                  <a:moveTo>
                    <a:pt x="146" y="114"/>
                  </a:moveTo>
                  <a:cubicBezTo>
                    <a:pt x="153" y="114"/>
                    <a:pt x="159" y="116"/>
                    <a:pt x="165" y="120"/>
                  </a:cubicBezTo>
                  <a:cubicBezTo>
                    <a:pt x="225" y="60"/>
                    <a:pt x="225" y="60"/>
                    <a:pt x="225" y="60"/>
                  </a:cubicBezTo>
                  <a:cubicBezTo>
                    <a:pt x="227" y="57"/>
                    <a:pt x="231" y="57"/>
                    <a:pt x="233" y="60"/>
                  </a:cubicBezTo>
                  <a:cubicBezTo>
                    <a:pt x="235" y="62"/>
                    <a:pt x="235" y="66"/>
                    <a:pt x="233" y="68"/>
                  </a:cubicBezTo>
                  <a:cubicBezTo>
                    <a:pt x="173" y="128"/>
                    <a:pt x="173" y="128"/>
                    <a:pt x="173" y="128"/>
                  </a:cubicBezTo>
                  <a:cubicBezTo>
                    <a:pt x="177" y="134"/>
                    <a:pt x="179" y="140"/>
                    <a:pt x="179" y="147"/>
                  </a:cubicBezTo>
                  <a:cubicBezTo>
                    <a:pt x="179" y="165"/>
                    <a:pt x="165" y="180"/>
                    <a:pt x="146" y="180"/>
                  </a:cubicBezTo>
                  <a:cubicBezTo>
                    <a:pt x="128" y="180"/>
                    <a:pt x="114" y="165"/>
                    <a:pt x="114" y="147"/>
                  </a:cubicBezTo>
                  <a:cubicBezTo>
                    <a:pt x="114" y="129"/>
                    <a:pt x="128" y="114"/>
                    <a:pt x="146"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4" name="Freeform 21">
              <a:extLst>
                <a:ext uri="{FF2B5EF4-FFF2-40B4-BE49-F238E27FC236}">
                  <a16:creationId xmlns:a16="http://schemas.microsoft.com/office/drawing/2014/main" id="{FCCE3395-D235-4777-9F1D-D809908B64BA}"/>
                </a:ext>
              </a:extLst>
            </p:cNvPr>
            <p:cNvSpPr>
              <a:spLocks noEditPoints="1"/>
            </p:cNvSpPr>
            <p:nvPr userDrawn="1"/>
          </p:nvSpPr>
          <p:spPr bwMode="auto">
            <a:xfrm>
              <a:off x="5647964" y="2709553"/>
              <a:ext cx="326354" cy="119372"/>
            </a:xfrm>
            <a:custGeom>
              <a:avLst/>
              <a:gdLst>
                <a:gd name="T0" fmla="*/ 449 w 592"/>
                <a:gd name="T1" fmla="*/ 0 h 216"/>
                <a:gd name="T2" fmla="*/ 138 w 592"/>
                <a:gd name="T3" fmla="*/ 0 h 216"/>
                <a:gd name="T4" fmla="*/ 138 w 592"/>
                <a:gd name="T5" fmla="*/ 29 h 216"/>
                <a:gd name="T6" fmla="*/ 0 w 592"/>
                <a:gd name="T7" fmla="*/ 29 h 216"/>
                <a:gd name="T8" fmla="*/ 0 w 592"/>
                <a:gd name="T9" fmla="*/ 187 h 216"/>
                <a:gd name="T10" fmla="*/ 138 w 592"/>
                <a:gd name="T11" fmla="*/ 187 h 216"/>
                <a:gd name="T12" fmla="*/ 138 w 592"/>
                <a:gd name="T13" fmla="*/ 216 h 216"/>
                <a:gd name="T14" fmla="*/ 449 w 592"/>
                <a:gd name="T15" fmla="*/ 216 h 216"/>
                <a:gd name="T16" fmla="*/ 449 w 592"/>
                <a:gd name="T17" fmla="*/ 187 h 216"/>
                <a:gd name="T18" fmla="*/ 592 w 592"/>
                <a:gd name="T19" fmla="*/ 187 h 216"/>
                <a:gd name="T20" fmla="*/ 592 w 592"/>
                <a:gd name="T21" fmla="*/ 29 h 216"/>
                <a:gd name="T22" fmla="*/ 449 w 592"/>
                <a:gd name="T23" fmla="*/ 29 h 216"/>
                <a:gd name="T24" fmla="*/ 449 w 592"/>
                <a:gd name="T25" fmla="*/ 0 h 216"/>
                <a:gd name="T26" fmla="*/ 294 w 592"/>
                <a:gd name="T27" fmla="*/ 189 h 216"/>
                <a:gd name="T28" fmla="*/ 212 w 592"/>
                <a:gd name="T29" fmla="*/ 107 h 216"/>
                <a:gd name="T30" fmla="*/ 294 w 592"/>
                <a:gd name="T31" fmla="*/ 26 h 216"/>
                <a:gd name="T32" fmla="*/ 375 w 592"/>
                <a:gd name="T33" fmla="*/ 107 h 216"/>
                <a:gd name="T34" fmla="*/ 294 w 592"/>
                <a:gd name="T35" fmla="*/ 18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2" h="216">
                  <a:moveTo>
                    <a:pt x="449" y="0"/>
                  </a:moveTo>
                  <a:cubicBezTo>
                    <a:pt x="138" y="0"/>
                    <a:pt x="138" y="0"/>
                    <a:pt x="138" y="0"/>
                  </a:cubicBezTo>
                  <a:cubicBezTo>
                    <a:pt x="138" y="29"/>
                    <a:pt x="138" y="29"/>
                    <a:pt x="138" y="29"/>
                  </a:cubicBezTo>
                  <a:cubicBezTo>
                    <a:pt x="0" y="29"/>
                    <a:pt x="0" y="29"/>
                    <a:pt x="0" y="29"/>
                  </a:cubicBezTo>
                  <a:cubicBezTo>
                    <a:pt x="0" y="187"/>
                    <a:pt x="0" y="187"/>
                    <a:pt x="0" y="187"/>
                  </a:cubicBezTo>
                  <a:cubicBezTo>
                    <a:pt x="138" y="187"/>
                    <a:pt x="138" y="187"/>
                    <a:pt x="138" y="187"/>
                  </a:cubicBezTo>
                  <a:cubicBezTo>
                    <a:pt x="138" y="216"/>
                    <a:pt x="138" y="216"/>
                    <a:pt x="138" y="216"/>
                  </a:cubicBezTo>
                  <a:cubicBezTo>
                    <a:pt x="449" y="216"/>
                    <a:pt x="449" y="216"/>
                    <a:pt x="449" y="216"/>
                  </a:cubicBezTo>
                  <a:cubicBezTo>
                    <a:pt x="449" y="187"/>
                    <a:pt x="449" y="187"/>
                    <a:pt x="449" y="187"/>
                  </a:cubicBezTo>
                  <a:cubicBezTo>
                    <a:pt x="592" y="187"/>
                    <a:pt x="592" y="187"/>
                    <a:pt x="592" y="187"/>
                  </a:cubicBezTo>
                  <a:cubicBezTo>
                    <a:pt x="592" y="29"/>
                    <a:pt x="592" y="29"/>
                    <a:pt x="592" y="29"/>
                  </a:cubicBezTo>
                  <a:cubicBezTo>
                    <a:pt x="449" y="29"/>
                    <a:pt x="449" y="29"/>
                    <a:pt x="449" y="29"/>
                  </a:cubicBezTo>
                  <a:lnTo>
                    <a:pt x="449" y="0"/>
                  </a:lnTo>
                  <a:close/>
                  <a:moveTo>
                    <a:pt x="294" y="189"/>
                  </a:moveTo>
                  <a:cubicBezTo>
                    <a:pt x="249" y="189"/>
                    <a:pt x="212" y="152"/>
                    <a:pt x="212" y="107"/>
                  </a:cubicBezTo>
                  <a:cubicBezTo>
                    <a:pt x="212" y="63"/>
                    <a:pt x="249" y="26"/>
                    <a:pt x="294" y="26"/>
                  </a:cubicBezTo>
                  <a:cubicBezTo>
                    <a:pt x="338" y="26"/>
                    <a:pt x="375" y="63"/>
                    <a:pt x="375" y="107"/>
                  </a:cubicBezTo>
                  <a:cubicBezTo>
                    <a:pt x="375" y="152"/>
                    <a:pt x="338" y="189"/>
                    <a:pt x="294" y="1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5" name="Rectangle 22">
              <a:extLst>
                <a:ext uri="{FF2B5EF4-FFF2-40B4-BE49-F238E27FC236}">
                  <a16:creationId xmlns:a16="http://schemas.microsoft.com/office/drawing/2014/main" id="{1613E5C2-93B6-461D-A5A2-A5DD7AAA23B3}"/>
                </a:ext>
              </a:extLst>
            </p:cNvPr>
            <p:cNvSpPr>
              <a:spLocks noChangeArrowheads="1"/>
            </p:cNvSpPr>
            <p:nvPr userDrawn="1"/>
          </p:nvSpPr>
          <p:spPr bwMode="auto">
            <a:xfrm>
              <a:off x="5624143" y="2722258"/>
              <a:ext cx="17204" cy="944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Rectangle 23">
              <a:extLst>
                <a:ext uri="{FF2B5EF4-FFF2-40B4-BE49-F238E27FC236}">
                  <a16:creationId xmlns:a16="http://schemas.microsoft.com/office/drawing/2014/main" id="{FBBAF9BA-03AE-411F-B82A-19523ACCB65C}"/>
                </a:ext>
              </a:extLst>
            </p:cNvPr>
            <p:cNvSpPr>
              <a:spLocks noChangeArrowheads="1"/>
            </p:cNvSpPr>
            <p:nvPr userDrawn="1"/>
          </p:nvSpPr>
          <p:spPr bwMode="auto">
            <a:xfrm>
              <a:off x="5980142" y="2722258"/>
              <a:ext cx="17204" cy="944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2" name="Freeform 27">
            <a:extLst>
              <a:ext uri="{FF2B5EF4-FFF2-40B4-BE49-F238E27FC236}">
                <a16:creationId xmlns:a16="http://schemas.microsoft.com/office/drawing/2014/main" id="{C97E96E1-15D8-4CAF-A046-6C2EA45FB9F9}"/>
              </a:ext>
            </a:extLst>
          </p:cNvPr>
          <p:cNvSpPr>
            <a:spLocks noEditPoints="1"/>
          </p:cNvSpPr>
          <p:nvPr userDrawn="1"/>
        </p:nvSpPr>
        <p:spPr bwMode="auto">
          <a:xfrm>
            <a:off x="5624471" y="3225507"/>
            <a:ext cx="440633" cy="295547"/>
          </a:xfrm>
          <a:custGeom>
            <a:avLst/>
            <a:gdLst>
              <a:gd name="T0" fmla="*/ 720 w 720"/>
              <a:gd name="T1" fmla="*/ 304 h 482"/>
              <a:gd name="T2" fmla="*/ 627 w 720"/>
              <a:gd name="T3" fmla="*/ 94 h 482"/>
              <a:gd name="T4" fmla="*/ 489 w 720"/>
              <a:gd name="T5" fmla="*/ 53 h 482"/>
              <a:gd name="T6" fmla="*/ 483 w 720"/>
              <a:gd name="T7" fmla="*/ 98 h 482"/>
              <a:gd name="T8" fmla="*/ 483 w 720"/>
              <a:gd name="T9" fmla="*/ 183 h 482"/>
              <a:gd name="T10" fmla="*/ 484 w 720"/>
              <a:gd name="T11" fmla="*/ 301 h 482"/>
              <a:gd name="T12" fmla="*/ 454 w 720"/>
              <a:gd name="T13" fmla="*/ 301 h 482"/>
              <a:gd name="T14" fmla="*/ 454 w 720"/>
              <a:gd name="T15" fmla="*/ 9 h 482"/>
              <a:gd name="T16" fmla="*/ 445 w 720"/>
              <a:gd name="T17" fmla="*/ 0 h 482"/>
              <a:gd name="T18" fmla="*/ 159 w 720"/>
              <a:gd name="T19" fmla="*/ 0 h 482"/>
              <a:gd name="T20" fmla="*/ 149 w 720"/>
              <a:gd name="T21" fmla="*/ 9 h 482"/>
              <a:gd name="T22" fmla="*/ 149 w 720"/>
              <a:gd name="T23" fmla="*/ 105 h 482"/>
              <a:gd name="T24" fmla="*/ 148 w 720"/>
              <a:gd name="T25" fmla="*/ 105 h 482"/>
              <a:gd name="T26" fmla="*/ 6 w 720"/>
              <a:gd name="T27" fmla="*/ 105 h 482"/>
              <a:gd name="T28" fmla="*/ 0 w 720"/>
              <a:gd name="T29" fmla="*/ 111 h 482"/>
              <a:gd name="T30" fmla="*/ 6 w 720"/>
              <a:gd name="T31" fmla="*/ 117 h 482"/>
              <a:gd name="T32" fmla="*/ 148 w 720"/>
              <a:gd name="T33" fmla="*/ 117 h 482"/>
              <a:gd name="T34" fmla="*/ 149 w 720"/>
              <a:gd name="T35" fmla="*/ 117 h 482"/>
              <a:gd name="T36" fmla="*/ 149 w 720"/>
              <a:gd name="T37" fmla="*/ 158 h 482"/>
              <a:gd name="T38" fmla="*/ 148 w 720"/>
              <a:gd name="T39" fmla="*/ 157 h 482"/>
              <a:gd name="T40" fmla="*/ 39 w 720"/>
              <a:gd name="T41" fmla="*/ 157 h 482"/>
              <a:gd name="T42" fmla="*/ 33 w 720"/>
              <a:gd name="T43" fmla="*/ 163 h 482"/>
              <a:gd name="T44" fmla="*/ 39 w 720"/>
              <a:gd name="T45" fmla="*/ 169 h 482"/>
              <a:gd name="T46" fmla="*/ 148 w 720"/>
              <a:gd name="T47" fmla="*/ 169 h 482"/>
              <a:gd name="T48" fmla="*/ 149 w 720"/>
              <a:gd name="T49" fmla="*/ 169 h 482"/>
              <a:gd name="T50" fmla="*/ 149 w 720"/>
              <a:gd name="T51" fmla="*/ 210 h 482"/>
              <a:gd name="T52" fmla="*/ 148 w 720"/>
              <a:gd name="T53" fmla="*/ 210 h 482"/>
              <a:gd name="T54" fmla="*/ 80 w 720"/>
              <a:gd name="T55" fmla="*/ 210 h 482"/>
              <a:gd name="T56" fmla="*/ 74 w 720"/>
              <a:gd name="T57" fmla="*/ 216 h 482"/>
              <a:gd name="T58" fmla="*/ 80 w 720"/>
              <a:gd name="T59" fmla="*/ 222 h 482"/>
              <a:gd name="T60" fmla="*/ 148 w 720"/>
              <a:gd name="T61" fmla="*/ 222 h 482"/>
              <a:gd name="T62" fmla="*/ 149 w 720"/>
              <a:gd name="T63" fmla="*/ 221 h 482"/>
              <a:gd name="T64" fmla="*/ 149 w 720"/>
              <a:gd name="T65" fmla="*/ 304 h 482"/>
              <a:gd name="T66" fmla="*/ 150 w 720"/>
              <a:gd name="T67" fmla="*/ 307 h 482"/>
              <a:gd name="T68" fmla="*/ 149 w 720"/>
              <a:gd name="T69" fmla="*/ 311 h 482"/>
              <a:gd name="T70" fmla="*/ 149 w 720"/>
              <a:gd name="T71" fmla="*/ 399 h 482"/>
              <a:gd name="T72" fmla="*/ 159 w 720"/>
              <a:gd name="T73" fmla="*/ 408 h 482"/>
              <a:gd name="T74" fmla="*/ 221 w 720"/>
              <a:gd name="T75" fmla="*/ 408 h 482"/>
              <a:gd name="T76" fmla="*/ 220 w 720"/>
              <a:gd name="T77" fmla="*/ 422 h 482"/>
              <a:gd name="T78" fmla="*/ 280 w 720"/>
              <a:gd name="T79" fmla="*/ 482 h 482"/>
              <a:gd name="T80" fmla="*/ 341 w 720"/>
              <a:gd name="T81" fmla="*/ 422 h 482"/>
              <a:gd name="T82" fmla="*/ 339 w 720"/>
              <a:gd name="T83" fmla="*/ 408 h 482"/>
              <a:gd name="T84" fmla="*/ 519 w 720"/>
              <a:gd name="T85" fmla="*/ 408 h 482"/>
              <a:gd name="T86" fmla="*/ 517 w 720"/>
              <a:gd name="T87" fmla="*/ 422 h 482"/>
              <a:gd name="T88" fmla="*/ 578 w 720"/>
              <a:gd name="T89" fmla="*/ 482 h 482"/>
              <a:gd name="T90" fmla="*/ 638 w 720"/>
              <a:gd name="T91" fmla="*/ 422 h 482"/>
              <a:gd name="T92" fmla="*/ 637 w 720"/>
              <a:gd name="T93" fmla="*/ 408 h 482"/>
              <a:gd name="T94" fmla="*/ 711 w 720"/>
              <a:gd name="T95" fmla="*/ 408 h 482"/>
              <a:gd name="T96" fmla="*/ 720 w 720"/>
              <a:gd name="T97" fmla="*/ 399 h 482"/>
              <a:gd name="T98" fmla="*/ 720 w 720"/>
              <a:gd name="T99" fmla="*/ 309 h 482"/>
              <a:gd name="T100" fmla="*/ 720 w 720"/>
              <a:gd name="T101" fmla="*/ 304 h 482"/>
              <a:gd name="T102" fmla="*/ 667 w 720"/>
              <a:gd name="T103" fmla="*/ 313 h 482"/>
              <a:gd name="T104" fmla="*/ 526 w 720"/>
              <a:gd name="T105" fmla="*/ 313 h 482"/>
              <a:gd name="T106" fmla="*/ 525 w 720"/>
              <a:gd name="T107" fmla="*/ 307 h 482"/>
              <a:gd name="T108" fmla="*/ 525 w 720"/>
              <a:gd name="T109" fmla="*/ 232 h 482"/>
              <a:gd name="T110" fmla="*/ 525 w 720"/>
              <a:gd name="T111" fmla="*/ 181 h 482"/>
              <a:gd name="T112" fmla="*/ 530 w 720"/>
              <a:gd name="T113" fmla="*/ 151 h 482"/>
              <a:gd name="T114" fmla="*/ 622 w 720"/>
              <a:gd name="T115" fmla="*/ 179 h 482"/>
              <a:gd name="T116" fmla="*/ 677 w 720"/>
              <a:gd name="T117" fmla="*/ 304 h 482"/>
              <a:gd name="T118" fmla="*/ 667 w 720"/>
              <a:gd name="T119" fmla="*/ 313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20" h="482">
                <a:moveTo>
                  <a:pt x="720" y="304"/>
                </a:moveTo>
                <a:cubicBezTo>
                  <a:pt x="720" y="218"/>
                  <a:pt x="687" y="142"/>
                  <a:pt x="627" y="94"/>
                </a:cubicBezTo>
                <a:cubicBezTo>
                  <a:pt x="584" y="58"/>
                  <a:pt x="532" y="43"/>
                  <a:pt x="489" y="53"/>
                </a:cubicBezTo>
                <a:cubicBezTo>
                  <a:pt x="483" y="54"/>
                  <a:pt x="483" y="54"/>
                  <a:pt x="483" y="98"/>
                </a:cubicBezTo>
                <a:cubicBezTo>
                  <a:pt x="483" y="118"/>
                  <a:pt x="483" y="147"/>
                  <a:pt x="483" y="183"/>
                </a:cubicBezTo>
                <a:cubicBezTo>
                  <a:pt x="484" y="234"/>
                  <a:pt x="484" y="284"/>
                  <a:pt x="484" y="301"/>
                </a:cubicBezTo>
                <a:cubicBezTo>
                  <a:pt x="454" y="301"/>
                  <a:pt x="454" y="301"/>
                  <a:pt x="454" y="301"/>
                </a:cubicBezTo>
                <a:cubicBezTo>
                  <a:pt x="454" y="9"/>
                  <a:pt x="454" y="9"/>
                  <a:pt x="454" y="9"/>
                </a:cubicBezTo>
                <a:cubicBezTo>
                  <a:pt x="454" y="4"/>
                  <a:pt x="450" y="0"/>
                  <a:pt x="445" y="0"/>
                </a:cubicBezTo>
                <a:cubicBezTo>
                  <a:pt x="159" y="0"/>
                  <a:pt x="159" y="0"/>
                  <a:pt x="159" y="0"/>
                </a:cubicBezTo>
                <a:cubicBezTo>
                  <a:pt x="154" y="0"/>
                  <a:pt x="149" y="4"/>
                  <a:pt x="149" y="9"/>
                </a:cubicBezTo>
                <a:cubicBezTo>
                  <a:pt x="149" y="105"/>
                  <a:pt x="149" y="105"/>
                  <a:pt x="149" y="105"/>
                </a:cubicBezTo>
                <a:cubicBezTo>
                  <a:pt x="149" y="105"/>
                  <a:pt x="149" y="105"/>
                  <a:pt x="148" y="105"/>
                </a:cubicBezTo>
                <a:cubicBezTo>
                  <a:pt x="6" y="105"/>
                  <a:pt x="6" y="105"/>
                  <a:pt x="6" y="105"/>
                </a:cubicBezTo>
                <a:cubicBezTo>
                  <a:pt x="3" y="105"/>
                  <a:pt x="0" y="108"/>
                  <a:pt x="0" y="111"/>
                </a:cubicBezTo>
                <a:cubicBezTo>
                  <a:pt x="0" y="114"/>
                  <a:pt x="3" y="117"/>
                  <a:pt x="6" y="117"/>
                </a:cubicBezTo>
                <a:cubicBezTo>
                  <a:pt x="148" y="117"/>
                  <a:pt x="148" y="117"/>
                  <a:pt x="148" y="117"/>
                </a:cubicBezTo>
                <a:cubicBezTo>
                  <a:pt x="149" y="117"/>
                  <a:pt x="149" y="117"/>
                  <a:pt x="149" y="117"/>
                </a:cubicBezTo>
                <a:cubicBezTo>
                  <a:pt x="149" y="158"/>
                  <a:pt x="149" y="158"/>
                  <a:pt x="149" y="158"/>
                </a:cubicBezTo>
                <a:cubicBezTo>
                  <a:pt x="149" y="157"/>
                  <a:pt x="149" y="157"/>
                  <a:pt x="148" y="157"/>
                </a:cubicBezTo>
                <a:cubicBezTo>
                  <a:pt x="39" y="157"/>
                  <a:pt x="39" y="157"/>
                  <a:pt x="39" y="157"/>
                </a:cubicBezTo>
                <a:cubicBezTo>
                  <a:pt x="36" y="157"/>
                  <a:pt x="33" y="160"/>
                  <a:pt x="33" y="163"/>
                </a:cubicBezTo>
                <a:cubicBezTo>
                  <a:pt x="33" y="167"/>
                  <a:pt x="36" y="169"/>
                  <a:pt x="39" y="169"/>
                </a:cubicBezTo>
                <a:cubicBezTo>
                  <a:pt x="148" y="169"/>
                  <a:pt x="148" y="169"/>
                  <a:pt x="148" y="169"/>
                </a:cubicBezTo>
                <a:cubicBezTo>
                  <a:pt x="149" y="169"/>
                  <a:pt x="149" y="169"/>
                  <a:pt x="149" y="169"/>
                </a:cubicBezTo>
                <a:cubicBezTo>
                  <a:pt x="149" y="210"/>
                  <a:pt x="149" y="210"/>
                  <a:pt x="149" y="210"/>
                </a:cubicBezTo>
                <a:cubicBezTo>
                  <a:pt x="149" y="210"/>
                  <a:pt x="149" y="210"/>
                  <a:pt x="148" y="210"/>
                </a:cubicBezTo>
                <a:cubicBezTo>
                  <a:pt x="80" y="210"/>
                  <a:pt x="80" y="210"/>
                  <a:pt x="80" y="210"/>
                </a:cubicBezTo>
                <a:cubicBezTo>
                  <a:pt x="77" y="210"/>
                  <a:pt x="74" y="212"/>
                  <a:pt x="74" y="216"/>
                </a:cubicBezTo>
                <a:cubicBezTo>
                  <a:pt x="74" y="219"/>
                  <a:pt x="77" y="222"/>
                  <a:pt x="80" y="222"/>
                </a:cubicBezTo>
                <a:cubicBezTo>
                  <a:pt x="148" y="222"/>
                  <a:pt x="148" y="222"/>
                  <a:pt x="148" y="222"/>
                </a:cubicBezTo>
                <a:cubicBezTo>
                  <a:pt x="149" y="222"/>
                  <a:pt x="149" y="221"/>
                  <a:pt x="149" y="221"/>
                </a:cubicBezTo>
                <a:cubicBezTo>
                  <a:pt x="149" y="304"/>
                  <a:pt x="149" y="304"/>
                  <a:pt x="149" y="304"/>
                </a:cubicBezTo>
                <a:cubicBezTo>
                  <a:pt x="149" y="305"/>
                  <a:pt x="150" y="306"/>
                  <a:pt x="150" y="307"/>
                </a:cubicBezTo>
                <a:cubicBezTo>
                  <a:pt x="150" y="308"/>
                  <a:pt x="149" y="310"/>
                  <a:pt x="149" y="311"/>
                </a:cubicBezTo>
                <a:cubicBezTo>
                  <a:pt x="149" y="399"/>
                  <a:pt x="149" y="399"/>
                  <a:pt x="149" y="399"/>
                </a:cubicBezTo>
                <a:cubicBezTo>
                  <a:pt x="149" y="404"/>
                  <a:pt x="154" y="408"/>
                  <a:pt x="159" y="408"/>
                </a:cubicBezTo>
                <a:cubicBezTo>
                  <a:pt x="221" y="408"/>
                  <a:pt x="221" y="408"/>
                  <a:pt x="221" y="408"/>
                </a:cubicBezTo>
                <a:cubicBezTo>
                  <a:pt x="220" y="413"/>
                  <a:pt x="220" y="417"/>
                  <a:pt x="220" y="422"/>
                </a:cubicBezTo>
                <a:cubicBezTo>
                  <a:pt x="220" y="455"/>
                  <a:pt x="247" y="482"/>
                  <a:pt x="280" y="482"/>
                </a:cubicBezTo>
                <a:cubicBezTo>
                  <a:pt x="314" y="482"/>
                  <a:pt x="341" y="455"/>
                  <a:pt x="341" y="422"/>
                </a:cubicBezTo>
                <a:cubicBezTo>
                  <a:pt x="341" y="417"/>
                  <a:pt x="340" y="413"/>
                  <a:pt x="339" y="408"/>
                </a:cubicBezTo>
                <a:cubicBezTo>
                  <a:pt x="519" y="408"/>
                  <a:pt x="519" y="408"/>
                  <a:pt x="519" y="408"/>
                </a:cubicBezTo>
                <a:cubicBezTo>
                  <a:pt x="518" y="413"/>
                  <a:pt x="517" y="417"/>
                  <a:pt x="517" y="422"/>
                </a:cubicBezTo>
                <a:cubicBezTo>
                  <a:pt x="517" y="455"/>
                  <a:pt x="545" y="482"/>
                  <a:pt x="578" y="482"/>
                </a:cubicBezTo>
                <a:cubicBezTo>
                  <a:pt x="611" y="482"/>
                  <a:pt x="638" y="455"/>
                  <a:pt x="638" y="422"/>
                </a:cubicBezTo>
                <a:cubicBezTo>
                  <a:pt x="638" y="417"/>
                  <a:pt x="638" y="413"/>
                  <a:pt x="637" y="408"/>
                </a:cubicBezTo>
                <a:cubicBezTo>
                  <a:pt x="711" y="408"/>
                  <a:pt x="711" y="408"/>
                  <a:pt x="711" y="408"/>
                </a:cubicBezTo>
                <a:cubicBezTo>
                  <a:pt x="716" y="408"/>
                  <a:pt x="720" y="404"/>
                  <a:pt x="720" y="399"/>
                </a:cubicBezTo>
                <a:cubicBezTo>
                  <a:pt x="720" y="309"/>
                  <a:pt x="720" y="309"/>
                  <a:pt x="720" y="309"/>
                </a:cubicBezTo>
                <a:cubicBezTo>
                  <a:pt x="720" y="307"/>
                  <a:pt x="720" y="306"/>
                  <a:pt x="720" y="304"/>
                </a:cubicBezTo>
                <a:close/>
                <a:moveTo>
                  <a:pt x="667" y="313"/>
                </a:moveTo>
                <a:cubicBezTo>
                  <a:pt x="526" y="313"/>
                  <a:pt x="526" y="313"/>
                  <a:pt x="526" y="313"/>
                </a:cubicBezTo>
                <a:cubicBezTo>
                  <a:pt x="525" y="307"/>
                  <a:pt x="525" y="307"/>
                  <a:pt x="525" y="307"/>
                </a:cubicBezTo>
                <a:cubicBezTo>
                  <a:pt x="525" y="307"/>
                  <a:pt x="525" y="270"/>
                  <a:pt x="525" y="232"/>
                </a:cubicBezTo>
                <a:cubicBezTo>
                  <a:pt x="525" y="213"/>
                  <a:pt x="525" y="195"/>
                  <a:pt x="525" y="181"/>
                </a:cubicBezTo>
                <a:cubicBezTo>
                  <a:pt x="525" y="152"/>
                  <a:pt x="525" y="152"/>
                  <a:pt x="530" y="151"/>
                </a:cubicBezTo>
                <a:cubicBezTo>
                  <a:pt x="558" y="145"/>
                  <a:pt x="593" y="155"/>
                  <a:pt x="622" y="179"/>
                </a:cubicBezTo>
                <a:cubicBezTo>
                  <a:pt x="658" y="208"/>
                  <a:pt x="678" y="254"/>
                  <a:pt x="677" y="304"/>
                </a:cubicBezTo>
                <a:cubicBezTo>
                  <a:pt x="677" y="309"/>
                  <a:pt x="672" y="313"/>
                  <a:pt x="667" y="3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44" name="Group 30">
            <a:extLst>
              <a:ext uri="{FF2B5EF4-FFF2-40B4-BE49-F238E27FC236}">
                <a16:creationId xmlns:a16="http://schemas.microsoft.com/office/drawing/2014/main" id="{3C7606B6-63B5-4C9B-B822-D044B5A9A970}"/>
              </a:ext>
            </a:extLst>
          </p:cNvPr>
          <p:cNvGrpSpPr>
            <a:grpSpLocks noChangeAspect="1"/>
          </p:cNvGrpSpPr>
          <p:nvPr userDrawn="1"/>
        </p:nvGrpSpPr>
        <p:grpSpPr bwMode="auto">
          <a:xfrm>
            <a:off x="5684675" y="3759995"/>
            <a:ext cx="369186" cy="332042"/>
            <a:chOff x="2874" y="2320"/>
            <a:chExt cx="1650" cy="1484"/>
          </a:xfrm>
          <a:solidFill>
            <a:schemeClr val="tx1"/>
          </a:solidFill>
        </p:grpSpPr>
        <p:sp>
          <p:nvSpPr>
            <p:cNvPr id="446" name="Freeform 31">
              <a:extLst>
                <a:ext uri="{FF2B5EF4-FFF2-40B4-BE49-F238E27FC236}">
                  <a16:creationId xmlns:a16="http://schemas.microsoft.com/office/drawing/2014/main" id="{2DB9D92B-3C4B-448E-B922-1A2DAEA6E935}"/>
                </a:ext>
              </a:extLst>
            </p:cNvPr>
            <p:cNvSpPr>
              <a:spLocks/>
            </p:cNvSpPr>
            <p:nvPr userDrawn="1"/>
          </p:nvSpPr>
          <p:spPr bwMode="auto">
            <a:xfrm>
              <a:off x="2874" y="2320"/>
              <a:ext cx="1650" cy="1031"/>
            </a:xfrm>
            <a:custGeom>
              <a:avLst/>
              <a:gdLst>
                <a:gd name="T0" fmla="*/ 589 w 792"/>
                <a:gd name="T1" fmla="*/ 108 h 494"/>
                <a:gd name="T2" fmla="*/ 396 w 792"/>
                <a:gd name="T3" fmla="*/ 0 h 494"/>
                <a:gd name="T4" fmla="*/ 202 w 792"/>
                <a:gd name="T5" fmla="*/ 108 h 494"/>
                <a:gd name="T6" fmla="*/ 0 w 792"/>
                <a:gd name="T7" fmla="*/ 319 h 494"/>
                <a:gd name="T8" fmla="*/ 83 w 792"/>
                <a:gd name="T9" fmla="*/ 487 h 494"/>
                <a:gd name="T10" fmla="*/ 101 w 792"/>
                <a:gd name="T11" fmla="*/ 493 h 494"/>
                <a:gd name="T12" fmla="*/ 125 w 792"/>
                <a:gd name="T13" fmla="*/ 481 h 494"/>
                <a:gd name="T14" fmla="*/ 120 w 792"/>
                <a:gd name="T15" fmla="*/ 439 h 494"/>
                <a:gd name="T16" fmla="*/ 60 w 792"/>
                <a:gd name="T17" fmla="*/ 319 h 494"/>
                <a:gd name="T18" fmla="*/ 212 w 792"/>
                <a:gd name="T19" fmla="*/ 168 h 494"/>
                <a:gd name="T20" fmla="*/ 217 w 792"/>
                <a:gd name="T21" fmla="*/ 168 h 494"/>
                <a:gd name="T22" fmla="*/ 218 w 792"/>
                <a:gd name="T23" fmla="*/ 168 h 494"/>
                <a:gd name="T24" fmla="*/ 223 w 792"/>
                <a:gd name="T25" fmla="*/ 168 h 494"/>
                <a:gd name="T26" fmla="*/ 224 w 792"/>
                <a:gd name="T27" fmla="*/ 168 h 494"/>
                <a:gd name="T28" fmla="*/ 227 w 792"/>
                <a:gd name="T29" fmla="*/ 167 h 494"/>
                <a:gd name="T30" fmla="*/ 229 w 792"/>
                <a:gd name="T31" fmla="*/ 167 h 494"/>
                <a:gd name="T32" fmla="*/ 242 w 792"/>
                <a:gd name="T33" fmla="*/ 159 h 494"/>
                <a:gd name="T34" fmla="*/ 243 w 792"/>
                <a:gd name="T35" fmla="*/ 158 h 494"/>
                <a:gd name="T36" fmla="*/ 244 w 792"/>
                <a:gd name="T37" fmla="*/ 156 h 494"/>
                <a:gd name="T38" fmla="*/ 246 w 792"/>
                <a:gd name="T39" fmla="*/ 154 h 494"/>
                <a:gd name="T40" fmla="*/ 248 w 792"/>
                <a:gd name="T41" fmla="*/ 150 h 494"/>
                <a:gd name="T42" fmla="*/ 396 w 792"/>
                <a:gd name="T43" fmla="*/ 60 h 494"/>
                <a:gd name="T44" fmla="*/ 545 w 792"/>
                <a:gd name="T45" fmla="*/ 152 h 494"/>
                <a:gd name="T46" fmla="*/ 546 w 792"/>
                <a:gd name="T47" fmla="*/ 153 h 494"/>
                <a:gd name="T48" fmla="*/ 547 w 792"/>
                <a:gd name="T49" fmla="*/ 154 h 494"/>
                <a:gd name="T50" fmla="*/ 548 w 792"/>
                <a:gd name="T51" fmla="*/ 157 h 494"/>
                <a:gd name="T52" fmla="*/ 549 w 792"/>
                <a:gd name="T53" fmla="*/ 158 h 494"/>
                <a:gd name="T54" fmla="*/ 552 w 792"/>
                <a:gd name="T55" fmla="*/ 161 h 494"/>
                <a:gd name="T56" fmla="*/ 553 w 792"/>
                <a:gd name="T57" fmla="*/ 162 h 494"/>
                <a:gd name="T58" fmla="*/ 557 w 792"/>
                <a:gd name="T59" fmla="*/ 164 h 494"/>
                <a:gd name="T60" fmla="*/ 558 w 792"/>
                <a:gd name="T61" fmla="*/ 165 h 494"/>
                <a:gd name="T62" fmla="*/ 562 w 792"/>
                <a:gd name="T63" fmla="*/ 167 h 494"/>
                <a:gd name="T64" fmla="*/ 564 w 792"/>
                <a:gd name="T65" fmla="*/ 167 h 494"/>
                <a:gd name="T66" fmla="*/ 568 w 792"/>
                <a:gd name="T67" fmla="*/ 168 h 494"/>
                <a:gd name="T68" fmla="*/ 571 w 792"/>
                <a:gd name="T69" fmla="*/ 168 h 494"/>
                <a:gd name="T70" fmla="*/ 574 w 792"/>
                <a:gd name="T71" fmla="*/ 168 h 494"/>
                <a:gd name="T72" fmla="*/ 575 w 792"/>
                <a:gd name="T73" fmla="*/ 168 h 494"/>
                <a:gd name="T74" fmla="*/ 580 w 792"/>
                <a:gd name="T75" fmla="*/ 168 h 494"/>
                <a:gd name="T76" fmla="*/ 732 w 792"/>
                <a:gd name="T77" fmla="*/ 319 h 494"/>
                <a:gd name="T78" fmla="*/ 672 w 792"/>
                <a:gd name="T79" fmla="*/ 440 h 494"/>
                <a:gd name="T80" fmla="*/ 660 w 792"/>
                <a:gd name="T81" fmla="*/ 460 h 494"/>
                <a:gd name="T82" fmla="*/ 666 w 792"/>
                <a:gd name="T83" fmla="*/ 482 h 494"/>
                <a:gd name="T84" fmla="*/ 690 w 792"/>
                <a:gd name="T85" fmla="*/ 494 h 494"/>
                <a:gd name="T86" fmla="*/ 708 w 792"/>
                <a:gd name="T87" fmla="*/ 488 h 494"/>
                <a:gd name="T88" fmla="*/ 792 w 792"/>
                <a:gd name="T89" fmla="*/ 319 h 494"/>
                <a:gd name="T90" fmla="*/ 589 w 792"/>
                <a:gd name="T91" fmla="*/ 10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2" h="494">
                  <a:moveTo>
                    <a:pt x="589" y="108"/>
                  </a:moveTo>
                  <a:cubicBezTo>
                    <a:pt x="548" y="41"/>
                    <a:pt x="476" y="0"/>
                    <a:pt x="396" y="0"/>
                  </a:cubicBezTo>
                  <a:cubicBezTo>
                    <a:pt x="316" y="0"/>
                    <a:pt x="244" y="41"/>
                    <a:pt x="202" y="108"/>
                  </a:cubicBezTo>
                  <a:cubicBezTo>
                    <a:pt x="90" y="113"/>
                    <a:pt x="0" y="206"/>
                    <a:pt x="0" y="319"/>
                  </a:cubicBezTo>
                  <a:cubicBezTo>
                    <a:pt x="0" y="385"/>
                    <a:pt x="31" y="447"/>
                    <a:pt x="83" y="487"/>
                  </a:cubicBezTo>
                  <a:cubicBezTo>
                    <a:pt x="88" y="491"/>
                    <a:pt x="95" y="493"/>
                    <a:pt x="101" y="493"/>
                  </a:cubicBezTo>
                  <a:cubicBezTo>
                    <a:pt x="111" y="493"/>
                    <a:pt x="120" y="489"/>
                    <a:pt x="125" y="481"/>
                  </a:cubicBezTo>
                  <a:cubicBezTo>
                    <a:pt x="135" y="468"/>
                    <a:pt x="133" y="449"/>
                    <a:pt x="120" y="439"/>
                  </a:cubicBezTo>
                  <a:cubicBezTo>
                    <a:pt x="82" y="410"/>
                    <a:pt x="60" y="367"/>
                    <a:pt x="60" y="319"/>
                  </a:cubicBezTo>
                  <a:cubicBezTo>
                    <a:pt x="60" y="236"/>
                    <a:pt x="128" y="168"/>
                    <a:pt x="212" y="168"/>
                  </a:cubicBezTo>
                  <a:cubicBezTo>
                    <a:pt x="213" y="168"/>
                    <a:pt x="215" y="168"/>
                    <a:pt x="217" y="168"/>
                  </a:cubicBezTo>
                  <a:cubicBezTo>
                    <a:pt x="218" y="168"/>
                    <a:pt x="218" y="168"/>
                    <a:pt x="218" y="168"/>
                  </a:cubicBezTo>
                  <a:cubicBezTo>
                    <a:pt x="223" y="168"/>
                    <a:pt x="223" y="168"/>
                    <a:pt x="223" y="168"/>
                  </a:cubicBezTo>
                  <a:cubicBezTo>
                    <a:pt x="224" y="168"/>
                    <a:pt x="224" y="168"/>
                    <a:pt x="224" y="168"/>
                  </a:cubicBezTo>
                  <a:cubicBezTo>
                    <a:pt x="225" y="168"/>
                    <a:pt x="226" y="168"/>
                    <a:pt x="227" y="167"/>
                  </a:cubicBezTo>
                  <a:cubicBezTo>
                    <a:pt x="229" y="167"/>
                    <a:pt x="229" y="167"/>
                    <a:pt x="229" y="167"/>
                  </a:cubicBezTo>
                  <a:cubicBezTo>
                    <a:pt x="234" y="165"/>
                    <a:pt x="238" y="163"/>
                    <a:pt x="242" y="159"/>
                  </a:cubicBezTo>
                  <a:cubicBezTo>
                    <a:pt x="243" y="158"/>
                    <a:pt x="243" y="158"/>
                    <a:pt x="243" y="158"/>
                  </a:cubicBezTo>
                  <a:cubicBezTo>
                    <a:pt x="243" y="157"/>
                    <a:pt x="244" y="157"/>
                    <a:pt x="244" y="156"/>
                  </a:cubicBezTo>
                  <a:cubicBezTo>
                    <a:pt x="246" y="154"/>
                    <a:pt x="246" y="154"/>
                    <a:pt x="246" y="154"/>
                  </a:cubicBezTo>
                  <a:cubicBezTo>
                    <a:pt x="248" y="150"/>
                    <a:pt x="248" y="150"/>
                    <a:pt x="248" y="150"/>
                  </a:cubicBezTo>
                  <a:cubicBezTo>
                    <a:pt x="276" y="94"/>
                    <a:pt x="333" y="60"/>
                    <a:pt x="396" y="60"/>
                  </a:cubicBezTo>
                  <a:cubicBezTo>
                    <a:pt x="459" y="60"/>
                    <a:pt x="516" y="95"/>
                    <a:pt x="545" y="152"/>
                  </a:cubicBezTo>
                  <a:cubicBezTo>
                    <a:pt x="546" y="153"/>
                    <a:pt x="546" y="153"/>
                    <a:pt x="546" y="153"/>
                  </a:cubicBezTo>
                  <a:cubicBezTo>
                    <a:pt x="547" y="154"/>
                    <a:pt x="547" y="154"/>
                    <a:pt x="547" y="154"/>
                  </a:cubicBezTo>
                  <a:cubicBezTo>
                    <a:pt x="547" y="155"/>
                    <a:pt x="548" y="156"/>
                    <a:pt x="548" y="157"/>
                  </a:cubicBezTo>
                  <a:cubicBezTo>
                    <a:pt x="549" y="158"/>
                    <a:pt x="549" y="158"/>
                    <a:pt x="549" y="158"/>
                  </a:cubicBezTo>
                  <a:cubicBezTo>
                    <a:pt x="550" y="159"/>
                    <a:pt x="551" y="160"/>
                    <a:pt x="552" y="161"/>
                  </a:cubicBezTo>
                  <a:cubicBezTo>
                    <a:pt x="553" y="162"/>
                    <a:pt x="553" y="162"/>
                    <a:pt x="553" y="162"/>
                  </a:cubicBezTo>
                  <a:cubicBezTo>
                    <a:pt x="555" y="163"/>
                    <a:pt x="556" y="164"/>
                    <a:pt x="557" y="164"/>
                  </a:cubicBezTo>
                  <a:cubicBezTo>
                    <a:pt x="558" y="165"/>
                    <a:pt x="558" y="165"/>
                    <a:pt x="558" y="165"/>
                  </a:cubicBezTo>
                  <a:cubicBezTo>
                    <a:pt x="559" y="165"/>
                    <a:pt x="561" y="166"/>
                    <a:pt x="562" y="167"/>
                  </a:cubicBezTo>
                  <a:cubicBezTo>
                    <a:pt x="564" y="167"/>
                    <a:pt x="564" y="167"/>
                    <a:pt x="564" y="167"/>
                  </a:cubicBezTo>
                  <a:cubicBezTo>
                    <a:pt x="565" y="167"/>
                    <a:pt x="566" y="168"/>
                    <a:pt x="568" y="168"/>
                  </a:cubicBezTo>
                  <a:cubicBezTo>
                    <a:pt x="569" y="168"/>
                    <a:pt x="570" y="168"/>
                    <a:pt x="571" y="168"/>
                  </a:cubicBezTo>
                  <a:cubicBezTo>
                    <a:pt x="574" y="168"/>
                    <a:pt x="574" y="168"/>
                    <a:pt x="574" y="168"/>
                  </a:cubicBezTo>
                  <a:cubicBezTo>
                    <a:pt x="575" y="168"/>
                    <a:pt x="575" y="168"/>
                    <a:pt x="575" y="168"/>
                  </a:cubicBezTo>
                  <a:cubicBezTo>
                    <a:pt x="577" y="168"/>
                    <a:pt x="579" y="168"/>
                    <a:pt x="580" y="168"/>
                  </a:cubicBezTo>
                  <a:cubicBezTo>
                    <a:pt x="664" y="168"/>
                    <a:pt x="732" y="236"/>
                    <a:pt x="732" y="319"/>
                  </a:cubicBezTo>
                  <a:cubicBezTo>
                    <a:pt x="732" y="367"/>
                    <a:pt x="710" y="411"/>
                    <a:pt x="672" y="440"/>
                  </a:cubicBezTo>
                  <a:cubicBezTo>
                    <a:pt x="665" y="445"/>
                    <a:pt x="661" y="452"/>
                    <a:pt x="660" y="460"/>
                  </a:cubicBezTo>
                  <a:cubicBezTo>
                    <a:pt x="659" y="468"/>
                    <a:pt x="661" y="475"/>
                    <a:pt x="666" y="482"/>
                  </a:cubicBezTo>
                  <a:cubicBezTo>
                    <a:pt x="671" y="489"/>
                    <a:pt x="680" y="494"/>
                    <a:pt x="690" y="494"/>
                  </a:cubicBezTo>
                  <a:cubicBezTo>
                    <a:pt x="696" y="494"/>
                    <a:pt x="703" y="492"/>
                    <a:pt x="708" y="488"/>
                  </a:cubicBezTo>
                  <a:cubicBezTo>
                    <a:pt x="761" y="447"/>
                    <a:pt x="792" y="386"/>
                    <a:pt x="792" y="319"/>
                  </a:cubicBezTo>
                  <a:cubicBezTo>
                    <a:pt x="792" y="206"/>
                    <a:pt x="702" y="113"/>
                    <a:pt x="589"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7" name="Freeform 32">
              <a:extLst>
                <a:ext uri="{FF2B5EF4-FFF2-40B4-BE49-F238E27FC236}">
                  <a16:creationId xmlns:a16="http://schemas.microsoft.com/office/drawing/2014/main" id="{14172AA6-11CD-4C88-9D03-C61938697D0D}"/>
                </a:ext>
              </a:extLst>
            </p:cNvPr>
            <p:cNvSpPr>
              <a:spLocks/>
            </p:cNvSpPr>
            <p:nvPr userDrawn="1"/>
          </p:nvSpPr>
          <p:spPr bwMode="auto">
            <a:xfrm>
              <a:off x="3634" y="2904"/>
              <a:ext cx="125" cy="900"/>
            </a:xfrm>
            <a:custGeom>
              <a:avLst/>
              <a:gdLst>
                <a:gd name="T0" fmla="*/ 30 w 60"/>
                <a:gd name="T1" fmla="*/ 0 h 431"/>
                <a:gd name="T2" fmla="*/ 0 w 60"/>
                <a:gd name="T3" fmla="*/ 30 h 431"/>
                <a:gd name="T4" fmla="*/ 0 w 60"/>
                <a:gd name="T5" fmla="*/ 401 h 431"/>
                <a:gd name="T6" fmla="*/ 30 w 60"/>
                <a:gd name="T7" fmla="*/ 431 h 431"/>
                <a:gd name="T8" fmla="*/ 60 w 60"/>
                <a:gd name="T9" fmla="*/ 401 h 431"/>
                <a:gd name="T10" fmla="*/ 60 w 60"/>
                <a:gd name="T11" fmla="*/ 30 h 431"/>
                <a:gd name="T12" fmla="*/ 30 w 60"/>
                <a:gd name="T13" fmla="*/ 0 h 431"/>
              </a:gdLst>
              <a:ahLst/>
              <a:cxnLst>
                <a:cxn ang="0">
                  <a:pos x="T0" y="T1"/>
                </a:cxn>
                <a:cxn ang="0">
                  <a:pos x="T2" y="T3"/>
                </a:cxn>
                <a:cxn ang="0">
                  <a:pos x="T4" y="T5"/>
                </a:cxn>
                <a:cxn ang="0">
                  <a:pos x="T6" y="T7"/>
                </a:cxn>
                <a:cxn ang="0">
                  <a:pos x="T8" y="T9"/>
                </a:cxn>
                <a:cxn ang="0">
                  <a:pos x="T10" y="T11"/>
                </a:cxn>
                <a:cxn ang="0">
                  <a:pos x="T12" y="T13"/>
                </a:cxn>
              </a:cxnLst>
              <a:rect l="0" t="0" r="r" b="b"/>
              <a:pathLst>
                <a:path w="60" h="431">
                  <a:moveTo>
                    <a:pt x="30" y="0"/>
                  </a:moveTo>
                  <a:cubicBezTo>
                    <a:pt x="13" y="0"/>
                    <a:pt x="0" y="14"/>
                    <a:pt x="0" y="30"/>
                  </a:cubicBezTo>
                  <a:cubicBezTo>
                    <a:pt x="0" y="401"/>
                    <a:pt x="0" y="401"/>
                    <a:pt x="0" y="401"/>
                  </a:cubicBezTo>
                  <a:cubicBezTo>
                    <a:pt x="0" y="418"/>
                    <a:pt x="13" y="431"/>
                    <a:pt x="30" y="431"/>
                  </a:cubicBezTo>
                  <a:cubicBezTo>
                    <a:pt x="47" y="431"/>
                    <a:pt x="60" y="418"/>
                    <a:pt x="60" y="401"/>
                  </a:cubicBezTo>
                  <a:cubicBezTo>
                    <a:pt x="60" y="30"/>
                    <a:pt x="60" y="30"/>
                    <a:pt x="60" y="30"/>
                  </a:cubicBezTo>
                  <a:cubicBezTo>
                    <a:pt x="60" y="14"/>
                    <a:pt x="47"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0" name="Freeform 33">
              <a:extLst>
                <a:ext uri="{FF2B5EF4-FFF2-40B4-BE49-F238E27FC236}">
                  <a16:creationId xmlns:a16="http://schemas.microsoft.com/office/drawing/2014/main" id="{0B0C4D37-1AE5-4F78-B213-F85D0D06665E}"/>
                </a:ext>
              </a:extLst>
            </p:cNvPr>
            <p:cNvSpPr>
              <a:spLocks/>
            </p:cNvSpPr>
            <p:nvPr userDrawn="1"/>
          </p:nvSpPr>
          <p:spPr bwMode="auto">
            <a:xfrm>
              <a:off x="3222" y="2992"/>
              <a:ext cx="360" cy="666"/>
            </a:xfrm>
            <a:custGeom>
              <a:avLst/>
              <a:gdLst>
                <a:gd name="T0" fmla="*/ 58 w 173"/>
                <a:gd name="T1" fmla="*/ 19 h 319"/>
                <a:gd name="T2" fmla="*/ 41 w 173"/>
                <a:gd name="T3" fmla="*/ 3 h 319"/>
                <a:gd name="T4" fmla="*/ 19 w 173"/>
                <a:gd name="T5" fmla="*/ 3 h 319"/>
                <a:gd name="T6" fmla="*/ 3 w 173"/>
                <a:gd name="T7" fmla="*/ 20 h 319"/>
                <a:gd name="T8" fmla="*/ 3 w 173"/>
                <a:gd name="T9" fmla="*/ 43 h 319"/>
                <a:gd name="T10" fmla="*/ 115 w 173"/>
                <a:gd name="T11" fmla="*/ 301 h 319"/>
                <a:gd name="T12" fmla="*/ 143 w 173"/>
                <a:gd name="T13" fmla="*/ 319 h 319"/>
                <a:gd name="T14" fmla="*/ 155 w 173"/>
                <a:gd name="T15" fmla="*/ 317 h 319"/>
                <a:gd name="T16" fmla="*/ 171 w 173"/>
                <a:gd name="T17" fmla="*/ 300 h 319"/>
                <a:gd name="T18" fmla="*/ 170 w 173"/>
                <a:gd name="T19" fmla="*/ 278 h 319"/>
                <a:gd name="T20" fmla="*/ 58 w 173"/>
                <a:gd name="T21" fmla="*/ 1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319">
                  <a:moveTo>
                    <a:pt x="58" y="19"/>
                  </a:moveTo>
                  <a:cubicBezTo>
                    <a:pt x="55" y="12"/>
                    <a:pt x="49" y="6"/>
                    <a:pt x="41" y="3"/>
                  </a:cubicBezTo>
                  <a:cubicBezTo>
                    <a:pt x="34" y="0"/>
                    <a:pt x="26" y="0"/>
                    <a:pt x="19" y="3"/>
                  </a:cubicBezTo>
                  <a:cubicBezTo>
                    <a:pt x="11" y="7"/>
                    <a:pt x="6" y="12"/>
                    <a:pt x="3" y="20"/>
                  </a:cubicBezTo>
                  <a:cubicBezTo>
                    <a:pt x="0" y="27"/>
                    <a:pt x="0" y="36"/>
                    <a:pt x="3" y="43"/>
                  </a:cubicBezTo>
                  <a:cubicBezTo>
                    <a:pt x="115" y="301"/>
                    <a:pt x="115" y="301"/>
                    <a:pt x="115" y="301"/>
                  </a:cubicBezTo>
                  <a:cubicBezTo>
                    <a:pt x="120" y="312"/>
                    <a:pt x="131" y="319"/>
                    <a:pt x="143" y="319"/>
                  </a:cubicBezTo>
                  <a:cubicBezTo>
                    <a:pt x="147" y="319"/>
                    <a:pt x="151" y="319"/>
                    <a:pt x="155" y="317"/>
                  </a:cubicBezTo>
                  <a:cubicBezTo>
                    <a:pt x="162" y="314"/>
                    <a:pt x="168" y="308"/>
                    <a:pt x="171" y="300"/>
                  </a:cubicBezTo>
                  <a:cubicBezTo>
                    <a:pt x="173" y="293"/>
                    <a:pt x="173" y="285"/>
                    <a:pt x="170" y="278"/>
                  </a:cubicBezTo>
                  <a:lnTo>
                    <a:pt x="58"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1" name="Freeform 34">
              <a:extLst>
                <a:ext uri="{FF2B5EF4-FFF2-40B4-BE49-F238E27FC236}">
                  <a16:creationId xmlns:a16="http://schemas.microsoft.com/office/drawing/2014/main" id="{1F5ED0EE-0923-458C-AA35-E1354F0A03FE}"/>
                </a:ext>
              </a:extLst>
            </p:cNvPr>
            <p:cNvSpPr>
              <a:spLocks/>
            </p:cNvSpPr>
            <p:nvPr userDrawn="1"/>
          </p:nvSpPr>
          <p:spPr bwMode="auto">
            <a:xfrm>
              <a:off x="3805" y="2982"/>
              <a:ext cx="359" cy="680"/>
            </a:xfrm>
            <a:custGeom>
              <a:avLst/>
              <a:gdLst>
                <a:gd name="T0" fmla="*/ 149 w 172"/>
                <a:gd name="T1" fmla="*/ 6 h 326"/>
                <a:gd name="T2" fmla="*/ 149 w 172"/>
                <a:gd name="T3" fmla="*/ 6 h 326"/>
                <a:gd name="T4" fmla="*/ 110 w 172"/>
                <a:gd name="T5" fmla="*/ 23 h 326"/>
                <a:gd name="T6" fmla="*/ 6 w 172"/>
                <a:gd name="T7" fmla="*/ 285 h 326"/>
                <a:gd name="T8" fmla="*/ 23 w 172"/>
                <a:gd name="T9" fmla="*/ 324 h 326"/>
                <a:gd name="T10" fmla="*/ 34 w 172"/>
                <a:gd name="T11" fmla="*/ 326 h 326"/>
                <a:gd name="T12" fmla="*/ 62 w 172"/>
                <a:gd name="T13" fmla="*/ 307 h 326"/>
                <a:gd name="T14" fmla="*/ 166 w 172"/>
                <a:gd name="T15" fmla="*/ 45 h 326"/>
                <a:gd name="T16" fmla="*/ 149 w 172"/>
                <a:gd name="T17" fmla="*/ 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26">
                  <a:moveTo>
                    <a:pt x="149" y="6"/>
                  </a:moveTo>
                  <a:cubicBezTo>
                    <a:pt x="149" y="6"/>
                    <a:pt x="149" y="6"/>
                    <a:pt x="149" y="6"/>
                  </a:cubicBezTo>
                  <a:cubicBezTo>
                    <a:pt x="133" y="0"/>
                    <a:pt x="116" y="8"/>
                    <a:pt x="110" y="23"/>
                  </a:cubicBezTo>
                  <a:cubicBezTo>
                    <a:pt x="6" y="285"/>
                    <a:pt x="6" y="285"/>
                    <a:pt x="6" y="285"/>
                  </a:cubicBezTo>
                  <a:cubicBezTo>
                    <a:pt x="0" y="301"/>
                    <a:pt x="8" y="318"/>
                    <a:pt x="23" y="324"/>
                  </a:cubicBezTo>
                  <a:cubicBezTo>
                    <a:pt x="27" y="326"/>
                    <a:pt x="30" y="326"/>
                    <a:pt x="34" y="326"/>
                  </a:cubicBezTo>
                  <a:cubicBezTo>
                    <a:pt x="47" y="326"/>
                    <a:pt x="58" y="319"/>
                    <a:pt x="62" y="307"/>
                  </a:cubicBezTo>
                  <a:cubicBezTo>
                    <a:pt x="166" y="45"/>
                    <a:pt x="166" y="45"/>
                    <a:pt x="166" y="45"/>
                  </a:cubicBezTo>
                  <a:cubicBezTo>
                    <a:pt x="172" y="30"/>
                    <a:pt x="164" y="12"/>
                    <a:pt x="14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86" name="Group 37">
            <a:extLst>
              <a:ext uri="{FF2B5EF4-FFF2-40B4-BE49-F238E27FC236}">
                <a16:creationId xmlns:a16="http://schemas.microsoft.com/office/drawing/2014/main" id="{28741745-6CF2-4373-B787-553563BE435C}"/>
              </a:ext>
            </a:extLst>
          </p:cNvPr>
          <p:cNvGrpSpPr>
            <a:grpSpLocks noChangeAspect="1"/>
          </p:cNvGrpSpPr>
          <p:nvPr userDrawn="1"/>
        </p:nvGrpSpPr>
        <p:grpSpPr bwMode="auto">
          <a:xfrm>
            <a:off x="10936669" y="6714212"/>
            <a:ext cx="358854" cy="355104"/>
            <a:chOff x="3937" y="1930"/>
            <a:chExt cx="1340" cy="1326"/>
          </a:xfrm>
          <a:solidFill>
            <a:schemeClr val="tx1"/>
          </a:solidFill>
        </p:grpSpPr>
        <p:sp>
          <p:nvSpPr>
            <p:cNvPr id="488" name="Rectangle 38">
              <a:extLst>
                <a:ext uri="{FF2B5EF4-FFF2-40B4-BE49-F238E27FC236}">
                  <a16:creationId xmlns:a16="http://schemas.microsoft.com/office/drawing/2014/main" id="{9F512075-6D44-404A-91B2-9F8F21678DBE}"/>
                </a:ext>
              </a:extLst>
            </p:cNvPr>
            <p:cNvSpPr>
              <a:spLocks noChangeArrowheads="1"/>
            </p:cNvSpPr>
            <p:nvPr userDrawn="1"/>
          </p:nvSpPr>
          <p:spPr bwMode="auto">
            <a:xfrm>
              <a:off x="4898" y="2607"/>
              <a:ext cx="104" cy="1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0" name="Freeform 39">
              <a:extLst>
                <a:ext uri="{FF2B5EF4-FFF2-40B4-BE49-F238E27FC236}">
                  <a16:creationId xmlns:a16="http://schemas.microsoft.com/office/drawing/2014/main" id="{7A7A1023-705E-4086-9655-0F4CA8CB6A08}"/>
                </a:ext>
              </a:extLst>
            </p:cNvPr>
            <p:cNvSpPr>
              <a:spLocks noEditPoints="1"/>
            </p:cNvSpPr>
            <p:nvPr userDrawn="1"/>
          </p:nvSpPr>
          <p:spPr bwMode="auto">
            <a:xfrm>
              <a:off x="3937" y="2312"/>
              <a:ext cx="1340" cy="942"/>
            </a:xfrm>
            <a:custGeom>
              <a:avLst/>
              <a:gdLst>
                <a:gd name="T0" fmla="*/ 419 w 643"/>
                <a:gd name="T1" fmla="*/ 67 h 451"/>
                <a:gd name="T2" fmla="*/ 419 w 643"/>
                <a:gd name="T3" fmla="*/ 129 h 451"/>
                <a:gd name="T4" fmla="*/ 412 w 643"/>
                <a:gd name="T5" fmla="*/ 138 h 451"/>
                <a:gd name="T6" fmla="*/ 187 w 643"/>
                <a:gd name="T7" fmla="*/ 207 h 451"/>
                <a:gd name="T8" fmla="*/ 187 w 643"/>
                <a:gd name="T9" fmla="*/ 270 h 451"/>
                <a:gd name="T10" fmla="*/ 180 w 643"/>
                <a:gd name="T11" fmla="*/ 279 h 451"/>
                <a:gd name="T12" fmla="*/ 0 w 643"/>
                <a:gd name="T13" fmla="*/ 324 h 451"/>
                <a:gd name="T14" fmla="*/ 0 w 643"/>
                <a:gd name="T15" fmla="*/ 451 h 451"/>
                <a:gd name="T16" fmla="*/ 136 w 643"/>
                <a:gd name="T17" fmla="*/ 451 h 451"/>
                <a:gd name="T18" fmla="*/ 136 w 643"/>
                <a:gd name="T19" fmla="*/ 363 h 451"/>
                <a:gd name="T20" fmla="*/ 145 w 643"/>
                <a:gd name="T21" fmla="*/ 354 h 451"/>
                <a:gd name="T22" fmla="*/ 400 w 643"/>
                <a:gd name="T23" fmla="*/ 354 h 451"/>
                <a:gd name="T24" fmla="*/ 410 w 643"/>
                <a:gd name="T25" fmla="*/ 363 h 451"/>
                <a:gd name="T26" fmla="*/ 410 w 643"/>
                <a:gd name="T27" fmla="*/ 451 h 451"/>
                <a:gd name="T28" fmla="*/ 643 w 643"/>
                <a:gd name="T29" fmla="*/ 451 h 451"/>
                <a:gd name="T30" fmla="*/ 643 w 643"/>
                <a:gd name="T31" fmla="*/ 0 h 451"/>
                <a:gd name="T32" fmla="*/ 419 w 643"/>
                <a:gd name="T33" fmla="*/ 67 h 451"/>
                <a:gd name="T34" fmla="*/ 522 w 643"/>
                <a:gd name="T35" fmla="*/ 208 h 451"/>
                <a:gd name="T36" fmla="*/ 513 w 643"/>
                <a:gd name="T37" fmla="*/ 217 h 451"/>
                <a:gd name="T38" fmla="*/ 458 w 643"/>
                <a:gd name="T39" fmla="*/ 217 h 451"/>
                <a:gd name="T40" fmla="*/ 449 w 643"/>
                <a:gd name="T41" fmla="*/ 208 h 451"/>
                <a:gd name="T42" fmla="*/ 449 w 643"/>
                <a:gd name="T43" fmla="*/ 138 h 451"/>
                <a:gd name="T44" fmla="*/ 458 w 643"/>
                <a:gd name="T45" fmla="*/ 129 h 451"/>
                <a:gd name="T46" fmla="*/ 513 w 643"/>
                <a:gd name="T47" fmla="*/ 129 h 451"/>
                <a:gd name="T48" fmla="*/ 522 w 643"/>
                <a:gd name="T49" fmla="*/ 138 h 451"/>
                <a:gd name="T50" fmla="*/ 522 w 643"/>
                <a:gd name="T51" fmla="*/ 208 h 451"/>
                <a:gd name="T52" fmla="*/ 621 w 643"/>
                <a:gd name="T53" fmla="*/ 208 h 451"/>
                <a:gd name="T54" fmla="*/ 611 w 643"/>
                <a:gd name="T55" fmla="*/ 217 h 451"/>
                <a:gd name="T56" fmla="*/ 556 w 643"/>
                <a:gd name="T57" fmla="*/ 217 h 451"/>
                <a:gd name="T58" fmla="*/ 547 w 643"/>
                <a:gd name="T59" fmla="*/ 208 h 451"/>
                <a:gd name="T60" fmla="*/ 547 w 643"/>
                <a:gd name="T61" fmla="*/ 138 h 451"/>
                <a:gd name="T62" fmla="*/ 556 w 643"/>
                <a:gd name="T63" fmla="*/ 129 h 451"/>
                <a:gd name="T64" fmla="*/ 611 w 643"/>
                <a:gd name="T65" fmla="*/ 129 h 451"/>
                <a:gd name="T66" fmla="*/ 621 w 643"/>
                <a:gd name="T67" fmla="*/ 138 h 451"/>
                <a:gd name="T68" fmla="*/ 621 w 643"/>
                <a:gd name="T69" fmla="*/ 208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3" h="451">
                  <a:moveTo>
                    <a:pt x="419" y="67"/>
                  </a:moveTo>
                  <a:cubicBezTo>
                    <a:pt x="419" y="129"/>
                    <a:pt x="419" y="129"/>
                    <a:pt x="419" y="129"/>
                  </a:cubicBezTo>
                  <a:cubicBezTo>
                    <a:pt x="419" y="133"/>
                    <a:pt x="416" y="137"/>
                    <a:pt x="412" y="138"/>
                  </a:cubicBezTo>
                  <a:cubicBezTo>
                    <a:pt x="187" y="207"/>
                    <a:pt x="187" y="207"/>
                    <a:pt x="187" y="207"/>
                  </a:cubicBezTo>
                  <a:cubicBezTo>
                    <a:pt x="187" y="270"/>
                    <a:pt x="187" y="270"/>
                    <a:pt x="187" y="270"/>
                  </a:cubicBezTo>
                  <a:cubicBezTo>
                    <a:pt x="187" y="274"/>
                    <a:pt x="184" y="278"/>
                    <a:pt x="180" y="279"/>
                  </a:cubicBezTo>
                  <a:cubicBezTo>
                    <a:pt x="0" y="324"/>
                    <a:pt x="0" y="324"/>
                    <a:pt x="0" y="324"/>
                  </a:cubicBezTo>
                  <a:cubicBezTo>
                    <a:pt x="0" y="451"/>
                    <a:pt x="0" y="451"/>
                    <a:pt x="0" y="451"/>
                  </a:cubicBezTo>
                  <a:cubicBezTo>
                    <a:pt x="136" y="451"/>
                    <a:pt x="136" y="451"/>
                    <a:pt x="136" y="451"/>
                  </a:cubicBezTo>
                  <a:cubicBezTo>
                    <a:pt x="136" y="363"/>
                    <a:pt x="136" y="363"/>
                    <a:pt x="136" y="363"/>
                  </a:cubicBezTo>
                  <a:cubicBezTo>
                    <a:pt x="136" y="358"/>
                    <a:pt x="140" y="354"/>
                    <a:pt x="145" y="354"/>
                  </a:cubicBezTo>
                  <a:cubicBezTo>
                    <a:pt x="400" y="354"/>
                    <a:pt x="400" y="354"/>
                    <a:pt x="400" y="354"/>
                  </a:cubicBezTo>
                  <a:cubicBezTo>
                    <a:pt x="405" y="354"/>
                    <a:pt x="410" y="358"/>
                    <a:pt x="410" y="363"/>
                  </a:cubicBezTo>
                  <a:cubicBezTo>
                    <a:pt x="410" y="451"/>
                    <a:pt x="410" y="451"/>
                    <a:pt x="410" y="451"/>
                  </a:cubicBezTo>
                  <a:cubicBezTo>
                    <a:pt x="643" y="451"/>
                    <a:pt x="643" y="451"/>
                    <a:pt x="643" y="451"/>
                  </a:cubicBezTo>
                  <a:cubicBezTo>
                    <a:pt x="643" y="0"/>
                    <a:pt x="643" y="0"/>
                    <a:pt x="643" y="0"/>
                  </a:cubicBezTo>
                  <a:lnTo>
                    <a:pt x="419" y="67"/>
                  </a:lnTo>
                  <a:close/>
                  <a:moveTo>
                    <a:pt x="522" y="208"/>
                  </a:moveTo>
                  <a:cubicBezTo>
                    <a:pt x="522" y="213"/>
                    <a:pt x="518" y="217"/>
                    <a:pt x="513" y="217"/>
                  </a:cubicBezTo>
                  <a:cubicBezTo>
                    <a:pt x="458" y="217"/>
                    <a:pt x="458" y="217"/>
                    <a:pt x="458" y="217"/>
                  </a:cubicBezTo>
                  <a:cubicBezTo>
                    <a:pt x="453" y="217"/>
                    <a:pt x="449" y="213"/>
                    <a:pt x="449" y="208"/>
                  </a:cubicBezTo>
                  <a:cubicBezTo>
                    <a:pt x="449" y="138"/>
                    <a:pt x="449" y="138"/>
                    <a:pt x="449" y="138"/>
                  </a:cubicBezTo>
                  <a:cubicBezTo>
                    <a:pt x="449" y="133"/>
                    <a:pt x="453" y="129"/>
                    <a:pt x="458" y="129"/>
                  </a:cubicBezTo>
                  <a:cubicBezTo>
                    <a:pt x="513" y="129"/>
                    <a:pt x="513" y="129"/>
                    <a:pt x="513" y="129"/>
                  </a:cubicBezTo>
                  <a:cubicBezTo>
                    <a:pt x="518" y="129"/>
                    <a:pt x="522" y="133"/>
                    <a:pt x="522" y="138"/>
                  </a:cubicBezTo>
                  <a:lnTo>
                    <a:pt x="522" y="208"/>
                  </a:lnTo>
                  <a:close/>
                  <a:moveTo>
                    <a:pt x="621" y="208"/>
                  </a:moveTo>
                  <a:cubicBezTo>
                    <a:pt x="621" y="213"/>
                    <a:pt x="616" y="217"/>
                    <a:pt x="611" y="217"/>
                  </a:cubicBezTo>
                  <a:cubicBezTo>
                    <a:pt x="556" y="217"/>
                    <a:pt x="556" y="217"/>
                    <a:pt x="556" y="217"/>
                  </a:cubicBezTo>
                  <a:cubicBezTo>
                    <a:pt x="551" y="217"/>
                    <a:pt x="547" y="213"/>
                    <a:pt x="547" y="208"/>
                  </a:cubicBezTo>
                  <a:cubicBezTo>
                    <a:pt x="547" y="138"/>
                    <a:pt x="547" y="138"/>
                    <a:pt x="547" y="138"/>
                  </a:cubicBezTo>
                  <a:cubicBezTo>
                    <a:pt x="547" y="133"/>
                    <a:pt x="551" y="129"/>
                    <a:pt x="556" y="129"/>
                  </a:cubicBezTo>
                  <a:cubicBezTo>
                    <a:pt x="611" y="129"/>
                    <a:pt x="611" y="129"/>
                    <a:pt x="611" y="129"/>
                  </a:cubicBezTo>
                  <a:cubicBezTo>
                    <a:pt x="616" y="129"/>
                    <a:pt x="621" y="133"/>
                    <a:pt x="621" y="138"/>
                  </a:cubicBezTo>
                  <a:lnTo>
                    <a:pt x="621"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6" name="Rectangle 40">
              <a:extLst>
                <a:ext uri="{FF2B5EF4-FFF2-40B4-BE49-F238E27FC236}">
                  <a16:creationId xmlns:a16="http://schemas.microsoft.com/office/drawing/2014/main" id="{36B60F70-4164-4CC6-BE25-A0D19EE6966C}"/>
                </a:ext>
              </a:extLst>
            </p:cNvPr>
            <p:cNvSpPr>
              <a:spLocks noChangeArrowheads="1"/>
            </p:cNvSpPr>
            <p:nvPr userDrawn="1"/>
          </p:nvSpPr>
          <p:spPr bwMode="auto">
            <a:xfrm>
              <a:off x="5102" y="2607"/>
              <a:ext cx="104" cy="1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8" name="Freeform 41">
              <a:extLst>
                <a:ext uri="{FF2B5EF4-FFF2-40B4-BE49-F238E27FC236}">
                  <a16:creationId xmlns:a16="http://schemas.microsoft.com/office/drawing/2014/main" id="{42A3C2AC-EA6D-446F-8ECD-6E77BD925D8F}"/>
                </a:ext>
              </a:extLst>
            </p:cNvPr>
            <p:cNvSpPr>
              <a:spLocks/>
            </p:cNvSpPr>
            <p:nvPr userDrawn="1"/>
          </p:nvSpPr>
          <p:spPr bwMode="auto">
            <a:xfrm>
              <a:off x="4024" y="2494"/>
              <a:ext cx="190" cy="447"/>
            </a:xfrm>
            <a:custGeom>
              <a:avLst/>
              <a:gdLst>
                <a:gd name="T0" fmla="*/ 148 w 190"/>
                <a:gd name="T1" fmla="*/ 0 h 447"/>
                <a:gd name="T2" fmla="*/ 48 w 190"/>
                <a:gd name="T3" fmla="*/ 0 h 447"/>
                <a:gd name="T4" fmla="*/ 0 w 190"/>
                <a:gd name="T5" fmla="*/ 447 h 447"/>
                <a:gd name="T6" fmla="*/ 190 w 190"/>
                <a:gd name="T7" fmla="*/ 399 h 447"/>
                <a:gd name="T8" fmla="*/ 148 w 190"/>
                <a:gd name="T9" fmla="*/ 0 h 447"/>
              </a:gdLst>
              <a:ahLst/>
              <a:cxnLst>
                <a:cxn ang="0">
                  <a:pos x="T0" y="T1"/>
                </a:cxn>
                <a:cxn ang="0">
                  <a:pos x="T2" y="T3"/>
                </a:cxn>
                <a:cxn ang="0">
                  <a:pos x="T4" y="T5"/>
                </a:cxn>
                <a:cxn ang="0">
                  <a:pos x="T6" y="T7"/>
                </a:cxn>
                <a:cxn ang="0">
                  <a:pos x="T8" y="T9"/>
                </a:cxn>
              </a:cxnLst>
              <a:rect l="0" t="0" r="r" b="b"/>
              <a:pathLst>
                <a:path w="190" h="447">
                  <a:moveTo>
                    <a:pt x="148" y="0"/>
                  </a:moveTo>
                  <a:lnTo>
                    <a:pt x="48" y="0"/>
                  </a:lnTo>
                  <a:lnTo>
                    <a:pt x="0" y="447"/>
                  </a:lnTo>
                  <a:lnTo>
                    <a:pt x="190" y="399"/>
                  </a:lnTo>
                  <a:lnTo>
                    <a:pt x="14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0" name="Freeform 42">
              <a:extLst>
                <a:ext uri="{FF2B5EF4-FFF2-40B4-BE49-F238E27FC236}">
                  <a16:creationId xmlns:a16="http://schemas.microsoft.com/office/drawing/2014/main" id="{A9871484-BBDD-4054-82AA-197869913A51}"/>
                </a:ext>
              </a:extLst>
            </p:cNvPr>
            <p:cNvSpPr>
              <a:spLocks/>
            </p:cNvSpPr>
            <p:nvPr userDrawn="1"/>
          </p:nvSpPr>
          <p:spPr bwMode="auto">
            <a:xfrm>
              <a:off x="4943" y="1930"/>
              <a:ext cx="190" cy="457"/>
            </a:xfrm>
            <a:custGeom>
              <a:avLst/>
              <a:gdLst>
                <a:gd name="T0" fmla="*/ 148 w 190"/>
                <a:gd name="T1" fmla="*/ 0 h 457"/>
                <a:gd name="T2" fmla="*/ 50 w 190"/>
                <a:gd name="T3" fmla="*/ 0 h 457"/>
                <a:gd name="T4" fmla="*/ 0 w 190"/>
                <a:gd name="T5" fmla="*/ 457 h 457"/>
                <a:gd name="T6" fmla="*/ 190 w 190"/>
                <a:gd name="T7" fmla="*/ 399 h 457"/>
                <a:gd name="T8" fmla="*/ 148 w 190"/>
                <a:gd name="T9" fmla="*/ 0 h 457"/>
              </a:gdLst>
              <a:ahLst/>
              <a:cxnLst>
                <a:cxn ang="0">
                  <a:pos x="T0" y="T1"/>
                </a:cxn>
                <a:cxn ang="0">
                  <a:pos x="T2" y="T3"/>
                </a:cxn>
                <a:cxn ang="0">
                  <a:pos x="T4" y="T5"/>
                </a:cxn>
                <a:cxn ang="0">
                  <a:pos x="T6" y="T7"/>
                </a:cxn>
                <a:cxn ang="0">
                  <a:pos x="T8" y="T9"/>
                </a:cxn>
              </a:cxnLst>
              <a:rect l="0" t="0" r="r" b="b"/>
              <a:pathLst>
                <a:path w="190" h="457">
                  <a:moveTo>
                    <a:pt x="148" y="0"/>
                  </a:moveTo>
                  <a:lnTo>
                    <a:pt x="50" y="0"/>
                  </a:lnTo>
                  <a:lnTo>
                    <a:pt x="0" y="457"/>
                  </a:lnTo>
                  <a:lnTo>
                    <a:pt x="190" y="399"/>
                  </a:lnTo>
                  <a:lnTo>
                    <a:pt x="14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1" name="Freeform 43">
              <a:extLst>
                <a:ext uri="{FF2B5EF4-FFF2-40B4-BE49-F238E27FC236}">
                  <a16:creationId xmlns:a16="http://schemas.microsoft.com/office/drawing/2014/main" id="{662E3012-6C41-4D8D-9E38-84A939C68D08}"/>
                </a:ext>
              </a:extLst>
            </p:cNvPr>
            <p:cNvSpPr>
              <a:spLocks/>
            </p:cNvSpPr>
            <p:nvPr userDrawn="1"/>
          </p:nvSpPr>
          <p:spPr bwMode="auto">
            <a:xfrm>
              <a:off x="4466" y="2218"/>
              <a:ext cx="190" cy="458"/>
            </a:xfrm>
            <a:custGeom>
              <a:avLst/>
              <a:gdLst>
                <a:gd name="T0" fmla="*/ 150 w 190"/>
                <a:gd name="T1" fmla="*/ 0 h 458"/>
                <a:gd name="T2" fmla="*/ 50 w 190"/>
                <a:gd name="T3" fmla="*/ 0 h 458"/>
                <a:gd name="T4" fmla="*/ 0 w 190"/>
                <a:gd name="T5" fmla="*/ 458 h 458"/>
                <a:gd name="T6" fmla="*/ 190 w 190"/>
                <a:gd name="T7" fmla="*/ 399 h 458"/>
                <a:gd name="T8" fmla="*/ 150 w 190"/>
                <a:gd name="T9" fmla="*/ 0 h 458"/>
              </a:gdLst>
              <a:ahLst/>
              <a:cxnLst>
                <a:cxn ang="0">
                  <a:pos x="T0" y="T1"/>
                </a:cxn>
                <a:cxn ang="0">
                  <a:pos x="T2" y="T3"/>
                </a:cxn>
                <a:cxn ang="0">
                  <a:pos x="T4" y="T5"/>
                </a:cxn>
                <a:cxn ang="0">
                  <a:pos x="T6" y="T7"/>
                </a:cxn>
                <a:cxn ang="0">
                  <a:pos x="T8" y="T9"/>
                </a:cxn>
              </a:cxnLst>
              <a:rect l="0" t="0" r="r" b="b"/>
              <a:pathLst>
                <a:path w="190" h="458">
                  <a:moveTo>
                    <a:pt x="150" y="0"/>
                  </a:moveTo>
                  <a:lnTo>
                    <a:pt x="50" y="0"/>
                  </a:lnTo>
                  <a:lnTo>
                    <a:pt x="0" y="458"/>
                  </a:lnTo>
                  <a:lnTo>
                    <a:pt x="190" y="399"/>
                  </a:lnTo>
                  <a:lnTo>
                    <a:pt x="1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4" name="Freeform 44">
              <a:extLst>
                <a:ext uri="{FF2B5EF4-FFF2-40B4-BE49-F238E27FC236}">
                  <a16:creationId xmlns:a16="http://schemas.microsoft.com/office/drawing/2014/main" id="{E7860938-5297-49CD-84EB-7ABD65636528}"/>
                </a:ext>
              </a:extLst>
            </p:cNvPr>
            <p:cNvSpPr>
              <a:spLocks/>
            </p:cNvSpPr>
            <p:nvPr userDrawn="1"/>
          </p:nvSpPr>
          <p:spPr bwMode="auto">
            <a:xfrm>
              <a:off x="4243" y="3074"/>
              <a:ext cx="523" cy="182"/>
            </a:xfrm>
            <a:custGeom>
              <a:avLst/>
              <a:gdLst>
                <a:gd name="T0" fmla="*/ 0 w 523"/>
                <a:gd name="T1" fmla="*/ 180 h 182"/>
                <a:gd name="T2" fmla="*/ 0 w 523"/>
                <a:gd name="T3" fmla="*/ 182 h 182"/>
                <a:gd name="T4" fmla="*/ 523 w 523"/>
                <a:gd name="T5" fmla="*/ 182 h 182"/>
                <a:gd name="T6" fmla="*/ 523 w 523"/>
                <a:gd name="T7" fmla="*/ 180 h 182"/>
                <a:gd name="T8" fmla="*/ 523 w 523"/>
                <a:gd name="T9" fmla="*/ 0 h 182"/>
                <a:gd name="T10" fmla="*/ 0 w 523"/>
                <a:gd name="T11" fmla="*/ 0 h 182"/>
                <a:gd name="T12" fmla="*/ 0 w 523"/>
                <a:gd name="T13" fmla="*/ 180 h 182"/>
              </a:gdLst>
              <a:ahLst/>
              <a:cxnLst>
                <a:cxn ang="0">
                  <a:pos x="T0" y="T1"/>
                </a:cxn>
                <a:cxn ang="0">
                  <a:pos x="T2" y="T3"/>
                </a:cxn>
                <a:cxn ang="0">
                  <a:pos x="T4" y="T5"/>
                </a:cxn>
                <a:cxn ang="0">
                  <a:pos x="T6" y="T7"/>
                </a:cxn>
                <a:cxn ang="0">
                  <a:pos x="T8" y="T9"/>
                </a:cxn>
                <a:cxn ang="0">
                  <a:pos x="T10" y="T11"/>
                </a:cxn>
                <a:cxn ang="0">
                  <a:pos x="T12" y="T13"/>
                </a:cxn>
              </a:cxnLst>
              <a:rect l="0" t="0" r="r" b="b"/>
              <a:pathLst>
                <a:path w="523" h="182">
                  <a:moveTo>
                    <a:pt x="0" y="180"/>
                  </a:moveTo>
                  <a:lnTo>
                    <a:pt x="0" y="182"/>
                  </a:lnTo>
                  <a:lnTo>
                    <a:pt x="523" y="182"/>
                  </a:lnTo>
                  <a:lnTo>
                    <a:pt x="523" y="180"/>
                  </a:lnTo>
                  <a:lnTo>
                    <a:pt x="523" y="0"/>
                  </a:ln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Rectangle 2">
            <a:extLst>
              <a:ext uri="{FF2B5EF4-FFF2-40B4-BE49-F238E27FC236}">
                <a16:creationId xmlns:a16="http://schemas.microsoft.com/office/drawing/2014/main" id="{75D6C6BB-979C-9EDF-2B1F-A5FC4661659C}"/>
              </a:ext>
            </a:extLst>
          </p:cNvPr>
          <p:cNvSpPr/>
          <p:nvPr userDrawn="1"/>
        </p:nvSpPr>
        <p:spPr>
          <a:xfrm>
            <a:off x="11792561" y="1658372"/>
            <a:ext cx="2330814" cy="4407360"/>
          </a:xfrm>
          <a:prstGeom prst="rect">
            <a:avLst/>
          </a:prstGeom>
          <a:noFill/>
        </p:spPr>
        <p:txBody>
          <a:bodyPr wrap="square">
            <a:spAutoFit/>
          </a:bodyPr>
          <a:lstStyle/>
          <a:p>
            <a:pPr marL="0" algn="l" defTabSz="1463040" rtl="0" eaLnBrk="1" latinLnBrk="0" hangingPunct="1">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Resize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maintain proportions, press and hold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corner sizing handle.</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keep the center in the same place, press and hold </a:t>
            </a:r>
            <a:r>
              <a:rPr lang="en-US" sz="1600" b="1">
                <a:latin typeface="Arial" panose="020B0604020202020204" pitchFamily="34" charset="0"/>
                <a:ea typeface="Noto Sans" panose="020B0502040504020204" pitchFamily="34" charset="0"/>
                <a:cs typeface="Arial" panose="020B0604020202020204" pitchFamily="34" charset="0"/>
              </a:rPr>
              <a:t>CTRL</a:t>
            </a:r>
            <a:r>
              <a:rPr lang="en-US" sz="1600">
                <a:latin typeface="Arial" panose="020B0604020202020204" pitchFamily="34" charset="0"/>
                <a:ea typeface="Noto Sans" panose="020B0502040504020204" pitchFamily="34" charset="0"/>
                <a:cs typeface="Arial" panose="020B0604020202020204" pitchFamily="34" charset="0"/>
              </a:rPr>
              <a:t> and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sizing handle.</a:t>
            </a:r>
          </a:p>
          <a:p>
            <a:pPr>
              <a:lnSpc>
                <a:spcPct val="90000"/>
              </a:lnSpc>
              <a:spcBef>
                <a:spcPts val="600"/>
              </a:spcBef>
              <a:spcAft>
                <a:spcPts val="600"/>
              </a:spcAft>
              <a:buClr>
                <a:schemeClr val="bg1">
                  <a:lumMod val="50000"/>
                </a:schemeClr>
              </a:buClr>
              <a:tabLst>
                <a:tab pos="225425" algn="l"/>
              </a:tabLst>
            </a:pPr>
            <a:endParaRPr lang="en-US" sz="1600">
              <a:latin typeface="Arial" panose="020B0604020202020204" pitchFamily="34" charset="0"/>
              <a:ea typeface="Noto Sans" panose="020B0502040504020204" pitchFamily="34" charset="0"/>
              <a:cs typeface="Arial" panose="020B0604020202020204" pitchFamily="34" charset="0"/>
            </a:endParaRPr>
          </a:p>
          <a:p>
            <a:pPr>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Recolor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You can change the color of the icons through </a:t>
            </a:r>
            <a:r>
              <a:rPr lang="en-US" sz="1600" b="1">
                <a:latin typeface="Arial" panose="020B0604020202020204" pitchFamily="34" charset="0"/>
                <a:ea typeface="Noto Sans" panose="020B0502040504020204" pitchFamily="34" charset="0"/>
                <a:cs typeface="Arial" panose="020B0604020202020204" pitchFamily="34" charset="0"/>
              </a:rPr>
              <a:t>Shape Fill</a:t>
            </a:r>
            <a:r>
              <a:rPr lang="en-US" sz="1600">
                <a:latin typeface="Arial" panose="020B0604020202020204" pitchFamily="34" charset="0"/>
                <a:ea typeface="Noto Sans" panose="020B0502040504020204" pitchFamily="34" charset="0"/>
                <a:cs typeface="Arial" panose="020B0604020202020204" pitchFamily="34" charset="0"/>
              </a:rPr>
              <a:t>.</a:t>
            </a:r>
          </a:p>
        </p:txBody>
      </p:sp>
    </p:spTree>
    <p:extLst>
      <p:ext uri="{BB962C8B-B14F-4D97-AF65-F5344CB8AC3E}">
        <p14:creationId xmlns:p14="http://schemas.microsoft.com/office/powerpoint/2010/main" val="846195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usiness Unit Profile">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CD337B31-6B99-BA4C-BF3B-17C04F560CDD}"/>
              </a:ext>
            </a:extLst>
          </p:cNvPr>
          <p:cNvSpPr/>
          <p:nvPr userDrawn="1"/>
        </p:nvSpPr>
        <p:spPr>
          <a:xfrm>
            <a:off x="5199529" y="0"/>
            <a:ext cx="9430871"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2" name="Title 1"/>
          <p:cNvSpPr>
            <a:spLocks noGrp="1"/>
          </p:cNvSpPr>
          <p:nvPr>
            <p:ph type="title" hasCustomPrompt="1"/>
          </p:nvPr>
        </p:nvSpPr>
        <p:spPr>
          <a:xfrm>
            <a:off x="503238" y="329565"/>
            <a:ext cx="4411504" cy="1016350"/>
          </a:xfrm>
        </p:spPr>
        <p:txBody>
          <a:bodyPr/>
          <a:lstStyle>
            <a:lvl1pPr>
              <a:defRPr/>
            </a:lvl1pPr>
          </a:lstStyle>
          <a:p>
            <a:r>
              <a:rPr lang="en-US"/>
              <a:t>Business Unit Profile</a:t>
            </a:r>
          </a:p>
        </p:txBody>
      </p:sp>
      <p:sp>
        <p:nvSpPr>
          <p:cNvPr id="6" name="Text Placeholder 8">
            <a:extLst>
              <a:ext uri="{FF2B5EF4-FFF2-40B4-BE49-F238E27FC236}">
                <a16:creationId xmlns:a16="http://schemas.microsoft.com/office/drawing/2014/main" id="{C35E6205-0B46-4B10-81BB-565D871C7BFB}"/>
              </a:ext>
            </a:extLst>
          </p:cNvPr>
          <p:cNvSpPr>
            <a:spLocks noGrp="1"/>
          </p:cNvSpPr>
          <p:nvPr>
            <p:ph type="body" sz="quarter" idx="18"/>
          </p:nvPr>
        </p:nvSpPr>
        <p:spPr>
          <a:xfrm>
            <a:off x="503238" y="7667162"/>
            <a:ext cx="4411503"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7" name="TextBox 6">
            <a:extLst>
              <a:ext uri="{FF2B5EF4-FFF2-40B4-BE49-F238E27FC236}">
                <a16:creationId xmlns:a16="http://schemas.microsoft.com/office/drawing/2014/main" id="{8E6F1E4C-CFAB-4CB0-A763-3E91B166214B}"/>
              </a:ext>
            </a:extLst>
          </p:cNvPr>
          <p:cNvSpPr txBox="1"/>
          <p:nvPr userDrawn="1"/>
        </p:nvSpPr>
        <p:spPr>
          <a:xfrm>
            <a:off x="13144818" y="7814641"/>
            <a:ext cx="1356043" cy="246221"/>
          </a:xfrm>
          <a:prstGeom prst="rect">
            <a:avLst/>
          </a:prstGeom>
        </p:spPr>
        <p:txBody>
          <a:bodyPr vert="horz" lIns="91440" tIns="0" rIns="91440" bIns="0" rtlCol="0" anchor="b">
            <a:noAutofit/>
          </a:bodyPr>
          <a:lstStyle>
            <a:lvl1pPr lvl="0"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
        <p:nvSpPr>
          <p:cNvPr id="9" name="Text Placeholder 13">
            <a:extLst>
              <a:ext uri="{FF2B5EF4-FFF2-40B4-BE49-F238E27FC236}">
                <a16:creationId xmlns:a16="http://schemas.microsoft.com/office/drawing/2014/main" id="{EC47231E-23D3-234D-BB50-6494E133DFFA}"/>
              </a:ext>
            </a:extLst>
          </p:cNvPr>
          <p:cNvSpPr>
            <a:spLocks noGrp="1"/>
          </p:cNvSpPr>
          <p:nvPr>
            <p:ph type="body" sz="quarter" idx="16" hasCustomPrompt="1"/>
          </p:nvPr>
        </p:nvSpPr>
        <p:spPr>
          <a:xfrm>
            <a:off x="503237" y="1587499"/>
            <a:ext cx="4411504" cy="762000"/>
          </a:xfrm>
        </p:spPr>
        <p:txBody>
          <a:bodyPr anchor="b"/>
          <a:lstStyle>
            <a:lvl1pPr marL="0" indent="0">
              <a:buNone/>
              <a:defRPr b="1">
                <a:solidFill>
                  <a:schemeClr val="tx1"/>
                </a:solidFill>
              </a:defRPr>
            </a:lvl1pPr>
          </a:lstStyle>
          <a:p>
            <a:pPr lvl="0"/>
            <a:r>
              <a:rPr lang="en-US"/>
              <a:t>Business Highlights</a:t>
            </a:r>
          </a:p>
        </p:txBody>
      </p:sp>
      <p:sp>
        <p:nvSpPr>
          <p:cNvPr id="3" name="Content Placeholder 2"/>
          <p:cNvSpPr>
            <a:spLocks noGrp="1"/>
          </p:cNvSpPr>
          <p:nvPr>
            <p:ph idx="1"/>
          </p:nvPr>
        </p:nvSpPr>
        <p:spPr>
          <a:xfrm>
            <a:off x="503238" y="2599346"/>
            <a:ext cx="4411504" cy="4509347"/>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5">
            <a:extLst>
              <a:ext uri="{FF2B5EF4-FFF2-40B4-BE49-F238E27FC236}">
                <a16:creationId xmlns:a16="http://schemas.microsoft.com/office/drawing/2014/main" id="{9B9E7F73-0BA6-A642-9C0E-AAA67D384BCC}"/>
              </a:ext>
            </a:extLst>
          </p:cNvPr>
          <p:cNvSpPr>
            <a:spLocks noGrp="1"/>
          </p:cNvSpPr>
          <p:nvPr>
            <p:ph type="body" sz="quarter" idx="12" hasCustomPrompt="1"/>
          </p:nvPr>
        </p:nvSpPr>
        <p:spPr>
          <a:xfrm>
            <a:off x="5466249" y="1587499"/>
            <a:ext cx="8734766" cy="762000"/>
          </a:xfrm>
        </p:spPr>
        <p:txBody>
          <a:bodyPr anchor="b"/>
          <a:lstStyle>
            <a:lvl1pPr marL="0" indent="0">
              <a:buNone/>
              <a:defRPr b="1">
                <a:solidFill>
                  <a:schemeClr val="tx1"/>
                </a:solidFill>
              </a:defRPr>
            </a:lvl1pPr>
          </a:lstStyle>
          <a:p>
            <a:pPr lvl="0"/>
            <a:r>
              <a:rPr lang="en-US"/>
              <a:t>Instruments</a:t>
            </a:r>
          </a:p>
        </p:txBody>
      </p:sp>
      <p:sp>
        <p:nvSpPr>
          <p:cNvPr id="17" name="Text Placeholder 5">
            <a:extLst>
              <a:ext uri="{FF2B5EF4-FFF2-40B4-BE49-F238E27FC236}">
                <a16:creationId xmlns:a16="http://schemas.microsoft.com/office/drawing/2014/main" id="{356CBBDF-D573-ED4F-8B3E-18A878EEE707}"/>
              </a:ext>
            </a:extLst>
          </p:cNvPr>
          <p:cNvSpPr>
            <a:spLocks noGrp="1"/>
          </p:cNvSpPr>
          <p:nvPr>
            <p:ph type="body" sz="quarter" idx="19" hasCustomPrompt="1"/>
          </p:nvPr>
        </p:nvSpPr>
        <p:spPr>
          <a:xfrm>
            <a:off x="5466249" y="3553030"/>
            <a:ext cx="8734766" cy="762000"/>
          </a:xfrm>
        </p:spPr>
        <p:txBody>
          <a:bodyPr anchor="b"/>
          <a:lstStyle>
            <a:lvl1pPr marL="0" indent="0">
              <a:buNone/>
              <a:defRPr b="1">
                <a:solidFill>
                  <a:schemeClr val="tx1"/>
                </a:solidFill>
              </a:defRPr>
            </a:lvl1pPr>
          </a:lstStyle>
          <a:p>
            <a:pPr lvl="0"/>
            <a:r>
              <a:rPr lang="en-US"/>
              <a:t>Solutions</a:t>
            </a:r>
          </a:p>
        </p:txBody>
      </p:sp>
      <p:sp>
        <p:nvSpPr>
          <p:cNvPr id="18" name="Text Placeholder 5">
            <a:extLst>
              <a:ext uri="{FF2B5EF4-FFF2-40B4-BE49-F238E27FC236}">
                <a16:creationId xmlns:a16="http://schemas.microsoft.com/office/drawing/2014/main" id="{8D848D00-9A8E-7442-ACDA-60415AA6BC7B}"/>
              </a:ext>
            </a:extLst>
          </p:cNvPr>
          <p:cNvSpPr>
            <a:spLocks noGrp="1"/>
          </p:cNvSpPr>
          <p:nvPr>
            <p:ph type="body" sz="quarter" idx="20" hasCustomPrompt="1"/>
          </p:nvPr>
        </p:nvSpPr>
        <p:spPr>
          <a:xfrm>
            <a:off x="5466249" y="5586929"/>
            <a:ext cx="8734766" cy="762000"/>
          </a:xfrm>
        </p:spPr>
        <p:txBody>
          <a:bodyPr anchor="b"/>
          <a:lstStyle>
            <a:lvl1pPr marL="0" indent="0">
              <a:buNone/>
              <a:defRPr b="1">
                <a:solidFill>
                  <a:schemeClr val="tx1"/>
                </a:solidFill>
              </a:defRPr>
            </a:lvl1pPr>
          </a:lstStyle>
          <a:p>
            <a:pPr lvl="0"/>
            <a:r>
              <a:rPr lang="en-US"/>
              <a:t>Services</a:t>
            </a:r>
          </a:p>
        </p:txBody>
      </p:sp>
      <p:sp>
        <p:nvSpPr>
          <p:cNvPr id="19" name="Picture Placeholder 18">
            <a:extLst>
              <a:ext uri="{FF2B5EF4-FFF2-40B4-BE49-F238E27FC236}">
                <a16:creationId xmlns:a16="http://schemas.microsoft.com/office/drawing/2014/main" id="{2B5B1D40-6A5A-9944-A19A-0E30CFDECBB2}"/>
              </a:ext>
            </a:extLst>
          </p:cNvPr>
          <p:cNvSpPr>
            <a:spLocks noGrp="1"/>
          </p:cNvSpPr>
          <p:nvPr>
            <p:ph type="pic" sz="quarter" idx="21"/>
          </p:nvPr>
        </p:nvSpPr>
        <p:spPr>
          <a:xfrm>
            <a:off x="5684483"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1" name="Text Placeholder 20">
            <a:extLst>
              <a:ext uri="{FF2B5EF4-FFF2-40B4-BE49-F238E27FC236}">
                <a16:creationId xmlns:a16="http://schemas.microsoft.com/office/drawing/2014/main" id="{B807F245-1A92-0A4B-A2F0-72C3EF50B0E5}"/>
              </a:ext>
            </a:extLst>
          </p:cNvPr>
          <p:cNvSpPr>
            <a:spLocks noGrp="1"/>
          </p:cNvSpPr>
          <p:nvPr>
            <p:ph type="body" sz="quarter" idx="22" hasCustomPrompt="1"/>
          </p:nvPr>
        </p:nvSpPr>
        <p:spPr>
          <a:xfrm>
            <a:off x="5466247"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13" name="Text Placeholder 20">
            <a:extLst>
              <a:ext uri="{FF2B5EF4-FFF2-40B4-BE49-F238E27FC236}">
                <a16:creationId xmlns:a16="http://schemas.microsoft.com/office/drawing/2014/main" id="{5BC5B489-661E-0C48-A541-74B4C75DC531}"/>
              </a:ext>
            </a:extLst>
          </p:cNvPr>
          <p:cNvSpPr>
            <a:spLocks noGrp="1"/>
          </p:cNvSpPr>
          <p:nvPr>
            <p:ph type="body" sz="quarter" idx="23" hasCustomPrompt="1"/>
          </p:nvPr>
        </p:nvSpPr>
        <p:spPr>
          <a:xfrm>
            <a:off x="6721055"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14" name="Text Placeholder 20">
            <a:extLst>
              <a:ext uri="{FF2B5EF4-FFF2-40B4-BE49-F238E27FC236}">
                <a16:creationId xmlns:a16="http://schemas.microsoft.com/office/drawing/2014/main" id="{DEB3411B-858F-8D4E-B16E-C2D89147AD74}"/>
              </a:ext>
            </a:extLst>
          </p:cNvPr>
          <p:cNvSpPr>
            <a:spLocks noGrp="1"/>
          </p:cNvSpPr>
          <p:nvPr>
            <p:ph type="body" sz="quarter" idx="24" hasCustomPrompt="1"/>
          </p:nvPr>
        </p:nvSpPr>
        <p:spPr>
          <a:xfrm>
            <a:off x="7975863"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16" name="Text Placeholder 20">
            <a:extLst>
              <a:ext uri="{FF2B5EF4-FFF2-40B4-BE49-F238E27FC236}">
                <a16:creationId xmlns:a16="http://schemas.microsoft.com/office/drawing/2014/main" id="{DC09C450-9179-1B4A-B6EF-2B3ADC0F6E6D}"/>
              </a:ext>
            </a:extLst>
          </p:cNvPr>
          <p:cNvSpPr>
            <a:spLocks noGrp="1"/>
          </p:cNvSpPr>
          <p:nvPr>
            <p:ph type="body" sz="quarter" idx="25" hasCustomPrompt="1"/>
          </p:nvPr>
        </p:nvSpPr>
        <p:spPr>
          <a:xfrm>
            <a:off x="9230671"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0" name="Text Placeholder 20">
            <a:extLst>
              <a:ext uri="{FF2B5EF4-FFF2-40B4-BE49-F238E27FC236}">
                <a16:creationId xmlns:a16="http://schemas.microsoft.com/office/drawing/2014/main" id="{82A8BE90-1D77-EC49-8D3E-427C4038BA63}"/>
              </a:ext>
            </a:extLst>
          </p:cNvPr>
          <p:cNvSpPr>
            <a:spLocks noGrp="1"/>
          </p:cNvSpPr>
          <p:nvPr>
            <p:ph type="body" sz="quarter" idx="26" hasCustomPrompt="1"/>
          </p:nvPr>
        </p:nvSpPr>
        <p:spPr>
          <a:xfrm>
            <a:off x="10485479"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2" name="Text Placeholder 20">
            <a:extLst>
              <a:ext uri="{FF2B5EF4-FFF2-40B4-BE49-F238E27FC236}">
                <a16:creationId xmlns:a16="http://schemas.microsoft.com/office/drawing/2014/main" id="{EF2AB699-3487-D64D-8000-00933A9CFA32}"/>
              </a:ext>
            </a:extLst>
          </p:cNvPr>
          <p:cNvSpPr>
            <a:spLocks noGrp="1"/>
          </p:cNvSpPr>
          <p:nvPr>
            <p:ph type="body" sz="quarter" idx="27" hasCustomPrompt="1"/>
          </p:nvPr>
        </p:nvSpPr>
        <p:spPr>
          <a:xfrm>
            <a:off x="11740287"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3" name="Text Placeholder 20">
            <a:extLst>
              <a:ext uri="{FF2B5EF4-FFF2-40B4-BE49-F238E27FC236}">
                <a16:creationId xmlns:a16="http://schemas.microsoft.com/office/drawing/2014/main" id="{DBD98121-1BA7-2E4B-B168-0AEEFC72026A}"/>
              </a:ext>
            </a:extLst>
          </p:cNvPr>
          <p:cNvSpPr>
            <a:spLocks noGrp="1"/>
          </p:cNvSpPr>
          <p:nvPr>
            <p:ph type="body" sz="quarter" idx="28" hasCustomPrompt="1"/>
          </p:nvPr>
        </p:nvSpPr>
        <p:spPr>
          <a:xfrm>
            <a:off x="12995094"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4" name="Picture Placeholder 18">
            <a:extLst>
              <a:ext uri="{FF2B5EF4-FFF2-40B4-BE49-F238E27FC236}">
                <a16:creationId xmlns:a16="http://schemas.microsoft.com/office/drawing/2014/main" id="{9F884DBB-FDFE-ED41-A95B-363ED12F961D}"/>
              </a:ext>
            </a:extLst>
          </p:cNvPr>
          <p:cNvSpPr>
            <a:spLocks noGrp="1"/>
          </p:cNvSpPr>
          <p:nvPr>
            <p:ph type="pic" sz="quarter" idx="29"/>
          </p:nvPr>
        </p:nvSpPr>
        <p:spPr>
          <a:xfrm>
            <a:off x="13213330"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5" name="Picture Placeholder 18">
            <a:extLst>
              <a:ext uri="{FF2B5EF4-FFF2-40B4-BE49-F238E27FC236}">
                <a16:creationId xmlns:a16="http://schemas.microsoft.com/office/drawing/2014/main" id="{05D03191-6FCF-7447-93EA-9CB58296689D}"/>
              </a:ext>
            </a:extLst>
          </p:cNvPr>
          <p:cNvSpPr>
            <a:spLocks noGrp="1"/>
          </p:cNvSpPr>
          <p:nvPr>
            <p:ph type="pic" sz="quarter" idx="30"/>
          </p:nvPr>
        </p:nvSpPr>
        <p:spPr>
          <a:xfrm>
            <a:off x="6939291"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6" name="Picture Placeholder 18">
            <a:extLst>
              <a:ext uri="{FF2B5EF4-FFF2-40B4-BE49-F238E27FC236}">
                <a16:creationId xmlns:a16="http://schemas.microsoft.com/office/drawing/2014/main" id="{6EC55C8B-3BBF-4346-8C8E-3B2B6B70F887}"/>
              </a:ext>
            </a:extLst>
          </p:cNvPr>
          <p:cNvSpPr>
            <a:spLocks noGrp="1"/>
          </p:cNvSpPr>
          <p:nvPr>
            <p:ph type="pic" sz="quarter" idx="31"/>
          </p:nvPr>
        </p:nvSpPr>
        <p:spPr>
          <a:xfrm>
            <a:off x="8194099"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7" name="Picture Placeholder 18">
            <a:extLst>
              <a:ext uri="{FF2B5EF4-FFF2-40B4-BE49-F238E27FC236}">
                <a16:creationId xmlns:a16="http://schemas.microsoft.com/office/drawing/2014/main" id="{26C0AFAD-E579-A84E-851E-F202D6CE4C4C}"/>
              </a:ext>
            </a:extLst>
          </p:cNvPr>
          <p:cNvSpPr>
            <a:spLocks noGrp="1"/>
          </p:cNvSpPr>
          <p:nvPr>
            <p:ph type="pic" sz="quarter" idx="32"/>
          </p:nvPr>
        </p:nvSpPr>
        <p:spPr>
          <a:xfrm>
            <a:off x="9448907"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8" name="Picture Placeholder 18">
            <a:extLst>
              <a:ext uri="{FF2B5EF4-FFF2-40B4-BE49-F238E27FC236}">
                <a16:creationId xmlns:a16="http://schemas.microsoft.com/office/drawing/2014/main" id="{7B5017E9-FF5B-FC47-8AC7-B387884E73ED}"/>
              </a:ext>
            </a:extLst>
          </p:cNvPr>
          <p:cNvSpPr>
            <a:spLocks noGrp="1"/>
          </p:cNvSpPr>
          <p:nvPr>
            <p:ph type="pic" sz="quarter" idx="33"/>
          </p:nvPr>
        </p:nvSpPr>
        <p:spPr>
          <a:xfrm>
            <a:off x="10703715"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9" name="Picture Placeholder 18">
            <a:extLst>
              <a:ext uri="{FF2B5EF4-FFF2-40B4-BE49-F238E27FC236}">
                <a16:creationId xmlns:a16="http://schemas.microsoft.com/office/drawing/2014/main" id="{8E132FCD-181E-AE43-9C6A-C695F0BE2527}"/>
              </a:ext>
            </a:extLst>
          </p:cNvPr>
          <p:cNvSpPr>
            <a:spLocks noGrp="1"/>
          </p:cNvSpPr>
          <p:nvPr>
            <p:ph type="pic" sz="quarter" idx="34"/>
          </p:nvPr>
        </p:nvSpPr>
        <p:spPr>
          <a:xfrm>
            <a:off x="11958523"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30" name="Picture Placeholder 18">
            <a:extLst>
              <a:ext uri="{FF2B5EF4-FFF2-40B4-BE49-F238E27FC236}">
                <a16:creationId xmlns:a16="http://schemas.microsoft.com/office/drawing/2014/main" id="{733396EE-16B0-2340-9111-5B08B6848924}"/>
              </a:ext>
            </a:extLst>
          </p:cNvPr>
          <p:cNvSpPr>
            <a:spLocks noGrp="1"/>
          </p:cNvSpPr>
          <p:nvPr>
            <p:ph type="pic" sz="quarter" idx="35"/>
          </p:nvPr>
        </p:nvSpPr>
        <p:spPr>
          <a:xfrm>
            <a:off x="5684483"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31" name="Text Placeholder 20">
            <a:extLst>
              <a:ext uri="{FF2B5EF4-FFF2-40B4-BE49-F238E27FC236}">
                <a16:creationId xmlns:a16="http://schemas.microsoft.com/office/drawing/2014/main" id="{7FF06D01-8627-E44F-B21E-B31520960F44}"/>
              </a:ext>
            </a:extLst>
          </p:cNvPr>
          <p:cNvSpPr>
            <a:spLocks noGrp="1"/>
          </p:cNvSpPr>
          <p:nvPr>
            <p:ph type="body" sz="quarter" idx="36" hasCustomPrompt="1"/>
          </p:nvPr>
        </p:nvSpPr>
        <p:spPr>
          <a:xfrm>
            <a:off x="5466247"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3" name="Text Placeholder 20">
            <a:extLst>
              <a:ext uri="{FF2B5EF4-FFF2-40B4-BE49-F238E27FC236}">
                <a16:creationId xmlns:a16="http://schemas.microsoft.com/office/drawing/2014/main" id="{4D109AEF-1E96-D741-8288-17E45899BAE5}"/>
              </a:ext>
            </a:extLst>
          </p:cNvPr>
          <p:cNvSpPr>
            <a:spLocks noGrp="1"/>
          </p:cNvSpPr>
          <p:nvPr>
            <p:ph type="body" sz="quarter" idx="38" hasCustomPrompt="1"/>
          </p:nvPr>
        </p:nvSpPr>
        <p:spPr>
          <a:xfrm>
            <a:off x="7348459"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5" name="Text Placeholder 20">
            <a:extLst>
              <a:ext uri="{FF2B5EF4-FFF2-40B4-BE49-F238E27FC236}">
                <a16:creationId xmlns:a16="http://schemas.microsoft.com/office/drawing/2014/main" id="{3124FC5F-7048-0A47-BB7E-B3899DC1FF94}"/>
              </a:ext>
            </a:extLst>
          </p:cNvPr>
          <p:cNvSpPr>
            <a:spLocks noGrp="1"/>
          </p:cNvSpPr>
          <p:nvPr>
            <p:ph type="body" sz="quarter" idx="40" hasCustomPrompt="1"/>
          </p:nvPr>
        </p:nvSpPr>
        <p:spPr>
          <a:xfrm>
            <a:off x="9230671"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6" name="Text Placeholder 20">
            <a:extLst>
              <a:ext uri="{FF2B5EF4-FFF2-40B4-BE49-F238E27FC236}">
                <a16:creationId xmlns:a16="http://schemas.microsoft.com/office/drawing/2014/main" id="{21BE0C03-FB99-9646-9781-818C2536DD92}"/>
              </a:ext>
            </a:extLst>
          </p:cNvPr>
          <p:cNvSpPr>
            <a:spLocks noGrp="1"/>
          </p:cNvSpPr>
          <p:nvPr>
            <p:ph type="body" sz="quarter" idx="41" hasCustomPrompt="1"/>
          </p:nvPr>
        </p:nvSpPr>
        <p:spPr>
          <a:xfrm>
            <a:off x="11112883"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7" name="Text Placeholder 20">
            <a:extLst>
              <a:ext uri="{FF2B5EF4-FFF2-40B4-BE49-F238E27FC236}">
                <a16:creationId xmlns:a16="http://schemas.microsoft.com/office/drawing/2014/main" id="{FFA9E477-AD09-DC47-A6E5-0434C0C7A700}"/>
              </a:ext>
            </a:extLst>
          </p:cNvPr>
          <p:cNvSpPr>
            <a:spLocks noGrp="1"/>
          </p:cNvSpPr>
          <p:nvPr>
            <p:ph type="body" sz="quarter" idx="42" hasCustomPrompt="1"/>
          </p:nvPr>
        </p:nvSpPr>
        <p:spPr>
          <a:xfrm>
            <a:off x="12995094"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8" name="Picture Placeholder 18">
            <a:extLst>
              <a:ext uri="{FF2B5EF4-FFF2-40B4-BE49-F238E27FC236}">
                <a16:creationId xmlns:a16="http://schemas.microsoft.com/office/drawing/2014/main" id="{097BF33B-D0CC-C641-A6D1-390BE0B35EA8}"/>
              </a:ext>
            </a:extLst>
          </p:cNvPr>
          <p:cNvSpPr>
            <a:spLocks noGrp="1"/>
          </p:cNvSpPr>
          <p:nvPr>
            <p:ph type="pic" sz="quarter" idx="43"/>
          </p:nvPr>
        </p:nvSpPr>
        <p:spPr>
          <a:xfrm>
            <a:off x="13213330"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0" name="Picture Placeholder 18">
            <a:extLst>
              <a:ext uri="{FF2B5EF4-FFF2-40B4-BE49-F238E27FC236}">
                <a16:creationId xmlns:a16="http://schemas.microsoft.com/office/drawing/2014/main" id="{41335489-EBB0-FB4F-B4B0-122CEFC0EF25}"/>
              </a:ext>
            </a:extLst>
          </p:cNvPr>
          <p:cNvSpPr>
            <a:spLocks noGrp="1"/>
          </p:cNvSpPr>
          <p:nvPr>
            <p:ph type="pic" sz="quarter" idx="45"/>
          </p:nvPr>
        </p:nvSpPr>
        <p:spPr>
          <a:xfrm>
            <a:off x="7566695"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2" name="Picture Placeholder 18">
            <a:extLst>
              <a:ext uri="{FF2B5EF4-FFF2-40B4-BE49-F238E27FC236}">
                <a16:creationId xmlns:a16="http://schemas.microsoft.com/office/drawing/2014/main" id="{897D5E99-B934-6648-9B05-9AEAE138C4B1}"/>
              </a:ext>
            </a:extLst>
          </p:cNvPr>
          <p:cNvSpPr>
            <a:spLocks noGrp="1"/>
          </p:cNvSpPr>
          <p:nvPr>
            <p:ph type="pic" sz="quarter" idx="47"/>
          </p:nvPr>
        </p:nvSpPr>
        <p:spPr>
          <a:xfrm>
            <a:off x="9448907"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3" name="Picture Placeholder 18">
            <a:extLst>
              <a:ext uri="{FF2B5EF4-FFF2-40B4-BE49-F238E27FC236}">
                <a16:creationId xmlns:a16="http://schemas.microsoft.com/office/drawing/2014/main" id="{2F2AE59B-918E-6B4C-96A1-10914CBA30ED}"/>
              </a:ext>
            </a:extLst>
          </p:cNvPr>
          <p:cNvSpPr>
            <a:spLocks noGrp="1"/>
          </p:cNvSpPr>
          <p:nvPr>
            <p:ph type="pic" sz="quarter" idx="48"/>
          </p:nvPr>
        </p:nvSpPr>
        <p:spPr>
          <a:xfrm>
            <a:off x="11331119"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4" name="Picture Placeholder 18">
            <a:extLst>
              <a:ext uri="{FF2B5EF4-FFF2-40B4-BE49-F238E27FC236}">
                <a16:creationId xmlns:a16="http://schemas.microsoft.com/office/drawing/2014/main" id="{ECBD8A13-B9DC-7C4E-AAA4-F9DE89F9C7DF}"/>
              </a:ext>
            </a:extLst>
          </p:cNvPr>
          <p:cNvSpPr>
            <a:spLocks noGrp="1"/>
          </p:cNvSpPr>
          <p:nvPr>
            <p:ph type="pic" sz="quarter" idx="49"/>
          </p:nvPr>
        </p:nvSpPr>
        <p:spPr>
          <a:xfrm>
            <a:off x="5684483" y="6400206"/>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5" name="Text Placeholder 20">
            <a:extLst>
              <a:ext uri="{FF2B5EF4-FFF2-40B4-BE49-F238E27FC236}">
                <a16:creationId xmlns:a16="http://schemas.microsoft.com/office/drawing/2014/main" id="{05B4458A-A2EF-DB45-AC3B-3D86F17644AB}"/>
              </a:ext>
            </a:extLst>
          </p:cNvPr>
          <p:cNvSpPr>
            <a:spLocks noGrp="1"/>
          </p:cNvSpPr>
          <p:nvPr>
            <p:ph type="body" sz="quarter" idx="50" hasCustomPrompt="1"/>
          </p:nvPr>
        </p:nvSpPr>
        <p:spPr>
          <a:xfrm>
            <a:off x="6485423" y="6418607"/>
            <a:ext cx="1882212" cy="214313"/>
          </a:xfrm>
        </p:spPr>
        <p:txBody>
          <a:bodyPr>
            <a:noAutofit/>
          </a:bodyPr>
          <a:lstStyle>
            <a:lvl1pPr marL="0" indent="0" algn="l">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46" name="Text Placeholder 20">
            <a:extLst>
              <a:ext uri="{FF2B5EF4-FFF2-40B4-BE49-F238E27FC236}">
                <a16:creationId xmlns:a16="http://schemas.microsoft.com/office/drawing/2014/main" id="{9F3E6CAD-6E45-6347-B405-C56CAA8B7C55}"/>
              </a:ext>
            </a:extLst>
          </p:cNvPr>
          <p:cNvSpPr>
            <a:spLocks noGrp="1"/>
          </p:cNvSpPr>
          <p:nvPr>
            <p:ph type="body" sz="quarter" idx="51" hasCustomPrompt="1"/>
          </p:nvPr>
        </p:nvSpPr>
        <p:spPr>
          <a:xfrm>
            <a:off x="6485423" y="6726255"/>
            <a:ext cx="1882212" cy="637920"/>
          </a:xfrm>
        </p:spPr>
        <p:txBody>
          <a:bodyPr>
            <a:noAutofit/>
          </a:bodyPr>
          <a:lstStyle>
            <a:lvl1pPr marL="171450" indent="-171450" algn="l">
              <a:spcBef>
                <a:spcPts val="0"/>
              </a:spcBef>
              <a:spcAft>
                <a:spcPts val="0"/>
              </a:spcAft>
              <a:buFont typeface="Arial" panose="020B0604020202020204" pitchFamily="34" charset="0"/>
              <a:buChar char="•"/>
              <a:defRPr sz="1050" b="0">
                <a:latin typeface="+mn-lt"/>
                <a:ea typeface="Noto Sans Thin" panose="020B0202040504020204" pitchFamily="34" charset="0"/>
                <a:cs typeface="Noto Sans Thin" panose="020B0202040504020204" pitchFamily="34" charset="0"/>
              </a:defRPr>
            </a:lvl1pPr>
          </a:lstStyle>
          <a:p>
            <a:pPr lvl="0"/>
            <a:r>
              <a:rPr lang="en-US"/>
              <a:t>Key point 1</a:t>
            </a:r>
          </a:p>
          <a:p>
            <a:pPr lvl="0"/>
            <a:r>
              <a:rPr lang="en-US"/>
              <a:t>Key point 2</a:t>
            </a:r>
          </a:p>
        </p:txBody>
      </p:sp>
      <p:sp>
        <p:nvSpPr>
          <p:cNvPr id="53" name="Picture Placeholder 18">
            <a:extLst>
              <a:ext uri="{FF2B5EF4-FFF2-40B4-BE49-F238E27FC236}">
                <a16:creationId xmlns:a16="http://schemas.microsoft.com/office/drawing/2014/main" id="{EB3D6C24-095C-2C49-A936-4435D5703072}"/>
              </a:ext>
            </a:extLst>
          </p:cNvPr>
          <p:cNvSpPr>
            <a:spLocks noGrp="1"/>
          </p:cNvSpPr>
          <p:nvPr>
            <p:ph type="pic" sz="quarter" idx="52"/>
          </p:nvPr>
        </p:nvSpPr>
        <p:spPr>
          <a:xfrm>
            <a:off x="8629917" y="6400206"/>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54" name="Text Placeholder 20">
            <a:extLst>
              <a:ext uri="{FF2B5EF4-FFF2-40B4-BE49-F238E27FC236}">
                <a16:creationId xmlns:a16="http://schemas.microsoft.com/office/drawing/2014/main" id="{7921EC77-7E88-7D4E-8992-812A2DFB2D58}"/>
              </a:ext>
            </a:extLst>
          </p:cNvPr>
          <p:cNvSpPr>
            <a:spLocks noGrp="1"/>
          </p:cNvSpPr>
          <p:nvPr>
            <p:ph type="body" sz="quarter" idx="53" hasCustomPrompt="1"/>
          </p:nvPr>
        </p:nvSpPr>
        <p:spPr>
          <a:xfrm>
            <a:off x="9421044" y="6418607"/>
            <a:ext cx="1882212" cy="214313"/>
          </a:xfrm>
        </p:spPr>
        <p:txBody>
          <a:bodyPr>
            <a:noAutofit/>
          </a:bodyPr>
          <a:lstStyle>
            <a:lvl1pPr marL="0" indent="0" algn="l">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55" name="Text Placeholder 20">
            <a:extLst>
              <a:ext uri="{FF2B5EF4-FFF2-40B4-BE49-F238E27FC236}">
                <a16:creationId xmlns:a16="http://schemas.microsoft.com/office/drawing/2014/main" id="{B766E802-78A0-0141-8E65-0552BDE3E11F}"/>
              </a:ext>
            </a:extLst>
          </p:cNvPr>
          <p:cNvSpPr>
            <a:spLocks noGrp="1"/>
          </p:cNvSpPr>
          <p:nvPr>
            <p:ph type="body" sz="quarter" idx="54" hasCustomPrompt="1"/>
          </p:nvPr>
        </p:nvSpPr>
        <p:spPr>
          <a:xfrm>
            <a:off x="9421044" y="6726255"/>
            <a:ext cx="1882212" cy="637920"/>
          </a:xfrm>
        </p:spPr>
        <p:txBody>
          <a:bodyPr>
            <a:noAutofit/>
          </a:bodyPr>
          <a:lstStyle>
            <a:lvl1pPr marL="171450" indent="-171450" algn="l">
              <a:spcBef>
                <a:spcPts val="0"/>
              </a:spcBef>
              <a:spcAft>
                <a:spcPts val="0"/>
              </a:spcAft>
              <a:buFont typeface="Arial" panose="020B0604020202020204" pitchFamily="34" charset="0"/>
              <a:buChar char="•"/>
              <a:defRPr sz="1050" b="0">
                <a:latin typeface="+mn-lt"/>
                <a:ea typeface="Noto Sans Thin" panose="020B0202040504020204" pitchFamily="34" charset="0"/>
                <a:cs typeface="Noto Sans Thin" panose="020B0202040504020204" pitchFamily="34" charset="0"/>
              </a:defRPr>
            </a:lvl1pPr>
          </a:lstStyle>
          <a:p>
            <a:pPr lvl="0"/>
            <a:r>
              <a:rPr lang="en-US"/>
              <a:t>Key point 1</a:t>
            </a:r>
          </a:p>
          <a:p>
            <a:pPr lvl="0"/>
            <a:r>
              <a:rPr lang="en-US"/>
              <a:t>Key point 2</a:t>
            </a:r>
          </a:p>
        </p:txBody>
      </p:sp>
      <p:sp>
        <p:nvSpPr>
          <p:cNvPr id="56" name="Picture Placeholder 18">
            <a:extLst>
              <a:ext uri="{FF2B5EF4-FFF2-40B4-BE49-F238E27FC236}">
                <a16:creationId xmlns:a16="http://schemas.microsoft.com/office/drawing/2014/main" id="{639941B6-FA13-C343-A888-CAD71674C75B}"/>
              </a:ext>
            </a:extLst>
          </p:cNvPr>
          <p:cNvSpPr>
            <a:spLocks noGrp="1"/>
          </p:cNvSpPr>
          <p:nvPr>
            <p:ph type="pic" sz="quarter" idx="55"/>
          </p:nvPr>
        </p:nvSpPr>
        <p:spPr>
          <a:xfrm>
            <a:off x="11565539" y="6400206"/>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57" name="Text Placeholder 20">
            <a:extLst>
              <a:ext uri="{FF2B5EF4-FFF2-40B4-BE49-F238E27FC236}">
                <a16:creationId xmlns:a16="http://schemas.microsoft.com/office/drawing/2014/main" id="{729F8921-74FB-C043-967E-442DE1FD397C}"/>
              </a:ext>
            </a:extLst>
          </p:cNvPr>
          <p:cNvSpPr>
            <a:spLocks noGrp="1"/>
          </p:cNvSpPr>
          <p:nvPr>
            <p:ph type="body" sz="quarter" idx="56" hasCustomPrompt="1"/>
          </p:nvPr>
        </p:nvSpPr>
        <p:spPr>
          <a:xfrm>
            <a:off x="12346575" y="6418607"/>
            <a:ext cx="1882212" cy="214313"/>
          </a:xfrm>
        </p:spPr>
        <p:txBody>
          <a:bodyPr>
            <a:noAutofit/>
          </a:bodyPr>
          <a:lstStyle>
            <a:lvl1pPr marL="0" indent="0" algn="l">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58" name="Text Placeholder 20">
            <a:extLst>
              <a:ext uri="{FF2B5EF4-FFF2-40B4-BE49-F238E27FC236}">
                <a16:creationId xmlns:a16="http://schemas.microsoft.com/office/drawing/2014/main" id="{96166FC3-BD6A-E441-9459-530F8F7D0479}"/>
              </a:ext>
            </a:extLst>
          </p:cNvPr>
          <p:cNvSpPr>
            <a:spLocks noGrp="1"/>
          </p:cNvSpPr>
          <p:nvPr>
            <p:ph type="body" sz="quarter" idx="57" hasCustomPrompt="1"/>
          </p:nvPr>
        </p:nvSpPr>
        <p:spPr>
          <a:xfrm>
            <a:off x="12346575" y="6726255"/>
            <a:ext cx="1882212" cy="637920"/>
          </a:xfrm>
        </p:spPr>
        <p:txBody>
          <a:bodyPr>
            <a:noAutofit/>
          </a:bodyPr>
          <a:lstStyle>
            <a:lvl1pPr marL="171450" indent="-171450" algn="l">
              <a:spcBef>
                <a:spcPts val="0"/>
              </a:spcBef>
              <a:spcAft>
                <a:spcPts val="0"/>
              </a:spcAft>
              <a:buFont typeface="Arial" panose="020B0604020202020204" pitchFamily="34" charset="0"/>
              <a:buChar char="•"/>
              <a:defRPr sz="1050" b="0">
                <a:latin typeface="+mn-lt"/>
                <a:ea typeface="Noto Sans Thin" panose="020B0202040504020204" pitchFamily="34" charset="0"/>
                <a:cs typeface="Noto Sans Thin" panose="020B0202040504020204" pitchFamily="34" charset="0"/>
              </a:defRPr>
            </a:lvl1pPr>
          </a:lstStyle>
          <a:p>
            <a:pPr lvl="0"/>
            <a:r>
              <a:rPr lang="en-US"/>
              <a:t>Key point 1</a:t>
            </a:r>
          </a:p>
          <a:p>
            <a:pPr lvl="0"/>
            <a:r>
              <a:rPr lang="en-US"/>
              <a:t>Key point 2</a:t>
            </a:r>
          </a:p>
        </p:txBody>
      </p:sp>
    </p:spTree>
    <p:extLst>
      <p:ext uri="{BB962C8B-B14F-4D97-AF65-F5344CB8AC3E}">
        <p14:creationId xmlns:p14="http://schemas.microsoft.com/office/powerpoint/2010/main" val="1113440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ST LAYOUT OF TEMPLATE">
    <p:spTree>
      <p:nvGrpSpPr>
        <p:cNvPr id="1" name=""/>
        <p:cNvGrpSpPr/>
        <p:nvPr/>
      </p:nvGrpSpPr>
      <p:grpSpPr>
        <a:xfrm>
          <a:off x="0" y="0"/>
          <a:ext cx="0" cy="0"/>
          <a:chOff x="0" y="0"/>
          <a:chExt cx="0" cy="0"/>
        </a:xfrm>
      </p:grpSpPr>
      <p:sp>
        <p:nvSpPr>
          <p:cNvPr id="2" name="Rectangle 1"/>
          <p:cNvSpPr/>
          <p:nvPr userDrawn="1"/>
        </p:nvSpPr>
        <p:spPr>
          <a:xfrm>
            <a:off x="541176" y="1717854"/>
            <a:ext cx="13548048" cy="5632311"/>
          </a:xfrm>
          <a:prstGeom prst="rect">
            <a:avLst/>
          </a:prstGeom>
        </p:spPr>
        <p:txBody>
          <a:bodyPr wrap="square">
            <a:spAutoFit/>
          </a:bodyPr>
          <a:lstStyle/>
          <a:p>
            <a:pPr lvl="0" algn="ct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Last</a:t>
            </a:r>
            <a:r>
              <a:rPr lang="en-US" sz="7200" baseline="0">
                <a:solidFill>
                  <a:srgbClr val="C00000"/>
                </a:solidFill>
                <a:latin typeface="Arial" panose="020B0604020202020204" pitchFamily="34" charset="0"/>
                <a:ea typeface="Noto Sans" panose="020B0502040504020204" pitchFamily="34" charset="0"/>
                <a:cs typeface="Arial" panose="020B0604020202020204" pitchFamily="34" charset="0"/>
              </a:rPr>
              <a:t> Layout </a:t>
            </a: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of Template</a:t>
            </a: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6600">
              <a:solidFill>
                <a:srgbClr val="C00000"/>
              </a:solidFill>
              <a:latin typeface="Arial" panose="020B0604020202020204" pitchFamily="34" charset="0"/>
              <a:ea typeface="Noto Sans" panose="020B0502040504020204" pitchFamily="34" charset="0"/>
              <a:cs typeface="Arial" panose="020B0604020202020204" pitchFamily="34" charset="0"/>
            </a:endParaRPr>
          </a:p>
        </p:txBody>
      </p:sp>
    </p:spTree>
    <p:extLst>
      <p:ext uri="{BB962C8B-B14F-4D97-AF65-F5344CB8AC3E}">
        <p14:creationId xmlns:p14="http://schemas.microsoft.com/office/powerpoint/2010/main" val="41792348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3237" y="329565"/>
            <a:ext cx="13623925" cy="1016350"/>
          </a:xfrm>
          <a:prstGeom prst="rect">
            <a:avLst/>
          </a:prstGeom>
        </p:spPr>
        <p:txBody>
          <a:bodyPr vert="horz" lIns="91440" tIns="73152" rIns="146304" bIns="73152" rtlCol="0" anchor="b">
            <a:normAutofit/>
          </a:bodyPr>
          <a:lstStyle/>
          <a:p>
            <a:r>
              <a:rPr lang="en-US"/>
              <a:t>Slide Titles Should Use Initial Caps </a:t>
            </a:r>
          </a:p>
        </p:txBody>
      </p:sp>
      <p:sp>
        <p:nvSpPr>
          <p:cNvPr id="3" name="Text Placeholder 2"/>
          <p:cNvSpPr>
            <a:spLocks noGrp="1"/>
          </p:cNvSpPr>
          <p:nvPr>
            <p:ph type="body" idx="1"/>
          </p:nvPr>
        </p:nvSpPr>
        <p:spPr>
          <a:xfrm>
            <a:off x="503237" y="1597026"/>
            <a:ext cx="13623926" cy="5621338"/>
          </a:xfrm>
          <a:prstGeom prst="rect">
            <a:avLst/>
          </a:prstGeom>
        </p:spPr>
        <p:txBody>
          <a:bodyPr vert="horz" lIns="91440" tIns="9144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758E12D6-3E5C-48EC-BC84-B1514A41F696}"/>
              </a:ext>
            </a:extLst>
          </p:cNvPr>
          <p:cNvSpPr txBox="1"/>
          <p:nvPr userDrawn="1"/>
        </p:nvSpPr>
        <p:spPr>
          <a:xfrm>
            <a:off x="13144818" y="7814641"/>
            <a:ext cx="1356043" cy="246221"/>
          </a:xfrm>
          <a:prstGeom prst="rect">
            <a:avLst/>
          </a:prstGeom>
        </p:spPr>
        <p:txBody>
          <a:bodyPr tIns="0" bIns="0" anchor="b">
            <a:noAutofit/>
          </a:bodyPr>
          <a:lstStyle>
            <a:defPPr>
              <a:defRPr lang="en-US"/>
            </a:defPPr>
            <a:lvl1pPr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1390491736"/>
      </p:ext>
    </p:extLst>
  </p:cSld>
  <p:clrMap bg1="lt1" tx1="dk1" bg2="lt2" tx2="dk2" accent1="accent1" accent2="accent2" accent3="accent3" accent4="accent4" accent5="accent5" accent6="accent6" hlink="hlink" folHlink="folHlink"/>
  <p:sldLayoutIdLst>
    <p:sldLayoutId id="2147483650" r:id="rId1"/>
    <p:sldLayoutId id="2147483656" r:id="rId2"/>
    <p:sldLayoutId id="2147483830" r:id="rId3"/>
    <p:sldLayoutId id="2147483832" r:id="rId4"/>
    <p:sldLayoutId id="2147483833" r:id="rId5"/>
    <p:sldLayoutId id="2147483835" r:id="rId6"/>
    <p:sldLayoutId id="2147483834" r:id="rId7"/>
    <p:sldLayoutId id="2147483700" r:id="rId8"/>
    <p:sldLayoutId id="2147483703" r:id="rId9"/>
    <p:sldLayoutId id="2147483663" r:id="rId10"/>
    <p:sldLayoutId id="2147483665" r:id="rId11"/>
    <p:sldLayoutId id="2147483664" r:id="rId12"/>
    <p:sldLayoutId id="2147483666" r:id="rId13"/>
    <p:sldLayoutId id="2147483671" r:id="rId14"/>
    <p:sldLayoutId id="2147483831" r:id="rId15"/>
    <p:sldLayoutId id="2147483672" r:id="rId16"/>
    <p:sldLayoutId id="2147483674" r:id="rId17"/>
    <p:sldLayoutId id="2147483675" r:id="rId18"/>
    <p:sldLayoutId id="2147483676" r:id="rId19"/>
    <p:sldLayoutId id="2147483677" r:id="rId20"/>
    <p:sldLayoutId id="2147483752" r:id="rId21"/>
    <p:sldLayoutId id="2147483751" r:id="rId22"/>
    <p:sldLayoutId id="2147483848" r:id="rId23"/>
    <p:sldLayoutId id="2147483753" r:id="rId24"/>
    <p:sldLayoutId id="2147483749" r:id="rId25"/>
    <p:sldLayoutId id="2147483754" r:id="rId26"/>
    <p:sldLayoutId id="2147483826" r:id="rId27"/>
    <p:sldLayoutId id="2147483765" r:id="rId28"/>
    <p:sldLayoutId id="2147483766" r:id="rId29"/>
    <p:sldLayoutId id="2147483767" r:id="rId30"/>
    <p:sldLayoutId id="2147483712" r:id="rId31"/>
    <p:sldLayoutId id="2147483851" r:id="rId32"/>
    <p:sldLayoutId id="2147483774" r:id="rId33"/>
    <p:sldLayoutId id="2147483852" r:id="rId34"/>
    <p:sldLayoutId id="2147483691" r:id="rId35"/>
    <p:sldLayoutId id="2147483689" r:id="rId36"/>
    <p:sldLayoutId id="2147483690" r:id="rId37"/>
    <p:sldLayoutId id="2147483692" r:id="rId38"/>
    <p:sldLayoutId id="2147483693" r:id="rId39"/>
    <p:sldLayoutId id="2147483711" r:id="rId40"/>
    <p:sldLayoutId id="2147483850" r:id="rId41"/>
    <p:sldLayoutId id="2147483713" r:id="rId42"/>
  </p:sldLayoutIdLst>
  <p:hf sldNum="0" hdr="0" dt="0"/>
  <p:txStyles>
    <p:title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p:titleStyle>
    <p:body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p:bodyStyle>
    <p:otherStyle>
      <a:defPPr>
        <a:defRPr lang="en-US"/>
      </a:defPPr>
      <a:lvl1pPr marL="0" algn="l" defTabSz="1463040" rtl="0" eaLnBrk="1" latinLnBrk="0" hangingPunct="1">
        <a:defRPr sz="2900" kern="1200">
          <a:solidFill>
            <a:schemeClr val="tx1"/>
          </a:solidFill>
          <a:latin typeface="+mn-lt"/>
          <a:ea typeface="+mn-ea"/>
          <a:cs typeface="+mn-cs"/>
        </a:defRPr>
      </a:lvl1pPr>
      <a:lvl2pPr marL="731520" algn="l" defTabSz="1463040" rtl="0" eaLnBrk="1" latinLnBrk="0" hangingPunct="1">
        <a:defRPr sz="2900" kern="1200">
          <a:solidFill>
            <a:schemeClr val="tx1"/>
          </a:solidFill>
          <a:latin typeface="+mn-lt"/>
          <a:ea typeface="+mn-ea"/>
          <a:cs typeface="+mn-cs"/>
        </a:defRPr>
      </a:lvl2pPr>
      <a:lvl3pPr marL="1463040" algn="l" defTabSz="1463040" rtl="0" eaLnBrk="1" latinLnBrk="0" hangingPunct="1">
        <a:defRPr sz="2900" kern="1200">
          <a:solidFill>
            <a:schemeClr val="tx1"/>
          </a:solidFill>
          <a:latin typeface="+mn-lt"/>
          <a:ea typeface="+mn-ea"/>
          <a:cs typeface="+mn-cs"/>
        </a:defRPr>
      </a:lvl3pPr>
      <a:lvl4pPr marL="2194560" algn="l" defTabSz="1463040" rtl="0" eaLnBrk="1" latinLnBrk="0" hangingPunct="1">
        <a:defRPr sz="2900" kern="1200">
          <a:solidFill>
            <a:schemeClr val="tx1"/>
          </a:solidFill>
          <a:latin typeface="+mn-lt"/>
          <a:ea typeface="+mn-ea"/>
          <a:cs typeface="+mn-cs"/>
        </a:defRPr>
      </a:lvl4pPr>
      <a:lvl5pPr marL="2926080" algn="l" defTabSz="1463040" rtl="0" eaLnBrk="1" latinLnBrk="0" hangingPunct="1">
        <a:defRPr sz="2900" kern="1200">
          <a:solidFill>
            <a:schemeClr val="tx1"/>
          </a:solidFill>
          <a:latin typeface="+mn-lt"/>
          <a:ea typeface="+mn-ea"/>
          <a:cs typeface="+mn-cs"/>
        </a:defRPr>
      </a:lvl5pPr>
      <a:lvl6pPr marL="3657600" algn="l" defTabSz="1463040" rtl="0" eaLnBrk="1" latinLnBrk="0" hangingPunct="1">
        <a:defRPr sz="2900" kern="1200">
          <a:solidFill>
            <a:schemeClr val="tx1"/>
          </a:solidFill>
          <a:latin typeface="+mn-lt"/>
          <a:ea typeface="+mn-ea"/>
          <a:cs typeface="+mn-cs"/>
        </a:defRPr>
      </a:lvl6pPr>
      <a:lvl7pPr marL="4389120" algn="l" defTabSz="1463040" rtl="0" eaLnBrk="1" latinLnBrk="0" hangingPunct="1">
        <a:defRPr sz="2900" kern="1200">
          <a:solidFill>
            <a:schemeClr val="tx1"/>
          </a:solidFill>
          <a:latin typeface="+mn-lt"/>
          <a:ea typeface="+mn-ea"/>
          <a:cs typeface="+mn-cs"/>
        </a:defRPr>
      </a:lvl7pPr>
      <a:lvl8pPr marL="5120640" algn="l" defTabSz="1463040" rtl="0" eaLnBrk="1" latinLnBrk="0" hangingPunct="1">
        <a:defRPr sz="2900" kern="1200">
          <a:solidFill>
            <a:schemeClr val="tx1"/>
          </a:solidFill>
          <a:latin typeface="+mn-lt"/>
          <a:ea typeface="+mn-ea"/>
          <a:cs typeface="+mn-cs"/>
        </a:defRPr>
      </a:lvl8pPr>
      <a:lvl9pPr marL="5852160" algn="l" defTabSz="1463040" rtl="0" eaLnBrk="1" latinLnBrk="0" hangingPunct="1">
        <a:defRPr sz="2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2.xml"/><Relationship Id="rId1" Type="http://schemas.openxmlformats.org/officeDocument/2006/relationships/themeOverride" Target="../theme/themeOverride1.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 Target="slide8.xml"/><Relationship Id="rId7" Type="http://schemas.openxmlformats.org/officeDocument/2006/relationships/slide" Target="slide25.xml"/><Relationship Id="rId2" Type="http://schemas.openxmlformats.org/officeDocument/2006/relationships/slide" Target="slide4.xml"/><Relationship Id="rId1" Type="http://schemas.openxmlformats.org/officeDocument/2006/relationships/slideLayout" Target="../slideLayouts/slideLayout1.xml"/><Relationship Id="rId6" Type="http://schemas.openxmlformats.org/officeDocument/2006/relationships/slide" Target="slide21.xml"/><Relationship Id="rId5" Type="http://schemas.openxmlformats.org/officeDocument/2006/relationships/slide" Target="slide15.xml"/><Relationship Id="rId4" Type="http://schemas.openxmlformats.org/officeDocument/2006/relationships/slide" Target="slide12.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slide" Target="slide3.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8" Type="http://schemas.openxmlformats.org/officeDocument/2006/relationships/hyperlink" Target="https://emerson.sharepoint.com/:p:/r/sites/DeltaVDCSSales/Shared%20Documents/DeltaV%20DCS/DeltaV%20Enterprise%20Engineering/Enterprise%20Engineering%20INTERNAL/DelatV%20Enterprise%20Engineering%20Overview.pptx?d=w9a6db8ee7b3a485da6659b57c5e2a645&amp;csf=1&amp;web=1&amp;e=vlxHNf" TargetMode="External"/><Relationship Id="rId13" Type="http://schemas.openxmlformats.org/officeDocument/2006/relationships/image" Target="../media/image20.png"/><Relationship Id="rId18" Type="http://schemas.openxmlformats.org/officeDocument/2006/relationships/image" Target="../media/image13.png"/><Relationship Id="rId3" Type="http://schemas.openxmlformats.org/officeDocument/2006/relationships/hyperlink" Target="https://emerson.sharepoint.com/:b:/r/sites/DeltaVDCSSales/Shared%20Documents/DeltaV%20DCS/DeltaV%20IQ%20Controller/DeltaV%20IQ%20Controller%20Briefcase/DeltaV%20IQ%20Controller%20(PDS).pdf?csf=1&amp;web=1&amp;e=uNxjmc" TargetMode="External"/><Relationship Id="rId7" Type="http://schemas.openxmlformats.org/officeDocument/2006/relationships/hyperlink" Target="https://emerson.sharepoint.com/:b:/r/sites/DeltaVDCSSales/Shared%20Documents/DeltaV%20DCS/DeltaV%20Enterprise%20Engineering/Enterprise%20Engineering%20INTERNAL/DeltaV%20Enterprise%20Engineering%20Product%20Data%20Sheet%20(PDS).pdf?csf=1&amp;web=1&amp;e=Qtx3i1" TargetMode="External"/><Relationship Id="rId12" Type="http://schemas.openxmlformats.org/officeDocument/2006/relationships/image" Target="../media/image19.png"/><Relationship Id="rId17" Type="http://schemas.openxmlformats.org/officeDocument/2006/relationships/slide" Target="slide3.xml"/><Relationship Id="rId2" Type="http://schemas.openxmlformats.org/officeDocument/2006/relationships/notesSlide" Target="../notesSlides/notesSlide8.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hyperlink" Target="https://emerson.sharepoint.com/:p:/r/sites/DeltaVDCSSales/Shared%20Documents/DeltaV%20DCS/DeltaV%20Edge/DeltaV%20Edge%20Environment%20Briefcase/DeltaV%20Live%20Enterprise%20View%20Preview.pptx?d=w4b21cbad1fde490c94200af651ea0fae&amp;csf=1&amp;web=1&amp;e=3O2eR0" TargetMode="External"/><Relationship Id="rId11" Type="http://schemas.openxmlformats.org/officeDocument/2006/relationships/image" Target="../media/image18.png"/><Relationship Id="rId5" Type="http://schemas.openxmlformats.org/officeDocument/2006/relationships/hyperlink" Target="https://www.emerson.com/documents/automation/product-data-sheet-deltav-edge-environment-deltav-en-9573950.pdf" TargetMode="External"/><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hyperlink" Target="https://emerson.sharepoint.com/:p:/r/sites/DeltaVDCSSales/Shared%20Documents/DeltaV%20DCS/DeltaV%20IQ%20Controller/DeltaV%20IQ%20Controller%20Briefcase/IQ%20Controller%20Overview.pptx?d=w1ad14b24a6b644f3aa12fe40341db801&amp;csf=1&amp;web=1&amp;e=FzYmUh" TargetMode="External"/><Relationship Id="rId9" Type="http://schemas.openxmlformats.org/officeDocument/2006/relationships/image" Target="../media/image16.png"/><Relationship Id="rId1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hyperlink" Target="https://emerson.sharepoint.com/:b:/r/sites/DeltaVDCSSales/Shared%20Documents/DeltaV%20DCS/DeltaV%20IQ%20Controller/DeltaV%20IQ%20Controller%20Briefcase/DeltaV%20IQ%20Controller%20(PDS).pdf?csf=1&amp;web=1&amp;e=uNxjmc"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slide" Target="slide3.xml"/><Relationship Id="rId4" Type="http://schemas.openxmlformats.org/officeDocument/2006/relationships/hyperlink" Target="https://emerson.sharepoint.com/:p:/r/sites/DeltaVDCSSales/Shared%20Documents/DeltaV%20DCS/DeltaV%20IQ%20Controller/DeltaV%20IQ%20Controller%20Briefcase/IQ%20Controller%20Overview.pptx?d=w1ad14b24a6b644f3aa12fe40341db801&amp;csf=1&amp;web=1&amp;e=FzYmUh" TargetMode="External"/></Relationships>
</file>

<file path=ppt/slides/_rels/slide1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www.emerson.com/documents/automation/product-data-sheet-deltav-edge-environment-deltav-en-9573950.pdf"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slide" Target="slide3.xml"/><Relationship Id="rId4" Type="http://schemas.openxmlformats.org/officeDocument/2006/relationships/hyperlink" Target="https://emerson.sharepoint.com/:p:/r/sites/DeltaVDCSSales/Shared%20Documents/DeltaV%20DCS/DeltaV%20Edge/DeltaV%20Edge%20Environment%20Briefcase/DeltaV%20Live%20Enterprise%20View%20Preview.pptx?d=w4b21cbad1fde490c94200af651ea0fae&amp;csf=1&amp;web=1&amp;e=3O2eR0"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emerson.sharepoint.com/sites/DeltaVDCSSales/Shared%20Documents/Forms/AllItems.aspx?viewid=53c67b4a%2D7145%2D429c%2D8fcc%2D9ad01620a1d0&amp;csf=1&amp;CID=7171c8ab%2Ddab5%2D4fbf%2Da01c%2D22dc9f7ce058&amp;FolderCTID=0x01200032E6D712A32DFB4CBAAF134F1C405827&amp;id=%2Fsites%2FDeltaVDCSSales%2FShared%20Documents%2FDeltaV%20DCS%2FDeltaV%20Enterprise%20Engineering%20INTERNAL%2FDeltaV%20Enterprise%20Engineering%20Product%20Data%20Sheet%20%28PDS%29%2Epdf&amp;parent=%2Fsites%2FDeltaVDCSSales%2FShared%20Documents%2FDeltaV%20DCS%2FDeltaV%20Enterprise%20Engineering%20INTERNA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slide" Target="slide3.xml"/><Relationship Id="rId4" Type="http://schemas.openxmlformats.org/officeDocument/2006/relationships/hyperlink" Target="https://emerson.sharepoint.com/:p:/r/sites/DeltaVDCSSales/_layouts/15/Doc.aspx?sourcedoc=%7B42A425DF-6CCC-482E-84B3-8566447BD9D5%7D&amp;file=DelatV%20Enterprise%20Engineering%20Overview.pptx&amp;wdLOR=c5BC04121-F6FD-47B8-AF51-6063ECE82E2B&amp;action=edit&amp;mobileredirect=true" TargetMode="External"/></Relationships>
</file>

<file path=ppt/slides/_rels/slide2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slide" Target="slide3.xml"/></Relationships>
</file>

<file path=ppt/slides/_rels/slide23.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8" Type="http://schemas.openxmlformats.org/officeDocument/2006/relationships/hyperlink" Target="mailto:simran.ahuja@emerson.com" TargetMode="External"/><Relationship Id="rId13" Type="http://schemas.openxmlformats.org/officeDocument/2006/relationships/slide" Target="slide3.xml"/><Relationship Id="rId3" Type="http://schemas.openxmlformats.org/officeDocument/2006/relationships/hyperlink" Target="https://emerson.sharepoint.com/:w:/r/sites/NAEMRImpactPartnerSharePoint/DeltaV%20Live%20Incentives/Pioneer%20Program/DeltaV%20Live%20Enterprise%20View%20Pioneer%20Program%20Qualification%20Questionnaire%20(Internal%20Only).docx?d=wa663a975166842ba9b496bfc5324ab78&amp;csf=1&amp;web=1&amp;e=uMS5DH" TargetMode="External"/><Relationship Id="rId7" Type="http://schemas.openxmlformats.org/officeDocument/2006/relationships/hyperlink" Target="mailto:nousha.tayefeh@emerson.com" TargetMode="External"/><Relationship Id="rId12"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mailto:andrew.whitaker@emerson.com" TargetMode="External"/><Relationship Id="rId11" Type="http://schemas.openxmlformats.org/officeDocument/2006/relationships/hyperlink" Target="mailto:curtis.thompson@emerson.com" TargetMode="External"/><Relationship Id="rId5" Type="http://schemas.openxmlformats.org/officeDocument/2006/relationships/hyperlink" Target="mailto:michael.tworzydlo@emerson.com" TargetMode="External"/><Relationship Id="rId10" Type="http://schemas.openxmlformats.org/officeDocument/2006/relationships/hyperlink" Target="mailto:shruti.ronghe@emerson.com" TargetMode="External"/><Relationship Id="rId4" Type="http://schemas.openxmlformats.org/officeDocument/2006/relationships/hyperlink" Target="https://emerson.sharepoint.com/:w:/r/sites/NAEMRImpactPartnerSharePoint/DeltaV%20Live%20Incentives/Pioneer%20Program/DeltaV%20Enterprise%20Engineering%20Pioneer%20Program%20Qualification%20Questionnaire%20(Internal%20Only).docx?d=w10121817baf44062a179cd820a9c469f&amp;csf=1&amp;web=1&amp;e=vNAyFP" TargetMode="External"/><Relationship Id="rId9" Type="http://schemas.openxmlformats.org/officeDocument/2006/relationships/hyperlink" Target="mailto:francisjohn.valmonte@emerson.com" TargetMode="External"/></Relationships>
</file>

<file path=ppt/slides/_rels/slide2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3.xml"/><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79C96F70-773F-0F34-90EB-FBCB3E0CC7C8}"/>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C4DB4A6-61A8-4F9E-BABE-516B8C7A2292}"/>
              </a:ext>
            </a:extLst>
          </p:cNvPr>
          <p:cNvPicPr>
            <a:picLocks noGrp="1" noChangeAspect="1"/>
          </p:cNvPicPr>
          <p:nvPr>
            <p:ph type="pic" sz="quarter" idx="14"/>
          </p:nvPr>
        </p:nvPicPr>
        <p:blipFill>
          <a:blip r:embed="rId4"/>
          <a:srcRect l="15175" t="6520" r="18571" b="11888"/>
          <a:stretch>
            <a:fillRect/>
          </a:stretch>
        </p:blipFill>
        <p:spPr>
          <a:xfrm>
            <a:off x="3274785" y="893584"/>
            <a:ext cx="7460343" cy="6125028"/>
          </a:xfrm>
        </p:spPr>
      </p:pic>
      <p:sp>
        <p:nvSpPr>
          <p:cNvPr id="8" name="Title 10">
            <a:extLst>
              <a:ext uri="{FF2B5EF4-FFF2-40B4-BE49-F238E27FC236}">
                <a16:creationId xmlns:a16="http://schemas.microsoft.com/office/drawing/2014/main" id="{A98B7FE6-3AA5-4BD5-5FB8-3BDD78B537C1}"/>
              </a:ext>
            </a:extLst>
          </p:cNvPr>
          <p:cNvSpPr txBox="1">
            <a:spLocks/>
          </p:cNvSpPr>
          <p:nvPr/>
        </p:nvSpPr>
        <p:spPr>
          <a:xfrm>
            <a:off x="-5" y="-1"/>
            <a:ext cx="3274788" cy="8229601"/>
          </a:xfrm>
          <a:prstGeom prst="rect">
            <a:avLst/>
          </a:prstGeom>
          <a:solidFill>
            <a:srgbClr val="E2E2E7"/>
          </a:solidFill>
        </p:spPr>
        <p:txBody>
          <a:bodyPr/>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endParaRPr lang="en-US" sz="4000" b="1">
              <a:solidFill>
                <a:schemeClr val="tx1"/>
              </a:solidFill>
              <a:latin typeface="Arial Black"/>
              <a:ea typeface="Noto Sans Black"/>
              <a:cs typeface="Noto Sans Black"/>
            </a:endParaRPr>
          </a:p>
        </p:txBody>
      </p:sp>
      <p:sp>
        <p:nvSpPr>
          <p:cNvPr id="9" name="Title 10">
            <a:extLst>
              <a:ext uri="{FF2B5EF4-FFF2-40B4-BE49-F238E27FC236}">
                <a16:creationId xmlns:a16="http://schemas.microsoft.com/office/drawing/2014/main" id="{82D8C60D-5797-AE83-D313-158E1680B717}"/>
              </a:ext>
            </a:extLst>
          </p:cNvPr>
          <p:cNvSpPr txBox="1">
            <a:spLocks/>
          </p:cNvSpPr>
          <p:nvPr/>
        </p:nvSpPr>
        <p:spPr>
          <a:xfrm>
            <a:off x="10735128" y="-2"/>
            <a:ext cx="3895273" cy="8229601"/>
          </a:xfrm>
          <a:prstGeom prst="rect">
            <a:avLst/>
          </a:prstGeom>
          <a:solidFill>
            <a:srgbClr val="E2E2E7"/>
          </a:solidFill>
        </p:spPr>
        <p:txBody>
          <a:bodyPr/>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endParaRPr lang="en-US" sz="4000" b="1">
              <a:solidFill>
                <a:schemeClr val="tx1"/>
              </a:solidFill>
              <a:latin typeface="Arial Black"/>
              <a:ea typeface="Noto Sans Black"/>
              <a:cs typeface="Noto Sans Black"/>
            </a:endParaRPr>
          </a:p>
        </p:txBody>
      </p:sp>
      <p:sp>
        <p:nvSpPr>
          <p:cNvPr id="4" name="Title 10">
            <a:extLst>
              <a:ext uri="{FF2B5EF4-FFF2-40B4-BE49-F238E27FC236}">
                <a16:creationId xmlns:a16="http://schemas.microsoft.com/office/drawing/2014/main" id="{17897CE5-C229-F8F8-9CE3-0BF60B03A087}"/>
              </a:ext>
            </a:extLst>
          </p:cNvPr>
          <p:cNvSpPr txBox="1">
            <a:spLocks/>
          </p:cNvSpPr>
          <p:nvPr/>
        </p:nvSpPr>
        <p:spPr>
          <a:xfrm>
            <a:off x="-6" y="-5"/>
            <a:ext cx="14630405" cy="947841"/>
          </a:xfrm>
          <a:prstGeom prst="rect">
            <a:avLst/>
          </a:prstGeom>
          <a:solidFill>
            <a:srgbClr val="E2E2E7"/>
          </a:solidFill>
        </p:spPr>
        <p:txBody>
          <a:bodyPr/>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endParaRPr lang="en-US" sz="4000" b="1">
              <a:solidFill>
                <a:schemeClr val="tx1"/>
              </a:solidFill>
              <a:latin typeface="Arial Black"/>
              <a:ea typeface="Noto Sans Black"/>
              <a:cs typeface="Noto Sans Black"/>
            </a:endParaRPr>
          </a:p>
        </p:txBody>
      </p:sp>
      <p:sp>
        <p:nvSpPr>
          <p:cNvPr id="7" name="Title 10">
            <a:extLst>
              <a:ext uri="{FF2B5EF4-FFF2-40B4-BE49-F238E27FC236}">
                <a16:creationId xmlns:a16="http://schemas.microsoft.com/office/drawing/2014/main" id="{21AABB93-E617-F151-02E5-8CCB44778D01}"/>
              </a:ext>
            </a:extLst>
          </p:cNvPr>
          <p:cNvSpPr txBox="1">
            <a:spLocks/>
          </p:cNvSpPr>
          <p:nvPr/>
        </p:nvSpPr>
        <p:spPr>
          <a:xfrm>
            <a:off x="-2" y="6687403"/>
            <a:ext cx="14630402" cy="1542196"/>
          </a:xfrm>
          <a:prstGeom prst="rect">
            <a:avLst/>
          </a:prstGeom>
          <a:solidFill>
            <a:srgbClr val="E2E2E7"/>
          </a:solidFill>
        </p:spPr>
        <p:txBody>
          <a:bodyPr tIns="182880" anchor="t"/>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r>
              <a:rPr lang="en-US" sz="4000" b="1">
                <a:solidFill>
                  <a:schemeClr val="tx1"/>
                </a:solidFill>
                <a:latin typeface="Arial Black"/>
                <a:ea typeface="Noto Sans Black"/>
                <a:cs typeface="Noto Sans Black"/>
              </a:rPr>
              <a:t>Pioneer Program Information Packet</a:t>
            </a:r>
          </a:p>
          <a:p>
            <a:pPr algn="ctr"/>
            <a:r>
              <a:rPr lang="en-US" sz="2000" i="1">
                <a:solidFill>
                  <a:schemeClr val="tx1"/>
                </a:solidFill>
                <a:latin typeface="+mn-lt"/>
                <a:ea typeface="Noto Sans Black"/>
                <a:cs typeface="Noto Sans Black"/>
              </a:rPr>
              <a:t>Rev 0 – Internal Only</a:t>
            </a:r>
          </a:p>
        </p:txBody>
      </p:sp>
      <p:pic>
        <p:nvPicPr>
          <p:cNvPr id="15" name="Picture 14">
            <a:extLst>
              <a:ext uri="{FF2B5EF4-FFF2-40B4-BE49-F238E27FC236}">
                <a16:creationId xmlns:a16="http://schemas.microsoft.com/office/drawing/2014/main" id="{65562E2E-A2FA-AA36-B5AC-32806E5DD028}"/>
              </a:ext>
            </a:extLst>
          </p:cNvPr>
          <p:cNvPicPr>
            <a:picLocks noChangeAspect="1"/>
          </p:cNvPicPr>
          <p:nvPr/>
        </p:nvPicPr>
        <p:blipFill>
          <a:blip r:embed="rId5"/>
          <a:stretch>
            <a:fillRect/>
          </a:stretch>
        </p:blipFill>
        <p:spPr>
          <a:xfrm>
            <a:off x="8005469" y="3368006"/>
            <a:ext cx="1094987" cy="615930"/>
          </a:xfrm>
          <a:prstGeom prst="rect">
            <a:avLst/>
          </a:prstGeom>
        </p:spPr>
      </p:pic>
    </p:spTree>
    <p:extLst>
      <p:ext uri="{BB962C8B-B14F-4D97-AF65-F5344CB8AC3E}">
        <p14:creationId xmlns:p14="http://schemas.microsoft.com/office/powerpoint/2010/main" val="323361113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89363-9D50-052A-762D-B876CA5C56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C0E99A-0702-9B0C-2D0E-3AA32A4B7189}"/>
              </a:ext>
            </a:extLst>
          </p:cNvPr>
          <p:cNvSpPr>
            <a:spLocks noGrp="1"/>
          </p:cNvSpPr>
          <p:nvPr>
            <p:ph type="title"/>
          </p:nvPr>
        </p:nvSpPr>
        <p:spPr/>
        <p:txBody>
          <a:bodyPr/>
          <a:lstStyle/>
          <a:p>
            <a:r>
              <a:rPr lang="en-US"/>
              <a:t>Important Information</a:t>
            </a:r>
          </a:p>
        </p:txBody>
      </p:sp>
      <p:sp>
        <p:nvSpPr>
          <p:cNvPr id="6" name="Content Placeholder 5">
            <a:extLst>
              <a:ext uri="{FF2B5EF4-FFF2-40B4-BE49-F238E27FC236}">
                <a16:creationId xmlns:a16="http://schemas.microsoft.com/office/drawing/2014/main" id="{00F97C6D-6552-2E3B-E9F4-5F5D69C84BB9}"/>
              </a:ext>
            </a:extLst>
          </p:cNvPr>
          <p:cNvSpPr>
            <a:spLocks noGrp="1"/>
          </p:cNvSpPr>
          <p:nvPr>
            <p:ph idx="1"/>
          </p:nvPr>
        </p:nvSpPr>
        <p:spPr/>
        <p:txBody>
          <a:bodyPr>
            <a:normAutofit/>
          </a:bodyPr>
          <a:lstStyle/>
          <a:p>
            <a:pPr>
              <a:spcAft>
                <a:spcPts val="1800"/>
              </a:spcAft>
            </a:pPr>
            <a:r>
              <a:rPr lang="en-US"/>
              <a:t>This is an </a:t>
            </a:r>
            <a:r>
              <a:rPr lang="en-US" b="1">
                <a:solidFill>
                  <a:srgbClr val="FF0000"/>
                </a:solidFill>
              </a:rPr>
              <a:t>INTERNAL ONLY DECK</a:t>
            </a:r>
            <a:r>
              <a:rPr lang="en-US"/>
              <a:t>, please do </a:t>
            </a:r>
            <a:r>
              <a:rPr lang="en-US" b="1"/>
              <a:t>not</a:t>
            </a:r>
            <a:r>
              <a:rPr lang="en-US"/>
              <a:t> share with customers at this time.</a:t>
            </a:r>
          </a:p>
          <a:p>
            <a:pPr>
              <a:spcAft>
                <a:spcPts val="1800"/>
              </a:spcAft>
            </a:pPr>
            <a:r>
              <a:rPr lang="en-US"/>
              <a:t>All </a:t>
            </a:r>
            <a:r>
              <a:rPr lang="en-US" u="sng"/>
              <a:t>underlined</a:t>
            </a:r>
            <a:r>
              <a:rPr lang="en-US"/>
              <a:t> phrases are links </a:t>
            </a:r>
          </a:p>
          <a:p>
            <a:pPr>
              <a:spcAft>
                <a:spcPts val="1800"/>
              </a:spcAft>
            </a:pPr>
            <a:r>
              <a:rPr lang="en-US"/>
              <a:t>The </a:t>
            </a:r>
            <a:r>
              <a:rPr lang="en-US" b="1"/>
              <a:t>purpose of this deck </a:t>
            </a:r>
            <a:r>
              <a:rPr lang="en-US"/>
              <a:t>is to: </a:t>
            </a:r>
          </a:p>
          <a:p>
            <a:pPr lvl="1">
              <a:spcAft>
                <a:spcPts val="1800"/>
              </a:spcAft>
            </a:pPr>
            <a:r>
              <a:rPr lang="en-US" sz="1900"/>
              <a:t>Provide a clear overview of the Pioneer Program, including its purpose, structure, and expectations</a:t>
            </a:r>
          </a:p>
          <a:p>
            <a:pPr lvl="1">
              <a:spcAft>
                <a:spcPts val="1800"/>
              </a:spcAft>
            </a:pPr>
            <a:r>
              <a:rPr lang="en-US" sz="1900"/>
              <a:t>Ensure Team Emerson is fully aligned on what the program involves and what participation entails</a:t>
            </a:r>
          </a:p>
          <a:p>
            <a:pPr lvl="1">
              <a:spcAft>
                <a:spcPts val="1800"/>
              </a:spcAft>
            </a:pPr>
            <a:r>
              <a:rPr lang="en-US" sz="1900"/>
              <a:t>Provide next steps to Sales Teams for nomination and submission of customers into the Qualification Process</a:t>
            </a:r>
          </a:p>
        </p:txBody>
      </p:sp>
      <p:pic>
        <p:nvPicPr>
          <p:cNvPr id="8" name="Picture 7">
            <a:extLst>
              <a:ext uri="{FF2B5EF4-FFF2-40B4-BE49-F238E27FC236}">
                <a16:creationId xmlns:a16="http://schemas.microsoft.com/office/drawing/2014/main" id="{333C2C4E-5929-4B4E-BF1D-1EC8FE821C81}"/>
              </a:ext>
            </a:extLst>
          </p:cNvPr>
          <p:cNvPicPr>
            <a:picLocks noChangeAspect="1"/>
          </p:cNvPicPr>
          <p:nvPr/>
        </p:nvPicPr>
        <p:blipFill>
          <a:blip r:embed="rId2"/>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1491333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3A120-1745-F030-CA76-79BD6CACCD2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EFF87F4-0B27-894B-422A-7F2D18BBB9FE}"/>
              </a:ext>
            </a:extLst>
          </p:cNvPr>
          <p:cNvSpPr/>
          <p:nvPr/>
        </p:nvSpPr>
        <p:spPr bwMode="auto">
          <a:xfrm>
            <a:off x="1533107" y="0"/>
            <a:ext cx="1815736" cy="8229600"/>
          </a:xfrm>
          <a:prstGeom prst="rect">
            <a:avLst/>
          </a:prstGeom>
          <a:solidFill>
            <a:schemeClr val="accent1"/>
          </a:solidFill>
          <a:ln w="9525">
            <a:solidFill>
              <a:schemeClr val="tx2"/>
            </a:solid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6" name="Title 5">
            <a:extLst>
              <a:ext uri="{FF2B5EF4-FFF2-40B4-BE49-F238E27FC236}">
                <a16:creationId xmlns:a16="http://schemas.microsoft.com/office/drawing/2014/main" id="{98BE1E7C-7E08-8BC5-B19A-7CE9F569D8E0}"/>
              </a:ext>
            </a:extLst>
          </p:cNvPr>
          <p:cNvSpPr>
            <a:spLocks noGrp="1"/>
          </p:cNvSpPr>
          <p:nvPr>
            <p:ph type="title"/>
          </p:nvPr>
        </p:nvSpPr>
        <p:spPr>
          <a:xfrm>
            <a:off x="3647962" y="319739"/>
            <a:ext cx="10730819" cy="1016350"/>
          </a:xfrm>
        </p:spPr>
        <p:txBody>
          <a:bodyPr/>
          <a:lstStyle/>
          <a:p>
            <a:r>
              <a:rPr lang="en-US">
                <a:latin typeface="Arial Black"/>
                <a:ea typeface="Noto Sans Black"/>
                <a:cs typeface="Noto Sans Black"/>
              </a:rPr>
              <a:t>Table of Contents</a:t>
            </a:r>
            <a:br>
              <a:rPr lang="en-US">
                <a:latin typeface="Arial Black"/>
                <a:ea typeface="Noto Sans Black"/>
                <a:cs typeface="Noto Sans Black"/>
              </a:rPr>
            </a:br>
            <a:r>
              <a:rPr lang="en-US" sz="2400">
                <a:latin typeface="+mn-lt"/>
                <a:ea typeface="Noto Sans Black"/>
                <a:cs typeface="Noto Sans Black"/>
              </a:rPr>
              <a:t>Click to Navigate</a:t>
            </a:r>
            <a:endParaRPr lang="en-US" sz="2400" i="1">
              <a:latin typeface="+mn-lt"/>
              <a:ea typeface="Noto Sans Black"/>
              <a:cs typeface="Noto Sans Black"/>
            </a:endParaRPr>
          </a:p>
        </p:txBody>
      </p:sp>
      <p:graphicFrame>
        <p:nvGraphicFramePr>
          <p:cNvPr id="2" name="Content Placeholder 1">
            <a:extLst>
              <a:ext uri="{FF2B5EF4-FFF2-40B4-BE49-F238E27FC236}">
                <a16:creationId xmlns:a16="http://schemas.microsoft.com/office/drawing/2014/main" id="{CFA233D6-B237-DE11-DB6F-1EAB5CA1B4B9}"/>
              </a:ext>
            </a:extLst>
          </p:cNvPr>
          <p:cNvGraphicFramePr>
            <a:graphicFrameLocks noGrp="1"/>
          </p:cNvGraphicFramePr>
          <p:nvPr>
            <p:ph idx="1"/>
            <p:extLst>
              <p:ext uri="{D42A27DB-BD31-4B8C-83A1-F6EECF244321}">
                <p14:modId xmlns:p14="http://schemas.microsoft.com/office/powerpoint/2010/main" val="4033312396"/>
              </p:ext>
            </p:extLst>
          </p:nvPr>
        </p:nvGraphicFramePr>
        <p:xfrm>
          <a:off x="0" y="1480359"/>
          <a:ext cx="14630400" cy="5268882"/>
        </p:xfrm>
        <a:graphic>
          <a:graphicData uri="http://schemas.openxmlformats.org/drawingml/2006/table">
            <a:tbl>
              <a:tblPr bandRow="1">
                <a:tableStyleId>{3B4B98B0-60AC-42C2-AFA5-B58CD77FA1E5}</a:tableStyleId>
              </a:tblPr>
              <a:tblGrid>
                <a:gridCol w="3422469">
                  <a:extLst>
                    <a:ext uri="{9D8B030D-6E8A-4147-A177-3AD203B41FA5}">
                      <a16:colId xmlns:a16="http://schemas.microsoft.com/office/drawing/2014/main" val="20000"/>
                    </a:ext>
                  </a:extLst>
                </a:gridCol>
                <a:gridCol w="11207931">
                  <a:extLst>
                    <a:ext uri="{9D8B030D-6E8A-4147-A177-3AD203B41FA5}">
                      <a16:colId xmlns:a16="http://schemas.microsoft.com/office/drawing/2014/main" val="20001"/>
                    </a:ext>
                  </a:extLst>
                </a:gridCol>
              </a:tblGrid>
              <a:tr h="878147">
                <a:tc>
                  <a:txBody>
                    <a:bodyPr/>
                    <a:lstStyle/>
                    <a:p>
                      <a:pPr marL="0" indent="0" algn="r">
                        <a:buFont typeface="Arial" panose="020B0604020202020204" pitchFamily="34" charset="0"/>
                        <a:buNone/>
                      </a:pPr>
                      <a:r>
                        <a:rPr lang="en-US" sz="2200" b="0" kern="1200">
                          <a:solidFill>
                            <a:srgbClr val="03614F"/>
                          </a:solidFill>
                          <a:latin typeface="+mj-lt"/>
                          <a:ea typeface="Noto Sans Light"/>
                          <a:cs typeface="Arial" panose="020B0604020202020204" pitchFamily="34" charset="0"/>
                        </a:rPr>
                        <a:t>Chapter 1</a:t>
                      </a:r>
                    </a:p>
                  </a:txBody>
                  <a:tcPr marR="27432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buFont typeface="Arial" panose="020B0604020202020204" pitchFamily="34" charset="0"/>
                        <a:buNone/>
                      </a:pPr>
                      <a:r>
                        <a:rPr lang="en-US" sz="2000">
                          <a:solidFill>
                            <a:schemeClr val="tx1"/>
                          </a:solidFill>
                          <a:hlinkClick r:id="rId2" action="ppaction://hlinksldjump">
                            <a:extLst>
                              <a:ext uri="{A12FA001-AC4F-418D-AE19-62706E023703}">
                                <ahyp:hlinkClr xmlns:ahyp="http://schemas.microsoft.com/office/drawing/2018/hyperlinkcolor" val="tx"/>
                              </a:ext>
                            </a:extLst>
                          </a:hlinkClick>
                        </a:rPr>
                        <a:t>What is the Pioneer Program?</a:t>
                      </a:r>
                      <a:endParaRPr lang="en-US" sz="2000">
                        <a:solidFill>
                          <a:schemeClr val="tx1"/>
                        </a:solidFill>
                        <a:latin typeface="+mn-lt"/>
                        <a:ea typeface="Noto Sans Light"/>
                        <a:cs typeface="Arial" panose="020B0604020202020204" pitchFamily="34" charset="0"/>
                      </a:endParaRPr>
                    </a:p>
                  </a:txBody>
                  <a:tcPr marL="274320" anchor="ctr">
                    <a:lnL>
                      <a:noFill/>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78147">
                <a:tc>
                  <a:txBody>
                    <a:bodyPr/>
                    <a:lstStyle/>
                    <a:p>
                      <a:pPr marL="0" marR="0" lvl="0" indent="0" algn="r"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0" kern="1200">
                          <a:solidFill>
                            <a:srgbClr val="118C9C"/>
                          </a:solidFill>
                          <a:latin typeface="+mj-lt"/>
                          <a:ea typeface="Noto Sans Light"/>
                          <a:cs typeface="Arial" panose="020B0604020202020204" pitchFamily="34" charset="0"/>
                        </a:rPr>
                        <a:t>Chapter 2</a:t>
                      </a:r>
                    </a:p>
                  </a:txBody>
                  <a:tcPr marR="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a:solidFill>
                            <a:schemeClr val="tx1"/>
                          </a:solidFill>
                          <a:hlinkClick r:id="rId3" action="ppaction://hlinksldjump">
                            <a:extLst>
                              <a:ext uri="{A12FA001-AC4F-418D-AE19-62706E023703}">
                                <ahyp:hlinkClr xmlns:ahyp="http://schemas.microsoft.com/office/drawing/2018/hyperlinkcolor" val="tx"/>
                              </a:ext>
                            </a:extLst>
                          </a:hlinkClick>
                        </a:rPr>
                        <a:t>How Does the Program Work Across Team Emerson?</a:t>
                      </a:r>
                      <a:endParaRPr lang="en-US" sz="2000">
                        <a:solidFill>
                          <a:schemeClr val="tx1"/>
                        </a:solidFill>
                        <a:latin typeface="+mn-lt"/>
                        <a:ea typeface="Noto Sans Light"/>
                        <a:cs typeface="Arial" panose="020B0604020202020204" pitchFamily="34" charset="0"/>
                      </a:endParaRPr>
                    </a:p>
                  </a:txBody>
                  <a:tcPr marL="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7663489"/>
                  </a:ext>
                </a:extLst>
              </a:tr>
              <a:tr h="878147">
                <a:tc>
                  <a:txBody>
                    <a:bodyPr/>
                    <a:lstStyle/>
                    <a:p>
                      <a:pPr marL="0" marR="0" lvl="0" indent="0" algn="r"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0" kern="1200">
                          <a:solidFill>
                            <a:srgbClr val="1DB1DD"/>
                          </a:solidFill>
                          <a:latin typeface="+mj-lt"/>
                          <a:ea typeface="Noto Sans Light"/>
                          <a:cs typeface="Arial" panose="020B0604020202020204" pitchFamily="34" charset="0"/>
                        </a:rPr>
                        <a:t>Chapter 3</a:t>
                      </a:r>
                    </a:p>
                  </a:txBody>
                  <a:tcPr marR="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a:solidFill>
                            <a:schemeClr val="tx1"/>
                          </a:solidFill>
                          <a:hlinkClick r:id="rId4" action="ppaction://hlinksldjump">
                            <a:extLst>
                              <a:ext uri="{A12FA001-AC4F-418D-AE19-62706E023703}">
                                <ahyp:hlinkClr xmlns:ahyp="http://schemas.microsoft.com/office/drawing/2018/hyperlinkcolor" val="tx"/>
                              </a:ext>
                            </a:extLst>
                          </a:hlinkClick>
                        </a:rPr>
                        <a:t>What Products are Included, and How are Customers Selected?</a:t>
                      </a:r>
                      <a:endParaRPr lang="en-US" sz="2000">
                        <a:solidFill>
                          <a:schemeClr val="tx1"/>
                        </a:solidFill>
                        <a:latin typeface="+mn-lt"/>
                        <a:ea typeface="Noto Sans Light"/>
                        <a:cs typeface="Arial" panose="020B0604020202020204" pitchFamily="34" charset="0"/>
                      </a:endParaRPr>
                    </a:p>
                  </a:txBody>
                  <a:tcPr marL="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878147">
                <a:tc>
                  <a:txBody>
                    <a:bodyPr/>
                    <a:lstStyle/>
                    <a:p>
                      <a:pPr marL="0" marR="0" lvl="0" indent="0" algn="r"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0" kern="1200">
                          <a:solidFill>
                            <a:srgbClr val="1891B5"/>
                          </a:solidFill>
                          <a:latin typeface="+mj-lt"/>
                          <a:ea typeface="Noto Sans Light"/>
                          <a:cs typeface="Arial" panose="020B0604020202020204" pitchFamily="34" charset="0"/>
                        </a:rPr>
                        <a:t>Chapter 4</a:t>
                      </a:r>
                    </a:p>
                  </a:txBody>
                  <a:tcPr marR="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buFont typeface="Arial" panose="020B0604020202020204" pitchFamily="34" charset="0"/>
                        <a:buNone/>
                      </a:pPr>
                      <a:r>
                        <a:rPr lang="en-US" sz="2000">
                          <a:solidFill>
                            <a:schemeClr val="tx1"/>
                          </a:solidFill>
                          <a:latin typeface="+mn-lt"/>
                          <a:ea typeface="Noto Sans Light"/>
                          <a:cs typeface="Arial" panose="020B0604020202020204" pitchFamily="34" charset="0"/>
                          <a:hlinkClick r:id="rId5" action="ppaction://hlinksldjump">
                            <a:extLst>
                              <a:ext uri="{A12FA001-AC4F-418D-AE19-62706E023703}">
                                <ahyp:hlinkClr xmlns:ahyp="http://schemas.microsoft.com/office/drawing/2018/hyperlinkcolor" val="tx"/>
                              </a:ext>
                            </a:extLst>
                          </a:hlinkClick>
                        </a:rPr>
                        <a:t>What Does Each Program Entail? Incentives, Prerequisites, Ideal Applications, Timelines</a:t>
                      </a:r>
                      <a:endParaRPr lang="en-US" sz="2000">
                        <a:solidFill>
                          <a:schemeClr val="tx1"/>
                        </a:solidFill>
                        <a:latin typeface="+mn-lt"/>
                        <a:ea typeface="Noto Sans Light"/>
                        <a:cs typeface="Arial" panose="020B0604020202020204" pitchFamily="34" charset="0"/>
                      </a:endParaRPr>
                    </a:p>
                  </a:txBody>
                  <a:tcPr marL="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878147">
                <a:tc>
                  <a:txBody>
                    <a:bodyPr/>
                    <a:lstStyle/>
                    <a:p>
                      <a:pPr marL="0" marR="0" lvl="0" indent="0" algn="r"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0" kern="1200">
                          <a:solidFill>
                            <a:srgbClr val="186389"/>
                          </a:solidFill>
                          <a:latin typeface="+mj-lt"/>
                          <a:ea typeface="Noto Sans Light"/>
                          <a:cs typeface="Arial" panose="020B0604020202020204" pitchFamily="34" charset="0"/>
                        </a:rPr>
                        <a:t>Chapter 5</a:t>
                      </a:r>
                    </a:p>
                  </a:txBody>
                  <a:tcPr marR="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buFont typeface="Arial" panose="020B0604020202020204" pitchFamily="34" charset="0"/>
                        <a:buNone/>
                      </a:pPr>
                      <a:r>
                        <a:rPr lang="en-US" sz="2000" u="none">
                          <a:solidFill>
                            <a:schemeClr val="tx1"/>
                          </a:solidFill>
                          <a:latin typeface="+mn-lt"/>
                          <a:ea typeface="Noto Sans Light"/>
                          <a:cs typeface="Arial" panose="020B0604020202020204" pitchFamily="34" charset="0"/>
                          <a:hlinkClick r:id="rId6" action="ppaction://hlinksldjump">
                            <a:extLst>
                              <a:ext uri="{A12FA001-AC4F-418D-AE19-62706E023703}">
                                <ahyp:hlinkClr xmlns:ahyp="http://schemas.microsoft.com/office/drawing/2018/hyperlinkcolor" val="tx"/>
                              </a:ext>
                            </a:extLst>
                          </a:hlinkClick>
                        </a:rPr>
                        <a:t>What Are Next Steps?</a:t>
                      </a:r>
                      <a:endParaRPr lang="en-US" sz="2000" u="none">
                        <a:solidFill>
                          <a:schemeClr val="tx1"/>
                        </a:solidFill>
                        <a:latin typeface="+mn-lt"/>
                        <a:ea typeface="Noto Sans Light"/>
                        <a:cs typeface="Arial" panose="020B0604020202020204" pitchFamily="34" charset="0"/>
                      </a:endParaRPr>
                    </a:p>
                  </a:txBody>
                  <a:tcPr marL="27432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878147">
                <a:tc>
                  <a:txBody>
                    <a:bodyPr/>
                    <a:lstStyle/>
                    <a:p>
                      <a:pPr marL="0" marR="0" lvl="0" indent="0" algn="r"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200" b="0" kern="1200">
                          <a:solidFill>
                            <a:srgbClr val="1A305C"/>
                          </a:solidFill>
                          <a:latin typeface="+mj-lt"/>
                          <a:ea typeface="Noto Sans Light"/>
                          <a:cs typeface="Arial" panose="020B0604020202020204" pitchFamily="34" charset="0"/>
                        </a:rPr>
                        <a:t>Chapter 6</a:t>
                      </a:r>
                    </a:p>
                  </a:txBody>
                  <a:tcPr marR="2743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a:solidFill>
                            <a:schemeClr val="tx1"/>
                          </a:solidFill>
                          <a:hlinkClick r:id="rId7" action="ppaction://hlinksldjump">
                            <a:extLst>
                              <a:ext uri="{A12FA001-AC4F-418D-AE19-62706E023703}">
                                <ahyp:hlinkClr xmlns:ahyp="http://schemas.microsoft.com/office/drawing/2018/hyperlinkcolor" val="tx"/>
                              </a:ext>
                            </a:extLst>
                          </a:hlinkClick>
                        </a:rPr>
                        <a:t>Frequently Asked Questions</a:t>
                      </a:r>
                      <a:endParaRPr lang="en-US" sz="2000">
                        <a:solidFill>
                          <a:schemeClr val="tx1"/>
                        </a:solidFill>
                        <a:latin typeface="+mn-lt"/>
                        <a:ea typeface="Noto Sans Light"/>
                        <a:cs typeface="Arial" panose="020B0604020202020204" pitchFamily="34" charset="0"/>
                      </a:endParaRPr>
                    </a:p>
                  </a:txBody>
                  <a:tcPr marL="274320" anchor="ctr">
                    <a:lnL>
                      <a:noFill/>
                    </a:lnL>
                    <a:lnR>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6263301"/>
                  </a:ext>
                </a:extLst>
              </a:tr>
            </a:tbl>
          </a:graphicData>
        </a:graphic>
      </p:graphicFrame>
      <p:pic>
        <p:nvPicPr>
          <p:cNvPr id="9" name="Picture 8">
            <a:extLst>
              <a:ext uri="{FF2B5EF4-FFF2-40B4-BE49-F238E27FC236}">
                <a16:creationId xmlns:a16="http://schemas.microsoft.com/office/drawing/2014/main" id="{667217DD-BD16-5FE5-32E8-D2641D2C7EF5}"/>
              </a:ext>
            </a:extLst>
          </p:cNvPr>
          <p:cNvPicPr>
            <a:picLocks noChangeAspect="1"/>
          </p:cNvPicPr>
          <p:nvPr/>
        </p:nvPicPr>
        <p:blipFill>
          <a:blip r:embed="rId8"/>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661878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F89944-1C2C-E2BA-98BE-2A20246B8B58}"/>
              </a:ext>
            </a:extLst>
          </p:cNvPr>
          <p:cNvSpPr>
            <a:spLocks noGrp="1"/>
          </p:cNvSpPr>
          <p:nvPr>
            <p:ph type="title"/>
          </p:nvPr>
        </p:nvSpPr>
        <p:spPr/>
        <p:txBody>
          <a:bodyPr>
            <a:normAutofit/>
          </a:bodyPr>
          <a:lstStyle/>
          <a:p>
            <a:r>
              <a:rPr lang="en-US" sz="3600"/>
              <a:t>What is the Pioneer Program?</a:t>
            </a:r>
          </a:p>
        </p:txBody>
      </p:sp>
      <p:sp>
        <p:nvSpPr>
          <p:cNvPr id="2" name="Arrow: Left 1">
            <a:hlinkClick r:id="rId2" action="ppaction://hlinksldjump"/>
            <a:extLst>
              <a:ext uri="{FF2B5EF4-FFF2-40B4-BE49-F238E27FC236}">
                <a16:creationId xmlns:a16="http://schemas.microsoft.com/office/drawing/2014/main" id="{F5B1E280-85FF-4EC3-DF32-B4B4F5CDD33F}"/>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
        <p:nvSpPr>
          <p:cNvPr id="5" name="TextBox 4">
            <a:extLst>
              <a:ext uri="{FF2B5EF4-FFF2-40B4-BE49-F238E27FC236}">
                <a16:creationId xmlns:a16="http://schemas.microsoft.com/office/drawing/2014/main" id="{DE104073-077C-3D9B-4F1D-23D82D3B2175}"/>
              </a:ext>
            </a:extLst>
          </p:cNvPr>
          <p:cNvSpPr txBox="1"/>
          <p:nvPr/>
        </p:nvSpPr>
        <p:spPr>
          <a:xfrm>
            <a:off x="0" y="1973179"/>
            <a:ext cx="8124324" cy="1756610"/>
          </a:xfrm>
          <a:prstGeom prst="rect">
            <a:avLst/>
          </a:prstGeom>
          <a:solidFill>
            <a:schemeClr val="bg1">
              <a:alpha val="90000"/>
            </a:schemeClr>
          </a:solidFill>
        </p:spPr>
        <p:txBody>
          <a:bodyPr wrap="square" rIns="274320" anchor="ctr">
            <a:noAutofit/>
          </a:bodyPr>
          <a:lstStyle/>
          <a:p>
            <a:pPr marL="0" indent="0" algn="r">
              <a:buFont typeface="Arial" panose="020B0604020202020204" pitchFamily="34" charset="0"/>
              <a:buNone/>
            </a:pPr>
            <a:r>
              <a:rPr lang="en-US" sz="3200" b="0" kern="1200">
                <a:solidFill>
                  <a:srgbClr val="03614F"/>
                </a:solidFill>
                <a:latin typeface="+mj-lt"/>
                <a:ea typeface="Noto Sans Light"/>
                <a:cs typeface="Arial" panose="020B0604020202020204" pitchFamily="34" charset="0"/>
              </a:rPr>
              <a:t>Chapter 1</a:t>
            </a:r>
          </a:p>
        </p:txBody>
      </p:sp>
    </p:spTree>
    <p:extLst>
      <p:ext uri="{BB962C8B-B14F-4D97-AF65-F5344CB8AC3E}">
        <p14:creationId xmlns:p14="http://schemas.microsoft.com/office/powerpoint/2010/main" val="1187561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15860-3807-2E2A-34D9-41DBD8598E65}"/>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42EF9D38-22AE-7428-49A2-C1BA1F9F2D5D}"/>
              </a:ext>
            </a:extLst>
          </p:cNvPr>
          <p:cNvSpPr/>
          <p:nvPr/>
        </p:nvSpPr>
        <p:spPr bwMode="auto">
          <a:xfrm>
            <a:off x="994380" y="3904653"/>
            <a:ext cx="1267389" cy="2188949"/>
          </a:xfrm>
          <a:prstGeom prst="rect">
            <a:avLst/>
          </a:prstGeom>
          <a:noFill/>
          <a:ln w="76200">
            <a:solidFill>
              <a:srgbClr val="FFFF00"/>
            </a:solidFill>
            <a:round/>
            <a:headEnd/>
            <a:tailEnd/>
          </a:ln>
          <a:effectLst>
            <a:glow rad="63500">
              <a:srgbClr val="EACD1E">
                <a:alpha val="40000"/>
              </a:srgbClr>
            </a:glow>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2" name="Title 1">
            <a:extLst>
              <a:ext uri="{FF2B5EF4-FFF2-40B4-BE49-F238E27FC236}">
                <a16:creationId xmlns:a16="http://schemas.microsoft.com/office/drawing/2014/main" id="{0D4CE879-653E-BED0-457E-88E7AEDB51E2}"/>
              </a:ext>
            </a:extLst>
          </p:cNvPr>
          <p:cNvSpPr>
            <a:spLocks noGrp="1"/>
          </p:cNvSpPr>
          <p:nvPr>
            <p:ph type="title"/>
          </p:nvPr>
        </p:nvSpPr>
        <p:spPr/>
        <p:txBody>
          <a:bodyPr>
            <a:normAutofit/>
          </a:bodyPr>
          <a:lstStyle/>
          <a:p>
            <a:r>
              <a:rPr lang="en-US"/>
              <a:t>Pioneer Program is </a:t>
            </a:r>
            <a:r>
              <a:rPr lang="en-US">
                <a:solidFill>
                  <a:schemeClr val="accent4"/>
                </a:solidFill>
              </a:rPr>
              <a:t>One Option </a:t>
            </a:r>
            <a:r>
              <a:rPr lang="en-US"/>
              <a:t>Amongst the New DeltaV DCS Subscription Structured Incentives Available</a:t>
            </a:r>
          </a:p>
        </p:txBody>
      </p:sp>
      <p:sp>
        <p:nvSpPr>
          <p:cNvPr id="40" name="TextBox 39">
            <a:extLst>
              <a:ext uri="{FF2B5EF4-FFF2-40B4-BE49-F238E27FC236}">
                <a16:creationId xmlns:a16="http://schemas.microsoft.com/office/drawing/2014/main" id="{140C3A17-4FA6-BB06-F19A-CCE22B8D189A}"/>
              </a:ext>
            </a:extLst>
          </p:cNvPr>
          <p:cNvSpPr txBox="1"/>
          <p:nvPr/>
        </p:nvSpPr>
        <p:spPr>
          <a:xfrm>
            <a:off x="380388" y="2696101"/>
            <a:ext cx="2250938" cy="800219"/>
          </a:xfrm>
          <a:prstGeom prst="rect">
            <a:avLst/>
          </a:prstGeom>
          <a:noFill/>
        </p:spPr>
        <p:txBody>
          <a:bodyPr wrap="square" rtlCol="0">
            <a:spAutoFit/>
          </a:bodyPr>
          <a:lstStyle/>
          <a:p>
            <a:r>
              <a:rPr lang="en-US" sz="1600" b="1"/>
              <a:t>Innovators</a:t>
            </a:r>
            <a:r>
              <a:rPr lang="en-US" sz="1800" b="1"/>
              <a:t> </a:t>
            </a:r>
            <a:r>
              <a:rPr lang="en-US" sz="1400" i="1"/>
              <a:t>Limited Awareness, Skeptical Installed Base</a:t>
            </a:r>
          </a:p>
        </p:txBody>
      </p:sp>
      <p:sp>
        <p:nvSpPr>
          <p:cNvPr id="42" name="TextBox 41">
            <a:extLst>
              <a:ext uri="{FF2B5EF4-FFF2-40B4-BE49-F238E27FC236}">
                <a16:creationId xmlns:a16="http://schemas.microsoft.com/office/drawing/2014/main" id="{CFB9C7A6-2081-A60F-8378-3A9CB9601FF4}"/>
              </a:ext>
            </a:extLst>
          </p:cNvPr>
          <p:cNvSpPr txBox="1"/>
          <p:nvPr/>
        </p:nvSpPr>
        <p:spPr>
          <a:xfrm>
            <a:off x="2483142" y="2136834"/>
            <a:ext cx="2353960" cy="769441"/>
          </a:xfrm>
          <a:prstGeom prst="rect">
            <a:avLst/>
          </a:prstGeom>
          <a:noFill/>
        </p:spPr>
        <p:txBody>
          <a:bodyPr wrap="square" rtlCol="0">
            <a:spAutoFit/>
          </a:bodyPr>
          <a:lstStyle/>
          <a:p>
            <a:r>
              <a:rPr lang="en-US" sz="1600" b="1"/>
              <a:t>Early Adopters </a:t>
            </a:r>
            <a:r>
              <a:rPr lang="en-US" sz="1400" i="1"/>
              <a:t>High Uncertainty, Heavy Sales Enablement</a:t>
            </a:r>
          </a:p>
        </p:txBody>
      </p:sp>
      <p:sp>
        <p:nvSpPr>
          <p:cNvPr id="43" name="TextBox 42">
            <a:extLst>
              <a:ext uri="{FF2B5EF4-FFF2-40B4-BE49-F238E27FC236}">
                <a16:creationId xmlns:a16="http://schemas.microsoft.com/office/drawing/2014/main" id="{4A3B53F8-25A7-DBFB-5FD6-735A35E937E1}"/>
              </a:ext>
            </a:extLst>
          </p:cNvPr>
          <p:cNvSpPr txBox="1"/>
          <p:nvPr/>
        </p:nvSpPr>
        <p:spPr>
          <a:xfrm>
            <a:off x="4478919" y="1394794"/>
            <a:ext cx="2474150" cy="769441"/>
          </a:xfrm>
          <a:prstGeom prst="rect">
            <a:avLst/>
          </a:prstGeom>
          <a:noFill/>
        </p:spPr>
        <p:txBody>
          <a:bodyPr wrap="square" rtlCol="0">
            <a:spAutoFit/>
          </a:bodyPr>
          <a:lstStyle/>
          <a:p>
            <a:r>
              <a:rPr lang="en-US" sz="1600" b="1"/>
              <a:t>Early Majority </a:t>
            </a:r>
            <a:r>
              <a:rPr lang="en-US" sz="1400" i="1"/>
              <a:t>Product Established, Ramp-up Pricing Pressure</a:t>
            </a:r>
          </a:p>
        </p:txBody>
      </p:sp>
      <p:sp>
        <p:nvSpPr>
          <p:cNvPr id="44" name="TextBox 43">
            <a:extLst>
              <a:ext uri="{FF2B5EF4-FFF2-40B4-BE49-F238E27FC236}">
                <a16:creationId xmlns:a16="http://schemas.microsoft.com/office/drawing/2014/main" id="{E9283817-5B34-3922-11D9-AD2B07F975BC}"/>
              </a:ext>
            </a:extLst>
          </p:cNvPr>
          <p:cNvSpPr txBox="1"/>
          <p:nvPr/>
        </p:nvSpPr>
        <p:spPr>
          <a:xfrm>
            <a:off x="8988067" y="1610237"/>
            <a:ext cx="2103469" cy="338554"/>
          </a:xfrm>
          <a:prstGeom prst="rect">
            <a:avLst/>
          </a:prstGeom>
          <a:noFill/>
        </p:spPr>
        <p:txBody>
          <a:bodyPr wrap="square" rtlCol="0">
            <a:spAutoFit/>
          </a:bodyPr>
          <a:lstStyle/>
          <a:p>
            <a:r>
              <a:rPr lang="en-US" sz="1600" b="1"/>
              <a:t>Late Majority</a:t>
            </a:r>
          </a:p>
        </p:txBody>
      </p:sp>
      <p:sp>
        <p:nvSpPr>
          <p:cNvPr id="45" name="TextBox 44">
            <a:extLst>
              <a:ext uri="{FF2B5EF4-FFF2-40B4-BE49-F238E27FC236}">
                <a16:creationId xmlns:a16="http://schemas.microsoft.com/office/drawing/2014/main" id="{744690B3-BDB3-D0E5-8BF1-F261F84388E4}"/>
              </a:ext>
            </a:extLst>
          </p:cNvPr>
          <p:cNvSpPr txBox="1"/>
          <p:nvPr/>
        </p:nvSpPr>
        <p:spPr>
          <a:xfrm>
            <a:off x="10925881" y="2348491"/>
            <a:ext cx="2103469" cy="338554"/>
          </a:xfrm>
          <a:prstGeom prst="rect">
            <a:avLst/>
          </a:prstGeom>
          <a:noFill/>
        </p:spPr>
        <p:txBody>
          <a:bodyPr wrap="square" rtlCol="0">
            <a:spAutoFit/>
          </a:bodyPr>
          <a:lstStyle/>
          <a:p>
            <a:r>
              <a:rPr lang="en-US" sz="1600" b="1"/>
              <a:t>Skeptics</a:t>
            </a:r>
            <a:endParaRPr lang="en-US" sz="1800" b="1"/>
          </a:p>
        </p:txBody>
      </p:sp>
      <p:cxnSp>
        <p:nvCxnSpPr>
          <p:cNvPr id="8" name="Straight Connector 7">
            <a:extLst>
              <a:ext uri="{FF2B5EF4-FFF2-40B4-BE49-F238E27FC236}">
                <a16:creationId xmlns:a16="http://schemas.microsoft.com/office/drawing/2014/main" id="{BF1D702C-A467-9E94-7D4D-5CBC1ED339C6}"/>
              </a:ext>
            </a:extLst>
          </p:cNvPr>
          <p:cNvCxnSpPr>
            <a:cxnSpLocks/>
          </p:cNvCxnSpPr>
          <p:nvPr/>
        </p:nvCxnSpPr>
        <p:spPr bwMode="auto">
          <a:xfrm>
            <a:off x="1628706" y="3595459"/>
            <a:ext cx="0" cy="538215"/>
          </a:xfrm>
          <a:prstGeom prst="line">
            <a:avLst/>
          </a:prstGeom>
          <a:ln>
            <a:solidFill>
              <a:srgbClr val="00573D"/>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CE038B73-4FB6-85CE-C754-2914327E0423}"/>
              </a:ext>
            </a:extLst>
          </p:cNvPr>
          <p:cNvSpPr/>
          <p:nvPr/>
        </p:nvSpPr>
        <p:spPr bwMode="auto">
          <a:xfrm>
            <a:off x="1514406" y="4053030"/>
            <a:ext cx="228600" cy="228600"/>
          </a:xfrm>
          <a:prstGeom prst="ellipse">
            <a:avLst/>
          </a:prstGeom>
          <a:solidFill>
            <a:schemeClr val="accent2"/>
          </a:solidFill>
          <a:ln>
            <a:headEnd/>
            <a:tailEnd/>
          </a:ln>
        </p:spPr>
        <p:style>
          <a:lnRef idx="2">
            <a:schemeClr val="accent2"/>
          </a:lnRef>
          <a:fillRef idx="1">
            <a:schemeClr val="lt1"/>
          </a:fillRef>
          <a:effectRef idx="0">
            <a:schemeClr val="accent2"/>
          </a:effectRef>
          <a:fontRef idx="minor">
            <a:schemeClr val="dk1"/>
          </a:fontRef>
        </p:style>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0" name="TextBox 9">
            <a:extLst>
              <a:ext uri="{FF2B5EF4-FFF2-40B4-BE49-F238E27FC236}">
                <a16:creationId xmlns:a16="http://schemas.microsoft.com/office/drawing/2014/main" id="{49B0BBFA-BE8F-A748-9129-3A4C39851F04}"/>
              </a:ext>
            </a:extLst>
          </p:cNvPr>
          <p:cNvSpPr txBox="1"/>
          <p:nvPr/>
        </p:nvSpPr>
        <p:spPr>
          <a:xfrm>
            <a:off x="503237" y="4338919"/>
            <a:ext cx="2250938" cy="646331"/>
          </a:xfrm>
          <a:prstGeom prst="rect">
            <a:avLst/>
          </a:prstGeom>
          <a:noFill/>
        </p:spPr>
        <p:txBody>
          <a:bodyPr wrap="square" rtlCol="0">
            <a:spAutoFit/>
          </a:bodyPr>
          <a:lstStyle/>
          <a:p>
            <a:pPr algn="ctr"/>
            <a:r>
              <a:rPr lang="en-US" sz="1800" b="1">
                <a:solidFill>
                  <a:schemeClr val="accent2"/>
                </a:solidFill>
              </a:rPr>
              <a:t>Pioneer </a:t>
            </a:r>
          </a:p>
          <a:p>
            <a:pPr algn="ctr"/>
            <a:r>
              <a:rPr lang="en-US" sz="1800" b="1">
                <a:solidFill>
                  <a:schemeClr val="accent2"/>
                </a:solidFill>
              </a:rPr>
              <a:t>Program</a:t>
            </a:r>
          </a:p>
        </p:txBody>
      </p:sp>
      <p:cxnSp>
        <p:nvCxnSpPr>
          <p:cNvPr id="14" name="Straight Connector 13">
            <a:extLst>
              <a:ext uri="{FF2B5EF4-FFF2-40B4-BE49-F238E27FC236}">
                <a16:creationId xmlns:a16="http://schemas.microsoft.com/office/drawing/2014/main" id="{29E13E51-B73F-549E-CDC0-AED51F3D1867}"/>
              </a:ext>
            </a:extLst>
          </p:cNvPr>
          <p:cNvCxnSpPr/>
          <p:nvPr/>
        </p:nvCxnSpPr>
        <p:spPr bwMode="auto">
          <a:xfrm>
            <a:off x="3000882" y="3478363"/>
            <a:ext cx="0" cy="655667"/>
          </a:xfrm>
          <a:prstGeom prst="line">
            <a:avLst/>
          </a:prstGeom>
          <a:ln>
            <a:solidFill>
              <a:srgbClr val="1DB1DE"/>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8EDFDF88-F0E8-D272-F86C-DF832E30A4BA}"/>
              </a:ext>
            </a:extLst>
          </p:cNvPr>
          <p:cNvSpPr/>
          <p:nvPr/>
        </p:nvSpPr>
        <p:spPr bwMode="auto">
          <a:xfrm>
            <a:off x="2886582" y="4053386"/>
            <a:ext cx="228600" cy="228600"/>
          </a:xfrm>
          <a:prstGeom prst="ellipse">
            <a:avLst/>
          </a:prstGeom>
          <a:solidFill>
            <a:schemeClr val="accent4"/>
          </a:solidFill>
          <a:ln>
            <a:headEnd/>
            <a:tailEnd/>
          </a:ln>
        </p:spPr>
        <p:style>
          <a:lnRef idx="2">
            <a:schemeClr val="accent4"/>
          </a:lnRef>
          <a:fillRef idx="1">
            <a:schemeClr val="lt1"/>
          </a:fillRef>
          <a:effectRef idx="0">
            <a:schemeClr val="accent4"/>
          </a:effectRef>
          <a:fontRef idx="minor">
            <a:schemeClr val="dk1"/>
          </a:fontRef>
        </p:style>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6" name="TextBox 15">
            <a:extLst>
              <a:ext uri="{FF2B5EF4-FFF2-40B4-BE49-F238E27FC236}">
                <a16:creationId xmlns:a16="http://schemas.microsoft.com/office/drawing/2014/main" id="{D2794FDB-1981-BDB0-4756-26387F2DEC8D}"/>
              </a:ext>
            </a:extLst>
          </p:cNvPr>
          <p:cNvSpPr txBox="1"/>
          <p:nvPr/>
        </p:nvSpPr>
        <p:spPr>
          <a:xfrm>
            <a:off x="1707103" y="4337792"/>
            <a:ext cx="2587558" cy="923330"/>
          </a:xfrm>
          <a:prstGeom prst="rect">
            <a:avLst/>
          </a:prstGeom>
          <a:noFill/>
        </p:spPr>
        <p:txBody>
          <a:bodyPr wrap="square" rtlCol="0">
            <a:spAutoFit/>
          </a:bodyPr>
          <a:lstStyle/>
          <a:p>
            <a:pPr algn="ctr"/>
            <a:r>
              <a:rPr lang="en-US" sz="1800" b="1">
                <a:solidFill>
                  <a:schemeClr val="accent4"/>
                </a:solidFill>
              </a:rPr>
              <a:t>Loyalty </a:t>
            </a:r>
          </a:p>
          <a:p>
            <a:pPr algn="ctr"/>
            <a:r>
              <a:rPr lang="en-US" sz="1800" b="1">
                <a:solidFill>
                  <a:schemeClr val="accent4"/>
                </a:solidFill>
              </a:rPr>
              <a:t>Program</a:t>
            </a:r>
          </a:p>
          <a:p>
            <a:pPr algn="ctr"/>
            <a:endParaRPr lang="en-US" sz="1800" b="1">
              <a:solidFill>
                <a:schemeClr val="accent4"/>
              </a:solidFill>
            </a:endParaRPr>
          </a:p>
        </p:txBody>
      </p:sp>
      <p:cxnSp>
        <p:nvCxnSpPr>
          <p:cNvPr id="17" name="Straight Connector 16">
            <a:extLst>
              <a:ext uri="{FF2B5EF4-FFF2-40B4-BE49-F238E27FC236}">
                <a16:creationId xmlns:a16="http://schemas.microsoft.com/office/drawing/2014/main" id="{96CF10BF-DBDB-616B-8CA1-F871262623D5}"/>
              </a:ext>
            </a:extLst>
          </p:cNvPr>
          <p:cNvCxnSpPr/>
          <p:nvPr/>
        </p:nvCxnSpPr>
        <p:spPr bwMode="auto">
          <a:xfrm>
            <a:off x="6449663" y="3487253"/>
            <a:ext cx="0" cy="655667"/>
          </a:xfrm>
          <a:prstGeom prst="lin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cxnSp>
      <p:sp>
        <p:nvSpPr>
          <p:cNvPr id="18" name="Oval 17">
            <a:extLst>
              <a:ext uri="{FF2B5EF4-FFF2-40B4-BE49-F238E27FC236}">
                <a16:creationId xmlns:a16="http://schemas.microsoft.com/office/drawing/2014/main" id="{F1BC358F-BFA5-3D31-DAFE-90BFC23E2867}"/>
              </a:ext>
            </a:extLst>
          </p:cNvPr>
          <p:cNvSpPr/>
          <p:nvPr/>
        </p:nvSpPr>
        <p:spPr bwMode="auto">
          <a:xfrm>
            <a:off x="6335363" y="4062276"/>
            <a:ext cx="228600" cy="228600"/>
          </a:xfrm>
          <a:prstGeom prst="ellipse">
            <a:avLst/>
          </a:prstGeom>
          <a:solidFill>
            <a:schemeClr val="accent3"/>
          </a:solidFill>
          <a:ln>
            <a:headEnd/>
            <a:tailEnd/>
          </a:ln>
        </p:spPr>
        <p:style>
          <a:lnRef idx="2">
            <a:schemeClr val="accent3"/>
          </a:lnRef>
          <a:fillRef idx="1">
            <a:schemeClr val="lt1"/>
          </a:fillRef>
          <a:effectRef idx="0">
            <a:schemeClr val="accent3"/>
          </a:effectRef>
          <a:fontRef idx="minor">
            <a:schemeClr val="dk1"/>
          </a:fontRef>
        </p:style>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9" name="TextBox 18">
            <a:extLst>
              <a:ext uri="{FF2B5EF4-FFF2-40B4-BE49-F238E27FC236}">
                <a16:creationId xmlns:a16="http://schemas.microsoft.com/office/drawing/2014/main" id="{BBD88770-A9A4-5E71-97B5-58822FCC7BCE}"/>
              </a:ext>
            </a:extLst>
          </p:cNvPr>
          <p:cNvSpPr txBox="1"/>
          <p:nvPr/>
        </p:nvSpPr>
        <p:spPr>
          <a:xfrm>
            <a:off x="5155884" y="4337792"/>
            <a:ext cx="2587558" cy="923330"/>
          </a:xfrm>
          <a:prstGeom prst="rect">
            <a:avLst/>
          </a:prstGeom>
          <a:noFill/>
        </p:spPr>
        <p:txBody>
          <a:bodyPr wrap="square" rtlCol="0">
            <a:spAutoFit/>
          </a:bodyPr>
          <a:lstStyle/>
          <a:p>
            <a:pPr algn="ctr"/>
            <a:r>
              <a:rPr lang="en-US" sz="1800" b="1">
                <a:solidFill>
                  <a:schemeClr val="accent3"/>
                </a:solidFill>
              </a:rPr>
              <a:t>Volume </a:t>
            </a:r>
          </a:p>
          <a:p>
            <a:pPr algn="ctr"/>
            <a:r>
              <a:rPr lang="en-US" sz="1800" b="1">
                <a:solidFill>
                  <a:schemeClr val="accent3"/>
                </a:solidFill>
              </a:rPr>
              <a:t>Incentives</a:t>
            </a:r>
          </a:p>
          <a:p>
            <a:pPr algn="ctr"/>
            <a:endParaRPr lang="en-US" sz="1800" b="1">
              <a:solidFill>
                <a:schemeClr val="accent3"/>
              </a:solidFill>
            </a:endParaRPr>
          </a:p>
        </p:txBody>
      </p:sp>
      <p:sp>
        <p:nvSpPr>
          <p:cNvPr id="21" name="Rectangle 20">
            <a:extLst>
              <a:ext uri="{FF2B5EF4-FFF2-40B4-BE49-F238E27FC236}">
                <a16:creationId xmlns:a16="http://schemas.microsoft.com/office/drawing/2014/main" id="{54D737E3-216B-6473-B2BE-2E3F3AE853F0}"/>
              </a:ext>
            </a:extLst>
          </p:cNvPr>
          <p:cNvSpPr/>
          <p:nvPr/>
        </p:nvSpPr>
        <p:spPr bwMode="auto">
          <a:xfrm>
            <a:off x="766676" y="3800663"/>
            <a:ext cx="3037890" cy="3219583"/>
          </a:xfrm>
          <a:prstGeom prst="rect">
            <a:avLst/>
          </a:prstGeom>
          <a:noFill/>
          <a:ln>
            <a:headEnd/>
            <a:tailEnd/>
          </a:ln>
        </p:spPr>
        <p:style>
          <a:lnRef idx="2">
            <a:schemeClr val="accent1"/>
          </a:lnRef>
          <a:fillRef idx="1">
            <a:schemeClr val="lt1"/>
          </a:fillRef>
          <a:effectRef idx="0">
            <a:schemeClr val="accent1"/>
          </a:effectRef>
          <a:fontRef idx="minor">
            <a:schemeClr val="dk1"/>
          </a:fontRef>
        </p:style>
        <p:txBody>
          <a:bodyPr wrap="square" rtlCol="0" anchor="b"/>
          <a:lstStyle/>
          <a:p>
            <a:pPr algn="ctr" eaLnBrk="0" fontAlgn="base" hangingPunct="0">
              <a:spcBef>
                <a:spcPct val="0"/>
              </a:spcBef>
              <a:spcAft>
                <a:spcPct val="0"/>
              </a:spcAft>
            </a:pPr>
            <a:r>
              <a:rPr lang="en-US" sz="2000" b="1">
                <a:solidFill>
                  <a:schemeClr val="tx1"/>
                </a:solidFill>
              </a:rPr>
              <a:t>Managed Program Structures</a:t>
            </a:r>
          </a:p>
        </p:txBody>
      </p:sp>
      <p:sp>
        <p:nvSpPr>
          <p:cNvPr id="23" name="TextBox 22">
            <a:extLst>
              <a:ext uri="{FF2B5EF4-FFF2-40B4-BE49-F238E27FC236}">
                <a16:creationId xmlns:a16="http://schemas.microsoft.com/office/drawing/2014/main" id="{A4E0F1A4-1E41-0B77-F174-7ED59FEA8C8A}"/>
              </a:ext>
            </a:extLst>
          </p:cNvPr>
          <p:cNvSpPr txBox="1"/>
          <p:nvPr/>
        </p:nvSpPr>
        <p:spPr>
          <a:xfrm>
            <a:off x="2197197" y="4965597"/>
            <a:ext cx="1607370" cy="1169551"/>
          </a:xfrm>
          <a:prstGeom prst="rect">
            <a:avLst/>
          </a:prstGeom>
          <a:noFill/>
        </p:spPr>
        <p:txBody>
          <a:bodyPr wrap="square">
            <a:spAutoFit/>
          </a:bodyPr>
          <a:lstStyle/>
          <a:p>
            <a:pPr algn="ctr" eaLnBrk="0" fontAlgn="base" hangingPunct="0">
              <a:spcBef>
                <a:spcPct val="0"/>
              </a:spcBef>
              <a:spcAft>
                <a:spcPct val="0"/>
              </a:spcAft>
            </a:pPr>
            <a:r>
              <a:rPr lang="en-US" sz="1400">
                <a:solidFill>
                  <a:schemeClr val="tx1"/>
                </a:solidFill>
              </a:rPr>
              <a:t>Technology Transition, Upgrade, or Refresh to Stay Current</a:t>
            </a:r>
          </a:p>
        </p:txBody>
      </p:sp>
      <p:sp>
        <p:nvSpPr>
          <p:cNvPr id="24" name="TextBox 23">
            <a:extLst>
              <a:ext uri="{FF2B5EF4-FFF2-40B4-BE49-F238E27FC236}">
                <a16:creationId xmlns:a16="http://schemas.microsoft.com/office/drawing/2014/main" id="{773D0233-36F3-5787-71F9-33C35D00717D}"/>
              </a:ext>
            </a:extLst>
          </p:cNvPr>
          <p:cNvSpPr txBox="1"/>
          <p:nvPr/>
        </p:nvSpPr>
        <p:spPr>
          <a:xfrm>
            <a:off x="995643" y="4965597"/>
            <a:ext cx="1266126" cy="954107"/>
          </a:xfrm>
          <a:prstGeom prst="rect">
            <a:avLst/>
          </a:prstGeom>
          <a:noFill/>
        </p:spPr>
        <p:txBody>
          <a:bodyPr wrap="square">
            <a:spAutoFit/>
          </a:bodyPr>
          <a:lstStyle/>
          <a:p>
            <a:pPr algn="ctr" eaLnBrk="0" fontAlgn="base" hangingPunct="0">
              <a:spcBef>
                <a:spcPct val="0"/>
              </a:spcBef>
              <a:spcAft>
                <a:spcPct val="0"/>
              </a:spcAft>
            </a:pPr>
            <a:r>
              <a:rPr lang="en-US" sz="1400">
                <a:solidFill>
                  <a:schemeClr val="tx1"/>
                </a:solidFill>
              </a:rPr>
              <a:t>Targeted Adoption for S</a:t>
            </a:r>
            <a:r>
              <a:rPr lang="en-US" sz="1400"/>
              <a:t>peed or Derisk</a:t>
            </a:r>
            <a:endParaRPr lang="en-US" sz="1400">
              <a:solidFill>
                <a:schemeClr val="tx1"/>
              </a:solidFill>
            </a:endParaRPr>
          </a:p>
        </p:txBody>
      </p:sp>
      <p:cxnSp>
        <p:nvCxnSpPr>
          <p:cNvPr id="26" name="Straight Connector 25">
            <a:extLst>
              <a:ext uri="{FF2B5EF4-FFF2-40B4-BE49-F238E27FC236}">
                <a16:creationId xmlns:a16="http://schemas.microsoft.com/office/drawing/2014/main" id="{330E0BDE-8954-F6C1-422F-8F351BE52935}"/>
              </a:ext>
            </a:extLst>
          </p:cNvPr>
          <p:cNvCxnSpPr/>
          <p:nvPr/>
        </p:nvCxnSpPr>
        <p:spPr bwMode="auto">
          <a:xfrm>
            <a:off x="4736942" y="3470817"/>
            <a:ext cx="0" cy="655667"/>
          </a:xfrm>
          <a:prstGeom prst="line">
            <a:avLst/>
          </a:prstGeom>
          <a:ln>
            <a:solidFill>
              <a:srgbClr val="1685A6"/>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F6F91310-8246-E9B5-60A3-120576473BE7}"/>
              </a:ext>
            </a:extLst>
          </p:cNvPr>
          <p:cNvSpPr/>
          <p:nvPr/>
        </p:nvSpPr>
        <p:spPr bwMode="auto">
          <a:xfrm>
            <a:off x="4622642" y="4045840"/>
            <a:ext cx="228600" cy="228600"/>
          </a:xfrm>
          <a:prstGeom prst="ellipse">
            <a:avLst/>
          </a:prstGeom>
          <a:solidFill>
            <a:srgbClr val="1685A6"/>
          </a:solidFill>
          <a:ln>
            <a:solidFill>
              <a:srgbClr val="1685A6"/>
            </a:solidFill>
            <a:headEnd/>
            <a:tailEnd/>
          </a:ln>
        </p:spPr>
        <p:style>
          <a:lnRef idx="2">
            <a:schemeClr val="accent4"/>
          </a:lnRef>
          <a:fillRef idx="1">
            <a:schemeClr val="lt1"/>
          </a:fillRef>
          <a:effectRef idx="0">
            <a:schemeClr val="accent4"/>
          </a:effectRef>
          <a:fontRef idx="minor">
            <a:schemeClr val="dk1"/>
          </a:fontRef>
        </p:style>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28" name="TextBox 27">
            <a:extLst>
              <a:ext uri="{FF2B5EF4-FFF2-40B4-BE49-F238E27FC236}">
                <a16:creationId xmlns:a16="http://schemas.microsoft.com/office/drawing/2014/main" id="{BEA00F7C-2537-28C0-8F50-BF2FB4BFC51C}"/>
              </a:ext>
            </a:extLst>
          </p:cNvPr>
          <p:cNvSpPr txBox="1"/>
          <p:nvPr/>
        </p:nvSpPr>
        <p:spPr>
          <a:xfrm>
            <a:off x="3443163" y="4330246"/>
            <a:ext cx="2587558" cy="1477328"/>
          </a:xfrm>
          <a:prstGeom prst="rect">
            <a:avLst/>
          </a:prstGeom>
          <a:noFill/>
        </p:spPr>
        <p:txBody>
          <a:bodyPr wrap="square" rtlCol="0">
            <a:spAutoFit/>
          </a:bodyPr>
          <a:lstStyle/>
          <a:p>
            <a:pPr algn="ctr"/>
            <a:r>
              <a:rPr lang="en-US" sz="1800" b="1">
                <a:solidFill>
                  <a:srgbClr val="1685A6"/>
                </a:solidFill>
              </a:rPr>
              <a:t>Introductory </a:t>
            </a:r>
          </a:p>
          <a:p>
            <a:pPr algn="ctr"/>
            <a:r>
              <a:rPr lang="en-US" sz="1800" b="1">
                <a:solidFill>
                  <a:srgbClr val="1685A6"/>
                </a:solidFill>
              </a:rPr>
              <a:t>Pricing</a:t>
            </a:r>
          </a:p>
          <a:p>
            <a:pPr algn="ctr"/>
            <a:endParaRPr lang="en-US" sz="1800" b="1">
              <a:solidFill>
                <a:srgbClr val="1685A6"/>
              </a:solidFill>
            </a:endParaRPr>
          </a:p>
          <a:p>
            <a:pPr algn="ctr"/>
            <a:endParaRPr lang="en-US" sz="1800" b="1">
              <a:solidFill>
                <a:srgbClr val="1685A6"/>
              </a:solidFill>
            </a:endParaRPr>
          </a:p>
          <a:p>
            <a:pPr algn="ctr"/>
            <a:endParaRPr lang="en-US" sz="1800" b="1">
              <a:solidFill>
                <a:srgbClr val="1685A6"/>
              </a:solidFill>
            </a:endParaRPr>
          </a:p>
        </p:txBody>
      </p:sp>
      <p:sp>
        <p:nvSpPr>
          <p:cNvPr id="6" name="Rectangle 5">
            <a:extLst>
              <a:ext uri="{FF2B5EF4-FFF2-40B4-BE49-F238E27FC236}">
                <a16:creationId xmlns:a16="http://schemas.microsoft.com/office/drawing/2014/main" id="{C07FFEA5-18F1-FDB4-FEE3-99392115FF9A}"/>
              </a:ext>
            </a:extLst>
          </p:cNvPr>
          <p:cNvSpPr/>
          <p:nvPr/>
        </p:nvSpPr>
        <p:spPr bwMode="auto">
          <a:xfrm>
            <a:off x="3897751" y="3800663"/>
            <a:ext cx="3378935" cy="3219584"/>
          </a:xfrm>
          <a:prstGeom prst="rect">
            <a:avLst/>
          </a:prstGeom>
          <a:noFill/>
          <a:ln>
            <a:headEnd/>
            <a:tailEnd/>
          </a:ln>
        </p:spPr>
        <p:style>
          <a:lnRef idx="2">
            <a:schemeClr val="accent1"/>
          </a:lnRef>
          <a:fillRef idx="1">
            <a:schemeClr val="lt1"/>
          </a:fillRef>
          <a:effectRef idx="0">
            <a:schemeClr val="accent1"/>
          </a:effectRef>
          <a:fontRef idx="minor">
            <a:schemeClr val="dk1"/>
          </a:fontRef>
        </p:style>
        <p:txBody>
          <a:bodyPr wrap="square" rtlCol="0" anchor="b"/>
          <a:lstStyle/>
          <a:p>
            <a:pPr algn="ctr" eaLnBrk="0" fontAlgn="base" hangingPunct="0">
              <a:spcBef>
                <a:spcPct val="0"/>
              </a:spcBef>
              <a:spcAft>
                <a:spcPct val="0"/>
              </a:spcAft>
            </a:pPr>
            <a:r>
              <a:rPr lang="en-US" sz="2000" b="1">
                <a:solidFill>
                  <a:schemeClr val="tx1"/>
                </a:solidFill>
              </a:rPr>
              <a:t>Unmanaged Sellable Structures</a:t>
            </a:r>
          </a:p>
        </p:txBody>
      </p:sp>
      <p:sp>
        <p:nvSpPr>
          <p:cNvPr id="7" name="TextBox 6">
            <a:extLst>
              <a:ext uri="{FF2B5EF4-FFF2-40B4-BE49-F238E27FC236}">
                <a16:creationId xmlns:a16="http://schemas.microsoft.com/office/drawing/2014/main" id="{49124FBA-1701-7450-A661-B0A11083E506}"/>
              </a:ext>
            </a:extLst>
          </p:cNvPr>
          <p:cNvSpPr txBox="1"/>
          <p:nvPr/>
        </p:nvSpPr>
        <p:spPr>
          <a:xfrm>
            <a:off x="5715994" y="4965597"/>
            <a:ext cx="1467337" cy="954107"/>
          </a:xfrm>
          <a:prstGeom prst="rect">
            <a:avLst/>
          </a:prstGeom>
          <a:noFill/>
        </p:spPr>
        <p:txBody>
          <a:bodyPr wrap="square">
            <a:spAutoFit/>
          </a:bodyPr>
          <a:lstStyle/>
          <a:p>
            <a:pPr algn="ctr" eaLnBrk="0" fontAlgn="base" hangingPunct="0">
              <a:spcBef>
                <a:spcPct val="0"/>
              </a:spcBef>
              <a:spcAft>
                <a:spcPct val="0"/>
              </a:spcAft>
            </a:pPr>
            <a:r>
              <a:rPr lang="en-US" sz="1400">
                <a:solidFill>
                  <a:schemeClr val="tx1"/>
                </a:solidFill>
              </a:rPr>
              <a:t>Duration or Size Based for Growth &amp; Efficiency</a:t>
            </a:r>
          </a:p>
        </p:txBody>
      </p:sp>
      <p:sp>
        <p:nvSpPr>
          <p:cNvPr id="11" name="TextBox 10">
            <a:extLst>
              <a:ext uri="{FF2B5EF4-FFF2-40B4-BE49-F238E27FC236}">
                <a16:creationId xmlns:a16="http://schemas.microsoft.com/office/drawing/2014/main" id="{D0A8C990-BC97-5525-51FE-E17D78B5AE03}"/>
              </a:ext>
            </a:extLst>
          </p:cNvPr>
          <p:cNvSpPr txBox="1"/>
          <p:nvPr/>
        </p:nvSpPr>
        <p:spPr>
          <a:xfrm>
            <a:off x="3991604" y="4965597"/>
            <a:ext cx="1467337" cy="1169551"/>
          </a:xfrm>
          <a:prstGeom prst="rect">
            <a:avLst/>
          </a:prstGeom>
          <a:noFill/>
        </p:spPr>
        <p:txBody>
          <a:bodyPr wrap="square">
            <a:spAutoFit/>
          </a:bodyPr>
          <a:lstStyle/>
          <a:p>
            <a:pPr algn="ctr" eaLnBrk="0" fontAlgn="base" hangingPunct="0">
              <a:spcBef>
                <a:spcPct val="0"/>
              </a:spcBef>
              <a:spcAft>
                <a:spcPct val="0"/>
              </a:spcAft>
            </a:pPr>
            <a:r>
              <a:rPr lang="en-US" sz="1400">
                <a:solidFill>
                  <a:schemeClr val="tx1"/>
                </a:solidFill>
              </a:rPr>
              <a:t>Feature-Pairing Bundles and Upsell &amp; Scale-Up Expansion Paths</a:t>
            </a:r>
          </a:p>
        </p:txBody>
      </p:sp>
      <p:grpSp>
        <p:nvGrpSpPr>
          <p:cNvPr id="39" name="Group 38">
            <a:extLst>
              <a:ext uri="{FF2B5EF4-FFF2-40B4-BE49-F238E27FC236}">
                <a16:creationId xmlns:a16="http://schemas.microsoft.com/office/drawing/2014/main" id="{DB2E3DDC-7F06-5F11-B12A-04F0DBF46B6D}"/>
              </a:ext>
            </a:extLst>
          </p:cNvPr>
          <p:cNvGrpSpPr/>
          <p:nvPr/>
        </p:nvGrpSpPr>
        <p:grpSpPr>
          <a:xfrm>
            <a:off x="1128927" y="1853725"/>
            <a:ext cx="13158573" cy="1742478"/>
            <a:chOff x="3641270" y="2394859"/>
            <a:chExt cx="9149442" cy="4488778"/>
          </a:xfrm>
        </p:grpSpPr>
        <p:sp>
          <p:nvSpPr>
            <p:cNvPr id="25" name="Freeform: Shape 24">
              <a:extLst>
                <a:ext uri="{FF2B5EF4-FFF2-40B4-BE49-F238E27FC236}">
                  <a16:creationId xmlns:a16="http://schemas.microsoft.com/office/drawing/2014/main" id="{1183CE31-6832-A8E7-7C59-AF271042E8D6}"/>
                </a:ext>
              </a:extLst>
            </p:cNvPr>
            <p:cNvSpPr/>
            <p:nvPr/>
          </p:nvSpPr>
          <p:spPr bwMode="auto">
            <a:xfrm>
              <a:off x="3641270" y="6335487"/>
              <a:ext cx="941615" cy="546231"/>
            </a:xfrm>
            <a:custGeom>
              <a:avLst/>
              <a:gdLst>
                <a:gd name="connsiteX0" fmla="*/ 941615 w 941615"/>
                <a:gd name="connsiteY0" fmla="*/ 0 h 482596"/>
                <a:gd name="connsiteX1" fmla="*/ 941615 w 941615"/>
                <a:gd name="connsiteY1" fmla="*/ 482596 h 482596"/>
                <a:gd name="connsiteX2" fmla="*/ 0 w 941615"/>
                <a:gd name="connsiteY2" fmla="*/ 482141 h 482596"/>
                <a:gd name="connsiteX3" fmla="*/ 755902 w 941615"/>
                <a:gd name="connsiteY3" fmla="*/ 117211 h 482596"/>
              </a:gdLst>
              <a:ahLst/>
              <a:cxnLst>
                <a:cxn ang="0">
                  <a:pos x="connsiteX0" y="connsiteY0"/>
                </a:cxn>
                <a:cxn ang="0">
                  <a:pos x="connsiteX1" y="connsiteY1"/>
                </a:cxn>
                <a:cxn ang="0">
                  <a:pos x="connsiteX2" y="connsiteY2"/>
                </a:cxn>
                <a:cxn ang="0">
                  <a:pos x="connsiteX3" y="connsiteY3"/>
                </a:cxn>
              </a:cxnLst>
              <a:rect l="l" t="t" r="r" b="b"/>
              <a:pathLst>
                <a:path w="941615" h="482596">
                  <a:moveTo>
                    <a:pt x="941615" y="0"/>
                  </a:moveTo>
                  <a:lnTo>
                    <a:pt x="941615" y="482596"/>
                  </a:lnTo>
                  <a:lnTo>
                    <a:pt x="0" y="482141"/>
                  </a:lnTo>
                  <a:cubicBezTo>
                    <a:pt x="276211" y="376070"/>
                    <a:pt x="526978" y="253057"/>
                    <a:pt x="755902" y="117211"/>
                  </a:cubicBezTo>
                  <a:close/>
                </a:path>
              </a:pathLst>
            </a:custGeom>
            <a:solidFill>
              <a:schemeClr val="accent2"/>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
          <p:nvSpPr>
            <p:cNvPr id="33" name="Freeform: Shape 32">
              <a:extLst>
                <a:ext uri="{FF2B5EF4-FFF2-40B4-BE49-F238E27FC236}">
                  <a16:creationId xmlns:a16="http://schemas.microsoft.com/office/drawing/2014/main" id="{6EE835E1-5E3F-9436-C161-98199136C12F}"/>
                </a:ext>
              </a:extLst>
            </p:cNvPr>
            <p:cNvSpPr/>
            <p:nvPr/>
          </p:nvSpPr>
          <p:spPr bwMode="auto">
            <a:xfrm>
              <a:off x="4582886" y="4296417"/>
              <a:ext cx="1807030" cy="2587220"/>
            </a:xfrm>
            <a:custGeom>
              <a:avLst/>
              <a:gdLst>
                <a:gd name="connsiteX0" fmla="*/ 1807030 w 1807030"/>
                <a:gd name="connsiteY0" fmla="*/ 0 h 2587220"/>
                <a:gd name="connsiteX1" fmla="*/ 1807030 w 1807030"/>
                <a:gd name="connsiteY1" fmla="*/ 2587220 h 2587220"/>
                <a:gd name="connsiteX2" fmla="*/ 0 w 1807030"/>
                <a:gd name="connsiteY2" fmla="*/ 2586347 h 2587220"/>
                <a:gd name="connsiteX3" fmla="*/ 0 w 1807030"/>
                <a:gd name="connsiteY3" fmla="*/ 2044741 h 2587220"/>
                <a:gd name="connsiteX4" fmla="*/ 156994 w 1807030"/>
                <a:gd name="connsiteY4" fmla="*/ 1933334 h 2587220"/>
                <a:gd name="connsiteX5" fmla="*/ 1765589 w 1807030"/>
                <a:gd name="connsiteY5" fmla="*/ 66408 h 258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7030" h="2587220">
                  <a:moveTo>
                    <a:pt x="1807030" y="0"/>
                  </a:moveTo>
                  <a:lnTo>
                    <a:pt x="1807030" y="2587220"/>
                  </a:lnTo>
                  <a:lnTo>
                    <a:pt x="0" y="2586347"/>
                  </a:lnTo>
                  <a:lnTo>
                    <a:pt x="0" y="2044741"/>
                  </a:lnTo>
                  <a:lnTo>
                    <a:pt x="156994" y="1933334"/>
                  </a:lnTo>
                  <a:cubicBezTo>
                    <a:pt x="895458" y="1379191"/>
                    <a:pt x="1372511" y="689354"/>
                    <a:pt x="1765589" y="66408"/>
                  </a:cubicBezTo>
                  <a:close/>
                </a:path>
              </a:pathLst>
            </a:custGeom>
            <a:solidFill>
              <a:schemeClr val="accent4"/>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
          <p:nvSpPr>
            <p:cNvPr id="35" name="Freeform: Shape 34">
              <a:extLst>
                <a:ext uri="{FF2B5EF4-FFF2-40B4-BE49-F238E27FC236}">
                  <a16:creationId xmlns:a16="http://schemas.microsoft.com/office/drawing/2014/main" id="{88C7A818-BFC1-06C4-9F72-4878A4F099C9}"/>
                </a:ext>
              </a:extLst>
            </p:cNvPr>
            <p:cNvSpPr/>
            <p:nvPr/>
          </p:nvSpPr>
          <p:spPr bwMode="auto">
            <a:xfrm>
              <a:off x="6389916" y="2394859"/>
              <a:ext cx="2715985" cy="4486861"/>
            </a:xfrm>
            <a:custGeom>
              <a:avLst/>
              <a:gdLst>
                <a:gd name="connsiteX0" fmla="*/ 1798422 w 2715985"/>
                <a:gd name="connsiteY0" fmla="*/ 1 h 4486861"/>
                <a:gd name="connsiteX1" fmla="*/ 2621901 w 2715985"/>
                <a:gd name="connsiteY1" fmla="*/ 393157 h 4486861"/>
                <a:gd name="connsiteX2" fmla="*/ 2715985 w 2715985"/>
                <a:gd name="connsiteY2" fmla="*/ 499593 h 4486861"/>
                <a:gd name="connsiteX3" fmla="*/ 2715985 w 2715985"/>
                <a:gd name="connsiteY3" fmla="*/ 4486861 h 4486861"/>
                <a:gd name="connsiteX4" fmla="*/ 0 w 2715985"/>
                <a:gd name="connsiteY4" fmla="*/ 4485456 h 4486861"/>
                <a:gd name="connsiteX5" fmla="*/ 0 w 2715985"/>
                <a:gd name="connsiteY5" fmla="*/ 1903423 h 4486861"/>
                <a:gd name="connsiteX6" fmla="*/ 70136 w 2715985"/>
                <a:gd name="connsiteY6" fmla="*/ 1787642 h 4486861"/>
                <a:gd name="connsiteX7" fmla="*/ 1798422 w 2715985"/>
                <a:gd name="connsiteY7" fmla="*/ 1 h 4486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5985" h="4486861">
                  <a:moveTo>
                    <a:pt x="1798422" y="1"/>
                  </a:moveTo>
                  <a:cubicBezTo>
                    <a:pt x="2131995" y="174"/>
                    <a:pt x="2389713" y="147835"/>
                    <a:pt x="2621901" y="393157"/>
                  </a:cubicBezTo>
                  <a:lnTo>
                    <a:pt x="2715985" y="499593"/>
                  </a:lnTo>
                  <a:lnTo>
                    <a:pt x="2715985" y="4486861"/>
                  </a:lnTo>
                  <a:lnTo>
                    <a:pt x="0" y="4485456"/>
                  </a:lnTo>
                  <a:lnTo>
                    <a:pt x="0" y="1903423"/>
                  </a:lnTo>
                  <a:lnTo>
                    <a:pt x="70136" y="1787642"/>
                  </a:lnTo>
                  <a:cubicBezTo>
                    <a:pt x="641886" y="817894"/>
                    <a:pt x="1035969" y="-393"/>
                    <a:pt x="1798422" y="1"/>
                  </a:cubicBezTo>
                  <a:close/>
                </a:path>
              </a:pathLst>
            </a:custGeom>
            <a:solidFill>
              <a:schemeClr val="accent3"/>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
          <p:nvSpPr>
            <p:cNvPr id="37" name="Freeform: Shape 36">
              <a:extLst>
                <a:ext uri="{FF2B5EF4-FFF2-40B4-BE49-F238E27FC236}">
                  <a16:creationId xmlns:a16="http://schemas.microsoft.com/office/drawing/2014/main" id="{92F3374B-8C36-9071-1525-FBD2D5DA8C23}"/>
                </a:ext>
              </a:extLst>
            </p:cNvPr>
            <p:cNvSpPr/>
            <p:nvPr/>
          </p:nvSpPr>
          <p:spPr bwMode="auto">
            <a:xfrm>
              <a:off x="8240486" y="2394859"/>
              <a:ext cx="1834241" cy="4486861"/>
            </a:xfrm>
            <a:custGeom>
              <a:avLst/>
              <a:gdLst>
                <a:gd name="connsiteX0" fmla="*/ 0 w 1834241"/>
                <a:gd name="connsiteY0" fmla="*/ 0 h 4483987"/>
                <a:gd name="connsiteX1" fmla="*/ 86315 w 1834241"/>
                <a:gd name="connsiteY1" fmla="*/ 5585 h 4483987"/>
                <a:gd name="connsiteX2" fmla="*/ 1647270 w 1834241"/>
                <a:gd name="connsiteY2" fmla="*/ 1714438 h 4483987"/>
                <a:gd name="connsiteX3" fmla="*/ 1834241 w 1834241"/>
                <a:gd name="connsiteY3" fmla="*/ 2015481 h 4483987"/>
                <a:gd name="connsiteX4" fmla="*/ 1834241 w 1834241"/>
                <a:gd name="connsiteY4" fmla="*/ 4483987 h 4483987"/>
                <a:gd name="connsiteX5" fmla="*/ 0 w 1834241"/>
                <a:gd name="connsiteY5" fmla="*/ 4483038 h 4483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4241" h="4483987">
                  <a:moveTo>
                    <a:pt x="0" y="0"/>
                  </a:moveTo>
                  <a:lnTo>
                    <a:pt x="86315" y="5585"/>
                  </a:lnTo>
                  <a:cubicBezTo>
                    <a:pt x="756873" y="94075"/>
                    <a:pt x="1112128" y="827121"/>
                    <a:pt x="1647270" y="1714438"/>
                  </a:cubicBezTo>
                  <a:lnTo>
                    <a:pt x="1834241" y="2015481"/>
                  </a:lnTo>
                  <a:lnTo>
                    <a:pt x="1834241" y="4483987"/>
                  </a:lnTo>
                  <a:lnTo>
                    <a:pt x="0" y="4483038"/>
                  </a:lnTo>
                  <a:close/>
                </a:path>
              </a:pathLst>
            </a:custGeom>
            <a:solidFill>
              <a:schemeClr val="accent5"/>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
          <p:nvSpPr>
            <p:cNvPr id="38" name="Freeform: Shape 37">
              <a:extLst>
                <a:ext uri="{FF2B5EF4-FFF2-40B4-BE49-F238E27FC236}">
                  <a16:creationId xmlns:a16="http://schemas.microsoft.com/office/drawing/2014/main" id="{BFEE1DAE-72A6-CDA7-84B1-2C91CB207E77}"/>
                </a:ext>
              </a:extLst>
            </p:cNvPr>
            <p:cNvSpPr/>
            <p:nvPr/>
          </p:nvSpPr>
          <p:spPr bwMode="auto">
            <a:xfrm>
              <a:off x="10074727" y="4420505"/>
              <a:ext cx="2715985" cy="2461216"/>
            </a:xfrm>
            <a:custGeom>
              <a:avLst/>
              <a:gdLst>
                <a:gd name="connsiteX0" fmla="*/ 0 w 2715985"/>
                <a:gd name="connsiteY0" fmla="*/ 0 h 2469912"/>
                <a:gd name="connsiteX1" fmla="*/ 37854 w 2715985"/>
                <a:gd name="connsiteY1" fmla="*/ 60949 h 2469912"/>
                <a:gd name="connsiteX2" fmla="*/ 2453310 w 2715985"/>
                <a:gd name="connsiteY2" fmla="*/ 2333435 h 2469912"/>
                <a:gd name="connsiteX3" fmla="*/ 2715985 w 2715985"/>
                <a:gd name="connsiteY3" fmla="*/ 2458282 h 2469912"/>
                <a:gd name="connsiteX4" fmla="*/ 2715985 w 2715985"/>
                <a:gd name="connsiteY4" fmla="*/ 2469912 h 2469912"/>
                <a:gd name="connsiteX5" fmla="*/ 0 w 2715985"/>
                <a:gd name="connsiteY5" fmla="*/ 2468506 h 246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5985" h="2469912">
                  <a:moveTo>
                    <a:pt x="0" y="0"/>
                  </a:moveTo>
                  <a:lnTo>
                    <a:pt x="37854" y="60949"/>
                  </a:lnTo>
                  <a:cubicBezTo>
                    <a:pt x="550848" y="858057"/>
                    <a:pt x="1248550" y="1721938"/>
                    <a:pt x="2453310" y="2333435"/>
                  </a:cubicBezTo>
                  <a:lnTo>
                    <a:pt x="2715985" y="2458282"/>
                  </a:lnTo>
                  <a:lnTo>
                    <a:pt x="2715985" y="2469912"/>
                  </a:lnTo>
                  <a:lnTo>
                    <a:pt x="0" y="2468506"/>
                  </a:lnTo>
                  <a:close/>
                </a:path>
              </a:pathLst>
            </a:custGeom>
            <a:solidFill>
              <a:srgbClr val="7030A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grpSp>
      <p:grpSp>
        <p:nvGrpSpPr>
          <p:cNvPr id="3" name="Group 2">
            <a:extLst>
              <a:ext uri="{FF2B5EF4-FFF2-40B4-BE49-F238E27FC236}">
                <a16:creationId xmlns:a16="http://schemas.microsoft.com/office/drawing/2014/main" id="{49F1040C-7DA9-8408-626D-3339A692C26D}"/>
              </a:ext>
            </a:extLst>
          </p:cNvPr>
          <p:cNvGrpSpPr/>
          <p:nvPr/>
        </p:nvGrpSpPr>
        <p:grpSpPr>
          <a:xfrm>
            <a:off x="1108672" y="6993353"/>
            <a:ext cx="2306193" cy="847442"/>
            <a:chOff x="1108672" y="7235399"/>
            <a:chExt cx="2306193" cy="847442"/>
          </a:xfrm>
        </p:grpSpPr>
        <p:sp>
          <p:nvSpPr>
            <p:cNvPr id="12" name="TextBox 11">
              <a:extLst>
                <a:ext uri="{FF2B5EF4-FFF2-40B4-BE49-F238E27FC236}">
                  <a16:creationId xmlns:a16="http://schemas.microsoft.com/office/drawing/2014/main" id="{E0D8D85C-6A4C-4987-716B-7254671BCC45}"/>
                </a:ext>
              </a:extLst>
            </p:cNvPr>
            <p:cNvSpPr txBox="1"/>
            <p:nvPr/>
          </p:nvSpPr>
          <p:spPr>
            <a:xfrm>
              <a:off x="1108672" y="7235399"/>
              <a:ext cx="2306193" cy="830995"/>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wrap="none" anchor="ctr">
              <a:noAutofit/>
            </a:bodyPr>
            <a:lstStyle/>
            <a:p>
              <a:pPr algn="ctr" eaLnBrk="0" fontAlgn="base" hangingPunct="0">
                <a:spcBef>
                  <a:spcPct val="0"/>
                </a:spcBef>
                <a:spcAft>
                  <a:spcPct val="0"/>
                </a:spcAft>
              </a:pPr>
              <a:r>
                <a:rPr lang="en-US" sz="1500">
                  <a:solidFill>
                    <a:schemeClr val="tx1"/>
                  </a:solidFill>
                </a:rPr>
                <a:t>Qualifying Sales Deals</a:t>
              </a:r>
            </a:p>
            <a:p>
              <a:pPr algn="ctr" eaLnBrk="0" fontAlgn="base" hangingPunct="0">
                <a:spcBef>
                  <a:spcPct val="0"/>
                </a:spcBef>
                <a:spcAft>
                  <a:spcPct val="0"/>
                </a:spcAft>
              </a:pPr>
              <a:r>
                <a:rPr lang="en-US" sz="1500">
                  <a:solidFill>
                    <a:schemeClr val="tx1"/>
                  </a:solidFill>
                </a:rPr>
                <a:t>RTQ Required</a:t>
              </a:r>
            </a:p>
            <a:p>
              <a:pPr algn="ctr" eaLnBrk="0" fontAlgn="base" hangingPunct="0">
                <a:spcBef>
                  <a:spcPct val="0"/>
                </a:spcBef>
                <a:spcAft>
                  <a:spcPct val="0"/>
                </a:spcAft>
              </a:pPr>
              <a:r>
                <a:rPr lang="en-US" sz="1500">
                  <a:solidFill>
                    <a:schemeClr val="tx1"/>
                  </a:solidFill>
                </a:rPr>
                <a:t>Time-Bound</a:t>
              </a:r>
            </a:p>
          </p:txBody>
        </p:sp>
        <p:cxnSp>
          <p:nvCxnSpPr>
            <p:cNvPr id="29" name="Straight Connector 28">
              <a:extLst>
                <a:ext uri="{FF2B5EF4-FFF2-40B4-BE49-F238E27FC236}">
                  <a16:creationId xmlns:a16="http://schemas.microsoft.com/office/drawing/2014/main" id="{80BABAF3-C1B5-C143-92A2-9004DE9137FF}"/>
                </a:ext>
              </a:extLst>
            </p:cNvPr>
            <p:cNvCxnSpPr/>
            <p:nvPr/>
          </p:nvCxnSpPr>
          <p:spPr bwMode="auto">
            <a:xfrm>
              <a:off x="1108672" y="7248847"/>
              <a:ext cx="0" cy="83099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9592F65B-40FF-9518-2953-5B33F4C43725}"/>
                </a:ext>
              </a:extLst>
            </p:cNvPr>
            <p:cNvCxnSpPr/>
            <p:nvPr/>
          </p:nvCxnSpPr>
          <p:spPr bwMode="auto">
            <a:xfrm>
              <a:off x="3414865" y="7248847"/>
              <a:ext cx="0" cy="83099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Straight Connector 31">
              <a:extLst>
                <a:ext uri="{FF2B5EF4-FFF2-40B4-BE49-F238E27FC236}">
                  <a16:creationId xmlns:a16="http://schemas.microsoft.com/office/drawing/2014/main" id="{FEF66148-994D-8CBB-BCB0-C879E7872555}"/>
                </a:ext>
              </a:extLst>
            </p:cNvPr>
            <p:cNvCxnSpPr>
              <a:cxnSpLocks/>
            </p:cNvCxnSpPr>
            <p:nvPr/>
          </p:nvCxnSpPr>
          <p:spPr bwMode="auto">
            <a:xfrm>
              <a:off x="1144043" y="8082841"/>
              <a:ext cx="223837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1" name="TextBox 40">
            <a:extLst>
              <a:ext uri="{FF2B5EF4-FFF2-40B4-BE49-F238E27FC236}">
                <a16:creationId xmlns:a16="http://schemas.microsoft.com/office/drawing/2014/main" id="{837D5558-B668-422A-CAB4-4BFD027415F8}"/>
              </a:ext>
            </a:extLst>
          </p:cNvPr>
          <p:cNvSpPr txBox="1"/>
          <p:nvPr/>
        </p:nvSpPr>
        <p:spPr>
          <a:xfrm>
            <a:off x="4330466" y="6993353"/>
            <a:ext cx="2306191" cy="830996"/>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wrap="square" anchor="ctr">
            <a:noAutofit/>
          </a:bodyPr>
          <a:lstStyle/>
          <a:p>
            <a:pPr algn="ctr" eaLnBrk="0" fontAlgn="base" hangingPunct="0">
              <a:spcBef>
                <a:spcPct val="0"/>
              </a:spcBef>
              <a:spcAft>
                <a:spcPct val="0"/>
              </a:spcAft>
            </a:pPr>
            <a:r>
              <a:rPr lang="en-US" sz="1500">
                <a:solidFill>
                  <a:schemeClr val="tx1"/>
                </a:solidFill>
              </a:rPr>
              <a:t>By Part Number</a:t>
            </a:r>
          </a:p>
          <a:p>
            <a:pPr algn="ctr" eaLnBrk="0" fontAlgn="base" hangingPunct="0">
              <a:spcBef>
                <a:spcPct val="0"/>
              </a:spcBef>
              <a:spcAft>
                <a:spcPct val="0"/>
              </a:spcAft>
            </a:pPr>
            <a:r>
              <a:rPr lang="en-US" sz="1500">
                <a:solidFill>
                  <a:schemeClr val="tx1"/>
                </a:solidFill>
              </a:rPr>
              <a:t>DOA Process</a:t>
            </a:r>
          </a:p>
        </p:txBody>
      </p:sp>
      <p:cxnSp>
        <p:nvCxnSpPr>
          <p:cNvPr id="46" name="Straight Connector 45">
            <a:extLst>
              <a:ext uri="{FF2B5EF4-FFF2-40B4-BE49-F238E27FC236}">
                <a16:creationId xmlns:a16="http://schemas.microsoft.com/office/drawing/2014/main" id="{00A81901-04CF-7B95-B8FE-5BDB0FF59E3E}"/>
              </a:ext>
            </a:extLst>
          </p:cNvPr>
          <p:cNvCxnSpPr/>
          <p:nvPr/>
        </p:nvCxnSpPr>
        <p:spPr bwMode="auto">
          <a:xfrm>
            <a:off x="4330467" y="7006799"/>
            <a:ext cx="0" cy="83099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Connector 46">
            <a:extLst>
              <a:ext uri="{FF2B5EF4-FFF2-40B4-BE49-F238E27FC236}">
                <a16:creationId xmlns:a16="http://schemas.microsoft.com/office/drawing/2014/main" id="{01B5376B-0DA1-87B1-B797-C4D5EA0F9758}"/>
              </a:ext>
            </a:extLst>
          </p:cNvPr>
          <p:cNvCxnSpPr/>
          <p:nvPr/>
        </p:nvCxnSpPr>
        <p:spPr bwMode="auto">
          <a:xfrm>
            <a:off x="6636660" y="7006799"/>
            <a:ext cx="0" cy="83099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FEDF57D5-6150-33CC-DE8F-EA79734A71FF}"/>
              </a:ext>
            </a:extLst>
          </p:cNvPr>
          <p:cNvCxnSpPr>
            <a:cxnSpLocks/>
          </p:cNvCxnSpPr>
          <p:nvPr/>
        </p:nvCxnSpPr>
        <p:spPr bwMode="auto">
          <a:xfrm>
            <a:off x="4365838" y="7840793"/>
            <a:ext cx="223837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56" name="Table 55">
            <a:extLst>
              <a:ext uri="{FF2B5EF4-FFF2-40B4-BE49-F238E27FC236}">
                <a16:creationId xmlns:a16="http://schemas.microsoft.com/office/drawing/2014/main" id="{C348E129-94BC-EA6C-1B17-43D2DD8B3F8A}"/>
              </a:ext>
            </a:extLst>
          </p:cNvPr>
          <p:cNvGraphicFramePr>
            <a:graphicFrameLocks noGrp="1"/>
          </p:cNvGraphicFramePr>
          <p:nvPr>
            <p:extLst>
              <p:ext uri="{D42A27DB-BD31-4B8C-83A1-F6EECF244321}">
                <p14:modId xmlns:p14="http://schemas.microsoft.com/office/powerpoint/2010/main" val="1817700221"/>
              </p:ext>
            </p:extLst>
          </p:nvPr>
        </p:nvGraphicFramePr>
        <p:xfrm>
          <a:off x="7854446" y="3805668"/>
          <a:ext cx="6142871" cy="4125070"/>
        </p:xfrm>
        <a:graphic>
          <a:graphicData uri="http://schemas.openxmlformats.org/drawingml/2006/table">
            <a:tbl>
              <a:tblPr firstRow="1" bandRow="1">
                <a:tableStyleId>{5C22544A-7EE6-4342-B048-85BDC9FD1C3A}</a:tableStyleId>
              </a:tblPr>
              <a:tblGrid>
                <a:gridCol w="2088658">
                  <a:extLst>
                    <a:ext uri="{9D8B030D-6E8A-4147-A177-3AD203B41FA5}">
                      <a16:colId xmlns:a16="http://schemas.microsoft.com/office/drawing/2014/main" val="768059407"/>
                    </a:ext>
                  </a:extLst>
                </a:gridCol>
                <a:gridCol w="4054213">
                  <a:extLst>
                    <a:ext uri="{9D8B030D-6E8A-4147-A177-3AD203B41FA5}">
                      <a16:colId xmlns:a16="http://schemas.microsoft.com/office/drawing/2014/main" val="2279624645"/>
                    </a:ext>
                  </a:extLst>
                </a:gridCol>
              </a:tblGrid>
              <a:tr h="391812">
                <a:tc gridSpan="2">
                  <a:txBody>
                    <a:bodyPr/>
                    <a:lstStyle/>
                    <a:p>
                      <a:r>
                        <a:rPr lang="en-US" sz="1800"/>
                        <a:t>Example: DeltaV Live Enterprise View – </a:t>
                      </a:r>
                      <a:r>
                        <a:rPr lang="en-US" sz="1600" b="0" i="1"/>
                        <a:t>Subscription</a:t>
                      </a:r>
                    </a:p>
                  </a:txBody>
                  <a:tcPr/>
                </a:tc>
                <a:tc hMerge="1">
                  <a:txBody>
                    <a:bodyPr/>
                    <a:lstStyle/>
                    <a:p>
                      <a:endParaRPr lang="en-US"/>
                    </a:p>
                  </a:txBody>
                  <a:tcPr/>
                </a:tc>
                <a:extLst>
                  <a:ext uri="{0D108BD9-81ED-4DB2-BD59-A6C34878D82A}">
                    <a16:rowId xmlns:a16="http://schemas.microsoft.com/office/drawing/2014/main" val="81133886"/>
                  </a:ext>
                </a:extLst>
              </a:tr>
              <a:tr h="826377">
                <a:tc>
                  <a:txBody>
                    <a:bodyPr/>
                    <a:lstStyle/>
                    <a:p>
                      <a:pPr lvl="1"/>
                      <a:r>
                        <a:rPr lang="en-US" sz="1600"/>
                        <a:t>Pioneer Program</a:t>
                      </a:r>
                    </a:p>
                  </a:txBody>
                  <a:tcPr anchor="ct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en-IN" sz="1450" i="0" u="none" strike="noStrike" kern="1200" cap="none" spc="0" normalizeH="0" baseline="0" noProof="0">
                          <a:ln>
                            <a:noFill/>
                          </a:ln>
                          <a:solidFill>
                            <a:schemeClr val="tx1"/>
                          </a:solidFill>
                          <a:effectLst/>
                          <a:uLnTx/>
                          <a:uFillTx/>
                          <a:latin typeface="+mn-lt"/>
                          <a:ea typeface="Open Sans"/>
                          <a:cs typeface="Open Sans"/>
                        </a:rPr>
                        <a:t>FY26 through FY27, 1-year </a:t>
                      </a:r>
                      <a:r>
                        <a:rPr lang="en-IN" sz="1450" i="0" u="none" strike="noStrike" kern="1200" cap="none" spc="0" normalizeH="0" baseline="0" noProof="0">
                          <a:ln>
                            <a:noFill/>
                          </a:ln>
                          <a:solidFill>
                            <a:schemeClr val="tx1"/>
                          </a:solidFill>
                          <a:effectLst/>
                          <a:uLnTx/>
                          <a:uFillTx/>
                          <a:latin typeface="+mn-lt"/>
                          <a:ea typeface="Open Sans"/>
                          <a:cs typeface="Open Sans"/>
                        </a:rPr>
                        <a:t>subscription of DLEV at </a:t>
                      </a:r>
                      <a:r>
                        <a:rPr lang="en-IN" sz="1450" b="1" i="0" u="none" strike="noStrike" kern="1200" cap="none" spc="0" normalizeH="0" baseline="0" noProof="0">
                          <a:ln>
                            <a:noFill/>
                          </a:ln>
                          <a:solidFill>
                            <a:schemeClr val="tx1"/>
                          </a:solidFill>
                          <a:effectLst/>
                          <a:uLnTx/>
                          <a:uFillTx/>
                          <a:latin typeface="+mn-lt"/>
                          <a:ea typeface="Open Sans"/>
                          <a:cs typeface="Open Sans"/>
                        </a:rPr>
                        <a:t>no charge </a:t>
                      </a:r>
                      <a:r>
                        <a:rPr lang="en-IN" sz="1450" i="0" u="none" strike="noStrike" kern="1200" cap="none" spc="0" normalizeH="0" baseline="0" noProof="0">
                          <a:ln>
                            <a:noFill/>
                          </a:ln>
                          <a:solidFill>
                            <a:schemeClr val="tx1"/>
                          </a:solidFill>
                          <a:effectLst/>
                          <a:uLnTx/>
                          <a:uFillTx/>
                          <a:latin typeface="+mn-lt"/>
                          <a:ea typeface="Open Sans"/>
                          <a:cs typeface="Open Sans"/>
                        </a:rPr>
                        <a:t>+ renewal and </a:t>
                      </a:r>
                      <a:r>
                        <a:rPr kumimoji="0" lang="en-IN" sz="1450" i="0" u="none" strike="noStrike" kern="1200" cap="none" spc="0" normalizeH="0" baseline="0" noProof="0">
                          <a:ln>
                            <a:noFill/>
                          </a:ln>
                          <a:solidFill>
                            <a:schemeClr val="tx1"/>
                          </a:solidFill>
                          <a:effectLst/>
                          <a:uLnTx/>
                          <a:uFillTx/>
                          <a:latin typeface="+mn-lt"/>
                          <a:ea typeface="Open Sans"/>
                          <a:cs typeface="Open Sans"/>
                        </a:rPr>
                        <a:t>expansion incentives in exchange for </a:t>
                      </a:r>
                      <a:r>
                        <a:rPr kumimoji="0" lang="en-IN" sz="1450" b="1" i="0" u="none" strike="noStrike" kern="1200" cap="none" spc="0" normalizeH="0" baseline="0" noProof="0">
                          <a:ln>
                            <a:noFill/>
                          </a:ln>
                          <a:solidFill>
                            <a:schemeClr val="tx1"/>
                          </a:solidFill>
                          <a:effectLst/>
                          <a:uLnTx/>
                          <a:uFillTx/>
                          <a:latin typeface="+mn-lt"/>
                          <a:ea typeface="Open Sans"/>
                          <a:cs typeface="Open Sans"/>
                        </a:rPr>
                        <a:t>public testimonials </a:t>
                      </a:r>
                    </a:p>
                  </a:txBody>
                  <a:tcPr marL="182880" marT="91440" marB="91440" anchor="ctr"/>
                </a:tc>
                <a:extLst>
                  <a:ext uri="{0D108BD9-81ED-4DB2-BD59-A6C34878D82A}">
                    <a16:rowId xmlns:a16="http://schemas.microsoft.com/office/drawing/2014/main" val="1425001749"/>
                  </a:ext>
                </a:extLst>
              </a:tr>
              <a:tr h="490661">
                <a:tc>
                  <a:txBody>
                    <a:bodyPr/>
                    <a:lstStyle/>
                    <a:p>
                      <a:pPr lvl="1"/>
                      <a:r>
                        <a:rPr lang="en-US" sz="1600"/>
                        <a:t>Loyalty Program</a:t>
                      </a:r>
                    </a:p>
                  </a:txBody>
                  <a:tcPr anchor="ct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US" sz="1450" b="0"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Convert existing subscription DeltaV Mobile Web View to Live Enterprise users; incentivized pricing for perpetual DeltaV Mobile Web View users</a:t>
                      </a:r>
                      <a:endParaRPr kumimoji="0" lang="en-IN" sz="1450" b="0"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endParaRPr>
                    </a:p>
                  </a:txBody>
                  <a:tcPr marL="182880" marT="91440" marB="91440" anchor="ctr"/>
                </a:tc>
                <a:extLst>
                  <a:ext uri="{0D108BD9-81ED-4DB2-BD59-A6C34878D82A}">
                    <a16:rowId xmlns:a16="http://schemas.microsoft.com/office/drawing/2014/main" val="2571276324"/>
                  </a:ext>
                </a:extLst>
              </a:tr>
              <a:tr h="753838">
                <a:tc>
                  <a:txBody>
                    <a:bodyPr/>
                    <a:lstStyle/>
                    <a:p>
                      <a:pPr lvl="1"/>
                      <a:r>
                        <a:rPr lang="en-US" sz="1600"/>
                        <a:t>Introductory Pricing</a:t>
                      </a:r>
                    </a:p>
                  </a:txBody>
                  <a:tcPr anchor="ct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IN" sz="1450" b="0"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Through CY26</a:t>
                      </a:r>
                      <a:r>
                        <a:rPr kumimoji="0" lang="en-IN" sz="1450" b="1"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a:t>
                      </a:r>
                      <a:r>
                        <a:rPr kumimoji="0" lang="en-IN" sz="1450" b="0"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LEV subscription price will be reduced by </a:t>
                      </a:r>
                      <a:r>
                        <a:rPr kumimoji="0" lang="en-IN" sz="1450" b="1"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20%</a:t>
                      </a:r>
                    </a:p>
                  </a:txBody>
                  <a:tcPr marL="182880" marT="91440" marB="91440" anchor="ctr"/>
                </a:tc>
                <a:extLst>
                  <a:ext uri="{0D108BD9-81ED-4DB2-BD59-A6C34878D82A}">
                    <a16:rowId xmlns:a16="http://schemas.microsoft.com/office/drawing/2014/main" val="3874226987"/>
                  </a:ext>
                </a:extLst>
              </a:tr>
              <a:tr h="639151">
                <a:tc>
                  <a:txBody>
                    <a:bodyPr/>
                    <a:lstStyle/>
                    <a:p>
                      <a:pPr lvl="1"/>
                      <a:r>
                        <a:rPr lang="en-US" sz="1600"/>
                        <a:t>Volume Incentives</a:t>
                      </a:r>
                    </a:p>
                  </a:txBody>
                  <a:tcPr anchor="ct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IN" sz="1450" b="0"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Scale up to </a:t>
                      </a:r>
                      <a:r>
                        <a:rPr kumimoji="0" lang="en-IN" sz="1450" b="1"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unlimited </a:t>
                      </a:r>
                      <a:r>
                        <a:rPr lang="en-IN" sz="1450" b="1">
                          <a:solidFill>
                            <a:schemeClr val="tx1"/>
                          </a:solidFill>
                          <a:latin typeface="+mn-lt"/>
                          <a:ea typeface="Open Sans" panose="020B0606030504020204" pitchFamily="34" charset="0"/>
                          <a:cs typeface="Open Sans" panose="020B0606030504020204" pitchFamily="34" charset="0"/>
                        </a:rPr>
                        <a:t>users </a:t>
                      </a:r>
                      <a:r>
                        <a:rPr lang="en-IN" sz="1450">
                          <a:solidFill>
                            <a:schemeClr val="tx1"/>
                          </a:solidFill>
                          <a:latin typeface="+mn-lt"/>
                          <a:ea typeface="Open Sans" panose="020B0606030504020204" pitchFamily="34" charset="0"/>
                          <a:cs typeface="Open Sans" panose="020B0606030504020204" pitchFamily="34" charset="0"/>
                        </a:rPr>
                        <a:t>for additional </a:t>
                      </a:r>
                      <a:r>
                        <a:rPr kumimoji="0" lang="en-IN" sz="1450" b="0" i="0" u="none" strike="noStrike" kern="120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systems where at least one system has purchased 10 concurrent users</a:t>
                      </a:r>
                    </a:p>
                  </a:txBody>
                  <a:tcPr marL="182880" marT="91440" marB="91440" anchor="ctr"/>
                </a:tc>
                <a:extLst>
                  <a:ext uri="{0D108BD9-81ED-4DB2-BD59-A6C34878D82A}">
                    <a16:rowId xmlns:a16="http://schemas.microsoft.com/office/drawing/2014/main" val="2247525227"/>
                  </a:ext>
                </a:extLst>
              </a:tr>
            </a:tbl>
          </a:graphicData>
        </a:graphic>
      </p:graphicFrame>
      <p:grpSp>
        <p:nvGrpSpPr>
          <p:cNvPr id="57" name="Group 56">
            <a:extLst>
              <a:ext uri="{FF2B5EF4-FFF2-40B4-BE49-F238E27FC236}">
                <a16:creationId xmlns:a16="http://schemas.microsoft.com/office/drawing/2014/main" id="{29897D37-4932-AE15-1F3E-0FC660506E35}"/>
              </a:ext>
            </a:extLst>
          </p:cNvPr>
          <p:cNvGrpSpPr/>
          <p:nvPr/>
        </p:nvGrpSpPr>
        <p:grpSpPr>
          <a:xfrm>
            <a:off x="8062392" y="5623910"/>
            <a:ext cx="367917" cy="367327"/>
            <a:chOff x="5455813" y="4956160"/>
            <a:chExt cx="253483" cy="253483"/>
          </a:xfrm>
        </p:grpSpPr>
        <p:sp>
          <p:nvSpPr>
            <p:cNvPr id="58" name="Oval 57">
              <a:extLst>
                <a:ext uri="{FF2B5EF4-FFF2-40B4-BE49-F238E27FC236}">
                  <a16:creationId xmlns:a16="http://schemas.microsoft.com/office/drawing/2014/main" id="{219E561E-CF3F-D053-692F-105524E378DC}"/>
                </a:ext>
              </a:extLst>
            </p:cNvPr>
            <p:cNvSpPr/>
            <p:nvPr/>
          </p:nvSpPr>
          <p:spPr>
            <a:xfrm>
              <a:off x="5455813" y="4956160"/>
              <a:ext cx="253483" cy="25348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pic>
          <p:nvPicPr>
            <p:cNvPr id="59" name="Graphic 58" descr="Checkmark with solid fill">
              <a:extLst>
                <a:ext uri="{FF2B5EF4-FFF2-40B4-BE49-F238E27FC236}">
                  <a16:creationId xmlns:a16="http://schemas.microsoft.com/office/drawing/2014/main" id="{4F2347F2-02C9-D221-DB9F-CAE20A31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0922" y="4999008"/>
              <a:ext cx="167786" cy="167786"/>
            </a:xfrm>
            <a:prstGeom prst="rect">
              <a:avLst/>
            </a:prstGeom>
          </p:spPr>
        </p:pic>
      </p:grpSp>
      <p:grpSp>
        <p:nvGrpSpPr>
          <p:cNvPr id="60" name="Group 59">
            <a:extLst>
              <a:ext uri="{FF2B5EF4-FFF2-40B4-BE49-F238E27FC236}">
                <a16:creationId xmlns:a16="http://schemas.microsoft.com/office/drawing/2014/main" id="{4217E3C9-3914-B1C2-1452-3CD6FFE73045}"/>
              </a:ext>
            </a:extLst>
          </p:cNvPr>
          <p:cNvGrpSpPr/>
          <p:nvPr/>
        </p:nvGrpSpPr>
        <p:grpSpPr>
          <a:xfrm>
            <a:off x="8088351" y="4552596"/>
            <a:ext cx="367917" cy="367327"/>
            <a:chOff x="5455813" y="4956160"/>
            <a:chExt cx="253483" cy="253483"/>
          </a:xfrm>
        </p:grpSpPr>
        <p:sp>
          <p:nvSpPr>
            <p:cNvPr id="61" name="Oval 60">
              <a:extLst>
                <a:ext uri="{FF2B5EF4-FFF2-40B4-BE49-F238E27FC236}">
                  <a16:creationId xmlns:a16="http://schemas.microsoft.com/office/drawing/2014/main" id="{2A8DA748-14AF-B282-DE98-4233F67F381F}"/>
                </a:ext>
              </a:extLst>
            </p:cNvPr>
            <p:cNvSpPr/>
            <p:nvPr/>
          </p:nvSpPr>
          <p:spPr>
            <a:xfrm>
              <a:off x="5455813" y="4956160"/>
              <a:ext cx="253483" cy="25348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pic>
          <p:nvPicPr>
            <p:cNvPr id="62" name="Graphic 61" descr="Checkmark with solid fill">
              <a:extLst>
                <a:ext uri="{FF2B5EF4-FFF2-40B4-BE49-F238E27FC236}">
                  <a16:creationId xmlns:a16="http://schemas.microsoft.com/office/drawing/2014/main" id="{F6E135F0-5DA2-278A-FA21-B26220E5F6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0922" y="4999008"/>
              <a:ext cx="167786" cy="167786"/>
            </a:xfrm>
            <a:prstGeom prst="rect">
              <a:avLst/>
            </a:prstGeom>
          </p:spPr>
        </p:pic>
      </p:grpSp>
      <p:grpSp>
        <p:nvGrpSpPr>
          <p:cNvPr id="65" name="Group 64">
            <a:extLst>
              <a:ext uri="{FF2B5EF4-FFF2-40B4-BE49-F238E27FC236}">
                <a16:creationId xmlns:a16="http://schemas.microsoft.com/office/drawing/2014/main" id="{27E0F540-E8FD-A805-F4AB-6C6DA07E0350}"/>
              </a:ext>
            </a:extLst>
          </p:cNvPr>
          <p:cNvGrpSpPr/>
          <p:nvPr/>
        </p:nvGrpSpPr>
        <p:grpSpPr>
          <a:xfrm>
            <a:off x="8062392" y="6554501"/>
            <a:ext cx="367917" cy="367327"/>
            <a:chOff x="5455813" y="4956160"/>
            <a:chExt cx="253483" cy="253483"/>
          </a:xfrm>
        </p:grpSpPr>
        <p:sp>
          <p:nvSpPr>
            <p:cNvPr id="66" name="Oval 65">
              <a:extLst>
                <a:ext uri="{FF2B5EF4-FFF2-40B4-BE49-F238E27FC236}">
                  <a16:creationId xmlns:a16="http://schemas.microsoft.com/office/drawing/2014/main" id="{372D9797-6BCC-BBEA-C412-E8FB1CF72993}"/>
                </a:ext>
              </a:extLst>
            </p:cNvPr>
            <p:cNvSpPr/>
            <p:nvPr/>
          </p:nvSpPr>
          <p:spPr>
            <a:xfrm>
              <a:off x="5455813" y="4956160"/>
              <a:ext cx="253483" cy="25348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pic>
          <p:nvPicPr>
            <p:cNvPr id="67" name="Graphic 66" descr="Checkmark with solid fill">
              <a:extLst>
                <a:ext uri="{FF2B5EF4-FFF2-40B4-BE49-F238E27FC236}">
                  <a16:creationId xmlns:a16="http://schemas.microsoft.com/office/drawing/2014/main" id="{B9901651-0704-60B5-F5B5-3ADEDC036B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0922" y="4999008"/>
              <a:ext cx="167786" cy="167786"/>
            </a:xfrm>
            <a:prstGeom prst="rect">
              <a:avLst/>
            </a:prstGeom>
          </p:spPr>
        </p:pic>
      </p:grpSp>
      <p:grpSp>
        <p:nvGrpSpPr>
          <p:cNvPr id="69" name="Group 68">
            <a:extLst>
              <a:ext uri="{FF2B5EF4-FFF2-40B4-BE49-F238E27FC236}">
                <a16:creationId xmlns:a16="http://schemas.microsoft.com/office/drawing/2014/main" id="{16DB8576-95E4-F466-C61A-507693F41C1C}"/>
              </a:ext>
            </a:extLst>
          </p:cNvPr>
          <p:cNvGrpSpPr/>
          <p:nvPr/>
        </p:nvGrpSpPr>
        <p:grpSpPr>
          <a:xfrm>
            <a:off x="8062392" y="7305438"/>
            <a:ext cx="367917" cy="367327"/>
            <a:chOff x="5455813" y="4956160"/>
            <a:chExt cx="253483" cy="253483"/>
          </a:xfrm>
        </p:grpSpPr>
        <p:sp>
          <p:nvSpPr>
            <p:cNvPr id="70" name="Oval 69">
              <a:extLst>
                <a:ext uri="{FF2B5EF4-FFF2-40B4-BE49-F238E27FC236}">
                  <a16:creationId xmlns:a16="http://schemas.microsoft.com/office/drawing/2014/main" id="{17770FFB-56BE-7625-EE44-9F98ED0FCBD2}"/>
                </a:ext>
              </a:extLst>
            </p:cNvPr>
            <p:cNvSpPr/>
            <p:nvPr/>
          </p:nvSpPr>
          <p:spPr>
            <a:xfrm>
              <a:off x="5455813" y="4956160"/>
              <a:ext cx="253483" cy="25348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pic>
          <p:nvPicPr>
            <p:cNvPr id="71" name="Graphic 70" descr="Checkmark with solid fill">
              <a:extLst>
                <a:ext uri="{FF2B5EF4-FFF2-40B4-BE49-F238E27FC236}">
                  <a16:creationId xmlns:a16="http://schemas.microsoft.com/office/drawing/2014/main" id="{7D235D99-0AF7-65FD-6CF5-0353739683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0922" y="4999008"/>
              <a:ext cx="167786" cy="167786"/>
            </a:xfrm>
            <a:prstGeom prst="rect">
              <a:avLst/>
            </a:prstGeom>
          </p:spPr>
        </p:pic>
      </p:grpSp>
      <p:sp>
        <p:nvSpPr>
          <p:cNvPr id="20" name="Arrow: Left 19">
            <a:hlinkClick r:id="rId4" action="ppaction://hlinksldjump"/>
            <a:extLst>
              <a:ext uri="{FF2B5EF4-FFF2-40B4-BE49-F238E27FC236}">
                <a16:creationId xmlns:a16="http://schemas.microsoft.com/office/drawing/2014/main" id="{B185E613-AEAE-C03C-BE47-24E6B0BF2BF8}"/>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22" name="Picture 21">
            <a:extLst>
              <a:ext uri="{FF2B5EF4-FFF2-40B4-BE49-F238E27FC236}">
                <a16:creationId xmlns:a16="http://schemas.microsoft.com/office/drawing/2014/main" id="{5EFAA81E-C595-2C2B-52AD-194F9B41668D}"/>
              </a:ext>
            </a:extLst>
          </p:cNvPr>
          <p:cNvPicPr>
            <a:picLocks noChangeAspect="1"/>
          </p:cNvPicPr>
          <p:nvPr/>
        </p:nvPicPr>
        <p:blipFill>
          <a:blip r:embed="rId5"/>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1263561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DCEAD-D825-333F-CADB-5E106BA116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7D1A8EF-FED2-2E30-34DF-62190E8878D3}"/>
              </a:ext>
            </a:extLst>
          </p:cNvPr>
          <p:cNvSpPr>
            <a:spLocks noGrp="1"/>
          </p:cNvSpPr>
          <p:nvPr>
            <p:ph type="title"/>
          </p:nvPr>
        </p:nvSpPr>
        <p:spPr/>
        <p:txBody>
          <a:bodyPr/>
          <a:lstStyle/>
          <a:p>
            <a:r>
              <a:rPr lang="en-US"/>
              <a:t>What is the Pioneer Program(s)? </a:t>
            </a:r>
          </a:p>
        </p:txBody>
      </p:sp>
      <p:sp>
        <p:nvSpPr>
          <p:cNvPr id="7" name="Content Placeholder 6">
            <a:extLst>
              <a:ext uri="{FF2B5EF4-FFF2-40B4-BE49-F238E27FC236}">
                <a16:creationId xmlns:a16="http://schemas.microsoft.com/office/drawing/2014/main" id="{B4978202-29E7-C6B1-D94A-30A2A61D7E03}"/>
              </a:ext>
            </a:extLst>
          </p:cNvPr>
          <p:cNvSpPr>
            <a:spLocks noGrp="1"/>
          </p:cNvSpPr>
          <p:nvPr>
            <p:ph idx="1"/>
          </p:nvPr>
        </p:nvSpPr>
        <p:spPr>
          <a:xfrm>
            <a:off x="503237" y="1597026"/>
            <a:ext cx="13623926" cy="2306520"/>
          </a:xfrm>
        </p:spPr>
        <p:txBody>
          <a:bodyPr>
            <a:normAutofit/>
          </a:bodyPr>
          <a:lstStyle/>
          <a:p>
            <a:r>
              <a:rPr lang="en-US"/>
              <a:t>An</a:t>
            </a:r>
            <a:r>
              <a:rPr lang="en-US" b="1"/>
              <a:t> exclusive</a:t>
            </a:r>
            <a:r>
              <a:rPr lang="en-US"/>
              <a:t> program that gives </a:t>
            </a:r>
            <a:r>
              <a:rPr lang="en-US" b="1"/>
              <a:t>select customers </a:t>
            </a:r>
            <a:r>
              <a:rPr lang="en-US"/>
              <a:t>priority access to </a:t>
            </a:r>
            <a:r>
              <a:rPr lang="en-US" b="1"/>
              <a:t>fully released, new products</a:t>
            </a:r>
            <a:r>
              <a:rPr lang="en-US"/>
              <a:t>. The objective is to prove out new offerings and accelerate market adoption by providing commercial incentives and “white glove” service in exchange for </a:t>
            </a:r>
            <a:r>
              <a:rPr lang="en-US" b="1">
                <a:solidFill>
                  <a:schemeClr val="accent4"/>
                </a:solidFill>
              </a:rPr>
              <a:t>public testimonials </a:t>
            </a:r>
            <a:r>
              <a:rPr lang="en-US"/>
              <a:t>and product feedback, ultimately </a:t>
            </a:r>
            <a:r>
              <a:rPr lang="en-US" b="1">
                <a:solidFill>
                  <a:schemeClr val="accent4"/>
                </a:solidFill>
              </a:rPr>
              <a:t>enabling broader market sales</a:t>
            </a:r>
            <a:r>
              <a:rPr lang="en-US">
                <a:solidFill>
                  <a:schemeClr val="accent4"/>
                </a:solidFill>
              </a:rPr>
              <a:t>.</a:t>
            </a:r>
          </a:p>
          <a:p>
            <a:pPr lvl="1"/>
            <a:r>
              <a:rPr lang="en-US"/>
              <a:t>Not </a:t>
            </a:r>
            <a:r>
              <a:rPr lang="en-US" b="1"/>
              <a:t>a beta </a:t>
            </a:r>
            <a:r>
              <a:rPr lang="en-US"/>
              <a:t>program; Product will be </a:t>
            </a:r>
            <a:r>
              <a:rPr lang="en-US" b="1">
                <a:solidFill>
                  <a:srgbClr val="000000"/>
                </a:solidFill>
              </a:rPr>
              <a:t>Released to Sales at the same time </a:t>
            </a:r>
            <a:r>
              <a:rPr lang="en-US" i="1">
                <a:solidFill>
                  <a:srgbClr val="000000"/>
                </a:solidFill>
              </a:rPr>
              <a:t>(traditional order processes) </a:t>
            </a:r>
            <a:endParaRPr lang="en-US"/>
          </a:p>
          <a:p>
            <a:pPr lvl="1"/>
            <a:r>
              <a:rPr lang="en-US"/>
              <a:t>Nominations are open to all; Participation is limited and selective through a </a:t>
            </a:r>
            <a:r>
              <a:rPr lang="en-US" b="1"/>
              <a:t>qualification process </a:t>
            </a:r>
            <a:r>
              <a:rPr lang="en-US" i="1"/>
              <a:t>(see selection criteria for details)</a:t>
            </a:r>
          </a:p>
          <a:p>
            <a:pPr marL="0" indent="0">
              <a:buNone/>
            </a:pPr>
            <a:endParaRPr lang="en-US"/>
          </a:p>
        </p:txBody>
      </p:sp>
      <p:sp>
        <p:nvSpPr>
          <p:cNvPr id="5" name="TextBox 4">
            <a:extLst>
              <a:ext uri="{FF2B5EF4-FFF2-40B4-BE49-F238E27FC236}">
                <a16:creationId xmlns:a16="http://schemas.microsoft.com/office/drawing/2014/main" id="{7C0BF416-7033-14D9-04A5-FBEBE6AF7047}"/>
              </a:ext>
            </a:extLst>
          </p:cNvPr>
          <p:cNvSpPr txBox="1"/>
          <p:nvPr/>
        </p:nvSpPr>
        <p:spPr>
          <a:xfrm>
            <a:off x="761916" y="4114800"/>
            <a:ext cx="3955055" cy="3439239"/>
          </a:xfrm>
          <a:prstGeom prst="roundRect">
            <a:avLst/>
          </a:prstGeom>
          <a:solidFill>
            <a:schemeClr val="bg2">
              <a:lumMod val="20000"/>
              <a:lumOff val="80000"/>
            </a:schemeClr>
          </a:solidFill>
        </p:spPr>
        <p:txBody>
          <a:bodyPr wrap="square">
            <a:spAutoFit/>
          </a:bodyPr>
          <a:lstStyle/>
          <a:p>
            <a:pPr algn="ctr">
              <a:spcBef>
                <a:spcPts val="600"/>
              </a:spcBef>
              <a:spcAft>
                <a:spcPts val="600"/>
              </a:spcAft>
              <a:buClr>
                <a:schemeClr val="bg1">
                  <a:lumMod val="50000"/>
                </a:schemeClr>
              </a:buClr>
            </a:pPr>
            <a:r>
              <a:rPr lang="en-US" sz="1800">
                <a:latin typeface="+mj-lt"/>
                <a:ea typeface="Noto Sans" panose="020B0502040504020204" pitchFamily="34" charset="0"/>
                <a:cs typeface="Arial" panose="020B0604020202020204" pitchFamily="34" charset="0"/>
              </a:rPr>
              <a:t>NA Program KPI’s</a:t>
            </a:r>
          </a:p>
          <a:p>
            <a:pPr marL="625475" lvl="1" indent="-285750">
              <a:spcBef>
                <a:spcPts val="600"/>
              </a:spcBef>
              <a:spcAft>
                <a:spcPts val="600"/>
              </a:spcAft>
              <a:buClr>
                <a:schemeClr val="bg1">
                  <a:lumMod val="50000"/>
                </a:schemeClr>
              </a:buClr>
              <a:buFont typeface="Arial" panose="020B0604020202020204" pitchFamily="34" charset="0"/>
              <a:buChar char="•"/>
            </a:pPr>
            <a:r>
              <a:rPr lang="en-US" sz="1600">
                <a:ea typeface="Noto Sans" panose="020B0502040504020204" pitchFamily="34" charset="0"/>
                <a:cs typeface="Arial" panose="020B0604020202020204" pitchFamily="34" charset="0"/>
              </a:rPr>
              <a:t>8-10 Customers Per Product-Specific Pioneer Program</a:t>
            </a:r>
          </a:p>
          <a:p>
            <a:pPr marL="625475" lvl="1" indent="-285750">
              <a:spcBef>
                <a:spcPts val="600"/>
              </a:spcBef>
              <a:spcAft>
                <a:spcPts val="600"/>
              </a:spcAft>
              <a:buClr>
                <a:schemeClr val="bg1">
                  <a:lumMod val="50000"/>
                </a:schemeClr>
              </a:buClr>
              <a:buFont typeface="Arial" panose="020B0604020202020204" pitchFamily="34" charset="0"/>
              <a:buChar char="•"/>
            </a:pPr>
            <a:r>
              <a:rPr lang="en-US" sz="1600">
                <a:ea typeface="Noto Sans" panose="020B0502040504020204" pitchFamily="34" charset="0"/>
                <a:cs typeface="Arial" panose="020B0604020202020204" pitchFamily="34" charset="0"/>
              </a:rPr>
              <a:t>100% Ontime &amp; Successful Deployment  </a:t>
            </a:r>
          </a:p>
          <a:p>
            <a:pPr marL="625475" lvl="1" indent="-285750">
              <a:spcBef>
                <a:spcPts val="600"/>
              </a:spcBef>
              <a:spcAft>
                <a:spcPts val="600"/>
              </a:spcAft>
              <a:buClr>
                <a:schemeClr val="bg1">
                  <a:lumMod val="50000"/>
                </a:schemeClr>
              </a:buClr>
              <a:buFont typeface="Arial" panose="020B0604020202020204" pitchFamily="34" charset="0"/>
              <a:buChar char="•"/>
            </a:pPr>
            <a:r>
              <a:rPr lang="en-US" sz="1600">
                <a:ea typeface="Noto Sans" panose="020B0502040504020204" pitchFamily="34" charset="0"/>
                <a:cs typeface="Arial" panose="020B0604020202020204" pitchFamily="34" charset="0"/>
              </a:rPr>
              <a:t>90% Renewal Rate Goal</a:t>
            </a:r>
          </a:p>
          <a:p>
            <a:pPr marL="625475" lvl="1" indent="-285750">
              <a:spcBef>
                <a:spcPts val="600"/>
              </a:spcBef>
              <a:spcAft>
                <a:spcPts val="600"/>
              </a:spcAft>
              <a:buClr>
                <a:schemeClr val="bg1">
                  <a:lumMod val="50000"/>
                </a:schemeClr>
              </a:buClr>
              <a:buFont typeface="Arial" panose="020B0604020202020204" pitchFamily="34" charset="0"/>
              <a:buChar char="•"/>
            </a:pPr>
            <a:r>
              <a:rPr lang="en-US" sz="1600">
                <a:ea typeface="Noto Sans" panose="020B0502040504020204" pitchFamily="34" charset="0"/>
                <a:cs typeface="Arial" panose="020B0604020202020204" pitchFamily="34" charset="0"/>
              </a:rPr>
              <a:t>75% Expansion Rate Goal</a:t>
            </a:r>
          </a:p>
          <a:p>
            <a:pPr marL="625475" lvl="1" indent="-285750">
              <a:spcBef>
                <a:spcPts val="600"/>
              </a:spcBef>
              <a:spcAft>
                <a:spcPts val="600"/>
              </a:spcAft>
              <a:buClr>
                <a:schemeClr val="bg1">
                  <a:lumMod val="50000"/>
                </a:schemeClr>
              </a:buClr>
              <a:buFont typeface="Arial" panose="020B0604020202020204" pitchFamily="34" charset="0"/>
              <a:buChar char="•"/>
            </a:pPr>
            <a:r>
              <a:rPr lang="en-US" sz="1600">
                <a:ea typeface="Noto Sans" panose="020B0502040504020204" pitchFamily="34" charset="0"/>
                <a:cs typeface="Arial" panose="020B0604020202020204" pitchFamily="34" charset="0"/>
              </a:rPr>
              <a:t>100% Marketing Collateral Goal</a:t>
            </a:r>
          </a:p>
        </p:txBody>
      </p:sp>
      <p:graphicFrame>
        <p:nvGraphicFramePr>
          <p:cNvPr id="2" name="Table 1">
            <a:extLst>
              <a:ext uri="{FF2B5EF4-FFF2-40B4-BE49-F238E27FC236}">
                <a16:creationId xmlns:a16="http://schemas.microsoft.com/office/drawing/2014/main" id="{1A40F611-F972-323A-8D33-B165FA0D0515}"/>
              </a:ext>
            </a:extLst>
          </p:cNvPr>
          <p:cNvGraphicFramePr>
            <a:graphicFrameLocks noGrp="1"/>
          </p:cNvGraphicFramePr>
          <p:nvPr>
            <p:extLst>
              <p:ext uri="{D42A27DB-BD31-4B8C-83A1-F6EECF244321}">
                <p14:modId xmlns:p14="http://schemas.microsoft.com/office/powerpoint/2010/main" val="3438532546"/>
              </p:ext>
            </p:extLst>
          </p:nvPr>
        </p:nvGraphicFramePr>
        <p:xfrm>
          <a:off x="5200693" y="4009969"/>
          <a:ext cx="8926469" cy="3449225"/>
        </p:xfrm>
        <a:graphic>
          <a:graphicData uri="http://schemas.openxmlformats.org/drawingml/2006/table">
            <a:tbl>
              <a:tblPr firstRow="1" bandRow="1">
                <a:tableStyleId>{5C22544A-7EE6-4342-B048-85BDC9FD1C3A}</a:tableStyleId>
              </a:tblPr>
              <a:tblGrid>
                <a:gridCol w="1662815">
                  <a:extLst>
                    <a:ext uri="{9D8B030D-6E8A-4147-A177-3AD203B41FA5}">
                      <a16:colId xmlns:a16="http://schemas.microsoft.com/office/drawing/2014/main" val="272018936"/>
                    </a:ext>
                  </a:extLst>
                </a:gridCol>
                <a:gridCol w="3491775">
                  <a:extLst>
                    <a:ext uri="{9D8B030D-6E8A-4147-A177-3AD203B41FA5}">
                      <a16:colId xmlns:a16="http://schemas.microsoft.com/office/drawing/2014/main" val="1655206743"/>
                    </a:ext>
                  </a:extLst>
                </a:gridCol>
                <a:gridCol w="3771879">
                  <a:extLst>
                    <a:ext uri="{9D8B030D-6E8A-4147-A177-3AD203B41FA5}">
                      <a16:colId xmlns:a16="http://schemas.microsoft.com/office/drawing/2014/main" val="4197370912"/>
                    </a:ext>
                  </a:extLst>
                </a:gridCol>
              </a:tblGrid>
              <a:tr h="357938">
                <a:tc>
                  <a:txBody>
                    <a:bodyPr/>
                    <a:lstStyle/>
                    <a:p>
                      <a:pPr algn="ctr"/>
                      <a:endParaRPr lang="en-US" sz="1600"/>
                    </a:p>
                  </a:txBody>
                  <a:tcPr>
                    <a:solidFill>
                      <a:schemeClr val="bg1"/>
                    </a:solidFill>
                  </a:tcPr>
                </a:tc>
                <a:tc>
                  <a:txBody>
                    <a:bodyPr/>
                    <a:lstStyle/>
                    <a:p>
                      <a:pPr algn="ctr"/>
                      <a:r>
                        <a:rPr lang="en-US" sz="1600"/>
                        <a:t>Team Emerson</a:t>
                      </a:r>
                    </a:p>
                  </a:txBody>
                  <a:tcPr anchor="ctr"/>
                </a:tc>
                <a:tc>
                  <a:txBody>
                    <a:bodyPr/>
                    <a:lstStyle/>
                    <a:p>
                      <a:pPr algn="ctr"/>
                      <a:r>
                        <a:rPr lang="en-US" sz="1600"/>
                        <a:t>Customer</a:t>
                      </a:r>
                    </a:p>
                  </a:txBody>
                  <a:tcPr anchor="ctr">
                    <a:solidFill>
                      <a:srgbClr val="1B2552"/>
                    </a:solidFill>
                  </a:tcPr>
                </a:tc>
                <a:extLst>
                  <a:ext uri="{0D108BD9-81ED-4DB2-BD59-A6C34878D82A}">
                    <a16:rowId xmlns:a16="http://schemas.microsoft.com/office/drawing/2014/main" val="3349305184"/>
                  </a:ext>
                </a:extLst>
              </a:tr>
              <a:tr h="1008736">
                <a:tc>
                  <a:txBody>
                    <a:bodyPr/>
                    <a:lstStyle/>
                    <a:p>
                      <a:pPr algn="ctr"/>
                      <a:r>
                        <a:rPr lang="en-US" sz="1600" b="1"/>
                        <a:t>Purpose</a:t>
                      </a:r>
                    </a:p>
                  </a:txBody>
                  <a:tcPr anchor="ctr"/>
                </a:tc>
                <a:tc>
                  <a:txBody>
                    <a:bodyPr/>
                    <a:lstStyle/>
                    <a:p>
                      <a:pPr algn="ctr">
                        <a:spcAft>
                          <a:spcPts val="600"/>
                        </a:spcAft>
                      </a:pPr>
                      <a:r>
                        <a:rPr lang="en-US" sz="1400"/>
                        <a:t>Expedite adoption of new products through direct, early engagement with customers in a manner well-supported by Emerson and local Impact Partners</a:t>
                      </a:r>
                    </a:p>
                  </a:txBody>
                  <a:tcPr anchor="ctr"/>
                </a:tc>
                <a:tc>
                  <a:txBody>
                    <a:bodyPr/>
                    <a:lstStyle/>
                    <a:p>
                      <a:pPr algn="ctr">
                        <a:spcAft>
                          <a:spcPts val="600"/>
                        </a:spcAft>
                      </a:pPr>
                      <a:r>
                        <a:rPr lang="en-US" sz="1400"/>
                        <a:t>Accelerate their path to innovation with early access to new product, including personalized guidance and support from Emerson’s trusted experts </a:t>
                      </a:r>
                    </a:p>
                  </a:txBody>
                  <a:tcPr anchor="ctr"/>
                </a:tc>
                <a:extLst>
                  <a:ext uri="{0D108BD9-81ED-4DB2-BD59-A6C34878D82A}">
                    <a16:rowId xmlns:a16="http://schemas.microsoft.com/office/drawing/2014/main" val="1914429428"/>
                  </a:ext>
                </a:extLst>
              </a:tr>
              <a:tr h="2082551">
                <a:tc>
                  <a:txBody>
                    <a:bodyPr/>
                    <a:lstStyle/>
                    <a:p>
                      <a:pPr algn="ctr"/>
                      <a:r>
                        <a:rPr lang="en-US" sz="1600" b="1"/>
                        <a:t>Goals</a:t>
                      </a:r>
                    </a:p>
                  </a:txBody>
                  <a:tcPr anchor="ctr"/>
                </a:tc>
                <a:tc>
                  <a:txBody>
                    <a:bodyPr/>
                    <a:lstStyle/>
                    <a:p>
                      <a:pPr marL="342900" indent="-342900">
                        <a:spcAft>
                          <a:spcPts val="600"/>
                        </a:spcAft>
                        <a:buFont typeface="Arial" panose="020B0604020202020204" pitchFamily="34" charset="0"/>
                        <a:buChar char="•"/>
                      </a:pPr>
                      <a:r>
                        <a:rPr lang="en-US" sz="1400"/>
                        <a:t>Increase </a:t>
                      </a:r>
                      <a:r>
                        <a:rPr lang="en-US" sz="1400" b="1"/>
                        <a:t>early sales </a:t>
                      </a:r>
                      <a:r>
                        <a:rPr lang="en-US" sz="1400"/>
                        <a:t>of new products </a:t>
                      </a:r>
                    </a:p>
                    <a:p>
                      <a:pPr marL="342900" indent="-342900">
                        <a:spcAft>
                          <a:spcPts val="600"/>
                        </a:spcAft>
                        <a:buFont typeface="Arial" panose="020B0604020202020204" pitchFamily="34" charset="0"/>
                        <a:buChar char="•"/>
                      </a:pPr>
                      <a:r>
                        <a:rPr lang="en-US" sz="1400" b="1"/>
                        <a:t>Build user trust </a:t>
                      </a:r>
                      <a:r>
                        <a:rPr lang="en-US" sz="1400"/>
                        <a:t>in the product’s functionality and capabilities </a:t>
                      </a:r>
                    </a:p>
                    <a:p>
                      <a:pPr marL="342900" indent="-342900">
                        <a:spcAft>
                          <a:spcPts val="600"/>
                        </a:spcAft>
                        <a:buFont typeface="Arial" panose="020B0604020202020204" pitchFamily="34" charset="0"/>
                        <a:buChar char="•"/>
                      </a:pPr>
                      <a:r>
                        <a:rPr lang="en-US" sz="1400" b="1"/>
                        <a:t>Gather feedback </a:t>
                      </a:r>
                      <a:r>
                        <a:rPr lang="en-US" sz="1400"/>
                        <a:t>on the participants’ experience with the product for use in external marketing collateral </a:t>
                      </a:r>
                    </a:p>
                    <a:p>
                      <a:pPr marL="342900" indent="-342900">
                        <a:spcAft>
                          <a:spcPts val="600"/>
                        </a:spcAft>
                        <a:buFont typeface="Arial" panose="020B0604020202020204" pitchFamily="34" charset="0"/>
                        <a:buChar char="•"/>
                      </a:pPr>
                      <a:r>
                        <a:rPr lang="en-US" sz="1400" b="1"/>
                        <a:t>Enable broader market sales </a:t>
                      </a:r>
                    </a:p>
                  </a:txBody>
                  <a:tcPr anchor="ctr"/>
                </a:tc>
                <a:tc>
                  <a:txBody>
                    <a:bodyPr/>
                    <a:lstStyle/>
                    <a:p>
                      <a:pPr marL="342900" indent="-342900">
                        <a:spcAft>
                          <a:spcPts val="600"/>
                        </a:spcAft>
                        <a:buFont typeface="Arial" panose="020B0604020202020204" pitchFamily="34" charset="0"/>
                        <a:buChar char="•"/>
                      </a:pPr>
                      <a:r>
                        <a:rPr lang="en-US" sz="1400" b="1"/>
                        <a:t>Demonstrate the product’s proven functionality </a:t>
                      </a:r>
                      <a:r>
                        <a:rPr lang="en-US" sz="1400"/>
                        <a:t>and capabilities </a:t>
                      </a:r>
                    </a:p>
                    <a:p>
                      <a:pPr marL="342900" indent="-342900">
                        <a:spcAft>
                          <a:spcPts val="600"/>
                        </a:spcAft>
                        <a:buFont typeface="Arial" panose="020B0604020202020204" pitchFamily="34" charset="0"/>
                        <a:buChar char="•"/>
                      </a:pPr>
                      <a:r>
                        <a:rPr lang="en-US" sz="1400"/>
                        <a:t>Partner with Emerson to </a:t>
                      </a:r>
                      <a:r>
                        <a:rPr lang="en-US" sz="1400" b="1"/>
                        <a:t>shape the product’s roadmap </a:t>
                      </a:r>
                      <a:r>
                        <a:rPr lang="en-US" sz="1400"/>
                        <a:t>by sharing feedback and enhancement opportunities </a:t>
                      </a:r>
                    </a:p>
                    <a:p>
                      <a:pPr marL="342900" indent="-342900">
                        <a:spcAft>
                          <a:spcPts val="600"/>
                        </a:spcAft>
                        <a:buFont typeface="Arial" panose="020B0604020202020204" pitchFamily="34" charset="0"/>
                        <a:buChar char="•"/>
                      </a:pPr>
                      <a:r>
                        <a:rPr lang="en-US" sz="1400"/>
                        <a:t>Share your experience with the product </a:t>
                      </a:r>
                      <a:r>
                        <a:rPr lang="en-US" sz="1400" b="1"/>
                        <a:t>directly with our product owners</a:t>
                      </a:r>
                      <a:r>
                        <a:rPr lang="en-US" sz="1400"/>
                        <a:t> and help others learn</a:t>
                      </a:r>
                    </a:p>
                  </a:txBody>
                  <a:tcPr anchor="ctr"/>
                </a:tc>
                <a:extLst>
                  <a:ext uri="{0D108BD9-81ED-4DB2-BD59-A6C34878D82A}">
                    <a16:rowId xmlns:a16="http://schemas.microsoft.com/office/drawing/2014/main" val="338921211"/>
                  </a:ext>
                </a:extLst>
              </a:tr>
            </a:tbl>
          </a:graphicData>
        </a:graphic>
      </p:graphicFrame>
      <p:sp>
        <p:nvSpPr>
          <p:cNvPr id="3" name="Content Placeholder 6">
            <a:extLst>
              <a:ext uri="{FF2B5EF4-FFF2-40B4-BE49-F238E27FC236}">
                <a16:creationId xmlns:a16="http://schemas.microsoft.com/office/drawing/2014/main" id="{AD261961-75D6-EDD9-D96B-04463DB5D290}"/>
              </a:ext>
            </a:extLst>
          </p:cNvPr>
          <p:cNvSpPr txBox="1">
            <a:spLocks/>
          </p:cNvSpPr>
          <p:nvPr/>
        </p:nvSpPr>
        <p:spPr>
          <a:xfrm>
            <a:off x="5200693" y="3903546"/>
            <a:ext cx="2039124" cy="331903"/>
          </a:xfrm>
          <a:prstGeom prst="rect">
            <a:avLst/>
          </a:prstGeom>
        </p:spPr>
        <p:txBody>
          <a:bodyPr vert="horz" lIns="91440" tIns="91440" rIns="91440" bIns="45720" rtlCol="0">
            <a:normAutofit lnSpcReduction="1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buFont typeface="Arial" panose="020B0604020202020204" pitchFamily="34" charset="0"/>
              <a:buNone/>
            </a:pPr>
            <a:r>
              <a:rPr lang="en-US" sz="1400" b="1"/>
              <a:t>More details…</a:t>
            </a:r>
            <a:endParaRPr lang="en-US" sz="1400"/>
          </a:p>
        </p:txBody>
      </p:sp>
      <p:sp>
        <p:nvSpPr>
          <p:cNvPr id="10" name="Arrow: Left 9">
            <a:hlinkClick r:id="rId3" action="ppaction://hlinksldjump"/>
            <a:extLst>
              <a:ext uri="{FF2B5EF4-FFF2-40B4-BE49-F238E27FC236}">
                <a16:creationId xmlns:a16="http://schemas.microsoft.com/office/drawing/2014/main" id="{BC4E4526-76CB-C979-6338-35662E443493}"/>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11" name="Picture 10">
            <a:extLst>
              <a:ext uri="{FF2B5EF4-FFF2-40B4-BE49-F238E27FC236}">
                <a16:creationId xmlns:a16="http://schemas.microsoft.com/office/drawing/2014/main" id="{39B43C7C-28F3-2E2C-4FD9-9638A0126A83}"/>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2614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8F13-97A3-177B-6BEA-F4EFC6805BFD}"/>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7D3AB44A-83FE-CBC1-47DD-0385D347723A}"/>
              </a:ext>
            </a:extLst>
          </p:cNvPr>
          <p:cNvSpPr>
            <a:spLocks noGrp="1"/>
          </p:cNvSpPr>
          <p:nvPr>
            <p:ph type="title"/>
          </p:nvPr>
        </p:nvSpPr>
        <p:spPr>
          <a:xfrm>
            <a:off x="503237" y="329565"/>
            <a:ext cx="13623925" cy="1016350"/>
          </a:xfrm>
        </p:spPr>
        <p:txBody>
          <a:bodyPr anchor="b">
            <a:normAutofit/>
          </a:bodyPr>
          <a:lstStyle/>
          <a:p>
            <a:r>
              <a:rPr lang="en-US"/>
              <a:t>What is the Pioneer Program(s)? </a:t>
            </a:r>
            <a:br>
              <a:rPr lang="en-US"/>
            </a:br>
            <a:r>
              <a:rPr lang="en-US" sz="2400">
                <a:latin typeface="+mn-lt"/>
              </a:rPr>
              <a:t>Details on Commercial Incentives, White Glove Service, and Customer Ask  </a:t>
            </a:r>
          </a:p>
        </p:txBody>
      </p:sp>
      <p:grpSp>
        <p:nvGrpSpPr>
          <p:cNvPr id="9" name="Group 8">
            <a:extLst>
              <a:ext uri="{FF2B5EF4-FFF2-40B4-BE49-F238E27FC236}">
                <a16:creationId xmlns:a16="http://schemas.microsoft.com/office/drawing/2014/main" id="{E97EC579-68E5-35C2-3449-676A2F9955CE}"/>
              </a:ext>
            </a:extLst>
          </p:cNvPr>
          <p:cNvGrpSpPr/>
          <p:nvPr/>
        </p:nvGrpSpPr>
        <p:grpSpPr>
          <a:xfrm>
            <a:off x="3380456" y="1581006"/>
            <a:ext cx="5324016" cy="6478473"/>
            <a:chOff x="4176169" y="1076985"/>
            <a:chExt cx="6278062" cy="6075629"/>
          </a:xfrm>
          <a:solidFill>
            <a:srgbClr val="004B8D"/>
          </a:solidFill>
        </p:grpSpPr>
        <p:grpSp>
          <p:nvGrpSpPr>
            <p:cNvPr id="2" name="Group 1">
              <a:extLst>
                <a:ext uri="{FF2B5EF4-FFF2-40B4-BE49-F238E27FC236}">
                  <a16:creationId xmlns:a16="http://schemas.microsoft.com/office/drawing/2014/main" id="{CDA8548A-8226-D9D3-324B-176D90E25DF4}"/>
                </a:ext>
              </a:extLst>
            </p:cNvPr>
            <p:cNvGrpSpPr/>
            <p:nvPr/>
          </p:nvGrpSpPr>
          <p:grpSpPr>
            <a:xfrm>
              <a:off x="4176169" y="1076985"/>
              <a:ext cx="6278062" cy="547200"/>
              <a:chOff x="65" y="133726"/>
              <a:chExt cx="6278062" cy="547200"/>
            </a:xfrm>
            <a:grpFill/>
          </p:grpSpPr>
          <p:sp>
            <p:nvSpPr>
              <p:cNvPr id="7" name="Rectangle 6">
                <a:extLst>
                  <a:ext uri="{FF2B5EF4-FFF2-40B4-BE49-F238E27FC236}">
                    <a16:creationId xmlns:a16="http://schemas.microsoft.com/office/drawing/2014/main" id="{E0D02207-C41A-2AA4-EFC3-B50D390E7AB6}"/>
                  </a:ext>
                </a:extLst>
              </p:cNvPr>
              <p:cNvSpPr/>
              <p:nvPr/>
            </p:nvSpPr>
            <p:spPr>
              <a:xfrm>
                <a:off x="65" y="133726"/>
                <a:ext cx="6278062" cy="547200"/>
              </a:xfrm>
              <a:prstGeom prst="rect">
                <a:avLst/>
              </a:prstGeom>
              <a:grpFill/>
            </p:spPr>
            <p:style>
              <a:lnRef idx="2">
                <a:schemeClr val="accent3">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a:lstStyle/>
              <a:p>
                <a:endParaRPr lang="en-US" sz="2800"/>
              </a:p>
            </p:txBody>
          </p:sp>
          <p:sp>
            <p:nvSpPr>
              <p:cNvPr id="8" name="TextBox 7">
                <a:extLst>
                  <a:ext uri="{FF2B5EF4-FFF2-40B4-BE49-F238E27FC236}">
                    <a16:creationId xmlns:a16="http://schemas.microsoft.com/office/drawing/2014/main" id="{C87DA0FB-D24B-E550-3F1D-09D16B24B548}"/>
                  </a:ext>
                </a:extLst>
              </p:cNvPr>
              <p:cNvSpPr txBox="1"/>
              <p:nvPr/>
            </p:nvSpPr>
            <p:spPr>
              <a:xfrm>
                <a:off x="65" y="133726"/>
                <a:ext cx="6278062" cy="54720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800" b="1" kern="1200"/>
                  <a:t>Team Emerson Provides  </a:t>
                </a:r>
              </a:p>
            </p:txBody>
          </p:sp>
        </p:grpSp>
        <p:grpSp>
          <p:nvGrpSpPr>
            <p:cNvPr id="3" name="Group 2">
              <a:extLst>
                <a:ext uri="{FF2B5EF4-FFF2-40B4-BE49-F238E27FC236}">
                  <a16:creationId xmlns:a16="http://schemas.microsoft.com/office/drawing/2014/main" id="{5BCEA40B-DD82-1218-C42B-0887DE650B74}"/>
                </a:ext>
              </a:extLst>
            </p:cNvPr>
            <p:cNvGrpSpPr/>
            <p:nvPr/>
          </p:nvGrpSpPr>
          <p:grpSpPr>
            <a:xfrm>
              <a:off x="4176169" y="1624184"/>
              <a:ext cx="6278062" cy="5528430"/>
              <a:chOff x="65" y="680925"/>
              <a:chExt cx="6278062" cy="5528430"/>
            </a:xfrm>
            <a:grpFill/>
          </p:grpSpPr>
          <p:sp>
            <p:nvSpPr>
              <p:cNvPr id="5" name="Rectangle 4">
                <a:extLst>
                  <a:ext uri="{FF2B5EF4-FFF2-40B4-BE49-F238E27FC236}">
                    <a16:creationId xmlns:a16="http://schemas.microsoft.com/office/drawing/2014/main" id="{22313698-B1BF-EBDF-23DA-C3E854FC06DA}"/>
                  </a:ext>
                </a:extLst>
              </p:cNvPr>
              <p:cNvSpPr/>
              <p:nvPr/>
            </p:nvSpPr>
            <p:spPr>
              <a:xfrm>
                <a:off x="65" y="680926"/>
                <a:ext cx="6278062" cy="5528429"/>
              </a:xfrm>
              <a:prstGeom prst="rect">
                <a:avLst/>
              </a:prstGeom>
              <a:solidFill>
                <a:srgbClr val="CBD0DB"/>
              </a:solidFill>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a:lstStyle/>
              <a:p>
                <a:endParaRPr lang="en-US" sz="2800"/>
              </a:p>
            </p:txBody>
          </p:sp>
          <p:sp>
            <p:nvSpPr>
              <p:cNvPr id="6" name="TextBox 5">
                <a:extLst>
                  <a:ext uri="{FF2B5EF4-FFF2-40B4-BE49-F238E27FC236}">
                    <a16:creationId xmlns:a16="http://schemas.microsoft.com/office/drawing/2014/main" id="{07D982FA-6B95-E83B-EFF2-269155B8CCCC}"/>
                  </a:ext>
                </a:extLst>
              </p:cNvPr>
              <p:cNvSpPr txBox="1"/>
              <p:nvPr/>
            </p:nvSpPr>
            <p:spPr>
              <a:xfrm>
                <a:off x="65" y="680925"/>
                <a:ext cx="6278062" cy="4576762"/>
              </a:xfrm>
              <a:prstGeom prst="rect">
                <a:avLst/>
              </a:prstGeom>
              <a:solidFill>
                <a:srgbClr val="CBD0DB"/>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1346" tIns="101346" rIns="135128" bIns="152019" numCol="1" spcCol="1270" anchor="t" anchorCtr="0">
                <a:noAutofit/>
              </a:bodyPr>
              <a:lstStyle/>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a:solidFill>
                      <a:srgbClr val="000000">
                        <a:hueOff val="0"/>
                        <a:satOff val="0"/>
                        <a:lumOff val="0"/>
                        <a:alphaOff val="0"/>
                      </a:srgbClr>
                    </a:solidFill>
                    <a:latin typeface="Arial"/>
                    <a:ea typeface="Noto Sans"/>
                    <a:cs typeface="Arial"/>
                  </a:rPr>
                  <a:t>Commercial incentives within “commitment” order form</a:t>
                </a:r>
              </a:p>
              <a:p>
                <a:pPr marL="342900" lvl="2" indent="-171450" algn="l" defTabSz="1463040" rtl="0" eaLnBrk="1" latinLnBrk="0" hangingPunct="1">
                  <a:lnSpc>
                    <a:spcPct val="90000"/>
                  </a:lnSpc>
                  <a:spcBef>
                    <a:spcPts val="600"/>
                  </a:spcBef>
                  <a:spcAft>
                    <a:spcPts val="600"/>
                  </a:spcAft>
                  <a:buClr>
                    <a:srgbClr val="FFFFFF">
                      <a:lumMod val="50000"/>
                    </a:srgbClr>
                  </a:buClr>
                  <a:buFontTx/>
                  <a:buChar char="◦"/>
                </a:pPr>
                <a:r>
                  <a:rPr lang="en-US" sz="1800" kern="1200">
                    <a:solidFill>
                      <a:srgbClr val="000000">
                        <a:hueOff val="0"/>
                        <a:satOff val="0"/>
                        <a:lumOff val="0"/>
                        <a:alphaOff val="0"/>
                      </a:srgbClr>
                    </a:solidFill>
                    <a:latin typeface="Arial"/>
                    <a:ea typeface="Noto Sans"/>
                    <a:cs typeface="Arial"/>
                  </a:rPr>
                  <a:t>Pioneer Term:</a:t>
                </a:r>
              </a:p>
              <a:p>
                <a:pPr marL="627063" lvl="1" indent="-287338" algn="l" defTabSz="1463040" rtl="0" eaLnBrk="1" latinLnBrk="0" hangingPunct="1">
                  <a:lnSpc>
                    <a:spcPct val="90000"/>
                  </a:lnSpc>
                  <a:spcBef>
                    <a:spcPts val="600"/>
                  </a:spcBef>
                  <a:spcAft>
                    <a:spcPts val="600"/>
                  </a:spcAft>
                  <a:buClr>
                    <a:schemeClr val="bg1">
                      <a:lumMod val="50000"/>
                    </a:schemeClr>
                  </a:buClr>
                  <a:buFont typeface="Arial" panose="020B0604020202020204" pitchFamily="34" charset="0"/>
                  <a:buChar char="–"/>
                </a:pPr>
                <a:r>
                  <a:rPr lang="en-US" sz="1800" kern="1200">
                    <a:solidFill>
                      <a:schemeClr val="tx1"/>
                    </a:solidFill>
                    <a:latin typeface="+mn-lt"/>
                    <a:ea typeface="Noto Sans" panose="020B0502040504020204" pitchFamily="34" charset="0"/>
                    <a:cs typeface="Arial" panose="020B0604020202020204" pitchFamily="34" charset="0"/>
                  </a:rPr>
                  <a:t>1-year subscription at no charge (product support included)</a:t>
                </a:r>
              </a:p>
              <a:p>
                <a:pPr marL="627063" lvl="1" indent="-287338" algn="l" defTabSz="1463040" rtl="0" eaLnBrk="1" latinLnBrk="0" hangingPunct="1">
                  <a:lnSpc>
                    <a:spcPct val="90000"/>
                  </a:lnSpc>
                  <a:spcBef>
                    <a:spcPts val="600"/>
                  </a:spcBef>
                  <a:spcAft>
                    <a:spcPts val="600"/>
                  </a:spcAft>
                  <a:buClr>
                    <a:schemeClr val="bg1">
                      <a:lumMod val="50000"/>
                    </a:schemeClr>
                  </a:buClr>
                  <a:buFont typeface="Arial" panose="020B0604020202020204" pitchFamily="34" charset="0"/>
                  <a:buChar char="–"/>
                </a:pPr>
                <a:r>
                  <a:rPr lang="en-US" sz="1800" kern="1200">
                    <a:solidFill>
                      <a:schemeClr val="tx1"/>
                    </a:solidFill>
                    <a:latin typeface="+mn-lt"/>
                    <a:ea typeface="Noto Sans" panose="020B0502040504020204" pitchFamily="34" charset="0"/>
                    <a:cs typeface="Arial" panose="020B0604020202020204" pitchFamily="34" charset="0"/>
                  </a:rPr>
                  <a:t>“White glove</a:t>
                </a:r>
                <a:r>
                  <a:rPr lang="en-US" sz="1800">
                    <a:solidFill>
                      <a:schemeClr val="tx1"/>
                    </a:solidFill>
                    <a:ea typeface="Noto Sans" panose="020B0502040504020204" pitchFamily="34" charset="0"/>
                    <a:cs typeface="Arial" panose="020B0604020202020204" pitchFamily="34" charset="0"/>
                  </a:rPr>
                  <a:t> </a:t>
                </a:r>
                <a:r>
                  <a:rPr lang="en-US" sz="1800" kern="1200">
                    <a:solidFill>
                      <a:schemeClr val="tx1"/>
                    </a:solidFill>
                    <a:latin typeface="+mn-lt"/>
                    <a:ea typeface="Noto Sans" panose="020B0502040504020204" pitchFamily="34" charset="0"/>
                    <a:cs typeface="Arial" panose="020B0604020202020204" pitchFamily="34" charset="0"/>
                  </a:rPr>
                  <a:t>service”</a:t>
                </a:r>
                <a:r>
                  <a:rPr lang="en-US" sz="1800">
                    <a:solidFill>
                      <a:schemeClr val="tx1"/>
                    </a:solidFill>
                    <a:ea typeface="Noto Sans" panose="020B0502040504020204" pitchFamily="34" charset="0"/>
                    <a:cs typeface="Arial" panose="020B0604020202020204" pitchFamily="34" charset="0"/>
                  </a:rPr>
                  <a:t> and e</a:t>
                </a:r>
                <a:r>
                  <a:rPr lang="en-US" sz="1800" kern="1200">
                    <a:solidFill>
                      <a:schemeClr val="tx1"/>
                    </a:solidFill>
                    <a:latin typeface="+mn-lt"/>
                    <a:ea typeface="Noto Sans" panose="020B0502040504020204" pitchFamily="34" charset="0"/>
                    <a:cs typeface="Arial" panose="020B0604020202020204" pitchFamily="34" charset="0"/>
                  </a:rPr>
                  <a:t>xpedited product support</a:t>
                </a:r>
              </a:p>
              <a:p>
                <a:pPr marL="342900" lvl="2" indent="-171450" algn="l" defTabSz="1463040" rtl="0" eaLnBrk="1" latinLnBrk="0" hangingPunct="1">
                  <a:lnSpc>
                    <a:spcPct val="90000"/>
                  </a:lnSpc>
                  <a:spcBef>
                    <a:spcPts val="600"/>
                  </a:spcBef>
                  <a:spcAft>
                    <a:spcPts val="600"/>
                  </a:spcAft>
                  <a:buClr>
                    <a:srgbClr val="FFFFFF">
                      <a:lumMod val="50000"/>
                    </a:srgbClr>
                  </a:buClr>
                  <a:buFontTx/>
                  <a:buChar char="◦"/>
                </a:pPr>
                <a:r>
                  <a:rPr lang="en-US" sz="1800" kern="1200">
                    <a:solidFill>
                      <a:srgbClr val="000000">
                        <a:hueOff val="0"/>
                        <a:satOff val="0"/>
                        <a:lumOff val="0"/>
                        <a:alphaOff val="0"/>
                      </a:srgbClr>
                    </a:solidFill>
                    <a:latin typeface="Arial"/>
                    <a:ea typeface="Noto Sans"/>
                    <a:cs typeface="Arial"/>
                  </a:rPr>
                  <a:t>One-time offer during Pioneer Term, contingent upon completing the program (as defined):</a:t>
                </a:r>
              </a:p>
              <a:p>
                <a:pPr marL="627063" lvl="1" indent="-287338"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a:solidFill>
                      <a:srgbClr val="000000"/>
                    </a:solidFill>
                    <a:latin typeface="Arial"/>
                    <a:ea typeface="Noto Sans" panose="020B0502040504020204" pitchFamily="34" charset="0"/>
                    <a:cs typeface="Arial" panose="020B0604020202020204" pitchFamily="34" charset="0"/>
                  </a:rPr>
                  <a:t>Renewal Incentive: 50% off the first year of </a:t>
                </a:r>
                <a:r>
                  <a:rPr lang="en-US" sz="1800">
                    <a:solidFill>
                      <a:srgbClr val="000000"/>
                    </a:solidFill>
                    <a:latin typeface="Arial"/>
                    <a:ea typeface="Noto Sans" panose="020B0502040504020204" pitchFamily="34" charset="0"/>
                    <a:cs typeface="Arial" panose="020B0604020202020204" pitchFamily="34" charset="0"/>
                  </a:rPr>
                  <a:t>the </a:t>
                </a:r>
                <a:r>
                  <a:rPr lang="en-US" sz="1800" kern="1200">
                    <a:solidFill>
                      <a:srgbClr val="000000"/>
                    </a:solidFill>
                    <a:latin typeface="Arial"/>
                    <a:ea typeface="Noto Sans" panose="020B0502040504020204" pitchFamily="34" charset="0"/>
                    <a:cs typeface="Arial" panose="020B0604020202020204" pitchFamily="34" charset="0"/>
                  </a:rPr>
                  <a:t>multi-year software subscription license for the pioneer system </a:t>
                </a:r>
              </a:p>
              <a:p>
                <a:pPr marL="627063" lvl="1" indent="-287338"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a:solidFill>
                      <a:srgbClr val="000000"/>
                    </a:solidFill>
                    <a:latin typeface="Arial"/>
                    <a:ea typeface="Noto Sans" panose="020B0502040504020204" pitchFamily="34" charset="0"/>
                    <a:cs typeface="Arial" panose="020B0604020202020204" pitchFamily="34" charset="0"/>
                  </a:rPr>
                  <a:t>Expansion Incentive: Renewal offer applies to additional systems purchased in renewal year; Not eligible for no-charge service</a:t>
                </a:r>
              </a:p>
              <a:p>
                <a:pPr marL="342900" lvl="2" indent="-171450" algn="l" defTabSz="1463040" rtl="0" eaLnBrk="1" latinLnBrk="0" hangingPunct="1">
                  <a:lnSpc>
                    <a:spcPct val="90000"/>
                  </a:lnSpc>
                  <a:spcBef>
                    <a:spcPts val="600"/>
                  </a:spcBef>
                  <a:spcAft>
                    <a:spcPts val="600"/>
                  </a:spcAft>
                  <a:buClr>
                    <a:srgbClr val="FFFFFF">
                      <a:lumMod val="50000"/>
                    </a:srgbClr>
                  </a:buClr>
                  <a:buFontTx/>
                  <a:buChar char="◦"/>
                </a:pPr>
                <a:r>
                  <a:rPr lang="en-US" sz="1800" kern="1200">
                    <a:solidFill>
                      <a:srgbClr val="000000">
                        <a:hueOff val="0"/>
                        <a:satOff val="0"/>
                        <a:lumOff val="0"/>
                        <a:alphaOff val="0"/>
                      </a:srgbClr>
                    </a:solidFill>
                    <a:latin typeface="Arial"/>
                    <a:ea typeface="Noto Sans"/>
                    <a:cs typeface="Arial"/>
                  </a:rPr>
                  <a:t>Product-specific clarifications apply (see product slides for details) </a:t>
                </a:r>
              </a:p>
            </p:txBody>
          </p:sp>
        </p:grpSp>
      </p:grpSp>
      <p:grpSp>
        <p:nvGrpSpPr>
          <p:cNvPr id="17" name="Group 16">
            <a:extLst>
              <a:ext uri="{FF2B5EF4-FFF2-40B4-BE49-F238E27FC236}">
                <a16:creationId xmlns:a16="http://schemas.microsoft.com/office/drawing/2014/main" id="{19AC31A8-E463-0F23-F60E-3262324F66BB}"/>
              </a:ext>
            </a:extLst>
          </p:cNvPr>
          <p:cNvGrpSpPr/>
          <p:nvPr/>
        </p:nvGrpSpPr>
        <p:grpSpPr>
          <a:xfrm>
            <a:off x="8918444" y="1581007"/>
            <a:ext cx="5324016" cy="6478472"/>
            <a:chOff x="4176169" y="1076985"/>
            <a:chExt cx="6278062" cy="6075629"/>
          </a:xfrm>
        </p:grpSpPr>
        <p:grpSp>
          <p:nvGrpSpPr>
            <p:cNvPr id="10" name="Group 9">
              <a:extLst>
                <a:ext uri="{FF2B5EF4-FFF2-40B4-BE49-F238E27FC236}">
                  <a16:creationId xmlns:a16="http://schemas.microsoft.com/office/drawing/2014/main" id="{8DC57CED-C144-96F2-7EE0-5F1A6E50B19B}"/>
                </a:ext>
              </a:extLst>
            </p:cNvPr>
            <p:cNvGrpSpPr/>
            <p:nvPr/>
          </p:nvGrpSpPr>
          <p:grpSpPr>
            <a:xfrm>
              <a:off x="4176169" y="1076985"/>
              <a:ext cx="6278062" cy="547200"/>
              <a:chOff x="7157056" y="133726"/>
              <a:chExt cx="6278062" cy="547200"/>
            </a:xfrm>
          </p:grpSpPr>
          <p:sp>
            <p:nvSpPr>
              <p:cNvPr id="15" name="Rectangle 14">
                <a:extLst>
                  <a:ext uri="{FF2B5EF4-FFF2-40B4-BE49-F238E27FC236}">
                    <a16:creationId xmlns:a16="http://schemas.microsoft.com/office/drawing/2014/main" id="{D57E8A1C-7136-3F83-E2CC-D71873513EEC}"/>
                  </a:ext>
                </a:extLst>
              </p:cNvPr>
              <p:cNvSpPr/>
              <p:nvPr/>
            </p:nvSpPr>
            <p:spPr>
              <a:xfrm>
                <a:off x="7157056" y="133726"/>
                <a:ext cx="6278062" cy="547200"/>
              </a:xfrm>
              <a:prstGeom prst="rect">
                <a:avLst/>
              </a:prstGeom>
            </p:spPr>
            <p:style>
              <a:lnRef idx="2">
                <a:schemeClr val="accent3">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a:lstStyle/>
              <a:p>
                <a:endParaRPr lang="en-US" sz="1800"/>
              </a:p>
            </p:txBody>
          </p:sp>
          <p:sp>
            <p:nvSpPr>
              <p:cNvPr id="16" name="TextBox 15">
                <a:extLst>
                  <a:ext uri="{FF2B5EF4-FFF2-40B4-BE49-F238E27FC236}">
                    <a16:creationId xmlns:a16="http://schemas.microsoft.com/office/drawing/2014/main" id="{81BDAE5B-2662-06FC-23CB-E5AB5FDBE008}"/>
                  </a:ext>
                </a:extLst>
              </p:cNvPr>
              <p:cNvSpPr txBox="1"/>
              <p:nvPr/>
            </p:nvSpPr>
            <p:spPr>
              <a:xfrm>
                <a:off x="7157056" y="133726"/>
                <a:ext cx="6278062" cy="5472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800" b="1" kern="1200"/>
                  <a:t>Customer Expectations </a:t>
                </a:r>
              </a:p>
            </p:txBody>
          </p:sp>
        </p:grpSp>
        <p:grpSp>
          <p:nvGrpSpPr>
            <p:cNvPr id="12" name="Group 11">
              <a:extLst>
                <a:ext uri="{FF2B5EF4-FFF2-40B4-BE49-F238E27FC236}">
                  <a16:creationId xmlns:a16="http://schemas.microsoft.com/office/drawing/2014/main" id="{809A5E54-8771-08C9-B3E8-6DBDC6C535CB}"/>
                </a:ext>
              </a:extLst>
            </p:cNvPr>
            <p:cNvGrpSpPr/>
            <p:nvPr/>
          </p:nvGrpSpPr>
          <p:grpSpPr>
            <a:xfrm>
              <a:off x="4176169" y="1624185"/>
              <a:ext cx="6278062" cy="5528429"/>
              <a:chOff x="7157056" y="680926"/>
              <a:chExt cx="6278062" cy="5528429"/>
            </a:xfrm>
          </p:grpSpPr>
          <p:sp>
            <p:nvSpPr>
              <p:cNvPr id="13" name="Rectangle 12">
                <a:extLst>
                  <a:ext uri="{FF2B5EF4-FFF2-40B4-BE49-F238E27FC236}">
                    <a16:creationId xmlns:a16="http://schemas.microsoft.com/office/drawing/2014/main" id="{7FF0F785-0FE4-E07B-C8A5-61DFEC964AF5}"/>
                  </a:ext>
                </a:extLst>
              </p:cNvPr>
              <p:cNvSpPr/>
              <p:nvPr/>
            </p:nvSpPr>
            <p:spPr>
              <a:xfrm>
                <a:off x="7157056" y="680926"/>
                <a:ext cx="6278062" cy="5528429"/>
              </a:xfrm>
              <a:prstGeom prst="rect">
                <a:avLst/>
              </a:pr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a:lstStyle/>
              <a:p>
                <a:endParaRPr lang="en-US" sz="1800"/>
              </a:p>
            </p:txBody>
          </p:sp>
          <p:sp>
            <p:nvSpPr>
              <p:cNvPr id="14" name="TextBox 13">
                <a:extLst>
                  <a:ext uri="{FF2B5EF4-FFF2-40B4-BE49-F238E27FC236}">
                    <a16:creationId xmlns:a16="http://schemas.microsoft.com/office/drawing/2014/main" id="{BD499C8C-44EF-074C-8F60-36E21046F52E}"/>
                  </a:ext>
                </a:extLst>
              </p:cNvPr>
              <p:cNvSpPr txBox="1"/>
              <p:nvPr/>
            </p:nvSpPr>
            <p:spPr>
              <a:xfrm>
                <a:off x="7157056" y="680926"/>
                <a:ext cx="6278062" cy="55284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1346" tIns="101346" rIns="135128" bIns="152019" numCol="1" spcCol="1270" anchor="t" anchorCtr="0">
                <a:noAutofit/>
              </a:bodyPr>
              <a:lstStyle/>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a:latin typeface="Arial"/>
                    <a:ea typeface="Noto Sans"/>
                    <a:cs typeface="Arial"/>
                  </a:rPr>
                  <a:t>Assign a point of contact for the full duration of the program (see project phases for details)</a:t>
                </a:r>
              </a:p>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a:latin typeface="Arial"/>
                    <a:ea typeface="Noto Sans"/>
                    <a:cs typeface="Arial"/>
                  </a:rPr>
                  <a:t>Sign the “commitment” order form</a:t>
                </a:r>
              </a:p>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a:latin typeface="Arial"/>
                    <a:ea typeface="Noto Sans"/>
                    <a:cs typeface="Arial"/>
                  </a:rPr>
                  <a:t>Meet product-specific prerequisites (see product slides for details)</a:t>
                </a:r>
              </a:p>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a:latin typeface="Arial"/>
                    <a:ea typeface="Noto Sans"/>
                    <a:cs typeface="Arial"/>
                  </a:rPr>
                  <a:t>Complete the program:</a:t>
                </a:r>
              </a:p>
              <a:p>
                <a:pPr marL="342900" lvl="2" indent="-171450">
                  <a:lnSpc>
                    <a:spcPct val="90000"/>
                  </a:lnSpc>
                  <a:spcBef>
                    <a:spcPts val="600"/>
                  </a:spcBef>
                  <a:spcAft>
                    <a:spcPts val="600"/>
                  </a:spcAft>
                  <a:buClr>
                    <a:srgbClr val="FFFFFF">
                      <a:lumMod val="50000"/>
                    </a:srgbClr>
                  </a:buClr>
                  <a:buFontTx/>
                  <a:buChar char="◦"/>
                </a:pPr>
                <a:r>
                  <a:rPr lang="en-US" sz="1800" kern="1200">
                    <a:latin typeface="Arial"/>
                    <a:ea typeface="Noto Sans"/>
                    <a:cs typeface="Arial"/>
                  </a:rPr>
                  <a:t>Use the product consistently throughout the program
Join scheduled check-ins and share feedback on usability, performance, and functional fit
Report issues and requests (bugs, defects, enhancements) via designated channels
Participate in a closeout workshop to review program outcomes
Provide public testimonials preferably under the company name</a:t>
                </a:r>
                <a:r>
                  <a:rPr lang="en-US" sz="1800">
                    <a:latin typeface="Arial"/>
                    <a:ea typeface="Noto Sans"/>
                    <a:cs typeface="Arial"/>
                  </a:rPr>
                  <a:t> </a:t>
                </a:r>
                <a:r>
                  <a:rPr lang="en-US" sz="1800" kern="1200">
                    <a:latin typeface="Arial"/>
                    <a:ea typeface="Noto Sans"/>
                    <a:cs typeface="Arial"/>
                  </a:rPr>
                  <a:t>for external marketing</a:t>
                </a:r>
                <a:r>
                  <a:rPr lang="en-US" sz="1800">
                    <a:ea typeface="Noto Sans"/>
                    <a:cs typeface="Arial"/>
                  </a:rPr>
                  <a:t> (quote, success story, whitepaper, video, Exchange paper, etc.)</a:t>
                </a:r>
                <a:endParaRPr lang="en-US" sz="1800" kern="1200">
                  <a:latin typeface="Arial"/>
                  <a:ea typeface="Noto Sans"/>
                  <a:cs typeface="Arial"/>
                </a:endParaRPr>
              </a:p>
            </p:txBody>
          </p:sp>
        </p:grpSp>
      </p:grpSp>
      <p:sp>
        <p:nvSpPr>
          <p:cNvPr id="18" name="Left Brace 17">
            <a:extLst>
              <a:ext uri="{FF2B5EF4-FFF2-40B4-BE49-F238E27FC236}">
                <a16:creationId xmlns:a16="http://schemas.microsoft.com/office/drawing/2014/main" id="{F9C438E8-26DA-19D6-8FC6-C4D7B9939E92}"/>
              </a:ext>
            </a:extLst>
          </p:cNvPr>
          <p:cNvSpPr/>
          <p:nvPr/>
        </p:nvSpPr>
        <p:spPr bwMode="auto">
          <a:xfrm flipH="1">
            <a:off x="2851687" y="3560032"/>
            <a:ext cx="897193" cy="3708708"/>
          </a:xfrm>
          <a:prstGeom prst="leftBrace">
            <a:avLst>
              <a:gd name="adj1" fmla="val 8333"/>
              <a:gd name="adj2" fmla="val 1382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AC19DB3D-A4F9-AC5C-A4F6-1221F7FAE6FA}"/>
              </a:ext>
            </a:extLst>
          </p:cNvPr>
          <p:cNvSpPr txBox="1"/>
          <p:nvPr/>
        </p:nvSpPr>
        <p:spPr>
          <a:xfrm>
            <a:off x="387940" y="3560032"/>
            <a:ext cx="2696915" cy="3708708"/>
          </a:xfrm>
          <a:prstGeom prst="rect">
            <a:avLst/>
          </a:prstGeom>
          <a:noFill/>
        </p:spPr>
        <p:txBody>
          <a:bodyPr wrap="square" rtlCol="0">
            <a:spAutoFit/>
          </a:bodyPr>
          <a:lstStyle/>
          <a:p>
            <a:pPr algn="ctr">
              <a:spcAft>
                <a:spcPts val="600"/>
              </a:spcAft>
            </a:pPr>
            <a:r>
              <a:rPr lang="en-US" sz="1400" b="1" dirty="0"/>
              <a:t>“White Glove Service” = Personalized Guidance and Support from Emerson’s Trusted Experts</a:t>
            </a:r>
          </a:p>
          <a:p>
            <a:pPr marL="285750" indent="-285750">
              <a:spcAft>
                <a:spcPts val="600"/>
              </a:spcAft>
              <a:buFont typeface="Arial" panose="020B0604020202020204" pitchFamily="34" charset="0"/>
              <a:buChar char="•"/>
            </a:pPr>
            <a:r>
              <a:rPr lang="en-US" sz="1400" dirty="0"/>
              <a:t>High-touch Deployment at No Charge</a:t>
            </a:r>
          </a:p>
          <a:p>
            <a:pPr marL="285750" indent="-285750">
              <a:spcAft>
                <a:spcPts val="600"/>
              </a:spcAft>
              <a:buFont typeface="Arial" panose="020B0604020202020204" pitchFamily="34" charset="0"/>
              <a:buChar char="•"/>
            </a:pPr>
            <a:r>
              <a:rPr lang="en-US" sz="1400" dirty="0"/>
              <a:t>High-touch Lifecycle Support at No Charge</a:t>
            </a:r>
          </a:p>
          <a:p>
            <a:pPr marL="285750" indent="-285750">
              <a:spcAft>
                <a:spcPts val="600"/>
              </a:spcAft>
              <a:buFont typeface="Arial" panose="020B0604020202020204" pitchFamily="34" charset="0"/>
              <a:buChar char="•"/>
            </a:pPr>
            <a:r>
              <a:rPr lang="en-US" sz="1400" dirty="0">
                <a:ea typeface="Noto Sans" panose="020B0502040504020204" pitchFamily="34" charset="0"/>
                <a:cs typeface="Arial" panose="020B0604020202020204" pitchFamily="34" charset="0"/>
              </a:rPr>
              <a:t>Pioneer Priority Support for GSC Tickets</a:t>
            </a:r>
          </a:p>
          <a:p>
            <a:pPr marL="285750" indent="-285750">
              <a:spcAft>
                <a:spcPts val="600"/>
              </a:spcAft>
              <a:buFont typeface="Arial" panose="020B0604020202020204" pitchFamily="34" charset="0"/>
              <a:buChar char="•"/>
            </a:pPr>
            <a:r>
              <a:rPr lang="en-US" sz="1400" dirty="0"/>
              <a:t>Support Syncs Available with a Dedicated Product Engineering Expert</a:t>
            </a:r>
          </a:p>
          <a:p>
            <a:pPr marL="285750" indent="-285750">
              <a:spcAft>
                <a:spcPts val="600"/>
              </a:spcAft>
              <a:buFont typeface="Arial" panose="020B0604020202020204" pitchFamily="34" charset="0"/>
              <a:buChar char="•"/>
            </a:pPr>
            <a:r>
              <a:rPr lang="en-US" sz="1400" dirty="0"/>
              <a:t>Onsite Customer Adoption Training</a:t>
            </a:r>
          </a:p>
        </p:txBody>
      </p:sp>
      <p:sp>
        <p:nvSpPr>
          <p:cNvPr id="22" name="Arrow: Left 21">
            <a:hlinkClick r:id="rId3" action="ppaction://hlinksldjump"/>
            <a:extLst>
              <a:ext uri="{FF2B5EF4-FFF2-40B4-BE49-F238E27FC236}">
                <a16:creationId xmlns:a16="http://schemas.microsoft.com/office/drawing/2014/main" id="{BE985185-509F-A78E-5CDB-B7271C3294B1}"/>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23" name="Picture 22">
            <a:extLst>
              <a:ext uri="{FF2B5EF4-FFF2-40B4-BE49-F238E27FC236}">
                <a16:creationId xmlns:a16="http://schemas.microsoft.com/office/drawing/2014/main" id="{02CACA66-10D3-9CF5-C228-3D0DECE81C44}"/>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228627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E1177-748B-9B1D-3735-49A9FB9C00B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8B87F3F-38E4-9E55-DF4E-15F776B6FC9D}"/>
              </a:ext>
            </a:extLst>
          </p:cNvPr>
          <p:cNvSpPr>
            <a:spLocks noGrp="1"/>
          </p:cNvSpPr>
          <p:nvPr>
            <p:ph type="title"/>
          </p:nvPr>
        </p:nvSpPr>
        <p:spPr>
          <a:xfrm>
            <a:off x="8547100" y="1530219"/>
            <a:ext cx="6114130" cy="2050895"/>
          </a:xfrm>
        </p:spPr>
        <p:txBody>
          <a:bodyPr>
            <a:normAutofit fontScale="90000"/>
          </a:bodyPr>
          <a:lstStyle/>
          <a:p>
            <a:r>
              <a:rPr lang="en-US"/>
              <a:t>How Does the Program Work Across Team Emerson?</a:t>
            </a:r>
          </a:p>
        </p:txBody>
      </p:sp>
      <p:sp>
        <p:nvSpPr>
          <p:cNvPr id="4" name="TextBox 3">
            <a:extLst>
              <a:ext uri="{FF2B5EF4-FFF2-40B4-BE49-F238E27FC236}">
                <a16:creationId xmlns:a16="http://schemas.microsoft.com/office/drawing/2014/main" id="{0C0FC308-F99D-B8EA-526B-0FFFCDE4880A}"/>
              </a:ext>
            </a:extLst>
          </p:cNvPr>
          <p:cNvSpPr txBox="1"/>
          <p:nvPr/>
        </p:nvSpPr>
        <p:spPr>
          <a:xfrm>
            <a:off x="0" y="1973179"/>
            <a:ext cx="8124324" cy="1756610"/>
          </a:xfrm>
          <a:prstGeom prst="rect">
            <a:avLst/>
          </a:prstGeom>
          <a:solidFill>
            <a:schemeClr val="bg1">
              <a:alpha val="90000"/>
            </a:schemeClr>
          </a:solidFill>
        </p:spPr>
        <p:txBody>
          <a:bodyPr wrap="square" rIns="274320" anchor="ctr">
            <a:noAutofit/>
          </a:bodyPr>
          <a:lstStyle/>
          <a:p>
            <a:pPr algn="r"/>
            <a:r>
              <a:rPr lang="en-US" sz="3200">
                <a:solidFill>
                  <a:srgbClr val="118C9C"/>
                </a:solidFill>
                <a:latin typeface="+mj-lt"/>
                <a:ea typeface="Noto Sans Light"/>
                <a:cs typeface="Arial" panose="020B0604020202020204" pitchFamily="34" charset="0"/>
              </a:rPr>
              <a:t>Chapter 2</a:t>
            </a:r>
          </a:p>
        </p:txBody>
      </p:sp>
      <p:sp>
        <p:nvSpPr>
          <p:cNvPr id="5" name="Arrow: Left 4">
            <a:hlinkClick r:id="rId2" action="ppaction://hlinksldjump"/>
            <a:extLst>
              <a:ext uri="{FF2B5EF4-FFF2-40B4-BE49-F238E27FC236}">
                <a16:creationId xmlns:a16="http://schemas.microsoft.com/office/drawing/2014/main" id="{BB02A5DD-DF58-635E-CD22-E61AE427C106}"/>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Tree>
    <p:extLst>
      <p:ext uri="{BB962C8B-B14F-4D97-AF65-F5344CB8AC3E}">
        <p14:creationId xmlns:p14="http://schemas.microsoft.com/office/powerpoint/2010/main" val="1682053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E161-D18A-0D18-F3E5-D6B9EDB663E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0F6109B-F8A3-D4C9-C8D9-A1AE173285D5}"/>
              </a:ext>
            </a:extLst>
          </p:cNvPr>
          <p:cNvSpPr>
            <a:spLocks noGrp="1"/>
          </p:cNvSpPr>
          <p:nvPr>
            <p:ph type="title"/>
          </p:nvPr>
        </p:nvSpPr>
        <p:spPr/>
        <p:txBody>
          <a:bodyPr/>
          <a:lstStyle/>
          <a:p>
            <a:r>
              <a:rPr lang="en-US"/>
              <a:t>End-to-End Pioneer Program Process and Cross-Functional Involvement</a:t>
            </a:r>
          </a:p>
        </p:txBody>
      </p:sp>
      <p:grpSp>
        <p:nvGrpSpPr>
          <p:cNvPr id="9" name="Group 8">
            <a:extLst>
              <a:ext uri="{FF2B5EF4-FFF2-40B4-BE49-F238E27FC236}">
                <a16:creationId xmlns:a16="http://schemas.microsoft.com/office/drawing/2014/main" id="{1AE17DC1-8B59-B68C-8116-D16CD70AB896}"/>
              </a:ext>
            </a:extLst>
          </p:cNvPr>
          <p:cNvGrpSpPr/>
          <p:nvPr/>
        </p:nvGrpSpPr>
        <p:grpSpPr>
          <a:xfrm>
            <a:off x="1464378" y="1619628"/>
            <a:ext cx="3796414" cy="1969589"/>
            <a:chOff x="203706" y="3588"/>
            <a:chExt cx="1818782" cy="1357682"/>
          </a:xfrm>
        </p:grpSpPr>
        <p:sp>
          <p:nvSpPr>
            <p:cNvPr id="10" name="Rectangle: Top Corners Rounded 9">
              <a:extLst>
                <a:ext uri="{FF2B5EF4-FFF2-40B4-BE49-F238E27FC236}">
                  <a16:creationId xmlns:a16="http://schemas.microsoft.com/office/drawing/2014/main" id="{1F38D3C3-B903-8E39-1828-181052E72D0B}"/>
                </a:ext>
              </a:extLst>
            </p:cNvPr>
            <p:cNvSpPr/>
            <p:nvPr/>
          </p:nvSpPr>
          <p:spPr>
            <a:xfrm>
              <a:off x="203706" y="3588"/>
              <a:ext cx="1818782" cy="1357682"/>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sp>
          <p:nvSpPr>
            <p:cNvPr id="11" name="Rectangle: Top Corners Rounded 4">
              <a:extLst>
                <a:ext uri="{FF2B5EF4-FFF2-40B4-BE49-F238E27FC236}">
                  <a16:creationId xmlns:a16="http://schemas.microsoft.com/office/drawing/2014/main" id="{6115637C-5228-AFE9-47F4-8364AA7856C0}"/>
                </a:ext>
              </a:extLst>
            </p:cNvPr>
            <p:cNvSpPr txBox="1"/>
            <p:nvPr/>
          </p:nvSpPr>
          <p:spPr>
            <a:xfrm>
              <a:off x="235518" y="35400"/>
              <a:ext cx="1755158" cy="132587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grpSp>
      <p:sp>
        <p:nvSpPr>
          <p:cNvPr id="13" name="Rectangle 12">
            <a:extLst>
              <a:ext uri="{FF2B5EF4-FFF2-40B4-BE49-F238E27FC236}">
                <a16:creationId xmlns:a16="http://schemas.microsoft.com/office/drawing/2014/main" id="{21F99B8D-7B63-EA0C-A9A4-4C769C4D4884}"/>
              </a:ext>
            </a:extLst>
          </p:cNvPr>
          <p:cNvSpPr/>
          <p:nvPr/>
        </p:nvSpPr>
        <p:spPr>
          <a:xfrm>
            <a:off x="1464378" y="3589218"/>
            <a:ext cx="3796414"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70186997-7111-AC2E-5E12-0D232656719E}"/>
              </a:ext>
            </a:extLst>
          </p:cNvPr>
          <p:cNvSpPr txBox="1"/>
          <p:nvPr/>
        </p:nvSpPr>
        <p:spPr>
          <a:xfrm>
            <a:off x="1464378" y="3589218"/>
            <a:ext cx="3730012"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Interest &amp; Readiness</a:t>
            </a:r>
          </a:p>
        </p:txBody>
      </p:sp>
      <p:sp>
        <p:nvSpPr>
          <p:cNvPr id="15" name="TextBox 14">
            <a:extLst>
              <a:ext uri="{FF2B5EF4-FFF2-40B4-BE49-F238E27FC236}">
                <a16:creationId xmlns:a16="http://schemas.microsoft.com/office/drawing/2014/main" id="{FA4A150B-CA3D-8E27-4CB1-0A8EB52F3701}"/>
              </a:ext>
            </a:extLst>
          </p:cNvPr>
          <p:cNvSpPr txBox="1"/>
          <p:nvPr/>
        </p:nvSpPr>
        <p:spPr>
          <a:xfrm>
            <a:off x="1730456" y="1827278"/>
            <a:ext cx="3275135" cy="1600438"/>
          </a:xfrm>
          <a:prstGeom prst="rect">
            <a:avLst/>
          </a:prstGeom>
          <a:noFill/>
        </p:spPr>
        <p:txBody>
          <a:bodyPr wrap="square">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Begin </a:t>
            </a:r>
            <a:r>
              <a:rPr kumimoji="0" lang="en-US" sz="1400" b="1" i="0" u="none" strike="noStrike" kern="1200" cap="none" spc="0" normalizeH="0" baseline="0" noProof="0" dirty="0">
                <a:ln>
                  <a:noFill/>
                </a:ln>
                <a:solidFill>
                  <a:srgbClr val="000000"/>
                </a:solidFill>
                <a:effectLst/>
                <a:uLnTx/>
                <a:uFillTx/>
                <a:latin typeface="Arial"/>
                <a:ea typeface="+mn-ea"/>
                <a:cs typeface="+mn-cs"/>
              </a:rPr>
              <a:t>Qualification Process</a:t>
            </a:r>
            <a:r>
              <a:rPr kumimoji="0" lang="en-US" sz="1400" b="0" i="0" u="none" strike="noStrike" kern="1200" cap="none" spc="0" normalizeH="0" baseline="0" noProof="0" dirty="0">
                <a:ln>
                  <a:noFill/>
                </a:ln>
                <a:solidFill>
                  <a:srgbClr val="000000"/>
                </a:solidFill>
                <a:effectLst/>
                <a:uLnTx/>
                <a:uFillTx/>
                <a:latin typeface="Arial"/>
                <a:ea typeface="+mn-ea"/>
                <a:cs typeface="+mn-cs"/>
              </a:rPr>
              <a:t> for Customer Acceptances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Establish </a:t>
            </a:r>
            <a:r>
              <a:rPr kumimoji="0" lang="en-US" sz="1400" b="1" i="0" u="none" strike="noStrike" kern="1200" cap="none" spc="0" normalizeH="0" baseline="0" noProof="0" dirty="0">
                <a:ln>
                  <a:noFill/>
                </a:ln>
                <a:solidFill>
                  <a:srgbClr val="000000"/>
                </a:solidFill>
                <a:effectLst/>
                <a:uLnTx/>
                <a:uFillTx/>
                <a:latin typeface="Arial"/>
                <a:ea typeface="+mn-ea"/>
                <a:cs typeface="+mn-cs"/>
              </a:rPr>
              <a:t>Operational Readiness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Arial"/>
              <a:ea typeface="+mn-ea"/>
              <a:cs typeface="+mn-cs"/>
            </a:endParaRPr>
          </a:p>
          <a:p>
            <a:pPr algn="ctr">
              <a:defRPr/>
            </a:pPr>
            <a:r>
              <a:rPr lang="en-US" sz="1400" dirty="0">
                <a:solidFill>
                  <a:srgbClr val="000000"/>
                </a:solidFill>
              </a:rPr>
              <a:t>Derive </a:t>
            </a:r>
            <a:r>
              <a:rPr lang="en-US" sz="1400" b="1" dirty="0">
                <a:solidFill>
                  <a:srgbClr val="000000"/>
                </a:solidFill>
              </a:rPr>
              <a:t>Project-Specific RASCI </a:t>
            </a:r>
            <a:r>
              <a:rPr lang="en-US" sz="1400" dirty="0">
                <a:solidFill>
                  <a:srgbClr val="000000"/>
                </a:solidFill>
              </a:rPr>
              <a:t>from Standard Support Governance</a:t>
            </a:r>
          </a:p>
        </p:txBody>
      </p:sp>
      <p:grpSp>
        <p:nvGrpSpPr>
          <p:cNvPr id="16" name="Group 15">
            <a:extLst>
              <a:ext uri="{FF2B5EF4-FFF2-40B4-BE49-F238E27FC236}">
                <a16:creationId xmlns:a16="http://schemas.microsoft.com/office/drawing/2014/main" id="{E6B4DD68-6F92-4E7F-E6A9-181FA8C1C738}"/>
              </a:ext>
            </a:extLst>
          </p:cNvPr>
          <p:cNvGrpSpPr/>
          <p:nvPr/>
        </p:nvGrpSpPr>
        <p:grpSpPr>
          <a:xfrm>
            <a:off x="5355840" y="1619628"/>
            <a:ext cx="3796414" cy="1969589"/>
            <a:chOff x="203706" y="3588"/>
            <a:chExt cx="1818782" cy="1357682"/>
          </a:xfrm>
        </p:grpSpPr>
        <p:sp>
          <p:nvSpPr>
            <p:cNvPr id="17" name="Rectangle: Top Corners Rounded 16">
              <a:extLst>
                <a:ext uri="{FF2B5EF4-FFF2-40B4-BE49-F238E27FC236}">
                  <a16:creationId xmlns:a16="http://schemas.microsoft.com/office/drawing/2014/main" id="{9F77C7EA-6AAF-EFB4-AA8E-C1DDB6355861}"/>
                </a:ext>
              </a:extLst>
            </p:cNvPr>
            <p:cNvSpPr/>
            <p:nvPr/>
          </p:nvSpPr>
          <p:spPr>
            <a:xfrm>
              <a:off x="203706" y="3588"/>
              <a:ext cx="1818782" cy="1357682"/>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sp>
          <p:nvSpPr>
            <p:cNvPr id="18" name="Rectangle: Top Corners Rounded 4">
              <a:extLst>
                <a:ext uri="{FF2B5EF4-FFF2-40B4-BE49-F238E27FC236}">
                  <a16:creationId xmlns:a16="http://schemas.microsoft.com/office/drawing/2014/main" id="{0E7AF483-0E69-3888-6B57-04578E7F444F}"/>
                </a:ext>
              </a:extLst>
            </p:cNvPr>
            <p:cNvSpPr txBox="1"/>
            <p:nvPr/>
          </p:nvSpPr>
          <p:spPr>
            <a:xfrm>
              <a:off x="235518" y="35400"/>
              <a:ext cx="1755158" cy="132587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grpSp>
      <p:sp>
        <p:nvSpPr>
          <p:cNvPr id="20" name="Rectangle 19">
            <a:extLst>
              <a:ext uri="{FF2B5EF4-FFF2-40B4-BE49-F238E27FC236}">
                <a16:creationId xmlns:a16="http://schemas.microsoft.com/office/drawing/2014/main" id="{F8D98D6B-32CB-7128-E876-E248FF15F50E}"/>
              </a:ext>
            </a:extLst>
          </p:cNvPr>
          <p:cNvSpPr/>
          <p:nvPr/>
        </p:nvSpPr>
        <p:spPr>
          <a:xfrm>
            <a:off x="5355840" y="3589218"/>
            <a:ext cx="3796414"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21" name="TextBox 20">
            <a:extLst>
              <a:ext uri="{FF2B5EF4-FFF2-40B4-BE49-F238E27FC236}">
                <a16:creationId xmlns:a16="http://schemas.microsoft.com/office/drawing/2014/main" id="{22F87125-A8C1-F47A-2F08-A92C6BB9020D}"/>
              </a:ext>
            </a:extLst>
          </p:cNvPr>
          <p:cNvSpPr txBox="1"/>
          <p:nvPr/>
        </p:nvSpPr>
        <p:spPr>
          <a:xfrm>
            <a:off x="5355840" y="3589218"/>
            <a:ext cx="3730012"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Deployment &amp; Support</a:t>
            </a:r>
          </a:p>
        </p:txBody>
      </p:sp>
      <p:sp>
        <p:nvSpPr>
          <p:cNvPr id="22" name="TextBox 21">
            <a:extLst>
              <a:ext uri="{FF2B5EF4-FFF2-40B4-BE49-F238E27FC236}">
                <a16:creationId xmlns:a16="http://schemas.microsoft.com/office/drawing/2014/main" id="{D5DC174A-BDB6-31AD-CD2E-6FE641CC6658}"/>
              </a:ext>
            </a:extLst>
          </p:cNvPr>
          <p:cNvSpPr txBox="1"/>
          <p:nvPr/>
        </p:nvSpPr>
        <p:spPr>
          <a:xfrm>
            <a:off x="5548089" y="1804203"/>
            <a:ext cx="3404067" cy="1600438"/>
          </a:xfrm>
          <a:prstGeom prst="rect">
            <a:avLst/>
          </a:prstGeom>
          <a:noFill/>
        </p:spPr>
        <p:txBody>
          <a:bodyPr wrap="square">
            <a:spAutoFit/>
          </a:bodyPr>
          <a:lstStyle/>
          <a:p>
            <a:pPr algn="ctr">
              <a:defRPr/>
            </a:pPr>
            <a:r>
              <a:rPr lang="en-US" sz="1400" b="1">
                <a:solidFill>
                  <a:srgbClr val="000000"/>
                </a:solidFill>
              </a:rPr>
              <a:t>Kickoff</a:t>
            </a:r>
            <a:r>
              <a:rPr lang="en-US" sz="1400">
                <a:solidFill>
                  <a:srgbClr val="000000"/>
                </a:solidFill>
              </a:rPr>
              <a:t> Project and Onboard Customer</a:t>
            </a:r>
          </a:p>
          <a:p>
            <a:pPr algn="ctr">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Leverage </a:t>
            </a:r>
            <a:r>
              <a:rPr kumimoji="0" lang="en-US" sz="1400" b="1" i="0" u="none" strike="noStrike" kern="1200" cap="none" spc="0" normalizeH="0" baseline="0" noProof="0">
                <a:ln>
                  <a:noFill/>
                </a:ln>
                <a:solidFill>
                  <a:srgbClr val="000000"/>
                </a:solidFill>
                <a:effectLst/>
                <a:uLnTx/>
                <a:uFillTx/>
                <a:latin typeface="Arial"/>
                <a:ea typeface="+mn-ea"/>
                <a:cs typeface="+mn-cs"/>
              </a:rPr>
              <a:t>Customer Engagement Guide </a:t>
            </a:r>
            <a:r>
              <a:rPr kumimoji="0" lang="en-US" sz="1400" i="0" u="none" strike="noStrike" kern="1200" cap="none" spc="0" normalizeH="0" baseline="0" noProof="0">
                <a:ln>
                  <a:noFill/>
                </a:ln>
                <a:solidFill>
                  <a:srgbClr val="000000"/>
                </a:solidFill>
                <a:effectLst/>
                <a:uLnTx/>
                <a:uFillTx/>
                <a:latin typeface="Arial"/>
                <a:ea typeface="+mn-ea"/>
                <a:cs typeface="+mn-cs"/>
              </a:rPr>
              <a:t>to Review Success Criteria</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a:p>
            <a:pPr algn="ctr">
              <a:defRPr/>
            </a:pPr>
            <a:r>
              <a:rPr lang="en-US" sz="1400">
                <a:solidFill>
                  <a:srgbClr val="000000"/>
                </a:solidFill>
              </a:rPr>
              <a:t>Capture </a:t>
            </a:r>
            <a:r>
              <a:rPr lang="en-US" sz="1400" b="1">
                <a:solidFill>
                  <a:srgbClr val="000000"/>
                </a:solidFill>
              </a:rPr>
              <a:t>Customer Field Proven Testimonials</a:t>
            </a:r>
            <a:endParaRPr lang="en-US" sz="1400">
              <a:solidFill>
                <a:srgbClr val="000000"/>
              </a:solidFill>
            </a:endParaRPr>
          </a:p>
        </p:txBody>
      </p:sp>
      <p:grpSp>
        <p:nvGrpSpPr>
          <p:cNvPr id="23" name="Group 22">
            <a:extLst>
              <a:ext uri="{FF2B5EF4-FFF2-40B4-BE49-F238E27FC236}">
                <a16:creationId xmlns:a16="http://schemas.microsoft.com/office/drawing/2014/main" id="{4C9EBECA-23DC-27F8-15D0-0053EF3DB911}"/>
              </a:ext>
            </a:extLst>
          </p:cNvPr>
          <p:cNvGrpSpPr/>
          <p:nvPr/>
        </p:nvGrpSpPr>
        <p:grpSpPr>
          <a:xfrm>
            <a:off x="9245933" y="1619628"/>
            <a:ext cx="3796414" cy="1969589"/>
            <a:chOff x="203706" y="3588"/>
            <a:chExt cx="1818782" cy="1357682"/>
          </a:xfrm>
        </p:grpSpPr>
        <p:sp>
          <p:nvSpPr>
            <p:cNvPr id="24" name="Rectangle: Top Corners Rounded 23">
              <a:extLst>
                <a:ext uri="{FF2B5EF4-FFF2-40B4-BE49-F238E27FC236}">
                  <a16:creationId xmlns:a16="http://schemas.microsoft.com/office/drawing/2014/main" id="{7509A8B4-69C6-AD8D-A43C-6B9EA2A03CBB}"/>
                </a:ext>
              </a:extLst>
            </p:cNvPr>
            <p:cNvSpPr/>
            <p:nvPr/>
          </p:nvSpPr>
          <p:spPr>
            <a:xfrm>
              <a:off x="203706" y="3588"/>
              <a:ext cx="1818782" cy="1357682"/>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sp>
          <p:nvSpPr>
            <p:cNvPr id="25" name="Rectangle: Top Corners Rounded 4">
              <a:extLst>
                <a:ext uri="{FF2B5EF4-FFF2-40B4-BE49-F238E27FC236}">
                  <a16:creationId xmlns:a16="http://schemas.microsoft.com/office/drawing/2014/main" id="{566E6A01-891B-8915-8C1C-27A665F62B9B}"/>
                </a:ext>
              </a:extLst>
            </p:cNvPr>
            <p:cNvSpPr txBox="1"/>
            <p:nvPr/>
          </p:nvSpPr>
          <p:spPr>
            <a:xfrm>
              <a:off x="235518" y="35400"/>
              <a:ext cx="1755158" cy="132587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grpSp>
      <p:sp>
        <p:nvSpPr>
          <p:cNvPr id="27" name="Rectangle 26">
            <a:extLst>
              <a:ext uri="{FF2B5EF4-FFF2-40B4-BE49-F238E27FC236}">
                <a16:creationId xmlns:a16="http://schemas.microsoft.com/office/drawing/2014/main" id="{2013E148-03BF-DB25-3F3B-4EC3B223D346}"/>
              </a:ext>
            </a:extLst>
          </p:cNvPr>
          <p:cNvSpPr/>
          <p:nvPr/>
        </p:nvSpPr>
        <p:spPr>
          <a:xfrm>
            <a:off x="9245933" y="3589218"/>
            <a:ext cx="3796414"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80C28E20-3146-858A-C86B-A3BE339C02D8}"/>
              </a:ext>
            </a:extLst>
          </p:cNvPr>
          <p:cNvSpPr txBox="1"/>
          <p:nvPr/>
        </p:nvSpPr>
        <p:spPr>
          <a:xfrm>
            <a:off x="9245933" y="3589218"/>
            <a:ext cx="3730012"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Adopt &amp; Enable</a:t>
            </a:r>
          </a:p>
        </p:txBody>
      </p:sp>
      <p:sp>
        <p:nvSpPr>
          <p:cNvPr id="29" name="TextBox 28">
            <a:extLst>
              <a:ext uri="{FF2B5EF4-FFF2-40B4-BE49-F238E27FC236}">
                <a16:creationId xmlns:a16="http://schemas.microsoft.com/office/drawing/2014/main" id="{4CADD362-4E0D-81A3-0C20-02484070D70B}"/>
              </a:ext>
            </a:extLst>
          </p:cNvPr>
          <p:cNvSpPr txBox="1"/>
          <p:nvPr/>
        </p:nvSpPr>
        <p:spPr>
          <a:xfrm>
            <a:off x="9496375" y="1804203"/>
            <a:ext cx="3275135" cy="1600438"/>
          </a:xfrm>
          <a:prstGeom prst="rect">
            <a:avLst/>
          </a:prstGeom>
          <a:noFill/>
        </p:spPr>
        <p:txBody>
          <a:bodyPr wrap="square">
            <a:spAutoFit/>
          </a:bodyPr>
          <a:lstStyle/>
          <a:p>
            <a:pPr algn="ctr">
              <a:defRPr/>
            </a:pPr>
            <a:r>
              <a:rPr lang="en-US" sz="1400">
                <a:solidFill>
                  <a:srgbClr val="000000"/>
                </a:solidFill>
              </a:rPr>
              <a:t>Convert </a:t>
            </a:r>
            <a:r>
              <a:rPr lang="en-US" sz="1400" b="1">
                <a:solidFill>
                  <a:srgbClr val="000000"/>
                </a:solidFill>
              </a:rPr>
              <a:t>Testimonials into Marketing Collateral</a:t>
            </a:r>
            <a:endParaRPr lang="en-US" sz="1400">
              <a:solidFill>
                <a:srgbClr val="000000"/>
              </a:solidFill>
            </a:endParaRP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1463040" rtl="0" eaLnBrk="1" fontAlgn="auto" latinLnBrk="0" hangingPunct="1">
              <a:lnSpc>
                <a:spcPct val="100000"/>
              </a:lnSpc>
              <a:spcBef>
                <a:spcPts val="0"/>
              </a:spcBef>
              <a:spcAft>
                <a:spcPts val="0"/>
              </a:spcAft>
              <a:buClrTx/>
              <a:buSzTx/>
              <a:buFontTx/>
              <a:buNone/>
              <a:tabLst/>
              <a:defRPr/>
            </a:pPr>
            <a:r>
              <a:rPr lang="en-US" sz="1400">
                <a:solidFill>
                  <a:srgbClr val="000000"/>
                </a:solidFill>
                <a:latin typeface="Arial"/>
              </a:rPr>
              <a:t>Ensure </a:t>
            </a:r>
            <a:r>
              <a:rPr lang="en-US" sz="1400" b="1">
                <a:solidFill>
                  <a:srgbClr val="000000"/>
                </a:solidFill>
                <a:latin typeface="Arial"/>
              </a:rPr>
              <a:t>Customer Retention </a:t>
            </a:r>
          </a:p>
          <a:p>
            <a:pPr marL="0" marR="0" lvl="0" indent="0" algn="ctr" defTabSz="1463040" rtl="0" eaLnBrk="1" fontAlgn="auto" latinLnBrk="0" hangingPunct="1">
              <a:lnSpc>
                <a:spcPct val="100000"/>
              </a:lnSpc>
              <a:spcBef>
                <a:spcPts val="0"/>
              </a:spcBef>
              <a:spcAft>
                <a:spcPts val="0"/>
              </a:spcAft>
              <a:buClrTx/>
              <a:buSzTx/>
              <a:buFontTx/>
              <a:buNone/>
              <a:tabLst/>
              <a:defRPr/>
            </a:pPr>
            <a:r>
              <a:rPr lang="en-US" sz="1400">
                <a:solidFill>
                  <a:srgbClr val="000000"/>
                </a:solidFill>
                <a:latin typeface="Arial"/>
              </a:rPr>
              <a:t> </a:t>
            </a:r>
            <a:endParaRPr kumimoji="0" lang="en-US" sz="1400" b="0" i="0" u="none" strike="noStrike" kern="1200" cap="none" spc="0" normalizeH="0" baseline="0" noProof="0">
              <a:ln>
                <a:noFill/>
              </a:ln>
              <a:solidFill>
                <a:srgbClr val="000000"/>
              </a:solidFill>
              <a:effectLst/>
              <a:uLnTx/>
              <a:uFillTx/>
              <a:latin typeface="Arial"/>
              <a:ea typeface="+mn-ea"/>
              <a:cs typeface="+mn-cs"/>
            </a:endParaRPr>
          </a:p>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Strengthen Product</a:t>
            </a:r>
            <a:r>
              <a:rPr kumimoji="0" lang="en-US" sz="1400" b="0" i="0" u="none" strike="noStrike" kern="1200" cap="none" spc="0" normalizeH="0" baseline="0" noProof="0">
                <a:ln>
                  <a:noFill/>
                </a:ln>
                <a:solidFill>
                  <a:srgbClr val="000000"/>
                </a:solidFill>
                <a:effectLst/>
                <a:uLnTx/>
                <a:uFillTx/>
                <a:latin typeface="Arial"/>
                <a:ea typeface="+mn-ea"/>
                <a:cs typeface="+mn-cs"/>
              </a:rPr>
              <a:t> </a:t>
            </a:r>
            <a:r>
              <a:rPr kumimoji="0" lang="en-US" sz="1400" i="0" u="none" strike="noStrike" kern="1200" cap="none" spc="0" normalizeH="0" baseline="0" noProof="0">
                <a:ln>
                  <a:noFill/>
                </a:ln>
                <a:solidFill>
                  <a:srgbClr val="000000"/>
                </a:solidFill>
                <a:effectLst/>
                <a:uLnTx/>
                <a:uFillTx/>
                <a:latin typeface="Arial"/>
                <a:ea typeface="+mn-ea"/>
                <a:cs typeface="+mn-cs"/>
              </a:rPr>
              <a:t>Collateral and Value Messaging </a:t>
            </a:r>
          </a:p>
        </p:txBody>
      </p:sp>
      <p:cxnSp>
        <p:nvCxnSpPr>
          <p:cNvPr id="2" name="Straight Connector 1">
            <a:extLst>
              <a:ext uri="{FF2B5EF4-FFF2-40B4-BE49-F238E27FC236}">
                <a16:creationId xmlns:a16="http://schemas.microsoft.com/office/drawing/2014/main" id="{44C66764-F265-49C7-9454-19A48C725087}"/>
              </a:ext>
            </a:extLst>
          </p:cNvPr>
          <p:cNvCxnSpPr>
            <a:cxnSpLocks/>
          </p:cNvCxnSpPr>
          <p:nvPr/>
        </p:nvCxnSpPr>
        <p:spPr bwMode="auto">
          <a:xfrm flipV="1">
            <a:off x="9201104" y="1503947"/>
            <a:ext cx="0" cy="6725653"/>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 name="Straight Connector 2">
            <a:extLst>
              <a:ext uri="{FF2B5EF4-FFF2-40B4-BE49-F238E27FC236}">
                <a16:creationId xmlns:a16="http://schemas.microsoft.com/office/drawing/2014/main" id="{A46D31B0-1AA9-C4CD-D86A-849F94D07699}"/>
              </a:ext>
            </a:extLst>
          </p:cNvPr>
          <p:cNvCxnSpPr>
            <a:cxnSpLocks/>
          </p:cNvCxnSpPr>
          <p:nvPr/>
        </p:nvCxnSpPr>
        <p:spPr bwMode="auto">
          <a:xfrm flipV="1">
            <a:off x="5311236" y="1515979"/>
            <a:ext cx="0" cy="6669171"/>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Rectangle: Rounded Corners 37">
            <a:extLst>
              <a:ext uri="{FF2B5EF4-FFF2-40B4-BE49-F238E27FC236}">
                <a16:creationId xmlns:a16="http://schemas.microsoft.com/office/drawing/2014/main" id="{E8DECE51-DBFF-8E51-6EEA-7D262530363C}"/>
              </a:ext>
            </a:extLst>
          </p:cNvPr>
          <p:cNvSpPr/>
          <p:nvPr/>
        </p:nvSpPr>
        <p:spPr bwMode="auto">
          <a:xfrm>
            <a:off x="7315199" y="7310570"/>
            <a:ext cx="3244290" cy="403299"/>
          </a:xfrm>
          <a:prstGeom prst="roundRect">
            <a:avLst/>
          </a:prstGeom>
          <a:solidFill>
            <a:schemeClr val="accent5">
              <a:lumMod val="20000"/>
              <a:lumOff val="80000"/>
            </a:schemeClr>
          </a:solidFill>
          <a:ln w="19050">
            <a:solidFill>
              <a:schemeClr val="accent1"/>
            </a:solidFill>
            <a:round/>
            <a:headEnd/>
            <a:tailEnd/>
          </a:ln>
          <a:effectLst/>
        </p:spPr>
        <p:txBody>
          <a:bodyPr wrap="square" rtlCol="0" anchor="ctr"/>
          <a:lstStyle/>
          <a:p>
            <a:pPr algn="ctr" eaLnBrk="0" fontAlgn="base" hangingPunct="0">
              <a:spcBef>
                <a:spcPct val="0"/>
              </a:spcBef>
              <a:spcAft>
                <a:spcPct val="0"/>
              </a:spcAft>
            </a:pPr>
            <a:r>
              <a:rPr lang="en-US" sz="1600" b="1">
                <a:cs typeface="Times New Roman" panose="02020603050405020304" pitchFamily="18" charset="0"/>
              </a:rPr>
              <a:t>Guardian Software &amp; Solutions </a:t>
            </a:r>
          </a:p>
        </p:txBody>
      </p:sp>
      <p:cxnSp>
        <p:nvCxnSpPr>
          <p:cNvPr id="55" name="Straight Arrow Connector 54">
            <a:extLst>
              <a:ext uri="{FF2B5EF4-FFF2-40B4-BE49-F238E27FC236}">
                <a16:creationId xmlns:a16="http://schemas.microsoft.com/office/drawing/2014/main" id="{B3CBCD0F-17CA-B664-8DA6-D18D409688B2}"/>
              </a:ext>
            </a:extLst>
          </p:cNvPr>
          <p:cNvCxnSpPr>
            <a:cxnSpLocks/>
          </p:cNvCxnSpPr>
          <p:nvPr/>
        </p:nvCxnSpPr>
        <p:spPr bwMode="auto">
          <a:xfrm>
            <a:off x="10559489" y="7512219"/>
            <a:ext cx="1575715" cy="0"/>
          </a:xfrm>
          <a:prstGeom prst="straightConnector1">
            <a:avLst/>
          </a:prstGeom>
          <a:solidFill>
            <a:schemeClr val="accent1"/>
          </a:solidFill>
          <a:ln w="57150" cap="flat" cmpd="sng" algn="ctr">
            <a:solidFill>
              <a:schemeClr val="accent1"/>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713DACD7-6EA0-BA45-D040-1DCBA6FE7409}"/>
              </a:ext>
            </a:extLst>
          </p:cNvPr>
          <p:cNvCxnSpPr>
            <a:cxnSpLocks/>
          </p:cNvCxnSpPr>
          <p:nvPr/>
        </p:nvCxnSpPr>
        <p:spPr bwMode="auto">
          <a:xfrm>
            <a:off x="5628913" y="7060454"/>
            <a:ext cx="2800738" cy="0"/>
          </a:xfrm>
          <a:prstGeom prst="straightConnector1">
            <a:avLst/>
          </a:prstGeom>
          <a:solidFill>
            <a:schemeClr val="accent1"/>
          </a:solidFill>
          <a:ln w="57150" cap="flat" cmpd="sng" algn="ctr">
            <a:solidFill>
              <a:schemeClr val="accent1"/>
            </a:solidFill>
            <a:prstDash val="solid"/>
            <a:round/>
            <a:headEnd type="none" w="med" len="med"/>
            <a:tailEnd type="triangle"/>
          </a:ln>
          <a:effectLst/>
        </p:spPr>
      </p:cxnSp>
      <p:sp>
        <p:nvSpPr>
          <p:cNvPr id="36" name="Rectangle: Rounded Corners 35">
            <a:extLst>
              <a:ext uri="{FF2B5EF4-FFF2-40B4-BE49-F238E27FC236}">
                <a16:creationId xmlns:a16="http://schemas.microsoft.com/office/drawing/2014/main" id="{52FD54D9-F4D0-DB52-CE15-CA417B5789AA}"/>
              </a:ext>
            </a:extLst>
          </p:cNvPr>
          <p:cNvSpPr/>
          <p:nvPr/>
        </p:nvSpPr>
        <p:spPr bwMode="auto">
          <a:xfrm>
            <a:off x="3279413" y="6858805"/>
            <a:ext cx="2349500" cy="403298"/>
          </a:xfrm>
          <a:prstGeom prst="roundRect">
            <a:avLst/>
          </a:prstGeom>
          <a:solidFill>
            <a:schemeClr val="accent4">
              <a:lumMod val="20000"/>
              <a:lumOff val="80000"/>
            </a:schemeClr>
          </a:solidFill>
          <a:ln w="19050">
            <a:solidFill>
              <a:schemeClr val="accent1"/>
            </a:solidFill>
            <a:round/>
            <a:headEnd/>
            <a:tailEnd/>
          </a:ln>
          <a:effectLst/>
        </p:spPr>
        <p:txBody>
          <a:bodyPr wrap="square" rtlCol="0" anchor="ctr"/>
          <a:lstStyle/>
          <a:p>
            <a:pPr algn="ctr" eaLnBrk="0" fontAlgn="base" hangingPunct="0">
              <a:spcBef>
                <a:spcPct val="0"/>
              </a:spcBef>
              <a:spcAft>
                <a:spcPct val="0"/>
              </a:spcAft>
            </a:pPr>
            <a:r>
              <a:rPr lang="en-US" sz="1600" b="1">
                <a:cs typeface="Times New Roman" panose="02020603050405020304" pitchFamily="18" charset="0"/>
              </a:rPr>
              <a:t>Operations</a:t>
            </a:r>
          </a:p>
        </p:txBody>
      </p:sp>
      <p:cxnSp>
        <p:nvCxnSpPr>
          <p:cNvPr id="57" name="Straight Arrow Connector 56">
            <a:extLst>
              <a:ext uri="{FF2B5EF4-FFF2-40B4-BE49-F238E27FC236}">
                <a16:creationId xmlns:a16="http://schemas.microsoft.com/office/drawing/2014/main" id="{AF6B7847-5564-34D1-339E-C81FEF035D55}"/>
              </a:ext>
            </a:extLst>
          </p:cNvPr>
          <p:cNvCxnSpPr>
            <a:cxnSpLocks/>
          </p:cNvCxnSpPr>
          <p:nvPr/>
        </p:nvCxnSpPr>
        <p:spPr bwMode="auto">
          <a:xfrm>
            <a:off x="10208706" y="6908054"/>
            <a:ext cx="2445237" cy="0"/>
          </a:xfrm>
          <a:prstGeom prst="straightConnector1">
            <a:avLst/>
          </a:prstGeom>
          <a:solidFill>
            <a:schemeClr val="accent1"/>
          </a:solidFill>
          <a:ln w="57150" cap="flat" cmpd="sng" algn="ctr">
            <a:solidFill>
              <a:schemeClr val="accent1"/>
            </a:solidFill>
            <a:prstDash val="dash"/>
            <a:round/>
            <a:headEnd type="none" w="med" len="med"/>
            <a:tailEnd type="triangle"/>
          </a:ln>
          <a:effectLst/>
        </p:spPr>
      </p:cxnSp>
      <p:cxnSp>
        <p:nvCxnSpPr>
          <p:cNvPr id="59" name="Straight Arrow Connector 58">
            <a:extLst>
              <a:ext uri="{FF2B5EF4-FFF2-40B4-BE49-F238E27FC236}">
                <a16:creationId xmlns:a16="http://schemas.microsoft.com/office/drawing/2014/main" id="{F6815BE7-5828-4FCA-4A31-40522F56420B}"/>
              </a:ext>
            </a:extLst>
          </p:cNvPr>
          <p:cNvCxnSpPr>
            <a:cxnSpLocks/>
          </p:cNvCxnSpPr>
          <p:nvPr/>
        </p:nvCxnSpPr>
        <p:spPr bwMode="auto">
          <a:xfrm>
            <a:off x="10361106" y="7060454"/>
            <a:ext cx="2567157" cy="0"/>
          </a:xfrm>
          <a:prstGeom prst="straightConnector1">
            <a:avLst/>
          </a:prstGeom>
          <a:solidFill>
            <a:schemeClr val="accent1"/>
          </a:solidFill>
          <a:ln w="57150" cap="flat" cmpd="sng" algn="ctr">
            <a:solidFill>
              <a:schemeClr val="accent1"/>
            </a:solidFill>
            <a:prstDash val="dash"/>
            <a:round/>
            <a:headEnd type="none" w="med" len="med"/>
            <a:tailEnd type="triangle"/>
          </a:ln>
          <a:effectLst/>
        </p:spPr>
      </p:cxnSp>
      <p:cxnSp>
        <p:nvCxnSpPr>
          <p:cNvPr id="60" name="Straight Arrow Connector 59">
            <a:extLst>
              <a:ext uri="{FF2B5EF4-FFF2-40B4-BE49-F238E27FC236}">
                <a16:creationId xmlns:a16="http://schemas.microsoft.com/office/drawing/2014/main" id="{125C7B3B-AE52-E649-A0CF-888EC6594E0E}"/>
              </a:ext>
            </a:extLst>
          </p:cNvPr>
          <p:cNvCxnSpPr>
            <a:cxnSpLocks/>
          </p:cNvCxnSpPr>
          <p:nvPr/>
        </p:nvCxnSpPr>
        <p:spPr bwMode="auto">
          <a:xfrm>
            <a:off x="10513506" y="7212854"/>
            <a:ext cx="2650977" cy="0"/>
          </a:xfrm>
          <a:prstGeom prst="straightConnector1">
            <a:avLst/>
          </a:prstGeom>
          <a:solidFill>
            <a:schemeClr val="accent1"/>
          </a:solidFill>
          <a:ln w="57150" cap="flat" cmpd="sng" algn="ctr">
            <a:solidFill>
              <a:schemeClr val="accent1"/>
            </a:solidFill>
            <a:prstDash val="dash"/>
            <a:round/>
            <a:headEnd type="none" w="med" len="med"/>
            <a:tailEnd type="triangle"/>
          </a:ln>
          <a:effectLst/>
        </p:spPr>
      </p:cxnSp>
      <p:cxnSp>
        <p:nvCxnSpPr>
          <p:cNvPr id="73" name="Straight Arrow Connector 72">
            <a:extLst>
              <a:ext uri="{FF2B5EF4-FFF2-40B4-BE49-F238E27FC236}">
                <a16:creationId xmlns:a16="http://schemas.microsoft.com/office/drawing/2014/main" id="{6168627E-F54D-E8DF-8612-F7111B5E6D86}"/>
              </a:ext>
            </a:extLst>
          </p:cNvPr>
          <p:cNvCxnSpPr>
            <a:cxnSpLocks/>
          </p:cNvCxnSpPr>
          <p:nvPr/>
        </p:nvCxnSpPr>
        <p:spPr bwMode="auto">
          <a:xfrm flipV="1">
            <a:off x="10360349" y="6600347"/>
            <a:ext cx="2791225" cy="5749"/>
          </a:xfrm>
          <a:prstGeom prst="straightConnector1">
            <a:avLst/>
          </a:prstGeom>
          <a:solidFill>
            <a:schemeClr val="accent1"/>
          </a:solidFill>
          <a:ln w="57150" cap="flat" cmpd="sng" algn="ctr">
            <a:solidFill>
              <a:schemeClr val="accent1"/>
            </a:solidFill>
            <a:prstDash val="solid"/>
            <a:round/>
            <a:headEnd type="none" w="med" len="med"/>
            <a:tailEnd type="triangle"/>
          </a:ln>
          <a:effectLst/>
        </p:spPr>
      </p:cxnSp>
      <p:sp>
        <p:nvSpPr>
          <p:cNvPr id="72" name="Rectangle: Rounded Corners 71">
            <a:extLst>
              <a:ext uri="{FF2B5EF4-FFF2-40B4-BE49-F238E27FC236}">
                <a16:creationId xmlns:a16="http://schemas.microsoft.com/office/drawing/2014/main" id="{32CC3996-7FBB-B966-1605-4D1B6AECE7D2}"/>
              </a:ext>
            </a:extLst>
          </p:cNvPr>
          <p:cNvSpPr/>
          <p:nvPr/>
        </p:nvSpPr>
        <p:spPr bwMode="auto">
          <a:xfrm>
            <a:off x="7757902" y="6396107"/>
            <a:ext cx="3060654" cy="414229"/>
          </a:xfrm>
          <a:prstGeom prst="roundRect">
            <a:avLst/>
          </a:prstGeom>
          <a:solidFill>
            <a:schemeClr val="tx2">
              <a:lumMod val="20000"/>
              <a:lumOff val="80000"/>
            </a:schemeClr>
          </a:solidFill>
          <a:ln w="19050">
            <a:solidFill>
              <a:schemeClr val="accent1"/>
            </a:solidFill>
            <a:round/>
            <a:headEnd/>
            <a:tailEnd/>
          </a:ln>
          <a:effectLst/>
        </p:spPr>
        <p:txBody>
          <a:bodyPr wrap="square" rtlCol="0" anchor="ctr"/>
          <a:lstStyle/>
          <a:p>
            <a:pPr algn="ctr" eaLnBrk="0" fontAlgn="base" hangingPunct="0">
              <a:spcBef>
                <a:spcPct val="0"/>
              </a:spcBef>
              <a:spcAft>
                <a:spcPct val="0"/>
              </a:spcAft>
            </a:pPr>
            <a:r>
              <a:rPr lang="en-US" sz="1600" b="1">
                <a:cs typeface="Times New Roman" panose="02020603050405020304" pitchFamily="18" charset="0"/>
              </a:rPr>
              <a:t>Marketing Communications</a:t>
            </a:r>
          </a:p>
        </p:txBody>
      </p:sp>
      <p:sp>
        <p:nvSpPr>
          <p:cNvPr id="35" name="Rectangle: Rounded Corners 34">
            <a:extLst>
              <a:ext uri="{FF2B5EF4-FFF2-40B4-BE49-F238E27FC236}">
                <a16:creationId xmlns:a16="http://schemas.microsoft.com/office/drawing/2014/main" id="{09CAAD78-E980-B6F0-6010-27C084C00DDC}"/>
              </a:ext>
            </a:extLst>
          </p:cNvPr>
          <p:cNvSpPr/>
          <p:nvPr/>
        </p:nvSpPr>
        <p:spPr bwMode="auto">
          <a:xfrm>
            <a:off x="1383559" y="5933409"/>
            <a:ext cx="2349500" cy="414229"/>
          </a:xfrm>
          <a:prstGeom prst="roundRect">
            <a:avLst/>
          </a:prstGeom>
          <a:solidFill>
            <a:schemeClr val="accent3">
              <a:lumMod val="20000"/>
              <a:lumOff val="80000"/>
            </a:schemeClr>
          </a:solidFill>
          <a:ln w="19050">
            <a:solidFill>
              <a:schemeClr val="accent1"/>
            </a:solidFill>
            <a:round/>
            <a:headEnd/>
            <a:tailEnd/>
          </a:ln>
          <a:effectLst/>
        </p:spPr>
        <p:txBody>
          <a:bodyPr wrap="square" rtlCol="0" anchor="ctr"/>
          <a:lstStyle/>
          <a:p>
            <a:pPr algn="ctr" eaLnBrk="0" fontAlgn="base" hangingPunct="0">
              <a:spcBef>
                <a:spcPct val="0"/>
              </a:spcBef>
              <a:spcAft>
                <a:spcPct val="0"/>
              </a:spcAft>
            </a:pPr>
            <a:r>
              <a:rPr lang="en-US" sz="1600" b="1">
                <a:cs typeface="Times New Roman" panose="02020603050405020304" pitchFamily="18" charset="0"/>
              </a:rPr>
              <a:t>Product Marketing</a:t>
            </a:r>
          </a:p>
          <a:p>
            <a:pPr algn="ctr" eaLnBrk="0" fontAlgn="base" hangingPunct="0">
              <a:spcBef>
                <a:spcPct val="0"/>
              </a:spcBef>
              <a:spcAft>
                <a:spcPct val="0"/>
              </a:spcAft>
            </a:pPr>
            <a:r>
              <a:rPr lang="en-US" sz="1200">
                <a:latin typeface="Arial Narrow" panose="020B0606020202030204" pitchFamily="34" charset="0"/>
                <a:cs typeface="Times New Roman" panose="02020603050405020304" pitchFamily="18" charset="0"/>
              </a:rPr>
              <a:t>Program Owners</a:t>
            </a:r>
          </a:p>
        </p:txBody>
      </p:sp>
      <p:cxnSp>
        <p:nvCxnSpPr>
          <p:cNvPr id="49" name="Straight Arrow Connector 48">
            <a:extLst>
              <a:ext uri="{FF2B5EF4-FFF2-40B4-BE49-F238E27FC236}">
                <a16:creationId xmlns:a16="http://schemas.microsoft.com/office/drawing/2014/main" id="{90A9B4B9-E676-5451-7B1A-B55DBDBC1157}"/>
              </a:ext>
            </a:extLst>
          </p:cNvPr>
          <p:cNvCxnSpPr>
            <a:cxnSpLocks/>
          </p:cNvCxnSpPr>
          <p:nvPr/>
        </p:nvCxnSpPr>
        <p:spPr bwMode="auto">
          <a:xfrm>
            <a:off x="3758281" y="6138050"/>
            <a:ext cx="9393293" cy="0"/>
          </a:xfrm>
          <a:prstGeom prst="straightConnector1">
            <a:avLst/>
          </a:prstGeom>
          <a:solidFill>
            <a:schemeClr val="accent1"/>
          </a:solidFill>
          <a:ln w="57150" cap="flat" cmpd="sng" algn="ctr">
            <a:solidFill>
              <a:schemeClr val="accent1"/>
            </a:solidFill>
            <a:prstDash val="solid"/>
            <a:round/>
            <a:headEnd type="none" w="med" len="med"/>
            <a:tailEnd type="triangle"/>
          </a:ln>
          <a:effectLst/>
        </p:spPr>
      </p:cxnSp>
      <p:sp>
        <p:nvSpPr>
          <p:cNvPr id="5" name="Star: 5 Points 4">
            <a:extLst>
              <a:ext uri="{FF2B5EF4-FFF2-40B4-BE49-F238E27FC236}">
                <a16:creationId xmlns:a16="http://schemas.microsoft.com/office/drawing/2014/main" id="{8E6E0144-52B6-737B-02FA-0B3200C437F0}"/>
              </a:ext>
            </a:extLst>
          </p:cNvPr>
          <p:cNvSpPr/>
          <p:nvPr/>
        </p:nvSpPr>
        <p:spPr bwMode="auto">
          <a:xfrm rot="20569960">
            <a:off x="1162123" y="5751734"/>
            <a:ext cx="393573" cy="363348"/>
          </a:xfrm>
          <a:prstGeom prst="star5">
            <a:avLst/>
          </a:prstGeom>
          <a:solidFill>
            <a:srgbClr val="F8D43A"/>
          </a:solidFill>
          <a:ln w="9525">
            <a:noFill/>
            <a:round/>
            <a:headEnd/>
            <a:tailEnd/>
          </a:ln>
          <a:effectLst>
            <a:glow rad="63500">
              <a:srgbClr val="FFFF00">
                <a:alpha val="40000"/>
              </a:srgbClr>
            </a:glow>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cxnSp>
        <p:nvCxnSpPr>
          <p:cNvPr id="52" name="Straight Arrow Connector 51">
            <a:extLst>
              <a:ext uri="{FF2B5EF4-FFF2-40B4-BE49-F238E27FC236}">
                <a16:creationId xmlns:a16="http://schemas.microsoft.com/office/drawing/2014/main" id="{535B62C4-463C-03A9-B152-83B32A4CD5BE}"/>
              </a:ext>
            </a:extLst>
          </p:cNvPr>
          <p:cNvCxnSpPr>
            <a:cxnSpLocks/>
          </p:cNvCxnSpPr>
          <p:nvPr/>
        </p:nvCxnSpPr>
        <p:spPr bwMode="auto">
          <a:xfrm>
            <a:off x="9585418" y="4434692"/>
            <a:ext cx="4173916" cy="0"/>
          </a:xfrm>
          <a:prstGeom prst="straightConnector1">
            <a:avLst/>
          </a:prstGeom>
          <a:solidFill>
            <a:schemeClr val="accent1"/>
          </a:solidFill>
          <a:ln w="57150" cap="flat" cmpd="sng" algn="ctr">
            <a:solidFill>
              <a:schemeClr val="accent1"/>
            </a:solidFill>
            <a:prstDash val="dash"/>
            <a:round/>
            <a:headEnd type="none" w="med" len="med"/>
            <a:tailEnd type="triangle"/>
          </a:ln>
          <a:effectLst/>
        </p:spPr>
      </p:cxnSp>
      <p:cxnSp>
        <p:nvCxnSpPr>
          <p:cNvPr id="53" name="Straight Arrow Connector 52">
            <a:extLst>
              <a:ext uri="{FF2B5EF4-FFF2-40B4-BE49-F238E27FC236}">
                <a16:creationId xmlns:a16="http://schemas.microsoft.com/office/drawing/2014/main" id="{E3829634-52FD-FAC3-C042-F9B2D1E1F8D5}"/>
              </a:ext>
            </a:extLst>
          </p:cNvPr>
          <p:cNvCxnSpPr>
            <a:cxnSpLocks/>
          </p:cNvCxnSpPr>
          <p:nvPr/>
        </p:nvCxnSpPr>
        <p:spPr bwMode="auto">
          <a:xfrm>
            <a:off x="9737818" y="4587092"/>
            <a:ext cx="4173916" cy="0"/>
          </a:xfrm>
          <a:prstGeom prst="straightConnector1">
            <a:avLst/>
          </a:prstGeom>
          <a:solidFill>
            <a:schemeClr val="accent1"/>
          </a:solidFill>
          <a:ln w="57150" cap="flat" cmpd="sng" algn="ctr">
            <a:solidFill>
              <a:schemeClr val="accent1"/>
            </a:solidFill>
            <a:prstDash val="dash"/>
            <a:round/>
            <a:headEnd type="none" w="med" len="med"/>
            <a:tailEnd type="triangle"/>
          </a:ln>
          <a:effectLst/>
        </p:spPr>
      </p:cxnSp>
      <p:cxnSp>
        <p:nvCxnSpPr>
          <p:cNvPr id="54" name="Straight Arrow Connector 53">
            <a:extLst>
              <a:ext uri="{FF2B5EF4-FFF2-40B4-BE49-F238E27FC236}">
                <a16:creationId xmlns:a16="http://schemas.microsoft.com/office/drawing/2014/main" id="{11A0911C-42EA-CF14-F53D-9B1A6270276D}"/>
              </a:ext>
            </a:extLst>
          </p:cNvPr>
          <p:cNvCxnSpPr>
            <a:cxnSpLocks/>
          </p:cNvCxnSpPr>
          <p:nvPr/>
        </p:nvCxnSpPr>
        <p:spPr bwMode="auto">
          <a:xfrm>
            <a:off x="9890218" y="4739492"/>
            <a:ext cx="4173916" cy="0"/>
          </a:xfrm>
          <a:prstGeom prst="straightConnector1">
            <a:avLst/>
          </a:prstGeom>
          <a:solidFill>
            <a:schemeClr val="accent1"/>
          </a:solidFill>
          <a:ln w="57150" cap="flat" cmpd="sng" algn="ctr">
            <a:solidFill>
              <a:schemeClr val="accent1"/>
            </a:solidFill>
            <a:prstDash val="dash"/>
            <a:round/>
            <a:headEnd type="none" w="med" len="med"/>
            <a:tailEnd type="triangle"/>
          </a:ln>
          <a:effectLst/>
        </p:spPr>
      </p:cxnSp>
      <p:pic>
        <p:nvPicPr>
          <p:cNvPr id="56" name="Graphic 55" descr="Infinity with solid fill">
            <a:extLst>
              <a:ext uri="{FF2B5EF4-FFF2-40B4-BE49-F238E27FC236}">
                <a16:creationId xmlns:a16="http://schemas.microsoft.com/office/drawing/2014/main" id="{FA8DED05-C92D-02DD-DA8D-2B4D54082C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64134" y="4259863"/>
            <a:ext cx="566266" cy="566266"/>
          </a:xfrm>
          <a:prstGeom prst="rect">
            <a:avLst/>
          </a:prstGeom>
          <a:effectLst/>
        </p:spPr>
      </p:pic>
      <p:cxnSp>
        <p:nvCxnSpPr>
          <p:cNvPr id="47" name="Straight Arrow Connector 46">
            <a:extLst>
              <a:ext uri="{FF2B5EF4-FFF2-40B4-BE49-F238E27FC236}">
                <a16:creationId xmlns:a16="http://schemas.microsoft.com/office/drawing/2014/main" id="{72B37766-1387-E037-6A5C-13AECD873D92}"/>
              </a:ext>
            </a:extLst>
          </p:cNvPr>
          <p:cNvCxnSpPr>
            <a:cxnSpLocks/>
          </p:cNvCxnSpPr>
          <p:nvPr/>
        </p:nvCxnSpPr>
        <p:spPr bwMode="auto">
          <a:xfrm>
            <a:off x="4632736" y="4542996"/>
            <a:ext cx="4842943" cy="0"/>
          </a:xfrm>
          <a:prstGeom prst="straightConnector1">
            <a:avLst/>
          </a:prstGeom>
          <a:solidFill>
            <a:schemeClr val="accent1"/>
          </a:solidFill>
          <a:ln w="57150" cap="flat" cmpd="sng" algn="ctr">
            <a:solidFill>
              <a:schemeClr val="accent1"/>
            </a:solidFill>
            <a:prstDash val="solid"/>
            <a:round/>
            <a:headEnd type="none" w="med" len="med"/>
            <a:tailEnd type="triangle"/>
          </a:ln>
          <a:effectLst/>
        </p:spPr>
      </p:cxnSp>
      <p:sp>
        <p:nvSpPr>
          <p:cNvPr id="32" name="Rectangle: Rounded Corners 31">
            <a:extLst>
              <a:ext uri="{FF2B5EF4-FFF2-40B4-BE49-F238E27FC236}">
                <a16:creationId xmlns:a16="http://schemas.microsoft.com/office/drawing/2014/main" id="{526BC52D-C05C-8282-71D3-53562457401F}"/>
              </a:ext>
            </a:extLst>
          </p:cNvPr>
          <p:cNvSpPr/>
          <p:nvPr/>
        </p:nvSpPr>
        <p:spPr bwMode="auto">
          <a:xfrm>
            <a:off x="4173390" y="4335881"/>
            <a:ext cx="2349500" cy="414230"/>
          </a:xfrm>
          <a:prstGeom prst="roundRect">
            <a:avLst/>
          </a:prstGeom>
          <a:solidFill>
            <a:schemeClr val="bg2">
              <a:lumMod val="40000"/>
              <a:lumOff val="60000"/>
            </a:schemeClr>
          </a:solidFill>
          <a:ln w="19050">
            <a:solidFill>
              <a:schemeClr val="accent1"/>
            </a:solidFill>
            <a:round/>
            <a:headEnd/>
            <a:tailEnd/>
          </a:ln>
          <a:effectLst/>
        </p:spPr>
        <p:txBody>
          <a:bodyPr wrap="square" rtlCol="0" anchor="ctr"/>
          <a:lstStyle/>
          <a:p>
            <a:pPr algn="ctr" eaLnBrk="0" fontAlgn="base" hangingPunct="0">
              <a:spcBef>
                <a:spcPct val="0"/>
              </a:spcBef>
              <a:spcAft>
                <a:spcPct val="0"/>
              </a:spcAft>
            </a:pPr>
            <a:r>
              <a:rPr lang="en-US" sz="1600" b="1">
                <a:cs typeface="Times New Roman" panose="02020603050405020304" pitchFamily="18" charset="0"/>
              </a:rPr>
              <a:t>Customer</a:t>
            </a:r>
          </a:p>
        </p:txBody>
      </p:sp>
      <p:cxnSp>
        <p:nvCxnSpPr>
          <p:cNvPr id="48" name="Straight Arrow Connector 47">
            <a:extLst>
              <a:ext uri="{FF2B5EF4-FFF2-40B4-BE49-F238E27FC236}">
                <a16:creationId xmlns:a16="http://schemas.microsoft.com/office/drawing/2014/main" id="{405DECD7-1409-9FCB-A209-1670676C8993}"/>
              </a:ext>
            </a:extLst>
          </p:cNvPr>
          <p:cNvCxnSpPr>
            <a:cxnSpLocks/>
          </p:cNvCxnSpPr>
          <p:nvPr/>
        </p:nvCxnSpPr>
        <p:spPr bwMode="auto">
          <a:xfrm>
            <a:off x="2566944" y="5288931"/>
            <a:ext cx="10597539" cy="0"/>
          </a:xfrm>
          <a:prstGeom prst="straightConnector1">
            <a:avLst/>
          </a:prstGeom>
          <a:solidFill>
            <a:schemeClr val="accent1"/>
          </a:solidFill>
          <a:ln w="57150" cap="flat" cmpd="sng" algn="ctr">
            <a:solidFill>
              <a:schemeClr val="accent1"/>
            </a:solidFill>
            <a:prstDash val="solid"/>
            <a:round/>
            <a:headEnd type="none" w="med" len="med"/>
            <a:tailEnd type="triangle"/>
          </a:ln>
          <a:effectLst/>
        </p:spPr>
      </p:cxnSp>
      <p:sp>
        <p:nvSpPr>
          <p:cNvPr id="34" name="Rectangle: Rounded Corners 33">
            <a:extLst>
              <a:ext uri="{FF2B5EF4-FFF2-40B4-BE49-F238E27FC236}">
                <a16:creationId xmlns:a16="http://schemas.microsoft.com/office/drawing/2014/main" id="{36FAD8CA-2C43-02A5-B814-4181C6B7B28A}"/>
              </a:ext>
            </a:extLst>
          </p:cNvPr>
          <p:cNvSpPr/>
          <p:nvPr/>
        </p:nvSpPr>
        <p:spPr bwMode="auto">
          <a:xfrm>
            <a:off x="1624835" y="5301070"/>
            <a:ext cx="2349500" cy="414227"/>
          </a:xfrm>
          <a:prstGeom prst="roundRect">
            <a:avLst/>
          </a:prstGeom>
          <a:solidFill>
            <a:srgbClr val="D5FFF2"/>
          </a:solidFill>
          <a:ln w="19050">
            <a:solidFill>
              <a:schemeClr val="accent1"/>
            </a:solidFill>
            <a:round/>
            <a:headEnd/>
            <a:tailEnd/>
          </a:ln>
          <a:effectLst/>
        </p:spPr>
        <p:txBody>
          <a:bodyPr wrap="square" rtlCol="0" anchor="ctr"/>
          <a:lstStyle/>
          <a:p>
            <a:pPr algn="ctr" eaLnBrk="0" fontAlgn="base" hangingPunct="0">
              <a:spcBef>
                <a:spcPct val="0"/>
              </a:spcBef>
              <a:spcAft>
                <a:spcPct val="0"/>
              </a:spcAft>
            </a:pPr>
            <a:r>
              <a:rPr lang="en-US" sz="1600" b="1">
                <a:cs typeface="Times New Roman" panose="02020603050405020304" pitchFamily="18" charset="0"/>
              </a:rPr>
              <a:t>Emerson Sales</a:t>
            </a:r>
          </a:p>
        </p:txBody>
      </p:sp>
      <p:sp>
        <p:nvSpPr>
          <p:cNvPr id="8" name="Rectangle: Rounded Corners 7">
            <a:extLst>
              <a:ext uri="{FF2B5EF4-FFF2-40B4-BE49-F238E27FC236}">
                <a16:creationId xmlns:a16="http://schemas.microsoft.com/office/drawing/2014/main" id="{9DBF90F0-1F22-0A9B-294D-E096EF0425EA}"/>
              </a:ext>
            </a:extLst>
          </p:cNvPr>
          <p:cNvSpPr/>
          <p:nvPr/>
        </p:nvSpPr>
        <p:spPr bwMode="auto">
          <a:xfrm>
            <a:off x="1620424" y="4862566"/>
            <a:ext cx="2349500" cy="414230"/>
          </a:xfrm>
          <a:prstGeom prst="roundRect">
            <a:avLst/>
          </a:prstGeom>
          <a:solidFill>
            <a:srgbClr val="FBD5AB"/>
          </a:solidFill>
          <a:ln w="19050">
            <a:solidFill>
              <a:schemeClr val="accent1"/>
            </a:solidFill>
            <a:round/>
            <a:headEnd/>
            <a:tailEnd/>
          </a:ln>
          <a:effectLst/>
        </p:spPr>
        <p:txBody>
          <a:bodyPr wrap="square" rtlCol="0" anchor="ctr"/>
          <a:lstStyle/>
          <a:p>
            <a:pPr algn="ctr" eaLnBrk="0" fontAlgn="base" hangingPunct="0">
              <a:spcBef>
                <a:spcPct val="0"/>
              </a:spcBef>
              <a:spcAft>
                <a:spcPct val="0"/>
              </a:spcAft>
            </a:pPr>
            <a:r>
              <a:rPr lang="en-US" sz="1600" b="1">
                <a:cs typeface="Times New Roman" panose="02020603050405020304" pitchFamily="18" charset="0"/>
              </a:rPr>
              <a:t>Impact Partner</a:t>
            </a:r>
          </a:p>
        </p:txBody>
      </p:sp>
      <p:sp>
        <p:nvSpPr>
          <p:cNvPr id="4" name="TextBox 3">
            <a:extLst>
              <a:ext uri="{FF2B5EF4-FFF2-40B4-BE49-F238E27FC236}">
                <a16:creationId xmlns:a16="http://schemas.microsoft.com/office/drawing/2014/main" id="{59760589-7383-C9C8-1EBD-EA548A3B54E1}"/>
              </a:ext>
            </a:extLst>
          </p:cNvPr>
          <p:cNvSpPr txBox="1"/>
          <p:nvPr/>
        </p:nvSpPr>
        <p:spPr>
          <a:xfrm>
            <a:off x="6947966" y="4793112"/>
            <a:ext cx="2558784" cy="118494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marL="0" marR="0" lvl="0" indent="0" defTabSz="146304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04B8D"/>
                </a:solidFill>
                <a:effectLst/>
                <a:uLnTx/>
                <a:uFillTx/>
                <a:latin typeface="+mj-lt"/>
                <a:ea typeface="+mn-ea"/>
                <a:cs typeface="+mn-cs"/>
              </a:rPr>
              <a:t>NA Legend</a:t>
            </a:r>
          </a:p>
          <a:p>
            <a:pPr>
              <a:spcAft>
                <a:spcPts val="600"/>
              </a:spcAft>
              <a:defRPr/>
            </a:pPr>
            <a:r>
              <a:rPr lang="en-US" sz="1100"/>
              <a:t>Product Marketing (Managers) = PMM</a:t>
            </a:r>
          </a:p>
          <a:p>
            <a:pPr marL="0" marR="0" lvl="0" indent="0" defTabSz="1463040" rtl="0" eaLnBrk="1" fontAlgn="auto" latinLnBrk="0" hangingPunct="1">
              <a:lnSpc>
                <a:spcPct val="100000"/>
              </a:lnSpc>
              <a:spcBef>
                <a:spcPts val="0"/>
              </a:spcBef>
              <a:spcAft>
                <a:spcPts val="600"/>
              </a:spcAft>
              <a:buClrTx/>
              <a:buSzTx/>
              <a:buFontTx/>
              <a:buNone/>
              <a:tabLst/>
              <a:defRPr/>
            </a:pPr>
            <a:r>
              <a:rPr kumimoji="0" lang="en-US" sz="1100" i="0" u="none" strike="noStrike" kern="1200" cap="none" spc="0" normalizeH="0" baseline="0" noProof="0">
                <a:ln>
                  <a:noFill/>
                </a:ln>
                <a:effectLst/>
                <a:uLnTx/>
                <a:uFillTx/>
                <a:latin typeface="Arial"/>
                <a:ea typeface="+mn-ea"/>
                <a:cs typeface="+mn-cs"/>
              </a:rPr>
              <a:t>Operations = North America Engineering Solutions (NAES)</a:t>
            </a:r>
          </a:p>
          <a:p>
            <a:pPr>
              <a:spcAft>
                <a:spcPts val="600"/>
              </a:spcAft>
              <a:defRPr/>
            </a:pPr>
            <a:r>
              <a:rPr lang="en-US" sz="1100"/>
              <a:t>Guardian Software &amp; Solutions = GSS</a:t>
            </a:r>
          </a:p>
        </p:txBody>
      </p:sp>
      <p:sp>
        <p:nvSpPr>
          <p:cNvPr id="41" name="Arrow: Left 40">
            <a:hlinkClick r:id="rId4" action="ppaction://hlinksldjump"/>
            <a:extLst>
              <a:ext uri="{FF2B5EF4-FFF2-40B4-BE49-F238E27FC236}">
                <a16:creationId xmlns:a16="http://schemas.microsoft.com/office/drawing/2014/main" id="{D9129257-D440-C049-168F-91D4C83D1B42}"/>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19" name="Picture 18">
            <a:extLst>
              <a:ext uri="{FF2B5EF4-FFF2-40B4-BE49-F238E27FC236}">
                <a16:creationId xmlns:a16="http://schemas.microsoft.com/office/drawing/2014/main" id="{5135A567-19B1-A91C-59F7-CB315EC3B839}"/>
              </a:ext>
            </a:extLst>
          </p:cNvPr>
          <p:cNvPicPr>
            <a:picLocks noChangeAspect="1"/>
          </p:cNvPicPr>
          <p:nvPr/>
        </p:nvPicPr>
        <p:blipFill>
          <a:blip r:embed="rId5"/>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4253352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63B8-2869-3AA8-71D5-048347C07081}"/>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122A2BD7-3DDD-8B0C-B51A-93E522536A1B}"/>
              </a:ext>
            </a:extLst>
          </p:cNvPr>
          <p:cNvSpPr txBox="1"/>
          <p:nvPr/>
        </p:nvSpPr>
        <p:spPr>
          <a:xfrm>
            <a:off x="11110026" y="4321448"/>
            <a:ext cx="1538995" cy="1384995"/>
          </a:xfrm>
          <a:prstGeom prst="rect">
            <a:avLst/>
          </a:prstGeom>
          <a:noFill/>
        </p:spPr>
        <p:txBody>
          <a:bodyPr wrap="square" rtlCol="0">
            <a:spAutoFit/>
          </a:bodyPr>
          <a:lstStyle/>
          <a:p>
            <a:pPr algn="ctr">
              <a:defRPr/>
            </a:pPr>
            <a:r>
              <a:rPr kumimoji="0" lang="en-US" sz="1400" b="0" i="0" u="none" strike="noStrike" kern="1200" cap="none" spc="0" normalizeH="0" baseline="0" noProof="0">
                <a:ln>
                  <a:noFill/>
                </a:ln>
                <a:solidFill>
                  <a:srgbClr val="9FA1A4">
                    <a:lumMod val="50000"/>
                  </a:srgbClr>
                </a:solidFill>
                <a:effectLst/>
                <a:uLnTx/>
                <a:uFillTx/>
                <a:latin typeface="Arial Black"/>
                <a:ea typeface="+mn-ea"/>
                <a:cs typeface="+mn-cs"/>
              </a:rPr>
              <a:t>Pioneer Term Ends</a:t>
            </a:r>
          </a:p>
          <a:p>
            <a:pPr algn="ctr">
              <a:defRPr/>
            </a:pPr>
            <a:r>
              <a:rPr lang="en-US" sz="1400"/>
              <a:t>when 1-year subscription term </a:t>
            </a:r>
            <a:r>
              <a:rPr lang="en-US" sz="1400" b="1"/>
              <a:t>ends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9FA1A4">
                  <a:lumMod val="50000"/>
                </a:srgbClr>
              </a:solidFill>
              <a:effectLst/>
              <a:uLnTx/>
              <a:uFillTx/>
              <a:latin typeface="Arial Black"/>
              <a:ea typeface="+mn-ea"/>
              <a:cs typeface="+mn-cs"/>
            </a:endParaRPr>
          </a:p>
        </p:txBody>
      </p:sp>
      <p:cxnSp>
        <p:nvCxnSpPr>
          <p:cNvPr id="50" name="Straight Connector 49">
            <a:extLst>
              <a:ext uri="{FF2B5EF4-FFF2-40B4-BE49-F238E27FC236}">
                <a16:creationId xmlns:a16="http://schemas.microsoft.com/office/drawing/2014/main" id="{AF7ACCF1-21F8-D42A-143A-FDC494A2C9BB}"/>
              </a:ext>
            </a:extLst>
          </p:cNvPr>
          <p:cNvCxnSpPr>
            <a:cxnSpLocks/>
          </p:cNvCxnSpPr>
          <p:nvPr/>
        </p:nvCxnSpPr>
        <p:spPr bwMode="auto">
          <a:xfrm>
            <a:off x="11874205" y="2940816"/>
            <a:ext cx="0" cy="1296911"/>
          </a:xfrm>
          <a:prstGeom prst="line">
            <a:avLst/>
          </a:prstGeom>
          <a:solidFill>
            <a:schemeClr val="accent1"/>
          </a:solidFill>
          <a:ln w="19050" cap="flat" cmpd="sng" algn="ctr">
            <a:solidFill>
              <a:schemeClr val="bg2"/>
            </a:solidFill>
            <a:prstDash val="solid"/>
            <a:round/>
            <a:headEnd type="none" w="med" len="med"/>
            <a:tailEnd type="oval" w="lg" len="lg"/>
          </a:ln>
          <a:effectLst/>
        </p:spPr>
      </p:cxnSp>
      <p:sp>
        <p:nvSpPr>
          <p:cNvPr id="9" name="TextBox 8">
            <a:extLst>
              <a:ext uri="{FF2B5EF4-FFF2-40B4-BE49-F238E27FC236}">
                <a16:creationId xmlns:a16="http://schemas.microsoft.com/office/drawing/2014/main" id="{17759104-E370-8CD9-6AB4-53AEAB6DACE2}"/>
              </a:ext>
            </a:extLst>
          </p:cNvPr>
          <p:cNvSpPr txBox="1"/>
          <p:nvPr/>
        </p:nvSpPr>
        <p:spPr>
          <a:xfrm>
            <a:off x="4917412" y="4333178"/>
            <a:ext cx="1528083" cy="1384995"/>
          </a:xfrm>
          <a:prstGeom prst="rect">
            <a:avLst/>
          </a:prstGeom>
          <a:noFill/>
        </p:spPr>
        <p:txBody>
          <a:bodyPr wrap="square" rtlCol="0">
            <a:spAutoFit/>
          </a:bodyPr>
          <a:lstStyle/>
          <a:p>
            <a:pPr algn="ctr">
              <a:defRPr/>
            </a:pPr>
            <a:r>
              <a:rPr kumimoji="0" lang="en-US" sz="1400" b="0" i="0" u="none" strike="noStrike" kern="1200" cap="none" spc="0" normalizeH="0" baseline="0" noProof="0">
                <a:ln>
                  <a:noFill/>
                </a:ln>
                <a:solidFill>
                  <a:srgbClr val="9FA1A4">
                    <a:lumMod val="50000"/>
                  </a:srgbClr>
                </a:solidFill>
                <a:effectLst/>
                <a:uLnTx/>
                <a:uFillTx/>
                <a:latin typeface="Arial Black"/>
                <a:ea typeface="+mn-ea"/>
                <a:cs typeface="+mn-cs"/>
              </a:rPr>
              <a:t>Pioneer Term Begins</a:t>
            </a:r>
          </a:p>
          <a:p>
            <a:pPr algn="ctr">
              <a:defRPr/>
            </a:pPr>
            <a:r>
              <a:rPr lang="en-US" sz="1400"/>
              <a:t>when 1-year subscription term </a:t>
            </a:r>
            <a:r>
              <a:rPr lang="en-US" sz="1400" b="1"/>
              <a:t>begins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9FA1A4">
                  <a:lumMod val="50000"/>
                </a:srgbClr>
              </a:solidFill>
              <a:effectLst/>
              <a:uLnTx/>
              <a:uFillTx/>
              <a:latin typeface="Arial Black"/>
              <a:ea typeface="+mn-ea"/>
              <a:cs typeface="+mn-cs"/>
            </a:endParaRPr>
          </a:p>
        </p:txBody>
      </p:sp>
      <p:cxnSp>
        <p:nvCxnSpPr>
          <p:cNvPr id="10" name="Straight Connector 9">
            <a:extLst>
              <a:ext uri="{FF2B5EF4-FFF2-40B4-BE49-F238E27FC236}">
                <a16:creationId xmlns:a16="http://schemas.microsoft.com/office/drawing/2014/main" id="{86182790-D4BC-6F9E-1CA6-9EC3E18ABB37}"/>
              </a:ext>
            </a:extLst>
          </p:cNvPr>
          <p:cNvCxnSpPr>
            <a:cxnSpLocks/>
          </p:cNvCxnSpPr>
          <p:nvPr/>
        </p:nvCxnSpPr>
        <p:spPr bwMode="auto">
          <a:xfrm>
            <a:off x="5681454" y="2656935"/>
            <a:ext cx="0" cy="1583667"/>
          </a:xfrm>
          <a:prstGeom prst="line">
            <a:avLst/>
          </a:prstGeom>
          <a:solidFill>
            <a:schemeClr val="accent1"/>
          </a:solidFill>
          <a:ln w="19050" cap="flat" cmpd="sng" algn="ctr">
            <a:solidFill>
              <a:schemeClr val="bg2"/>
            </a:solidFill>
            <a:prstDash val="solid"/>
            <a:round/>
            <a:headEnd type="none" w="med" len="med"/>
            <a:tailEnd type="oval" w="lg" len="lg"/>
          </a:ln>
          <a:effectLst/>
        </p:spPr>
      </p:cxnSp>
      <p:grpSp>
        <p:nvGrpSpPr>
          <p:cNvPr id="53" name="Group 52">
            <a:extLst>
              <a:ext uri="{FF2B5EF4-FFF2-40B4-BE49-F238E27FC236}">
                <a16:creationId xmlns:a16="http://schemas.microsoft.com/office/drawing/2014/main" id="{CF71D1D0-F8BF-FD31-C615-12802D7BAA4F}"/>
              </a:ext>
            </a:extLst>
          </p:cNvPr>
          <p:cNvGrpSpPr/>
          <p:nvPr/>
        </p:nvGrpSpPr>
        <p:grpSpPr>
          <a:xfrm>
            <a:off x="0" y="1670212"/>
            <a:ext cx="14630400" cy="583803"/>
            <a:chOff x="1624891" y="4696047"/>
            <a:chExt cx="11577969" cy="583803"/>
          </a:xfrm>
        </p:grpSpPr>
        <p:grpSp>
          <p:nvGrpSpPr>
            <p:cNvPr id="54" name="Group 53">
              <a:extLst>
                <a:ext uri="{FF2B5EF4-FFF2-40B4-BE49-F238E27FC236}">
                  <a16:creationId xmlns:a16="http://schemas.microsoft.com/office/drawing/2014/main" id="{00742F20-F7D8-C990-35C3-B62C3456FDC1}"/>
                </a:ext>
              </a:extLst>
            </p:cNvPr>
            <p:cNvGrpSpPr/>
            <p:nvPr/>
          </p:nvGrpSpPr>
          <p:grpSpPr>
            <a:xfrm>
              <a:off x="1624891" y="4696047"/>
              <a:ext cx="3796414" cy="583803"/>
              <a:chOff x="203706" y="1361270"/>
              <a:chExt cx="1818782" cy="583803"/>
            </a:xfrm>
          </p:grpSpPr>
          <p:sp>
            <p:nvSpPr>
              <p:cNvPr id="61" name="Rectangle 60">
                <a:extLst>
                  <a:ext uri="{FF2B5EF4-FFF2-40B4-BE49-F238E27FC236}">
                    <a16:creationId xmlns:a16="http://schemas.microsoft.com/office/drawing/2014/main" id="{5F8D36AB-8E60-BE81-1F7A-8025746AE19D}"/>
                  </a:ext>
                </a:extLst>
              </p:cNvPr>
              <p:cNvSpPr/>
              <p:nvPr/>
            </p:nvSpPr>
            <p:spPr>
              <a:xfrm>
                <a:off x="203706" y="1361270"/>
                <a:ext cx="1818782"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A03F7A2F-103D-3DCA-42C6-DF923CBFAF0E}"/>
                  </a:ext>
                </a:extLst>
              </p:cNvPr>
              <p:cNvSpPr txBox="1"/>
              <p:nvPr/>
            </p:nvSpPr>
            <p:spPr>
              <a:xfrm>
                <a:off x="203706" y="1361270"/>
                <a:ext cx="1786970"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Interest &amp; Readiness</a:t>
                </a:r>
              </a:p>
            </p:txBody>
          </p:sp>
        </p:grpSp>
        <p:grpSp>
          <p:nvGrpSpPr>
            <p:cNvPr id="55" name="Group 54">
              <a:extLst>
                <a:ext uri="{FF2B5EF4-FFF2-40B4-BE49-F238E27FC236}">
                  <a16:creationId xmlns:a16="http://schemas.microsoft.com/office/drawing/2014/main" id="{7CFA16BF-3779-0F80-77EB-8824C77A7E54}"/>
                </a:ext>
              </a:extLst>
            </p:cNvPr>
            <p:cNvGrpSpPr/>
            <p:nvPr/>
          </p:nvGrpSpPr>
          <p:grpSpPr>
            <a:xfrm>
              <a:off x="5516353" y="4696047"/>
              <a:ext cx="3796414" cy="583803"/>
              <a:chOff x="203706" y="1361270"/>
              <a:chExt cx="1818782" cy="583803"/>
            </a:xfrm>
          </p:grpSpPr>
          <p:sp>
            <p:nvSpPr>
              <p:cNvPr id="59" name="Rectangle 58">
                <a:extLst>
                  <a:ext uri="{FF2B5EF4-FFF2-40B4-BE49-F238E27FC236}">
                    <a16:creationId xmlns:a16="http://schemas.microsoft.com/office/drawing/2014/main" id="{2BAAE1B0-41B1-9354-1EE1-B3F98ED958F8}"/>
                  </a:ext>
                </a:extLst>
              </p:cNvPr>
              <p:cNvSpPr/>
              <p:nvPr/>
            </p:nvSpPr>
            <p:spPr>
              <a:xfrm>
                <a:off x="203706" y="1361270"/>
                <a:ext cx="1818782"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60" name="TextBox 59">
                <a:extLst>
                  <a:ext uri="{FF2B5EF4-FFF2-40B4-BE49-F238E27FC236}">
                    <a16:creationId xmlns:a16="http://schemas.microsoft.com/office/drawing/2014/main" id="{2B417ED0-3052-524E-D014-486F4FAB3203}"/>
                  </a:ext>
                </a:extLst>
              </p:cNvPr>
              <p:cNvSpPr txBox="1"/>
              <p:nvPr/>
            </p:nvSpPr>
            <p:spPr>
              <a:xfrm>
                <a:off x="203706" y="1361270"/>
                <a:ext cx="1786970"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Deployment &amp; Support</a:t>
                </a:r>
              </a:p>
            </p:txBody>
          </p:sp>
        </p:grpSp>
        <p:grpSp>
          <p:nvGrpSpPr>
            <p:cNvPr id="56" name="Group 55">
              <a:extLst>
                <a:ext uri="{FF2B5EF4-FFF2-40B4-BE49-F238E27FC236}">
                  <a16:creationId xmlns:a16="http://schemas.microsoft.com/office/drawing/2014/main" id="{8B6BD443-1E16-603B-F9A5-3B1DD619CC45}"/>
                </a:ext>
              </a:extLst>
            </p:cNvPr>
            <p:cNvGrpSpPr/>
            <p:nvPr/>
          </p:nvGrpSpPr>
          <p:grpSpPr>
            <a:xfrm>
              <a:off x="9406446" y="4696047"/>
              <a:ext cx="3796414" cy="583803"/>
              <a:chOff x="203706" y="1361270"/>
              <a:chExt cx="1818782" cy="583803"/>
            </a:xfrm>
          </p:grpSpPr>
          <p:sp>
            <p:nvSpPr>
              <p:cNvPr id="57" name="Rectangle 56">
                <a:extLst>
                  <a:ext uri="{FF2B5EF4-FFF2-40B4-BE49-F238E27FC236}">
                    <a16:creationId xmlns:a16="http://schemas.microsoft.com/office/drawing/2014/main" id="{C7E4C3FF-F327-5C08-5C2F-DCC414B8F9E0}"/>
                  </a:ext>
                </a:extLst>
              </p:cNvPr>
              <p:cNvSpPr/>
              <p:nvPr/>
            </p:nvSpPr>
            <p:spPr>
              <a:xfrm>
                <a:off x="203706" y="1361270"/>
                <a:ext cx="1818782"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58" name="TextBox 57">
                <a:extLst>
                  <a:ext uri="{FF2B5EF4-FFF2-40B4-BE49-F238E27FC236}">
                    <a16:creationId xmlns:a16="http://schemas.microsoft.com/office/drawing/2014/main" id="{2311A6DC-B735-C7BF-BF2C-0F9FC42AE0CE}"/>
                  </a:ext>
                </a:extLst>
              </p:cNvPr>
              <p:cNvSpPr txBox="1"/>
              <p:nvPr/>
            </p:nvSpPr>
            <p:spPr>
              <a:xfrm>
                <a:off x="203706" y="1361270"/>
                <a:ext cx="1786970"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Adopt &amp; Enable</a:t>
                </a:r>
              </a:p>
            </p:txBody>
          </p:sp>
        </p:grpSp>
      </p:grpSp>
      <p:cxnSp>
        <p:nvCxnSpPr>
          <p:cNvPr id="37" name="Straight Connector 36">
            <a:extLst>
              <a:ext uri="{FF2B5EF4-FFF2-40B4-BE49-F238E27FC236}">
                <a16:creationId xmlns:a16="http://schemas.microsoft.com/office/drawing/2014/main" id="{0301604E-49BB-47DD-B145-FECF5ED2A597}"/>
              </a:ext>
            </a:extLst>
          </p:cNvPr>
          <p:cNvCxnSpPr>
            <a:cxnSpLocks/>
          </p:cNvCxnSpPr>
          <p:nvPr/>
        </p:nvCxnSpPr>
        <p:spPr bwMode="auto">
          <a:xfrm flipH="1" flipV="1">
            <a:off x="9779648" y="1657855"/>
            <a:ext cx="60954" cy="657174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Title 2">
            <a:extLst>
              <a:ext uri="{FF2B5EF4-FFF2-40B4-BE49-F238E27FC236}">
                <a16:creationId xmlns:a16="http://schemas.microsoft.com/office/drawing/2014/main" id="{367BEA72-F3A6-5511-B68C-6D738F5AB678}"/>
              </a:ext>
            </a:extLst>
          </p:cNvPr>
          <p:cNvSpPr>
            <a:spLocks noGrp="1"/>
          </p:cNvSpPr>
          <p:nvPr>
            <p:ph type="title"/>
          </p:nvPr>
        </p:nvSpPr>
        <p:spPr/>
        <p:txBody>
          <a:bodyPr/>
          <a:lstStyle/>
          <a:p>
            <a:r>
              <a:rPr lang="en-US"/>
              <a:t>Pioneer Program Project Phases and Key Milestones </a:t>
            </a:r>
          </a:p>
        </p:txBody>
      </p:sp>
      <p:sp>
        <p:nvSpPr>
          <p:cNvPr id="36" name="Arrow: Left-Right 35">
            <a:extLst>
              <a:ext uri="{FF2B5EF4-FFF2-40B4-BE49-F238E27FC236}">
                <a16:creationId xmlns:a16="http://schemas.microsoft.com/office/drawing/2014/main" id="{6ECAA78B-9453-AF68-3793-58B0E83C6082}"/>
              </a:ext>
            </a:extLst>
          </p:cNvPr>
          <p:cNvSpPr/>
          <p:nvPr/>
        </p:nvSpPr>
        <p:spPr bwMode="auto">
          <a:xfrm>
            <a:off x="4862254" y="5913200"/>
            <a:ext cx="7011952" cy="511083"/>
          </a:xfrm>
          <a:prstGeom prst="leftRightArrow">
            <a:avLst/>
          </a:prstGeom>
          <a:solidFill>
            <a:schemeClr val="accent1"/>
          </a:solidFill>
          <a:ln w="9525">
            <a:noFill/>
            <a:round/>
            <a:headEnd/>
            <a:tailEnd/>
          </a:ln>
          <a:effectLst/>
        </p:spPr>
        <p:txBody>
          <a:bodyPr wrap="square" rtlCol="0" anchor="ctr"/>
          <a:lstStyle/>
          <a:p>
            <a:pPr marL="0" marR="0" lvl="0" indent="0" algn="ctr" defTabSz="1463040" rtl="0" eaLnBrk="0" fontAlgn="base" latinLnBrk="0" hangingPunct="0">
              <a:lnSpc>
                <a:spcPct val="100000"/>
              </a:lnSpc>
              <a:spcBef>
                <a:spcPct val="0"/>
              </a:spcBef>
              <a:spcAft>
                <a:spcPct val="0"/>
              </a:spcAft>
              <a:buClrTx/>
              <a:buSzTx/>
              <a:buFontTx/>
              <a:buNone/>
              <a:tabLst/>
              <a:defRPr/>
            </a:pPr>
            <a:endParaRPr kumimoji="0" lang="en-US" sz="2900" b="1" i="0" u="none" strike="noStrike" kern="1200" cap="none" spc="0" normalizeH="0" baseline="0" noProof="0">
              <a:ln>
                <a:noFill/>
              </a:ln>
              <a:solidFill>
                <a:srgbClr val="FFFFFF"/>
              </a:solidFill>
              <a:effectLst/>
              <a:uLnTx/>
              <a:uFillTx/>
              <a:latin typeface="Arial"/>
              <a:ea typeface="+mn-ea"/>
              <a:cs typeface="+mn-cs"/>
            </a:endParaRPr>
          </a:p>
        </p:txBody>
      </p:sp>
      <p:sp>
        <p:nvSpPr>
          <p:cNvPr id="38" name="TextBox 37">
            <a:extLst>
              <a:ext uri="{FF2B5EF4-FFF2-40B4-BE49-F238E27FC236}">
                <a16:creationId xmlns:a16="http://schemas.microsoft.com/office/drawing/2014/main" id="{7876CFB5-C101-AA7A-16B8-19E43213B88C}"/>
              </a:ext>
            </a:extLst>
          </p:cNvPr>
          <p:cNvSpPr txBox="1"/>
          <p:nvPr/>
        </p:nvSpPr>
        <p:spPr>
          <a:xfrm>
            <a:off x="5735977" y="6107500"/>
            <a:ext cx="5264506" cy="1763554"/>
          </a:xfrm>
          <a:prstGeom prst="rect">
            <a:avLst/>
          </a:prstGeom>
        </p:spPr>
        <p:style>
          <a:lnRef idx="2">
            <a:schemeClr val="accent1"/>
          </a:lnRef>
          <a:fillRef idx="1">
            <a:schemeClr val="lt1"/>
          </a:fillRef>
          <a:effectRef idx="0">
            <a:schemeClr val="accent1"/>
          </a:effectRef>
          <a:fontRef idx="minor">
            <a:schemeClr val="dk1"/>
          </a:fontRef>
        </p:style>
        <p:txBody>
          <a:bodyPr wrap="square" anchor="ctr">
            <a:noAutofit/>
          </a:bodyPr>
          <a:lstStyle/>
          <a:p>
            <a:pPr algn="ctr">
              <a:spcAft>
                <a:spcPts val="1200"/>
              </a:spcAft>
            </a:pPr>
            <a:r>
              <a:rPr lang="en-US" sz="1400" b="1" dirty="0"/>
              <a:t>12 – 18 months to install, use product, and provide feedback to “complete” program</a:t>
            </a:r>
          </a:p>
          <a:p>
            <a:pPr algn="ctr">
              <a:spcAft>
                <a:spcPts val="1200"/>
              </a:spcAft>
            </a:pPr>
            <a:r>
              <a:rPr lang="en-US" sz="1400" dirty="0"/>
              <a:t>Customer decision on renewal/expansion to occur </a:t>
            </a:r>
            <a:r>
              <a:rPr lang="en-US" sz="1400" b="1" dirty="0"/>
              <a:t>90 days before Pioneer Term ends</a:t>
            </a:r>
          </a:p>
          <a:p>
            <a:pPr algn="ctr">
              <a:spcAft>
                <a:spcPts val="1200"/>
              </a:spcAft>
            </a:pPr>
            <a:r>
              <a:rPr lang="en-US" sz="1400" dirty="0"/>
              <a:t>Testimonials and marketing collateral approvals to be </a:t>
            </a:r>
            <a:r>
              <a:rPr lang="en-US" sz="1400" b="1" dirty="0"/>
              <a:t>finalized with customer before Pioneer Term ends</a:t>
            </a:r>
          </a:p>
        </p:txBody>
      </p:sp>
      <p:sp>
        <p:nvSpPr>
          <p:cNvPr id="34" name="TextBox 33">
            <a:extLst>
              <a:ext uri="{FF2B5EF4-FFF2-40B4-BE49-F238E27FC236}">
                <a16:creationId xmlns:a16="http://schemas.microsoft.com/office/drawing/2014/main" id="{9E2CEEC8-1E2E-E4DD-242E-48B8D2500C9B}"/>
              </a:ext>
            </a:extLst>
          </p:cNvPr>
          <p:cNvSpPr txBox="1"/>
          <p:nvPr/>
        </p:nvSpPr>
        <p:spPr>
          <a:xfrm>
            <a:off x="5099440" y="2347053"/>
            <a:ext cx="3952252" cy="307777"/>
          </a:xfrm>
          <a:prstGeom prst="rect">
            <a:avLst/>
          </a:prstGeom>
          <a:solidFill>
            <a:srgbClr val="E7E9EE"/>
          </a:solidFill>
          <a:ln>
            <a:solidFill>
              <a:schemeClr val="bg1"/>
            </a:solidFill>
          </a:ln>
        </p:spPr>
        <p:txBody>
          <a:bodyPr wrap="square">
            <a:spAutoFit/>
          </a:bodyPr>
          <a:lstStyle/>
          <a:p>
            <a:pPr marL="0" algn="ctr" defTabSz="1463040" rtl="0" eaLnBrk="1" latinLnBrk="0" hangingPunct="1"/>
            <a:r>
              <a:rPr lang="en-US" sz="1400" b="1" kern="1200">
                <a:solidFill>
                  <a:schemeClr val="dk1"/>
                </a:solidFill>
              </a:rPr>
              <a:t>Implementation Phase</a:t>
            </a:r>
          </a:p>
        </p:txBody>
      </p:sp>
      <p:cxnSp>
        <p:nvCxnSpPr>
          <p:cNvPr id="35" name="Straight Connector 34">
            <a:extLst>
              <a:ext uri="{FF2B5EF4-FFF2-40B4-BE49-F238E27FC236}">
                <a16:creationId xmlns:a16="http://schemas.microsoft.com/office/drawing/2014/main" id="{2461EA4E-3546-52D7-42B3-149A08B01A59}"/>
              </a:ext>
            </a:extLst>
          </p:cNvPr>
          <p:cNvCxnSpPr>
            <a:cxnSpLocks/>
          </p:cNvCxnSpPr>
          <p:nvPr/>
        </p:nvCxnSpPr>
        <p:spPr bwMode="auto">
          <a:xfrm flipV="1">
            <a:off x="4862253" y="1670212"/>
            <a:ext cx="0" cy="655938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2" name="TextBox 51">
            <a:extLst>
              <a:ext uri="{FF2B5EF4-FFF2-40B4-BE49-F238E27FC236}">
                <a16:creationId xmlns:a16="http://schemas.microsoft.com/office/drawing/2014/main" id="{B3E979A9-2B8D-7688-A58F-C3CDC7042AD6}"/>
              </a:ext>
            </a:extLst>
          </p:cNvPr>
          <p:cNvSpPr txBox="1"/>
          <p:nvPr/>
        </p:nvSpPr>
        <p:spPr>
          <a:xfrm>
            <a:off x="2030339" y="2347053"/>
            <a:ext cx="3031958" cy="307777"/>
          </a:xfrm>
          <a:prstGeom prst="rect">
            <a:avLst/>
          </a:prstGeom>
          <a:solidFill>
            <a:srgbClr val="E7E9EE"/>
          </a:solidFill>
          <a:ln>
            <a:solidFill>
              <a:schemeClr val="bg1"/>
            </a:solidFill>
          </a:ln>
        </p:spPr>
        <p:txBody>
          <a:bodyPr wrap="square">
            <a:spAutoFit/>
          </a:bodyPr>
          <a:lstStyle/>
          <a:p>
            <a:pPr marL="0" algn="ctr" defTabSz="1463040" rtl="0" eaLnBrk="1" latinLnBrk="0" hangingPunct="1"/>
            <a:r>
              <a:rPr lang="en-US" sz="1400" b="1" kern="1200">
                <a:solidFill>
                  <a:schemeClr val="dk1"/>
                </a:solidFill>
              </a:rPr>
              <a:t>Planning Phase</a:t>
            </a:r>
          </a:p>
        </p:txBody>
      </p:sp>
      <p:sp>
        <p:nvSpPr>
          <p:cNvPr id="26" name="Right Brace 25">
            <a:extLst>
              <a:ext uri="{FF2B5EF4-FFF2-40B4-BE49-F238E27FC236}">
                <a16:creationId xmlns:a16="http://schemas.microsoft.com/office/drawing/2014/main" id="{270250DF-F529-5CC9-0655-6C38E8385A60}"/>
              </a:ext>
            </a:extLst>
          </p:cNvPr>
          <p:cNvSpPr/>
          <p:nvPr/>
        </p:nvSpPr>
        <p:spPr bwMode="auto">
          <a:xfrm rot="5400000">
            <a:off x="6928597" y="840464"/>
            <a:ext cx="307778" cy="3938411"/>
          </a:xfrm>
          <a:prstGeom prst="rightBrace">
            <a:avLst>
              <a:gd name="adj1" fmla="val 8333"/>
              <a:gd name="adj2" fmla="val 5375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71E0FF99-5F7F-A3B7-53A7-4ACF7F94DA89}"/>
              </a:ext>
            </a:extLst>
          </p:cNvPr>
          <p:cNvSpPr txBox="1"/>
          <p:nvPr/>
        </p:nvSpPr>
        <p:spPr>
          <a:xfrm>
            <a:off x="5715810" y="3051741"/>
            <a:ext cx="2470137" cy="738664"/>
          </a:xfrm>
          <a:prstGeom prst="rect">
            <a:avLst/>
          </a:prstGeom>
          <a:solidFill>
            <a:schemeClr val="bg1"/>
          </a:solidFill>
        </p:spPr>
        <p:txBody>
          <a:bodyPr wrap="square" rtlCol="0">
            <a:spAutoFit/>
          </a:bodyPr>
          <a:lstStyle/>
          <a:p>
            <a:pPr algn="ctr"/>
            <a:r>
              <a:rPr lang="en-US" sz="1400"/>
              <a:t>Successfully Deploy Product into Customer Pioneer’s Pioneer System Use Case</a:t>
            </a:r>
          </a:p>
        </p:txBody>
      </p:sp>
      <p:sp>
        <p:nvSpPr>
          <p:cNvPr id="29" name="TextBox 28">
            <a:extLst>
              <a:ext uri="{FF2B5EF4-FFF2-40B4-BE49-F238E27FC236}">
                <a16:creationId xmlns:a16="http://schemas.microsoft.com/office/drawing/2014/main" id="{EE355C8A-2212-3AAF-1AA4-95490AE72632}"/>
              </a:ext>
            </a:extLst>
          </p:cNvPr>
          <p:cNvSpPr txBox="1"/>
          <p:nvPr/>
        </p:nvSpPr>
        <p:spPr>
          <a:xfrm>
            <a:off x="2341410" y="3051741"/>
            <a:ext cx="2320798" cy="307777"/>
          </a:xfrm>
          <a:prstGeom prst="rect">
            <a:avLst/>
          </a:prstGeom>
          <a:solidFill>
            <a:schemeClr val="bg1"/>
          </a:solidFill>
        </p:spPr>
        <p:txBody>
          <a:bodyPr wrap="square" rtlCol="0">
            <a:spAutoFit/>
          </a:bodyPr>
          <a:lstStyle/>
          <a:p>
            <a:pPr algn="ctr"/>
            <a:r>
              <a:rPr lang="en-US" sz="1400"/>
              <a:t>Prepare for Project Kickoff</a:t>
            </a:r>
          </a:p>
        </p:txBody>
      </p:sp>
      <p:sp>
        <p:nvSpPr>
          <p:cNvPr id="32" name="TextBox 31">
            <a:extLst>
              <a:ext uri="{FF2B5EF4-FFF2-40B4-BE49-F238E27FC236}">
                <a16:creationId xmlns:a16="http://schemas.microsoft.com/office/drawing/2014/main" id="{FEAB217A-503B-825A-16CA-44360171C6E2}"/>
              </a:ext>
            </a:extLst>
          </p:cNvPr>
          <p:cNvSpPr txBox="1"/>
          <p:nvPr/>
        </p:nvSpPr>
        <p:spPr>
          <a:xfrm>
            <a:off x="9051366" y="3594514"/>
            <a:ext cx="2712512" cy="738664"/>
          </a:xfrm>
          <a:prstGeom prst="rect">
            <a:avLst/>
          </a:prstGeom>
          <a:solidFill>
            <a:schemeClr val="bg1"/>
          </a:solidFill>
        </p:spPr>
        <p:txBody>
          <a:bodyPr wrap="square" rtlCol="0">
            <a:spAutoFit/>
          </a:bodyPr>
          <a:lstStyle/>
          <a:p>
            <a:pPr algn="ctr"/>
            <a:r>
              <a:rPr lang="en-US" sz="1400"/>
              <a:t>Provide White Glove Lifecycle Support, Capture Feedback, and Ensure Value Creation</a:t>
            </a:r>
          </a:p>
        </p:txBody>
      </p:sp>
      <p:sp>
        <p:nvSpPr>
          <p:cNvPr id="48" name="TextBox 47">
            <a:extLst>
              <a:ext uri="{FF2B5EF4-FFF2-40B4-BE49-F238E27FC236}">
                <a16:creationId xmlns:a16="http://schemas.microsoft.com/office/drawing/2014/main" id="{F35EAEA4-76A6-C3BF-8A3F-33FC48F4DE50}"/>
              </a:ext>
            </a:extLst>
          </p:cNvPr>
          <p:cNvSpPr txBox="1"/>
          <p:nvPr/>
        </p:nvSpPr>
        <p:spPr>
          <a:xfrm>
            <a:off x="8510224" y="2870342"/>
            <a:ext cx="4068832" cy="307777"/>
          </a:xfrm>
          <a:prstGeom prst="rect">
            <a:avLst/>
          </a:prstGeom>
          <a:solidFill>
            <a:srgbClr val="E7E9EE"/>
          </a:solidFill>
          <a:ln>
            <a:solidFill>
              <a:schemeClr val="bg1"/>
            </a:solidFill>
          </a:ln>
        </p:spPr>
        <p:txBody>
          <a:bodyPr wrap="square">
            <a:spAutoFit/>
          </a:bodyPr>
          <a:lstStyle/>
          <a:p>
            <a:pPr marL="0" algn="ctr" defTabSz="1463040" rtl="0" eaLnBrk="1" latinLnBrk="0" hangingPunct="1"/>
            <a:r>
              <a:rPr lang="en-US" sz="1400" b="1" kern="1200">
                <a:solidFill>
                  <a:schemeClr val="dk1"/>
                </a:solidFill>
              </a:rPr>
              <a:t>Hypercare Phase</a:t>
            </a:r>
          </a:p>
        </p:txBody>
      </p:sp>
      <p:sp>
        <p:nvSpPr>
          <p:cNvPr id="64" name="Right Brace 63">
            <a:extLst>
              <a:ext uri="{FF2B5EF4-FFF2-40B4-BE49-F238E27FC236}">
                <a16:creationId xmlns:a16="http://schemas.microsoft.com/office/drawing/2014/main" id="{A194775B-BE6D-CEF3-C261-C10C49FD1CBD}"/>
              </a:ext>
            </a:extLst>
          </p:cNvPr>
          <p:cNvSpPr/>
          <p:nvPr/>
        </p:nvSpPr>
        <p:spPr bwMode="auto">
          <a:xfrm rot="5400000">
            <a:off x="10390751" y="1387698"/>
            <a:ext cx="307778" cy="3938411"/>
          </a:xfrm>
          <a:prstGeom prst="rightBrace">
            <a:avLst>
              <a:gd name="adj1" fmla="val 8333"/>
              <a:gd name="adj2" fmla="val 5375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5" name="Right Brace 64">
            <a:extLst>
              <a:ext uri="{FF2B5EF4-FFF2-40B4-BE49-F238E27FC236}">
                <a16:creationId xmlns:a16="http://schemas.microsoft.com/office/drawing/2014/main" id="{F73AC572-F570-093F-05D0-A5C14D698038}"/>
              </a:ext>
            </a:extLst>
          </p:cNvPr>
          <p:cNvSpPr/>
          <p:nvPr/>
        </p:nvSpPr>
        <p:spPr bwMode="auto">
          <a:xfrm rot="5400000">
            <a:off x="3391729" y="1315396"/>
            <a:ext cx="307778" cy="2988548"/>
          </a:xfrm>
          <a:prstGeom prst="rightBrace">
            <a:avLst>
              <a:gd name="adj1" fmla="val 8333"/>
              <a:gd name="adj2" fmla="val 5375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Arrow: Left 6">
            <a:hlinkClick r:id="rId3" action="ppaction://hlinksldjump"/>
            <a:extLst>
              <a:ext uri="{FF2B5EF4-FFF2-40B4-BE49-F238E27FC236}">
                <a16:creationId xmlns:a16="http://schemas.microsoft.com/office/drawing/2014/main" id="{292706CB-7ECD-F8DA-793A-83F693251615}"/>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5" name="Picture 4">
            <a:extLst>
              <a:ext uri="{FF2B5EF4-FFF2-40B4-BE49-F238E27FC236}">
                <a16:creationId xmlns:a16="http://schemas.microsoft.com/office/drawing/2014/main" id="{113003A0-48E9-670C-E39F-5DB40A91B79C}"/>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1946936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CBA2-087E-2D07-6280-85997BCC100D}"/>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251F8754-E15B-BAA5-73EF-7FD6A6C5B6A4}"/>
              </a:ext>
            </a:extLst>
          </p:cNvPr>
          <p:cNvSpPr>
            <a:spLocks noGrp="1"/>
          </p:cNvSpPr>
          <p:nvPr>
            <p:ph type="title"/>
          </p:nvPr>
        </p:nvSpPr>
        <p:spPr>
          <a:xfrm>
            <a:off x="503237" y="329565"/>
            <a:ext cx="13623925" cy="1016350"/>
          </a:xfrm>
        </p:spPr>
        <p:txBody>
          <a:bodyPr anchor="b">
            <a:normAutofit/>
          </a:bodyPr>
          <a:lstStyle/>
          <a:p>
            <a:r>
              <a:rPr lang="en-US"/>
              <a:t>Pioneer Program </a:t>
            </a:r>
            <a:r>
              <a:rPr lang="en-US">
                <a:solidFill>
                  <a:srgbClr val="00B0F0"/>
                </a:solidFill>
              </a:rPr>
              <a:t>Standard Support Governance</a:t>
            </a:r>
            <a:r>
              <a:rPr lang="en-US">
                <a:solidFill>
                  <a:schemeClr val="accent4"/>
                </a:solidFill>
              </a:rPr>
              <a:t> </a:t>
            </a:r>
            <a:r>
              <a:rPr lang="en-US"/>
              <a:t>with Cross-Functional Roles and Responsibilities </a:t>
            </a:r>
          </a:p>
        </p:txBody>
      </p:sp>
      <p:graphicFrame>
        <p:nvGraphicFramePr>
          <p:cNvPr id="5" name="Table 4">
            <a:extLst>
              <a:ext uri="{FF2B5EF4-FFF2-40B4-BE49-F238E27FC236}">
                <a16:creationId xmlns:a16="http://schemas.microsoft.com/office/drawing/2014/main" id="{B83BEA32-6FE0-647E-B115-71B152F6BA83}"/>
              </a:ext>
            </a:extLst>
          </p:cNvPr>
          <p:cNvGraphicFramePr>
            <a:graphicFrameLocks noGrp="1"/>
          </p:cNvGraphicFramePr>
          <p:nvPr>
            <p:extLst>
              <p:ext uri="{D42A27DB-BD31-4B8C-83A1-F6EECF244321}">
                <p14:modId xmlns:p14="http://schemas.microsoft.com/office/powerpoint/2010/main" val="207763070"/>
              </p:ext>
            </p:extLst>
          </p:nvPr>
        </p:nvGraphicFramePr>
        <p:xfrm>
          <a:off x="300792" y="1726449"/>
          <a:ext cx="13826370" cy="2636520"/>
        </p:xfrm>
        <a:graphic>
          <a:graphicData uri="http://schemas.openxmlformats.org/drawingml/2006/table">
            <a:tbl>
              <a:tblPr firstRow="1" bandRow="1">
                <a:tableStyleId>{5C22544A-7EE6-4342-B048-85BDC9FD1C3A}</a:tableStyleId>
              </a:tblPr>
              <a:tblGrid>
                <a:gridCol w="1552074">
                  <a:extLst>
                    <a:ext uri="{9D8B030D-6E8A-4147-A177-3AD203B41FA5}">
                      <a16:colId xmlns:a16="http://schemas.microsoft.com/office/drawing/2014/main" val="1248029526"/>
                    </a:ext>
                  </a:extLst>
                </a:gridCol>
                <a:gridCol w="2045716">
                  <a:extLst>
                    <a:ext uri="{9D8B030D-6E8A-4147-A177-3AD203B41FA5}">
                      <a16:colId xmlns:a16="http://schemas.microsoft.com/office/drawing/2014/main" val="4213954937"/>
                    </a:ext>
                  </a:extLst>
                </a:gridCol>
                <a:gridCol w="2045716">
                  <a:extLst>
                    <a:ext uri="{9D8B030D-6E8A-4147-A177-3AD203B41FA5}">
                      <a16:colId xmlns:a16="http://schemas.microsoft.com/office/drawing/2014/main" val="1006743263"/>
                    </a:ext>
                  </a:extLst>
                </a:gridCol>
                <a:gridCol w="2045716">
                  <a:extLst>
                    <a:ext uri="{9D8B030D-6E8A-4147-A177-3AD203B41FA5}">
                      <a16:colId xmlns:a16="http://schemas.microsoft.com/office/drawing/2014/main" val="1485027274"/>
                    </a:ext>
                  </a:extLst>
                </a:gridCol>
                <a:gridCol w="2045716">
                  <a:extLst>
                    <a:ext uri="{9D8B030D-6E8A-4147-A177-3AD203B41FA5}">
                      <a16:colId xmlns:a16="http://schemas.microsoft.com/office/drawing/2014/main" val="726906124"/>
                    </a:ext>
                  </a:extLst>
                </a:gridCol>
                <a:gridCol w="2045716">
                  <a:extLst>
                    <a:ext uri="{9D8B030D-6E8A-4147-A177-3AD203B41FA5}">
                      <a16:colId xmlns:a16="http://schemas.microsoft.com/office/drawing/2014/main" val="3781511614"/>
                    </a:ext>
                  </a:extLst>
                </a:gridCol>
                <a:gridCol w="2045716">
                  <a:extLst>
                    <a:ext uri="{9D8B030D-6E8A-4147-A177-3AD203B41FA5}">
                      <a16:colId xmlns:a16="http://schemas.microsoft.com/office/drawing/2014/main" val="671473979"/>
                    </a:ext>
                  </a:extLst>
                </a:gridCol>
              </a:tblGrid>
              <a:tr h="232856">
                <a:tc rowSpan="2">
                  <a:txBody>
                    <a:bodyPr/>
                    <a:lstStyle/>
                    <a:p>
                      <a:pPr algn="ctr"/>
                      <a:endParaRPr lang="en-US" sz="1600" b="1"/>
                    </a:p>
                  </a:txBody>
                  <a:tcPr anchor="ctr">
                    <a:solidFill>
                      <a:schemeClr val="bg1"/>
                    </a:solidFill>
                  </a:tcPr>
                </a:tc>
                <a:tc gridSpan="5">
                  <a:txBody>
                    <a:bodyPr/>
                    <a:lstStyle/>
                    <a:p>
                      <a:pPr algn="ctr"/>
                      <a:r>
                        <a:rPr lang="en-US" sz="1400" b="1"/>
                        <a:t>Emerson</a:t>
                      </a:r>
                      <a:endParaRPr lang="en-US" sz="1600" b="1"/>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600" b="1"/>
                    </a:p>
                  </a:txBody>
                  <a:tcPr anchor="ctr"/>
                </a:tc>
                <a:tc rowSpan="2">
                  <a:txBody>
                    <a:bodyPr/>
                    <a:lstStyle/>
                    <a:p>
                      <a:pPr algn="ctr"/>
                      <a:r>
                        <a:rPr lang="en-US" sz="1400" b="1">
                          <a:solidFill>
                            <a:schemeClr val="tx1"/>
                          </a:solidFill>
                        </a:rPr>
                        <a:t>Impact Partner</a:t>
                      </a:r>
                    </a:p>
                  </a:txBody>
                  <a:tcPr anchor="ctr">
                    <a:solidFill>
                      <a:srgbClr val="FBD5AB"/>
                    </a:solidFill>
                  </a:tcPr>
                </a:tc>
                <a:extLst>
                  <a:ext uri="{0D108BD9-81ED-4DB2-BD59-A6C34878D82A}">
                    <a16:rowId xmlns:a16="http://schemas.microsoft.com/office/drawing/2014/main" val="2191989105"/>
                  </a:ext>
                </a:extLst>
              </a:tr>
              <a:tr h="395855">
                <a:tc vMerge="1">
                  <a:txBody>
                    <a:bodyPr/>
                    <a:lstStyle/>
                    <a:p>
                      <a:endParaRPr lang="en-US" sz="1800" b="1"/>
                    </a:p>
                  </a:txBody>
                  <a:tcPr>
                    <a:lnB w="12700" cap="flat" cmpd="sng" algn="ctr">
                      <a:solidFill>
                        <a:schemeClr val="tx1"/>
                      </a:solidFill>
                      <a:prstDash val="solid"/>
                      <a:round/>
                      <a:headEnd type="none" w="med" len="med"/>
                      <a:tailEnd type="none" w="med" len="med"/>
                    </a:lnB>
                  </a:tcPr>
                </a:tc>
                <a:tc>
                  <a:txBody>
                    <a:bodyPr/>
                    <a:lstStyle/>
                    <a:p>
                      <a:pPr algn="ctr"/>
                      <a:r>
                        <a:rPr lang="en-US" sz="1400" b="1"/>
                        <a:t>NAES</a:t>
                      </a:r>
                      <a:endParaRPr lang="en-US"/>
                    </a:p>
                  </a:txBody>
                  <a:tcPr anchor="ctr">
                    <a:solidFill>
                      <a:schemeClr val="accent4">
                        <a:lumMod val="20000"/>
                        <a:lumOff val="80000"/>
                      </a:schemeClr>
                    </a:solidFill>
                  </a:tcPr>
                </a:tc>
                <a:tc>
                  <a:txBody>
                    <a:bodyPr/>
                    <a:lstStyle/>
                    <a:p>
                      <a:pPr algn="ctr"/>
                      <a:r>
                        <a:rPr lang="en-US" sz="1400" b="1"/>
                        <a:t>GSS</a:t>
                      </a:r>
                    </a:p>
                  </a:txBody>
                  <a:tcPr anchor="ctr">
                    <a:solidFill>
                      <a:schemeClr val="accent5">
                        <a:lumMod val="20000"/>
                        <a:lumOff val="80000"/>
                      </a:schemeClr>
                    </a:solidFill>
                  </a:tcPr>
                </a:tc>
                <a:tc>
                  <a:txBody>
                    <a:bodyPr/>
                    <a:lstStyle/>
                    <a:p>
                      <a:pPr algn="ctr"/>
                      <a:r>
                        <a:rPr lang="en-US" sz="1400" b="1"/>
                        <a:t>PMM</a:t>
                      </a:r>
                    </a:p>
                  </a:txBody>
                  <a:tcPr anchor="ctr">
                    <a:solidFill>
                      <a:schemeClr val="accent3">
                        <a:lumMod val="20000"/>
                        <a:lumOff val="80000"/>
                      </a:schemeClr>
                    </a:solidFill>
                  </a:tcPr>
                </a:tc>
                <a:tc>
                  <a:txBody>
                    <a:bodyPr/>
                    <a:lstStyle/>
                    <a:p>
                      <a:pPr algn="ctr"/>
                      <a:r>
                        <a:rPr lang="en-US" sz="1400" b="1"/>
                        <a:t>Sales</a:t>
                      </a:r>
                      <a:endParaRPr lang="en-US" sz="2800"/>
                    </a:p>
                  </a:txBody>
                  <a:tcPr anchor="ctr">
                    <a:solidFill>
                      <a:schemeClr val="accent2">
                        <a:lumMod val="10000"/>
                        <a:lumOff val="90000"/>
                      </a:schemeClr>
                    </a:solidFill>
                  </a:tcPr>
                </a:tc>
                <a:tc>
                  <a:txBody>
                    <a:bodyPr/>
                    <a:lstStyle/>
                    <a:p>
                      <a:pPr marL="0" algn="ctr" defTabSz="1463040" rtl="0" eaLnBrk="1" latinLnBrk="0" hangingPunct="1"/>
                      <a:r>
                        <a:rPr lang="en-US" sz="1400" b="1" kern="1200">
                          <a:solidFill>
                            <a:schemeClr val="dk1"/>
                          </a:solidFill>
                          <a:latin typeface="+mn-lt"/>
                          <a:ea typeface="+mn-ea"/>
                          <a:cs typeface="+mn-cs"/>
                        </a:rPr>
                        <a:t>Marketing Communications</a:t>
                      </a:r>
                    </a:p>
                  </a:txBody>
                  <a:tcPr anchor="ctr">
                    <a:solidFill>
                      <a:schemeClr val="tx2">
                        <a:lumMod val="20000"/>
                        <a:lumOff val="80000"/>
                      </a:schemeClr>
                    </a:solidFill>
                  </a:tcPr>
                </a:tc>
                <a:tc vMerge="1">
                  <a:txBody>
                    <a:bodyPr/>
                    <a:lstStyle/>
                    <a:p>
                      <a:endParaRPr lang="en-US"/>
                    </a:p>
                  </a:txBody>
                  <a:tcPr/>
                </a:tc>
                <a:extLst>
                  <a:ext uri="{0D108BD9-81ED-4DB2-BD59-A6C34878D82A}">
                    <a16:rowId xmlns:a16="http://schemas.microsoft.com/office/drawing/2014/main" val="2991578256"/>
                  </a:ext>
                </a:extLst>
              </a:tr>
              <a:tr h="302713">
                <a:tc>
                  <a:txBody>
                    <a:bodyPr/>
                    <a:lstStyle/>
                    <a:p>
                      <a:pPr marL="0" algn="ctr" defTabSz="1463040" rtl="0" eaLnBrk="1" latinLnBrk="0" hangingPunct="1"/>
                      <a:r>
                        <a:rPr lang="en-US" sz="1400" b="1" kern="1200">
                          <a:solidFill>
                            <a:schemeClr val="dk1"/>
                          </a:solidFill>
                        </a:rPr>
                        <a:t>Planning Phase</a:t>
                      </a:r>
                    </a:p>
                  </a:txBody>
                  <a:tcPr anchor="ctr"/>
                </a:tc>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2000" b="1">
                          <a:solidFill>
                            <a:schemeClr val="tx1"/>
                          </a:solidFill>
                        </a:rPr>
                        <a:t>S</a:t>
                      </a:r>
                      <a:r>
                        <a:rPr lang="en-US" sz="1600" b="0">
                          <a:solidFill>
                            <a:schemeClr val="tx1"/>
                          </a:solidFill>
                        </a:rPr>
                        <a:t>, C</a:t>
                      </a:r>
                      <a:endParaRPr lang="en-US" sz="1300"/>
                    </a:p>
                  </a:txBody>
                  <a:tcPr anchor="ctr"/>
                </a:tc>
                <a:tc>
                  <a:txBody>
                    <a:bodyPr/>
                    <a:lstStyle/>
                    <a:p>
                      <a:pPr algn="ctr"/>
                      <a:r>
                        <a:rPr lang="en-US" sz="1600" b="0">
                          <a:solidFill>
                            <a:schemeClr val="tx1"/>
                          </a:solidFill>
                        </a:rPr>
                        <a:t>C</a:t>
                      </a:r>
                    </a:p>
                  </a:txBody>
                  <a:tcPr anchor="ctr"/>
                </a:tc>
                <a:tc>
                  <a:txBody>
                    <a:bodyPr/>
                    <a:lstStyle/>
                    <a:p>
                      <a:pPr algn="ctr"/>
                      <a:r>
                        <a:rPr lang="en-US" sz="1600">
                          <a:solidFill>
                            <a:schemeClr val="tx1"/>
                          </a:solidFill>
                        </a:rPr>
                        <a:t>A, </a:t>
                      </a:r>
                      <a:r>
                        <a:rPr lang="en-US" sz="2000" b="1">
                          <a:solidFill>
                            <a:schemeClr val="tx1"/>
                          </a:solidFill>
                        </a:rPr>
                        <a:t>R</a:t>
                      </a:r>
                      <a:endParaRPr lang="en-US" sz="1600" b="0">
                        <a:solidFill>
                          <a:schemeClr val="tx1"/>
                        </a:solidFill>
                      </a:endParaRPr>
                    </a:p>
                  </a:txBody>
                  <a:tcPr anchor="ctr"/>
                </a:tc>
                <a:tc>
                  <a:txBody>
                    <a:bodyPr/>
                    <a:lstStyle/>
                    <a:p>
                      <a:pPr algn="ctr"/>
                      <a:r>
                        <a:rPr lang="en-US" sz="2000" b="1">
                          <a:solidFill>
                            <a:schemeClr val="tx1"/>
                          </a:solidFill>
                        </a:rPr>
                        <a:t>S</a:t>
                      </a:r>
                      <a:r>
                        <a:rPr lang="en-US" sz="1600">
                          <a:solidFill>
                            <a:schemeClr val="tx1"/>
                          </a:solidFill>
                        </a:rPr>
                        <a:t>, C</a:t>
                      </a:r>
                      <a:endParaRPr lang="en-US" sz="1600">
                        <a:solidFill>
                          <a:schemeClr val="tx1"/>
                        </a:solidFill>
                        <a:highlight>
                          <a:srgbClr val="FFFF00"/>
                        </a:highlight>
                      </a:endParaRPr>
                    </a:p>
                  </a:txBody>
                  <a:tcPr anchor="ctr"/>
                </a:tc>
                <a:tc>
                  <a:txBody>
                    <a:bodyPr/>
                    <a:lstStyle/>
                    <a:p>
                      <a:pPr algn="ctr"/>
                      <a:r>
                        <a:rPr lang="en-US" sz="1600">
                          <a:solidFill>
                            <a:schemeClr val="tx1"/>
                          </a:solidFill>
                        </a:rPr>
                        <a:t>I</a:t>
                      </a:r>
                    </a:p>
                  </a:txBody>
                  <a:tcPr anchor="ctr"/>
                </a:tc>
                <a:tc>
                  <a:txBody>
                    <a:bodyPr/>
                    <a:lstStyle/>
                    <a:p>
                      <a:pPr algn="ctr"/>
                      <a:r>
                        <a:rPr lang="en-US" sz="2000" b="1">
                          <a:solidFill>
                            <a:schemeClr val="tx1"/>
                          </a:solidFill>
                        </a:rPr>
                        <a:t>S</a:t>
                      </a:r>
                      <a:r>
                        <a:rPr lang="en-US" sz="1600">
                          <a:solidFill>
                            <a:schemeClr val="tx1"/>
                          </a:solidFill>
                        </a:rPr>
                        <a:t>, C</a:t>
                      </a:r>
                    </a:p>
                  </a:txBody>
                  <a:tcPr anchor="ctr"/>
                </a:tc>
                <a:extLst>
                  <a:ext uri="{0D108BD9-81ED-4DB2-BD59-A6C34878D82A}">
                    <a16:rowId xmlns:a16="http://schemas.microsoft.com/office/drawing/2014/main" val="1179567049"/>
                  </a:ext>
                </a:extLst>
              </a:tr>
              <a:tr h="372569">
                <a:tc>
                  <a:txBody>
                    <a:bodyPr/>
                    <a:lstStyle/>
                    <a:p>
                      <a:pPr marL="0" algn="ctr" defTabSz="1463040" rtl="0" eaLnBrk="1" latinLnBrk="0" hangingPunct="1"/>
                      <a:r>
                        <a:rPr lang="en-US" sz="1400" b="1" kern="1200">
                          <a:solidFill>
                            <a:schemeClr val="dk1"/>
                          </a:solidFill>
                        </a:rPr>
                        <a:t>Implementation Phase</a:t>
                      </a:r>
                    </a:p>
                  </a:txBody>
                  <a:tcPr anchor="ctr"/>
                </a:tc>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2000" b="1">
                          <a:solidFill>
                            <a:schemeClr val="tx1"/>
                          </a:solidFill>
                        </a:rPr>
                        <a:t>R</a:t>
                      </a:r>
                      <a:endParaRPr lang="en-US" sz="1300"/>
                    </a:p>
                  </a:txBody>
                  <a:tcPr anchor="ctr"/>
                </a:tc>
                <a:tc>
                  <a:txBody>
                    <a:bodyPr/>
                    <a:lstStyle/>
                    <a:p>
                      <a:pPr algn="ctr"/>
                      <a:r>
                        <a:rPr lang="en-US" sz="1600">
                          <a:solidFill>
                            <a:schemeClr val="tx1"/>
                          </a:solidFill>
                        </a:rPr>
                        <a:t>C</a:t>
                      </a:r>
                      <a:endParaRPr lang="en-US" sz="1600" b="1">
                        <a:solidFill>
                          <a:schemeClr val="tx1"/>
                        </a:solidFill>
                      </a:endParaRPr>
                    </a:p>
                  </a:txBody>
                  <a:tcPr anchor="ctr"/>
                </a:tc>
                <a:tc>
                  <a:txBody>
                    <a:bodyPr/>
                    <a:lstStyle/>
                    <a:p>
                      <a:pPr algn="ctr"/>
                      <a:r>
                        <a:rPr lang="en-US" sz="1600">
                          <a:solidFill>
                            <a:schemeClr val="tx1"/>
                          </a:solidFill>
                        </a:rPr>
                        <a:t>A</a:t>
                      </a:r>
                      <a:endParaRPr lang="en-US" sz="1600" b="1">
                        <a:solidFill>
                          <a:schemeClr val="tx1"/>
                        </a:solidFill>
                      </a:endParaRPr>
                    </a:p>
                  </a:txBody>
                  <a:tcPr anchor="ctr"/>
                </a:tc>
                <a:tc>
                  <a:txBody>
                    <a:bodyPr/>
                    <a:lstStyle/>
                    <a:p>
                      <a:pPr algn="ctr"/>
                      <a:r>
                        <a:rPr lang="en-US" sz="1600">
                          <a:solidFill>
                            <a:schemeClr val="tx1"/>
                          </a:solidFill>
                        </a:rPr>
                        <a:t>I</a:t>
                      </a:r>
                    </a:p>
                  </a:txBody>
                  <a:tcPr anchor="ctr"/>
                </a:tc>
                <a:tc>
                  <a:txBody>
                    <a:bodyPr/>
                    <a:lstStyle/>
                    <a:p>
                      <a:pPr algn="ctr"/>
                      <a:r>
                        <a:rPr lang="en-US" sz="1600">
                          <a:solidFill>
                            <a:schemeClr val="tx1"/>
                          </a:solidFill>
                        </a:rPr>
                        <a:t>I</a:t>
                      </a:r>
                    </a:p>
                  </a:txBody>
                  <a:tcPr anchor="ctr"/>
                </a:tc>
                <a:tc>
                  <a:txBody>
                    <a:bodyPr/>
                    <a:lstStyle/>
                    <a:p>
                      <a:pPr algn="ctr"/>
                      <a:r>
                        <a:rPr lang="en-US" sz="2000" b="1">
                          <a:solidFill>
                            <a:schemeClr val="tx1"/>
                          </a:solidFill>
                        </a:rPr>
                        <a:t>S</a:t>
                      </a:r>
                      <a:endParaRPr lang="en-US" sz="2000" b="1">
                        <a:solidFill>
                          <a:schemeClr val="tx1"/>
                        </a:solidFill>
                        <a:highlight>
                          <a:srgbClr val="FFFF00"/>
                        </a:highlight>
                      </a:endParaRPr>
                    </a:p>
                  </a:txBody>
                  <a:tcPr anchor="ctr"/>
                </a:tc>
                <a:extLst>
                  <a:ext uri="{0D108BD9-81ED-4DB2-BD59-A6C34878D82A}">
                    <a16:rowId xmlns:a16="http://schemas.microsoft.com/office/drawing/2014/main" val="2199805527"/>
                  </a:ext>
                </a:extLst>
              </a:tr>
              <a:tr h="442426">
                <a:tc>
                  <a:txBody>
                    <a:bodyPr/>
                    <a:lstStyle/>
                    <a:p>
                      <a:pPr marL="0" algn="ctr" defTabSz="1463040" rtl="0" eaLnBrk="1" latinLnBrk="0" hangingPunct="1"/>
                      <a:r>
                        <a:rPr lang="en-US" sz="1400" b="1" kern="1200">
                          <a:solidFill>
                            <a:schemeClr val="dk1"/>
                          </a:solidFill>
                        </a:rPr>
                        <a:t>Hypercare Phase</a:t>
                      </a:r>
                    </a:p>
                  </a:txBody>
                  <a:tcPr anchor="ctr"/>
                </a:tc>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1600">
                          <a:solidFill>
                            <a:schemeClr val="tx1"/>
                          </a:solidFill>
                        </a:rPr>
                        <a:t>I</a:t>
                      </a:r>
                      <a:endParaRPr lang="en-US" sz="1300"/>
                    </a:p>
                  </a:txBody>
                  <a:tcPr anchor="ctr"/>
                </a:tc>
                <a:tc>
                  <a:txBody>
                    <a:bodyPr/>
                    <a:lstStyle/>
                    <a:p>
                      <a:pPr algn="ctr"/>
                      <a:r>
                        <a:rPr lang="en-US" sz="2000" b="1">
                          <a:solidFill>
                            <a:schemeClr val="tx1"/>
                          </a:solidFill>
                        </a:rPr>
                        <a:t>S</a:t>
                      </a:r>
                      <a:endParaRPr lang="en-US" sz="1600">
                        <a:solidFill>
                          <a:schemeClr val="tx1"/>
                        </a:solidFill>
                      </a:endParaRPr>
                    </a:p>
                  </a:txBody>
                  <a:tcPr anchor="ctr"/>
                </a:tc>
                <a:tc>
                  <a:txBody>
                    <a:bodyPr/>
                    <a:lstStyle/>
                    <a:p>
                      <a:pPr algn="ctr"/>
                      <a:r>
                        <a:rPr lang="en-US" sz="1600">
                          <a:solidFill>
                            <a:schemeClr val="tx1"/>
                          </a:solidFill>
                        </a:rPr>
                        <a:t>A, </a:t>
                      </a:r>
                      <a:r>
                        <a:rPr lang="en-US" sz="2000" b="1">
                          <a:solidFill>
                            <a:schemeClr val="tx1"/>
                          </a:solidFill>
                        </a:rPr>
                        <a:t>R: </a:t>
                      </a:r>
                      <a:r>
                        <a:rPr lang="en-US" sz="1100" b="0" i="1">
                          <a:solidFill>
                            <a:schemeClr val="tx1"/>
                          </a:solidFill>
                        </a:rPr>
                        <a:t>capture feedback, proper escalation</a:t>
                      </a:r>
                      <a:endParaRPr lang="en-US" sz="1600">
                        <a:solidFill>
                          <a:schemeClr val="tx1"/>
                        </a:solidFill>
                      </a:endParaRPr>
                    </a:p>
                  </a:txBody>
                  <a:tcPr anchor="ctr"/>
                </a:tc>
                <a:tc>
                  <a:txBody>
                    <a:bodyPr/>
                    <a:lstStyle/>
                    <a:p>
                      <a:pPr algn="ctr"/>
                      <a:r>
                        <a:rPr lang="en-US" sz="2000" b="1">
                          <a:solidFill>
                            <a:schemeClr val="tx1"/>
                          </a:solidFill>
                        </a:rPr>
                        <a:t>S</a:t>
                      </a:r>
                      <a:r>
                        <a:rPr lang="en-US" sz="1600">
                          <a:solidFill>
                            <a:schemeClr val="tx1"/>
                          </a:solidFill>
                        </a:rPr>
                        <a:t>, I</a:t>
                      </a:r>
                    </a:p>
                  </a:txBody>
                  <a:tcPr anchor="ctr"/>
                </a:tc>
                <a:tc>
                  <a:txBody>
                    <a:bodyPr/>
                    <a:lstStyle/>
                    <a:p>
                      <a:pPr algn="ctr"/>
                      <a:r>
                        <a:rPr lang="en-US" sz="2000" b="1">
                          <a:solidFill>
                            <a:schemeClr val="tx1"/>
                          </a:solidFill>
                        </a:rPr>
                        <a:t>S</a:t>
                      </a:r>
                    </a:p>
                  </a:txBody>
                  <a:tcPr anchor="ctr"/>
                </a:tc>
                <a:tc>
                  <a:txBody>
                    <a:bodyPr/>
                    <a:lstStyle/>
                    <a:p>
                      <a:pPr algn="ctr"/>
                      <a:r>
                        <a:rPr lang="en-US" sz="2000" b="1">
                          <a:solidFill>
                            <a:schemeClr val="tx1"/>
                          </a:solidFill>
                        </a:rPr>
                        <a:t>R: </a:t>
                      </a:r>
                      <a:r>
                        <a:rPr lang="en-US" sz="1100" b="0" i="1">
                          <a:solidFill>
                            <a:schemeClr val="tx1"/>
                          </a:solidFill>
                        </a:rPr>
                        <a:t>ensures value creation, lifecycle support</a:t>
                      </a:r>
                    </a:p>
                    <a:p>
                      <a:pPr algn="ctr"/>
                      <a:endParaRPr lang="en-US" sz="1100" b="0" i="1">
                        <a:solidFill>
                          <a:schemeClr val="tx1"/>
                        </a:solidFill>
                      </a:endParaRPr>
                    </a:p>
                    <a:p>
                      <a:pPr algn="ctr"/>
                      <a:r>
                        <a:rPr lang="en-US" sz="1100" b="0" i="1">
                          <a:solidFill>
                            <a:schemeClr val="tx1"/>
                          </a:solidFill>
                        </a:rPr>
                        <a:t>(Primary R)</a:t>
                      </a:r>
                    </a:p>
                  </a:txBody>
                  <a:tcPr anchor="ctr"/>
                </a:tc>
                <a:extLst>
                  <a:ext uri="{0D108BD9-81ED-4DB2-BD59-A6C34878D82A}">
                    <a16:rowId xmlns:a16="http://schemas.microsoft.com/office/drawing/2014/main" val="3940165463"/>
                  </a:ext>
                </a:extLst>
              </a:tr>
            </a:tbl>
          </a:graphicData>
        </a:graphic>
      </p:graphicFrame>
      <p:sp>
        <p:nvSpPr>
          <p:cNvPr id="2" name="TextBox 1">
            <a:extLst>
              <a:ext uri="{FF2B5EF4-FFF2-40B4-BE49-F238E27FC236}">
                <a16:creationId xmlns:a16="http://schemas.microsoft.com/office/drawing/2014/main" id="{BF068CAA-BB8D-0118-F25D-6C84BECB448B}"/>
              </a:ext>
            </a:extLst>
          </p:cNvPr>
          <p:cNvSpPr txBox="1"/>
          <p:nvPr/>
        </p:nvSpPr>
        <p:spPr>
          <a:xfrm>
            <a:off x="1855376" y="4409397"/>
            <a:ext cx="1971234" cy="3618321"/>
          </a:xfrm>
          <a:prstGeom prst="rect">
            <a:avLst/>
          </a:prstGeom>
          <a:solidFill>
            <a:schemeClr val="accent4">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tIns="137160">
            <a:noAutofit/>
          </a:bodyPr>
          <a:lstStyle/>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0" kern="1200">
                <a:solidFill>
                  <a:schemeClr val="tx1"/>
                </a:solidFill>
                <a:latin typeface="+mn-lt"/>
                <a:ea typeface="+mn-ea"/>
                <a:cs typeface="+mn-cs"/>
              </a:rPr>
              <a:t>Provide </a:t>
            </a:r>
            <a:r>
              <a:rPr lang="en-US" sz="1200" b="1" kern="1200">
                <a:solidFill>
                  <a:schemeClr val="tx1"/>
                </a:solidFill>
                <a:latin typeface="+mn-lt"/>
                <a:ea typeface="+mn-ea"/>
                <a:cs typeface="+mn-cs"/>
              </a:rPr>
              <a:t>White Glove Deployment at No Charge</a:t>
            </a:r>
          </a:p>
          <a:p>
            <a:pPr marL="171450" lvl="0" indent="-171450">
              <a:spcAft>
                <a:spcPts val="1200"/>
              </a:spcAft>
              <a:buFont typeface="Arial" panose="020B0604020202020204" pitchFamily="34" charset="0"/>
              <a:buChar char="•"/>
              <a:defRPr/>
            </a:pPr>
            <a:r>
              <a:rPr lang="en-US" sz="1200" b="0" kern="1200">
                <a:solidFill>
                  <a:schemeClr val="tx1"/>
                </a:solidFill>
                <a:latin typeface="+mn-lt"/>
                <a:ea typeface="+mn-ea"/>
                <a:cs typeface="+mn-cs"/>
              </a:rPr>
              <a:t>Delivers </a:t>
            </a:r>
            <a:r>
              <a:rPr lang="en-US" sz="1200" b="1">
                <a:solidFill>
                  <a:schemeClr val="tx1"/>
                </a:solidFill>
              </a:rPr>
              <a:t>O</a:t>
            </a:r>
            <a:r>
              <a:rPr lang="en-US" sz="1200" b="1" kern="1200">
                <a:solidFill>
                  <a:schemeClr val="tx1"/>
                </a:solidFill>
                <a:latin typeface="+mn-lt"/>
                <a:ea typeface="+mn-ea"/>
                <a:cs typeface="+mn-cs"/>
              </a:rPr>
              <a:t>nsite </a:t>
            </a:r>
            <a:r>
              <a:rPr lang="en-US" sz="1200" b="1">
                <a:solidFill>
                  <a:schemeClr val="tx1"/>
                </a:solidFill>
              </a:rPr>
              <a:t>C</a:t>
            </a:r>
            <a:r>
              <a:rPr lang="en-US" sz="1200" b="1" kern="1200">
                <a:solidFill>
                  <a:schemeClr val="tx1"/>
                </a:solidFill>
                <a:latin typeface="+mn-lt"/>
                <a:ea typeface="+mn-ea"/>
                <a:cs typeface="+mn-cs"/>
              </a:rPr>
              <a:t>ustomer </a:t>
            </a:r>
            <a:r>
              <a:rPr lang="en-US" sz="1200" b="1">
                <a:solidFill>
                  <a:schemeClr val="tx1"/>
                </a:solidFill>
              </a:rPr>
              <a:t>A</a:t>
            </a:r>
            <a:r>
              <a:rPr lang="en-US" sz="1200" b="1" kern="1200">
                <a:solidFill>
                  <a:schemeClr val="tx1"/>
                </a:solidFill>
                <a:latin typeface="+mn-lt"/>
                <a:ea typeface="+mn-ea"/>
                <a:cs typeface="+mn-cs"/>
              </a:rPr>
              <a:t>doption </a:t>
            </a:r>
            <a:r>
              <a:rPr lang="en-US" sz="1200" b="1">
                <a:solidFill>
                  <a:schemeClr val="tx1"/>
                </a:solidFill>
              </a:rPr>
              <a:t>T</a:t>
            </a:r>
            <a:r>
              <a:rPr lang="en-US" sz="1200" b="1" kern="1200">
                <a:solidFill>
                  <a:schemeClr val="tx1"/>
                </a:solidFill>
                <a:latin typeface="+mn-lt"/>
                <a:ea typeface="+mn-ea"/>
                <a:cs typeface="+mn-cs"/>
              </a:rPr>
              <a:t>raining</a:t>
            </a:r>
            <a:r>
              <a:rPr lang="en-US" sz="1200" b="1">
                <a:solidFill>
                  <a:schemeClr val="tx1"/>
                </a:solidFill>
              </a:rPr>
              <a:t> </a:t>
            </a:r>
            <a:r>
              <a:rPr lang="en-US" sz="1200">
                <a:solidFill>
                  <a:schemeClr val="tx1"/>
                </a:solidFill>
              </a:rPr>
              <a:t>(Blended NAES &amp; Impact Partner)</a:t>
            </a:r>
            <a:endParaRPr lang="en-US" sz="1200" b="0" kern="1200">
              <a:solidFill>
                <a:schemeClr val="tx1"/>
              </a:solidFill>
              <a:latin typeface="+mn-lt"/>
              <a:ea typeface="+mn-ea"/>
              <a:cs typeface="+mn-cs"/>
            </a:endParaRPr>
          </a:p>
        </p:txBody>
      </p:sp>
      <p:sp>
        <p:nvSpPr>
          <p:cNvPr id="3" name="TextBox 2">
            <a:extLst>
              <a:ext uri="{FF2B5EF4-FFF2-40B4-BE49-F238E27FC236}">
                <a16:creationId xmlns:a16="http://schemas.microsoft.com/office/drawing/2014/main" id="{33626ACB-B173-CB94-F879-31797C21B41D}"/>
              </a:ext>
            </a:extLst>
          </p:cNvPr>
          <p:cNvSpPr txBox="1"/>
          <p:nvPr/>
        </p:nvSpPr>
        <p:spPr>
          <a:xfrm>
            <a:off x="12156497" y="4409395"/>
            <a:ext cx="1970665" cy="3618321"/>
          </a:xfrm>
          <a:prstGeom prst="rect">
            <a:avLst/>
          </a:prstGeom>
          <a:solidFill>
            <a:srgbClr val="FBD5AB"/>
          </a:solidFill>
        </p:spPr>
        <p:style>
          <a:lnRef idx="2">
            <a:schemeClr val="accent1"/>
          </a:lnRef>
          <a:fillRef idx="1">
            <a:schemeClr val="lt1"/>
          </a:fillRef>
          <a:effectRef idx="0">
            <a:schemeClr val="accent1"/>
          </a:effectRef>
          <a:fontRef idx="minor">
            <a:schemeClr val="dk1"/>
          </a:fontRef>
        </p:style>
        <p:txBody>
          <a:bodyPr wrap="square" tIns="137160">
            <a:noAutofit/>
          </a:bodyPr>
          <a:lstStyle/>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chemeClr val="tx1"/>
                </a:solidFill>
              </a:rPr>
              <a:t>Provide </a:t>
            </a:r>
            <a:r>
              <a:rPr lang="en-US" sz="1200" b="1" dirty="0">
                <a:solidFill>
                  <a:schemeClr val="tx1"/>
                </a:solidFill>
              </a:rPr>
              <a:t>White Glove Lifecycle Support </a:t>
            </a:r>
            <a:r>
              <a:rPr lang="en-US" sz="1200" dirty="0">
                <a:solidFill>
                  <a:schemeClr val="tx1"/>
                </a:solidFill>
              </a:rPr>
              <a:t>(Post Product Deployment) </a:t>
            </a:r>
            <a:r>
              <a:rPr lang="en-US" sz="1200" b="1" dirty="0">
                <a:solidFill>
                  <a:schemeClr val="tx1"/>
                </a:solidFill>
              </a:rPr>
              <a:t>at No Charge </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chemeClr val="tx1"/>
                </a:solidFill>
              </a:rPr>
              <a:t>Ensures </a:t>
            </a:r>
            <a:r>
              <a:rPr lang="en-US" sz="1200" b="1" kern="1200" dirty="0">
                <a:solidFill>
                  <a:schemeClr val="tx1"/>
                </a:solidFill>
                <a:latin typeface="+mn-lt"/>
                <a:ea typeface="+mn-ea"/>
                <a:cs typeface="+mn-cs"/>
              </a:rPr>
              <a:t>Customer Renews and Expands</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1" kern="1200" dirty="0">
                <a:solidFill>
                  <a:schemeClr val="tx1"/>
                </a:solidFill>
                <a:latin typeface="+mn-lt"/>
                <a:ea typeface="+mn-ea"/>
                <a:cs typeface="+mn-cs"/>
              </a:rPr>
              <a:t>Shadow</a:t>
            </a:r>
            <a:r>
              <a:rPr lang="en-US" sz="1200" b="0" kern="1200" dirty="0">
                <a:solidFill>
                  <a:schemeClr val="tx1"/>
                </a:solidFill>
                <a:latin typeface="+mn-lt"/>
                <a:ea typeface="+mn-ea"/>
                <a:cs typeface="+mn-cs"/>
              </a:rPr>
              <a:t> Implementation Phase</a:t>
            </a:r>
          </a:p>
          <a:p>
            <a:pPr marL="171450" lvl="0" indent="-171450">
              <a:spcAft>
                <a:spcPts val="1200"/>
              </a:spcAft>
              <a:buFont typeface="Arial" panose="020B0604020202020204" pitchFamily="34" charset="0"/>
              <a:buChar char="•"/>
              <a:defRPr/>
            </a:pPr>
            <a:r>
              <a:rPr lang="en-US" sz="1200" dirty="0">
                <a:solidFill>
                  <a:schemeClr val="tx1"/>
                </a:solidFill>
              </a:rPr>
              <a:t>Delivers </a:t>
            </a:r>
            <a:r>
              <a:rPr lang="en-US" sz="1200" b="1" dirty="0">
                <a:solidFill>
                  <a:schemeClr val="tx1"/>
                </a:solidFill>
              </a:rPr>
              <a:t>Onsite Customer Adoption Training </a:t>
            </a:r>
            <a:r>
              <a:rPr lang="en-US" sz="1200" dirty="0">
                <a:solidFill>
                  <a:schemeClr val="tx1"/>
                </a:solidFill>
              </a:rPr>
              <a:t>(Blended NAES &amp; Impact Partner)</a:t>
            </a:r>
          </a:p>
        </p:txBody>
      </p:sp>
      <p:sp>
        <p:nvSpPr>
          <p:cNvPr id="4" name="TextBox 3">
            <a:extLst>
              <a:ext uri="{FF2B5EF4-FFF2-40B4-BE49-F238E27FC236}">
                <a16:creationId xmlns:a16="http://schemas.microsoft.com/office/drawing/2014/main" id="{3C1C3617-EE94-CF35-9F7D-612863361C97}"/>
              </a:ext>
            </a:extLst>
          </p:cNvPr>
          <p:cNvSpPr txBox="1"/>
          <p:nvPr/>
        </p:nvSpPr>
        <p:spPr>
          <a:xfrm>
            <a:off x="8036732" y="4409396"/>
            <a:ext cx="1970665" cy="3618321"/>
          </a:xfrm>
          <a:prstGeom prst="rect">
            <a:avLst/>
          </a:prstGeom>
          <a:solidFill>
            <a:schemeClr val="accent2">
              <a:lumMod val="10000"/>
              <a:lumOff val="90000"/>
            </a:schemeClr>
          </a:solidFill>
        </p:spPr>
        <p:style>
          <a:lnRef idx="2">
            <a:schemeClr val="accent1"/>
          </a:lnRef>
          <a:fillRef idx="1">
            <a:schemeClr val="lt1"/>
          </a:fillRef>
          <a:effectRef idx="0">
            <a:schemeClr val="accent1"/>
          </a:effectRef>
          <a:fontRef idx="minor">
            <a:schemeClr val="dk1"/>
          </a:fontRef>
        </p:style>
        <p:txBody>
          <a:bodyPr wrap="square" tIns="137160">
            <a:noAutofit/>
          </a:bodyPr>
          <a:lstStyle/>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1">
                <a:solidFill>
                  <a:schemeClr val="tx1"/>
                </a:solidFill>
              </a:rPr>
              <a:t>Supports</a:t>
            </a:r>
            <a:r>
              <a:rPr lang="en-US" sz="1200">
                <a:solidFill>
                  <a:schemeClr val="tx1"/>
                </a:solidFill>
              </a:rPr>
              <a:t> End-User</a:t>
            </a:r>
          </a:p>
        </p:txBody>
      </p:sp>
      <p:sp>
        <p:nvSpPr>
          <p:cNvPr id="7" name="TextBox 6">
            <a:extLst>
              <a:ext uri="{FF2B5EF4-FFF2-40B4-BE49-F238E27FC236}">
                <a16:creationId xmlns:a16="http://schemas.microsoft.com/office/drawing/2014/main" id="{FA828E9D-806F-752F-A611-AE6617B07905}"/>
              </a:ext>
            </a:extLst>
          </p:cNvPr>
          <p:cNvSpPr txBox="1"/>
          <p:nvPr/>
        </p:nvSpPr>
        <p:spPr>
          <a:xfrm>
            <a:off x="5976280" y="4409397"/>
            <a:ext cx="1971234" cy="3618321"/>
          </a:xfrm>
          <a:prstGeom prst="rect">
            <a:avLst/>
          </a:prstGeom>
          <a:solidFill>
            <a:schemeClr val="accent3">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tIns="137160">
            <a:noAutofit/>
          </a:bodyPr>
          <a:lstStyle/>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1" dirty="0">
                <a:solidFill>
                  <a:schemeClr val="tx1"/>
                </a:solidFill>
              </a:rPr>
              <a:t>Owner</a:t>
            </a:r>
            <a:r>
              <a:rPr lang="en-US" sz="1200" dirty="0">
                <a:solidFill>
                  <a:schemeClr val="tx1"/>
                </a:solidFill>
              </a:rPr>
              <a:t> of Program </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1" dirty="0">
                <a:solidFill>
                  <a:schemeClr val="tx1"/>
                </a:solidFill>
              </a:rPr>
              <a:t>Collaborates with Sales </a:t>
            </a:r>
            <a:r>
              <a:rPr lang="en-US" sz="1200" dirty="0">
                <a:solidFill>
                  <a:schemeClr val="tx1"/>
                </a:solidFill>
              </a:rPr>
              <a:t>to Interface with End-User</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chemeClr val="tx1"/>
                </a:solidFill>
              </a:rPr>
              <a:t>Captures </a:t>
            </a:r>
            <a:r>
              <a:rPr lang="en-US" sz="1200" b="1" dirty="0">
                <a:solidFill>
                  <a:schemeClr val="tx1"/>
                </a:solidFill>
              </a:rPr>
              <a:t>Customer Testimonials &amp; Feedback</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1" dirty="0">
                <a:solidFill>
                  <a:schemeClr val="tx1"/>
                </a:solidFill>
              </a:rPr>
              <a:t>Activates Pioneer Priority Support </a:t>
            </a:r>
            <a:r>
              <a:rPr lang="en-US" sz="1200" dirty="0">
                <a:solidFill>
                  <a:schemeClr val="tx1"/>
                </a:solidFill>
              </a:rPr>
              <a:t>for GSC Tickets</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chemeClr val="tx1"/>
                </a:solidFill>
              </a:rPr>
              <a:t>Develops </a:t>
            </a:r>
            <a:r>
              <a:rPr lang="en-US" sz="1200" b="1" dirty="0">
                <a:solidFill>
                  <a:schemeClr val="tx1"/>
                </a:solidFill>
              </a:rPr>
              <a:t>Sales Enablement Training</a:t>
            </a:r>
          </a:p>
        </p:txBody>
      </p:sp>
      <p:sp>
        <p:nvSpPr>
          <p:cNvPr id="8" name="TextBox 7">
            <a:extLst>
              <a:ext uri="{FF2B5EF4-FFF2-40B4-BE49-F238E27FC236}">
                <a16:creationId xmlns:a16="http://schemas.microsoft.com/office/drawing/2014/main" id="{FCD12B4A-1B4F-5984-605E-5D4D57D53999}"/>
              </a:ext>
            </a:extLst>
          </p:cNvPr>
          <p:cNvSpPr txBox="1"/>
          <p:nvPr/>
        </p:nvSpPr>
        <p:spPr>
          <a:xfrm>
            <a:off x="3915828" y="4409397"/>
            <a:ext cx="1971234" cy="3618321"/>
          </a:xfrm>
          <a:prstGeom prst="rect">
            <a:avLst/>
          </a:prstGeom>
          <a:solidFill>
            <a:schemeClr val="accent5">
              <a:lumMod val="20000"/>
              <a:lumOff val="80000"/>
            </a:schemeClr>
          </a:solidFill>
          <a:ln w="19050"/>
        </p:spPr>
        <p:style>
          <a:lnRef idx="2">
            <a:schemeClr val="accent1"/>
          </a:lnRef>
          <a:fillRef idx="1">
            <a:schemeClr val="lt1"/>
          </a:fillRef>
          <a:effectRef idx="0">
            <a:schemeClr val="accent1"/>
          </a:effectRef>
          <a:fontRef idx="minor">
            <a:schemeClr val="dk1"/>
          </a:fontRef>
        </p:style>
        <p:txBody>
          <a:bodyPr wrap="square" tIns="137160">
            <a:noAutofit/>
          </a:bodyPr>
          <a:lstStyle/>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1" dirty="0">
                <a:solidFill>
                  <a:schemeClr val="tx1"/>
                </a:solidFill>
              </a:rPr>
              <a:t>Executes </a:t>
            </a:r>
            <a:r>
              <a:rPr lang="en-US" sz="1200" dirty="0">
                <a:solidFill>
                  <a:schemeClr val="tx1"/>
                </a:solidFill>
              </a:rPr>
              <a:t>&amp; Tracks </a:t>
            </a:r>
            <a:r>
              <a:rPr lang="en-US" sz="1200" b="1" dirty="0">
                <a:solidFill>
                  <a:schemeClr val="tx1"/>
                </a:solidFill>
              </a:rPr>
              <a:t>Pioneer Priority Support </a:t>
            </a:r>
            <a:r>
              <a:rPr lang="en-US" sz="1200" dirty="0">
                <a:solidFill>
                  <a:schemeClr val="tx1"/>
                </a:solidFill>
              </a:rPr>
              <a:t>for GSC Tickets</a:t>
            </a:r>
          </a:p>
          <a:p>
            <a:pPr marL="171450" indent="-171450">
              <a:spcAft>
                <a:spcPts val="1200"/>
              </a:spcAft>
              <a:buFont typeface="Arial" panose="020B0604020202020204" pitchFamily="34" charset="0"/>
              <a:buChar char="•"/>
              <a:defRPr/>
            </a:pPr>
            <a:r>
              <a:rPr lang="en-US" sz="1200" dirty="0">
                <a:solidFill>
                  <a:schemeClr val="tx1"/>
                </a:solidFill>
              </a:rPr>
              <a:t>Provides</a:t>
            </a:r>
            <a:r>
              <a:rPr lang="en-US" sz="1200" b="1" dirty="0">
                <a:solidFill>
                  <a:schemeClr val="tx1"/>
                </a:solidFill>
              </a:rPr>
              <a:t> </a:t>
            </a:r>
            <a:r>
              <a:rPr lang="en-US" sz="1200" dirty="0">
                <a:solidFill>
                  <a:schemeClr val="tx1"/>
                </a:solidFill>
              </a:rPr>
              <a:t>Optional </a:t>
            </a:r>
            <a:r>
              <a:rPr lang="en-US" sz="1200" b="1" dirty="0">
                <a:solidFill>
                  <a:schemeClr val="tx1"/>
                </a:solidFill>
              </a:rPr>
              <a:t>Support Syncs </a:t>
            </a:r>
            <a:r>
              <a:rPr lang="en-US" sz="1200" dirty="0">
                <a:solidFill>
                  <a:schemeClr val="tx1"/>
                </a:solidFill>
              </a:rPr>
              <a:t>with</a:t>
            </a:r>
            <a:r>
              <a:rPr lang="en-US" sz="1200" b="1" dirty="0">
                <a:solidFill>
                  <a:schemeClr val="tx1"/>
                </a:solidFill>
              </a:rPr>
              <a:t> </a:t>
            </a:r>
            <a:r>
              <a:rPr lang="en-US" sz="1200" dirty="0"/>
              <a:t>a </a:t>
            </a:r>
            <a:r>
              <a:rPr lang="en-US" sz="1200" b="1" dirty="0"/>
              <a:t>Dedicated Product Engineering Expert</a:t>
            </a:r>
            <a:endParaRPr lang="en-US" sz="1200" b="1" dirty="0">
              <a:solidFill>
                <a:schemeClr val="tx1"/>
              </a:solidFill>
            </a:endParaRP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chemeClr val="tx1"/>
                </a:solidFill>
              </a:rPr>
              <a:t>Develops </a:t>
            </a:r>
            <a:r>
              <a:rPr lang="en-US" sz="1200" b="1" dirty="0">
                <a:solidFill>
                  <a:schemeClr val="tx1"/>
                </a:solidFill>
              </a:rPr>
              <a:t>Operational Readiness Training</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chemeClr val="tx1"/>
                </a:solidFill>
              </a:rPr>
              <a:t>Integrates </a:t>
            </a:r>
            <a:r>
              <a:rPr lang="en-US" sz="1200" b="1" dirty="0">
                <a:solidFill>
                  <a:schemeClr val="tx1"/>
                </a:solidFill>
              </a:rPr>
              <a:t>New Product Content</a:t>
            </a:r>
            <a:r>
              <a:rPr lang="en-US" sz="1200" dirty="0">
                <a:solidFill>
                  <a:schemeClr val="tx1"/>
                </a:solidFill>
              </a:rPr>
              <a:t> into Ed Services Curriculum</a:t>
            </a:r>
          </a:p>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dirty="0">
                <a:solidFill>
                  <a:schemeClr val="tx1"/>
                </a:solidFill>
              </a:rPr>
              <a:t>Support from CSM CoE  </a:t>
            </a:r>
          </a:p>
        </p:txBody>
      </p:sp>
      <p:sp>
        <p:nvSpPr>
          <p:cNvPr id="10" name="TextBox 9">
            <a:extLst>
              <a:ext uri="{FF2B5EF4-FFF2-40B4-BE49-F238E27FC236}">
                <a16:creationId xmlns:a16="http://schemas.microsoft.com/office/drawing/2014/main" id="{7E9CBB12-E1A5-C9E1-B002-932FF7301156}"/>
              </a:ext>
            </a:extLst>
          </p:cNvPr>
          <p:cNvSpPr txBox="1"/>
          <p:nvPr/>
        </p:nvSpPr>
        <p:spPr>
          <a:xfrm>
            <a:off x="300792" y="4409394"/>
            <a:ext cx="1449396" cy="3260143"/>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nchor="ctr">
            <a:noAutofit/>
          </a:bodyPr>
          <a:lstStyle/>
          <a:p>
            <a:pPr marR="0" lvl="0" algn="ctr" defTabSz="1463040" rtl="0" eaLnBrk="1" fontAlgn="auto" latinLnBrk="0" hangingPunct="1">
              <a:lnSpc>
                <a:spcPct val="100000"/>
              </a:lnSpc>
              <a:spcBef>
                <a:spcPts val="0"/>
              </a:spcBef>
              <a:spcAft>
                <a:spcPts val="1200"/>
              </a:spcAft>
              <a:buClrTx/>
              <a:buSzTx/>
              <a:tabLst/>
              <a:defRPr/>
            </a:pPr>
            <a:r>
              <a:rPr lang="en-US" sz="1900" b="0" kern="1200">
                <a:solidFill>
                  <a:schemeClr val="tx1"/>
                </a:solidFill>
                <a:latin typeface="+mj-lt"/>
                <a:ea typeface="+mn-ea"/>
                <a:cs typeface="+mn-cs"/>
              </a:rPr>
              <a:t>Priorities</a:t>
            </a:r>
          </a:p>
        </p:txBody>
      </p:sp>
      <p:sp>
        <p:nvSpPr>
          <p:cNvPr id="29" name="TextBox 28">
            <a:extLst>
              <a:ext uri="{FF2B5EF4-FFF2-40B4-BE49-F238E27FC236}">
                <a16:creationId xmlns:a16="http://schemas.microsoft.com/office/drawing/2014/main" id="{734B88F0-8AAA-2CBC-DCF7-BA3084FACFAC}"/>
              </a:ext>
            </a:extLst>
          </p:cNvPr>
          <p:cNvSpPr txBox="1"/>
          <p:nvPr/>
        </p:nvSpPr>
        <p:spPr>
          <a:xfrm>
            <a:off x="10096615" y="4409395"/>
            <a:ext cx="1970665" cy="3618321"/>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tIns="137160">
            <a:noAutofit/>
          </a:bodyPr>
          <a:lstStyle/>
          <a:p>
            <a:pPr marL="171450" marR="0" lvl="0" indent="-1714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a:solidFill>
                  <a:schemeClr val="tx1"/>
                </a:solidFill>
              </a:rPr>
              <a:t>Collaborates with Sales and PMM to </a:t>
            </a:r>
            <a:r>
              <a:rPr lang="en-US" sz="1200" b="1">
                <a:solidFill>
                  <a:schemeClr val="tx1"/>
                </a:solidFill>
              </a:rPr>
              <a:t>Develop Marketing Collateral </a:t>
            </a:r>
            <a:endParaRPr lang="en-US" sz="1200">
              <a:solidFill>
                <a:schemeClr val="tx1"/>
              </a:solidFill>
            </a:endParaRPr>
          </a:p>
        </p:txBody>
      </p:sp>
      <p:sp>
        <p:nvSpPr>
          <p:cNvPr id="9" name="TextBox 8">
            <a:extLst>
              <a:ext uri="{FF2B5EF4-FFF2-40B4-BE49-F238E27FC236}">
                <a16:creationId xmlns:a16="http://schemas.microsoft.com/office/drawing/2014/main" id="{3CCD536E-D709-4FD6-5C75-36414EA34630}"/>
              </a:ext>
            </a:extLst>
          </p:cNvPr>
          <p:cNvSpPr txBox="1"/>
          <p:nvPr/>
        </p:nvSpPr>
        <p:spPr>
          <a:xfrm>
            <a:off x="8770416" y="1337914"/>
            <a:ext cx="5356746" cy="307777"/>
          </a:xfrm>
          <a:prstGeom prst="rect">
            <a:avLst/>
          </a:prstGeom>
          <a:noFill/>
          <a:ln>
            <a:solidFill>
              <a:schemeClr val="tx1"/>
            </a:solidFill>
          </a:ln>
        </p:spPr>
        <p:txBody>
          <a:bodyPr wrap="square">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Arial"/>
                <a:ea typeface="+mn-ea"/>
                <a:cs typeface="+mn-cs"/>
              </a:rPr>
              <a:t>R</a:t>
            </a:r>
            <a:r>
              <a:rPr kumimoji="0" lang="en-US" sz="1100" b="1" i="0" u="none" strike="noStrike" kern="1200" cap="none" spc="0" normalizeH="0" baseline="0" noProof="0">
                <a:ln>
                  <a:noFill/>
                </a:ln>
                <a:effectLst/>
                <a:uLnTx/>
                <a:uFillTx/>
                <a:latin typeface="Arial"/>
                <a:ea typeface="+mn-ea"/>
                <a:cs typeface="+mn-cs"/>
              </a:rPr>
              <a:t>-</a:t>
            </a:r>
            <a:r>
              <a:rPr kumimoji="0" lang="en-US" sz="1100" i="0" u="none" strike="noStrike" kern="1200" cap="none" spc="0" normalizeH="0" baseline="0" noProof="0" err="1">
                <a:ln>
                  <a:noFill/>
                </a:ln>
                <a:effectLst/>
                <a:uLnTx/>
                <a:uFillTx/>
                <a:latin typeface="Arial"/>
                <a:ea typeface="+mn-ea"/>
                <a:cs typeface="+mn-cs"/>
              </a:rPr>
              <a:t>esponsible</a:t>
            </a:r>
            <a:r>
              <a:rPr lang="en-US" sz="1100" b="1">
                <a:latin typeface="Arial"/>
              </a:rPr>
              <a:t> </a:t>
            </a:r>
            <a:r>
              <a:rPr lang="en-US" sz="1100">
                <a:latin typeface="Arial"/>
              </a:rPr>
              <a:t>(</a:t>
            </a:r>
            <a:r>
              <a:rPr kumimoji="0" lang="en-US" sz="1100" i="1" u="none" strike="noStrike" kern="1200" cap="none" spc="0" normalizeH="0" baseline="0" noProof="0">
                <a:ln>
                  <a:noFill/>
                </a:ln>
                <a:effectLst/>
                <a:uLnTx/>
                <a:uFillTx/>
                <a:latin typeface="Arial"/>
                <a:ea typeface="+mn-ea"/>
                <a:cs typeface="+mn-cs"/>
              </a:rPr>
              <a:t>doer) | </a:t>
            </a:r>
            <a:r>
              <a:rPr lang="en-US" sz="1100" b="1">
                <a:latin typeface="Arial"/>
              </a:rPr>
              <a:t>A-</a:t>
            </a:r>
            <a:r>
              <a:rPr lang="en-US" sz="1100" err="1">
                <a:latin typeface="Arial"/>
              </a:rPr>
              <a:t>ccountable</a:t>
            </a:r>
            <a:r>
              <a:rPr lang="en-US" sz="1100" b="1">
                <a:latin typeface="Arial"/>
              </a:rPr>
              <a:t> </a:t>
            </a:r>
            <a:r>
              <a:rPr lang="en-US" sz="1100" i="1">
                <a:latin typeface="Arial"/>
              </a:rPr>
              <a:t>(owner) | </a:t>
            </a:r>
            <a:r>
              <a:rPr kumimoji="0" lang="en-US" sz="1400" b="1" i="0" u="none" strike="noStrike" kern="1200" cap="none" spc="0" normalizeH="0" baseline="0" noProof="0">
                <a:ln>
                  <a:noFill/>
                </a:ln>
                <a:effectLst/>
                <a:uLnTx/>
                <a:uFillTx/>
                <a:latin typeface="Arial"/>
                <a:ea typeface="+mn-ea"/>
                <a:cs typeface="+mn-cs"/>
              </a:rPr>
              <a:t>S</a:t>
            </a:r>
            <a:r>
              <a:rPr kumimoji="0" lang="en-US" sz="1100" b="1" i="0" u="none" strike="noStrike" kern="1200" cap="none" spc="0" normalizeH="0" baseline="0" noProof="0">
                <a:ln>
                  <a:noFill/>
                </a:ln>
                <a:effectLst/>
                <a:uLnTx/>
                <a:uFillTx/>
                <a:latin typeface="Arial"/>
                <a:ea typeface="+mn-ea"/>
                <a:cs typeface="+mn-cs"/>
              </a:rPr>
              <a:t>-</a:t>
            </a:r>
            <a:r>
              <a:rPr kumimoji="0" lang="en-US" sz="1100" i="0" u="none" strike="noStrike" kern="1200" cap="none" spc="0" normalizeH="0" baseline="0" noProof="0" err="1">
                <a:ln>
                  <a:noFill/>
                </a:ln>
                <a:effectLst/>
                <a:uLnTx/>
                <a:uFillTx/>
                <a:latin typeface="Arial"/>
                <a:ea typeface="+mn-ea"/>
                <a:cs typeface="+mn-cs"/>
              </a:rPr>
              <a:t>upportive</a:t>
            </a:r>
            <a:r>
              <a:rPr lang="en-US" sz="1100">
                <a:latin typeface="Arial"/>
              </a:rPr>
              <a:t> | </a:t>
            </a:r>
            <a:r>
              <a:rPr lang="en-US" sz="1100" b="1">
                <a:latin typeface="Arial"/>
              </a:rPr>
              <a:t>C-</a:t>
            </a:r>
            <a:r>
              <a:rPr lang="en-US" sz="1100" err="1">
                <a:latin typeface="Arial"/>
              </a:rPr>
              <a:t>onsulted</a:t>
            </a:r>
            <a:r>
              <a:rPr lang="en-US" sz="1100">
                <a:latin typeface="Arial"/>
              </a:rPr>
              <a:t> | </a:t>
            </a:r>
            <a:r>
              <a:rPr kumimoji="0" lang="en-US" sz="1100" b="1" i="0" u="none" strike="noStrike" kern="1200" cap="none" spc="0" normalizeH="0" baseline="0" noProof="0">
                <a:ln>
                  <a:noFill/>
                </a:ln>
                <a:effectLst/>
                <a:uLnTx/>
                <a:uFillTx/>
                <a:latin typeface="Arial"/>
                <a:ea typeface="+mn-ea"/>
                <a:cs typeface="+mn-cs"/>
              </a:rPr>
              <a:t>I-</a:t>
            </a:r>
            <a:r>
              <a:rPr kumimoji="0" lang="en-US" sz="1100" i="0" u="none" strike="noStrike" kern="1200" cap="none" spc="0" normalizeH="0" baseline="0" noProof="0" err="1">
                <a:ln>
                  <a:noFill/>
                </a:ln>
                <a:effectLst/>
                <a:uLnTx/>
                <a:uFillTx/>
                <a:latin typeface="Arial"/>
                <a:ea typeface="+mn-ea"/>
                <a:cs typeface="+mn-cs"/>
              </a:rPr>
              <a:t>nformed</a:t>
            </a:r>
            <a:endParaRPr kumimoji="0" lang="en-US" sz="1100" i="0" u="none" strike="noStrike" kern="1200" cap="none" spc="0" normalizeH="0" baseline="0" noProof="0">
              <a:ln>
                <a:noFill/>
              </a:ln>
              <a:effectLst/>
              <a:uLnTx/>
              <a:uFillTx/>
              <a:latin typeface="Arial"/>
              <a:ea typeface="+mn-ea"/>
              <a:cs typeface="+mn-cs"/>
            </a:endParaRPr>
          </a:p>
        </p:txBody>
      </p:sp>
      <p:sp>
        <p:nvSpPr>
          <p:cNvPr id="15" name="Arrow: Left 14">
            <a:hlinkClick r:id="rId3" action="ppaction://hlinksldjump"/>
            <a:extLst>
              <a:ext uri="{FF2B5EF4-FFF2-40B4-BE49-F238E27FC236}">
                <a16:creationId xmlns:a16="http://schemas.microsoft.com/office/drawing/2014/main" id="{A883792A-5F2C-489F-5A3C-34350E0299CC}"/>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13" name="Picture 12">
            <a:extLst>
              <a:ext uri="{FF2B5EF4-FFF2-40B4-BE49-F238E27FC236}">
                <a16:creationId xmlns:a16="http://schemas.microsoft.com/office/drawing/2014/main" id="{89B37314-7245-5C20-DBCD-AFFC841D101B}"/>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1894123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B50A2-4FF5-434D-641E-238371CC0330}"/>
            </a:ext>
          </a:extLst>
        </p:cNvPr>
        <p:cNvGrpSpPr/>
        <p:nvPr/>
      </p:nvGrpSpPr>
      <p:grpSpPr>
        <a:xfrm>
          <a:off x="0" y="0"/>
          <a:ext cx="0" cy="0"/>
          <a:chOff x="0" y="0"/>
          <a:chExt cx="0" cy="0"/>
        </a:xfrm>
      </p:grpSpPr>
      <p:sp>
        <p:nvSpPr>
          <p:cNvPr id="5" name="Title 5">
            <a:extLst>
              <a:ext uri="{FF2B5EF4-FFF2-40B4-BE49-F238E27FC236}">
                <a16:creationId xmlns:a16="http://schemas.microsoft.com/office/drawing/2014/main" id="{7CCD2256-FD64-8DD5-A57F-83358F9DCF37}"/>
              </a:ext>
            </a:extLst>
          </p:cNvPr>
          <p:cNvSpPr>
            <a:spLocks noGrp="1"/>
          </p:cNvSpPr>
          <p:nvPr>
            <p:ph type="title"/>
          </p:nvPr>
        </p:nvSpPr>
        <p:spPr>
          <a:xfrm>
            <a:off x="8547100" y="1530219"/>
            <a:ext cx="6114130" cy="2050895"/>
          </a:xfrm>
        </p:spPr>
        <p:txBody>
          <a:bodyPr>
            <a:normAutofit fontScale="90000"/>
          </a:bodyPr>
          <a:lstStyle/>
          <a:p>
            <a:r>
              <a:rPr lang="en-US"/>
              <a:t>What Products are Included, and How are Customers Selected? </a:t>
            </a:r>
          </a:p>
        </p:txBody>
      </p:sp>
      <p:sp>
        <p:nvSpPr>
          <p:cNvPr id="8" name="TextBox 7">
            <a:extLst>
              <a:ext uri="{FF2B5EF4-FFF2-40B4-BE49-F238E27FC236}">
                <a16:creationId xmlns:a16="http://schemas.microsoft.com/office/drawing/2014/main" id="{86DA8A95-C07C-8E88-A36F-E5B70257CF4B}"/>
              </a:ext>
            </a:extLst>
          </p:cNvPr>
          <p:cNvSpPr txBox="1"/>
          <p:nvPr/>
        </p:nvSpPr>
        <p:spPr>
          <a:xfrm>
            <a:off x="0" y="1973179"/>
            <a:ext cx="8124324" cy="1756610"/>
          </a:xfrm>
          <a:prstGeom prst="rect">
            <a:avLst/>
          </a:prstGeom>
          <a:solidFill>
            <a:schemeClr val="bg1">
              <a:alpha val="90000"/>
            </a:schemeClr>
          </a:solidFill>
        </p:spPr>
        <p:txBody>
          <a:bodyPr wrap="square" rIns="274320" anchor="ctr">
            <a:noAutofit/>
          </a:bodyPr>
          <a:lstStyle/>
          <a:p>
            <a:pPr lvl="0" algn="r">
              <a:defRPr/>
            </a:pPr>
            <a:r>
              <a:rPr lang="en-US" sz="3200">
                <a:solidFill>
                  <a:srgbClr val="1DB1DD"/>
                </a:solidFill>
                <a:latin typeface="+mj-lt"/>
                <a:ea typeface="Noto Sans Light"/>
                <a:cs typeface="Arial" panose="020B0604020202020204" pitchFamily="34" charset="0"/>
              </a:rPr>
              <a:t>Chapter 3</a:t>
            </a:r>
          </a:p>
        </p:txBody>
      </p:sp>
      <p:sp>
        <p:nvSpPr>
          <p:cNvPr id="9" name="Arrow: Left 8">
            <a:hlinkClick r:id="rId2" action="ppaction://hlinksldjump"/>
            <a:extLst>
              <a:ext uri="{FF2B5EF4-FFF2-40B4-BE49-F238E27FC236}">
                <a16:creationId xmlns:a16="http://schemas.microsoft.com/office/drawing/2014/main" id="{B5FB378D-AAA7-FE01-27C9-BFA411E4E239}"/>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Tree>
    <p:extLst>
      <p:ext uri="{BB962C8B-B14F-4D97-AF65-F5344CB8AC3E}">
        <p14:creationId xmlns:p14="http://schemas.microsoft.com/office/powerpoint/2010/main" val="3177633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C46A7-E183-0259-3E99-4F8AFA2468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7AB9EF-A075-54EA-4289-8D9BB65A2361}"/>
              </a:ext>
            </a:extLst>
          </p:cNvPr>
          <p:cNvSpPr>
            <a:spLocks noGrp="1"/>
          </p:cNvSpPr>
          <p:nvPr>
            <p:ph type="title"/>
          </p:nvPr>
        </p:nvSpPr>
        <p:spPr/>
        <p:txBody>
          <a:bodyPr/>
          <a:lstStyle/>
          <a:p>
            <a:r>
              <a:rPr lang="en-US"/>
              <a:t>Product-Specific Pioneer Programs and Timeline </a:t>
            </a:r>
          </a:p>
        </p:txBody>
      </p:sp>
      <p:sp>
        <p:nvSpPr>
          <p:cNvPr id="6" name="Rectangle: Rounded Corners 5">
            <a:extLst>
              <a:ext uri="{FF2B5EF4-FFF2-40B4-BE49-F238E27FC236}">
                <a16:creationId xmlns:a16="http://schemas.microsoft.com/office/drawing/2014/main" id="{0C8A1091-1EB3-3268-C891-33959DB372D8}"/>
              </a:ext>
            </a:extLst>
          </p:cNvPr>
          <p:cNvSpPr/>
          <p:nvPr/>
        </p:nvSpPr>
        <p:spPr bwMode="auto">
          <a:xfrm>
            <a:off x="4470332" y="1900645"/>
            <a:ext cx="10160068" cy="309339"/>
          </a:xfrm>
          <a:prstGeom prst="roundRect">
            <a:avLst/>
          </a:prstGeom>
          <a:solidFill>
            <a:schemeClr val="accent4">
              <a:lumMod val="20000"/>
              <a:lumOff val="80000"/>
            </a:schemeClr>
          </a:solidFill>
          <a:ln w="9525">
            <a:solidFill>
              <a:schemeClr val="accent4">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IQ Controller   </a:t>
            </a:r>
            <a:r>
              <a:rPr lang="en-US" sz="1800">
                <a:latin typeface="Arial Narrow" panose="020B0606020202030204" pitchFamily="34" charset="0"/>
                <a:hlinkClick r:id="rId3">
                  <a:extLst>
                    <a:ext uri="{A12FA001-AC4F-418D-AE19-62706E023703}">
                      <ahyp:hlinkClr xmlns:ahyp="http://schemas.microsoft.com/office/drawing/2018/hyperlinkcolor" val="tx"/>
                    </a:ext>
                  </a:extLst>
                </a:hlinkClick>
              </a:rPr>
              <a:t>Link to PDS</a:t>
            </a:r>
            <a:r>
              <a:rPr lang="en-US" sz="1800" b="1">
                <a:latin typeface="Arial Narrow" panose="020B0606020202030204" pitchFamily="34" charset="0"/>
              </a:rPr>
              <a:t> | </a:t>
            </a:r>
            <a:r>
              <a:rPr lang="en-US" sz="1800">
                <a:latin typeface="Arial Narrow" panose="020B0606020202030204" pitchFamily="34" charset="0"/>
                <a:hlinkClick r:id="rId4">
                  <a:extLst>
                    <a:ext uri="{A12FA001-AC4F-418D-AE19-62706E023703}">
                      <ahyp:hlinkClr xmlns:ahyp="http://schemas.microsoft.com/office/drawing/2018/hyperlinkcolor" val="tx"/>
                    </a:ext>
                  </a:extLst>
                </a:hlinkClick>
              </a:rPr>
              <a:t>Link to Product Overview Deck</a:t>
            </a:r>
            <a:endParaRPr lang="en-US" sz="2000">
              <a:latin typeface="Arial Narrow" panose="020B0606020202030204" pitchFamily="34" charset="0"/>
            </a:endParaRPr>
          </a:p>
        </p:txBody>
      </p:sp>
      <p:sp>
        <p:nvSpPr>
          <p:cNvPr id="7" name="Rectangle: Rounded Corners 6">
            <a:extLst>
              <a:ext uri="{FF2B5EF4-FFF2-40B4-BE49-F238E27FC236}">
                <a16:creationId xmlns:a16="http://schemas.microsoft.com/office/drawing/2014/main" id="{1344706B-7D9E-21E6-571F-7F92EC44ED14}"/>
              </a:ext>
            </a:extLst>
          </p:cNvPr>
          <p:cNvSpPr/>
          <p:nvPr/>
        </p:nvSpPr>
        <p:spPr bwMode="auto">
          <a:xfrm>
            <a:off x="4466630" y="2339414"/>
            <a:ext cx="10163770" cy="335280"/>
          </a:xfrm>
          <a:prstGeom prst="roundRect">
            <a:avLst/>
          </a:prstGeom>
          <a:solidFill>
            <a:schemeClr val="accent5">
              <a:lumMod val="20000"/>
              <a:lumOff val="80000"/>
            </a:schemeClr>
          </a:solidFill>
          <a:ln w="9525">
            <a:solidFill>
              <a:schemeClr val="accent5">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Live Enterprise View    </a:t>
            </a:r>
            <a:r>
              <a:rPr lang="en-US" sz="1800">
                <a:latin typeface="Arial Narrow" panose="020B0606020202030204" pitchFamily="34" charset="0"/>
                <a:hlinkClick r:id="rId5">
                  <a:extLst>
                    <a:ext uri="{A12FA001-AC4F-418D-AE19-62706E023703}">
                      <ahyp:hlinkClr xmlns:ahyp="http://schemas.microsoft.com/office/drawing/2018/hyperlinkcolor" val="tx"/>
                    </a:ext>
                  </a:extLst>
                </a:hlinkClick>
              </a:rPr>
              <a:t>Link to PDS</a:t>
            </a:r>
            <a:r>
              <a:rPr lang="en-US" sz="1800" b="1">
                <a:latin typeface="Arial Narrow" panose="020B0606020202030204" pitchFamily="34" charset="0"/>
              </a:rPr>
              <a:t> | </a:t>
            </a:r>
            <a:r>
              <a:rPr lang="en-US" sz="1800">
                <a:latin typeface="Arial Narrow" panose="020B0606020202030204" pitchFamily="34" charset="0"/>
                <a:hlinkClick r:id="rId6">
                  <a:extLst>
                    <a:ext uri="{A12FA001-AC4F-418D-AE19-62706E023703}">
                      <ahyp:hlinkClr xmlns:ahyp="http://schemas.microsoft.com/office/drawing/2018/hyperlinkcolor" val="tx"/>
                    </a:ext>
                  </a:extLst>
                </a:hlinkClick>
              </a:rPr>
              <a:t>Link to Product Overview Deck</a:t>
            </a:r>
            <a:endParaRPr lang="en-US" sz="2000">
              <a:latin typeface="Arial Narrow" panose="020B0606020202030204" pitchFamily="34" charset="0"/>
            </a:endParaRPr>
          </a:p>
        </p:txBody>
      </p:sp>
      <p:sp>
        <p:nvSpPr>
          <p:cNvPr id="8" name="Rectangle: Rounded Corners 7">
            <a:extLst>
              <a:ext uri="{FF2B5EF4-FFF2-40B4-BE49-F238E27FC236}">
                <a16:creationId xmlns:a16="http://schemas.microsoft.com/office/drawing/2014/main" id="{746696C4-4737-1876-F589-56F486277BF2}"/>
              </a:ext>
            </a:extLst>
          </p:cNvPr>
          <p:cNvSpPr/>
          <p:nvPr/>
        </p:nvSpPr>
        <p:spPr bwMode="auto">
          <a:xfrm>
            <a:off x="4470333" y="2808296"/>
            <a:ext cx="10160067" cy="335280"/>
          </a:xfrm>
          <a:prstGeom prst="roundRect">
            <a:avLst/>
          </a:prstGeom>
          <a:solidFill>
            <a:schemeClr val="accent3">
              <a:lumMod val="20000"/>
              <a:lumOff val="80000"/>
            </a:schemeClr>
          </a:solidFill>
          <a:ln w="9525">
            <a:solidFill>
              <a:schemeClr val="accent3">
                <a:lumMod val="60000"/>
                <a:lumOff val="40000"/>
              </a:schemeClr>
            </a:solidFill>
            <a:round/>
            <a:headEnd/>
            <a:tailEnd/>
          </a:ln>
          <a:effectLst/>
        </p:spPr>
        <p:txBody>
          <a:bodyPr wrap="square" lIns="91440" tIns="45720" rIns="91440" bIns="45720" rtlCol="0" anchor="ctr"/>
          <a:lstStyle/>
          <a:p>
            <a:pPr algn="ctr" eaLnBrk="0" fontAlgn="base" hangingPunct="0">
              <a:spcBef>
                <a:spcPct val="0"/>
              </a:spcBef>
              <a:spcAft>
                <a:spcPct val="0"/>
              </a:spcAft>
            </a:pPr>
            <a:r>
              <a:rPr lang="en-US" sz="2000" b="1" dirty="0">
                <a:latin typeface="Arial Narrow"/>
              </a:rPr>
              <a:t>Enterprise Engineering </a:t>
            </a:r>
            <a:r>
              <a:rPr lang="en-US" sz="1800" dirty="0">
                <a:latin typeface="Arial Narrow"/>
                <a:hlinkClick r:id="rId7"/>
              </a:rPr>
              <a:t>Link to PDS </a:t>
            </a:r>
            <a:r>
              <a:rPr lang="en-US" sz="1800" b="1" dirty="0">
                <a:latin typeface="Arial Narrow" panose="020B0606020202030204" pitchFamily="34" charset="0"/>
              </a:rPr>
              <a:t>| </a:t>
            </a:r>
            <a:r>
              <a:rPr lang="en-US" sz="1800" dirty="0">
                <a:latin typeface="Arial Narrow"/>
                <a:hlinkClick r:id="rId8"/>
              </a:rPr>
              <a:t>Link to Product Overview Deck    </a:t>
            </a:r>
            <a:endParaRPr lang="en-US" sz="2000" dirty="0">
              <a:latin typeface="Arial Narrow"/>
            </a:endParaRPr>
          </a:p>
        </p:txBody>
      </p:sp>
      <p:sp>
        <p:nvSpPr>
          <p:cNvPr id="9" name="Rectangle: Rounded Corners 8">
            <a:extLst>
              <a:ext uri="{FF2B5EF4-FFF2-40B4-BE49-F238E27FC236}">
                <a16:creationId xmlns:a16="http://schemas.microsoft.com/office/drawing/2014/main" id="{7E4BA8D0-9226-C5CB-81B7-CC277A97EACE}"/>
              </a:ext>
            </a:extLst>
          </p:cNvPr>
          <p:cNvSpPr/>
          <p:nvPr/>
        </p:nvSpPr>
        <p:spPr bwMode="auto">
          <a:xfrm>
            <a:off x="10543902" y="3268833"/>
            <a:ext cx="4086498" cy="335280"/>
          </a:xfrm>
          <a:prstGeom prst="roundRect">
            <a:avLst/>
          </a:prstGeom>
          <a:solidFill>
            <a:schemeClr val="accent2">
              <a:lumMod val="10000"/>
              <a:lumOff val="90000"/>
            </a:schemeClr>
          </a:solidFill>
          <a:ln w="9525">
            <a:solidFill>
              <a:schemeClr val="accent2">
                <a:lumMod val="50000"/>
                <a:lumOff val="5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DeltaV Virtual Advisor  </a:t>
            </a:r>
          </a:p>
        </p:txBody>
      </p:sp>
      <p:graphicFrame>
        <p:nvGraphicFramePr>
          <p:cNvPr id="10" name="Table 9">
            <a:extLst>
              <a:ext uri="{FF2B5EF4-FFF2-40B4-BE49-F238E27FC236}">
                <a16:creationId xmlns:a16="http://schemas.microsoft.com/office/drawing/2014/main" id="{D7AC19C3-3D2A-5E09-F13B-103B911C8B86}"/>
              </a:ext>
            </a:extLst>
          </p:cNvPr>
          <p:cNvGraphicFramePr>
            <a:graphicFrameLocks noGrp="1"/>
          </p:cNvGraphicFramePr>
          <p:nvPr>
            <p:extLst>
              <p:ext uri="{D42A27DB-BD31-4B8C-83A1-F6EECF244321}">
                <p14:modId xmlns:p14="http://schemas.microsoft.com/office/powerpoint/2010/main" val="4030956116"/>
              </p:ext>
            </p:extLst>
          </p:nvPr>
        </p:nvGraphicFramePr>
        <p:xfrm>
          <a:off x="1" y="3727012"/>
          <a:ext cx="14630399" cy="335280"/>
        </p:xfrm>
        <a:graphic>
          <a:graphicData uri="http://schemas.openxmlformats.org/drawingml/2006/table">
            <a:tbl>
              <a:tblPr firstRow="1" bandRow="1">
                <a:tableStyleId>{5C22544A-7EE6-4342-B048-85BDC9FD1C3A}</a:tableStyleId>
              </a:tblPr>
              <a:tblGrid>
                <a:gridCol w="14630399">
                  <a:extLst>
                    <a:ext uri="{9D8B030D-6E8A-4147-A177-3AD203B41FA5}">
                      <a16:colId xmlns:a16="http://schemas.microsoft.com/office/drawing/2014/main" val="1332718523"/>
                    </a:ext>
                  </a:extLst>
                </a:gridCol>
              </a:tblGrid>
              <a:tr h="293834">
                <a:tc>
                  <a:txBody>
                    <a:bodyPr/>
                    <a:lstStyle/>
                    <a:p>
                      <a:pPr marL="0" marR="0" lvl="0" indent="0" algn="ctr" rtl="0">
                        <a:lnSpc>
                          <a:spcPct val="100000"/>
                        </a:lnSpc>
                        <a:spcBef>
                          <a:spcPts val="0"/>
                        </a:spcBef>
                        <a:spcAft>
                          <a:spcPts val="0"/>
                        </a:spcAft>
                        <a:buClrTx/>
                        <a:buSzTx/>
                        <a:buFontTx/>
                        <a:buNone/>
                      </a:pPr>
                      <a:r>
                        <a:rPr lang="en-US" sz="1600">
                          <a:solidFill>
                            <a:schemeClr val="bg1"/>
                          </a:solidFill>
                        </a:rPr>
                        <a:t>2026</a:t>
                      </a:r>
                      <a:endParaRPr lang="en-US" sz="3200">
                        <a:solidFill>
                          <a:schemeClr val="bg1"/>
                        </a:solidFill>
                      </a:endParaRPr>
                    </a:p>
                  </a:txBody>
                  <a:tcPr anchor="ctr">
                    <a:lnB w="38100" cmpd="sng">
                      <a:noFill/>
                    </a:lnB>
                    <a:solidFill>
                      <a:schemeClr val="bg2"/>
                    </a:solidFill>
                  </a:tcPr>
                </a:tc>
                <a:extLst>
                  <a:ext uri="{0D108BD9-81ED-4DB2-BD59-A6C34878D82A}">
                    <a16:rowId xmlns:a16="http://schemas.microsoft.com/office/drawing/2014/main" val="1169414638"/>
                  </a:ext>
                </a:extLst>
              </a:tr>
            </a:tbl>
          </a:graphicData>
        </a:graphic>
      </p:graphicFrame>
      <p:grpSp>
        <p:nvGrpSpPr>
          <p:cNvPr id="28" name="Group 27">
            <a:extLst>
              <a:ext uri="{FF2B5EF4-FFF2-40B4-BE49-F238E27FC236}">
                <a16:creationId xmlns:a16="http://schemas.microsoft.com/office/drawing/2014/main" id="{BFD28E8B-9302-60DF-AE94-A4E80CE3825B}"/>
              </a:ext>
            </a:extLst>
          </p:cNvPr>
          <p:cNvGrpSpPr/>
          <p:nvPr/>
        </p:nvGrpSpPr>
        <p:grpSpPr>
          <a:xfrm>
            <a:off x="3796414" y="3725721"/>
            <a:ext cx="1340432" cy="1244343"/>
            <a:chOff x="2527031" y="3269812"/>
            <a:chExt cx="1340432" cy="1244343"/>
          </a:xfrm>
        </p:grpSpPr>
        <p:sp>
          <p:nvSpPr>
            <p:cNvPr id="14" name="TextBox 13">
              <a:extLst>
                <a:ext uri="{FF2B5EF4-FFF2-40B4-BE49-F238E27FC236}">
                  <a16:creationId xmlns:a16="http://schemas.microsoft.com/office/drawing/2014/main" id="{675E79BE-40F8-663F-3F26-BFC716D6D35E}"/>
                </a:ext>
              </a:extLst>
            </p:cNvPr>
            <p:cNvSpPr txBox="1"/>
            <p:nvPr/>
          </p:nvSpPr>
          <p:spPr>
            <a:xfrm>
              <a:off x="2527031" y="4144823"/>
              <a:ext cx="1340432" cy="369332"/>
            </a:xfrm>
            <a:prstGeom prst="rect">
              <a:avLst/>
            </a:prstGeom>
            <a:noFill/>
          </p:spPr>
          <p:txBody>
            <a:bodyPr wrap="square" rtlCol="0">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9FA1A4">
                      <a:lumMod val="50000"/>
                    </a:srgbClr>
                  </a:solidFill>
                  <a:effectLst/>
                  <a:uLnTx/>
                  <a:uFillTx/>
                  <a:latin typeface="Arial Black"/>
                  <a:ea typeface="+mn-ea"/>
                  <a:cs typeface="+mn-cs"/>
                </a:rPr>
                <a:t>Summer</a:t>
              </a:r>
            </a:p>
          </p:txBody>
        </p:sp>
        <p:cxnSp>
          <p:nvCxnSpPr>
            <p:cNvPr id="18" name="Straight Connector 17">
              <a:extLst>
                <a:ext uri="{FF2B5EF4-FFF2-40B4-BE49-F238E27FC236}">
                  <a16:creationId xmlns:a16="http://schemas.microsoft.com/office/drawing/2014/main" id="{6F9FBF91-49C3-7389-602F-E0A8CF698087}"/>
                </a:ext>
              </a:extLst>
            </p:cNvPr>
            <p:cNvCxnSpPr>
              <a:cxnSpLocks/>
            </p:cNvCxnSpPr>
            <p:nvPr/>
          </p:nvCxnSpPr>
          <p:spPr bwMode="auto">
            <a:xfrm>
              <a:off x="3197247" y="3269812"/>
              <a:ext cx="0" cy="832649"/>
            </a:xfrm>
            <a:prstGeom prst="line">
              <a:avLst/>
            </a:prstGeom>
            <a:solidFill>
              <a:schemeClr val="accent1"/>
            </a:solidFill>
            <a:ln w="19050" cap="flat" cmpd="sng" algn="ctr">
              <a:solidFill>
                <a:schemeClr val="bg2"/>
              </a:solidFill>
              <a:prstDash val="solid"/>
              <a:round/>
              <a:headEnd type="none" w="med" len="med"/>
              <a:tailEnd type="oval" w="lg" len="lg"/>
            </a:ln>
            <a:effectLst/>
          </p:spPr>
        </p:cxnSp>
      </p:grpSp>
      <p:sp>
        <p:nvSpPr>
          <p:cNvPr id="4" name="TextBox 3">
            <a:extLst>
              <a:ext uri="{FF2B5EF4-FFF2-40B4-BE49-F238E27FC236}">
                <a16:creationId xmlns:a16="http://schemas.microsoft.com/office/drawing/2014/main" id="{D6D03688-70CC-131B-3DB8-91DE35783EF3}"/>
              </a:ext>
            </a:extLst>
          </p:cNvPr>
          <p:cNvSpPr txBox="1"/>
          <p:nvPr/>
        </p:nvSpPr>
        <p:spPr>
          <a:xfrm>
            <a:off x="2939584" y="1920974"/>
            <a:ext cx="1423686" cy="306467"/>
          </a:xfrm>
          <a:prstGeom prst="round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R="0" lvl="0" algn="ctr" defTabSz="1463040" rtl="0" eaLnBrk="1" fontAlgn="auto" latinLnBrk="0" hangingPunct="1">
              <a:lnSpc>
                <a:spcPct val="100000"/>
              </a:lnSpc>
              <a:spcBef>
                <a:spcPts val="600"/>
              </a:spcBef>
              <a:spcAft>
                <a:spcPts val="0"/>
              </a:spcAft>
              <a:buClrTx/>
              <a:buSzTx/>
              <a:tabLst/>
              <a:defRPr/>
            </a:pPr>
            <a:r>
              <a:rPr kumimoji="0" lang="en-US" sz="1200" b="1" i="0" u="none" strike="noStrike" kern="1200" cap="none" spc="0" normalizeH="0" baseline="0" noProof="0">
                <a:ln>
                  <a:noFill/>
                </a:ln>
                <a:solidFill>
                  <a:schemeClr val="bg1"/>
                </a:solidFill>
                <a:effectLst/>
                <a:uLnTx/>
                <a:uFillTx/>
                <a:latin typeface="Arial"/>
                <a:ea typeface="+mn-ea"/>
                <a:cs typeface="+mn-cs"/>
              </a:rPr>
              <a:t>Program Full </a:t>
            </a:r>
          </a:p>
        </p:txBody>
      </p:sp>
      <p:grpSp>
        <p:nvGrpSpPr>
          <p:cNvPr id="49" name="Group 48">
            <a:extLst>
              <a:ext uri="{FF2B5EF4-FFF2-40B4-BE49-F238E27FC236}">
                <a16:creationId xmlns:a16="http://schemas.microsoft.com/office/drawing/2014/main" id="{F600ED5C-6C95-5A92-84CC-F41E0E70B95D}"/>
              </a:ext>
            </a:extLst>
          </p:cNvPr>
          <p:cNvGrpSpPr/>
          <p:nvPr/>
        </p:nvGrpSpPr>
        <p:grpSpPr>
          <a:xfrm>
            <a:off x="9873686" y="3729466"/>
            <a:ext cx="1340432" cy="1244343"/>
            <a:chOff x="2527031" y="3269812"/>
            <a:chExt cx="1340432" cy="1244343"/>
          </a:xfrm>
        </p:grpSpPr>
        <p:sp>
          <p:nvSpPr>
            <p:cNvPr id="50" name="TextBox 49">
              <a:extLst>
                <a:ext uri="{FF2B5EF4-FFF2-40B4-BE49-F238E27FC236}">
                  <a16:creationId xmlns:a16="http://schemas.microsoft.com/office/drawing/2014/main" id="{F26DDD25-B5EF-98F8-CA09-59439884F275}"/>
                </a:ext>
              </a:extLst>
            </p:cNvPr>
            <p:cNvSpPr txBox="1"/>
            <p:nvPr/>
          </p:nvSpPr>
          <p:spPr>
            <a:xfrm>
              <a:off x="2527031" y="4144823"/>
              <a:ext cx="1340432" cy="369332"/>
            </a:xfrm>
            <a:prstGeom prst="rect">
              <a:avLst/>
            </a:prstGeom>
            <a:noFill/>
          </p:spPr>
          <p:txBody>
            <a:bodyPr wrap="square" rtlCol="0">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9FA1A4">
                      <a:lumMod val="50000"/>
                    </a:srgbClr>
                  </a:solidFill>
                  <a:effectLst/>
                  <a:uLnTx/>
                  <a:uFillTx/>
                  <a:latin typeface="Arial Black"/>
                  <a:ea typeface="+mn-ea"/>
                  <a:cs typeface="+mn-cs"/>
                </a:rPr>
                <a:t>Fall</a:t>
              </a:r>
            </a:p>
          </p:txBody>
        </p:sp>
        <p:cxnSp>
          <p:nvCxnSpPr>
            <p:cNvPr id="51" name="Straight Connector 50">
              <a:extLst>
                <a:ext uri="{FF2B5EF4-FFF2-40B4-BE49-F238E27FC236}">
                  <a16:creationId xmlns:a16="http://schemas.microsoft.com/office/drawing/2014/main" id="{CD3520B2-2013-7194-82C1-02360F8BC42E}"/>
                </a:ext>
              </a:extLst>
            </p:cNvPr>
            <p:cNvCxnSpPr>
              <a:cxnSpLocks/>
            </p:cNvCxnSpPr>
            <p:nvPr/>
          </p:nvCxnSpPr>
          <p:spPr bwMode="auto">
            <a:xfrm>
              <a:off x="3197247" y="3269812"/>
              <a:ext cx="0" cy="832649"/>
            </a:xfrm>
            <a:prstGeom prst="line">
              <a:avLst/>
            </a:prstGeom>
            <a:solidFill>
              <a:schemeClr val="accent1"/>
            </a:solidFill>
            <a:ln w="19050" cap="flat" cmpd="sng" algn="ctr">
              <a:solidFill>
                <a:schemeClr val="bg2"/>
              </a:solidFill>
              <a:prstDash val="solid"/>
              <a:round/>
              <a:headEnd type="none" w="med" len="med"/>
              <a:tailEnd type="oval" w="lg" len="lg"/>
            </a:ln>
            <a:effectLst/>
          </p:spPr>
        </p:cxnSp>
      </p:grpSp>
      <p:pic>
        <p:nvPicPr>
          <p:cNvPr id="63" name="Picture 62">
            <a:extLst>
              <a:ext uri="{FF2B5EF4-FFF2-40B4-BE49-F238E27FC236}">
                <a16:creationId xmlns:a16="http://schemas.microsoft.com/office/drawing/2014/main" id="{9B83E798-40FC-94AA-E462-31A29B67F814}"/>
              </a:ext>
            </a:extLst>
          </p:cNvPr>
          <p:cNvPicPr>
            <a:picLocks noChangeAspect="1"/>
          </p:cNvPicPr>
          <p:nvPr/>
        </p:nvPicPr>
        <p:blipFill>
          <a:blip r:embed="rId9"/>
          <a:stretch>
            <a:fillRect/>
          </a:stretch>
        </p:blipFill>
        <p:spPr>
          <a:xfrm>
            <a:off x="11888399" y="6309971"/>
            <a:ext cx="2238763" cy="684413"/>
          </a:xfrm>
          <a:prstGeom prst="rect">
            <a:avLst/>
          </a:prstGeom>
        </p:spPr>
      </p:pic>
      <p:pic>
        <p:nvPicPr>
          <p:cNvPr id="64" name="Picture 2">
            <a:extLst>
              <a:ext uri="{FF2B5EF4-FFF2-40B4-BE49-F238E27FC236}">
                <a16:creationId xmlns:a16="http://schemas.microsoft.com/office/drawing/2014/main" id="{2043B25E-8DF8-803E-E41F-55459873693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25441" y="6487779"/>
            <a:ext cx="1729223" cy="328796"/>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4" descr="Dow Chemical Company - Wikipedia">
            <a:extLst>
              <a:ext uri="{FF2B5EF4-FFF2-40B4-BE49-F238E27FC236}">
                <a16:creationId xmlns:a16="http://schemas.microsoft.com/office/drawing/2014/main" id="{6F26840E-D838-7225-3CC1-F9A6F1CEA00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7900" y="6446391"/>
            <a:ext cx="1170351" cy="41157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descr="undefined">
            <a:extLst>
              <a:ext uri="{FF2B5EF4-FFF2-40B4-BE49-F238E27FC236}">
                <a16:creationId xmlns:a16="http://schemas.microsoft.com/office/drawing/2014/main" id="{A3E5D602-DCF5-C74A-021F-75D0449954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76858" y="6417768"/>
            <a:ext cx="1118174" cy="468818"/>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12" descr="Evonik Corporation | Sea-Land Chemical Company">
            <a:extLst>
              <a:ext uri="{FF2B5EF4-FFF2-40B4-BE49-F238E27FC236}">
                <a16:creationId xmlns:a16="http://schemas.microsoft.com/office/drawing/2014/main" id="{799CE28A-87E4-3627-0151-12D2DD9F74D4}"/>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36901" b="32202"/>
          <a:stretch>
            <a:fillRect/>
          </a:stretch>
        </p:blipFill>
        <p:spPr bwMode="auto">
          <a:xfrm>
            <a:off x="9979105" y="6408270"/>
            <a:ext cx="1578887" cy="487815"/>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4" descr="Chevron Phillips Chemical - Wikipedia">
            <a:extLst>
              <a:ext uri="{FF2B5EF4-FFF2-40B4-BE49-F238E27FC236}">
                <a16:creationId xmlns:a16="http://schemas.microsoft.com/office/drawing/2014/main" id="{3C8058DC-72B4-2FD7-0A93-43260DE0B13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85073" y="6291142"/>
            <a:ext cx="1263623" cy="72207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18" descr="undefined">
            <a:extLst>
              <a:ext uri="{FF2B5EF4-FFF2-40B4-BE49-F238E27FC236}">
                <a16:creationId xmlns:a16="http://schemas.microsoft.com/office/drawing/2014/main" id="{A37A200F-0885-4FB3-F5D4-2FBCF17204E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87783" y="6272844"/>
            <a:ext cx="758666" cy="758666"/>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0" descr="undefined">
            <a:extLst>
              <a:ext uri="{FF2B5EF4-FFF2-40B4-BE49-F238E27FC236}">
                <a16:creationId xmlns:a16="http://schemas.microsoft.com/office/drawing/2014/main" id="{313C0B5B-DE92-2734-381C-2658BC4D82A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18660" y="6446391"/>
            <a:ext cx="1138714" cy="411573"/>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73">
            <a:extLst>
              <a:ext uri="{FF2B5EF4-FFF2-40B4-BE49-F238E27FC236}">
                <a16:creationId xmlns:a16="http://schemas.microsoft.com/office/drawing/2014/main" id="{D0E83A49-2AF7-9686-7317-C0A4E9D7EEF1}"/>
              </a:ext>
            </a:extLst>
          </p:cNvPr>
          <p:cNvSpPr txBox="1"/>
          <p:nvPr/>
        </p:nvSpPr>
        <p:spPr>
          <a:xfrm>
            <a:off x="817900" y="5622447"/>
            <a:ext cx="13309262" cy="425648"/>
          </a:xfrm>
          <a:prstGeom prst="round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900" b="1"/>
              <a:t>8 customers committed and accepted into </a:t>
            </a:r>
            <a:r>
              <a:rPr lang="en-US" sz="1900"/>
              <a:t>the IQ Controller Pioneer Program (from 35 interested) in North America</a:t>
            </a:r>
          </a:p>
        </p:txBody>
      </p:sp>
      <p:sp>
        <p:nvSpPr>
          <p:cNvPr id="75" name="Arrow: Bent 74">
            <a:extLst>
              <a:ext uri="{FF2B5EF4-FFF2-40B4-BE49-F238E27FC236}">
                <a16:creationId xmlns:a16="http://schemas.microsoft.com/office/drawing/2014/main" id="{84A67C6D-60A0-9ECE-D5A7-818BF075FA2D}"/>
              </a:ext>
            </a:extLst>
          </p:cNvPr>
          <p:cNvSpPr/>
          <p:nvPr/>
        </p:nvSpPr>
        <p:spPr bwMode="auto">
          <a:xfrm rot="16200000" flipH="1">
            <a:off x="621694" y="2991268"/>
            <a:ext cx="3481022" cy="1340435"/>
          </a:xfrm>
          <a:prstGeom prst="bentArrow">
            <a:avLst>
              <a:gd name="adj1" fmla="val 22707"/>
              <a:gd name="adj2" fmla="val 25000"/>
              <a:gd name="adj3" fmla="val 25000"/>
              <a:gd name="adj4" fmla="val 43750"/>
            </a:avLst>
          </a:prstGeom>
          <a:solidFill>
            <a:schemeClr val="accent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3" name="Arrow: Left 12">
            <a:hlinkClick r:id="rId17" action="ppaction://hlinksldjump"/>
            <a:extLst>
              <a:ext uri="{FF2B5EF4-FFF2-40B4-BE49-F238E27FC236}">
                <a16:creationId xmlns:a16="http://schemas.microsoft.com/office/drawing/2014/main" id="{96DCC1A8-A4FE-3834-92B3-8D2012CA13D4}"/>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11" name="Picture 10">
            <a:extLst>
              <a:ext uri="{FF2B5EF4-FFF2-40B4-BE49-F238E27FC236}">
                <a16:creationId xmlns:a16="http://schemas.microsoft.com/office/drawing/2014/main" id="{68E958B1-5938-57A8-A967-22ADE593A589}"/>
              </a:ext>
            </a:extLst>
          </p:cNvPr>
          <p:cNvPicPr>
            <a:picLocks noChangeAspect="1"/>
          </p:cNvPicPr>
          <p:nvPr/>
        </p:nvPicPr>
        <p:blipFill>
          <a:blip r:embed="rId18"/>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2231405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4681-9294-1FA2-93D0-B3D6BCC6AF3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C51BC6-EEF1-C566-A5DA-B4B52AA12F0B}"/>
              </a:ext>
            </a:extLst>
          </p:cNvPr>
          <p:cNvSpPr>
            <a:spLocks noGrp="1"/>
          </p:cNvSpPr>
          <p:nvPr>
            <p:ph type="title"/>
          </p:nvPr>
        </p:nvSpPr>
        <p:spPr/>
        <p:txBody>
          <a:bodyPr/>
          <a:lstStyle/>
          <a:p>
            <a:r>
              <a:rPr lang="en-US"/>
              <a:t>Pioneer Program Customer Selection Criteria and Ideal </a:t>
            </a:r>
            <a:br>
              <a:rPr lang="en-US"/>
            </a:br>
            <a:r>
              <a:rPr lang="en-US"/>
              <a:t>Customer Profile</a:t>
            </a:r>
          </a:p>
        </p:txBody>
      </p:sp>
      <p:sp>
        <p:nvSpPr>
          <p:cNvPr id="2" name="Content Placeholder 6">
            <a:extLst>
              <a:ext uri="{FF2B5EF4-FFF2-40B4-BE49-F238E27FC236}">
                <a16:creationId xmlns:a16="http://schemas.microsoft.com/office/drawing/2014/main" id="{6BA5EB77-B101-AE7F-F5BB-D23BE06D9EBA}"/>
              </a:ext>
            </a:extLst>
          </p:cNvPr>
          <p:cNvSpPr txBox="1">
            <a:spLocks/>
          </p:cNvSpPr>
          <p:nvPr/>
        </p:nvSpPr>
        <p:spPr>
          <a:xfrm>
            <a:off x="601580" y="1578443"/>
            <a:ext cx="13525582" cy="926483"/>
          </a:xfrm>
          <a:prstGeom prst="roundRect">
            <a:avLst/>
          </a:prstGeom>
          <a:solidFill>
            <a:schemeClr val="bg2">
              <a:lumMod val="20000"/>
              <a:lumOff val="80000"/>
            </a:schemeClr>
          </a:solidFill>
        </p:spPr>
        <p:style>
          <a:lnRef idx="2">
            <a:schemeClr val="accent1"/>
          </a:lnRef>
          <a:fillRef idx="1">
            <a:schemeClr val="lt1"/>
          </a:fillRef>
          <a:effectRef idx="0">
            <a:schemeClr val="accent1"/>
          </a:effectRef>
          <a:fontRef idx="minor">
            <a:schemeClr val="dk1"/>
          </a:fontRef>
        </p:style>
        <p:txBody>
          <a:bodyPr vert="horz" lIns="91440" tIns="91440" rIns="91440" bIns="45720" rtlCol="0">
            <a:normAutofit fontScale="92500" lnSpcReduction="2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lgn="ctr">
              <a:buNone/>
            </a:pPr>
            <a:r>
              <a:rPr lang="en-US" b="1"/>
              <a:t>Emerson Priority Objective </a:t>
            </a:r>
          </a:p>
          <a:p>
            <a:pPr marL="0" indent="0" algn="ctr">
              <a:buNone/>
            </a:pPr>
            <a:r>
              <a:rPr lang="en-US"/>
              <a:t>Capture field-tested, customer testimonials for use in product promotion marketing collateral to enable broader market sales </a:t>
            </a:r>
          </a:p>
          <a:p>
            <a:pPr marL="0" indent="0" algn="ctr">
              <a:buFont typeface="Arial" panose="020B0604020202020204" pitchFamily="34" charset="0"/>
              <a:buNone/>
            </a:pPr>
            <a:endParaRPr lang="en-US"/>
          </a:p>
        </p:txBody>
      </p:sp>
      <p:sp>
        <p:nvSpPr>
          <p:cNvPr id="8" name="Content Placeholder 6">
            <a:extLst>
              <a:ext uri="{FF2B5EF4-FFF2-40B4-BE49-F238E27FC236}">
                <a16:creationId xmlns:a16="http://schemas.microsoft.com/office/drawing/2014/main" id="{253D6955-ED0E-0265-A2B7-5C20C7A8ACD1}"/>
              </a:ext>
            </a:extLst>
          </p:cNvPr>
          <p:cNvSpPr>
            <a:spLocks noGrp="1"/>
          </p:cNvSpPr>
          <p:nvPr>
            <p:ph idx="1"/>
          </p:nvPr>
        </p:nvSpPr>
        <p:spPr>
          <a:xfrm>
            <a:off x="2227096" y="2737454"/>
            <a:ext cx="11900066" cy="2422393"/>
          </a:xfrm>
        </p:spPr>
        <p:txBody>
          <a:bodyPr>
            <a:normAutofit fontScale="85000" lnSpcReduction="20000"/>
          </a:bodyPr>
          <a:lstStyle/>
          <a:p>
            <a:r>
              <a:rPr lang="en-US"/>
              <a:t>Has active DeltaV product support for the system use case </a:t>
            </a:r>
          </a:p>
          <a:p>
            <a:r>
              <a:rPr lang="en-US"/>
              <a:t>Has a local Emerson Impact Partner contact that can provide dedicated support (as stated before) during the program duration </a:t>
            </a:r>
          </a:p>
          <a:p>
            <a:r>
              <a:rPr lang="en-US"/>
              <a:t>Ability to meet all customer expectations (as stated before) </a:t>
            </a:r>
          </a:p>
          <a:p>
            <a:r>
              <a:rPr lang="en-US">
                <a:solidFill>
                  <a:srgbClr val="000000"/>
                </a:solidFill>
              </a:rPr>
              <a:t>Meet product-specific ideal applications (see product slides for details) </a:t>
            </a:r>
          </a:p>
          <a:p>
            <a:r>
              <a:rPr lang="en-US"/>
              <a:t>Has a long-term vision to deploy multiple instances, supported by a real use case for the pioneer term </a:t>
            </a:r>
          </a:p>
          <a:p>
            <a:r>
              <a:rPr lang="en-US"/>
              <a:t>Technically equipped customer that can fully test the product’s capabilities and help identify issues</a:t>
            </a:r>
          </a:p>
        </p:txBody>
      </p:sp>
      <p:sp>
        <p:nvSpPr>
          <p:cNvPr id="9" name="Content Placeholder 6">
            <a:extLst>
              <a:ext uri="{FF2B5EF4-FFF2-40B4-BE49-F238E27FC236}">
                <a16:creationId xmlns:a16="http://schemas.microsoft.com/office/drawing/2014/main" id="{FD5D22E9-4A8D-056D-44F0-CAD6909F8D5F}"/>
              </a:ext>
            </a:extLst>
          </p:cNvPr>
          <p:cNvSpPr txBox="1">
            <a:spLocks/>
          </p:cNvSpPr>
          <p:nvPr/>
        </p:nvSpPr>
        <p:spPr>
          <a:xfrm>
            <a:off x="2227097" y="5477501"/>
            <a:ext cx="11900066" cy="2080786"/>
          </a:xfrm>
          <a:prstGeom prst="rect">
            <a:avLst/>
          </a:prstGeom>
        </p:spPr>
        <p:txBody>
          <a:bodyPr vert="horz" lIns="91440" tIns="91440" rIns="91440" bIns="45720" rtlCol="0">
            <a:normAutofit fontScale="85000" lnSpcReduction="2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r>
              <a:rPr lang="en-US"/>
              <a:t>Recognizable and well-respected companies</a:t>
            </a:r>
          </a:p>
          <a:p>
            <a:r>
              <a:rPr lang="en-US"/>
              <a:t>History partnering with Emerson on new products (and no conflicting planned pilots during program duration) </a:t>
            </a:r>
          </a:p>
          <a:p>
            <a:r>
              <a:rPr lang="en-US"/>
              <a:t>Has an internal champion who can sponsor renewal and fleet-wide adoption if the program is successful</a:t>
            </a:r>
          </a:p>
          <a:p>
            <a:r>
              <a:rPr lang="en-US"/>
              <a:t>All industries are eligible, but ideally a diverse mix of industries can be represented within each program </a:t>
            </a:r>
          </a:p>
          <a:p>
            <a:r>
              <a:rPr lang="en-US"/>
              <a:t>Minimal disruption or deviation from the “expected timeline” (as defined), i.e. upgrade window to v16 (if applicable) is February through end of June</a:t>
            </a:r>
          </a:p>
        </p:txBody>
      </p:sp>
      <p:sp>
        <p:nvSpPr>
          <p:cNvPr id="12" name="TextBox 11">
            <a:extLst>
              <a:ext uri="{FF2B5EF4-FFF2-40B4-BE49-F238E27FC236}">
                <a16:creationId xmlns:a16="http://schemas.microsoft.com/office/drawing/2014/main" id="{A577407E-BA1C-2C10-F279-5A4523AFC7F4}"/>
              </a:ext>
            </a:extLst>
          </p:cNvPr>
          <p:cNvSpPr txBox="1"/>
          <p:nvPr/>
        </p:nvSpPr>
        <p:spPr>
          <a:xfrm>
            <a:off x="601580" y="2737454"/>
            <a:ext cx="2250596" cy="400110"/>
          </a:xfrm>
          <a:prstGeom prst="rect">
            <a:avLst/>
          </a:prstGeom>
          <a:noFill/>
        </p:spPr>
        <p:txBody>
          <a:bodyPr wrap="square" rtlCol="0">
            <a:spAutoFit/>
          </a:bodyPr>
          <a:lstStyle/>
          <a:p>
            <a:pPr>
              <a:defRPr/>
            </a:pPr>
            <a:r>
              <a:rPr kumimoji="0" lang="en-US" sz="2000" b="0" i="0" u="none" strike="noStrike" kern="1200" cap="none" spc="0" normalizeH="0" baseline="0" noProof="0">
                <a:ln>
                  <a:noFill/>
                </a:ln>
                <a:solidFill>
                  <a:srgbClr val="9FA1A4">
                    <a:lumMod val="50000"/>
                  </a:srgbClr>
                </a:solidFill>
                <a:effectLst/>
                <a:uLnTx/>
                <a:uFillTx/>
                <a:latin typeface="Arial Black"/>
                <a:ea typeface="+mn-ea"/>
                <a:cs typeface="+mn-cs"/>
              </a:rPr>
              <a:t>Required</a:t>
            </a:r>
          </a:p>
        </p:txBody>
      </p:sp>
      <p:sp>
        <p:nvSpPr>
          <p:cNvPr id="13" name="TextBox 12">
            <a:extLst>
              <a:ext uri="{FF2B5EF4-FFF2-40B4-BE49-F238E27FC236}">
                <a16:creationId xmlns:a16="http://schemas.microsoft.com/office/drawing/2014/main" id="{22EF0C51-E415-F891-CC28-C95DEB4AF3D2}"/>
              </a:ext>
            </a:extLst>
          </p:cNvPr>
          <p:cNvSpPr txBox="1"/>
          <p:nvPr/>
        </p:nvSpPr>
        <p:spPr>
          <a:xfrm>
            <a:off x="601580" y="5477502"/>
            <a:ext cx="2250596" cy="400110"/>
          </a:xfrm>
          <a:prstGeom prst="rect">
            <a:avLst/>
          </a:prstGeom>
          <a:noFill/>
        </p:spPr>
        <p:txBody>
          <a:bodyPr wrap="square" rtlCol="0">
            <a:spAutoFit/>
          </a:bodyPr>
          <a:lstStyle/>
          <a:p>
            <a:pPr>
              <a:defRPr/>
            </a:pPr>
            <a:r>
              <a:rPr kumimoji="0" lang="en-US" sz="2000" b="0" i="0" u="none" strike="noStrike" kern="1200" cap="none" spc="0" normalizeH="0" baseline="0" noProof="0">
                <a:ln>
                  <a:noFill/>
                </a:ln>
                <a:solidFill>
                  <a:srgbClr val="9FA1A4">
                    <a:lumMod val="50000"/>
                  </a:srgbClr>
                </a:solidFill>
                <a:effectLst/>
                <a:uLnTx/>
                <a:uFillTx/>
                <a:latin typeface="Arial Black"/>
                <a:ea typeface="+mn-ea"/>
                <a:cs typeface="+mn-cs"/>
              </a:rPr>
              <a:t>Preferred</a:t>
            </a:r>
          </a:p>
        </p:txBody>
      </p:sp>
      <p:sp>
        <p:nvSpPr>
          <p:cNvPr id="10" name="Arrow: Left 9">
            <a:hlinkClick r:id="rId3" action="ppaction://hlinksldjump"/>
            <a:extLst>
              <a:ext uri="{FF2B5EF4-FFF2-40B4-BE49-F238E27FC236}">
                <a16:creationId xmlns:a16="http://schemas.microsoft.com/office/drawing/2014/main" id="{518CCD1F-E911-ABC1-5FB3-AAE8DB332DE9}"/>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5" name="Picture 4">
            <a:extLst>
              <a:ext uri="{FF2B5EF4-FFF2-40B4-BE49-F238E27FC236}">
                <a16:creationId xmlns:a16="http://schemas.microsoft.com/office/drawing/2014/main" id="{ECD1E123-62BA-25DD-F668-D0874532ECFD}"/>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1353009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B16224-9D51-7440-653F-B6D8AA6353FA}"/>
              </a:ext>
            </a:extLst>
          </p:cNvPr>
          <p:cNvSpPr>
            <a:spLocks noGrp="1"/>
          </p:cNvSpPr>
          <p:nvPr>
            <p:ph type="title"/>
          </p:nvPr>
        </p:nvSpPr>
        <p:spPr/>
        <p:txBody>
          <a:bodyPr>
            <a:normAutofit/>
          </a:bodyPr>
          <a:lstStyle/>
          <a:p>
            <a:r>
              <a:rPr lang="en-US" sz="3600"/>
              <a:t>What Does Each Product-Specific Program Entail? </a:t>
            </a:r>
          </a:p>
        </p:txBody>
      </p:sp>
      <p:sp>
        <p:nvSpPr>
          <p:cNvPr id="3" name="TextBox 2">
            <a:extLst>
              <a:ext uri="{FF2B5EF4-FFF2-40B4-BE49-F238E27FC236}">
                <a16:creationId xmlns:a16="http://schemas.microsoft.com/office/drawing/2014/main" id="{E396B3AD-2723-E8C7-2B3D-3583FDABCED7}"/>
              </a:ext>
            </a:extLst>
          </p:cNvPr>
          <p:cNvSpPr txBox="1"/>
          <p:nvPr/>
        </p:nvSpPr>
        <p:spPr>
          <a:xfrm>
            <a:off x="8547100" y="3859736"/>
            <a:ext cx="4904205" cy="954107"/>
          </a:xfrm>
          <a:prstGeom prst="rect">
            <a:avLst/>
          </a:prstGeom>
          <a:noFill/>
        </p:spPr>
        <p:txBody>
          <a:bodyPr wrap="square">
            <a:spAutoFit/>
          </a:bodyPr>
          <a:lstStyle/>
          <a:p>
            <a:r>
              <a:rPr lang="en-US" sz="2800">
                <a:solidFill>
                  <a:schemeClr val="bg1"/>
                </a:solidFill>
                <a:latin typeface="Arial Narrow" panose="020B0606020202030204" pitchFamily="34" charset="0"/>
              </a:rPr>
              <a:t>Incentives, Prerequisites, Ideal Applications, Functionality</a:t>
            </a:r>
          </a:p>
        </p:txBody>
      </p:sp>
      <p:sp>
        <p:nvSpPr>
          <p:cNvPr id="4" name="TextBox 3">
            <a:extLst>
              <a:ext uri="{FF2B5EF4-FFF2-40B4-BE49-F238E27FC236}">
                <a16:creationId xmlns:a16="http://schemas.microsoft.com/office/drawing/2014/main" id="{B82567EA-68F8-F14F-A36B-49181BEBBFFB}"/>
              </a:ext>
            </a:extLst>
          </p:cNvPr>
          <p:cNvSpPr txBox="1"/>
          <p:nvPr/>
        </p:nvSpPr>
        <p:spPr>
          <a:xfrm>
            <a:off x="0" y="1973179"/>
            <a:ext cx="8124324" cy="1756610"/>
          </a:xfrm>
          <a:prstGeom prst="rect">
            <a:avLst/>
          </a:prstGeom>
          <a:solidFill>
            <a:schemeClr val="bg1">
              <a:alpha val="90000"/>
            </a:schemeClr>
          </a:solidFill>
        </p:spPr>
        <p:txBody>
          <a:bodyPr wrap="square" rIns="274320" anchor="ctr">
            <a:noAutofit/>
          </a:bodyPr>
          <a:lstStyle/>
          <a:p>
            <a:pPr lvl="0" algn="r">
              <a:defRPr/>
            </a:pPr>
            <a:r>
              <a:rPr lang="en-US" sz="3200">
                <a:solidFill>
                  <a:srgbClr val="1891B5"/>
                </a:solidFill>
                <a:latin typeface="+mj-lt"/>
                <a:ea typeface="Noto Sans Light"/>
                <a:cs typeface="Arial" panose="020B0604020202020204" pitchFamily="34" charset="0"/>
              </a:rPr>
              <a:t>Chapter 4</a:t>
            </a:r>
          </a:p>
        </p:txBody>
      </p:sp>
      <p:sp>
        <p:nvSpPr>
          <p:cNvPr id="5" name="Arrow: Left 4">
            <a:hlinkClick r:id="rId2" action="ppaction://hlinksldjump"/>
            <a:extLst>
              <a:ext uri="{FF2B5EF4-FFF2-40B4-BE49-F238E27FC236}">
                <a16:creationId xmlns:a16="http://schemas.microsoft.com/office/drawing/2014/main" id="{F59B25A0-02D5-76DD-DA2E-4A4797075C09}"/>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Tree>
    <p:extLst>
      <p:ext uri="{BB962C8B-B14F-4D97-AF65-F5344CB8AC3E}">
        <p14:creationId xmlns:p14="http://schemas.microsoft.com/office/powerpoint/2010/main" val="2942791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A775C-0D7B-EA90-0C06-1582344EFD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25B368-558A-A898-C4E4-4758090AEEA2}"/>
              </a:ext>
            </a:extLst>
          </p:cNvPr>
          <p:cNvSpPr>
            <a:spLocks noGrp="1"/>
          </p:cNvSpPr>
          <p:nvPr>
            <p:ph type="title"/>
          </p:nvPr>
        </p:nvSpPr>
        <p:spPr/>
        <p:txBody>
          <a:bodyPr/>
          <a:lstStyle/>
          <a:p>
            <a:r>
              <a:rPr lang="en-US"/>
              <a:t>IQ Controller Pioneer Program Details </a:t>
            </a:r>
          </a:p>
        </p:txBody>
      </p:sp>
      <p:graphicFrame>
        <p:nvGraphicFramePr>
          <p:cNvPr id="7" name="Table 6">
            <a:extLst>
              <a:ext uri="{FF2B5EF4-FFF2-40B4-BE49-F238E27FC236}">
                <a16:creationId xmlns:a16="http://schemas.microsoft.com/office/drawing/2014/main" id="{2ECDE918-DCC4-41EF-066F-4B4574D855C0}"/>
              </a:ext>
            </a:extLst>
          </p:cNvPr>
          <p:cNvGraphicFramePr>
            <a:graphicFrameLocks noGrp="1"/>
          </p:cNvGraphicFramePr>
          <p:nvPr>
            <p:extLst>
              <p:ext uri="{D42A27DB-BD31-4B8C-83A1-F6EECF244321}">
                <p14:modId xmlns:p14="http://schemas.microsoft.com/office/powerpoint/2010/main" val="3975886361"/>
              </p:ext>
            </p:extLst>
          </p:nvPr>
        </p:nvGraphicFramePr>
        <p:xfrm>
          <a:off x="605816" y="2105330"/>
          <a:ext cx="13521345" cy="5200515"/>
        </p:xfrm>
        <a:graphic>
          <a:graphicData uri="http://schemas.openxmlformats.org/drawingml/2006/table">
            <a:tbl>
              <a:tblPr firstRow="1" bandRow="1">
                <a:tableStyleId>{5C22544A-7EE6-4342-B048-85BDC9FD1C3A}</a:tableStyleId>
              </a:tblPr>
              <a:tblGrid>
                <a:gridCol w="4507115">
                  <a:extLst>
                    <a:ext uri="{9D8B030D-6E8A-4147-A177-3AD203B41FA5}">
                      <a16:colId xmlns:a16="http://schemas.microsoft.com/office/drawing/2014/main" val="1720832373"/>
                    </a:ext>
                  </a:extLst>
                </a:gridCol>
                <a:gridCol w="4507115">
                  <a:extLst>
                    <a:ext uri="{9D8B030D-6E8A-4147-A177-3AD203B41FA5}">
                      <a16:colId xmlns:a16="http://schemas.microsoft.com/office/drawing/2014/main" val="1287379868"/>
                    </a:ext>
                  </a:extLst>
                </a:gridCol>
                <a:gridCol w="4507115">
                  <a:extLst>
                    <a:ext uri="{9D8B030D-6E8A-4147-A177-3AD203B41FA5}">
                      <a16:colId xmlns:a16="http://schemas.microsoft.com/office/drawing/2014/main" val="643030286"/>
                    </a:ext>
                  </a:extLst>
                </a:gridCol>
              </a:tblGrid>
              <a:tr h="704715">
                <a:tc>
                  <a:txBody>
                    <a:bodyPr/>
                    <a:lstStyle/>
                    <a:p>
                      <a:pPr algn="ctr"/>
                      <a:r>
                        <a:rPr lang="en-US" sz="2000">
                          <a:solidFill>
                            <a:schemeClr val="tx1"/>
                          </a:solidFill>
                          <a:latin typeface="Arial Narrow" panose="020B0606020202030204" pitchFamily="34" charset="0"/>
                        </a:rPr>
                        <a:t>Commercial Incentive Details</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sz="2000">
                          <a:solidFill>
                            <a:schemeClr val="tx1"/>
                          </a:solidFill>
                          <a:latin typeface="Arial Narrow" panose="020B0606020202030204" pitchFamily="34" charset="0"/>
                        </a:rPr>
                        <a:t>Prerequisites</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sz="2000">
                          <a:solidFill>
                            <a:schemeClr val="tx1"/>
                          </a:solidFill>
                          <a:latin typeface="Arial Narrow" panose="020B0606020202030204" pitchFamily="34" charset="0"/>
                        </a:rPr>
                        <a:t>Ideal Applications</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78441260"/>
                  </a:ext>
                </a:extLst>
              </a:tr>
              <a:tr h="3674083">
                <a:tc>
                  <a:txBody>
                    <a:bodyPr/>
                    <a:lstStyle/>
                    <a:p>
                      <a:pPr marL="285750" indent="-285750" algn="l">
                        <a:spcAft>
                          <a:spcPts val="1200"/>
                        </a:spcAft>
                        <a:buFont typeface="Arial" panose="020B0604020202020204" pitchFamily="34" charset="0"/>
                        <a:buChar char="•"/>
                      </a:pPr>
                      <a:r>
                        <a:rPr lang="en-US" sz="1600"/>
                        <a:t>1-year subscription of IQ Controller, Flex DSTs, and DVS licenses on 1 system at no charge</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IQ &amp; DVS deployment services for the pioneer system at no charge</a:t>
                      </a:r>
                    </a:p>
                    <a:p>
                      <a:pPr marL="285750" indent="-285750" algn="l">
                        <a:spcAft>
                          <a:spcPts val="1200"/>
                        </a:spcAft>
                        <a:buFont typeface="Arial" panose="020B0604020202020204" pitchFamily="34" charset="0"/>
                        <a:buChar char="•"/>
                      </a:pPr>
                      <a:r>
                        <a:rPr lang="en-US" sz="1600" u="none"/>
                        <a:t>Renewal Incentive: </a:t>
                      </a:r>
                      <a:r>
                        <a:rPr lang="en-US" sz="1600"/>
                        <a:t>50% off the first year of a multi-year subscription of IQ Controller, Flex DSTs, and DVS (if required) licenses for the pioneer system </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u="none"/>
                        <a:t>Expansion Incentive: </a:t>
                      </a:r>
                      <a:r>
                        <a:rPr lang="en-US" sz="1600"/>
                        <a:t>50% off the first year of a multi-year subscription of IQ Controller, Flex DSTs, and DVS (if required) licenses for additional systems purchased in renewal year (services not included) </a:t>
                      </a:r>
                    </a:p>
                    <a:p>
                      <a:pPr marL="285750" indent="-285750" algn="l">
                        <a:spcAft>
                          <a:spcPts val="1200"/>
                        </a:spcAft>
                        <a:buFont typeface="Arial" panose="020B0604020202020204" pitchFamily="34" charset="0"/>
                        <a:buChar char="•"/>
                      </a:pPr>
                      <a:r>
                        <a:rPr lang="en-US" sz="1600"/>
                        <a:t>All other program incentives apply</a:t>
                      </a:r>
                    </a:p>
                  </a:txBody>
                  <a:tcPr marT="182880">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a:t>Virtualized environment is not required </a:t>
                      </a:r>
                    </a:p>
                    <a:p>
                      <a:pPr marL="285750" indent="-285750" algn="l">
                        <a:spcAft>
                          <a:spcPts val="1200"/>
                        </a:spcAft>
                        <a:buFont typeface="Arial" panose="020B0604020202020204" pitchFamily="34" charset="0"/>
                        <a:buChar char="•"/>
                      </a:pPr>
                      <a:r>
                        <a:rPr lang="en-US" sz="1600"/>
                        <a:t>Purchase IQ server hardware (~$25K for pair) </a:t>
                      </a:r>
                    </a:p>
                    <a:p>
                      <a:pPr marL="285750" indent="-285750" algn="l">
                        <a:spcAft>
                          <a:spcPts val="1200"/>
                        </a:spcAft>
                        <a:buFont typeface="Arial" panose="020B0604020202020204" pitchFamily="34" charset="0"/>
                        <a:buChar char="•"/>
                      </a:pPr>
                      <a:r>
                        <a:rPr lang="en-US" sz="1600"/>
                        <a:t>Provide remainder of DeltaV system (at v15.FP3 or v16.LTS), including </a:t>
                      </a:r>
                      <a:r>
                        <a:rPr lang="en-US" sz="1600" err="1"/>
                        <a:t>ProPlus</a:t>
                      </a:r>
                      <a:r>
                        <a:rPr lang="en-US" sz="1600"/>
                        <a:t>, CHARMs I/O Cards, CHARMs, and any other controllers and workstations </a:t>
                      </a:r>
                    </a:p>
                  </a:txBody>
                  <a:tcPr marT="182880">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bg1"/>
                    </a:solidFill>
                  </a:tcPr>
                </a:tc>
                <a:tc>
                  <a:txBody>
                    <a:bodyPr/>
                    <a:lstStyle/>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Non-critical (outside of SIS envelope) production unit</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Utilities</a:t>
                      </a:r>
                    </a:p>
                    <a:p>
                      <a:pPr marL="285750" indent="-285750" algn="l">
                        <a:spcAft>
                          <a:spcPts val="1200"/>
                        </a:spcAft>
                        <a:buFont typeface="Arial" panose="020B0604020202020204" pitchFamily="34" charset="0"/>
                        <a:buChar char="•"/>
                      </a:pPr>
                      <a:r>
                        <a:rPr lang="en-US" sz="1600"/>
                        <a:t>Offsites &amp; Blending </a:t>
                      </a:r>
                    </a:p>
                    <a:p>
                      <a:pPr marL="285750" indent="-285750" algn="l">
                        <a:spcAft>
                          <a:spcPts val="1200"/>
                        </a:spcAft>
                        <a:buFont typeface="Arial" panose="020B0604020202020204" pitchFamily="34" charset="0"/>
                        <a:buChar char="•"/>
                      </a:pPr>
                      <a:r>
                        <a:rPr lang="en-US" sz="1600"/>
                        <a:t>Batch</a:t>
                      </a:r>
                    </a:p>
                    <a:p>
                      <a:pPr marL="285750" indent="-285750" algn="l">
                        <a:spcAft>
                          <a:spcPts val="1200"/>
                        </a:spcAft>
                        <a:buFont typeface="Arial" panose="020B0604020202020204" pitchFamily="34" charset="0"/>
                        <a:buChar char="•"/>
                      </a:pPr>
                      <a:r>
                        <a:rPr lang="en-US" sz="1600"/>
                        <a:t>Test or validation systems</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Simulation / training environments</a:t>
                      </a:r>
                    </a:p>
                    <a:p>
                      <a:pPr marL="285750" indent="-285750" algn="l">
                        <a:spcAft>
                          <a:spcPts val="1200"/>
                        </a:spcAft>
                        <a:buFont typeface="Arial" panose="020B0604020202020204" pitchFamily="34" charset="0"/>
                        <a:buChar char="•"/>
                      </a:pPr>
                      <a:r>
                        <a:rPr lang="en-US" sz="1600"/>
                        <a:t>Small lab systems</a:t>
                      </a:r>
                    </a:p>
                  </a:txBody>
                  <a:tcPr marT="182880">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8343477"/>
                  </a:ext>
                </a:extLst>
              </a:tr>
            </a:tbl>
          </a:graphicData>
        </a:graphic>
      </p:graphicFrame>
      <p:sp>
        <p:nvSpPr>
          <p:cNvPr id="15" name="Rectangle: Rounded Corners 14">
            <a:extLst>
              <a:ext uri="{FF2B5EF4-FFF2-40B4-BE49-F238E27FC236}">
                <a16:creationId xmlns:a16="http://schemas.microsoft.com/office/drawing/2014/main" id="{A9112B80-78F8-9D92-50AC-EB903A8AE54F}"/>
              </a:ext>
            </a:extLst>
          </p:cNvPr>
          <p:cNvSpPr/>
          <p:nvPr/>
        </p:nvSpPr>
        <p:spPr bwMode="auto">
          <a:xfrm>
            <a:off x="605816" y="1636261"/>
            <a:ext cx="13521344" cy="309339"/>
          </a:xfrm>
          <a:prstGeom prst="roundRect">
            <a:avLst/>
          </a:prstGeom>
          <a:solidFill>
            <a:schemeClr val="accent4">
              <a:lumMod val="20000"/>
              <a:lumOff val="80000"/>
            </a:schemeClr>
          </a:solidFill>
          <a:ln w="9525">
            <a:solidFill>
              <a:schemeClr val="accent4">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IQ Controller   </a:t>
            </a:r>
            <a:r>
              <a:rPr lang="en-US" sz="1800">
                <a:latin typeface="Arial Narrow" panose="020B0606020202030204" pitchFamily="34" charset="0"/>
                <a:hlinkClick r:id="rId3">
                  <a:extLst>
                    <a:ext uri="{A12FA001-AC4F-418D-AE19-62706E023703}">
                      <ahyp:hlinkClr xmlns:ahyp="http://schemas.microsoft.com/office/drawing/2018/hyperlinkcolor" val="tx"/>
                    </a:ext>
                  </a:extLst>
                </a:hlinkClick>
              </a:rPr>
              <a:t>Link to PDS</a:t>
            </a:r>
            <a:r>
              <a:rPr lang="en-US" sz="1800" b="1">
                <a:latin typeface="Arial Narrow" panose="020B0606020202030204" pitchFamily="34" charset="0"/>
              </a:rPr>
              <a:t> | </a:t>
            </a:r>
            <a:r>
              <a:rPr lang="en-US" sz="1800">
                <a:latin typeface="Arial Narrow" panose="020B0606020202030204" pitchFamily="34" charset="0"/>
                <a:hlinkClick r:id="rId4">
                  <a:extLst>
                    <a:ext uri="{A12FA001-AC4F-418D-AE19-62706E023703}">
                      <ahyp:hlinkClr xmlns:ahyp="http://schemas.microsoft.com/office/drawing/2018/hyperlinkcolor" val="tx"/>
                    </a:ext>
                  </a:extLst>
                </a:hlinkClick>
              </a:rPr>
              <a:t>Link to Product Overview Deck</a:t>
            </a:r>
            <a:endParaRPr lang="en-US" sz="2000">
              <a:latin typeface="Arial Narrow" panose="020B0606020202030204" pitchFamily="34" charset="0"/>
            </a:endParaRPr>
          </a:p>
        </p:txBody>
      </p:sp>
      <p:sp>
        <p:nvSpPr>
          <p:cNvPr id="14" name="TextBox 13">
            <a:extLst>
              <a:ext uri="{FF2B5EF4-FFF2-40B4-BE49-F238E27FC236}">
                <a16:creationId xmlns:a16="http://schemas.microsoft.com/office/drawing/2014/main" id="{75AFCCC9-4A3B-1B5B-2C5C-9B1111C74B4E}"/>
              </a:ext>
            </a:extLst>
          </p:cNvPr>
          <p:cNvSpPr txBox="1"/>
          <p:nvPr/>
        </p:nvSpPr>
        <p:spPr>
          <a:xfrm>
            <a:off x="605816" y="1484464"/>
            <a:ext cx="1423686" cy="306467"/>
          </a:xfrm>
          <a:prstGeom prst="round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R="0" lvl="0" algn="ctr" defTabSz="1463040" rtl="0" eaLnBrk="1" fontAlgn="auto" latinLnBrk="0" hangingPunct="1">
              <a:lnSpc>
                <a:spcPct val="100000"/>
              </a:lnSpc>
              <a:spcBef>
                <a:spcPts val="600"/>
              </a:spcBef>
              <a:spcAft>
                <a:spcPts val="0"/>
              </a:spcAft>
              <a:buClrTx/>
              <a:buSzTx/>
              <a:tabLst/>
              <a:defRPr/>
            </a:pPr>
            <a:r>
              <a:rPr kumimoji="0" lang="en-US" sz="1200" b="1" i="0" u="none" strike="noStrike" kern="1200" cap="none" spc="0" normalizeH="0" baseline="0" noProof="0">
                <a:ln>
                  <a:noFill/>
                </a:ln>
                <a:solidFill>
                  <a:schemeClr val="bg1"/>
                </a:solidFill>
                <a:effectLst/>
                <a:uLnTx/>
                <a:uFillTx/>
                <a:latin typeface="Arial"/>
                <a:ea typeface="+mn-ea"/>
                <a:cs typeface="+mn-cs"/>
              </a:rPr>
              <a:t>Program Full </a:t>
            </a:r>
          </a:p>
        </p:txBody>
      </p:sp>
      <p:sp>
        <p:nvSpPr>
          <p:cNvPr id="6" name="Arrow: Left 5">
            <a:hlinkClick r:id="rId5" action="ppaction://hlinksldjump"/>
            <a:extLst>
              <a:ext uri="{FF2B5EF4-FFF2-40B4-BE49-F238E27FC236}">
                <a16:creationId xmlns:a16="http://schemas.microsoft.com/office/drawing/2014/main" id="{6351BD1A-7696-1FD1-EC24-64BEBA204322}"/>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5" name="Picture 4">
            <a:extLst>
              <a:ext uri="{FF2B5EF4-FFF2-40B4-BE49-F238E27FC236}">
                <a16:creationId xmlns:a16="http://schemas.microsoft.com/office/drawing/2014/main" id="{9DEA3E37-96F4-7B66-1FAA-6ACB10DA1560}"/>
              </a:ext>
            </a:extLst>
          </p:cNvPr>
          <p:cNvPicPr>
            <a:picLocks noChangeAspect="1"/>
          </p:cNvPicPr>
          <p:nvPr/>
        </p:nvPicPr>
        <p:blipFill>
          <a:blip r:embed="rId6"/>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2281382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A22BF11-E257-56BC-F77B-3C7F26FFE9B4}"/>
              </a:ext>
            </a:extLst>
          </p:cNvPr>
          <p:cNvSpPr>
            <a:spLocks noGrp="1"/>
          </p:cNvSpPr>
          <p:nvPr>
            <p:ph type="title"/>
          </p:nvPr>
        </p:nvSpPr>
        <p:spPr/>
        <p:txBody>
          <a:bodyPr/>
          <a:lstStyle/>
          <a:p>
            <a:r>
              <a:rPr lang="en-US"/>
              <a:t>North America IQ Controller Pioneers</a:t>
            </a:r>
            <a:br>
              <a:rPr lang="en-US"/>
            </a:br>
            <a:r>
              <a:rPr lang="en-US"/>
              <a:t>Example Stated Use Applications</a:t>
            </a:r>
          </a:p>
        </p:txBody>
      </p:sp>
      <p:sp>
        <p:nvSpPr>
          <p:cNvPr id="15" name="Text Placeholder 14">
            <a:extLst>
              <a:ext uri="{FF2B5EF4-FFF2-40B4-BE49-F238E27FC236}">
                <a16:creationId xmlns:a16="http://schemas.microsoft.com/office/drawing/2014/main" id="{E8B3FB89-DDD0-921B-049E-89D8AAAAA623}"/>
              </a:ext>
            </a:extLst>
          </p:cNvPr>
          <p:cNvSpPr>
            <a:spLocks noGrp="1"/>
          </p:cNvSpPr>
          <p:nvPr>
            <p:ph type="body" sz="quarter" idx="19"/>
          </p:nvPr>
        </p:nvSpPr>
        <p:spPr>
          <a:xfrm>
            <a:off x="3987273" y="5124382"/>
            <a:ext cx="3200400" cy="2467043"/>
          </a:xfrm>
          <a:ln w="19050">
            <a:solidFill>
              <a:schemeClr val="tx2"/>
            </a:solidFill>
          </a:ln>
        </p:spPr>
        <p:txBody>
          <a:bodyPr>
            <a:normAutofit fontScale="85000" lnSpcReduction="10000"/>
          </a:bodyPr>
          <a:lstStyle/>
          <a:p>
            <a:r>
              <a:rPr lang="en-US"/>
              <a:t>“</a:t>
            </a:r>
            <a:r>
              <a:rPr lang="en-US" err="1"/>
              <a:t>DeltaV</a:t>
            </a:r>
            <a:r>
              <a:rPr lang="en-US"/>
              <a:t> infrastructure along with CHARM I/O and a mix of virtual and physical controller … This will allow for side-by-side testing and comparison.”</a:t>
            </a:r>
          </a:p>
          <a:p>
            <a:r>
              <a:rPr lang="en-US"/>
              <a:t>Second phase of application will be smaller blending or lower risk batch application</a:t>
            </a:r>
          </a:p>
          <a:p>
            <a:endParaRPr lang="en-US"/>
          </a:p>
        </p:txBody>
      </p:sp>
      <p:sp>
        <p:nvSpPr>
          <p:cNvPr id="16" name="Text Placeholder 15">
            <a:extLst>
              <a:ext uri="{FF2B5EF4-FFF2-40B4-BE49-F238E27FC236}">
                <a16:creationId xmlns:a16="http://schemas.microsoft.com/office/drawing/2014/main" id="{5667FE9A-C253-9A06-7EC0-E9E8656FA1EC}"/>
              </a:ext>
            </a:extLst>
          </p:cNvPr>
          <p:cNvSpPr>
            <a:spLocks noGrp="1"/>
          </p:cNvSpPr>
          <p:nvPr>
            <p:ph type="body" sz="quarter" idx="20"/>
          </p:nvPr>
        </p:nvSpPr>
        <p:spPr>
          <a:xfrm>
            <a:off x="7461781" y="5124382"/>
            <a:ext cx="3200400" cy="2467043"/>
          </a:xfrm>
          <a:ln w="19050">
            <a:solidFill>
              <a:schemeClr val="tx2"/>
            </a:solidFill>
          </a:ln>
        </p:spPr>
        <p:txBody>
          <a:bodyPr>
            <a:normAutofit fontScale="92500" lnSpcReduction="10000"/>
          </a:bodyPr>
          <a:lstStyle/>
          <a:p>
            <a:r>
              <a:rPr lang="en-US"/>
              <a:t>50 – 100 DSTs with expansion to 400</a:t>
            </a:r>
          </a:p>
          <a:p>
            <a:r>
              <a:rPr lang="en-US"/>
              <a:t>“Willing to move to med risk Production units after a period of runtime and in collaboration with Emerson and on their recommendations. “</a:t>
            </a:r>
          </a:p>
        </p:txBody>
      </p:sp>
      <p:sp>
        <p:nvSpPr>
          <p:cNvPr id="20" name="TextBox 19">
            <a:extLst>
              <a:ext uri="{FF2B5EF4-FFF2-40B4-BE49-F238E27FC236}">
                <a16:creationId xmlns:a16="http://schemas.microsoft.com/office/drawing/2014/main" id="{59C2FB25-D44C-524D-3B53-75F37015F5EA}"/>
              </a:ext>
            </a:extLst>
          </p:cNvPr>
          <p:cNvSpPr txBox="1"/>
          <p:nvPr/>
        </p:nvSpPr>
        <p:spPr>
          <a:xfrm>
            <a:off x="3977746" y="4663087"/>
            <a:ext cx="3209925" cy="461665"/>
          </a:xfrm>
          <a:prstGeom prst="rect">
            <a:avLst/>
          </a:prstGeom>
          <a:solidFill>
            <a:schemeClr val="tx2"/>
          </a:solidFill>
          <a:ln>
            <a:solidFill>
              <a:schemeClr val="tx2"/>
            </a:solidFill>
          </a:ln>
        </p:spPr>
        <p:txBody>
          <a:bodyPr wrap="square" rtlCol="0">
            <a:spAutoFit/>
          </a:bodyPr>
          <a:lstStyle/>
          <a:p>
            <a:pPr algn="ctr"/>
            <a:r>
              <a:rPr lang="en-US" sz="2400">
                <a:solidFill>
                  <a:schemeClr val="bg1"/>
                </a:solidFill>
              </a:rPr>
              <a:t>Demo / Test Lab</a:t>
            </a:r>
          </a:p>
        </p:txBody>
      </p:sp>
      <p:sp>
        <p:nvSpPr>
          <p:cNvPr id="21" name="TextBox 20">
            <a:extLst>
              <a:ext uri="{FF2B5EF4-FFF2-40B4-BE49-F238E27FC236}">
                <a16:creationId xmlns:a16="http://schemas.microsoft.com/office/drawing/2014/main" id="{614987D8-413C-EA1A-494C-31E323CDA320}"/>
              </a:ext>
            </a:extLst>
          </p:cNvPr>
          <p:cNvSpPr txBox="1"/>
          <p:nvPr/>
        </p:nvSpPr>
        <p:spPr>
          <a:xfrm>
            <a:off x="7452255" y="4663087"/>
            <a:ext cx="3209925" cy="461665"/>
          </a:xfrm>
          <a:prstGeom prst="rect">
            <a:avLst/>
          </a:prstGeom>
          <a:solidFill>
            <a:schemeClr val="tx2"/>
          </a:solidFill>
          <a:ln>
            <a:solidFill>
              <a:schemeClr val="tx2"/>
            </a:solidFill>
          </a:ln>
        </p:spPr>
        <p:txBody>
          <a:bodyPr wrap="square" rtlCol="0">
            <a:spAutoFit/>
          </a:bodyPr>
          <a:lstStyle/>
          <a:p>
            <a:pPr algn="ctr"/>
            <a:r>
              <a:rPr lang="en-US" sz="2400">
                <a:solidFill>
                  <a:schemeClr val="bg1"/>
                </a:solidFill>
              </a:rPr>
              <a:t>Tank Farm</a:t>
            </a:r>
          </a:p>
        </p:txBody>
      </p:sp>
      <p:sp>
        <p:nvSpPr>
          <p:cNvPr id="32" name="Text Placeholder 14">
            <a:extLst>
              <a:ext uri="{FF2B5EF4-FFF2-40B4-BE49-F238E27FC236}">
                <a16:creationId xmlns:a16="http://schemas.microsoft.com/office/drawing/2014/main" id="{ABD5451A-90AD-5202-C788-3B42190062D1}"/>
              </a:ext>
            </a:extLst>
          </p:cNvPr>
          <p:cNvSpPr txBox="1">
            <a:spLocks/>
          </p:cNvSpPr>
          <p:nvPr/>
        </p:nvSpPr>
        <p:spPr>
          <a:xfrm>
            <a:off x="3977745" y="2001441"/>
            <a:ext cx="3200400" cy="2467043"/>
          </a:xfrm>
          <a:prstGeom prst="rect">
            <a:avLst/>
          </a:prstGeom>
          <a:ln w="19050">
            <a:solidFill>
              <a:schemeClr val="tx2"/>
            </a:solidFill>
          </a:ln>
        </p:spPr>
        <p:txBody>
          <a:bodyPr vert="horz" lIns="91440" tIns="91440" rIns="91440" bIns="45720" rtlCol="0">
            <a:normAutofit/>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mn-ea"/>
                <a:cs typeface="+mn-cs"/>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r>
              <a:rPr lang="en-US"/>
              <a:t>Simulation of 1000-2000 DST</a:t>
            </a:r>
          </a:p>
          <a:p>
            <a:r>
              <a:rPr lang="en-US"/>
              <a:t>Small lab system running an “SMR, </a:t>
            </a:r>
            <a:r>
              <a:rPr lang="en-US" err="1"/>
              <a:t>HyCO</a:t>
            </a:r>
            <a:r>
              <a:rPr lang="en-US"/>
              <a:t> or ASU plant process”</a:t>
            </a:r>
          </a:p>
        </p:txBody>
      </p:sp>
      <p:sp>
        <p:nvSpPr>
          <p:cNvPr id="33" name="Text Placeholder 15">
            <a:extLst>
              <a:ext uri="{FF2B5EF4-FFF2-40B4-BE49-F238E27FC236}">
                <a16:creationId xmlns:a16="http://schemas.microsoft.com/office/drawing/2014/main" id="{5C342B60-8564-D7FA-1106-D230D6856249}"/>
              </a:ext>
            </a:extLst>
          </p:cNvPr>
          <p:cNvSpPr txBox="1">
            <a:spLocks/>
          </p:cNvSpPr>
          <p:nvPr/>
        </p:nvSpPr>
        <p:spPr>
          <a:xfrm>
            <a:off x="7452253" y="2001441"/>
            <a:ext cx="3200400" cy="2467043"/>
          </a:xfrm>
          <a:prstGeom prst="rect">
            <a:avLst/>
          </a:prstGeom>
          <a:ln w="19050">
            <a:solidFill>
              <a:schemeClr val="tx2"/>
            </a:solidFill>
          </a:ln>
        </p:spPr>
        <p:txBody>
          <a:bodyPr vert="horz" lIns="91440" tIns="91440" rIns="91440" bIns="45720" rtlCol="0">
            <a:normAutofit fontScale="92500" lnSpcReduction="2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mn-ea"/>
                <a:cs typeface="+mn-cs"/>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r>
              <a:rPr lang="en-US"/>
              <a:t>Monitoring health of equipment in utility substations – up to 1000 DST</a:t>
            </a:r>
          </a:p>
          <a:p>
            <a:r>
              <a:rPr lang="en-US"/>
              <a:t>“Today all substations talk Modbus to a PK controller… would like to test that in the IQ Controller”</a:t>
            </a:r>
          </a:p>
        </p:txBody>
      </p:sp>
      <p:sp>
        <p:nvSpPr>
          <p:cNvPr id="34" name="Text Placeholder 16">
            <a:extLst>
              <a:ext uri="{FF2B5EF4-FFF2-40B4-BE49-F238E27FC236}">
                <a16:creationId xmlns:a16="http://schemas.microsoft.com/office/drawing/2014/main" id="{B5D90663-AECD-1AF2-345B-04220E0DB98B}"/>
              </a:ext>
            </a:extLst>
          </p:cNvPr>
          <p:cNvSpPr txBox="1">
            <a:spLocks/>
          </p:cNvSpPr>
          <p:nvPr/>
        </p:nvSpPr>
        <p:spPr>
          <a:xfrm>
            <a:off x="10926761" y="2001441"/>
            <a:ext cx="3200400" cy="2467043"/>
          </a:xfrm>
          <a:prstGeom prst="rect">
            <a:avLst/>
          </a:prstGeom>
          <a:ln w="19050">
            <a:solidFill>
              <a:schemeClr val="tx2"/>
            </a:solidFill>
          </a:ln>
        </p:spPr>
        <p:txBody>
          <a:bodyPr vert="horz" lIns="91440" tIns="91440" rIns="91440" bIns="45720" rtlCol="0">
            <a:normAutofit fontScale="925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mn-ea"/>
                <a:cs typeface="+mn-cs"/>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r>
              <a:rPr lang="en-US"/>
              <a:t>Small water batch skid with real IO; ~25 DST</a:t>
            </a:r>
          </a:p>
          <a:p>
            <a:r>
              <a:rPr lang="en-US"/>
              <a:t>Priority 1 of State Based Control, followed by Priority 2 of Continuous Control, and finally Priority 3 of Batch Control</a:t>
            </a:r>
          </a:p>
        </p:txBody>
      </p:sp>
      <p:sp>
        <p:nvSpPr>
          <p:cNvPr id="35" name="Text Placeholder 17">
            <a:extLst>
              <a:ext uri="{FF2B5EF4-FFF2-40B4-BE49-F238E27FC236}">
                <a16:creationId xmlns:a16="http://schemas.microsoft.com/office/drawing/2014/main" id="{B6397EEC-9D0B-1272-5527-25C28E4BC44A}"/>
              </a:ext>
            </a:extLst>
          </p:cNvPr>
          <p:cNvSpPr txBox="1">
            <a:spLocks/>
          </p:cNvSpPr>
          <p:nvPr/>
        </p:nvSpPr>
        <p:spPr>
          <a:xfrm>
            <a:off x="10926762" y="5124012"/>
            <a:ext cx="3200400" cy="2467043"/>
          </a:xfrm>
          <a:prstGeom prst="rect">
            <a:avLst/>
          </a:prstGeom>
          <a:ln w="19050">
            <a:solidFill>
              <a:schemeClr val="tx2"/>
            </a:solidFill>
          </a:ln>
        </p:spPr>
        <p:txBody>
          <a:bodyPr vert="horz" lIns="91440" tIns="91440" rIns="91440" bIns="45720" rtlCol="0">
            <a:normAutofit fontScale="92500" lnSpcReduction="1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mn-ea"/>
                <a:cs typeface="+mn-cs"/>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r>
              <a:rPr lang="en-US"/>
              <a:t>Monitoring installation on two upgraded Process Heat Exchangers</a:t>
            </a:r>
          </a:p>
          <a:p>
            <a:r>
              <a:rPr lang="en-US"/>
              <a:t>“A new CIOC is being added to monitor 12 manual valves, 8 TT, 8 PT, on the 8 ports of 2 heat exchangers”</a:t>
            </a:r>
          </a:p>
        </p:txBody>
      </p:sp>
      <p:sp>
        <p:nvSpPr>
          <p:cNvPr id="36" name="TextBox 35">
            <a:extLst>
              <a:ext uri="{FF2B5EF4-FFF2-40B4-BE49-F238E27FC236}">
                <a16:creationId xmlns:a16="http://schemas.microsoft.com/office/drawing/2014/main" id="{9936ED45-B73C-1DDC-7395-17D8B5747175}"/>
              </a:ext>
            </a:extLst>
          </p:cNvPr>
          <p:cNvSpPr txBox="1"/>
          <p:nvPr/>
        </p:nvSpPr>
        <p:spPr>
          <a:xfrm>
            <a:off x="3968218" y="1540146"/>
            <a:ext cx="3209925" cy="461665"/>
          </a:xfrm>
          <a:prstGeom prst="rect">
            <a:avLst/>
          </a:prstGeom>
          <a:solidFill>
            <a:schemeClr val="tx2"/>
          </a:solidFill>
          <a:ln>
            <a:solidFill>
              <a:schemeClr val="tx2"/>
            </a:solidFill>
          </a:ln>
        </p:spPr>
        <p:txBody>
          <a:bodyPr wrap="square" rtlCol="0">
            <a:spAutoFit/>
          </a:bodyPr>
          <a:lstStyle/>
          <a:p>
            <a:pPr algn="ctr"/>
            <a:r>
              <a:rPr lang="en-US" sz="2400">
                <a:solidFill>
                  <a:schemeClr val="bg1"/>
                </a:solidFill>
              </a:rPr>
              <a:t>Test / Validation</a:t>
            </a:r>
          </a:p>
        </p:txBody>
      </p:sp>
      <p:sp>
        <p:nvSpPr>
          <p:cNvPr id="37" name="TextBox 36">
            <a:extLst>
              <a:ext uri="{FF2B5EF4-FFF2-40B4-BE49-F238E27FC236}">
                <a16:creationId xmlns:a16="http://schemas.microsoft.com/office/drawing/2014/main" id="{17EC3982-7E46-5A37-8D32-6717705F8151}"/>
              </a:ext>
            </a:extLst>
          </p:cNvPr>
          <p:cNvSpPr txBox="1"/>
          <p:nvPr/>
        </p:nvSpPr>
        <p:spPr>
          <a:xfrm>
            <a:off x="7442727" y="1540146"/>
            <a:ext cx="3209925" cy="461665"/>
          </a:xfrm>
          <a:prstGeom prst="rect">
            <a:avLst/>
          </a:prstGeom>
          <a:solidFill>
            <a:schemeClr val="tx2"/>
          </a:solidFill>
          <a:ln>
            <a:solidFill>
              <a:schemeClr val="tx2"/>
            </a:solidFill>
          </a:ln>
        </p:spPr>
        <p:txBody>
          <a:bodyPr wrap="square" rtlCol="0">
            <a:spAutoFit/>
          </a:bodyPr>
          <a:lstStyle/>
          <a:p>
            <a:pPr algn="ctr"/>
            <a:r>
              <a:rPr lang="en-US" sz="2400">
                <a:solidFill>
                  <a:schemeClr val="bg1"/>
                </a:solidFill>
              </a:rPr>
              <a:t>Utility Substations</a:t>
            </a:r>
          </a:p>
        </p:txBody>
      </p:sp>
      <p:sp>
        <p:nvSpPr>
          <p:cNvPr id="38" name="TextBox 37">
            <a:extLst>
              <a:ext uri="{FF2B5EF4-FFF2-40B4-BE49-F238E27FC236}">
                <a16:creationId xmlns:a16="http://schemas.microsoft.com/office/drawing/2014/main" id="{2F5EC100-CDD5-3341-EAA7-ADC273B52DF9}"/>
              </a:ext>
            </a:extLst>
          </p:cNvPr>
          <p:cNvSpPr txBox="1"/>
          <p:nvPr/>
        </p:nvSpPr>
        <p:spPr>
          <a:xfrm>
            <a:off x="10917235" y="1540146"/>
            <a:ext cx="3209925" cy="461665"/>
          </a:xfrm>
          <a:prstGeom prst="rect">
            <a:avLst/>
          </a:prstGeom>
          <a:solidFill>
            <a:schemeClr val="tx2"/>
          </a:solidFill>
          <a:ln>
            <a:solidFill>
              <a:schemeClr val="tx2"/>
            </a:solidFill>
          </a:ln>
        </p:spPr>
        <p:txBody>
          <a:bodyPr wrap="square" rtlCol="0">
            <a:spAutoFit/>
          </a:bodyPr>
          <a:lstStyle/>
          <a:p>
            <a:pPr algn="ctr"/>
            <a:r>
              <a:rPr lang="en-US" sz="2400">
                <a:solidFill>
                  <a:schemeClr val="bg1"/>
                </a:solidFill>
              </a:rPr>
              <a:t>Water Batch Skid </a:t>
            </a:r>
          </a:p>
        </p:txBody>
      </p:sp>
      <p:sp>
        <p:nvSpPr>
          <p:cNvPr id="39" name="TextBox 38">
            <a:extLst>
              <a:ext uri="{FF2B5EF4-FFF2-40B4-BE49-F238E27FC236}">
                <a16:creationId xmlns:a16="http://schemas.microsoft.com/office/drawing/2014/main" id="{C3EC3AD0-99AB-0B59-478C-46C1B847AA60}"/>
              </a:ext>
            </a:extLst>
          </p:cNvPr>
          <p:cNvSpPr txBox="1"/>
          <p:nvPr/>
        </p:nvSpPr>
        <p:spPr>
          <a:xfrm>
            <a:off x="10936286" y="4662717"/>
            <a:ext cx="3190875" cy="461665"/>
          </a:xfrm>
          <a:prstGeom prst="rect">
            <a:avLst/>
          </a:prstGeom>
          <a:solidFill>
            <a:schemeClr val="tx2"/>
          </a:solidFill>
          <a:ln w="38100">
            <a:solidFill>
              <a:schemeClr val="tx2"/>
            </a:solidFill>
          </a:ln>
        </p:spPr>
        <p:txBody>
          <a:bodyPr wrap="square" rtlCol="0">
            <a:spAutoFit/>
          </a:bodyPr>
          <a:lstStyle/>
          <a:p>
            <a:pPr algn="ctr"/>
            <a:r>
              <a:rPr lang="en-US" sz="2400">
                <a:solidFill>
                  <a:schemeClr val="bg1"/>
                </a:solidFill>
              </a:rPr>
              <a:t>Heat Exchangers</a:t>
            </a:r>
          </a:p>
        </p:txBody>
      </p:sp>
      <p:sp>
        <p:nvSpPr>
          <p:cNvPr id="7" name="Rectangle 6">
            <a:extLst>
              <a:ext uri="{FF2B5EF4-FFF2-40B4-BE49-F238E27FC236}">
                <a16:creationId xmlns:a16="http://schemas.microsoft.com/office/drawing/2014/main" id="{DA1B21F0-2C26-F55A-1AEE-4DCFF89C3EE9}"/>
              </a:ext>
            </a:extLst>
          </p:cNvPr>
          <p:cNvSpPr/>
          <p:nvPr/>
        </p:nvSpPr>
        <p:spPr bwMode="auto">
          <a:xfrm>
            <a:off x="594474" y="1743594"/>
            <a:ext cx="2552700" cy="5457754"/>
          </a:xfrm>
          <a:prstGeom prst="rect">
            <a:avLst/>
          </a:prstGeom>
          <a:solidFill>
            <a:srgbClr val="004B8D"/>
          </a:solidFill>
          <a:ln w="9525">
            <a:noFill/>
            <a:round/>
            <a:headEnd/>
            <a:tailEnd/>
          </a:ln>
          <a:effectLst/>
        </p:spPr>
        <p:txBody>
          <a:bodyPr wrap="square" rtlCol="0" anchor="ctr"/>
          <a:lstStyle/>
          <a:p>
            <a:pPr algn="ctr" eaLnBrk="0" fontAlgn="base" hangingPunct="0">
              <a:spcBef>
                <a:spcPct val="0"/>
              </a:spcBef>
              <a:spcAft>
                <a:spcPct val="0"/>
              </a:spcAft>
            </a:pPr>
            <a:r>
              <a:rPr lang="en-US" sz="2400">
                <a:solidFill>
                  <a:srgbClr val="FFFFFF"/>
                </a:solidFill>
              </a:rPr>
              <a:t>North America Pioneers have identified a </a:t>
            </a:r>
            <a:r>
              <a:rPr lang="en-US" sz="2400" b="1">
                <a:solidFill>
                  <a:srgbClr val="FFFFFF"/>
                </a:solidFill>
              </a:rPr>
              <a:t>wide range of different applications </a:t>
            </a:r>
            <a:r>
              <a:rPr lang="en-US" sz="2400">
                <a:solidFill>
                  <a:srgbClr val="FFFFFF"/>
                </a:solidFill>
              </a:rPr>
              <a:t>as their </a:t>
            </a:r>
            <a:r>
              <a:rPr lang="en-US" sz="2400" b="1">
                <a:solidFill>
                  <a:srgbClr val="FFFFFF"/>
                </a:solidFill>
              </a:rPr>
              <a:t>initial deployment </a:t>
            </a:r>
            <a:r>
              <a:rPr lang="en-US" sz="2400">
                <a:solidFill>
                  <a:srgbClr val="FFFFFF"/>
                </a:solidFill>
              </a:rPr>
              <a:t>for the </a:t>
            </a:r>
            <a:r>
              <a:rPr lang="en-US" sz="2400" b="1">
                <a:solidFill>
                  <a:srgbClr val="FFFFFF"/>
                </a:solidFill>
              </a:rPr>
              <a:t>IQ Controller</a:t>
            </a:r>
          </a:p>
          <a:p>
            <a:pPr algn="ctr" eaLnBrk="0" fontAlgn="base" hangingPunct="0">
              <a:spcBef>
                <a:spcPct val="0"/>
              </a:spcBef>
              <a:spcAft>
                <a:spcPct val="0"/>
              </a:spcAft>
            </a:pPr>
            <a:r>
              <a:rPr lang="en-US" sz="2400">
                <a:solidFill>
                  <a:srgbClr val="FFFFFF"/>
                </a:solidFill>
              </a:rPr>
              <a:t>often with clear next steps / phases</a:t>
            </a:r>
          </a:p>
        </p:txBody>
      </p:sp>
      <p:sp>
        <p:nvSpPr>
          <p:cNvPr id="8" name="Isosceles Triangle 7">
            <a:extLst>
              <a:ext uri="{FF2B5EF4-FFF2-40B4-BE49-F238E27FC236}">
                <a16:creationId xmlns:a16="http://schemas.microsoft.com/office/drawing/2014/main" id="{8CC5AE95-377C-F182-24BA-C212FAF9A27B}"/>
              </a:ext>
            </a:extLst>
          </p:cNvPr>
          <p:cNvSpPr/>
          <p:nvPr/>
        </p:nvSpPr>
        <p:spPr bwMode="auto">
          <a:xfrm rot="5400000">
            <a:off x="3046221" y="4267200"/>
            <a:ext cx="597427" cy="395517"/>
          </a:xfrm>
          <a:prstGeom prst="triangle">
            <a:avLst/>
          </a:prstGeom>
          <a:solidFill>
            <a:srgbClr val="004B8D"/>
          </a:solidFill>
          <a:ln w="9525">
            <a:noFill/>
            <a:round/>
            <a:headEnd/>
            <a:tailEnd/>
          </a:ln>
          <a:effectLst/>
        </p:spPr>
        <p:txBody>
          <a:bodyPr wrap="square" rtlCol="0" anchor="ctr"/>
          <a:lstStyle/>
          <a:p>
            <a:pPr algn="ctr" eaLnBrk="0" fontAlgn="base" hangingPunct="0">
              <a:spcBef>
                <a:spcPct val="0"/>
              </a:spcBef>
              <a:spcAft>
                <a:spcPct val="0"/>
              </a:spcAft>
            </a:pPr>
            <a:endParaRPr lang="en-US" sz="1800" b="1" err="1">
              <a:solidFill>
                <a:srgbClr val="FFFFFF"/>
              </a:solidFill>
            </a:endParaRPr>
          </a:p>
        </p:txBody>
      </p:sp>
      <p:pic>
        <p:nvPicPr>
          <p:cNvPr id="3" name="Picture 2">
            <a:extLst>
              <a:ext uri="{FF2B5EF4-FFF2-40B4-BE49-F238E27FC236}">
                <a16:creationId xmlns:a16="http://schemas.microsoft.com/office/drawing/2014/main" id="{1BC3747A-8469-26E6-CFD4-71C2A42CD7EA}"/>
              </a:ext>
            </a:extLst>
          </p:cNvPr>
          <p:cNvPicPr>
            <a:picLocks noChangeAspect="1"/>
          </p:cNvPicPr>
          <p:nvPr/>
        </p:nvPicPr>
        <p:blipFill>
          <a:blip r:embed="rId2"/>
          <a:srcRect l="3568" r="4511"/>
          <a:stretch>
            <a:fillRect/>
          </a:stretch>
        </p:blipFill>
        <p:spPr>
          <a:xfrm>
            <a:off x="13086567" y="247186"/>
            <a:ext cx="1264644" cy="1016350"/>
          </a:xfrm>
          <a:prstGeom prst="rect">
            <a:avLst/>
          </a:prstGeom>
          <a:ln>
            <a:solidFill>
              <a:schemeClr val="tx1"/>
            </a:solidFill>
          </a:ln>
        </p:spPr>
      </p:pic>
      <p:sp>
        <p:nvSpPr>
          <p:cNvPr id="4" name="Arrow: Left 3">
            <a:hlinkClick r:id="rId3" action="ppaction://hlinksldjump"/>
            <a:extLst>
              <a:ext uri="{FF2B5EF4-FFF2-40B4-BE49-F238E27FC236}">
                <a16:creationId xmlns:a16="http://schemas.microsoft.com/office/drawing/2014/main" id="{BC01DAE8-6842-006E-D9B4-B4E949E5714A}"/>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Tree>
    <p:extLst>
      <p:ext uri="{BB962C8B-B14F-4D97-AF65-F5344CB8AC3E}">
        <p14:creationId xmlns:p14="http://schemas.microsoft.com/office/powerpoint/2010/main" val="1358903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2B50E-FDF9-EBFD-9DCD-9757377CC7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2B6003-F35F-6FC7-AB42-D74A70453136}"/>
              </a:ext>
            </a:extLst>
          </p:cNvPr>
          <p:cNvSpPr>
            <a:spLocks noGrp="1"/>
          </p:cNvSpPr>
          <p:nvPr>
            <p:ph type="title"/>
          </p:nvPr>
        </p:nvSpPr>
        <p:spPr/>
        <p:txBody>
          <a:bodyPr/>
          <a:lstStyle/>
          <a:p>
            <a:r>
              <a:rPr lang="en-US"/>
              <a:t>Live Enterprise View Pioneer Program Details </a:t>
            </a:r>
          </a:p>
        </p:txBody>
      </p:sp>
      <p:graphicFrame>
        <p:nvGraphicFramePr>
          <p:cNvPr id="7" name="Table 6">
            <a:extLst>
              <a:ext uri="{FF2B5EF4-FFF2-40B4-BE49-F238E27FC236}">
                <a16:creationId xmlns:a16="http://schemas.microsoft.com/office/drawing/2014/main" id="{FA1DA6EB-F36B-B6F6-698C-90319EB2CF8F}"/>
              </a:ext>
            </a:extLst>
          </p:cNvPr>
          <p:cNvGraphicFramePr>
            <a:graphicFrameLocks noGrp="1"/>
          </p:cNvGraphicFramePr>
          <p:nvPr>
            <p:extLst>
              <p:ext uri="{D42A27DB-BD31-4B8C-83A1-F6EECF244321}">
                <p14:modId xmlns:p14="http://schemas.microsoft.com/office/powerpoint/2010/main" val="230369599"/>
              </p:ext>
            </p:extLst>
          </p:nvPr>
        </p:nvGraphicFramePr>
        <p:xfrm>
          <a:off x="605816" y="2105330"/>
          <a:ext cx="13521344" cy="5352915"/>
        </p:xfrm>
        <a:graphic>
          <a:graphicData uri="http://schemas.openxmlformats.org/drawingml/2006/table">
            <a:tbl>
              <a:tblPr firstRow="1" bandRow="1">
                <a:tableStyleId>{5C22544A-7EE6-4342-B048-85BDC9FD1C3A}</a:tableStyleId>
              </a:tblPr>
              <a:tblGrid>
                <a:gridCol w="4144314">
                  <a:extLst>
                    <a:ext uri="{9D8B030D-6E8A-4147-A177-3AD203B41FA5}">
                      <a16:colId xmlns:a16="http://schemas.microsoft.com/office/drawing/2014/main" val="1720832373"/>
                    </a:ext>
                  </a:extLst>
                </a:gridCol>
                <a:gridCol w="2616358">
                  <a:extLst>
                    <a:ext uri="{9D8B030D-6E8A-4147-A177-3AD203B41FA5}">
                      <a16:colId xmlns:a16="http://schemas.microsoft.com/office/drawing/2014/main" val="1287379868"/>
                    </a:ext>
                  </a:extLst>
                </a:gridCol>
                <a:gridCol w="3380336">
                  <a:extLst>
                    <a:ext uri="{9D8B030D-6E8A-4147-A177-3AD203B41FA5}">
                      <a16:colId xmlns:a16="http://schemas.microsoft.com/office/drawing/2014/main" val="643030286"/>
                    </a:ext>
                  </a:extLst>
                </a:gridCol>
                <a:gridCol w="3380336">
                  <a:extLst>
                    <a:ext uri="{9D8B030D-6E8A-4147-A177-3AD203B41FA5}">
                      <a16:colId xmlns:a16="http://schemas.microsoft.com/office/drawing/2014/main" val="2047820048"/>
                    </a:ext>
                  </a:extLst>
                </a:gridCol>
              </a:tblGrid>
              <a:tr h="704715">
                <a:tc>
                  <a:txBody>
                    <a:bodyPr/>
                    <a:lstStyle/>
                    <a:p>
                      <a:pPr algn="ctr"/>
                      <a:r>
                        <a:rPr lang="en-US" sz="2000">
                          <a:solidFill>
                            <a:schemeClr val="tx1"/>
                          </a:solidFill>
                          <a:latin typeface="Arial Narrow" panose="020B0606020202030204" pitchFamily="34" charset="0"/>
                        </a:rPr>
                        <a:t>Commercial Incentive Details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000">
                          <a:solidFill>
                            <a:schemeClr val="tx1"/>
                          </a:solidFill>
                          <a:latin typeface="Arial Narrow" panose="020B0606020202030204" pitchFamily="34" charset="0"/>
                        </a:rPr>
                        <a:t>Prerequisites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000">
                          <a:solidFill>
                            <a:schemeClr val="tx1"/>
                          </a:solidFill>
                          <a:latin typeface="Arial Narrow" panose="020B0606020202030204" pitchFamily="34" charset="0"/>
                        </a:rPr>
                        <a:t>Ideal Applications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000">
                          <a:solidFill>
                            <a:schemeClr val="tx1"/>
                          </a:solidFill>
                          <a:latin typeface="Arial Narrow" panose="020B0606020202030204" pitchFamily="34" charset="0"/>
                        </a:rPr>
                        <a:t>Features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978441260"/>
                  </a:ext>
                </a:extLst>
              </a:tr>
              <a:tr h="3297094">
                <a:tc>
                  <a:txBody>
                    <a:bodyPr/>
                    <a:lstStyle/>
                    <a:p>
                      <a:pPr marL="285750" indent="-285750" algn="l">
                        <a:spcAft>
                          <a:spcPts val="1200"/>
                        </a:spcAft>
                        <a:buFont typeface="Arial" panose="020B0604020202020204" pitchFamily="34" charset="0"/>
                        <a:buChar char="•"/>
                      </a:pPr>
                      <a:r>
                        <a:rPr lang="en-US" sz="1600"/>
                        <a:t>1-year subscription of Live Enterprise View on 1 system at no charge</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DeltaV Edge + Live Enterprise View deployment services for the pioneer system at no charge</a:t>
                      </a:r>
                    </a:p>
                    <a:p>
                      <a:pPr marL="285750" indent="-285750" algn="l">
                        <a:spcAft>
                          <a:spcPts val="1200"/>
                        </a:spcAft>
                        <a:buFont typeface="Arial" panose="020B0604020202020204" pitchFamily="34" charset="0"/>
                        <a:buChar char="•"/>
                      </a:pPr>
                      <a:r>
                        <a:rPr lang="en-US" sz="1600" u="none"/>
                        <a:t>Renewal Incentive: </a:t>
                      </a:r>
                      <a:r>
                        <a:rPr lang="en-US" sz="1600"/>
                        <a:t>50% off the first year of a multi-year subscription of Live Enterprise View license for the pioneer system </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u="none"/>
                        <a:t>Expansion Incentive: </a:t>
                      </a:r>
                      <a:r>
                        <a:rPr lang="en-US" sz="1600"/>
                        <a:t>50% off the first year of a multi-year subscription of Live Enterprise View license for additional systems purchased in renewal year (services not included) </a:t>
                      </a:r>
                    </a:p>
                    <a:p>
                      <a:pPr marL="285750" indent="-285750" algn="l">
                        <a:spcAft>
                          <a:spcPts val="1200"/>
                        </a:spcAft>
                        <a:buFont typeface="Arial" panose="020B0604020202020204" pitchFamily="34" charset="0"/>
                        <a:buChar char="•"/>
                      </a:pPr>
                      <a:r>
                        <a:rPr lang="en-US" sz="1600"/>
                        <a:t>All other program incentives apply</a:t>
                      </a:r>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a:t>Purchase Edge subscription + DeltaV Edge hardware before start of program (~$40k-85k) </a:t>
                      </a:r>
                    </a:p>
                    <a:p>
                      <a:pPr marL="285750" indent="-285750" algn="l">
                        <a:spcAft>
                          <a:spcPts val="1200"/>
                        </a:spcAft>
                        <a:buFont typeface="Arial" panose="020B0604020202020204" pitchFamily="34" charset="0"/>
                        <a:buChar char="•"/>
                      </a:pPr>
                      <a:r>
                        <a:rPr lang="en-US" sz="1600"/>
                        <a:t>Provide DeltaV system at v15.LTS or later</a:t>
                      </a:r>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a:t>Operations leadership visibility beyond the control room</a:t>
                      </a:r>
                    </a:p>
                    <a:p>
                      <a:pPr marL="285750" indent="-285750" algn="l">
                        <a:spcAft>
                          <a:spcPts val="1200"/>
                        </a:spcAft>
                        <a:buFont typeface="Arial" panose="020B0604020202020204" pitchFamily="34" charset="0"/>
                        <a:buChar char="•"/>
                      </a:pPr>
                      <a:r>
                        <a:rPr lang="en-US" sz="1600"/>
                        <a:t>Multi-area or unit oversight from a central location</a:t>
                      </a:r>
                    </a:p>
                    <a:p>
                      <a:pPr marL="285750" indent="-285750" algn="l">
                        <a:spcAft>
                          <a:spcPts val="1200"/>
                        </a:spcAft>
                        <a:buFont typeface="Arial" panose="020B0604020202020204" pitchFamily="34" charset="0"/>
                        <a:buChar char="•"/>
                      </a:pPr>
                      <a:r>
                        <a:rPr lang="en-US" sz="1600"/>
                        <a:t>Engineering &amp; technical support without disrupting operations</a:t>
                      </a:r>
                    </a:p>
                    <a:p>
                      <a:pPr marL="285750" indent="-285750" algn="l">
                        <a:spcAft>
                          <a:spcPts val="1200"/>
                        </a:spcAft>
                        <a:buFont typeface="Arial" panose="020B0604020202020204" pitchFamily="34" charset="0"/>
                        <a:buChar char="•"/>
                      </a:pPr>
                      <a:r>
                        <a:rPr lang="en-US" sz="1600"/>
                        <a:t>Remote support and expert assistance</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Not ideal for customers that can’t do read-only and primarily use dashboards from historians, MES, or third-party visualization tools</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Ideally fully migrated to DeltaV Live</a:t>
                      </a:r>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tc>
                  <a:txBody>
                    <a:bodyPr/>
                    <a:lstStyle/>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sz="1600"/>
                        <a:t>1st release of Live Enterprise View includes: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Runtime values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Animation</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Active alarm list </a:t>
                      </a:r>
                    </a:p>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sz="1600"/>
                    </a:p>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sz="1600"/>
                        <a:t>Future Enhancements: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Contextual displays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Watch Areas (Open &amp; Edit)</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Alarm banner</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Batch control</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a:t>Display hierarchy</a:t>
                      </a:r>
                    </a:p>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sz="1600"/>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8343477"/>
                  </a:ext>
                </a:extLst>
              </a:tr>
            </a:tbl>
          </a:graphicData>
        </a:graphic>
      </p:graphicFrame>
      <p:sp>
        <p:nvSpPr>
          <p:cNvPr id="4" name="Rectangle: Rounded Corners 3">
            <a:extLst>
              <a:ext uri="{FF2B5EF4-FFF2-40B4-BE49-F238E27FC236}">
                <a16:creationId xmlns:a16="http://schemas.microsoft.com/office/drawing/2014/main" id="{F99A9F96-57A5-CFD7-931D-C51B9013F2CF}"/>
              </a:ext>
            </a:extLst>
          </p:cNvPr>
          <p:cNvSpPr/>
          <p:nvPr/>
        </p:nvSpPr>
        <p:spPr bwMode="auto">
          <a:xfrm>
            <a:off x="605815" y="1627257"/>
            <a:ext cx="13521343" cy="335280"/>
          </a:xfrm>
          <a:prstGeom prst="roundRect">
            <a:avLst/>
          </a:prstGeom>
          <a:solidFill>
            <a:schemeClr val="accent5">
              <a:lumMod val="20000"/>
              <a:lumOff val="80000"/>
            </a:schemeClr>
          </a:solidFill>
          <a:ln w="9525">
            <a:solidFill>
              <a:schemeClr val="accent5">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Live Enterprise View    </a:t>
            </a:r>
            <a:r>
              <a:rPr lang="en-US" sz="1800">
                <a:latin typeface="Arial Narrow" panose="020B0606020202030204" pitchFamily="34" charset="0"/>
                <a:hlinkClick r:id="rId3">
                  <a:extLst>
                    <a:ext uri="{A12FA001-AC4F-418D-AE19-62706E023703}">
                      <ahyp:hlinkClr xmlns:ahyp="http://schemas.microsoft.com/office/drawing/2018/hyperlinkcolor" val="tx"/>
                    </a:ext>
                  </a:extLst>
                </a:hlinkClick>
              </a:rPr>
              <a:t>Link to PDS</a:t>
            </a:r>
            <a:r>
              <a:rPr lang="en-US" sz="1800" b="1">
                <a:latin typeface="Arial Narrow" panose="020B0606020202030204" pitchFamily="34" charset="0"/>
              </a:rPr>
              <a:t> | </a:t>
            </a:r>
            <a:r>
              <a:rPr lang="en-US" sz="1800">
                <a:latin typeface="Arial Narrow" panose="020B0606020202030204" pitchFamily="34" charset="0"/>
                <a:hlinkClick r:id="rId4">
                  <a:extLst>
                    <a:ext uri="{A12FA001-AC4F-418D-AE19-62706E023703}">
                      <ahyp:hlinkClr xmlns:ahyp="http://schemas.microsoft.com/office/drawing/2018/hyperlinkcolor" val="tx"/>
                    </a:ext>
                  </a:extLst>
                </a:hlinkClick>
              </a:rPr>
              <a:t>Link to Product Overview Deck</a:t>
            </a:r>
            <a:endParaRPr lang="en-US" sz="2000">
              <a:latin typeface="Arial Narrow" panose="020B0606020202030204" pitchFamily="34" charset="0"/>
            </a:endParaRPr>
          </a:p>
        </p:txBody>
      </p:sp>
      <p:sp>
        <p:nvSpPr>
          <p:cNvPr id="9" name="Arrow: Left 8">
            <a:hlinkClick r:id="rId5" action="ppaction://hlinksldjump"/>
            <a:extLst>
              <a:ext uri="{FF2B5EF4-FFF2-40B4-BE49-F238E27FC236}">
                <a16:creationId xmlns:a16="http://schemas.microsoft.com/office/drawing/2014/main" id="{7EE7CEB6-5BBC-3CEC-1316-6F04D49FE483}"/>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6" name="Picture 5">
            <a:extLst>
              <a:ext uri="{FF2B5EF4-FFF2-40B4-BE49-F238E27FC236}">
                <a16:creationId xmlns:a16="http://schemas.microsoft.com/office/drawing/2014/main" id="{90FD3F16-29F2-2567-4863-0DF3BE5AC55B}"/>
              </a:ext>
            </a:extLst>
          </p:cNvPr>
          <p:cNvPicPr>
            <a:picLocks noChangeAspect="1"/>
          </p:cNvPicPr>
          <p:nvPr/>
        </p:nvPicPr>
        <p:blipFill>
          <a:blip r:embed="rId6"/>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228147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E89BC-5F0F-77D3-2615-E60863066B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D4EEC-6AA7-12E2-ACDF-5619C66051ED}"/>
              </a:ext>
            </a:extLst>
          </p:cNvPr>
          <p:cNvSpPr>
            <a:spLocks noGrp="1"/>
          </p:cNvSpPr>
          <p:nvPr>
            <p:ph type="title"/>
          </p:nvPr>
        </p:nvSpPr>
        <p:spPr/>
        <p:txBody>
          <a:bodyPr/>
          <a:lstStyle/>
          <a:p>
            <a:r>
              <a:rPr lang="en-US"/>
              <a:t>Enterprise Engineering Pioneer Program Details </a:t>
            </a:r>
          </a:p>
        </p:txBody>
      </p:sp>
      <p:graphicFrame>
        <p:nvGraphicFramePr>
          <p:cNvPr id="7" name="Table 6">
            <a:extLst>
              <a:ext uri="{FF2B5EF4-FFF2-40B4-BE49-F238E27FC236}">
                <a16:creationId xmlns:a16="http://schemas.microsoft.com/office/drawing/2014/main" id="{AF622D77-E749-561E-9768-BA5F32921836}"/>
              </a:ext>
            </a:extLst>
          </p:cNvPr>
          <p:cNvGraphicFramePr>
            <a:graphicFrameLocks noGrp="1"/>
          </p:cNvGraphicFramePr>
          <p:nvPr>
            <p:extLst>
              <p:ext uri="{D42A27DB-BD31-4B8C-83A1-F6EECF244321}">
                <p14:modId xmlns:p14="http://schemas.microsoft.com/office/powerpoint/2010/main" val="3358537245"/>
              </p:ext>
            </p:extLst>
          </p:nvPr>
        </p:nvGraphicFramePr>
        <p:xfrm>
          <a:off x="605815" y="2105330"/>
          <a:ext cx="13521342" cy="4378798"/>
        </p:xfrm>
        <a:graphic>
          <a:graphicData uri="http://schemas.openxmlformats.org/drawingml/2006/table">
            <a:tbl>
              <a:tblPr firstRow="1" bandRow="1">
                <a:tableStyleId>{5C22544A-7EE6-4342-B048-85BDC9FD1C3A}</a:tableStyleId>
              </a:tblPr>
              <a:tblGrid>
                <a:gridCol w="4507114">
                  <a:extLst>
                    <a:ext uri="{9D8B030D-6E8A-4147-A177-3AD203B41FA5}">
                      <a16:colId xmlns:a16="http://schemas.microsoft.com/office/drawing/2014/main" val="1720832373"/>
                    </a:ext>
                  </a:extLst>
                </a:gridCol>
                <a:gridCol w="4507114">
                  <a:extLst>
                    <a:ext uri="{9D8B030D-6E8A-4147-A177-3AD203B41FA5}">
                      <a16:colId xmlns:a16="http://schemas.microsoft.com/office/drawing/2014/main" val="1287379868"/>
                    </a:ext>
                  </a:extLst>
                </a:gridCol>
                <a:gridCol w="4507114">
                  <a:extLst>
                    <a:ext uri="{9D8B030D-6E8A-4147-A177-3AD203B41FA5}">
                      <a16:colId xmlns:a16="http://schemas.microsoft.com/office/drawing/2014/main" val="643030286"/>
                    </a:ext>
                  </a:extLst>
                </a:gridCol>
              </a:tblGrid>
              <a:tr h="704715">
                <a:tc>
                  <a:txBody>
                    <a:bodyPr/>
                    <a:lstStyle/>
                    <a:p>
                      <a:pPr algn="ctr"/>
                      <a:r>
                        <a:rPr lang="en-US" sz="2000">
                          <a:solidFill>
                            <a:schemeClr val="tx1"/>
                          </a:solidFill>
                          <a:latin typeface="Arial Narrow" panose="020B0606020202030204" pitchFamily="34" charset="0"/>
                        </a:rPr>
                        <a:t>Commercial Incentive Details</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algn="ctr"/>
                      <a:r>
                        <a:rPr lang="en-US" sz="2000">
                          <a:solidFill>
                            <a:schemeClr val="tx1"/>
                          </a:solidFill>
                          <a:latin typeface="Arial Narrow" panose="020B0606020202030204" pitchFamily="34" charset="0"/>
                        </a:rPr>
                        <a:t>Prerequisites</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algn="ctr"/>
                      <a:r>
                        <a:rPr lang="en-US" sz="2000">
                          <a:solidFill>
                            <a:schemeClr val="tx1"/>
                          </a:solidFill>
                          <a:latin typeface="Arial Narrow" panose="020B0606020202030204" pitchFamily="34" charset="0"/>
                        </a:rPr>
                        <a:t>Ideal Applications</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78441260"/>
                  </a:ext>
                </a:extLst>
              </a:tr>
              <a:tr h="3674083">
                <a:tc>
                  <a:txBody>
                    <a:bodyPr/>
                    <a:lstStyle/>
                    <a:p>
                      <a:pPr marL="285750" indent="-285750" algn="l">
                        <a:spcAft>
                          <a:spcPts val="1200"/>
                        </a:spcAft>
                        <a:buFont typeface="Arial" panose="020B0604020202020204" pitchFamily="34" charset="0"/>
                        <a:buChar char="•"/>
                      </a:pPr>
                      <a:r>
                        <a:rPr lang="en-US" sz="1600"/>
                        <a:t>1-year subscription of Enterprise Engineering license at no charge</a:t>
                      </a:r>
                    </a:p>
                    <a:p>
                      <a:pPr marL="285750" indent="-285750" algn="l">
                        <a:spcAft>
                          <a:spcPts val="1200"/>
                        </a:spcAft>
                        <a:buFont typeface="Arial" panose="020B0604020202020204" pitchFamily="34" charset="0"/>
                        <a:buChar char="•"/>
                      </a:pPr>
                      <a:r>
                        <a:rPr lang="en-US" sz="1600" u="none"/>
                        <a:t>Renewal Incentive: </a:t>
                      </a:r>
                      <a:r>
                        <a:rPr lang="en-US" sz="1600"/>
                        <a:t>50% off the first year of a multi-year subscription of Enterprise Engineering license for the pioneer system(s)</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u="none"/>
                        <a:t>Expansion Incentive: </a:t>
                      </a:r>
                      <a:r>
                        <a:rPr lang="en-US" sz="1600"/>
                        <a:t>50% off the first year of a multi-year subscription of Enterprise Engineering license for additional systems purchased in renewal year (services not included) </a:t>
                      </a:r>
                    </a:p>
                    <a:p>
                      <a:pPr marL="285750" indent="-285750" algn="l">
                        <a:spcAft>
                          <a:spcPts val="1200"/>
                        </a:spcAft>
                        <a:buFont typeface="Arial" panose="020B0604020202020204" pitchFamily="34" charset="0"/>
                        <a:buChar char="•"/>
                      </a:pPr>
                      <a:r>
                        <a:rPr lang="en-US" sz="1600"/>
                        <a:t>All other program incentives apply</a:t>
                      </a:r>
                    </a:p>
                  </a:txBody>
                  <a:tcPr marT="182880">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tc>
                  <a:txBody>
                    <a:bodyPr/>
                    <a:lstStyle/>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a:t>Ensure necessary IT/network steps are taken for connecting to the Emerson hosted cloud service (similar set up to Guardian)</a:t>
                      </a:r>
                    </a:p>
                    <a:p>
                      <a:pPr marL="285750" indent="-285750" algn="l">
                        <a:spcAft>
                          <a:spcPts val="1200"/>
                        </a:spcAft>
                        <a:buFont typeface="Arial" panose="020B0604020202020204" pitchFamily="34" charset="0"/>
                        <a:buChar char="•"/>
                      </a:pPr>
                      <a:r>
                        <a:rPr lang="en-US" sz="1600"/>
                        <a:t>Provide DeltaV system at v14.LTS or newer</a:t>
                      </a:r>
                    </a:p>
                    <a:p>
                      <a:pPr marL="285750" indent="-285750" algn="l">
                        <a:spcAft>
                          <a:spcPts val="1200"/>
                        </a:spcAft>
                        <a:buFont typeface="Arial" panose="020B0604020202020204" pitchFamily="34" charset="0"/>
                        <a:buChar char="•"/>
                      </a:pPr>
                      <a:r>
                        <a:rPr lang="en-US" sz="1600"/>
                        <a:t>An up-to-date version of Chrome, Edge, or Safari on a laptop/desktop</a:t>
                      </a:r>
                    </a:p>
                  </a:txBody>
                  <a:tcPr marT="182880">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a:t>Large process industry enterprises with multiple sites using DeltaV or single site with multiple systems</a:t>
                      </a:r>
                    </a:p>
                    <a:p>
                      <a:pPr marL="285750" indent="-285750" algn="l">
                        <a:spcAft>
                          <a:spcPts val="1200"/>
                        </a:spcAft>
                        <a:buFont typeface="Arial" panose="020B0604020202020204" pitchFamily="34" charset="0"/>
                        <a:buChar char="•"/>
                      </a:pPr>
                      <a:r>
                        <a:rPr lang="en-US" sz="1600"/>
                        <a:t>High compliance &amp; audit requirements, complex DeltaV environments, digital transformation focus </a:t>
                      </a:r>
                    </a:p>
                    <a:p>
                      <a:pPr marL="285750" indent="-285750" algn="l">
                        <a:spcAft>
                          <a:spcPts val="1200"/>
                        </a:spcAft>
                        <a:buFont typeface="Arial" panose="020B0604020202020204" pitchFamily="34" charset="0"/>
                        <a:buChar char="•"/>
                      </a:pPr>
                      <a:r>
                        <a:rPr lang="en-US" sz="1600"/>
                        <a:t>Ideal buyer persona: engineering manager/automation lead, corporate standards &amp; compliance teams, site engineers/managers, IT/OT integration leaders </a:t>
                      </a:r>
                    </a:p>
                  </a:txBody>
                  <a:tcPr marT="182880">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8343477"/>
                  </a:ext>
                </a:extLst>
              </a:tr>
            </a:tbl>
          </a:graphicData>
        </a:graphic>
      </p:graphicFrame>
      <p:sp>
        <p:nvSpPr>
          <p:cNvPr id="4" name="Rectangle: Rounded Corners 3">
            <a:extLst>
              <a:ext uri="{FF2B5EF4-FFF2-40B4-BE49-F238E27FC236}">
                <a16:creationId xmlns:a16="http://schemas.microsoft.com/office/drawing/2014/main" id="{C7A84483-7265-C8D3-8A84-12B8FCE032C3}"/>
              </a:ext>
            </a:extLst>
          </p:cNvPr>
          <p:cNvSpPr/>
          <p:nvPr/>
        </p:nvSpPr>
        <p:spPr bwMode="auto">
          <a:xfrm>
            <a:off x="605816" y="1627257"/>
            <a:ext cx="13521344" cy="335280"/>
          </a:xfrm>
          <a:prstGeom prst="roundRect">
            <a:avLst/>
          </a:prstGeom>
          <a:solidFill>
            <a:schemeClr val="accent3">
              <a:lumMod val="20000"/>
              <a:lumOff val="80000"/>
            </a:schemeClr>
          </a:solidFill>
          <a:ln w="9525">
            <a:solidFill>
              <a:schemeClr val="accent3">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Enterprise Engineering   </a:t>
            </a:r>
            <a:r>
              <a:rPr lang="en-US" sz="1800">
                <a:latin typeface="Arial Narrow" panose="020B0606020202030204" pitchFamily="34" charset="0"/>
                <a:hlinkClick r:id="rId3">
                  <a:extLst>
                    <a:ext uri="{A12FA001-AC4F-418D-AE19-62706E023703}">
                      <ahyp:hlinkClr xmlns:ahyp="http://schemas.microsoft.com/office/drawing/2018/hyperlinkcolor" val="tx"/>
                    </a:ext>
                  </a:extLst>
                </a:hlinkClick>
              </a:rPr>
              <a:t>Link to PDS </a:t>
            </a:r>
            <a:r>
              <a:rPr lang="en-US" sz="1800">
                <a:latin typeface="Arial Narrow" panose="020B0606020202030204" pitchFamily="34" charset="0"/>
              </a:rPr>
              <a:t>| </a:t>
            </a:r>
            <a:r>
              <a:rPr lang="en-US" sz="1800">
                <a:latin typeface="Arial Narrow" panose="020B0606020202030204" pitchFamily="34" charset="0"/>
                <a:hlinkClick r:id="rId4">
                  <a:extLst>
                    <a:ext uri="{A12FA001-AC4F-418D-AE19-62706E023703}">
                      <ahyp:hlinkClr xmlns:ahyp="http://schemas.microsoft.com/office/drawing/2018/hyperlinkcolor" val="tx"/>
                    </a:ext>
                  </a:extLst>
                </a:hlinkClick>
              </a:rPr>
              <a:t>Link to Product Overview Deck</a:t>
            </a:r>
            <a:r>
              <a:rPr lang="en-US" sz="1800">
                <a:latin typeface="Arial Narrow" panose="020B0606020202030204" pitchFamily="34" charset="0"/>
              </a:rPr>
              <a:t>    </a:t>
            </a:r>
          </a:p>
        </p:txBody>
      </p:sp>
      <p:sp>
        <p:nvSpPr>
          <p:cNvPr id="9" name="Arrow: Left 8">
            <a:hlinkClick r:id="rId5" action="ppaction://hlinksldjump"/>
            <a:extLst>
              <a:ext uri="{FF2B5EF4-FFF2-40B4-BE49-F238E27FC236}">
                <a16:creationId xmlns:a16="http://schemas.microsoft.com/office/drawing/2014/main" id="{A130873A-EE64-AA67-0028-7AA2A0FF642D}"/>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6" name="Picture 5">
            <a:extLst>
              <a:ext uri="{FF2B5EF4-FFF2-40B4-BE49-F238E27FC236}">
                <a16:creationId xmlns:a16="http://schemas.microsoft.com/office/drawing/2014/main" id="{90592DCF-C3D3-5AD6-9CAE-D4D043256FE2}"/>
              </a:ext>
            </a:extLst>
          </p:cNvPr>
          <p:cNvPicPr>
            <a:picLocks noChangeAspect="1"/>
          </p:cNvPicPr>
          <p:nvPr/>
        </p:nvPicPr>
        <p:blipFill>
          <a:blip r:embed="rId6"/>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888341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8E526-B642-D7DD-12BF-02EF9FB8191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855138-DD57-E389-B5CC-41596DC8747F}"/>
              </a:ext>
            </a:extLst>
          </p:cNvPr>
          <p:cNvSpPr>
            <a:spLocks noGrp="1"/>
          </p:cNvSpPr>
          <p:nvPr>
            <p:ph type="title"/>
          </p:nvPr>
        </p:nvSpPr>
        <p:spPr/>
        <p:txBody>
          <a:bodyPr/>
          <a:lstStyle/>
          <a:p>
            <a:r>
              <a:rPr lang="en-US"/>
              <a:t>DeltaV Virtual Advisor Pioneer Program Details </a:t>
            </a:r>
          </a:p>
        </p:txBody>
      </p:sp>
      <p:graphicFrame>
        <p:nvGraphicFramePr>
          <p:cNvPr id="9" name="Table 8">
            <a:extLst>
              <a:ext uri="{FF2B5EF4-FFF2-40B4-BE49-F238E27FC236}">
                <a16:creationId xmlns:a16="http://schemas.microsoft.com/office/drawing/2014/main" id="{280292B5-FFA6-55B8-2948-09D0EB04E9DB}"/>
              </a:ext>
            </a:extLst>
          </p:cNvPr>
          <p:cNvGraphicFramePr>
            <a:graphicFrameLocks noGrp="1"/>
          </p:cNvGraphicFramePr>
          <p:nvPr>
            <p:extLst>
              <p:ext uri="{D42A27DB-BD31-4B8C-83A1-F6EECF244321}">
                <p14:modId xmlns:p14="http://schemas.microsoft.com/office/powerpoint/2010/main" val="2002768434"/>
              </p:ext>
            </p:extLst>
          </p:nvPr>
        </p:nvGraphicFramePr>
        <p:xfrm>
          <a:off x="605816" y="2105330"/>
          <a:ext cx="13521342" cy="4378798"/>
        </p:xfrm>
        <a:graphic>
          <a:graphicData uri="http://schemas.openxmlformats.org/drawingml/2006/table">
            <a:tbl>
              <a:tblPr firstRow="1" bandRow="1">
                <a:tableStyleId>{5C22544A-7EE6-4342-B048-85BDC9FD1C3A}</a:tableStyleId>
              </a:tblPr>
              <a:tblGrid>
                <a:gridCol w="4507114">
                  <a:extLst>
                    <a:ext uri="{9D8B030D-6E8A-4147-A177-3AD203B41FA5}">
                      <a16:colId xmlns:a16="http://schemas.microsoft.com/office/drawing/2014/main" val="1720832373"/>
                    </a:ext>
                  </a:extLst>
                </a:gridCol>
                <a:gridCol w="4507114">
                  <a:extLst>
                    <a:ext uri="{9D8B030D-6E8A-4147-A177-3AD203B41FA5}">
                      <a16:colId xmlns:a16="http://schemas.microsoft.com/office/drawing/2014/main" val="1287379868"/>
                    </a:ext>
                  </a:extLst>
                </a:gridCol>
                <a:gridCol w="4507114">
                  <a:extLst>
                    <a:ext uri="{9D8B030D-6E8A-4147-A177-3AD203B41FA5}">
                      <a16:colId xmlns:a16="http://schemas.microsoft.com/office/drawing/2014/main" val="643030286"/>
                    </a:ext>
                  </a:extLst>
                </a:gridCol>
              </a:tblGrid>
              <a:tr h="704715">
                <a:tc>
                  <a:txBody>
                    <a:bodyPr/>
                    <a:lstStyle/>
                    <a:p>
                      <a:pPr algn="ctr"/>
                      <a:r>
                        <a:rPr lang="en-US" sz="2000">
                          <a:solidFill>
                            <a:schemeClr val="tx1"/>
                          </a:solidFill>
                          <a:latin typeface="Arial Narrow" panose="020B0606020202030204" pitchFamily="34" charset="0"/>
                        </a:rPr>
                        <a:t>Commercial Incentive Details</a:t>
                      </a:r>
                    </a:p>
                  </a:txBody>
                  <a:tcPr anchor="ctr">
                    <a:lnL w="12700" cap="flat" cmpd="sng" algn="ctr">
                      <a:solidFill>
                        <a:schemeClr val="accent2">
                          <a:lumMod val="50000"/>
                          <a:lumOff val="50000"/>
                        </a:schemeClr>
                      </a:solidFill>
                      <a:prstDash val="solid"/>
                      <a:round/>
                      <a:headEnd type="none" w="med" len="med"/>
                      <a:tailEnd type="none" w="med" len="med"/>
                    </a:lnL>
                    <a:lnR w="12700" cap="flat" cmpd="sng" algn="ctr">
                      <a:solidFill>
                        <a:schemeClr val="accent2">
                          <a:lumMod val="50000"/>
                          <a:lumOff val="50000"/>
                        </a:schemeClr>
                      </a:solid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2">
                        <a:lumMod val="10000"/>
                        <a:lumOff val="90000"/>
                      </a:schemeClr>
                    </a:solidFill>
                  </a:tcPr>
                </a:tc>
                <a:tc>
                  <a:txBody>
                    <a:bodyPr/>
                    <a:lstStyle/>
                    <a:p>
                      <a:pPr algn="ctr"/>
                      <a:r>
                        <a:rPr lang="en-US" sz="2000">
                          <a:solidFill>
                            <a:schemeClr val="tx1"/>
                          </a:solidFill>
                          <a:latin typeface="Arial Narrow" panose="020B0606020202030204" pitchFamily="34" charset="0"/>
                        </a:rPr>
                        <a:t>Prerequisites</a:t>
                      </a:r>
                    </a:p>
                  </a:txBody>
                  <a:tcPr anchor="ctr">
                    <a:lnL w="12700" cap="flat" cmpd="sng" algn="ctr">
                      <a:solidFill>
                        <a:schemeClr val="accent2">
                          <a:lumMod val="50000"/>
                          <a:lumOff val="50000"/>
                        </a:schemeClr>
                      </a:solidFill>
                      <a:prstDash val="solid"/>
                      <a:round/>
                      <a:headEnd type="none" w="med" len="med"/>
                      <a:tailEnd type="none" w="med" len="med"/>
                    </a:lnL>
                    <a:lnR w="12700" cap="flat" cmpd="sng" algn="ctr">
                      <a:solidFill>
                        <a:schemeClr val="accent2">
                          <a:lumMod val="50000"/>
                          <a:lumOff val="50000"/>
                        </a:schemeClr>
                      </a:solid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2">
                        <a:lumMod val="10000"/>
                        <a:lumOff val="90000"/>
                      </a:schemeClr>
                    </a:solidFill>
                  </a:tcPr>
                </a:tc>
                <a:tc>
                  <a:txBody>
                    <a:bodyPr/>
                    <a:lstStyle/>
                    <a:p>
                      <a:pPr algn="ctr"/>
                      <a:r>
                        <a:rPr lang="en-US" sz="2000">
                          <a:solidFill>
                            <a:schemeClr val="tx1"/>
                          </a:solidFill>
                          <a:latin typeface="Arial Narrow" panose="020B0606020202030204" pitchFamily="34" charset="0"/>
                        </a:rPr>
                        <a:t>Ideal Applications</a:t>
                      </a:r>
                    </a:p>
                  </a:txBody>
                  <a:tcPr anchor="ctr">
                    <a:lnL w="12700" cap="flat" cmpd="sng" algn="ctr">
                      <a:solidFill>
                        <a:schemeClr val="accent2">
                          <a:lumMod val="50000"/>
                          <a:lumOff val="50000"/>
                        </a:schemeClr>
                      </a:solidFill>
                      <a:prstDash val="solid"/>
                      <a:round/>
                      <a:headEnd type="none" w="med" len="med"/>
                      <a:tailEnd type="none" w="med" len="med"/>
                    </a:lnL>
                    <a:lnR w="12700" cap="flat" cmpd="sng" algn="ctr">
                      <a:solidFill>
                        <a:schemeClr val="accent2">
                          <a:lumMod val="50000"/>
                          <a:lumOff val="50000"/>
                        </a:schemeClr>
                      </a:solid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2">
                        <a:lumMod val="10000"/>
                        <a:lumOff val="90000"/>
                      </a:schemeClr>
                    </a:solidFill>
                  </a:tcPr>
                </a:tc>
                <a:extLst>
                  <a:ext uri="{0D108BD9-81ED-4DB2-BD59-A6C34878D82A}">
                    <a16:rowId xmlns:a16="http://schemas.microsoft.com/office/drawing/2014/main" val="3978441260"/>
                  </a:ext>
                </a:extLst>
              </a:tr>
              <a:tr h="3674083">
                <a:tc>
                  <a:txBody>
                    <a:bodyPr/>
                    <a:lstStyle/>
                    <a:p>
                      <a:pPr marL="285750" indent="-285750" algn="l">
                        <a:spcAft>
                          <a:spcPts val="1200"/>
                        </a:spcAft>
                        <a:buFont typeface="Arial" panose="020B0604020202020204" pitchFamily="34" charset="0"/>
                        <a:buChar char="•"/>
                      </a:pPr>
                      <a:endParaRPr lang="en-US" sz="1600"/>
                    </a:p>
                  </a:txBody>
                  <a:tcPr marT="182880">
                    <a:lnL w="12700" cap="flat" cmpd="sng" algn="ctr">
                      <a:solidFill>
                        <a:schemeClr val="accent2">
                          <a:lumMod val="50000"/>
                          <a:lumOff val="50000"/>
                        </a:schemeClr>
                      </a:solidFill>
                      <a:prstDash val="solid"/>
                      <a:round/>
                      <a:headEnd type="none" w="med" len="med"/>
                      <a:tailEnd type="none" w="med" len="med"/>
                    </a:lnL>
                    <a:lnR w="12700" cap="flat" cmpd="sng" algn="ctr">
                      <a:solidFill>
                        <a:schemeClr val="accent2">
                          <a:lumMod val="50000"/>
                          <a:lumOff val="50000"/>
                        </a:schemeClr>
                      </a:solid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bg1"/>
                    </a:solidFill>
                  </a:tcPr>
                </a:tc>
                <a:tc>
                  <a:txBody>
                    <a:bodyPr/>
                    <a:lstStyle/>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lang="en-US" sz="1600"/>
                    </a:p>
                  </a:txBody>
                  <a:tcPr marT="182880">
                    <a:lnL w="12700" cap="flat" cmpd="sng" algn="ctr">
                      <a:solidFill>
                        <a:schemeClr val="accent2">
                          <a:lumMod val="50000"/>
                          <a:lumOff val="50000"/>
                        </a:schemeClr>
                      </a:solidFill>
                      <a:prstDash val="solid"/>
                      <a:round/>
                      <a:headEnd type="none" w="med" len="med"/>
                      <a:tailEnd type="none" w="med" len="med"/>
                    </a:lnL>
                    <a:lnR w="12700" cap="flat" cmpd="sng" algn="ctr">
                      <a:solidFill>
                        <a:schemeClr val="accent2">
                          <a:lumMod val="50000"/>
                          <a:lumOff val="50000"/>
                        </a:schemeClr>
                      </a:solid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endParaRPr lang="en-US" sz="1600"/>
                    </a:p>
                  </a:txBody>
                  <a:tcPr marT="182880">
                    <a:lnL w="12700" cap="flat" cmpd="sng" algn="ctr">
                      <a:solidFill>
                        <a:schemeClr val="accent2">
                          <a:lumMod val="50000"/>
                          <a:lumOff val="50000"/>
                        </a:schemeClr>
                      </a:solidFill>
                      <a:prstDash val="solid"/>
                      <a:round/>
                      <a:headEnd type="none" w="med" len="med"/>
                      <a:tailEnd type="none" w="med" len="med"/>
                    </a:lnL>
                    <a:lnR w="12700" cap="flat" cmpd="sng" algn="ctr">
                      <a:solidFill>
                        <a:schemeClr val="accent2">
                          <a:lumMod val="50000"/>
                          <a:lumOff val="50000"/>
                        </a:schemeClr>
                      </a:solid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8343477"/>
                  </a:ext>
                </a:extLst>
              </a:tr>
            </a:tbl>
          </a:graphicData>
        </a:graphic>
      </p:graphicFrame>
      <p:sp>
        <p:nvSpPr>
          <p:cNvPr id="5" name="Rectangle 4">
            <a:extLst>
              <a:ext uri="{FF2B5EF4-FFF2-40B4-BE49-F238E27FC236}">
                <a16:creationId xmlns:a16="http://schemas.microsoft.com/office/drawing/2014/main" id="{27EF2B26-41C9-C9A6-E6F6-C4472725C631}"/>
              </a:ext>
            </a:extLst>
          </p:cNvPr>
          <p:cNvSpPr/>
          <p:nvPr/>
        </p:nvSpPr>
        <p:spPr>
          <a:xfrm>
            <a:off x="-1" y="3578158"/>
            <a:ext cx="14630400" cy="2215991"/>
          </a:xfrm>
          <a:prstGeom prst="rect">
            <a:avLst/>
          </a:prstGeom>
          <a:noFill/>
        </p:spPr>
        <p:txBody>
          <a:bodyPr wrap="square" lIns="91440" tIns="45720" rIns="91440" bIns="45720">
            <a:spAutoFit/>
          </a:bodyPr>
          <a:lstStyle/>
          <a:p>
            <a:pPr algn="ctr"/>
            <a:r>
              <a:rPr lang="en-US" sz="13800" b="1" cap="none" spc="0">
                <a:ln w="9525">
                  <a:solidFill>
                    <a:schemeClr val="bg1"/>
                  </a:solidFill>
                  <a:prstDash val="solid"/>
                </a:ln>
                <a:solidFill>
                  <a:schemeClr val="tx1"/>
                </a:solidFill>
                <a:effectLst>
                  <a:outerShdw blurRad="12700" dist="38100" dir="2700000" algn="tl" rotWithShape="0">
                    <a:schemeClr val="bg1">
                      <a:lumMod val="50000"/>
                    </a:schemeClr>
                  </a:outerShdw>
                </a:effectLst>
                <a:latin typeface="+mj-lt"/>
              </a:rPr>
              <a:t>COMING SOON</a:t>
            </a:r>
          </a:p>
        </p:txBody>
      </p:sp>
      <p:sp>
        <p:nvSpPr>
          <p:cNvPr id="11" name="Rectangle: Rounded Corners 10">
            <a:extLst>
              <a:ext uri="{FF2B5EF4-FFF2-40B4-BE49-F238E27FC236}">
                <a16:creationId xmlns:a16="http://schemas.microsoft.com/office/drawing/2014/main" id="{2546A758-2DBA-7043-2A32-9092A197AF5F}"/>
              </a:ext>
            </a:extLst>
          </p:cNvPr>
          <p:cNvSpPr/>
          <p:nvPr/>
        </p:nvSpPr>
        <p:spPr bwMode="auto">
          <a:xfrm>
            <a:off x="605815" y="1577832"/>
            <a:ext cx="13521343" cy="335280"/>
          </a:xfrm>
          <a:prstGeom prst="roundRect">
            <a:avLst/>
          </a:prstGeom>
          <a:solidFill>
            <a:schemeClr val="accent2">
              <a:lumMod val="10000"/>
              <a:lumOff val="90000"/>
            </a:schemeClr>
          </a:solidFill>
          <a:ln w="9525">
            <a:solidFill>
              <a:schemeClr val="accent2">
                <a:lumMod val="50000"/>
                <a:lumOff val="5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DeltaV Virtual Advisor  </a:t>
            </a:r>
          </a:p>
        </p:txBody>
      </p:sp>
      <p:sp>
        <p:nvSpPr>
          <p:cNvPr id="7" name="Arrow: Left 6">
            <a:hlinkClick r:id="rId3" action="ppaction://hlinksldjump"/>
            <a:extLst>
              <a:ext uri="{FF2B5EF4-FFF2-40B4-BE49-F238E27FC236}">
                <a16:creationId xmlns:a16="http://schemas.microsoft.com/office/drawing/2014/main" id="{F1CC9991-79A0-D1B3-E332-3839DD93181D}"/>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6" name="Picture 5">
            <a:extLst>
              <a:ext uri="{FF2B5EF4-FFF2-40B4-BE49-F238E27FC236}">
                <a16:creationId xmlns:a16="http://schemas.microsoft.com/office/drawing/2014/main" id="{1A341596-B785-A174-F50E-4CE1F40BF7BC}"/>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4205429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795A1-9FE2-4008-B7DA-DB5576C2426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39A97B6-CB39-65F1-A7B8-48953BD6BC66}"/>
              </a:ext>
            </a:extLst>
          </p:cNvPr>
          <p:cNvSpPr>
            <a:spLocks noGrp="1"/>
          </p:cNvSpPr>
          <p:nvPr>
            <p:ph type="title"/>
          </p:nvPr>
        </p:nvSpPr>
        <p:spPr/>
        <p:txBody>
          <a:bodyPr>
            <a:normAutofit/>
          </a:bodyPr>
          <a:lstStyle/>
          <a:p>
            <a:r>
              <a:rPr lang="en-US" sz="3600"/>
              <a:t>What Are Next Steps? </a:t>
            </a:r>
          </a:p>
        </p:txBody>
      </p:sp>
      <p:sp>
        <p:nvSpPr>
          <p:cNvPr id="3" name="TextBox 2">
            <a:extLst>
              <a:ext uri="{FF2B5EF4-FFF2-40B4-BE49-F238E27FC236}">
                <a16:creationId xmlns:a16="http://schemas.microsoft.com/office/drawing/2014/main" id="{C86FCF7B-2F40-2D9B-BB27-4A1CDEE283FC}"/>
              </a:ext>
            </a:extLst>
          </p:cNvPr>
          <p:cNvSpPr txBox="1"/>
          <p:nvPr/>
        </p:nvSpPr>
        <p:spPr>
          <a:xfrm>
            <a:off x="0" y="1973179"/>
            <a:ext cx="8124324" cy="1756610"/>
          </a:xfrm>
          <a:prstGeom prst="rect">
            <a:avLst/>
          </a:prstGeom>
          <a:solidFill>
            <a:schemeClr val="bg1">
              <a:alpha val="90000"/>
            </a:schemeClr>
          </a:solidFill>
        </p:spPr>
        <p:txBody>
          <a:bodyPr wrap="square" rIns="274320" anchor="ctr">
            <a:noAutofit/>
          </a:bodyPr>
          <a:lstStyle/>
          <a:p>
            <a:pPr lvl="0" algn="r">
              <a:defRPr/>
            </a:pPr>
            <a:r>
              <a:rPr lang="en-US" sz="3200">
                <a:solidFill>
                  <a:srgbClr val="186389"/>
                </a:solidFill>
                <a:latin typeface="+mj-lt"/>
                <a:ea typeface="Noto Sans Light"/>
                <a:cs typeface="Arial" panose="020B0604020202020204" pitchFamily="34" charset="0"/>
              </a:rPr>
              <a:t>Chapter 5</a:t>
            </a:r>
          </a:p>
        </p:txBody>
      </p:sp>
      <p:sp>
        <p:nvSpPr>
          <p:cNvPr id="4" name="Arrow: Left 3">
            <a:hlinkClick r:id="rId2" action="ppaction://hlinksldjump"/>
            <a:extLst>
              <a:ext uri="{FF2B5EF4-FFF2-40B4-BE49-F238E27FC236}">
                <a16:creationId xmlns:a16="http://schemas.microsoft.com/office/drawing/2014/main" id="{D071CF09-F35E-8786-A0A4-E8C2BDB66A6A}"/>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Tree>
    <p:extLst>
      <p:ext uri="{BB962C8B-B14F-4D97-AF65-F5344CB8AC3E}">
        <p14:creationId xmlns:p14="http://schemas.microsoft.com/office/powerpoint/2010/main" val="83091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95D04-FE7C-4D5B-467A-E6E92B5E7872}"/>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E6F55211-CDDA-2CA1-86F9-471F21A22A97}"/>
              </a:ext>
            </a:extLst>
          </p:cNvPr>
          <p:cNvGrpSpPr/>
          <p:nvPr/>
        </p:nvGrpSpPr>
        <p:grpSpPr>
          <a:xfrm>
            <a:off x="783899" y="1619628"/>
            <a:ext cx="3796414" cy="1969589"/>
            <a:chOff x="203706" y="3588"/>
            <a:chExt cx="1818782" cy="1357682"/>
          </a:xfrm>
        </p:grpSpPr>
        <p:sp>
          <p:nvSpPr>
            <p:cNvPr id="10" name="Rectangle: Top Corners Rounded 9">
              <a:extLst>
                <a:ext uri="{FF2B5EF4-FFF2-40B4-BE49-F238E27FC236}">
                  <a16:creationId xmlns:a16="http://schemas.microsoft.com/office/drawing/2014/main" id="{7084BFDB-84CE-3957-15D8-C20AFF4748EB}"/>
                </a:ext>
              </a:extLst>
            </p:cNvPr>
            <p:cNvSpPr/>
            <p:nvPr/>
          </p:nvSpPr>
          <p:spPr>
            <a:xfrm>
              <a:off x="203706" y="3588"/>
              <a:ext cx="1818782" cy="1357682"/>
            </a:xfrm>
            <a:prstGeom prst="round2SameRect">
              <a:avLst>
                <a:gd name="adj1" fmla="val 8000"/>
                <a:gd name="adj2" fmla="val 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sp>
          <p:nvSpPr>
            <p:cNvPr id="11" name="Rectangle: Top Corners Rounded 4">
              <a:extLst>
                <a:ext uri="{FF2B5EF4-FFF2-40B4-BE49-F238E27FC236}">
                  <a16:creationId xmlns:a16="http://schemas.microsoft.com/office/drawing/2014/main" id="{0F68715F-39D8-CA63-C2C6-CD0C615AA416}"/>
                </a:ext>
              </a:extLst>
            </p:cNvPr>
            <p:cNvSpPr txBox="1"/>
            <p:nvPr/>
          </p:nvSpPr>
          <p:spPr>
            <a:xfrm>
              <a:off x="235518" y="35400"/>
              <a:ext cx="1755158" cy="132587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45720" rIns="15240" bIns="15240" numCol="1" spcCol="1270" anchor="t" anchorCtr="0">
              <a:noAutofit/>
            </a:bodyPr>
            <a:lstStyle/>
            <a:p>
              <a:pPr marL="114300" marR="0" lvl="1" indent="-114300" algn="l" defTabSz="533400" rtl="0" eaLnBrk="1" fontAlgn="auto" latinLnBrk="0" hangingPunct="1">
                <a:lnSpc>
                  <a:spcPct val="90000"/>
                </a:lnSpc>
                <a:spcBef>
                  <a:spcPct val="0"/>
                </a:spcBef>
                <a:spcAft>
                  <a:spcPct val="15000"/>
                </a:spcAft>
                <a:buClrTx/>
                <a:buSzTx/>
                <a:buFontTx/>
                <a:buChar char="•"/>
                <a:tabLst/>
                <a:defRPr/>
              </a:pPr>
              <a:endParaRPr kumimoji="0" lang="en-US" sz="1400" b="0" i="0" u="none" strike="noStrike" kern="1200" cap="none" spc="0" normalizeH="0" baseline="0" noProof="0">
                <a:ln>
                  <a:noFill/>
                </a:ln>
                <a:solidFill>
                  <a:srgbClr val="000000">
                    <a:hueOff val="0"/>
                    <a:satOff val="0"/>
                    <a:lumOff val="0"/>
                    <a:alphaOff val="0"/>
                  </a:srgbClr>
                </a:solidFill>
                <a:effectLst/>
                <a:uLnTx/>
                <a:uFillTx/>
                <a:latin typeface="Arial"/>
                <a:ea typeface="+mn-ea"/>
                <a:cs typeface="+mn-cs"/>
              </a:endParaRPr>
            </a:p>
          </p:txBody>
        </p:sp>
      </p:grpSp>
      <p:sp>
        <p:nvSpPr>
          <p:cNvPr id="5" name="Callout: Left Arrow 4">
            <a:extLst>
              <a:ext uri="{FF2B5EF4-FFF2-40B4-BE49-F238E27FC236}">
                <a16:creationId xmlns:a16="http://schemas.microsoft.com/office/drawing/2014/main" id="{1C1FADFB-7ECD-0533-D7B3-1091631CB770}"/>
              </a:ext>
            </a:extLst>
          </p:cNvPr>
          <p:cNvSpPr/>
          <p:nvPr/>
        </p:nvSpPr>
        <p:spPr bwMode="auto">
          <a:xfrm>
            <a:off x="4512540" y="1553166"/>
            <a:ext cx="9135221" cy="914400"/>
          </a:xfrm>
          <a:prstGeom prst="leftArrowCallout">
            <a:avLst>
              <a:gd name="adj1" fmla="val 25000"/>
              <a:gd name="adj2" fmla="val 35417"/>
              <a:gd name="adj3" fmla="val 35417"/>
              <a:gd name="adj4" fmla="val 51408"/>
            </a:avLst>
          </a:prstGeom>
          <a:solidFill>
            <a:schemeClr val="accent1"/>
          </a:solidFill>
          <a:ln w="9525">
            <a:noFill/>
            <a:round/>
            <a:headEnd/>
            <a:tailEnd/>
          </a:ln>
          <a:effectLst/>
        </p:spPr>
        <p:txBody>
          <a:bodyPr wrap="square" rtlCol="0" anchor="ctr"/>
          <a:lstStyle/>
          <a:p>
            <a:pPr algn="ctr" eaLnBrk="0" fontAlgn="base" hangingPunct="0">
              <a:spcBef>
                <a:spcPct val="0"/>
              </a:spcBef>
              <a:spcAft>
                <a:spcPct val="0"/>
              </a:spcAft>
            </a:pPr>
            <a:endParaRPr lang="en-US" sz="1800" b="1">
              <a:solidFill>
                <a:srgbClr val="FFFFFF"/>
              </a:solidFill>
            </a:endParaRPr>
          </a:p>
        </p:txBody>
      </p:sp>
      <p:sp>
        <p:nvSpPr>
          <p:cNvPr id="3" name="TextBox 2">
            <a:extLst>
              <a:ext uri="{FF2B5EF4-FFF2-40B4-BE49-F238E27FC236}">
                <a16:creationId xmlns:a16="http://schemas.microsoft.com/office/drawing/2014/main" id="{11AE0E8E-036C-CCDB-8180-5DCCDD71456C}"/>
              </a:ext>
            </a:extLst>
          </p:cNvPr>
          <p:cNvSpPr txBox="1"/>
          <p:nvPr/>
        </p:nvSpPr>
        <p:spPr>
          <a:xfrm>
            <a:off x="8817429" y="1539937"/>
            <a:ext cx="4830332" cy="1754326"/>
          </a:xfrm>
          <a:prstGeom prst="rect">
            <a:avLst/>
          </a:prstGeom>
          <a:solidFill>
            <a:schemeClr val="tx2"/>
          </a:solidFill>
        </p:spPr>
        <p:txBody>
          <a:bodyPr wrap="square">
            <a:spAutoFit/>
          </a:bodyPr>
          <a:lstStyle/>
          <a:p>
            <a:pPr algn="ctr" eaLnBrk="0" fontAlgn="base" hangingPunct="0">
              <a:spcBef>
                <a:spcPct val="0"/>
              </a:spcBef>
              <a:spcAft>
                <a:spcPct val="0"/>
              </a:spcAft>
            </a:pPr>
            <a:endParaRPr lang="en-US" sz="1800" b="1">
              <a:solidFill>
                <a:srgbClr val="FFFFFF"/>
              </a:solidFill>
            </a:endParaRPr>
          </a:p>
          <a:p>
            <a:pPr algn="ctr" eaLnBrk="0" fontAlgn="base" hangingPunct="0">
              <a:spcBef>
                <a:spcPct val="0"/>
              </a:spcBef>
              <a:spcAft>
                <a:spcPct val="0"/>
              </a:spcAft>
            </a:pPr>
            <a:endParaRPr lang="en-US" sz="1800" b="1">
              <a:solidFill>
                <a:srgbClr val="FFFFFF"/>
              </a:solidFill>
            </a:endParaRPr>
          </a:p>
          <a:p>
            <a:pPr algn="ctr" eaLnBrk="0" fontAlgn="base" hangingPunct="0">
              <a:spcBef>
                <a:spcPct val="0"/>
              </a:spcBef>
              <a:spcAft>
                <a:spcPct val="0"/>
              </a:spcAft>
            </a:pPr>
            <a:endParaRPr lang="en-US" sz="1800" b="1">
              <a:solidFill>
                <a:srgbClr val="FFFFFF"/>
              </a:solidFill>
            </a:endParaRPr>
          </a:p>
          <a:p>
            <a:pPr algn="ctr" eaLnBrk="0" fontAlgn="base" hangingPunct="0">
              <a:spcBef>
                <a:spcPct val="0"/>
              </a:spcBef>
              <a:spcAft>
                <a:spcPct val="0"/>
              </a:spcAft>
            </a:pPr>
            <a:endParaRPr lang="en-US" sz="1800" b="1">
              <a:solidFill>
                <a:srgbClr val="FFFFFF"/>
              </a:solidFill>
            </a:endParaRPr>
          </a:p>
          <a:p>
            <a:pPr algn="ctr" eaLnBrk="0" fontAlgn="base" hangingPunct="0">
              <a:spcBef>
                <a:spcPct val="0"/>
              </a:spcBef>
              <a:spcAft>
                <a:spcPct val="0"/>
              </a:spcAft>
            </a:pPr>
            <a:endParaRPr lang="en-US" sz="1800" b="1">
              <a:solidFill>
                <a:srgbClr val="FFFFFF"/>
              </a:solidFill>
            </a:endParaRPr>
          </a:p>
          <a:p>
            <a:pPr algn="ctr" eaLnBrk="0" fontAlgn="base" hangingPunct="0">
              <a:spcBef>
                <a:spcPct val="0"/>
              </a:spcBef>
              <a:spcAft>
                <a:spcPct val="0"/>
              </a:spcAft>
            </a:pPr>
            <a:endParaRPr lang="en-US" sz="1800" b="1">
              <a:solidFill>
                <a:srgbClr val="FFFFFF"/>
              </a:solidFill>
            </a:endParaRPr>
          </a:p>
        </p:txBody>
      </p:sp>
      <p:sp>
        <p:nvSpPr>
          <p:cNvPr id="18" name="TextBox 17">
            <a:extLst>
              <a:ext uri="{FF2B5EF4-FFF2-40B4-BE49-F238E27FC236}">
                <a16:creationId xmlns:a16="http://schemas.microsoft.com/office/drawing/2014/main" id="{1403E14E-61C9-ACA1-A479-8462F5682BF8}"/>
              </a:ext>
            </a:extLst>
          </p:cNvPr>
          <p:cNvSpPr txBox="1"/>
          <p:nvPr/>
        </p:nvSpPr>
        <p:spPr>
          <a:xfrm>
            <a:off x="8885202" y="1662705"/>
            <a:ext cx="4650379" cy="1585049"/>
          </a:xfrm>
          <a:prstGeom prst="rect">
            <a:avLst/>
          </a:prstGeom>
          <a:noFill/>
        </p:spPr>
        <p:txBody>
          <a:bodyPr wrap="square">
            <a:spAutoFit/>
          </a:bodyPr>
          <a:lstStyle/>
          <a:p>
            <a:pPr algn="ctr" eaLnBrk="0" fontAlgn="base" hangingPunct="0">
              <a:spcBef>
                <a:spcPct val="0"/>
              </a:spcBef>
              <a:spcAft>
                <a:spcPct val="0"/>
              </a:spcAft>
            </a:pPr>
            <a:r>
              <a:rPr lang="en-US" sz="1800" b="1">
                <a:solidFill>
                  <a:srgbClr val="FFFFFF"/>
                </a:solidFill>
              </a:rPr>
              <a:t>Current Stage </a:t>
            </a:r>
            <a:r>
              <a:rPr lang="en-US" sz="1800" b="1">
                <a:solidFill>
                  <a:schemeClr val="bg1"/>
                </a:solidFill>
              </a:rPr>
              <a:t>of </a:t>
            </a:r>
          </a:p>
          <a:p>
            <a:pPr algn="ctr" eaLnBrk="0" fontAlgn="base" hangingPunct="0">
              <a:spcBef>
                <a:spcPct val="0"/>
              </a:spcBef>
              <a:spcAft>
                <a:spcPct val="0"/>
              </a:spcAft>
            </a:pPr>
            <a:endParaRPr lang="en-US" sz="1800" b="1">
              <a:solidFill>
                <a:schemeClr val="bg1"/>
              </a:solidFill>
            </a:endParaRPr>
          </a:p>
          <a:p>
            <a:pPr algn="ctr" eaLnBrk="0" fontAlgn="base" hangingPunct="0">
              <a:spcBef>
                <a:spcPct val="0"/>
              </a:spcBef>
              <a:spcAft>
                <a:spcPct val="0"/>
              </a:spcAft>
            </a:pPr>
            <a:endParaRPr lang="en-US" sz="2500" b="1">
              <a:solidFill>
                <a:schemeClr val="bg1"/>
              </a:solidFill>
            </a:endParaRPr>
          </a:p>
          <a:p>
            <a:pPr algn="ctr" eaLnBrk="0" fontAlgn="base" hangingPunct="0">
              <a:spcBef>
                <a:spcPct val="0"/>
              </a:spcBef>
              <a:spcAft>
                <a:spcPct val="0"/>
              </a:spcAft>
            </a:pPr>
            <a:endParaRPr lang="en-US" sz="1800" b="1">
              <a:solidFill>
                <a:srgbClr val="FFFFFF"/>
              </a:solidFill>
            </a:endParaRPr>
          </a:p>
          <a:p>
            <a:pPr algn="ctr" eaLnBrk="0" fontAlgn="base" hangingPunct="0">
              <a:spcBef>
                <a:spcPct val="0"/>
              </a:spcBef>
              <a:spcAft>
                <a:spcPct val="0"/>
              </a:spcAft>
            </a:pPr>
            <a:r>
              <a:rPr lang="en-US" sz="1800" b="1">
                <a:solidFill>
                  <a:srgbClr val="FFFFFF"/>
                </a:solidFill>
              </a:rPr>
              <a:t>Program</a:t>
            </a:r>
          </a:p>
        </p:txBody>
      </p:sp>
      <p:sp>
        <p:nvSpPr>
          <p:cNvPr id="6" name="Title 5">
            <a:extLst>
              <a:ext uri="{FF2B5EF4-FFF2-40B4-BE49-F238E27FC236}">
                <a16:creationId xmlns:a16="http://schemas.microsoft.com/office/drawing/2014/main" id="{0A12E9CF-ED28-1EDB-8834-12577A1B9B8E}"/>
              </a:ext>
            </a:extLst>
          </p:cNvPr>
          <p:cNvSpPr>
            <a:spLocks noGrp="1"/>
          </p:cNvSpPr>
          <p:nvPr>
            <p:ph type="title"/>
          </p:nvPr>
        </p:nvSpPr>
        <p:spPr/>
        <p:txBody>
          <a:bodyPr/>
          <a:lstStyle/>
          <a:p>
            <a:r>
              <a:rPr lang="en-US"/>
              <a:t>Initiate the End-to-End Pioneer Program Process</a:t>
            </a:r>
          </a:p>
        </p:txBody>
      </p:sp>
      <p:grpSp>
        <p:nvGrpSpPr>
          <p:cNvPr id="12" name="Group 11">
            <a:extLst>
              <a:ext uri="{FF2B5EF4-FFF2-40B4-BE49-F238E27FC236}">
                <a16:creationId xmlns:a16="http://schemas.microsoft.com/office/drawing/2014/main" id="{36B01066-82FD-2610-C950-16E13250D424}"/>
              </a:ext>
            </a:extLst>
          </p:cNvPr>
          <p:cNvGrpSpPr/>
          <p:nvPr/>
        </p:nvGrpSpPr>
        <p:grpSpPr>
          <a:xfrm>
            <a:off x="783899" y="3589218"/>
            <a:ext cx="3796414" cy="583803"/>
            <a:chOff x="203706" y="1361270"/>
            <a:chExt cx="1818782" cy="583803"/>
          </a:xfrm>
        </p:grpSpPr>
        <p:sp>
          <p:nvSpPr>
            <p:cNvPr id="13" name="Rectangle 12">
              <a:extLst>
                <a:ext uri="{FF2B5EF4-FFF2-40B4-BE49-F238E27FC236}">
                  <a16:creationId xmlns:a16="http://schemas.microsoft.com/office/drawing/2014/main" id="{A64DD16A-996A-225A-1149-67804FFDAC29}"/>
                </a:ext>
              </a:extLst>
            </p:cNvPr>
            <p:cNvSpPr/>
            <p:nvPr/>
          </p:nvSpPr>
          <p:spPr>
            <a:xfrm>
              <a:off x="203706" y="1361270"/>
              <a:ext cx="1818782"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372550E1-92B5-996B-1209-1BF7C882E06E}"/>
                </a:ext>
              </a:extLst>
            </p:cNvPr>
            <p:cNvSpPr txBox="1"/>
            <p:nvPr/>
          </p:nvSpPr>
          <p:spPr>
            <a:xfrm>
              <a:off x="203706" y="1361270"/>
              <a:ext cx="1786970"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Interest &amp; Readiness</a:t>
              </a:r>
            </a:p>
          </p:txBody>
        </p:sp>
      </p:grpSp>
      <p:sp>
        <p:nvSpPr>
          <p:cNvPr id="4" name="Content Placeholder 6">
            <a:extLst>
              <a:ext uri="{FF2B5EF4-FFF2-40B4-BE49-F238E27FC236}">
                <a16:creationId xmlns:a16="http://schemas.microsoft.com/office/drawing/2014/main" id="{5B712F73-4394-87A2-4EB1-39E8DC9897BD}"/>
              </a:ext>
            </a:extLst>
          </p:cNvPr>
          <p:cNvSpPr>
            <a:spLocks noGrp="1"/>
          </p:cNvSpPr>
          <p:nvPr>
            <p:ph idx="1"/>
          </p:nvPr>
        </p:nvSpPr>
        <p:spPr>
          <a:xfrm>
            <a:off x="8817429" y="3409406"/>
            <a:ext cx="4830332" cy="4490628"/>
          </a:xfrm>
          <a:ln>
            <a:solidFill>
              <a:schemeClr val="tx1"/>
            </a:solidFill>
          </a:ln>
        </p:spPr>
        <p:txBody>
          <a:bodyPr>
            <a:normAutofit/>
          </a:bodyPr>
          <a:lstStyle/>
          <a:p>
            <a:pPr marL="0" indent="0" algn="ctr">
              <a:buNone/>
            </a:pPr>
            <a:r>
              <a:rPr lang="en-US" sz="1600" b="1" dirty="0"/>
              <a:t>Pioneer Program Qualification Process </a:t>
            </a:r>
          </a:p>
          <a:p>
            <a:pPr marL="342900" indent="-342900">
              <a:buFont typeface="+mj-lt"/>
              <a:buAutoNum type="arabicPeriod"/>
            </a:pPr>
            <a:r>
              <a:rPr lang="en-US" sz="1600" dirty="0"/>
              <a:t>Sales Team to submit customer nominations to Program Team by emailing completed Internal Questionnaire – </a:t>
            </a:r>
            <a:r>
              <a:rPr lang="en-US" sz="1600" b="1" dirty="0"/>
              <a:t>Round 1</a:t>
            </a:r>
          </a:p>
          <a:p>
            <a:pPr marL="342900" indent="-342900">
              <a:buFont typeface="+mj-lt"/>
              <a:buAutoNum type="arabicPeriod"/>
            </a:pPr>
            <a:r>
              <a:rPr lang="en-US" sz="1600" dirty="0"/>
              <a:t>Selection Committee to shortlist considered customers (based on </a:t>
            </a:r>
            <a:r>
              <a:rPr lang="en-US" sz="1600" dirty="0">
                <a:hlinkClick r:id="rId3" action="ppaction://hlinksldjump"/>
              </a:rPr>
              <a:t>Selection Criteria</a:t>
            </a:r>
            <a:r>
              <a:rPr lang="en-US" sz="1600" dirty="0"/>
              <a:t>) and provide External Questionnaire to selected Sales Teams</a:t>
            </a:r>
          </a:p>
          <a:p>
            <a:pPr marL="342900" indent="-342900">
              <a:buFont typeface="+mj-lt"/>
              <a:buAutoNum type="arabicPeriod"/>
            </a:pPr>
            <a:r>
              <a:rPr lang="en-US" sz="1600" dirty="0"/>
              <a:t>Sales Team works with customer to complete and submit External Questionnaire to Program Team within 2 weeks of receiving – </a:t>
            </a:r>
            <a:r>
              <a:rPr lang="en-US" sz="1600" b="1" dirty="0"/>
              <a:t>Round 2</a:t>
            </a:r>
          </a:p>
          <a:p>
            <a:pPr marL="342900" indent="-342900">
              <a:buFont typeface="+mj-lt"/>
              <a:buAutoNum type="arabicPeriod"/>
            </a:pPr>
            <a:r>
              <a:rPr lang="en-US" sz="1600" dirty="0"/>
              <a:t>Program Team to select final 8-10 customers to join Program</a:t>
            </a:r>
          </a:p>
          <a:p>
            <a:pPr marL="342900" indent="-342900">
              <a:buFont typeface="+mj-lt"/>
              <a:buAutoNum type="arabicPeriod"/>
            </a:pPr>
            <a:r>
              <a:rPr lang="en-US" sz="1600" dirty="0"/>
              <a:t>Sales Team to notify customers of acceptances </a:t>
            </a:r>
          </a:p>
        </p:txBody>
      </p:sp>
      <p:sp>
        <p:nvSpPr>
          <p:cNvPr id="8" name="Callout: Left Arrow 7">
            <a:extLst>
              <a:ext uri="{FF2B5EF4-FFF2-40B4-BE49-F238E27FC236}">
                <a16:creationId xmlns:a16="http://schemas.microsoft.com/office/drawing/2014/main" id="{7C2F61D4-A96B-DE24-474D-22CA39063E73}"/>
              </a:ext>
            </a:extLst>
          </p:cNvPr>
          <p:cNvSpPr/>
          <p:nvPr/>
        </p:nvSpPr>
        <p:spPr bwMode="auto">
          <a:xfrm>
            <a:off x="4512539" y="2422752"/>
            <a:ext cx="3954245" cy="1326287"/>
          </a:xfrm>
          <a:prstGeom prst="leftArrowCallout">
            <a:avLst>
              <a:gd name="adj1" fmla="val 17463"/>
              <a:gd name="adj2" fmla="val 25000"/>
              <a:gd name="adj3" fmla="val 25000"/>
              <a:gd name="adj4" fmla="val 77773"/>
            </a:avLst>
          </a:prstGeom>
          <a:solidFill>
            <a:schemeClr val="accent1"/>
          </a:solidFill>
          <a:ln w="9525">
            <a:noFill/>
            <a:round/>
            <a:headEnd/>
            <a:tailEnd/>
          </a:ln>
          <a:effectLst/>
        </p:spPr>
        <p:txBody>
          <a:bodyPr wrap="square" rtlCol="0" anchor="ctr"/>
          <a:lstStyle/>
          <a:p>
            <a:pPr algn="ctr" eaLnBrk="0" fontAlgn="base" hangingPunct="0">
              <a:spcBef>
                <a:spcPct val="0"/>
              </a:spcBef>
              <a:spcAft>
                <a:spcPct val="0"/>
              </a:spcAft>
            </a:pPr>
            <a:r>
              <a:rPr lang="en-US" sz="1800" b="1">
                <a:solidFill>
                  <a:srgbClr val="FFFFFF"/>
                </a:solidFill>
              </a:rPr>
              <a:t>Current Stage </a:t>
            </a:r>
            <a:r>
              <a:rPr lang="en-US" sz="1800" b="1">
                <a:solidFill>
                  <a:schemeClr val="bg1"/>
                </a:solidFill>
              </a:rPr>
              <a:t>of </a:t>
            </a:r>
          </a:p>
          <a:p>
            <a:pPr algn="ctr" eaLnBrk="0" fontAlgn="base" hangingPunct="0">
              <a:spcBef>
                <a:spcPct val="0"/>
              </a:spcBef>
              <a:spcAft>
                <a:spcPct val="0"/>
              </a:spcAft>
            </a:pPr>
            <a:endParaRPr lang="en-US" sz="1800" b="1">
              <a:solidFill>
                <a:schemeClr val="bg1"/>
              </a:solidFill>
            </a:endParaRPr>
          </a:p>
          <a:p>
            <a:pPr algn="ctr" eaLnBrk="0" fontAlgn="base" hangingPunct="0">
              <a:spcBef>
                <a:spcPct val="0"/>
              </a:spcBef>
              <a:spcAft>
                <a:spcPct val="0"/>
              </a:spcAft>
            </a:pPr>
            <a:endParaRPr lang="en-US" sz="1800" b="1">
              <a:solidFill>
                <a:srgbClr val="FFFFFF"/>
              </a:solidFill>
            </a:endParaRPr>
          </a:p>
          <a:p>
            <a:pPr algn="ctr" eaLnBrk="0" fontAlgn="base" hangingPunct="0">
              <a:spcBef>
                <a:spcPct val="0"/>
              </a:spcBef>
              <a:spcAft>
                <a:spcPct val="0"/>
              </a:spcAft>
            </a:pPr>
            <a:r>
              <a:rPr lang="en-US" sz="1800" b="1">
                <a:solidFill>
                  <a:srgbClr val="FFFFFF"/>
                </a:solidFill>
              </a:rPr>
              <a:t>Program</a:t>
            </a:r>
          </a:p>
        </p:txBody>
      </p:sp>
      <p:sp>
        <p:nvSpPr>
          <p:cNvPr id="30" name="Content Placeholder 6">
            <a:extLst>
              <a:ext uri="{FF2B5EF4-FFF2-40B4-BE49-F238E27FC236}">
                <a16:creationId xmlns:a16="http://schemas.microsoft.com/office/drawing/2014/main" id="{CAA85FAB-EC9F-C384-BFBE-C1669BF445E4}"/>
              </a:ext>
            </a:extLst>
          </p:cNvPr>
          <p:cNvSpPr txBox="1">
            <a:spLocks/>
          </p:cNvSpPr>
          <p:nvPr/>
        </p:nvSpPr>
        <p:spPr>
          <a:xfrm>
            <a:off x="5394960" y="3840977"/>
            <a:ext cx="3071824" cy="4059057"/>
          </a:xfrm>
          <a:prstGeom prst="rect">
            <a:avLst/>
          </a:prstGeom>
          <a:ln>
            <a:solidFill>
              <a:schemeClr val="tx1"/>
            </a:solidFill>
          </a:ln>
        </p:spPr>
        <p:txBody>
          <a:bodyPr vert="horz" lIns="91440" tIns="91440" rIns="91440" bIns="45720" rtlCol="0">
            <a:normAutofit fontScale="92500" lnSpcReduction="1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t>Proposal Kickoff </a:t>
            </a:r>
          </a:p>
          <a:p>
            <a:pPr marL="342900" indent="-342900">
              <a:buFont typeface="+mj-lt"/>
              <a:buAutoNum type="arabicPeriod"/>
            </a:pPr>
            <a:r>
              <a:rPr lang="en-US" sz="1600" dirty="0"/>
              <a:t>PMM to work with Sales Team to capture customer profile </a:t>
            </a:r>
          </a:p>
          <a:p>
            <a:pPr marL="342900" indent="-342900">
              <a:buFont typeface="+mj-lt"/>
              <a:buAutoNum type="arabicPeriod"/>
            </a:pPr>
            <a:r>
              <a:rPr lang="en-US" sz="1600" dirty="0"/>
              <a:t>Initiate proposal process </a:t>
            </a:r>
          </a:p>
          <a:p>
            <a:pPr marL="342900" indent="-342900">
              <a:buFont typeface="+mj-lt"/>
              <a:buAutoNum type="arabicPeriod"/>
            </a:pPr>
            <a:r>
              <a:rPr lang="en-US" sz="1600" dirty="0"/>
              <a:t>Submit customer as “official pioneer” through RTQ approval</a:t>
            </a:r>
          </a:p>
          <a:p>
            <a:pPr marL="342900" indent="-342900">
              <a:buFont typeface="+mj-lt"/>
              <a:buAutoNum type="arabicPeriod"/>
            </a:pPr>
            <a:r>
              <a:rPr lang="en-US" sz="1600" dirty="0"/>
              <a:t>Issue proposal to pioneer customer with order form included </a:t>
            </a:r>
          </a:p>
          <a:p>
            <a:pPr marL="342900" indent="-342900">
              <a:buFont typeface="+mj-lt"/>
              <a:buAutoNum type="arabicPeriod"/>
            </a:pPr>
            <a:r>
              <a:rPr lang="en-US" sz="1600" dirty="0"/>
              <a:t>Begin developing internal project-specific RASCI from Pioneer Program Standard Support Governance </a:t>
            </a:r>
          </a:p>
        </p:txBody>
      </p:sp>
      <p:sp>
        <p:nvSpPr>
          <p:cNvPr id="32" name="Rectangle: Rounded Corners 31">
            <a:extLst>
              <a:ext uri="{FF2B5EF4-FFF2-40B4-BE49-F238E27FC236}">
                <a16:creationId xmlns:a16="http://schemas.microsoft.com/office/drawing/2014/main" id="{D5826EA1-B9B5-AFC3-EBF3-C006D725A5D6}"/>
              </a:ext>
            </a:extLst>
          </p:cNvPr>
          <p:cNvSpPr/>
          <p:nvPr/>
        </p:nvSpPr>
        <p:spPr bwMode="auto">
          <a:xfrm>
            <a:off x="6002988" y="2902862"/>
            <a:ext cx="1812974" cy="366065"/>
          </a:xfrm>
          <a:prstGeom prst="roundRect">
            <a:avLst>
              <a:gd name="adj" fmla="val 50000"/>
            </a:avLst>
          </a:prstGeom>
          <a:solidFill>
            <a:schemeClr val="accent4">
              <a:lumMod val="20000"/>
              <a:lumOff val="80000"/>
            </a:schemeClr>
          </a:solidFill>
          <a:ln w="9525">
            <a:solidFill>
              <a:schemeClr val="accent4">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IQ Controller</a:t>
            </a:r>
          </a:p>
        </p:txBody>
      </p:sp>
      <p:grpSp>
        <p:nvGrpSpPr>
          <p:cNvPr id="19" name="Group 18">
            <a:extLst>
              <a:ext uri="{FF2B5EF4-FFF2-40B4-BE49-F238E27FC236}">
                <a16:creationId xmlns:a16="http://schemas.microsoft.com/office/drawing/2014/main" id="{CACB9AB7-5EEC-756A-07DF-C37E3574F3A3}"/>
              </a:ext>
            </a:extLst>
          </p:cNvPr>
          <p:cNvGrpSpPr/>
          <p:nvPr/>
        </p:nvGrpSpPr>
        <p:grpSpPr>
          <a:xfrm>
            <a:off x="9914426" y="2091187"/>
            <a:ext cx="2636338" cy="752757"/>
            <a:chOff x="9914425" y="2042380"/>
            <a:chExt cx="2636338" cy="752757"/>
          </a:xfrm>
        </p:grpSpPr>
        <p:sp>
          <p:nvSpPr>
            <p:cNvPr id="7" name="Rectangle: Rounded Corners 6">
              <a:extLst>
                <a:ext uri="{FF2B5EF4-FFF2-40B4-BE49-F238E27FC236}">
                  <a16:creationId xmlns:a16="http://schemas.microsoft.com/office/drawing/2014/main" id="{31318190-9AC3-4023-4326-32997C59C73C}"/>
                </a:ext>
              </a:extLst>
            </p:cNvPr>
            <p:cNvSpPr/>
            <p:nvPr/>
          </p:nvSpPr>
          <p:spPr bwMode="auto">
            <a:xfrm>
              <a:off x="9960144" y="2042380"/>
              <a:ext cx="2544899" cy="335280"/>
            </a:xfrm>
            <a:prstGeom prst="roundRect">
              <a:avLst>
                <a:gd name="adj" fmla="val 50000"/>
              </a:avLst>
            </a:prstGeom>
            <a:solidFill>
              <a:schemeClr val="accent5">
                <a:lumMod val="20000"/>
                <a:lumOff val="80000"/>
              </a:schemeClr>
            </a:solidFill>
            <a:ln w="9525">
              <a:solidFill>
                <a:schemeClr val="accent5">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Live Enterprise View</a:t>
              </a:r>
            </a:p>
          </p:txBody>
        </p:sp>
        <p:sp>
          <p:nvSpPr>
            <p:cNvPr id="16" name="Rectangle: Rounded Corners 15">
              <a:extLst>
                <a:ext uri="{FF2B5EF4-FFF2-40B4-BE49-F238E27FC236}">
                  <a16:creationId xmlns:a16="http://schemas.microsoft.com/office/drawing/2014/main" id="{31990C8D-A876-EE93-4249-5ACCBA4F97DE}"/>
                </a:ext>
              </a:extLst>
            </p:cNvPr>
            <p:cNvSpPr/>
            <p:nvPr/>
          </p:nvSpPr>
          <p:spPr bwMode="auto">
            <a:xfrm>
              <a:off x="9914425" y="2459857"/>
              <a:ext cx="2636338" cy="335280"/>
            </a:xfrm>
            <a:prstGeom prst="roundRect">
              <a:avLst>
                <a:gd name="adj" fmla="val 50000"/>
              </a:avLst>
            </a:prstGeom>
            <a:solidFill>
              <a:schemeClr val="accent3">
                <a:lumMod val="20000"/>
                <a:lumOff val="80000"/>
              </a:schemeClr>
            </a:solidFill>
            <a:ln w="9525">
              <a:solidFill>
                <a:schemeClr val="accent3">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a:latin typeface="Arial Narrow" panose="020B0606020202030204" pitchFamily="34" charset="0"/>
                </a:rPr>
                <a:t>Enterprise Engineering </a:t>
              </a:r>
            </a:p>
          </p:txBody>
        </p:sp>
      </p:grpSp>
      <p:sp>
        <p:nvSpPr>
          <p:cNvPr id="20" name="TextBox 19">
            <a:extLst>
              <a:ext uri="{FF2B5EF4-FFF2-40B4-BE49-F238E27FC236}">
                <a16:creationId xmlns:a16="http://schemas.microsoft.com/office/drawing/2014/main" id="{AED84CE0-5F9F-B721-7881-B3BE32AEC9D5}"/>
              </a:ext>
            </a:extLst>
          </p:cNvPr>
          <p:cNvSpPr txBox="1"/>
          <p:nvPr/>
        </p:nvSpPr>
        <p:spPr>
          <a:xfrm>
            <a:off x="1043852" y="1827278"/>
            <a:ext cx="3275135" cy="1600438"/>
          </a:xfrm>
          <a:prstGeom prst="rect">
            <a:avLst/>
          </a:prstGeom>
          <a:noFill/>
        </p:spPr>
        <p:txBody>
          <a:bodyPr wrap="square">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Begin </a:t>
            </a:r>
            <a:r>
              <a:rPr kumimoji="0" lang="en-US" sz="1400" b="1" i="0" u="none" strike="noStrike" kern="1200" cap="none" spc="0" normalizeH="0" baseline="0" noProof="0" dirty="0">
                <a:ln>
                  <a:noFill/>
                </a:ln>
                <a:solidFill>
                  <a:srgbClr val="000000"/>
                </a:solidFill>
                <a:effectLst/>
                <a:uLnTx/>
                <a:uFillTx/>
                <a:latin typeface="Arial"/>
                <a:ea typeface="+mn-ea"/>
                <a:cs typeface="+mn-cs"/>
              </a:rPr>
              <a:t>Qualification Process</a:t>
            </a:r>
            <a:r>
              <a:rPr kumimoji="0" lang="en-US" sz="1400" b="0" i="0" u="none" strike="noStrike" kern="1200" cap="none" spc="0" normalizeH="0" baseline="0" noProof="0" dirty="0">
                <a:ln>
                  <a:noFill/>
                </a:ln>
                <a:solidFill>
                  <a:srgbClr val="000000"/>
                </a:solidFill>
                <a:effectLst/>
                <a:uLnTx/>
                <a:uFillTx/>
                <a:latin typeface="Arial"/>
                <a:ea typeface="+mn-ea"/>
                <a:cs typeface="+mn-cs"/>
              </a:rPr>
              <a:t> for Customer Acceptances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Establish </a:t>
            </a:r>
            <a:r>
              <a:rPr kumimoji="0" lang="en-US" sz="1400" b="1" i="0" u="none" strike="noStrike" kern="1200" cap="none" spc="0" normalizeH="0" baseline="0" noProof="0" dirty="0">
                <a:ln>
                  <a:noFill/>
                </a:ln>
                <a:solidFill>
                  <a:srgbClr val="000000"/>
                </a:solidFill>
                <a:effectLst/>
                <a:uLnTx/>
                <a:uFillTx/>
                <a:latin typeface="Arial"/>
                <a:ea typeface="+mn-ea"/>
                <a:cs typeface="+mn-cs"/>
              </a:rPr>
              <a:t>Operational Readiness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Arial"/>
              <a:ea typeface="+mn-ea"/>
              <a:cs typeface="+mn-cs"/>
            </a:endParaRPr>
          </a:p>
          <a:p>
            <a:pPr algn="ctr">
              <a:defRPr/>
            </a:pPr>
            <a:r>
              <a:rPr lang="en-US" sz="1400" dirty="0">
                <a:solidFill>
                  <a:srgbClr val="000000"/>
                </a:solidFill>
              </a:rPr>
              <a:t>Derive </a:t>
            </a:r>
            <a:r>
              <a:rPr lang="en-US" sz="1400" b="1" dirty="0">
                <a:solidFill>
                  <a:srgbClr val="000000"/>
                </a:solidFill>
              </a:rPr>
              <a:t>Project-Specific RASCI </a:t>
            </a:r>
            <a:r>
              <a:rPr lang="en-US" sz="1400" dirty="0">
                <a:solidFill>
                  <a:srgbClr val="000000"/>
                </a:solidFill>
              </a:rPr>
              <a:t>from Standard Support Governance</a:t>
            </a:r>
          </a:p>
        </p:txBody>
      </p:sp>
      <p:sp>
        <p:nvSpPr>
          <p:cNvPr id="21" name="Arrow: Left 20">
            <a:hlinkClick r:id="rId4" action="ppaction://hlinksldjump"/>
            <a:extLst>
              <a:ext uri="{FF2B5EF4-FFF2-40B4-BE49-F238E27FC236}">
                <a16:creationId xmlns:a16="http://schemas.microsoft.com/office/drawing/2014/main" id="{22A6AB49-7C09-9A67-0276-A9CD41231376}"/>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17" name="Picture 16">
            <a:extLst>
              <a:ext uri="{FF2B5EF4-FFF2-40B4-BE49-F238E27FC236}">
                <a16:creationId xmlns:a16="http://schemas.microsoft.com/office/drawing/2014/main" id="{3EF3BDE5-8D78-5F5E-67CE-B0B7F87306CC}"/>
              </a:ext>
            </a:extLst>
          </p:cNvPr>
          <p:cNvPicPr>
            <a:picLocks noChangeAspect="1"/>
          </p:cNvPicPr>
          <p:nvPr/>
        </p:nvPicPr>
        <p:blipFill>
          <a:blip r:embed="rId5"/>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3146564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C3E7B-2321-7E93-3D7B-7C075A7AA0B0}"/>
            </a:ext>
          </a:extLst>
        </p:cNvPr>
        <p:cNvGrpSpPr/>
        <p:nvPr/>
      </p:nvGrpSpPr>
      <p:grpSpPr>
        <a:xfrm>
          <a:off x="0" y="0"/>
          <a:ext cx="0" cy="0"/>
          <a:chOff x="0" y="0"/>
          <a:chExt cx="0" cy="0"/>
        </a:xfrm>
      </p:grpSpPr>
      <p:graphicFrame>
        <p:nvGraphicFramePr>
          <p:cNvPr id="45" name="Table 44">
            <a:extLst>
              <a:ext uri="{FF2B5EF4-FFF2-40B4-BE49-F238E27FC236}">
                <a16:creationId xmlns:a16="http://schemas.microsoft.com/office/drawing/2014/main" id="{52523153-1F9F-1DFC-0AF9-407366B8976C}"/>
              </a:ext>
            </a:extLst>
          </p:cNvPr>
          <p:cNvGraphicFramePr>
            <a:graphicFrameLocks noGrp="1"/>
          </p:cNvGraphicFramePr>
          <p:nvPr>
            <p:extLst>
              <p:ext uri="{D42A27DB-BD31-4B8C-83A1-F6EECF244321}">
                <p14:modId xmlns:p14="http://schemas.microsoft.com/office/powerpoint/2010/main" val="3048847092"/>
              </p:ext>
            </p:extLst>
          </p:nvPr>
        </p:nvGraphicFramePr>
        <p:xfrm>
          <a:off x="503237" y="1407931"/>
          <a:ext cx="13847975" cy="5937062"/>
        </p:xfrm>
        <a:graphic>
          <a:graphicData uri="http://schemas.openxmlformats.org/drawingml/2006/table">
            <a:tbl>
              <a:tblPr>
                <a:tableStyleId>{5C22544A-7EE6-4342-B048-85BDC9FD1C3A}</a:tableStyleId>
              </a:tblPr>
              <a:tblGrid>
                <a:gridCol w="1147433">
                  <a:extLst>
                    <a:ext uri="{9D8B030D-6E8A-4147-A177-3AD203B41FA5}">
                      <a16:colId xmlns:a16="http://schemas.microsoft.com/office/drawing/2014/main" val="2684890757"/>
                    </a:ext>
                  </a:extLst>
                </a:gridCol>
                <a:gridCol w="1492305">
                  <a:extLst>
                    <a:ext uri="{9D8B030D-6E8A-4147-A177-3AD203B41FA5}">
                      <a16:colId xmlns:a16="http://schemas.microsoft.com/office/drawing/2014/main" val="505947206"/>
                    </a:ext>
                  </a:extLst>
                </a:gridCol>
                <a:gridCol w="1609115">
                  <a:extLst>
                    <a:ext uri="{9D8B030D-6E8A-4147-A177-3AD203B41FA5}">
                      <a16:colId xmlns:a16="http://schemas.microsoft.com/office/drawing/2014/main" val="2953713432"/>
                    </a:ext>
                  </a:extLst>
                </a:gridCol>
                <a:gridCol w="1470580">
                  <a:extLst>
                    <a:ext uri="{9D8B030D-6E8A-4147-A177-3AD203B41FA5}">
                      <a16:colId xmlns:a16="http://schemas.microsoft.com/office/drawing/2014/main" val="3118683479"/>
                    </a:ext>
                  </a:extLst>
                </a:gridCol>
                <a:gridCol w="1543792">
                  <a:extLst>
                    <a:ext uri="{9D8B030D-6E8A-4147-A177-3AD203B41FA5}">
                      <a16:colId xmlns:a16="http://schemas.microsoft.com/office/drawing/2014/main" val="2032211000"/>
                    </a:ext>
                  </a:extLst>
                </a:gridCol>
                <a:gridCol w="932569">
                  <a:extLst>
                    <a:ext uri="{9D8B030D-6E8A-4147-A177-3AD203B41FA5}">
                      <a16:colId xmlns:a16="http://schemas.microsoft.com/office/drawing/2014/main" val="4149958782"/>
                    </a:ext>
                  </a:extLst>
                </a:gridCol>
                <a:gridCol w="932569">
                  <a:extLst>
                    <a:ext uri="{9D8B030D-6E8A-4147-A177-3AD203B41FA5}">
                      <a16:colId xmlns:a16="http://schemas.microsoft.com/office/drawing/2014/main" val="3568643652"/>
                    </a:ext>
                  </a:extLst>
                </a:gridCol>
                <a:gridCol w="1366437">
                  <a:extLst>
                    <a:ext uri="{9D8B030D-6E8A-4147-A177-3AD203B41FA5}">
                      <a16:colId xmlns:a16="http://schemas.microsoft.com/office/drawing/2014/main" val="3111654197"/>
                    </a:ext>
                  </a:extLst>
                </a:gridCol>
                <a:gridCol w="1986738">
                  <a:extLst>
                    <a:ext uri="{9D8B030D-6E8A-4147-A177-3AD203B41FA5}">
                      <a16:colId xmlns:a16="http://schemas.microsoft.com/office/drawing/2014/main" val="1117785057"/>
                    </a:ext>
                  </a:extLst>
                </a:gridCol>
                <a:gridCol w="1366437">
                  <a:extLst>
                    <a:ext uri="{9D8B030D-6E8A-4147-A177-3AD203B41FA5}">
                      <a16:colId xmlns:a16="http://schemas.microsoft.com/office/drawing/2014/main" val="296566870"/>
                    </a:ext>
                  </a:extLst>
                </a:gridCol>
              </a:tblGrid>
              <a:tr h="969104">
                <a:tc>
                  <a:txBody>
                    <a:bodyPr/>
                    <a:lstStyle/>
                    <a:p>
                      <a:pPr algn="r"/>
                      <a:endParaRPr lang="en-US" sz="1600" b="1">
                        <a:solidFill>
                          <a:schemeClr val="tx1">
                            <a:lumMod val="65000"/>
                            <a:lumOff val="3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February 2026</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March</a:t>
                      </a:r>
                    </a:p>
                    <a:p>
                      <a:pPr algn="ctr"/>
                      <a:r>
                        <a:rPr lang="en-US" sz="1600" b="1">
                          <a:latin typeface="+mn-lt"/>
                        </a:rPr>
                        <a:t>2026</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April </a:t>
                      </a:r>
                    </a:p>
                    <a:p>
                      <a:pPr algn="ctr"/>
                      <a:r>
                        <a:rPr lang="en-US" sz="1600" b="1">
                          <a:latin typeface="+mn-lt"/>
                        </a:rPr>
                        <a:t>2026</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May </a:t>
                      </a:r>
                    </a:p>
                    <a:p>
                      <a:pPr algn="ctr"/>
                      <a:r>
                        <a:rPr lang="en-US" sz="1600" b="1">
                          <a:latin typeface="+mn-lt"/>
                        </a:rPr>
                        <a:t>2026</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June </a:t>
                      </a:r>
                    </a:p>
                    <a:p>
                      <a:pPr algn="ctr"/>
                      <a:r>
                        <a:rPr lang="en-US" sz="1600" b="1">
                          <a:latin typeface="+mn-lt"/>
                        </a:rPr>
                        <a:t>2026</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July </a:t>
                      </a:r>
                    </a:p>
                    <a:p>
                      <a:pPr algn="ctr"/>
                      <a:r>
                        <a:rPr lang="en-US" sz="1600" b="1">
                          <a:latin typeface="+mn-lt"/>
                        </a:rPr>
                        <a:t>2026</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August</a:t>
                      </a:r>
                    </a:p>
                    <a:p>
                      <a:pPr algn="ctr"/>
                      <a:r>
                        <a:rPr lang="en-US" sz="1600" b="1">
                          <a:latin typeface="+mn-lt"/>
                        </a:rPr>
                        <a:t>2026</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b="1">
                        <a:latin typeface="+mn-lt"/>
                      </a:endParaRP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a:latin typeface="+mn-lt"/>
                        </a:rPr>
                        <a:t>August </a:t>
                      </a:r>
                    </a:p>
                    <a:p>
                      <a:pPr algn="ctr"/>
                      <a:r>
                        <a:rPr lang="en-US" sz="1600" b="1">
                          <a:latin typeface="+mn-lt"/>
                        </a:rPr>
                        <a:t>2027</a:t>
                      </a:r>
                    </a:p>
                  </a:txBody>
                  <a:tcPr marT="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891451"/>
                  </a:ext>
                </a:extLst>
              </a:tr>
              <a:tr h="1310710">
                <a:tc>
                  <a:txBody>
                    <a:bodyPr/>
                    <a:lstStyle/>
                    <a:p>
                      <a:pPr algn="ctr"/>
                      <a:r>
                        <a:rPr lang="en-US" sz="1600" b="1">
                          <a:solidFill>
                            <a:schemeClr val="tx1"/>
                          </a:solidFill>
                          <a:latin typeface="Arial Narrow" panose="020B0606020202030204" pitchFamily="34" charset="0"/>
                        </a:rPr>
                        <a:t>IQ Controller</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02870" indent="0" algn="l">
                        <a:buFont typeface="Arial" panose="020B0604020202020204" pitchFamily="34" charset="0"/>
                        <a:buNone/>
                      </a:pPr>
                      <a:endParaRPr lang="en-US" sz="13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285750" marR="0" lvl="0" indent="-182880" algn="l" defTabSz="14630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dirty="0"/>
                        <a:t>Proposal Kickoff (RTQ Approved)</a:t>
                      </a:r>
                    </a:p>
                    <a:p>
                      <a:pPr marL="102870" marR="0" lvl="0" indent="0" algn="l" defTabSz="146304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3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285750" marR="0" lvl="0" indent="-182880" algn="l" defTabSz="14630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a:t>Proposals Issued (Specs Finalized)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285750" indent="-182880" algn="l" defTabSz="1463040" rtl="0" eaLnBrk="1" latinLnBrk="0" hangingPunct="1">
                        <a:spcAft>
                          <a:spcPts val="600"/>
                        </a:spcAft>
                        <a:buFont typeface="Arial" panose="020B0604020202020204" pitchFamily="34" charset="0"/>
                        <a:buChar char="•"/>
                      </a:pPr>
                      <a:r>
                        <a:rPr lang="en-US" sz="1300" kern="1200">
                          <a:solidFill>
                            <a:schemeClr val="dk1"/>
                          </a:solidFill>
                          <a:latin typeface="+mn-lt"/>
                          <a:ea typeface="+mn-ea"/>
                          <a:cs typeface="+mn-cs"/>
                        </a:rPr>
                        <a:t>Customer PO Received</a:t>
                      </a:r>
                    </a:p>
                    <a:p>
                      <a:pPr marL="285750" indent="-182880" algn="l" defTabSz="1463040" rtl="0" eaLnBrk="1" latinLnBrk="0" hangingPunct="1">
                        <a:spcAft>
                          <a:spcPts val="600"/>
                        </a:spcAft>
                        <a:buFont typeface="Arial" panose="020B0604020202020204" pitchFamily="34" charset="0"/>
                        <a:buChar char="•"/>
                      </a:pPr>
                      <a:r>
                        <a:rPr lang="en-US" sz="1300" kern="1200">
                          <a:solidFill>
                            <a:schemeClr val="dk1"/>
                          </a:solidFill>
                          <a:latin typeface="+mn-lt"/>
                          <a:ea typeface="+mn-ea"/>
                          <a:cs typeface="+mn-cs"/>
                        </a:rPr>
                        <a:t>Project Kickoff (HW Procure)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300" u="none">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300" u="none">
                          <a:solidFill>
                            <a:schemeClr val="tx1"/>
                          </a:solidFill>
                        </a:rPr>
                        <a:t>Pioneer Term Begins </a:t>
                      </a:r>
                    </a:p>
                    <a:p>
                      <a:pPr algn="ctr"/>
                      <a:r>
                        <a:rPr lang="en-US" sz="1300" u="none">
                          <a:solidFill>
                            <a:schemeClr val="tx1"/>
                          </a:solidFill>
                        </a:rPr>
                        <a:t>(</a:t>
                      </a:r>
                      <a:r>
                        <a:rPr lang="en-US" sz="1300" u="none">
                          <a:solidFill>
                            <a:schemeClr val="tx1"/>
                          </a:solidFill>
                          <a:hlinkClick r:id="rId3" action="ppaction://hlinksldjump">
                            <a:extLst>
                              <a:ext uri="{A12FA001-AC4F-418D-AE19-62706E023703}">
                                <ahyp:hlinkClr xmlns:ahyp="http://schemas.microsoft.com/office/drawing/2018/hyperlinkcolor" val="tx"/>
                              </a:ext>
                            </a:extLst>
                          </a:hlinkClick>
                        </a:rPr>
                        <a:t>as defined</a:t>
                      </a:r>
                      <a:r>
                        <a:rPr lang="en-US" sz="1300" u="none">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3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300" u="none">
                          <a:solidFill>
                            <a:schemeClr val="tx1"/>
                          </a:solidFill>
                        </a:rPr>
                        <a:t>Pioneer Term </a:t>
                      </a:r>
                    </a:p>
                    <a:p>
                      <a:pPr algn="ctr"/>
                      <a:r>
                        <a:rPr lang="en-US" sz="1300" u="none">
                          <a:solidFill>
                            <a:schemeClr val="tx1"/>
                          </a:solidFill>
                        </a:rPr>
                        <a:t>Ends </a:t>
                      </a:r>
                    </a:p>
                    <a:p>
                      <a:pPr algn="ctr"/>
                      <a:r>
                        <a:rPr lang="en-US" sz="1300" u="none">
                          <a:solidFill>
                            <a:schemeClr val="tx1"/>
                          </a:solidFill>
                        </a:rPr>
                        <a:t>(</a:t>
                      </a:r>
                      <a:r>
                        <a:rPr lang="en-US" sz="1300" u="none">
                          <a:solidFill>
                            <a:schemeClr val="tx1"/>
                          </a:solidFill>
                          <a:hlinkClick r:id="rId3" action="ppaction://hlinksldjump">
                            <a:extLst>
                              <a:ext uri="{A12FA001-AC4F-418D-AE19-62706E023703}">
                                <ahyp:hlinkClr xmlns:ahyp="http://schemas.microsoft.com/office/drawing/2018/hyperlinkcolor" val="tx"/>
                              </a:ext>
                            </a:extLst>
                          </a:hlinkClick>
                        </a:rPr>
                        <a:t>as defined</a:t>
                      </a:r>
                      <a:r>
                        <a:rPr lang="en-US" sz="1300" u="none">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951298128"/>
                  </a:ext>
                </a:extLst>
              </a:tr>
              <a:tr h="1622599">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1"/>
                          </a:solidFill>
                          <a:effectLst/>
                          <a:uLnTx/>
                          <a:uFillTx/>
                          <a:latin typeface="Arial Narrow" panose="020B0606020202030204" pitchFamily="34" charset="0"/>
                          <a:ea typeface="+mn-ea"/>
                          <a:cs typeface="+mn-cs"/>
                        </a:rPr>
                        <a:t>DeltaV Live Enterprise View</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182880" algn="l">
                        <a:buFont typeface="Arial" panose="020B0604020202020204" pitchFamily="34" charset="0"/>
                        <a:buChar char="•"/>
                      </a:pPr>
                      <a:r>
                        <a:rPr lang="en-US" sz="1300"/>
                        <a:t>Participant Submissions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indent="-182880" algn="l">
                        <a:spcAft>
                          <a:spcPts val="600"/>
                        </a:spcAft>
                        <a:buFont typeface="Arial" panose="020B0604020202020204" pitchFamily="34" charset="0"/>
                        <a:buChar char="•"/>
                      </a:pPr>
                      <a:r>
                        <a:rPr lang="en-US" sz="1300" dirty="0"/>
                        <a:t>Participant Selections </a:t>
                      </a:r>
                    </a:p>
                    <a:p>
                      <a:pPr marL="285750" indent="-182880" algn="l">
                        <a:spcAft>
                          <a:spcPts val="600"/>
                        </a:spcAft>
                        <a:buFont typeface="Arial" panose="020B0604020202020204" pitchFamily="34" charset="0"/>
                        <a:buChar char="•"/>
                      </a:pPr>
                      <a:r>
                        <a:rPr lang="en-US" sz="1300" dirty="0"/>
                        <a:t>Proposal Kickoff (RTQ Approved)</a:t>
                      </a:r>
                    </a:p>
                    <a:p>
                      <a:pPr marL="285750" marR="0" lvl="0" indent="-18288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300" dirty="0"/>
                        <a:t>Proposals Issued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marR="0" lvl="0" indent="-18288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300" dirty="0"/>
                        <a:t>Customer PO Received</a:t>
                      </a:r>
                    </a:p>
                    <a:p>
                      <a:pPr marL="285750" indent="-182880" algn="l">
                        <a:spcAft>
                          <a:spcPts val="600"/>
                        </a:spcAft>
                        <a:buFont typeface="Arial" panose="020B0604020202020204" pitchFamily="34" charset="0"/>
                        <a:buChar char="•"/>
                      </a:pPr>
                      <a:r>
                        <a:rPr lang="en-US" sz="1300" dirty="0"/>
                        <a:t>Project Kickoff (HW Procure)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285750" marR="0" lvl="0" indent="-18288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US" sz="1300" u="none">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300" u="none">
                          <a:solidFill>
                            <a:schemeClr val="tx1"/>
                          </a:solidFill>
                        </a:rPr>
                        <a:t>Pioneer Term Begins </a:t>
                      </a:r>
                    </a:p>
                    <a:p>
                      <a:pPr algn="ctr"/>
                      <a:r>
                        <a:rPr lang="en-US" sz="1300" u="none">
                          <a:solidFill>
                            <a:schemeClr val="tx1"/>
                          </a:solidFill>
                        </a:rPr>
                        <a:t>(</a:t>
                      </a:r>
                      <a:r>
                        <a:rPr lang="en-US" sz="1300" u="none">
                          <a:solidFill>
                            <a:schemeClr val="tx1"/>
                          </a:solidFill>
                          <a:hlinkClick r:id="rId3" action="ppaction://hlinksldjump">
                            <a:extLst>
                              <a:ext uri="{A12FA001-AC4F-418D-AE19-62706E023703}">
                                <ahyp:hlinkClr xmlns:ahyp="http://schemas.microsoft.com/office/drawing/2018/hyperlinkcolor" val="tx"/>
                              </a:ext>
                            </a:extLst>
                          </a:hlinkClick>
                        </a:rPr>
                        <a:t>as defined</a:t>
                      </a:r>
                      <a:r>
                        <a:rPr lang="en-US" sz="1300" u="none">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US" sz="13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300" u="none">
                          <a:solidFill>
                            <a:schemeClr val="tx1"/>
                          </a:solidFill>
                        </a:rPr>
                        <a:t>Pioneer Term </a:t>
                      </a:r>
                    </a:p>
                    <a:p>
                      <a:pPr algn="ctr"/>
                      <a:r>
                        <a:rPr lang="en-US" sz="1300" u="none">
                          <a:solidFill>
                            <a:schemeClr val="tx1"/>
                          </a:solidFill>
                        </a:rPr>
                        <a:t>Ends </a:t>
                      </a:r>
                    </a:p>
                    <a:p>
                      <a:pPr algn="ctr"/>
                      <a:r>
                        <a:rPr lang="en-US" sz="1300" u="none">
                          <a:solidFill>
                            <a:schemeClr val="tx1"/>
                          </a:solidFill>
                        </a:rPr>
                        <a:t>(</a:t>
                      </a:r>
                      <a:r>
                        <a:rPr lang="en-US" sz="1300" u="none">
                          <a:solidFill>
                            <a:schemeClr val="tx1"/>
                          </a:solidFill>
                          <a:hlinkClick r:id="rId3" action="ppaction://hlinksldjump">
                            <a:extLst>
                              <a:ext uri="{A12FA001-AC4F-418D-AE19-62706E023703}">
                                <ahyp:hlinkClr xmlns:ahyp="http://schemas.microsoft.com/office/drawing/2018/hyperlinkcolor" val="tx"/>
                              </a:ext>
                            </a:extLst>
                          </a:hlinkClick>
                        </a:rPr>
                        <a:t>as defined</a:t>
                      </a:r>
                      <a:r>
                        <a:rPr lang="en-US" sz="1300" u="none">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63549572"/>
                  </a:ext>
                </a:extLst>
              </a:tr>
              <a:tr h="1119258">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1"/>
                          </a:solidFill>
                          <a:effectLst/>
                          <a:uLnTx/>
                          <a:uFillTx/>
                          <a:latin typeface="Arial Narrow" panose="020B0606020202030204" pitchFamily="34" charset="0"/>
                          <a:ea typeface="+mn-ea"/>
                          <a:cs typeface="+mn-cs"/>
                        </a:rPr>
                        <a:t>Enterprise Engineering</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285750" marR="0" lvl="0" indent="-182880" algn="l" defTabSz="14630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a:t>Participant Submissions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285750" marR="0" lvl="0" indent="-182880" algn="l" defTabSz="14630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dirty="0"/>
                        <a:t>Participant Selections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300" dirty="0"/>
                        <a:t>Proposal Kickoff (RTQ Approved)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285750" marR="0" lvl="0" indent="-285750" algn="l" defTabSz="14630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kern="1200">
                          <a:solidFill>
                            <a:schemeClr val="dk1"/>
                          </a:solidFill>
                          <a:latin typeface="+mn-lt"/>
                          <a:ea typeface="+mn-ea"/>
                          <a:cs typeface="+mn-cs"/>
                        </a:rPr>
                        <a:t>Proposals Issued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en-US" sz="1300" u="none">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300" u="none">
                          <a:solidFill>
                            <a:schemeClr val="tx1"/>
                          </a:solidFill>
                        </a:rPr>
                        <a:t>Pioneer Term Begins </a:t>
                      </a:r>
                    </a:p>
                    <a:p>
                      <a:pPr algn="ctr"/>
                      <a:r>
                        <a:rPr lang="en-US" sz="1300" u="none">
                          <a:solidFill>
                            <a:schemeClr val="tx1"/>
                          </a:solidFill>
                        </a:rPr>
                        <a:t>(</a:t>
                      </a:r>
                      <a:r>
                        <a:rPr lang="en-US" sz="1300" u="none">
                          <a:solidFill>
                            <a:schemeClr val="tx1"/>
                          </a:solidFill>
                          <a:hlinkClick r:id="rId3" action="ppaction://hlinksldjump">
                            <a:extLst>
                              <a:ext uri="{A12FA001-AC4F-418D-AE19-62706E023703}">
                                <ahyp:hlinkClr xmlns:ahyp="http://schemas.microsoft.com/office/drawing/2018/hyperlinkcolor" val="tx"/>
                              </a:ext>
                            </a:extLst>
                          </a:hlinkClick>
                        </a:rPr>
                        <a:t>as defined</a:t>
                      </a:r>
                      <a:r>
                        <a:rPr lang="en-US" sz="1300" u="none">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en-US" sz="13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300" u="none">
                          <a:solidFill>
                            <a:schemeClr val="tx1"/>
                          </a:solidFill>
                        </a:rPr>
                        <a:t>Pioneer Term </a:t>
                      </a:r>
                    </a:p>
                    <a:p>
                      <a:pPr algn="ctr"/>
                      <a:r>
                        <a:rPr lang="en-US" sz="1300" u="none">
                          <a:solidFill>
                            <a:schemeClr val="tx1"/>
                          </a:solidFill>
                        </a:rPr>
                        <a:t>Ends </a:t>
                      </a:r>
                    </a:p>
                    <a:p>
                      <a:pPr algn="ctr"/>
                      <a:r>
                        <a:rPr lang="en-US" sz="1300" u="none">
                          <a:solidFill>
                            <a:schemeClr val="tx1"/>
                          </a:solidFill>
                        </a:rPr>
                        <a:t>(</a:t>
                      </a:r>
                      <a:r>
                        <a:rPr lang="en-US" sz="1300" u="none">
                          <a:solidFill>
                            <a:schemeClr val="tx1"/>
                          </a:solidFill>
                          <a:hlinkClick r:id="rId3" action="ppaction://hlinksldjump">
                            <a:extLst>
                              <a:ext uri="{A12FA001-AC4F-418D-AE19-62706E023703}">
                                <ahyp:hlinkClr xmlns:ahyp="http://schemas.microsoft.com/office/drawing/2018/hyperlinkcolor" val="tx"/>
                              </a:ext>
                            </a:extLst>
                          </a:hlinkClick>
                        </a:rPr>
                        <a:t>as defined</a:t>
                      </a:r>
                      <a:r>
                        <a:rPr lang="en-US" sz="1300" u="none">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694218724"/>
                  </a:ext>
                </a:extLst>
              </a:tr>
              <a:tr h="907310">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1"/>
                          </a:solidFill>
                          <a:effectLst/>
                          <a:uLnTx/>
                          <a:uFillTx/>
                          <a:latin typeface="Arial Narrow" panose="020B0606020202030204" pitchFamily="34" charset="0"/>
                          <a:ea typeface="+mn-ea"/>
                          <a:cs typeface="+mn-cs"/>
                        </a:rPr>
                        <a:t>DeltaV Virtual Advisor</a:t>
                      </a:r>
                    </a:p>
                  </a:txBody>
                  <a:tcPr anchor="ctr">
                    <a:lnL w="12700" cap="flat" cmpd="sng" algn="ctr">
                      <a:solidFill>
                        <a:schemeClr val="accent2">
                          <a:lumMod val="50000"/>
                          <a:lumOff val="5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10000"/>
                        <a:lumOff val="90000"/>
                      </a:schemeClr>
                    </a:solidFill>
                  </a:tcPr>
                </a:tc>
                <a:tc gridSpan="9">
                  <a:txBody>
                    <a:bodyPr/>
                    <a:lstStyle/>
                    <a:p>
                      <a:pPr algn="ctr"/>
                      <a:r>
                        <a:rPr lang="en-US" sz="1500" i="1" dirty="0"/>
                        <a:t>Coming Soon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endParaRPr lang="en-US"/>
                    </a:p>
                  </a:txBody>
                  <a:tcPr/>
                </a:tc>
                <a:tc hMerge="1">
                  <a:txBody>
                    <a:bodyPr/>
                    <a:lstStyle/>
                    <a:p>
                      <a:pPr algn="ctr"/>
                      <a:endParaRPr lang="en-US" sz="15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algn="l"/>
                      <a:endParaRPr lang="en-US" sz="1500"/>
                    </a:p>
                  </a:txBody>
                  <a:tcPr anchor="ctr">
                    <a:lnL w="12700" cap="flat" cmpd="sng" algn="ctr">
                      <a:noFill/>
                      <a:prstDash val="solid"/>
                      <a:round/>
                      <a:headEnd type="none" w="med" len="med"/>
                      <a:tailEnd type="none" w="med" len="med"/>
                    </a:lnL>
                    <a:lnR w="12700" cmpd="sng">
                      <a:noFill/>
                    </a:lnR>
                    <a:lnT w="12700" cap="flat" cmpd="sng" algn="ctr">
                      <a:solidFill>
                        <a:schemeClr val="accent3">
                          <a:lumMod val="60000"/>
                          <a:lumOff val="4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2431574"/>
                  </a:ext>
                </a:extLst>
              </a:tr>
            </a:tbl>
          </a:graphicData>
        </a:graphic>
      </p:graphicFrame>
      <p:cxnSp>
        <p:nvCxnSpPr>
          <p:cNvPr id="86" name="Straight Arrow Connector 85">
            <a:extLst>
              <a:ext uri="{FF2B5EF4-FFF2-40B4-BE49-F238E27FC236}">
                <a16:creationId xmlns:a16="http://schemas.microsoft.com/office/drawing/2014/main" id="{66CF1BAE-D7A6-18CA-DF16-E59A4B219821}"/>
              </a:ext>
            </a:extLst>
          </p:cNvPr>
          <p:cNvCxnSpPr>
            <a:cxnSpLocks/>
          </p:cNvCxnSpPr>
          <p:nvPr/>
        </p:nvCxnSpPr>
        <p:spPr>
          <a:xfrm>
            <a:off x="503237" y="2184616"/>
            <a:ext cx="13889191" cy="0"/>
          </a:xfrm>
          <a:prstGeom prst="straightConnector1">
            <a:avLst/>
          </a:prstGeom>
          <a:ln w="82550">
            <a:solidFill>
              <a:srgbClr val="1B2552"/>
            </a:solidFill>
            <a:tailEnd type="triangle" w="med" len="sm"/>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1763E14D-A5E9-7F0B-E0BD-6341BF713538}"/>
              </a:ext>
            </a:extLst>
          </p:cNvPr>
          <p:cNvSpPr/>
          <p:nvPr/>
        </p:nvSpPr>
        <p:spPr>
          <a:xfrm>
            <a:off x="2321810" y="2093176"/>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37" name="Arrow: Left 36">
            <a:hlinkClick r:id="rId4" action="ppaction://hlinksldjump"/>
            <a:extLst>
              <a:ext uri="{FF2B5EF4-FFF2-40B4-BE49-F238E27FC236}">
                <a16:creationId xmlns:a16="http://schemas.microsoft.com/office/drawing/2014/main" id="{B7FA61ED-B913-072F-CC18-33518FB5FF42}"/>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
        <p:nvSpPr>
          <p:cNvPr id="19" name="Rectangle 18">
            <a:extLst>
              <a:ext uri="{FF2B5EF4-FFF2-40B4-BE49-F238E27FC236}">
                <a16:creationId xmlns:a16="http://schemas.microsoft.com/office/drawing/2014/main" id="{8BDAD31B-F139-D0EB-6C77-B011DBD3B7CC}"/>
              </a:ext>
            </a:extLst>
          </p:cNvPr>
          <p:cNvSpPr/>
          <p:nvPr/>
        </p:nvSpPr>
        <p:spPr bwMode="auto">
          <a:xfrm>
            <a:off x="1453661" y="712671"/>
            <a:ext cx="12970775" cy="743951"/>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26" name="Oval 25">
            <a:extLst>
              <a:ext uri="{FF2B5EF4-FFF2-40B4-BE49-F238E27FC236}">
                <a16:creationId xmlns:a16="http://schemas.microsoft.com/office/drawing/2014/main" id="{A0CF69B0-F2B7-930A-35D9-87472F9132F7}"/>
              </a:ext>
            </a:extLst>
          </p:cNvPr>
          <p:cNvSpPr/>
          <p:nvPr/>
        </p:nvSpPr>
        <p:spPr>
          <a:xfrm>
            <a:off x="3834382" y="2093176"/>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27" name="Oval 26">
            <a:extLst>
              <a:ext uri="{FF2B5EF4-FFF2-40B4-BE49-F238E27FC236}">
                <a16:creationId xmlns:a16="http://schemas.microsoft.com/office/drawing/2014/main" id="{B717654B-A561-A2F6-4CAF-F22C50DB7E0F}"/>
              </a:ext>
            </a:extLst>
          </p:cNvPr>
          <p:cNvSpPr/>
          <p:nvPr/>
        </p:nvSpPr>
        <p:spPr>
          <a:xfrm>
            <a:off x="5386302" y="2104608"/>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28" name="Oval 27">
            <a:extLst>
              <a:ext uri="{FF2B5EF4-FFF2-40B4-BE49-F238E27FC236}">
                <a16:creationId xmlns:a16="http://schemas.microsoft.com/office/drawing/2014/main" id="{FF7284A2-F862-78E8-F94B-F25E23E085F8}"/>
              </a:ext>
            </a:extLst>
          </p:cNvPr>
          <p:cNvSpPr/>
          <p:nvPr/>
        </p:nvSpPr>
        <p:spPr>
          <a:xfrm>
            <a:off x="6911576" y="2104608"/>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29" name="Oval 28">
            <a:extLst>
              <a:ext uri="{FF2B5EF4-FFF2-40B4-BE49-F238E27FC236}">
                <a16:creationId xmlns:a16="http://schemas.microsoft.com/office/drawing/2014/main" id="{B3C9661C-B671-109C-99AE-6E1FEDDAF243}"/>
              </a:ext>
            </a:extLst>
          </p:cNvPr>
          <p:cNvSpPr/>
          <p:nvPr/>
        </p:nvSpPr>
        <p:spPr>
          <a:xfrm>
            <a:off x="8115220" y="2093176"/>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30" name="Oval 29">
            <a:extLst>
              <a:ext uri="{FF2B5EF4-FFF2-40B4-BE49-F238E27FC236}">
                <a16:creationId xmlns:a16="http://schemas.microsoft.com/office/drawing/2014/main" id="{03A6647E-9B94-8069-42A3-E8190721B473}"/>
              </a:ext>
            </a:extLst>
          </p:cNvPr>
          <p:cNvSpPr/>
          <p:nvPr/>
        </p:nvSpPr>
        <p:spPr>
          <a:xfrm>
            <a:off x="9043364" y="2093176"/>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31" name="Oval 30">
            <a:extLst>
              <a:ext uri="{FF2B5EF4-FFF2-40B4-BE49-F238E27FC236}">
                <a16:creationId xmlns:a16="http://schemas.microsoft.com/office/drawing/2014/main" id="{100096A0-2DFC-307E-F4DC-63C6AD59BC37}"/>
              </a:ext>
            </a:extLst>
          </p:cNvPr>
          <p:cNvSpPr/>
          <p:nvPr/>
        </p:nvSpPr>
        <p:spPr>
          <a:xfrm>
            <a:off x="10222617" y="2093176"/>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32" name="Oval 31">
            <a:extLst>
              <a:ext uri="{FF2B5EF4-FFF2-40B4-BE49-F238E27FC236}">
                <a16:creationId xmlns:a16="http://schemas.microsoft.com/office/drawing/2014/main" id="{E778C553-A9BB-E8E0-A918-5B32DE37C555}"/>
              </a:ext>
            </a:extLst>
          </p:cNvPr>
          <p:cNvSpPr/>
          <p:nvPr/>
        </p:nvSpPr>
        <p:spPr>
          <a:xfrm>
            <a:off x="13572735" y="2093176"/>
            <a:ext cx="182880" cy="182880"/>
          </a:xfrm>
          <a:prstGeom prst="ellipse">
            <a:avLst/>
          </a:prstGeom>
          <a:solidFill>
            <a:srgbClr val="1B255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IN" sz="29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F42F99CB-57B9-082C-195F-E77EE3D9B44C}"/>
              </a:ext>
            </a:extLst>
          </p:cNvPr>
          <p:cNvSpPr/>
          <p:nvPr/>
        </p:nvSpPr>
        <p:spPr bwMode="auto">
          <a:xfrm>
            <a:off x="1606061" y="865071"/>
            <a:ext cx="12970775" cy="637943"/>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33" name="Flowchart: Data 32">
            <a:extLst>
              <a:ext uri="{FF2B5EF4-FFF2-40B4-BE49-F238E27FC236}">
                <a16:creationId xmlns:a16="http://schemas.microsoft.com/office/drawing/2014/main" id="{A6A9C4AB-3027-774E-CB93-5993D016F617}"/>
              </a:ext>
            </a:extLst>
          </p:cNvPr>
          <p:cNvSpPr/>
          <p:nvPr/>
        </p:nvSpPr>
        <p:spPr bwMode="auto">
          <a:xfrm rot="400067">
            <a:off x="11478888" y="1458463"/>
            <a:ext cx="899407" cy="6519310"/>
          </a:xfrm>
          <a:prstGeom prst="flowChartInputOutpu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cxnSp>
        <p:nvCxnSpPr>
          <p:cNvPr id="3" name="Straight Connector 2">
            <a:extLst>
              <a:ext uri="{FF2B5EF4-FFF2-40B4-BE49-F238E27FC236}">
                <a16:creationId xmlns:a16="http://schemas.microsoft.com/office/drawing/2014/main" id="{444FC86B-1975-6EB5-7EE2-2D952ECB4E0F}"/>
              </a:ext>
            </a:extLst>
          </p:cNvPr>
          <p:cNvCxnSpPr>
            <a:cxnSpLocks/>
          </p:cNvCxnSpPr>
          <p:nvPr/>
        </p:nvCxnSpPr>
        <p:spPr bwMode="auto">
          <a:xfrm>
            <a:off x="3129482" y="1456622"/>
            <a:ext cx="0" cy="536446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Straight Connector 4">
            <a:extLst>
              <a:ext uri="{FF2B5EF4-FFF2-40B4-BE49-F238E27FC236}">
                <a16:creationId xmlns:a16="http://schemas.microsoft.com/office/drawing/2014/main" id="{E8EB9425-5AB8-C2F2-8887-42458A1A49B6}"/>
              </a:ext>
            </a:extLst>
          </p:cNvPr>
          <p:cNvCxnSpPr>
            <a:cxnSpLocks/>
          </p:cNvCxnSpPr>
          <p:nvPr/>
        </p:nvCxnSpPr>
        <p:spPr bwMode="auto">
          <a:xfrm>
            <a:off x="4754423" y="1456622"/>
            <a:ext cx="0" cy="536446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B82A1006-B769-FCE5-7F08-2E7CA136D67C}"/>
              </a:ext>
            </a:extLst>
          </p:cNvPr>
          <p:cNvCxnSpPr>
            <a:cxnSpLocks/>
          </p:cNvCxnSpPr>
          <p:nvPr/>
        </p:nvCxnSpPr>
        <p:spPr bwMode="auto">
          <a:xfrm>
            <a:off x="8704948" y="1405508"/>
            <a:ext cx="0" cy="536446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FA25F8A6-985F-C47A-7AC6-ECE2BC1738EA}"/>
              </a:ext>
            </a:extLst>
          </p:cNvPr>
          <p:cNvSpPr txBox="1"/>
          <p:nvPr/>
        </p:nvSpPr>
        <p:spPr>
          <a:xfrm>
            <a:off x="7824493" y="2420451"/>
            <a:ext cx="1737178" cy="1208842"/>
          </a:xfrm>
          <a:prstGeom prst="roundRect">
            <a:avLst/>
          </a:prstGeom>
          <a:solidFill>
            <a:srgbClr val="D1F0F9"/>
          </a:solidFill>
          <a:ln>
            <a:solidFill>
              <a:schemeClr val="accent4">
                <a:lumMod val="60000"/>
                <a:lumOff val="40000"/>
              </a:schemeClr>
            </a:solidFill>
          </a:ln>
        </p:spPr>
        <p:txBody>
          <a:bodyPr wrap="square">
            <a:spAutoFit/>
          </a:bodyPr>
          <a:lstStyle/>
          <a:p>
            <a:pPr lvl="0" algn="ctr">
              <a:spcAft>
                <a:spcPts val="600"/>
              </a:spcAft>
              <a:defRPr/>
            </a:pPr>
            <a:r>
              <a:rPr lang="en-US" sz="1100" i="1"/>
              <a:t>As of Jan 2026, </a:t>
            </a:r>
          </a:p>
          <a:p>
            <a:pPr lvl="0" algn="ctr">
              <a:spcAft>
                <a:spcPts val="600"/>
              </a:spcAft>
              <a:defRPr/>
            </a:pPr>
            <a:r>
              <a:rPr lang="en-US" sz="1100" i="1"/>
              <a:t>Estimated IQ HW Lead Time: 60+ days </a:t>
            </a:r>
          </a:p>
          <a:p>
            <a:pPr lvl="0" algn="ctr">
              <a:defRPr/>
            </a:pPr>
            <a:r>
              <a:rPr lang="en-US" sz="1100" i="1"/>
              <a:t>Estimated Product Release: August 2026 </a:t>
            </a:r>
          </a:p>
        </p:txBody>
      </p:sp>
      <p:cxnSp>
        <p:nvCxnSpPr>
          <p:cNvPr id="25" name="Straight Connector 24">
            <a:extLst>
              <a:ext uri="{FF2B5EF4-FFF2-40B4-BE49-F238E27FC236}">
                <a16:creationId xmlns:a16="http://schemas.microsoft.com/office/drawing/2014/main" id="{0ABC9902-F64B-699B-DE43-5810BBAF4D98}"/>
              </a:ext>
            </a:extLst>
          </p:cNvPr>
          <p:cNvCxnSpPr>
            <a:cxnSpLocks/>
          </p:cNvCxnSpPr>
          <p:nvPr/>
        </p:nvCxnSpPr>
        <p:spPr bwMode="auto">
          <a:xfrm>
            <a:off x="6223006" y="1405508"/>
            <a:ext cx="0" cy="536446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11A5AF08-55B8-4FB7-A899-9B92AA47D176}"/>
              </a:ext>
            </a:extLst>
          </p:cNvPr>
          <p:cNvSpPr/>
          <p:nvPr/>
        </p:nvSpPr>
        <p:spPr bwMode="auto">
          <a:xfrm>
            <a:off x="1758461" y="1017471"/>
            <a:ext cx="12818375" cy="439151"/>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6" name="Title 5">
            <a:extLst>
              <a:ext uri="{FF2B5EF4-FFF2-40B4-BE49-F238E27FC236}">
                <a16:creationId xmlns:a16="http://schemas.microsoft.com/office/drawing/2014/main" id="{9FE02E97-218B-4D6B-11AE-B00B5E86F76D}"/>
              </a:ext>
            </a:extLst>
          </p:cNvPr>
          <p:cNvSpPr>
            <a:spLocks noGrp="1"/>
          </p:cNvSpPr>
          <p:nvPr>
            <p:ph type="title"/>
          </p:nvPr>
        </p:nvSpPr>
        <p:spPr/>
        <p:txBody>
          <a:bodyPr anchor="b">
            <a:normAutofit/>
          </a:bodyPr>
          <a:lstStyle/>
          <a:p>
            <a:r>
              <a:rPr lang="en-US"/>
              <a:t>Pioneer Program FY26 Expected Timeline </a:t>
            </a:r>
          </a:p>
        </p:txBody>
      </p:sp>
      <p:sp>
        <p:nvSpPr>
          <p:cNvPr id="16" name="TextBox 15">
            <a:extLst>
              <a:ext uri="{FF2B5EF4-FFF2-40B4-BE49-F238E27FC236}">
                <a16:creationId xmlns:a16="http://schemas.microsoft.com/office/drawing/2014/main" id="{0DA28981-B53A-1AD9-733F-A68215F49126}"/>
              </a:ext>
            </a:extLst>
          </p:cNvPr>
          <p:cNvSpPr txBox="1"/>
          <p:nvPr/>
        </p:nvSpPr>
        <p:spPr>
          <a:xfrm>
            <a:off x="9780998" y="181757"/>
            <a:ext cx="3155042" cy="1061829"/>
          </a:xfrm>
          <a:prstGeom prst="rect">
            <a:avLst/>
          </a:prstGeom>
          <a:noFill/>
          <a:ln>
            <a:solidFill>
              <a:schemeClr val="tx1"/>
            </a:solidFill>
          </a:ln>
        </p:spPr>
        <p:txBody>
          <a:bodyPr wrap="square">
            <a:spAutoFit/>
          </a:bodyPr>
          <a:lstStyle/>
          <a:p>
            <a:pPr marL="0" marR="0" lvl="0" indent="0" defTabSz="1463040" rtl="0" eaLnBrk="1" fontAlgn="auto" latinLnBrk="0" hangingPunct="1">
              <a:lnSpc>
                <a:spcPct val="100000"/>
              </a:lnSpc>
              <a:spcBef>
                <a:spcPts val="0"/>
              </a:spcBef>
              <a:buClr>
                <a:srgbClr val="000000"/>
              </a:buClr>
              <a:buSzTx/>
              <a:buFont typeface="Arial" panose="020B0604020202020204" pitchFamily="34" charset="0"/>
              <a:buNone/>
              <a:tabLst/>
              <a:defRPr/>
            </a:pPr>
            <a:r>
              <a:rPr lang="en-US" sz="1050" b="1" i="1"/>
              <a:t>Disclaimer: </a:t>
            </a:r>
            <a:r>
              <a:rPr lang="en-US" sz="1050" i="1" u="none"/>
              <a:t>This is a standard, estimated timeline provided for planning purposes and represents an ideal scenario. Timelines may change due to supply chain variability and product releases. We will work closely with each customer to remain flexible and adjust as needed.</a:t>
            </a:r>
          </a:p>
        </p:txBody>
      </p:sp>
      <p:pic>
        <p:nvPicPr>
          <p:cNvPr id="4" name="Picture 3">
            <a:extLst>
              <a:ext uri="{FF2B5EF4-FFF2-40B4-BE49-F238E27FC236}">
                <a16:creationId xmlns:a16="http://schemas.microsoft.com/office/drawing/2014/main" id="{E014CD08-840E-B4DC-FDAE-1DB736007B67}"/>
              </a:ext>
            </a:extLst>
          </p:cNvPr>
          <p:cNvPicPr>
            <a:picLocks noChangeAspect="1"/>
          </p:cNvPicPr>
          <p:nvPr/>
        </p:nvPicPr>
        <p:blipFill>
          <a:blip r:embed="rId5"/>
          <a:srcRect l="3568" r="4511"/>
          <a:stretch>
            <a:fillRect/>
          </a:stretch>
        </p:blipFill>
        <p:spPr>
          <a:xfrm>
            <a:off x="13086567" y="247186"/>
            <a:ext cx="1264644" cy="1016350"/>
          </a:xfrm>
          <a:prstGeom prst="rect">
            <a:avLst/>
          </a:prstGeom>
          <a:ln>
            <a:solidFill>
              <a:schemeClr val="tx1"/>
            </a:solidFill>
          </a:ln>
        </p:spPr>
      </p:pic>
      <p:cxnSp>
        <p:nvCxnSpPr>
          <p:cNvPr id="8" name="Straight Connector 7">
            <a:extLst>
              <a:ext uri="{FF2B5EF4-FFF2-40B4-BE49-F238E27FC236}">
                <a16:creationId xmlns:a16="http://schemas.microsoft.com/office/drawing/2014/main" id="{D50997B7-8810-5465-9BCF-D67F6083EF17}"/>
              </a:ext>
            </a:extLst>
          </p:cNvPr>
          <p:cNvCxnSpPr>
            <a:cxnSpLocks/>
          </p:cNvCxnSpPr>
          <p:nvPr/>
        </p:nvCxnSpPr>
        <p:spPr bwMode="auto">
          <a:xfrm>
            <a:off x="7768777" y="1405508"/>
            <a:ext cx="0" cy="536446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16DDF67A-744A-DA00-BCBE-20896071B6C3}"/>
              </a:ext>
            </a:extLst>
          </p:cNvPr>
          <p:cNvSpPr txBox="1"/>
          <p:nvPr/>
        </p:nvSpPr>
        <p:spPr>
          <a:xfrm>
            <a:off x="6474544" y="4050826"/>
            <a:ext cx="2887556" cy="834271"/>
          </a:xfrm>
          <a:prstGeom prst="roundRect">
            <a:avLst/>
          </a:prstGeom>
          <a:solidFill>
            <a:schemeClr val="accent5">
              <a:lumMod val="20000"/>
              <a:lumOff val="80000"/>
            </a:schemeClr>
          </a:solidFill>
          <a:ln>
            <a:solidFill>
              <a:schemeClr val="accent5">
                <a:lumMod val="60000"/>
                <a:lumOff val="40000"/>
              </a:schemeClr>
            </a:solidFill>
          </a:ln>
        </p:spPr>
        <p:txBody>
          <a:bodyPr wrap="square">
            <a:spAutoFit/>
          </a:bodyPr>
          <a:lstStyle/>
          <a:p>
            <a:pPr lvl="0" algn="ctr">
              <a:spcAft>
                <a:spcPts val="600"/>
              </a:spcAft>
              <a:defRPr/>
            </a:pPr>
            <a:r>
              <a:rPr lang="en-US" sz="1100" i="1"/>
              <a:t>As of Jan 2026,</a:t>
            </a:r>
          </a:p>
          <a:p>
            <a:pPr lvl="0" algn="ctr">
              <a:spcAft>
                <a:spcPts val="600"/>
              </a:spcAft>
              <a:defRPr/>
            </a:pPr>
            <a:r>
              <a:rPr lang="en-US" sz="1100" i="1"/>
              <a:t>Estimated Edge HW Lead Time: 90+ days </a:t>
            </a:r>
          </a:p>
          <a:p>
            <a:pPr lvl="0" algn="ctr">
              <a:defRPr/>
            </a:pPr>
            <a:r>
              <a:rPr lang="en-US" sz="1100" i="1"/>
              <a:t>Estimated Product Release: May 2026 </a:t>
            </a:r>
          </a:p>
        </p:txBody>
      </p:sp>
      <p:sp>
        <p:nvSpPr>
          <p:cNvPr id="7" name="TextBox 6">
            <a:extLst>
              <a:ext uri="{FF2B5EF4-FFF2-40B4-BE49-F238E27FC236}">
                <a16:creationId xmlns:a16="http://schemas.microsoft.com/office/drawing/2014/main" id="{01D49009-165B-6918-98E6-7D444121C66A}"/>
              </a:ext>
            </a:extLst>
          </p:cNvPr>
          <p:cNvSpPr txBox="1"/>
          <p:nvPr/>
        </p:nvSpPr>
        <p:spPr>
          <a:xfrm>
            <a:off x="7882037" y="5704714"/>
            <a:ext cx="1645822" cy="664012"/>
          </a:xfrm>
          <a:prstGeom prst="roundRect">
            <a:avLst/>
          </a:prstGeom>
          <a:solidFill>
            <a:schemeClr val="accent3">
              <a:lumMod val="20000"/>
              <a:lumOff val="80000"/>
            </a:schemeClr>
          </a:solidFill>
          <a:ln>
            <a:solidFill>
              <a:schemeClr val="accent3">
                <a:lumMod val="60000"/>
                <a:lumOff val="40000"/>
              </a:schemeClr>
            </a:solidFill>
          </a:ln>
        </p:spPr>
        <p:txBody>
          <a:bodyPr wrap="square">
            <a:spAutoFit/>
          </a:bodyPr>
          <a:lstStyle/>
          <a:p>
            <a:pPr lvl="0" algn="ctr">
              <a:spcAft>
                <a:spcPts val="600"/>
              </a:spcAft>
              <a:defRPr/>
            </a:pPr>
            <a:r>
              <a:rPr lang="en-US" sz="1100" i="1"/>
              <a:t>As of Jan 2026, Estimated Product Release: August 2026 </a:t>
            </a:r>
          </a:p>
        </p:txBody>
      </p:sp>
      <p:sp>
        <p:nvSpPr>
          <p:cNvPr id="15" name="TextBox 14">
            <a:extLst>
              <a:ext uri="{FF2B5EF4-FFF2-40B4-BE49-F238E27FC236}">
                <a16:creationId xmlns:a16="http://schemas.microsoft.com/office/drawing/2014/main" id="{0685A6E7-414A-EB21-7AEA-D1BA998C9A9A}"/>
              </a:ext>
            </a:extLst>
          </p:cNvPr>
          <p:cNvSpPr txBox="1"/>
          <p:nvPr/>
        </p:nvSpPr>
        <p:spPr>
          <a:xfrm>
            <a:off x="7776804" y="5380092"/>
            <a:ext cx="1856288" cy="276999"/>
          </a:xfrm>
          <a:prstGeom prst="rect">
            <a:avLst/>
          </a:prstGeom>
          <a:solidFill>
            <a:schemeClr val="accent3">
              <a:lumMod val="20000"/>
              <a:lumOff val="80000"/>
            </a:schemeClr>
          </a:solidFill>
        </p:spPr>
        <p:txBody>
          <a:bodyPr wrap="square">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1200"/>
              <a:t>Customer PO Received</a:t>
            </a:r>
          </a:p>
        </p:txBody>
      </p:sp>
      <p:cxnSp>
        <p:nvCxnSpPr>
          <p:cNvPr id="10" name="Straight Connector 9">
            <a:extLst>
              <a:ext uri="{FF2B5EF4-FFF2-40B4-BE49-F238E27FC236}">
                <a16:creationId xmlns:a16="http://schemas.microsoft.com/office/drawing/2014/main" id="{05C20A51-204F-0B64-B0F1-DDF7D9AD02A0}"/>
              </a:ext>
            </a:extLst>
          </p:cNvPr>
          <p:cNvCxnSpPr>
            <a:cxnSpLocks/>
          </p:cNvCxnSpPr>
          <p:nvPr/>
        </p:nvCxnSpPr>
        <p:spPr bwMode="auto">
          <a:xfrm>
            <a:off x="9617369" y="1405508"/>
            <a:ext cx="0" cy="536446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Double Brace 10">
            <a:extLst>
              <a:ext uri="{FF2B5EF4-FFF2-40B4-BE49-F238E27FC236}">
                <a16:creationId xmlns:a16="http://schemas.microsoft.com/office/drawing/2014/main" id="{B40C818E-2E3D-E5BF-96B6-51151C61A96E}"/>
              </a:ext>
            </a:extLst>
          </p:cNvPr>
          <p:cNvSpPr/>
          <p:nvPr/>
        </p:nvSpPr>
        <p:spPr bwMode="auto">
          <a:xfrm>
            <a:off x="1610341" y="6460165"/>
            <a:ext cx="12782087" cy="876747"/>
          </a:xfrm>
          <a:prstGeom prst="bracePair">
            <a:avLst/>
          </a:prstGeom>
          <a:solidFill>
            <a:schemeClr val="bg2">
              <a:lumMod val="40000"/>
              <a:lumOff val="60000"/>
            </a:schemeClr>
          </a:solidFill>
          <a:ln w="12700" cap="flat" cmpd="sng" algn="ctr">
            <a:solidFill>
              <a:schemeClr val="bg2">
                <a:lumMod val="50000"/>
              </a:schemeClr>
            </a:solidFill>
            <a:prstDash val="solid"/>
            <a:round/>
            <a:headEnd type="none" w="med" len="med"/>
            <a:tailEnd type="none" w="med" len="med"/>
          </a:ln>
          <a:effectLst/>
        </p:spPr>
        <p:txBody>
          <a:bodyPr rtlCol="0" anchor="ctr"/>
          <a:lstStyle/>
          <a:p>
            <a:pPr algn="ctr"/>
            <a:r>
              <a:rPr lang="en-US" sz="1300" i="1"/>
              <a:t>Coming Soon</a:t>
            </a:r>
          </a:p>
        </p:txBody>
      </p:sp>
    </p:spTree>
    <p:extLst>
      <p:ext uri="{BB962C8B-B14F-4D97-AF65-F5344CB8AC3E}">
        <p14:creationId xmlns:p14="http://schemas.microsoft.com/office/powerpoint/2010/main" val="4151988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F08C-F7D3-5E6A-782C-D4115EFE5C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4CDB04-735C-FCE4-1377-5F726A53FD4C}"/>
              </a:ext>
            </a:extLst>
          </p:cNvPr>
          <p:cNvSpPr>
            <a:spLocks noGrp="1"/>
          </p:cNvSpPr>
          <p:nvPr>
            <p:ph type="title"/>
          </p:nvPr>
        </p:nvSpPr>
        <p:spPr/>
        <p:txBody>
          <a:bodyPr/>
          <a:lstStyle/>
          <a:p>
            <a:r>
              <a:rPr lang="en-US"/>
              <a:t>Action Required by Sales Teams</a:t>
            </a:r>
          </a:p>
        </p:txBody>
      </p:sp>
      <p:sp>
        <p:nvSpPr>
          <p:cNvPr id="6" name="Content Placeholder 5">
            <a:extLst>
              <a:ext uri="{FF2B5EF4-FFF2-40B4-BE49-F238E27FC236}">
                <a16:creationId xmlns:a16="http://schemas.microsoft.com/office/drawing/2014/main" id="{E9F77AAC-572A-C24B-A5F9-E14155C5ADA0}"/>
              </a:ext>
            </a:extLst>
          </p:cNvPr>
          <p:cNvSpPr>
            <a:spLocks noGrp="1"/>
          </p:cNvSpPr>
          <p:nvPr>
            <p:ph idx="1"/>
          </p:nvPr>
        </p:nvSpPr>
        <p:spPr>
          <a:xfrm>
            <a:off x="503237" y="1597026"/>
            <a:ext cx="13623926" cy="6000562"/>
          </a:xfrm>
        </p:spPr>
        <p:txBody>
          <a:bodyPr>
            <a:normAutofit/>
          </a:bodyPr>
          <a:lstStyle/>
          <a:p>
            <a:r>
              <a:rPr lang="en-US" sz="1900" dirty="0"/>
              <a:t>Download and complete the </a:t>
            </a:r>
            <a:r>
              <a:rPr lang="en-US" sz="1900" b="1" dirty="0">
                <a:hlinkClick r:id="rId3">
                  <a:extLst>
                    <a:ext uri="{A12FA001-AC4F-418D-AE19-62706E023703}">
                      <ahyp:hlinkClr xmlns:ahyp="http://schemas.microsoft.com/office/drawing/2018/hyperlinkcolor" val="tx"/>
                    </a:ext>
                  </a:extLst>
                </a:hlinkClick>
              </a:rPr>
              <a:t>Live Enterprise View Internal Questionnaire</a:t>
            </a:r>
            <a:r>
              <a:rPr lang="en-US" sz="1900" b="1" dirty="0"/>
              <a:t> and/or </a:t>
            </a:r>
            <a:r>
              <a:rPr lang="en-US" sz="1900" b="1" dirty="0">
                <a:hlinkClick r:id="rId4">
                  <a:extLst>
                    <a:ext uri="{A12FA001-AC4F-418D-AE19-62706E023703}">
                      <ahyp:hlinkClr xmlns:ahyp="http://schemas.microsoft.com/office/drawing/2018/hyperlinkcolor" val="tx"/>
                    </a:ext>
                  </a:extLst>
                </a:hlinkClick>
              </a:rPr>
              <a:t>Enterprise Engineering Pioneer Program Internal Questionnaire</a:t>
            </a:r>
            <a:endParaRPr lang="en-US" sz="1900" b="1" dirty="0"/>
          </a:p>
          <a:p>
            <a:r>
              <a:rPr lang="en-US" sz="1900" dirty="0"/>
              <a:t>Submit to Program Team via email for Customer Nomination </a:t>
            </a:r>
          </a:p>
          <a:p>
            <a:r>
              <a:rPr lang="en-US" sz="1900" dirty="0"/>
              <a:t>Accepting admissions until 5 pm CST on</a:t>
            </a:r>
            <a:r>
              <a:rPr lang="en-US" sz="1900" b="1" dirty="0"/>
              <a:t> </a:t>
            </a:r>
            <a:r>
              <a:rPr lang="en-US" sz="1900" b="1" strike="sngStrike" dirty="0"/>
              <a:t>Friday, February 20</a:t>
            </a:r>
            <a:r>
              <a:rPr lang="en-US" sz="1900" b="1" strike="sngStrike" baseline="30000" dirty="0"/>
              <a:t>th</a:t>
            </a:r>
            <a:r>
              <a:rPr lang="en-US" sz="1900" b="1" strike="sngStrike" dirty="0"/>
              <a:t> (3 weeks)</a:t>
            </a:r>
            <a:r>
              <a:rPr lang="en-US" sz="1900" b="1" dirty="0"/>
              <a:t> </a:t>
            </a:r>
            <a:r>
              <a:rPr lang="en-US" sz="2400" b="1" dirty="0">
                <a:solidFill>
                  <a:srgbClr val="FF0000"/>
                </a:solidFill>
              </a:rPr>
              <a:t>EXTENDED TO FEBRUARY 27TH</a:t>
            </a:r>
            <a:endParaRPr lang="en-US" sz="2400" b="1" baseline="30000" dirty="0">
              <a:solidFill>
                <a:srgbClr val="FF0000"/>
              </a:solidFill>
            </a:endParaRPr>
          </a:p>
          <a:p>
            <a:r>
              <a:rPr lang="en-US" sz="1900" dirty="0"/>
              <a:t>Once Round 1 Admissions are received, Pioneer Program Qualification Process (</a:t>
            </a:r>
            <a:r>
              <a:rPr lang="en-US" sz="1900" dirty="0">
                <a:hlinkClick r:id="" action="ppaction://noaction">
                  <a:extLst>
                    <a:ext uri="{A12FA001-AC4F-418D-AE19-62706E023703}">
                      <ahyp:hlinkClr xmlns:ahyp="http://schemas.microsoft.com/office/drawing/2018/hyperlinkcolor" val="tx"/>
                    </a:ext>
                  </a:extLst>
                </a:hlinkClick>
              </a:rPr>
              <a:t>as defined</a:t>
            </a:r>
            <a:r>
              <a:rPr lang="en-US" sz="1900" dirty="0"/>
              <a:t>) will begin  </a:t>
            </a:r>
          </a:p>
          <a:p>
            <a:endParaRPr lang="en-US" sz="1900" dirty="0"/>
          </a:p>
          <a:p>
            <a:endParaRPr lang="en-US" sz="1900" dirty="0"/>
          </a:p>
          <a:p>
            <a:endParaRPr lang="en-US" sz="1900" dirty="0"/>
          </a:p>
          <a:p>
            <a:endParaRPr lang="en-US" sz="1900" dirty="0"/>
          </a:p>
          <a:p>
            <a:endParaRPr lang="en-US" sz="1900" dirty="0"/>
          </a:p>
          <a:p>
            <a:endParaRPr lang="en-US" sz="1900" dirty="0"/>
          </a:p>
          <a:p>
            <a:endParaRPr lang="en-US" sz="1900" dirty="0"/>
          </a:p>
          <a:p>
            <a:endParaRPr lang="en-US" sz="1900" dirty="0"/>
          </a:p>
        </p:txBody>
      </p:sp>
      <p:graphicFrame>
        <p:nvGraphicFramePr>
          <p:cNvPr id="3" name="Table 2">
            <a:extLst>
              <a:ext uri="{FF2B5EF4-FFF2-40B4-BE49-F238E27FC236}">
                <a16:creationId xmlns:a16="http://schemas.microsoft.com/office/drawing/2014/main" id="{058576CD-AA0D-EFF6-8EBB-361EBE1EFFF0}"/>
              </a:ext>
            </a:extLst>
          </p:cNvPr>
          <p:cNvGraphicFramePr>
            <a:graphicFrameLocks noGrp="1"/>
          </p:cNvGraphicFramePr>
          <p:nvPr>
            <p:extLst>
              <p:ext uri="{D42A27DB-BD31-4B8C-83A1-F6EECF244321}">
                <p14:modId xmlns:p14="http://schemas.microsoft.com/office/powerpoint/2010/main" val="556127244"/>
              </p:ext>
            </p:extLst>
          </p:nvPr>
        </p:nvGraphicFramePr>
        <p:xfrm>
          <a:off x="931724" y="4006471"/>
          <a:ext cx="13419487" cy="3518398"/>
        </p:xfrm>
        <a:graphic>
          <a:graphicData uri="http://schemas.openxmlformats.org/drawingml/2006/table">
            <a:tbl>
              <a:tblPr firstRow="1" bandRow="1">
                <a:tableStyleId>{5C22544A-7EE6-4342-B048-85BDC9FD1C3A}</a:tableStyleId>
              </a:tblPr>
              <a:tblGrid>
                <a:gridCol w="2737751">
                  <a:extLst>
                    <a:ext uri="{9D8B030D-6E8A-4147-A177-3AD203B41FA5}">
                      <a16:colId xmlns:a16="http://schemas.microsoft.com/office/drawing/2014/main" val="3284101137"/>
                    </a:ext>
                  </a:extLst>
                </a:gridCol>
                <a:gridCol w="4092763">
                  <a:extLst>
                    <a:ext uri="{9D8B030D-6E8A-4147-A177-3AD203B41FA5}">
                      <a16:colId xmlns:a16="http://schemas.microsoft.com/office/drawing/2014/main" val="3746780054"/>
                    </a:ext>
                  </a:extLst>
                </a:gridCol>
                <a:gridCol w="3387143">
                  <a:extLst>
                    <a:ext uri="{9D8B030D-6E8A-4147-A177-3AD203B41FA5}">
                      <a16:colId xmlns:a16="http://schemas.microsoft.com/office/drawing/2014/main" val="3499945781"/>
                    </a:ext>
                  </a:extLst>
                </a:gridCol>
                <a:gridCol w="3201830">
                  <a:extLst>
                    <a:ext uri="{9D8B030D-6E8A-4147-A177-3AD203B41FA5}">
                      <a16:colId xmlns:a16="http://schemas.microsoft.com/office/drawing/2014/main" val="1837785458"/>
                    </a:ext>
                  </a:extLst>
                </a:gridCol>
              </a:tblGrid>
              <a:tr h="440907">
                <a:tc rowSpan="2">
                  <a:txBody>
                    <a:bodyPr/>
                    <a:lstStyle/>
                    <a:p>
                      <a:pPr algn="ctr"/>
                      <a:r>
                        <a:rPr lang="en-US" sz="2000"/>
                        <a:t>Program</a:t>
                      </a:r>
                    </a:p>
                  </a:txBody>
                  <a:tcPr anchor="ctr">
                    <a:lnB w="12700" cap="flat" cmpd="sng" algn="ctr">
                      <a:solidFill>
                        <a:schemeClr val="accent4">
                          <a:lumMod val="60000"/>
                          <a:lumOff val="40000"/>
                        </a:schemeClr>
                      </a:solidFill>
                      <a:prstDash val="solid"/>
                      <a:round/>
                      <a:headEnd type="none" w="med" len="med"/>
                      <a:tailEnd type="none" w="med" len="med"/>
                    </a:lnB>
                  </a:tcPr>
                </a:tc>
                <a:tc gridSpan="3">
                  <a:txBody>
                    <a:bodyPr/>
                    <a:lstStyle/>
                    <a:p>
                      <a:pPr algn="ctr"/>
                      <a:r>
                        <a:rPr lang="en-US" sz="2000"/>
                        <a:t>Program Team </a:t>
                      </a:r>
                    </a:p>
                  </a:txBody>
                  <a:tcPr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09213110"/>
                  </a:ext>
                </a:extLst>
              </a:tr>
              <a:tr h="440907">
                <a:tc vMerge="1">
                  <a:txBody>
                    <a:bodyPr/>
                    <a:lstStyle/>
                    <a:p>
                      <a:pPr algn="ctr"/>
                      <a:endParaRPr lang="en-US" sz="2000"/>
                    </a:p>
                  </a:txBody>
                  <a:tcPr anchor="ctr"/>
                </a:tc>
                <a:tc>
                  <a:txBody>
                    <a:bodyPr/>
                    <a:lstStyle/>
                    <a:p>
                      <a:pPr algn="ctr"/>
                      <a:r>
                        <a:rPr lang="en-US" sz="1600" b="1"/>
                        <a:t>PMMs</a:t>
                      </a:r>
                    </a:p>
                  </a:txBody>
                  <a:tcPr anchor="ctr">
                    <a:lnB w="12700" cap="flat" cmpd="sng" algn="ctr">
                      <a:solidFill>
                        <a:schemeClr val="accent4">
                          <a:lumMod val="60000"/>
                          <a:lumOff val="40000"/>
                        </a:schemeClr>
                      </a:solidFill>
                      <a:prstDash val="solid"/>
                      <a:round/>
                      <a:headEnd type="none" w="med" len="med"/>
                      <a:tailEnd type="none" w="med" len="med"/>
                    </a:lnB>
                    <a:solidFill>
                      <a:srgbClr val="D9D9DB"/>
                    </a:solidFill>
                  </a:tcPr>
                </a:tc>
                <a:tc>
                  <a:txBody>
                    <a:bodyPr/>
                    <a:lstStyle/>
                    <a:p>
                      <a:pPr algn="ctr"/>
                      <a:r>
                        <a:rPr lang="en-US" sz="1600" b="1"/>
                        <a:t>Support</a:t>
                      </a:r>
                    </a:p>
                  </a:txBody>
                  <a:tcPr anchor="ctr">
                    <a:lnB w="12700" cap="flat" cmpd="sng" algn="ctr">
                      <a:solidFill>
                        <a:schemeClr val="accent4">
                          <a:lumMod val="60000"/>
                          <a:lumOff val="40000"/>
                        </a:schemeClr>
                      </a:solidFill>
                      <a:prstDash val="solid"/>
                      <a:round/>
                      <a:headEnd type="none" w="med" len="med"/>
                      <a:tailEnd type="none" w="med" len="med"/>
                    </a:lnB>
                    <a:solidFill>
                      <a:srgbClr val="D9D9DB"/>
                    </a:solidFill>
                  </a:tcPr>
                </a:tc>
                <a:tc>
                  <a:txBody>
                    <a:bodyPr/>
                    <a:lstStyle/>
                    <a:p>
                      <a:pPr algn="ctr"/>
                      <a:r>
                        <a:rPr lang="en-US" sz="1600" b="1"/>
                        <a:t>NA Leader</a:t>
                      </a:r>
                    </a:p>
                  </a:txBody>
                  <a:tcPr anchor="ctr">
                    <a:lnB w="12700" cap="flat" cmpd="sng" algn="ctr">
                      <a:solidFill>
                        <a:schemeClr val="accent4">
                          <a:lumMod val="60000"/>
                          <a:lumOff val="40000"/>
                        </a:schemeClr>
                      </a:solidFill>
                      <a:prstDash val="solid"/>
                      <a:round/>
                      <a:headEnd type="none" w="med" len="med"/>
                      <a:tailEnd type="none" w="med" len="med"/>
                    </a:lnB>
                    <a:solidFill>
                      <a:srgbClr val="D9D9DB"/>
                    </a:solidFill>
                  </a:tcPr>
                </a:tc>
                <a:extLst>
                  <a:ext uri="{0D108BD9-81ED-4DB2-BD59-A6C34878D82A}">
                    <a16:rowId xmlns:a16="http://schemas.microsoft.com/office/drawing/2014/main" val="801799409"/>
                  </a:ext>
                </a:extLst>
              </a:tr>
              <a:tr h="659146">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2000" b="1" dirty="0">
                          <a:latin typeface="Arial Narrow" panose="020B0606020202030204" pitchFamily="34" charset="0"/>
                        </a:rPr>
                        <a:t>IQ Controller </a:t>
                      </a:r>
                    </a:p>
                    <a:p>
                      <a:pPr marL="0" marR="0" lvl="0" indent="0" algn="ctr" defTabSz="1463040" rtl="0" eaLnBrk="1" fontAlgn="auto" latinLnBrk="0" hangingPunct="1">
                        <a:lnSpc>
                          <a:spcPct val="100000"/>
                        </a:lnSpc>
                        <a:spcBef>
                          <a:spcPts val="0"/>
                        </a:spcBef>
                        <a:spcAft>
                          <a:spcPts val="0"/>
                        </a:spcAft>
                        <a:buClrTx/>
                        <a:buSzTx/>
                        <a:buFontTx/>
                        <a:buNone/>
                        <a:tabLst/>
                        <a:defRPr/>
                      </a:pPr>
                      <a:r>
                        <a:rPr lang="en-US" sz="1600" i="1" dirty="0">
                          <a:latin typeface="Arial Narrow" panose="020B0606020202030204" pitchFamily="34" charset="0"/>
                        </a:rPr>
                        <a:t>(IQ)</a:t>
                      </a:r>
                    </a:p>
                  </a:txBody>
                  <a:tcPr anchor="ctr">
                    <a:lnL w="12700" cap="flat" cmpd="sng" algn="ctr">
                      <a:solidFill>
                        <a:schemeClr val="accent4">
                          <a:lumMod val="60000"/>
                          <a:lumOff val="40000"/>
                        </a:schemeClr>
                      </a:solidFill>
                      <a:prstDash val="solid"/>
                      <a:round/>
                      <a:headEnd type="none" w="med" len="med"/>
                      <a:tailEnd type="none" w="med" len="med"/>
                    </a:lnL>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sz="1600" i="0" u="none">
                          <a:solidFill>
                            <a:schemeClr val="tx1"/>
                          </a:solidFill>
                          <a:hlinkClick r:id="rId5">
                            <a:extLst>
                              <a:ext uri="{A12FA001-AC4F-418D-AE19-62706E023703}">
                                <ahyp:hlinkClr xmlns:ahyp="http://schemas.microsoft.com/office/drawing/2018/hyperlinkcolor" val="tx"/>
                              </a:ext>
                            </a:extLst>
                          </a:hlinkClick>
                        </a:rPr>
                        <a:t>michael.tworzydlo@emerson.com</a:t>
                      </a:r>
                      <a:endParaRPr lang="en-US" sz="1600" i="0" u="none">
                        <a:solidFill>
                          <a:schemeClr val="tx1"/>
                        </a:solidFill>
                      </a:endParaRPr>
                    </a:p>
                  </a:txBody>
                  <a:tcPr anchor="ct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sz="1600">
                          <a:solidFill>
                            <a:schemeClr val="tx1"/>
                          </a:solidFill>
                          <a:hlinkClick r:id="rId6">
                            <a:extLst>
                              <a:ext uri="{A12FA001-AC4F-418D-AE19-62706E023703}">
                                <ahyp:hlinkClr xmlns:ahyp="http://schemas.microsoft.com/office/drawing/2018/hyperlinkcolor" val="tx"/>
                              </a:ext>
                            </a:extLst>
                          </a:hlinkClick>
                        </a:rPr>
                        <a:t>andrew.whitaker@emerson.com</a:t>
                      </a:r>
                      <a:endParaRPr lang="en-US" sz="1600">
                        <a:solidFill>
                          <a:schemeClr val="tx1"/>
                        </a:solidFill>
                      </a:endParaRPr>
                    </a:p>
                  </a:txBody>
                  <a:tcPr anchor="ct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sz="1600">
                          <a:solidFill>
                            <a:schemeClr val="tx1"/>
                          </a:solidFill>
                          <a:hlinkClick r:id="rId7">
                            <a:extLst>
                              <a:ext uri="{A12FA001-AC4F-418D-AE19-62706E023703}">
                                <ahyp:hlinkClr xmlns:ahyp="http://schemas.microsoft.com/office/drawing/2018/hyperlinkcolor" val="tx"/>
                              </a:ext>
                            </a:extLst>
                          </a:hlinkClick>
                        </a:rPr>
                        <a:t>nousha.tayefeh@emerson.com</a:t>
                      </a:r>
                      <a:endParaRPr lang="en-US" sz="1600">
                        <a:solidFill>
                          <a:schemeClr val="tx1"/>
                        </a:solidFill>
                      </a:endParaRPr>
                    </a:p>
                  </a:txBody>
                  <a:tcPr anchor="ctr">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81784620"/>
                  </a:ext>
                </a:extLst>
              </a:tr>
              <a:tr h="659146">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2000" b="1" dirty="0">
                          <a:latin typeface="Arial Narrow" panose="020B0606020202030204" pitchFamily="34" charset="0"/>
                        </a:rPr>
                        <a:t>Live Enterprise View </a:t>
                      </a:r>
                    </a:p>
                    <a:p>
                      <a:pPr marL="0" marR="0" lvl="0" indent="0" algn="ctr" defTabSz="1463040" rtl="0" eaLnBrk="1" fontAlgn="auto" latinLnBrk="0" hangingPunct="1">
                        <a:lnSpc>
                          <a:spcPct val="100000"/>
                        </a:lnSpc>
                        <a:spcBef>
                          <a:spcPts val="0"/>
                        </a:spcBef>
                        <a:spcAft>
                          <a:spcPts val="0"/>
                        </a:spcAft>
                        <a:buClrTx/>
                        <a:buSzTx/>
                        <a:buFontTx/>
                        <a:buNone/>
                        <a:tabLst/>
                        <a:defRPr/>
                      </a:pPr>
                      <a:r>
                        <a:rPr lang="en-US" sz="1600" i="1" dirty="0">
                          <a:latin typeface="Arial Narrow" panose="020B0606020202030204" pitchFamily="34" charset="0"/>
                        </a:rPr>
                        <a:t>(LEV)</a:t>
                      </a:r>
                    </a:p>
                  </a:txBody>
                  <a:tcPr anchor="ctr">
                    <a:lnL w="12700" cap="flat" cmpd="sng" algn="ctr">
                      <a:solidFill>
                        <a:schemeClr val="accent5">
                          <a:lumMod val="60000"/>
                          <a:lumOff val="40000"/>
                        </a:schemeClr>
                      </a:solidFill>
                      <a:prstDash val="solid"/>
                      <a:round/>
                      <a:headEnd type="none" w="med" len="med"/>
                      <a:tailEnd type="none" w="med" len="med"/>
                    </a:lnL>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1600" i="0" u="none">
                          <a:solidFill>
                            <a:schemeClr val="tx1"/>
                          </a:solidFill>
                        </a:rPr>
                        <a:t>LEV:</a:t>
                      </a:r>
                      <a:r>
                        <a:rPr lang="en-US" sz="1600" i="0" u="sng">
                          <a:solidFill>
                            <a:schemeClr val="tx1"/>
                          </a:solidFill>
                          <a:effectLst/>
                        </a:rPr>
                        <a:t> </a:t>
                      </a:r>
                      <a:r>
                        <a:rPr lang="en-US" sz="1600" i="0" u="none">
                          <a:solidFill>
                            <a:schemeClr val="tx1"/>
                          </a:solidFill>
                          <a:hlinkClick r:id="rId8">
                            <a:extLst>
                              <a:ext uri="{A12FA001-AC4F-418D-AE19-62706E023703}">
                                <ahyp:hlinkClr xmlns:ahyp="http://schemas.microsoft.com/office/drawing/2018/hyperlinkcolor" val="tx"/>
                              </a:ext>
                            </a:extLst>
                          </a:hlinkClick>
                        </a:rPr>
                        <a:t>simran.ahuja@emerson.com</a:t>
                      </a:r>
                      <a:endParaRPr lang="en-US" sz="1600" i="0" u="none">
                        <a:solidFill>
                          <a:schemeClr val="tx1"/>
                        </a:solidFill>
                      </a:endParaRPr>
                    </a:p>
                    <a:p>
                      <a:pPr marL="0" marR="0" lvl="0" indent="0" algn="ctr" defTabSz="1463040" rtl="0" eaLnBrk="1" fontAlgn="auto" latinLnBrk="0" hangingPunct="1">
                        <a:lnSpc>
                          <a:spcPct val="100000"/>
                        </a:lnSpc>
                        <a:spcBef>
                          <a:spcPts val="0"/>
                        </a:spcBef>
                        <a:spcAft>
                          <a:spcPts val="0"/>
                        </a:spcAft>
                        <a:buClrTx/>
                        <a:buSzTx/>
                        <a:buFontTx/>
                        <a:buNone/>
                        <a:tabLst/>
                        <a:defRPr/>
                      </a:pPr>
                      <a:r>
                        <a:rPr lang="en-US" sz="1600" i="0" u="none">
                          <a:solidFill>
                            <a:schemeClr val="tx1"/>
                          </a:solidFill>
                        </a:rPr>
                        <a:t>Edge: </a:t>
                      </a:r>
                      <a:r>
                        <a:rPr lang="en-US" sz="1600" i="0" u="none">
                          <a:solidFill>
                            <a:schemeClr val="tx1"/>
                          </a:solidFill>
                          <a:hlinkClick r:id="rId9">
                            <a:extLst>
                              <a:ext uri="{A12FA001-AC4F-418D-AE19-62706E023703}">
                                <ahyp:hlinkClr xmlns:ahyp="http://schemas.microsoft.com/office/drawing/2018/hyperlinkcolor" val="tx"/>
                              </a:ext>
                            </a:extLst>
                          </a:hlinkClick>
                        </a:rPr>
                        <a:t>francisjohn.valmonte@emerson.com</a:t>
                      </a:r>
                      <a:r>
                        <a:rPr lang="en-US" sz="1600" i="0" u="none">
                          <a:solidFill>
                            <a:schemeClr val="tx1"/>
                          </a:solidFill>
                        </a:rPr>
                        <a:t> </a:t>
                      </a:r>
                    </a:p>
                  </a:txBody>
                  <a:tcPr anchor="ct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1600">
                          <a:solidFill>
                            <a:schemeClr val="tx1"/>
                          </a:solidFill>
                          <a:hlinkClick r:id="rId6">
                            <a:extLst>
                              <a:ext uri="{A12FA001-AC4F-418D-AE19-62706E023703}">
                                <ahyp:hlinkClr xmlns:ahyp="http://schemas.microsoft.com/office/drawing/2018/hyperlinkcolor" val="tx"/>
                              </a:ext>
                            </a:extLst>
                          </a:hlinkClick>
                        </a:rPr>
                        <a:t>andrew.whitaker@emerson.com</a:t>
                      </a:r>
                      <a:endParaRPr lang="en-US" sz="1600">
                        <a:solidFill>
                          <a:schemeClr val="tx1"/>
                        </a:solidFill>
                      </a:endParaRPr>
                    </a:p>
                  </a:txBody>
                  <a:tcPr anchor="ct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1600">
                          <a:solidFill>
                            <a:schemeClr val="tx1"/>
                          </a:solidFill>
                          <a:hlinkClick r:id="rId7">
                            <a:extLst>
                              <a:ext uri="{A12FA001-AC4F-418D-AE19-62706E023703}">
                                <ahyp:hlinkClr xmlns:ahyp="http://schemas.microsoft.com/office/drawing/2018/hyperlinkcolor" val="tx"/>
                              </a:ext>
                            </a:extLst>
                          </a:hlinkClick>
                        </a:rPr>
                        <a:t>nousha.tayefeh@emerson.com</a:t>
                      </a:r>
                      <a:endParaRPr lang="en-US" sz="1600">
                        <a:solidFill>
                          <a:schemeClr val="tx1"/>
                        </a:solidFill>
                      </a:endParaRPr>
                    </a:p>
                  </a:txBody>
                  <a:tcPr anchor="ctr">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780184874"/>
                  </a:ext>
                </a:extLst>
              </a:tr>
              <a:tr h="659146">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2000" b="1">
                          <a:latin typeface="Arial Narrow" panose="020B0606020202030204" pitchFamily="34" charset="0"/>
                        </a:rPr>
                        <a:t>Enterprise Engineering </a:t>
                      </a:r>
                      <a:r>
                        <a:rPr lang="en-US" sz="1600" i="1">
                          <a:latin typeface="Arial Narrow" panose="020B0606020202030204" pitchFamily="34" charset="0"/>
                        </a:rPr>
                        <a:t>(EE)</a:t>
                      </a:r>
                    </a:p>
                  </a:txBody>
                  <a:tcPr anchor="ctr">
                    <a:lnL w="12700" cap="flat" cmpd="sng" algn="ctr">
                      <a:solidFill>
                        <a:schemeClr val="accent3">
                          <a:lumMod val="60000"/>
                          <a:lumOff val="40000"/>
                        </a:schemeClr>
                      </a:solidFill>
                      <a:prstDash val="solid"/>
                      <a:round/>
                      <a:headEnd type="none" w="med" len="med"/>
                      <a:tailEnd type="none" w="med" len="med"/>
                    </a:lnL>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ctr"/>
                      <a:r>
                        <a:rPr lang="en-US" sz="1600" i="0" u="none">
                          <a:solidFill>
                            <a:schemeClr val="tx1"/>
                          </a:solidFill>
                          <a:hlinkClick r:id="rId10">
                            <a:extLst>
                              <a:ext uri="{A12FA001-AC4F-418D-AE19-62706E023703}">
                                <ahyp:hlinkClr xmlns:ahyp="http://schemas.microsoft.com/office/drawing/2018/hyperlinkcolor" val="tx"/>
                              </a:ext>
                            </a:extLst>
                          </a:hlinkClick>
                        </a:rPr>
                        <a:t>shruti.ronghe@emerson.com</a:t>
                      </a:r>
                      <a:r>
                        <a:rPr lang="en-US" sz="1600" i="0" u="none">
                          <a:solidFill>
                            <a:schemeClr val="tx1"/>
                          </a:solidFill>
                        </a:rPr>
                        <a:t> </a:t>
                      </a:r>
                    </a:p>
                  </a:txBody>
                  <a:tcPr anchor="ct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ctr"/>
                      <a:r>
                        <a:rPr lang="en-US" sz="1600">
                          <a:solidFill>
                            <a:schemeClr val="tx1"/>
                          </a:solidFill>
                          <a:hlinkClick r:id="rId6">
                            <a:extLst>
                              <a:ext uri="{A12FA001-AC4F-418D-AE19-62706E023703}">
                                <ahyp:hlinkClr xmlns:ahyp="http://schemas.microsoft.com/office/drawing/2018/hyperlinkcolor" val="tx"/>
                              </a:ext>
                            </a:extLst>
                          </a:hlinkClick>
                        </a:rPr>
                        <a:t>andrew.whitaker@emerson.com</a:t>
                      </a:r>
                      <a:endParaRPr lang="en-US" sz="1600">
                        <a:solidFill>
                          <a:schemeClr val="tx1"/>
                        </a:solidFill>
                      </a:endParaRPr>
                    </a:p>
                  </a:txBody>
                  <a:tcPr anchor="ct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ctr"/>
                      <a:r>
                        <a:rPr lang="en-US" sz="1600">
                          <a:solidFill>
                            <a:schemeClr val="tx1"/>
                          </a:solidFill>
                          <a:hlinkClick r:id="rId7">
                            <a:extLst>
                              <a:ext uri="{A12FA001-AC4F-418D-AE19-62706E023703}">
                                <ahyp:hlinkClr xmlns:ahyp="http://schemas.microsoft.com/office/drawing/2018/hyperlinkcolor" val="tx"/>
                              </a:ext>
                            </a:extLst>
                          </a:hlinkClick>
                        </a:rPr>
                        <a:t>nousha.tayefeh@emerson.com</a:t>
                      </a:r>
                      <a:endParaRPr lang="en-US" sz="1600">
                        <a:solidFill>
                          <a:schemeClr val="tx1"/>
                        </a:solidFill>
                      </a:endParaRPr>
                    </a:p>
                  </a:txBody>
                  <a:tcPr anchor="ctr">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438993364"/>
                  </a:ext>
                </a:extLst>
              </a:tr>
              <a:tr h="659146">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2000" b="1">
                          <a:latin typeface="Arial Narrow" panose="020B0606020202030204" pitchFamily="34" charset="0"/>
                        </a:rPr>
                        <a:t>DeltaV Virtual Advisor</a:t>
                      </a:r>
                      <a:r>
                        <a:rPr lang="en-US" sz="2000" b="1" i="1">
                          <a:latin typeface="Arial Narrow" panose="020B0606020202030204" pitchFamily="34" charset="0"/>
                        </a:rPr>
                        <a:t> </a:t>
                      </a:r>
                      <a:r>
                        <a:rPr lang="en-US" sz="1600" i="1">
                          <a:latin typeface="Arial Narrow" panose="020B0606020202030204" pitchFamily="34" charset="0"/>
                        </a:rPr>
                        <a:t>(DVA)</a:t>
                      </a:r>
                      <a:r>
                        <a:rPr lang="en-US" sz="1600" b="1">
                          <a:latin typeface="Arial Narrow" panose="020B0606020202030204" pitchFamily="34" charset="0"/>
                        </a:rPr>
                        <a:t>  </a:t>
                      </a:r>
                    </a:p>
                  </a:txBody>
                  <a:tcPr anchor="ctr">
                    <a:lnL w="12700" cap="flat" cmpd="sng" algn="ctr">
                      <a:solidFill>
                        <a:schemeClr val="accent2">
                          <a:lumMod val="50000"/>
                          <a:lumOff val="50000"/>
                        </a:schemeClr>
                      </a:solidFill>
                      <a:prstDash val="solid"/>
                      <a:round/>
                      <a:headEnd type="none" w="med" len="med"/>
                      <a:tailEnd type="none" w="med" len="med"/>
                    </a:lnL>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2">
                        <a:lumMod val="10000"/>
                        <a:lumOff val="90000"/>
                      </a:schemeClr>
                    </a:solidFill>
                  </a:tcPr>
                </a:tc>
                <a:tc>
                  <a:txBody>
                    <a:bodyPr/>
                    <a:lstStyle/>
                    <a:p>
                      <a:pPr algn="ctr"/>
                      <a:r>
                        <a:rPr lang="en-US" sz="1600" i="0" u="none">
                          <a:solidFill>
                            <a:schemeClr val="tx1"/>
                          </a:solidFill>
                          <a:hlinkClick r:id="rId11">
                            <a:extLst>
                              <a:ext uri="{A12FA001-AC4F-418D-AE19-62706E023703}">
                                <ahyp:hlinkClr xmlns:ahyp="http://schemas.microsoft.com/office/drawing/2018/hyperlinkcolor" val="tx"/>
                              </a:ext>
                            </a:extLst>
                          </a:hlinkClick>
                        </a:rPr>
                        <a:t>curtis.thompson@emerson.com</a:t>
                      </a:r>
                      <a:endParaRPr lang="en-US" sz="1600" i="0" u="none">
                        <a:solidFill>
                          <a:schemeClr val="tx1"/>
                        </a:solidFill>
                      </a:endParaRPr>
                    </a:p>
                  </a:txBody>
                  <a:tcPr anchor="ct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2">
                        <a:lumMod val="10000"/>
                        <a:lumOff val="90000"/>
                      </a:schemeClr>
                    </a:solidFill>
                  </a:tcPr>
                </a:tc>
                <a:tc>
                  <a:txBody>
                    <a:bodyPr/>
                    <a:lstStyle/>
                    <a:p>
                      <a:pPr algn="ctr"/>
                      <a:r>
                        <a:rPr lang="en-US" sz="1600">
                          <a:solidFill>
                            <a:schemeClr val="tx1"/>
                          </a:solidFill>
                          <a:hlinkClick r:id="rId6">
                            <a:extLst>
                              <a:ext uri="{A12FA001-AC4F-418D-AE19-62706E023703}">
                                <ahyp:hlinkClr xmlns:ahyp="http://schemas.microsoft.com/office/drawing/2018/hyperlinkcolor" val="tx"/>
                              </a:ext>
                            </a:extLst>
                          </a:hlinkClick>
                        </a:rPr>
                        <a:t>andrew.whitaker@emerson.com</a:t>
                      </a:r>
                      <a:endParaRPr lang="en-US" sz="1600">
                        <a:solidFill>
                          <a:schemeClr val="tx1"/>
                        </a:solidFill>
                      </a:endParaRPr>
                    </a:p>
                  </a:txBody>
                  <a:tcPr anchor="ct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2">
                        <a:lumMod val="10000"/>
                        <a:lumOff val="90000"/>
                      </a:schemeClr>
                    </a:solidFill>
                  </a:tcPr>
                </a:tc>
                <a:tc>
                  <a:txBody>
                    <a:bodyPr/>
                    <a:lstStyle/>
                    <a:p>
                      <a:pPr algn="ctr"/>
                      <a:r>
                        <a:rPr lang="en-US" sz="1600" dirty="0">
                          <a:solidFill>
                            <a:schemeClr val="tx1"/>
                          </a:solidFill>
                          <a:hlinkClick r:id="rId7">
                            <a:extLst>
                              <a:ext uri="{A12FA001-AC4F-418D-AE19-62706E023703}">
                                <ahyp:hlinkClr xmlns:ahyp="http://schemas.microsoft.com/office/drawing/2018/hyperlinkcolor" val="tx"/>
                              </a:ext>
                            </a:extLst>
                          </a:hlinkClick>
                        </a:rPr>
                        <a:t>nousha.tayefeh@emerson.com</a:t>
                      </a:r>
                      <a:endParaRPr lang="en-US" sz="1600" dirty="0">
                        <a:solidFill>
                          <a:schemeClr val="tx1"/>
                        </a:solidFill>
                      </a:endParaRPr>
                    </a:p>
                  </a:txBody>
                  <a:tcPr anchor="ctr">
                    <a:lnR w="12700" cap="flat" cmpd="sng" algn="ctr">
                      <a:solidFill>
                        <a:schemeClr val="accent2">
                          <a:lumMod val="50000"/>
                          <a:lumOff val="50000"/>
                        </a:schemeClr>
                      </a:solidFill>
                      <a:prstDash val="solid"/>
                      <a:round/>
                      <a:headEnd type="none" w="med" len="med"/>
                      <a:tailEnd type="none" w="med" len="med"/>
                    </a:lnR>
                    <a:lnT w="12700" cap="flat" cmpd="sng" algn="ctr">
                      <a:solidFill>
                        <a:schemeClr val="accent2">
                          <a:lumMod val="50000"/>
                          <a:lumOff val="50000"/>
                        </a:schemeClr>
                      </a:solidFill>
                      <a:prstDash val="solid"/>
                      <a:round/>
                      <a:headEnd type="none" w="med" len="med"/>
                      <a:tailEnd type="none" w="med" len="med"/>
                    </a:lnT>
                    <a:lnB w="12700" cap="flat" cmpd="sng" algn="ctr">
                      <a:solidFill>
                        <a:schemeClr val="accent2">
                          <a:lumMod val="50000"/>
                          <a:lumOff val="50000"/>
                        </a:schemeClr>
                      </a:solidFill>
                      <a:prstDash val="solid"/>
                      <a:round/>
                      <a:headEnd type="none" w="med" len="med"/>
                      <a:tailEnd type="none" w="med" len="med"/>
                    </a:lnB>
                    <a:solidFill>
                      <a:schemeClr val="accent2">
                        <a:lumMod val="10000"/>
                        <a:lumOff val="90000"/>
                      </a:schemeClr>
                    </a:solidFill>
                  </a:tcPr>
                </a:tc>
                <a:extLst>
                  <a:ext uri="{0D108BD9-81ED-4DB2-BD59-A6C34878D82A}">
                    <a16:rowId xmlns:a16="http://schemas.microsoft.com/office/drawing/2014/main" val="2199321728"/>
                  </a:ext>
                </a:extLst>
              </a:tr>
            </a:tbl>
          </a:graphicData>
        </a:graphic>
      </p:graphicFrame>
      <p:pic>
        <p:nvPicPr>
          <p:cNvPr id="4" name="Picture 3">
            <a:extLst>
              <a:ext uri="{FF2B5EF4-FFF2-40B4-BE49-F238E27FC236}">
                <a16:creationId xmlns:a16="http://schemas.microsoft.com/office/drawing/2014/main" id="{131FD9BA-C4DB-4346-839F-57A4D1193DCE}"/>
              </a:ext>
            </a:extLst>
          </p:cNvPr>
          <p:cNvPicPr>
            <a:picLocks noChangeAspect="1"/>
          </p:cNvPicPr>
          <p:nvPr/>
        </p:nvPicPr>
        <p:blipFill>
          <a:blip r:embed="rId12"/>
          <a:srcRect l="3568" r="4511"/>
          <a:stretch>
            <a:fillRect/>
          </a:stretch>
        </p:blipFill>
        <p:spPr>
          <a:xfrm>
            <a:off x="13086567" y="247186"/>
            <a:ext cx="1264644" cy="1016350"/>
          </a:xfrm>
          <a:prstGeom prst="rect">
            <a:avLst/>
          </a:prstGeom>
          <a:ln>
            <a:solidFill>
              <a:schemeClr val="tx1"/>
            </a:solidFill>
          </a:ln>
        </p:spPr>
      </p:pic>
      <p:sp>
        <p:nvSpPr>
          <p:cNvPr id="8" name="TextBox 7">
            <a:extLst>
              <a:ext uri="{FF2B5EF4-FFF2-40B4-BE49-F238E27FC236}">
                <a16:creationId xmlns:a16="http://schemas.microsoft.com/office/drawing/2014/main" id="{B294D4B2-7E7E-C460-73AA-18E9EAAF15CF}"/>
              </a:ext>
            </a:extLst>
          </p:cNvPr>
          <p:cNvSpPr txBox="1"/>
          <p:nvPr/>
        </p:nvSpPr>
        <p:spPr>
          <a:xfrm>
            <a:off x="307178" y="5741920"/>
            <a:ext cx="743940" cy="306467"/>
          </a:xfrm>
          <a:prstGeom prst="round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R="0" lvl="0" algn="ctr" defTabSz="1463040" rtl="0" eaLnBrk="1" fontAlgn="auto" latinLnBrk="0" hangingPunct="1">
              <a:lnSpc>
                <a:spcPct val="100000"/>
              </a:lnSpc>
              <a:spcBef>
                <a:spcPts val="600"/>
              </a:spcBef>
              <a:spcAft>
                <a:spcPts val="0"/>
              </a:spcAft>
              <a:buClrTx/>
              <a:buSzTx/>
              <a:tabLst/>
              <a:defRPr/>
            </a:pPr>
            <a:r>
              <a:rPr kumimoji="0" lang="en-US" sz="1200" b="1" i="0" u="none" strike="noStrike" kern="1200" cap="none" spc="0" normalizeH="0" baseline="0" noProof="0">
                <a:ln>
                  <a:noFill/>
                </a:ln>
                <a:solidFill>
                  <a:schemeClr val="bg1"/>
                </a:solidFill>
                <a:effectLst/>
                <a:uLnTx/>
                <a:uFillTx/>
                <a:latin typeface="Arial"/>
                <a:ea typeface="+mn-ea"/>
                <a:cs typeface="+mn-cs"/>
              </a:rPr>
              <a:t>OPEN </a:t>
            </a:r>
          </a:p>
        </p:txBody>
      </p:sp>
      <p:sp>
        <p:nvSpPr>
          <p:cNvPr id="9" name="TextBox 8">
            <a:extLst>
              <a:ext uri="{FF2B5EF4-FFF2-40B4-BE49-F238E27FC236}">
                <a16:creationId xmlns:a16="http://schemas.microsoft.com/office/drawing/2014/main" id="{8C07B673-F990-3551-F8A3-30F9989C84C3}"/>
              </a:ext>
            </a:extLst>
          </p:cNvPr>
          <p:cNvSpPr txBox="1"/>
          <p:nvPr/>
        </p:nvSpPr>
        <p:spPr>
          <a:xfrm>
            <a:off x="307178" y="6409798"/>
            <a:ext cx="743940" cy="306467"/>
          </a:xfrm>
          <a:prstGeom prst="round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R="0" lvl="0" algn="ctr" defTabSz="1463040" rtl="0" eaLnBrk="1" fontAlgn="auto" latinLnBrk="0" hangingPunct="1">
              <a:lnSpc>
                <a:spcPct val="100000"/>
              </a:lnSpc>
              <a:spcBef>
                <a:spcPts val="600"/>
              </a:spcBef>
              <a:spcAft>
                <a:spcPts val="0"/>
              </a:spcAft>
              <a:buClrTx/>
              <a:buSzTx/>
              <a:tabLst/>
              <a:defRPr/>
            </a:pPr>
            <a:r>
              <a:rPr kumimoji="0" lang="en-US" sz="1200" b="1" i="0" u="none" strike="noStrike" kern="1200" cap="none" spc="0" normalizeH="0" baseline="0" noProof="0">
                <a:ln>
                  <a:noFill/>
                </a:ln>
                <a:solidFill>
                  <a:schemeClr val="bg1"/>
                </a:solidFill>
                <a:effectLst/>
                <a:uLnTx/>
                <a:uFillTx/>
                <a:latin typeface="Arial"/>
                <a:ea typeface="+mn-ea"/>
                <a:cs typeface="+mn-cs"/>
              </a:rPr>
              <a:t>OPEN </a:t>
            </a:r>
          </a:p>
        </p:txBody>
      </p:sp>
      <p:sp>
        <p:nvSpPr>
          <p:cNvPr id="2" name="Arrow: Left 1">
            <a:hlinkClick r:id="rId13" action="ppaction://hlinksldjump"/>
            <a:extLst>
              <a:ext uri="{FF2B5EF4-FFF2-40B4-BE49-F238E27FC236}">
                <a16:creationId xmlns:a16="http://schemas.microsoft.com/office/drawing/2014/main" id="{4A2E155C-E6A2-6075-504B-308288BD8D29}"/>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Tree>
    <p:extLst>
      <p:ext uri="{BB962C8B-B14F-4D97-AF65-F5344CB8AC3E}">
        <p14:creationId xmlns:p14="http://schemas.microsoft.com/office/powerpoint/2010/main" val="644324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3D16D-BE06-79E2-2BD3-56B77E4CBCC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E68BD5-E7C3-B293-7092-26A081BB24A5}"/>
              </a:ext>
            </a:extLst>
          </p:cNvPr>
          <p:cNvSpPr>
            <a:spLocks noGrp="1"/>
          </p:cNvSpPr>
          <p:nvPr>
            <p:ph type="title"/>
          </p:nvPr>
        </p:nvSpPr>
        <p:spPr/>
        <p:txBody>
          <a:bodyPr>
            <a:normAutofit/>
          </a:bodyPr>
          <a:lstStyle/>
          <a:p>
            <a:r>
              <a:rPr lang="en-US" sz="3600"/>
              <a:t>Frequently Asked Questions</a:t>
            </a:r>
          </a:p>
        </p:txBody>
      </p:sp>
      <p:sp>
        <p:nvSpPr>
          <p:cNvPr id="3" name="TextBox 2">
            <a:extLst>
              <a:ext uri="{FF2B5EF4-FFF2-40B4-BE49-F238E27FC236}">
                <a16:creationId xmlns:a16="http://schemas.microsoft.com/office/drawing/2014/main" id="{8D8430FD-1780-9E46-3141-412998A43DFC}"/>
              </a:ext>
            </a:extLst>
          </p:cNvPr>
          <p:cNvSpPr txBox="1"/>
          <p:nvPr/>
        </p:nvSpPr>
        <p:spPr>
          <a:xfrm>
            <a:off x="0" y="1973179"/>
            <a:ext cx="8124324" cy="1756610"/>
          </a:xfrm>
          <a:prstGeom prst="rect">
            <a:avLst/>
          </a:prstGeom>
          <a:solidFill>
            <a:schemeClr val="bg1">
              <a:alpha val="90000"/>
            </a:schemeClr>
          </a:solidFill>
        </p:spPr>
        <p:txBody>
          <a:bodyPr wrap="square" rIns="274320" anchor="ctr">
            <a:noAutofit/>
          </a:bodyPr>
          <a:lstStyle/>
          <a:p>
            <a:pPr lvl="0" algn="r">
              <a:defRPr/>
            </a:pPr>
            <a:r>
              <a:rPr lang="en-US" sz="3200">
                <a:solidFill>
                  <a:srgbClr val="1A305C"/>
                </a:solidFill>
                <a:latin typeface="+mj-lt"/>
                <a:ea typeface="Noto Sans Light"/>
                <a:cs typeface="Arial" panose="020B0604020202020204" pitchFamily="34" charset="0"/>
              </a:rPr>
              <a:t>Chapter 6</a:t>
            </a:r>
          </a:p>
        </p:txBody>
      </p:sp>
      <p:sp>
        <p:nvSpPr>
          <p:cNvPr id="4" name="Arrow: Left 3">
            <a:hlinkClick r:id="rId2" action="ppaction://hlinksldjump"/>
            <a:extLst>
              <a:ext uri="{FF2B5EF4-FFF2-40B4-BE49-F238E27FC236}">
                <a16:creationId xmlns:a16="http://schemas.microsoft.com/office/drawing/2014/main" id="{D6E77962-8749-3DD7-7D01-65E3B3B3E7B9}"/>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Tree>
    <p:extLst>
      <p:ext uri="{BB962C8B-B14F-4D97-AF65-F5344CB8AC3E}">
        <p14:creationId xmlns:p14="http://schemas.microsoft.com/office/powerpoint/2010/main" val="2621779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A135C-ABA4-D3B1-01FC-8ED386C9C03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613A26F-06D8-689C-3D95-F8FFB77459A2}"/>
              </a:ext>
            </a:extLst>
          </p:cNvPr>
          <p:cNvSpPr>
            <a:spLocks noGrp="1"/>
          </p:cNvSpPr>
          <p:nvPr>
            <p:ph type="title"/>
          </p:nvPr>
        </p:nvSpPr>
        <p:spPr/>
        <p:txBody>
          <a:bodyPr/>
          <a:lstStyle/>
          <a:p>
            <a:r>
              <a:rPr lang="en-US"/>
              <a:t>Frequently Asked Questions</a:t>
            </a:r>
          </a:p>
        </p:txBody>
      </p:sp>
      <p:sp>
        <p:nvSpPr>
          <p:cNvPr id="7" name="Content Placeholder 6">
            <a:extLst>
              <a:ext uri="{FF2B5EF4-FFF2-40B4-BE49-F238E27FC236}">
                <a16:creationId xmlns:a16="http://schemas.microsoft.com/office/drawing/2014/main" id="{80C83BC2-5133-8C3F-FF96-B5C0922FBAF4}"/>
              </a:ext>
            </a:extLst>
          </p:cNvPr>
          <p:cNvSpPr>
            <a:spLocks noGrp="1"/>
          </p:cNvSpPr>
          <p:nvPr>
            <p:ph idx="1"/>
          </p:nvPr>
        </p:nvSpPr>
        <p:spPr>
          <a:xfrm>
            <a:off x="503237" y="1720465"/>
            <a:ext cx="13623926" cy="1459337"/>
          </a:xfrm>
          <a:ln>
            <a:solidFill>
              <a:schemeClr val="tx1"/>
            </a:solidFill>
          </a:ln>
        </p:spPr>
        <p:txBody>
          <a:bodyPr>
            <a:normAutofit/>
          </a:bodyPr>
          <a:lstStyle/>
          <a:p>
            <a:pPr marL="0" indent="0">
              <a:buNone/>
            </a:pPr>
            <a:r>
              <a:rPr lang="en-US" sz="1800" b="1">
                <a:solidFill>
                  <a:schemeClr val="tx2"/>
                </a:solidFill>
              </a:rPr>
              <a:t>Q: How will this impact the customer’s annual Guardian contract pricing?</a:t>
            </a:r>
          </a:p>
          <a:p>
            <a:pPr marL="0" indent="0">
              <a:buNone/>
            </a:pPr>
            <a:r>
              <a:rPr lang="en-US" sz="1800"/>
              <a:t>A: There is no additional Guardian support cost needed to support the DeltaV IQ controller, but active DeltaV System Product Support is required. For Live Enterprise View, Enterprise Engineering, DeltaV Virtual Advisor, each subscription includes its own product support, so no separate Guardian charge applies.</a:t>
            </a:r>
          </a:p>
        </p:txBody>
      </p:sp>
      <p:sp>
        <p:nvSpPr>
          <p:cNvPr id="2" name="Content Placeholder 6">
            <a:extLst>
              <a:ext uri="{FF2B5EF4-FFF2-40B4-BE49-F238E27FC236}">
                <a16:creationId xmlns:a16="http://schemas.microsoft.com/office/drawing/2014/main" id="{1CAC4169-C279-5A5A-FADE-0BB17EBEC097}"/>
              </a:ext>
            </a:extLst>
          </p:cNvPr>
          <p:cNvSpPr txBox="1">
            <a:spLocks/>
          </p:cNvSpPr>
          <p:nvPr/>
        </p:nvSpPr>
        <p:spPr>
          <a:xfrm>
            <a:off x="503237" y="3397681"/>
            <a:ext cx="13623926" cy="1243339"/>
          </a:xfrm>
          <a:prstGeom prst="rect">
            <a:avLst/>
          </a:prstGeom>
          <a:ln>
            <a:solidFill>
              <a:schemeClr val="tx1"/>
            </a:solidFill>
          </a:ln>
        </p:spPr>
        <p:txBody>
          <a:bodyPr vert="horz" lIns="91440" tIns="91440" rIns="91440" bIns="45720" rtlCol="0">
            <a:normAutofit/>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buNone/>
            </a:pPr>
            <a:r>
              <a:rPr lang="en-US" sz="1800" b="1">
                <a:solidFill>
                  <a:schemeClr val="tx2"/>
                </a:solidFill>
              </a:rPr>
              <a:t>Q: Whose paper will this be on? </a:t>
            </a:r>
          </a:p>
          <a:p>
            <a:pPr marL="0" indent="0">
              <a:buNone/>
            </a:pPr>
            <a:r>
              <a:rPr lang="en-US" sz="1800"/>
              <a:t>A: The Pioneer term will be on Emerson paper, given the commercial incentives that are being provided. The transaction method of renewals and expansions will be determined in an opportunity review for that pursuit. </a:t>
            </a:r>
          </a:p>
        </p:txBody>
      </p:sp>
      <p:sp>
        <p:nvSpPr>
          <p:cNvPr id="3" name="Content Placeholder 6">
            <a:extLst>
              <a:ext uri="{FF2B5EF4-FFF2-40B4-BE49-F238E27FC236}">
                <a16:creationId xmlns:a16="http://schemas.microsoft.com/office/drawing/2014/main" id="{6E887F63-8886-444C-B247-DEE1A21A18BC}"/>
              </a:ext>
            </a:extLst>
          </p:cNvPr>
          <p:cNvSpPr txBox="1">
            <a:spLocks/>
          </p:cNvSpPr>
          <p:nvPr/>
        </p:nvSpPr>
        <p:spPr>
          <a:xfrm>
            <a:off x="503237" y="4858898"/>
            <a:ext cx="13623926" cy="2242546"/>
          </a:xfrm>
          <a:prstGeom prst="rect">
            <a:avLst/>
          </a:prstGeom>
          <a:ln>
            <a:solidFill>
              <a:schemeClr val="tx1"/>
            </a:solidFill>
          </a:ln>
        </p:spPr>
        <p:txBody>
          <a:bodyPr vert="horz" lIns="91440" tIns="91440" rIns="91440" bIns="45720" rtlCol="0">
            <a:normAutofit lnSpcReduction="1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buNone/>
            </a:pPr>
            <a:r>
              <a:rPr lang="en-US" sz="1800" b="1">
                <a:solidFill>
                  <a:schemeClr val="tx2"/>
                </a:solidFill>
              </a:rPr>
              <a:t>Q: What if my customer doesn’t get selected to be part of a Pioneer Program? </a:t>
            </a:r>
          </a:p>
          <a:p>
            <a:pPr marL="0" indent="0">
              <a:buNone/>
            </a:pPr>
            <a:r>
              <a:rPr lang="en-US" sz="1800"/>
              <a:t>A: Unfortunately, we can only select up to 10 customers per product-specific Pioneer Program in North America at this time. Based on program success, there may be a Wave 2 in future years, but that is not guaranteed. This is one opportunity for customer engagement; the products will be released to sales and available to purchase at the same time. Please work with your Emerson sales leader to identify other applicable customer incentives (</a:t>
            </a:r>
            <a:r>
              <a:rPr lang="en-US" sz="1800">
                <a:hlinkClick r:id="rId2" action="ppaction://hlinksldjump">
                  <a:extLst>
                    <a:ext uri="{A12FA001-AC4F-418D-AE19-62706E023703}">
                      <ahyp:hlinkClr xmlns:ahyp="http://schemas.microsoft.com/office/drawing/2018/hyperlinkcolor" val="tx"/>
                    </a:ext>
                  </a:extLst>
                </a:hlinkClick>
              </a:rPr>
              <a:t>as defined</a:t>
            </a:r>
            <a:r>
              <a:rPr lang="en-US" sz="1800"/>
              <a:t>) and additional opportunities that may best suit your customer. </a:t>
            </a:r>
          </a:p>
          <a:p>
            <a:pPr marL="0" indent="0" algn="ctr">
              <a:buNone/>
            </a:pPr>
            <a:r>
              <a:rPr lang="en-US" sz="1600"/>
              <a:t>(</a:t>
            </a:r>
            <a:r>
              <a:rPr lang="en-US" sz="1600" i="1"/>
              <a:t>Suggested</a:t>
            </a:r>
            <a:r>
              <a:rPr lang="en-US" sz="1600"/>
              <a:t> </a:t>
            </a:r>
            <a:r>
              <a:rPr lang="en-US" sz="1600" i="1"/>
              <a:t>Best Practice: Host Customer for Product Feedback Session directly with Product Marketing Managers)</a:t>
            </a:r>
            <a:endParaRPr lang="en-US" sz="1800" i="1"/>
          </a:p>
          <a:p>
            <a:pPr marL="0" indent="0">
              <a:buNone/>
            </a:pPr>
            <a:endParaRPr lang="en-US" sz="1800" b="1"/>
          </a:p>
        </p:txBody>
      </p:sp>
      <p:sp>
        <p:nvSpPr>
          <p:cNvPr id="11" name="Arrow: Left 10">
            <a:hlinkClick r:id="rId3" action="ppaction://hlinksldjump"/>
            <a:extLst>
              <a:ext uri="{FF2B5EF4-FFF2-40B4-BE49-F238E27FC236}">
                <a16:creationId xmlns:a16="http://schemas.microsoft.com/office/drawing/2014/main" id="{2FC06204-8C0E-9CF3-EA10-8784ED8B9DB0}"/>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pic>
        <p:nvPicPr>
          <p:cNvPr id="8" name="Picture 7">
            <a:extLst>
              <a:ext uri="{FF2B5EF4-FFF2-40B4-BE49-F238E27FC236}">
                <a16:creationId xmlns:a16="http://schemas.microsoft.com/office/drawing/2014/main" id="{9B39F05D-865D-3A58-E1D8-21E0B5A3A927}"/>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4239650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71ED-5DD2-D1C5-3413-22E7C8DB8FA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D9587FB-50DC-C8F0-CDE4-C83082C2E59A}"/>
              </a:ext>
            </a:extLst>
          </p:cNvPr>
          <p:cNvSpPr>
            <a:spLocks noGrp="1"/>
          </p:cNvSpPr>
          <p:nvPr>
            <p:ph type="title"/>
          </p:nvPr>
        </p:nvSpPr>
        <p:spPr/>
        <p:txBody>
          <a:bodyPr/>
          <a:lstStyle/>
          <a:p>
            <a:r>
              <a:rPr lang="en-US"/>
              <a:t>Frequently Asked Questions</a:t>
            </a:r>
          </a:p>
        </p:txBody>
      </p:sp>
      <p:sp>
        <p:nvSpPr>
          <p:cNvPr id="7" name="Content Placeholder 6">
            <a:extLst>
              <a:ext uri="{FF2B5EF4-FFF2-40B4-BE49-F238E27FC236}">
                <a16:creationId xmlns:a16="http://schemas.microsoft.com/office/drawing/2014/main" id="{F6593740-A594-7285-6E16-AA708A49A3ED}"/>
              </a:ext>
            </a:extLst>
          </p:cNvPr>
          <p:cNvSpPr>
            <a:spLocks noGrp="1"/>
          </p:cNvSpPr>
          <p:nvPr>
            <p:ph idx="1"/>
          </p:nvPr>
        </p:nvSpPr>
        <p:spPr>
          <a:xfrm>
            <a:off x="503237" y="1720465"/>
            <a:ext cx="13623926" cy="1243339"/>
          </a:xfrm>
          <a:ln>
            <a:solidFill>
              <a:schemeClr val="tx1"/>
            </a:solidFill>
          </a:ln>
        </p:spPr>
        <p:txBody>
          <a:bodyPr>
            <a:normAutofit/>
          </a:bodyPr>
          <a:lstStyle/>
          <a:p>
            <a:pPr marL="0" indent="0">
              <a:buNone/>
            </a:pPr>
            <a:r>
              <a:rPr lang="en-US" sz="1800" b="1">
                <a:solidFill>
                  <a:schemeClr val="tx2"/>
                </a:solidFill>
              </a:rPr>
              <a:t>Q: What training will be available to Impact Partners for these new products? </a:t>
            </a:r>
          </a:p>
          <a:p>
            <a:pPr marL="0" indent="0">
              <a:buNone/>
            </a:pPr>
            <a:r>
              <a:rPr lang="en-US" sz="1800"/>
              <a:t>A: New product content will be incorporated into Ed Services courses, as well as internal sales enablement and operational readiness training will made available. </a:t>
            </a:r>
          </a:p>
        </p:txBody>
      </p:sp>
      <p:sp>
        <p:nvSpPr>
          <p:cNvPr id="2" name="Content Placeholder 6">
            <a:extLst>
              <a:ext uri="{FF2B5EF4-FFF2-40B4-BE49-F238E27FC236}">
                <a16:creationId xmlns:a16="http://schemas.microsoft.com/office/drawing/2014/main" id="{B44ACB7F-252E-34CD-509E-E87FE5027AF6}"/>
              </a:ext>
            </a:extLst>
          </p:cNvPr>
          <p:cNvSpPr txBox="1">
            <a:spLocks/>
          </p:cNvSpPr>
          <p:nvPr/>
        </p:nvSpPr>
        <p:spPr>
          <a:xfrm>
            <a:off x="503237" y="3066619"/>
            <a:ext cx="13623926" cy="1243339"/>
          </a:xfrm>
          <a:prstGeom prst="rect">
            <a:avLst/>
          </a:prstGeom>
          <a:ln>
            <a:solidFill>
              <a:schemeClr val="tx1"/>
            </a:solidFill>
          </a:ln>
        </p:spPr>
        <p:txBody>
          <a:bodyPr vert="horz" lIns="91440" tIns="91440" rIns="91440" bIns="45720" rtlCol="0">
            <a:normAutofit/>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buNone/>
            </a:pPr>
            <a:r>
              <a:rPr lang="en-US" sz="1800" b="1">
                <a:solidFill>
                  <a:schemeClr val="tx2"/>
                </a:solidFill>
              </a:rPr>
              <a:t>Q: How can I keep my Pioneer Customer’s subscription active? </a:t>
            </a:r>
          </a:p>
          <a:p>
            <a:pPr marL="0" indent="0">
              <a:buNone/>
            </a:pPr>
            <a:r>
              <a:rPr lang="en-US" sz="1800"/>
              <a:t>A: In alignment with Emerson’s priority objective, this is key to the success of the Pioneer Program. A step-by-step document to highlight the renewal process for Pioneers will be provided. </a:t>
            </a:r>
          </a:p>
        </p:txBody>
      </p:sp>
      <p:sp>
        <p:nvSpPr>
          <p:cNvPr id="11" name="Arrow: Left 10">
            <a:hlinkClick r:id="rId2" action="ppaction://hlinksldjump"/>
            <a:extLst>
              <a:ext uri="{FF2B5EF4-FFF2-40B4-BE49-F238E27FC236}">
                <a16:creationId xmlns:a16="http://schemas.microsoft.com/office/drawing/2014/main" id="{7D4CED18-7EE1-E056-917D-E9AC709C7AA3}"/>
              </a:ext>
            </a:extLst>
          </p:cNvPr>
          <p:cNvSpPr/>
          <p:nvPr/>
        </p:nvSpPr>
        <p:spPr bwMode="auto">
          <a:xfrm>
            <a:off x="220495" y="7459195"/>
            <a:ext cx="541421" cy="400411"/>
          </a:xfrm>
          <a:prstGeom prst="leftArrow">
            <a:avLst/>
          </a:prstGeom>
          <a:solidFill>
            <a:schemeClr val="accent1">
              <a:alpha val="4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sz="1300" b="1">
              <a:solidFill>
                <a:srgbClr val="FFFFFF"/>
              </a:solidFill>
            </a:endParaRPr>
          </a:p>
        </p:txBody>
      </p:sp>
      <p:sp>
        <p:nvSpPr>
          <p:cNvPr id="3" name="Content Placeholder 6">
            <a:extLst>
              <a:ext uri="{FF2B5EF4-FFF2-40B4-BE49-F238E27FC236}">
                <a16:creationId xmlns:a16="http://schemas.microsoft.com/office/drawing/2014/main" id="{19AC10A6-59C3-48EF-4269-C8D8B156734C}"/>
              </a:ext>
            </a:extLst>
          </p:cNvPr>
          <p:cNvSpPr txBox="1">
            <a:spLocks/>
          </p:cNvSpPr>
          <p:nvPr/>
        </p:nvSpPr>
        <p:spPr>
          <a:xfrm>
            <a:off x="503237" y="4412773"/>
            <a:ext cx="13623926" cy="1243339"/>
          </a:xfrm>
          <a:prstGeom prst="rect">
            <a:avLst/>
          </a:prstGeom>
          <a:ln>
            <a:solidFill>
              <a:schemeClr val="tx1"/>
            </a:solidFill>
          </a:ln>
        </p:spPr>
        <p:txBody>
          <a:bodyPr vert="horz" lIns="91440" tIns="91440" rIns="91440" bIns="45720" rtlCol="0">
            <a:normAutofit/>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buNone/>
            </a:pPr>
            <a:r>
              <a:rPr lang="en-US" sz="1800" b="1">
                <a:solidFill>
                  <a:schemeClr val="tx2"/>
                </a:solidFill>
              </a:rPr>
              <a:t>Q: Can my customer apply to participate in multiple product-specific Pioneer Programs?</a:t>
            </a:r>
          </a:p>
          <a:p>
            <a:pPr marL="0" indent="0">
              <a:buNone/>
            </a:pPr>
            <a:r>
              <a:rPr lang="en-US" sz="1800"/>
              <a:t>A: Yes. They would be independent evaluations and selections. We would want to ensure that the customer can still meet their Customer Expectations, </a:t>
            </a:r>
            <a:r>
              <a:rPr lang="en-US" sz="1800">
                <a:hlinkClick r:id="rId3" action="ppaction://hlinksldjump">
                  <a:extLst>
                    <a:ext uri="{A12FA001-AC4F-418D-AE19-62706E023703}">
                      <ahyp:hlinkClr xmlns:ahyp="http://schemas.microsoft.com/office/drawing/2018/hyperlinkcolor" val="tx"/>
                    </a:ext>
                  </a:extLst>
                </a:hlinkClick>
              </a:rPr>
              <a:t>as defined</a:t>
            </a:r>
            <a:r>
              <a:rPr lang="en-US" sz="1800"/>
              <a:t> (i.e. a dedicated contact that is actively involved throughout the full duration of the program).  </a:t>
            </a:r>
          </a:p>
        </p:txBody>
      </p:sp>
      <p:pic>
        <p:nvPicPr>
          <p:cNvPr id="8" name="Picture 7">
            <a:extLst>
              <a:ext uri="{FF2B5EF4-FFF2-40B4-BE49-F238E27FC236}">
                <a16:creationId xmlns:a16="http://schemas.microsoft.com/office/drawing/2014/main" id="{EB78B3CE-AC99-5359-3F4C-4170BFB4BA74}"/>
              </a:ext>
            </a:extLst>
          </p:cNvPr>
          <p:cNvPicPr>
            <a:picLocks noChangeAspect="1"/>
          </p:cNvPicPr>
          <p:nvPr/>
        </p:nvPicPr>
        <p:blipFill>
          <a:blip r:embed="rId4"/>
          <a:srcRect l="3568" r="4511"/>
          <a:stretch>
            <a:fillRect/>
          </a:stretch>
        </p:blipFill>
        <p:spPr>
          <a:xfrm>
            <a:off x="13086567" y="247186"/>
            <a:ext cx="1264644" cy="1016350"/>
          </a:xfrm>
          <a:prstGeom prst="rect">
            <a:avLst/>
          </a:prstGeom>
          <a:ln>
            <a:solidFill>
              <a:schemeClr val="tx1"/>
            </a:solidFill>
          </a:ln>
        </p:spPr>
      </p:pic>
      <p:sp>
        <p:nvSpPr>
          <p:cNvPr id="4" name="Content Placeholder 6">
            <a:extLst>
              <a:ext uri="{FF2B5EF4-FFF2-40B4-BE49-F238E27FC236}">
                <a16:creationId xmlns:a16="http://schemas.microsoft.com/office/drawing/2014/main" id="{F588E82C-5A99-D358-675E-30CD40769DA6}"/>
              </a:ext>
            </a:extLst>
          </p:cNvPr>
          <p:cNvSpPr txBox="1">
            <a:spLocks/>
          </p:cNvSpPr>
          <p:nvPr/>
        </p:nvSpPr>
        <p:spPr>
          <a:xfrm>
            <a:off x="503237" y="5758927"/>
            <a:ext cx="13623926" cy="1589769"/>
          </a:xfrm>
          <a:prstGeom prst="rect">
            <a:avLst/>
          </a:prstGeom>
          <a:ln>
            <a:solidFill>
              <a:schemeClr val="tx1"/>
            </a:solidFill>
          </a:ln>
        </p:spPr>
        <p:txBody>
          <a:bodyPr vert="horz" lIns="91440" tIns="91440" rIns="91440" bIns="45720" rtlCol="0">
            <a:normAutofit fontScale="92500" lnSpcReduction="10000"/>
          </a:bodyPr>
          <a:lst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buNone/>
            </a:pPr>
            <a:r>
              <a:rPr lang="en-US" sz="1900" b="1">
                <a:solidFill>
                  <a:schemeClr val="tx2"/>
                </a:solidFill>
              </a:rPr>
              <a:t>Q: Can you elaborate on the expectation of the Impact Partners to provide white glove lifecycle support at “no charge”?</a:t>
            </a:r>
          </a:p>
          <a:p>
            <a:pPr marL="0" indent="0">
              <a:buNone/>
            </a:pPr>
            <a:r>
              <a:rPr lang="en-US" sz="1900"/>
              <a:t>A: The intent is to ensure customers receive a high-quality customer success experience throughout the program. Impact Partners are expected to provide proactive check ins, general guidance, and support to help customers successfully adopt and use the solution. Any substantial engineering work, maintenance, upgrades, or expansion support falls outside this scope and would be handled as a paid engagement</a:t>
            </a:r>
            <a:r>
              <a:rPr lang="en-US" sz="1800"/>
              <a:t>.</a:t>
            </a:r>
          </a:p>
        </p:txBody>
      </p:sp>
    </p:spTree>
    <p:extLst>
      <p:ext uri="{BB962C8B-B14F-4D97-AF65-F5344CB8AC3E}">
        <p14:creationId xmlns:p14="http://schemas.microsoft.com/office/powerpoint/2010/main" val="905219555"/>
      </p:ext>
    </p:extLst>
  </p:cSld>
  <p:clrMapOvr>
    <a:masterClrMapping/>
  </p:clrMapOvr>
</p:sld>
</file>

<file path=ppt/theme/theme1.xml><?xml version="1.0" encoding="utf-8"?>
<a:theme xmlns:a="http://schemas.openxmlformats.org/drawingml/2006/main" name="Emerson 2022">
  <a:themeElements>
    <a:clrScheme name="Emerson Go Boldly">
      <a:dk1>
        <a:srgbClr val="000000"/>
      </a:dk1>
      <a:lt1>
        <a:srgbClr val="FFFFFF"/>
      </a:lt1>
      <a:dk2>
        <a:srgbClr val="004B8D"/>
      </a:dk2>
      <a:lt2>
        <a:srgbClr val="9FA1A4"/>
      </a:lt2>
      <a:accent1>
        <a:srgbClr val="004B8D"/>
      </a:accent1>
      <a:accent2>
        <a:srgbClr val="00573D"/>
      </a:accent2>
      <a:accent3>
        <a:srgbClr val="1B2552"/>
      </a:accent3>
      <a:accent4>
        <a:srgbClr val="1DB1DE"/>
      </a:accent4>
      <a:accent5>
        <a:srgbClr val="7CCF8B"/>
      </a:accent5>
      <a:accent6>
        <a:srgbClr val="00AD7C"/>
      </a:accent6>
      <a:hlink>
        <a:srgbClr val="00AD7C"/>
      </a:hlink>
      <a:folHlink>
        <a:srgbClr val="BA1C46"/>
      </a:folHlink>
    </a:clrScheme>
    <a:fontScheme name="EMR 2023">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a:noFill/>
          <a:round/>
          <a:headEnd/>
          <a:tailEnd/>
        </a:ln>
        <a:effectLst/>
      </a:spPr>
      <a:bodyPr wrap="square" rtlCol="0" anchor="ctr"/>
      <a:lstStyle>
        <a:defPPr algn="ctr" eaLnBrk="0" fontAlgn="base" hangingPunct="0">
          <a:spcBef>
            <a:spcPct val="0"/>
          </a:spcBef>
          <a:spcAft>
            <a:spcPct val="0"/>
          </a:spcAft>
          <a:defRPr b="1" dirty="0">
            <a:solidFill>
              <a:srgbClr val="FFFFFF"/>
            </a:solidFill>
          </a:defRPr>
        </a:defPPr>
      </a:lstStyle>
    </a:spDef>
    <a:lnDef>
      <a:spPr bwMode="auto">
        <a:solidFill>
          <a:schemeClr val="accent1"/>
        </a:solidFill>
        <a:ln w="12700" cap="flat" cmpd="sng" algn="ctr">
          <a:solidFill>
            <a:schemeClr val="accent1"/>
          </a:solidFill>
          <a:prstDash val="solid"/>
          <a:round/>
          <a:headEnd type="none" w="med" len="med"/>
          <a:tailEnd type="none" w="med" len="med"/>
        </a:ln>
        <a:effectLst/>
      </a:spPr>
      <a:bodyPr/>
      <a:lstStyle/>
    </a:lnDef>
    <a:txDef>
      <a:spPr>
        <a:noFill/>
      </a:spPr>
      <a:bodyPr wrap="square" rtlCol="0">
        <a:spAutoFit/>
      </a:bodyPr>
      <a:lstStyle>
        <a:defPPr>
          <a:defRPr sz="2400" dirty="0" err="1" smtClean="0"/>
        </a:defPPr>
      </a:lstStyle>
    </a:txDef>
  </a:objectDefaults>
  <a:extraClrSchemeLst/>
  <a:extLst>
    <a:ext uri="{05A4C25C-085E-4340-85A3-A5531E510DB2}">
      <thm15:themeFamily xmlns:thm15="http://schemas.microsoft.com/office/thememl/2012/main" name="16x9_KeepItSimple_Template_Updated_2.23 (1).pptx" id="{FCC921A3-3094-49F7-B2B2-01D28B88562B}" vid="{67E4599F-E4A2-46C2-A2DE-8BDD25DE15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Emerson Go Boldly">
    <a:dk1>
      <a:srgbClr val="000000"/>
    </a:dk1>
    <a:lt1>
      <a:srgbClr val="FFFFFF"/>
    </a:lt1>
    <a:dk2>
      <a:srgbClr val="004B8D"/>
    </a:dk2>
    <a:lt2>
      <a:srgbClr val="9FA1A4"/>
    </a:lt2>
    <a:accent1>
      <a:srgbClr val="004B8D"/>
    </a:accent1>
    <a:accent2>
      <a:srgbClr val="00573D"/>
    </a:accent2>
    <a:accent3>
      <a:srgbClr val="1B2552"/>
    </a:accent3>
    <a:accent4>
      <a:srgbClr val="1DB1DE"/>
    </a:accent4>
    <a:accent5>
      <a:srgbClr val="7CCF8B"/>
    </a:accent5>
    <a:accent6>
      <a:srgbClr val="00AD7C"/>
    </a:accent6>
    <a:hlink>
      <a:srgbClr val="00AD7C"/>
    </a:hlink>
    <a:folHlink>
      <a:srgbClr val="BA1C46"/>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600C030-B628-4C6F-B085-4F22D991206A}">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4d2049a-cfb3-4cc9-9d34-a38ecc087aca" xsi:nil="true"/>
    <lcf76f155ced4ddcb4097134ff3c332f xmlns="42093cf2-a612-445e-a146-58f4f221770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7F19E986562F64CB526E944896605E7" ma:contentTypeVersion="10" ma:contentTypeDescription="Create a new document." ma:contentTypeScope="" ma:versionID="62986f3914c306d27fb3481a6682e5f5">
  <xsd:schema xmlns:xsd="http://www.w3.org/2001/XMLSchema" xmlns:xs="http://www.w3.org/2001/XMLSchema" xmlns:p="http://schemas.microsoft.com/office/2006/metadata/properties" xmlns:ns2="42093cf2-a612-445e-a146-58f4f2217700" xmlns:ns3="64d2049a-cfb3-4cc9-9d34-a38ecc087aca" targetNamespace="http://schemas.microsoft.com/office/2006/metadata/properties" ma:root="true" ma:fieldsID="71228a402d9a47aa6bdd008c21ab6cd8" ns2:_="" ns3:_="">
    <xsd:import namespace="42093cf2-a612-445e-a146-58f4f2217700"/>
    <xsd:import namespace="64d2049a-cfb3-4cc9-9d34-a38ecc087ac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093cf2-a612-445e-a146-58f4f22177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fc78bd8-db31-4712-a006-2d951f62dd8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d2049a-cfb3-4cc9-9d34-a38ecc087ac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e8a4ab6-a73b-4db1-afc8-4196439ac246}" ma:internalName="TaxCatchAll" ma:showField="CatchAllData" ma:web="64d2049a-cfb3-4cc9-9d34-a38ecc087a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441B99-7137-44D7-9CB9-6981399CDB69}">
  <ds:schemaRefs>
    <ds:schemaRef ds:uri="http://schemas.microsoft.com/sharepoint/v3/contenttype/forms"/>
  </ds:schemaRefs>
</ds:datastoreItem>
</file>

<file path=customXml/itemProps2.xml><?xml version="1.0" encoding="utf-8"?>
<ds:datastoreItem xmlns:ds="http://schemas.openxmlformats.org/officeDocument/2006/customXml" ds:itemID="{76247456-7FED-4460-B265-EFD2756C1923}">
  <ds:schemaRefs>
    <ds:schemaRef ds:uri="http://schemas.openxmlformats.org/package/2006/metadata/core-properties"/>
    <ds:schemaRef ds:uri="http://purl.org/dc/elements/1.1/"/>
    <ds:schemaRef ds:uri="http://purl.org/dc/terms/"/>
    <ds:schemaRef ds:uri="http://schemas.microsoft.com/office/2006/documentManagement/types"/>
    <ds:schemaRef ds:uri="http://www.w3.org/XML/1998/namespace"/>
    <ds:schemaRef ds:uri="42093cf2-a612-445e-a146-58f4f2217700"/>
    <ds:schemaRef ds:uri="http://purl.org/dc/dcmitype/"/>
    <ds:schemaRef ds:uri="http://schemas.microsoft.com/office/2006/metadata/properties"/>
    <ds:schemaRef ds:uri="64d2049a-cfb3-4cc9-9d34-a38ecc087aca"/>
    <ds:schemaRef ds:uri="http://schemas.microsoft.com/office/infopath/2007/PartnerControls"/>
  </ds:schemaRefs>
</ds:datastoreItem>
</file>

<file path=customXml/itemProps3.xml><?xml version="1.0" encoding="utf-8"?>
<ds:datastoreItem xmlns:ds="http://schemas.openxmlformats.org/officeDocument/2006/customXml" ds:itemID="{8B9AD765-0923-4EB4-8FEA-2DD8E6380A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093cf2-a612-445e-a146-58f4f2217700"/>
    <ds:schemaRef ds:uri="64d2049a-cfb3-4cc9-9d34-a38ecc087a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38901aa-f724-46bf-bb4f-aef09392934b}" enabled="1" method="Privileged" siteId="{eb06985d-06ca-4a17-81da-629ab99f6505}" removed="0"/>
</clbl:labelList>
</file>

<file path=docProps/app.xml><?xml version="1.0" encoding="utf-8"?>
<Properties xmlns="http://schemas.openxmlformats.org/officeDocument/2006/extended-properties" xmlns:vt="http://schemas.openxmlformats.org/officeDocument/2006/docPropsVTypes">
  <Template/>
  <TotalTime>66</TotalTime>
  <Words>3600</Words>
  <Application>Microsoft Office PowerPoint</Application>
  <PresentationFormat>Custom</PresentationFormat>
  <Paragraphs>499</Paragraphs>
  <Slides>27</Slides>
  <Notes>16</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Emerson 2022</vt:lpstr>
      <vt:lpstr>PowerPoint Presentation</vt:lpstr>
      <vt:lpstr>Important Information</vt:lpstr>
      <vt:lpstr>Table of Contents Click to Navigate</vt:lpstr>
      <vt:lpstr>What is the Pioneer Program?</vt:lpstr>
      <vt:lpstr>Pioneer Program is One Option Amongst the New DeltaV DCS Subscription Structured Incentives Available</vt:lpstr>
      <vt:lpstr>What is the Pioneer Program(s)? </vt:lpstr>
      <vt:lpstr>What is the Pioneer Program(s)?  Details on Commercial Incentives, White Glove Service, and Customer Ask  </vt:lpstr>
      <vt:lpstr>How Does the Program Work Across Team Emerson?</vt:lpstr>
      <vt:lpstr>End-to-End Pioneer Program Process and Cross-Functional Involvement</vt:lpstr>
      <vt:lpstr>Pioneer Program Project Phases and Key Milestones </vt:lpstr>
      <vt:lpstr>Pioneer Program Standard Support Governance with Cross-Functional Roles and Responsibilities </vt:lpstr>
      <vt:lpstr>What Products are Included, and How are Customers Selected? </vt:lpstr>
      <vt:lpstr>Product-Specific Pioneer Programs and Timeline </vt:lpstr>
      <vt:lpstr>Pioneer Program Customer Selection Criteria and Ideal  Customer Profile</vt:lpstr>
      <vt:lpstr>What Does Each Product-Specific Program Entail? </vt:lpstr>
      <vt:lpstr>IQ Controller Pioneer Program Details </vt:lpstr>
      <vt:lpstr>North America IQ Controller Pioneers Example Stated Use Applications</vt:lpstr>
      <vt:lpstr>Live Enterprise View Pioneer Program Details </vt:lpstr>
      <vt:lpstr>Enterprise Engineering Pioneer Program Details </vt:lpstr>
      <vt:lpstr>DeltaV Virtual Advisor Pioneer Program Details </vt:lpstr>
      <vt:lpstr>What Are Next Steps? </vt:lpstr>
      <vt:lpstr>Initiate the End-to-End Pioneer Program Process</vt:lpstr>
      <vt:lpstr>Pioneer Program FY26 Expected Timeline </vt:lpstr>
      <vt:lpstr>Action Required by Sales Teams</vt:lpstr>
      <vt:lpstr>Frequently Asked Questions</vt:lpstr>
      <vt:lpstr>Frequently Asked Questions</vt:lpstr>
      <vt:lpstr>Frequently Asked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Tayefeh, Nousha [EMR/SYSS/PSS/AUS]</dc:creator>
  <cp:lastModifiedBy>Ronghe, Shruti [EMR/CSS/PSS/PUNE]</cp:lastModifiedBy>
  <cp:revision>2</cp:revision>
  <dcterms:created xsi:type="dcterms:W3CDTF">2025-11-25T17:53:52Z</dcterms:created>
  <dcterms:modified xsi:type="dcterms:W3CDTF">2026-05-20T16:33:24Z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0x01010047F19E986562F64CB526E944896605E7</vt:lpwstr>
  </property>
  <property fmtid="{D5CDD505-2E9C-101B-9397-08002B2CF9AE}" pid="3" name="_ExtendedDescription">
    <vt:lpwstr/>
  </property>
  <property fmtid="{D5CDD505-2E9C-101B-9397-08002B2CF9AE}" pid="4" name="MSIP_Label_d38901aa-f724-46bf-bb4f-aef09392934b_Enabled">
    <vt:lpwstr>true</vt:lpwstr>
  </property>
  <property fmtid="{D5CDD505-2E9C-101B-9397-08002B2CF9AE}" pid="5" name="MSIP_Label_d38901aa-f724-46bf-bb4f-aef09392934b_SetDate">
    <vt:lpwstr>2022-02-22T17:41:58Z</vt:lpwstr>
  </property>
  <property fmtid="{D5CDD505-2E9C-101B-9397-08002B2CF9AE}" pid="6" name="MSIP_Label_d38901aa-f724-46bf-bb4f-aef09392934b_Method">
    <vt:lpwstr>Privileged</vt:lpwstr>
  </property>
  <property fmtid="{D5CDD505-2E9C-101B-9397-08002B2CF9AE}" pid="7" name="MSIP_Label_d38901aa-f724-46bf-bb4f-aef09392934b_Name">
    <vt:lpwstr>Internal - No Label</vt:lpwstr>
  </property>
  <property fmtid="{D5CDD505-2E9C-101B-9397-08002B2CF9AE}" pid="8" name="MSIP_Label_d38901aa-f724-46bf-bb4f-aef09392934b_SiteId">
    <vt:lpwstr>eb06985d-06ca-4a17-81da-629ab99f6505</vt:lpwstr>
  </property>
  <property fmtid="{D5CDD505-2E9C-101B-9397-08002B2CF9AE}" pid="9" name="MSIP_Label_d38901aa-f724-46bf-bb4f-aef09392934b_ActionId">
    <vt:lpwstr>28001e8f-983a-485c-9690-03b74d9e1b3d</vt:lpwstr>
  </property>
  <property fmtid="{D5CDD505-2E9C-101B-9397-08002B2CF9AE}" pid="10" name="MSIP_Label_d38901aa-f724-46bf-bb4f-aef09392934b_ContentBits">
    <vt:lpwstr>0</vt:lpwstr>
  </property>
  <property fmtid="{D5CDD505-2E9C-101B-9397-08002B2CF9AE}" pid="11" name="MediaServiceImageTags">
    <vt:lpwstr/>
  </property>
</Properties>
</file>